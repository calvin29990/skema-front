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xml" ContentType="application/vnd.openxmlformats-officedocument.drawingml.chart+xml"/>
  <Override PartName="/ppt/notesSlides/notesSlide31.xml" ContentType="application/vnd.openxmlformats-officedocument.presentationml.notesSlide+xml"/>
  <Override PartName="/ppt/charts/chart2.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3.xml" ContentType="application/vnd.openxmlformats-officedocument.drawingml.chart+xml"/>
  <Override PartName="/ppt/notesSlides/notesSlide40.xml" ContentType="application/vnd.openxmlformats-officedocument.presentationml.notesSlide+xml"/>
  <Override PartName="/ppt/charts/chart4.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56" r:id="rId2"/>
    <p:sldId id="257" r:id="rId3"/>
    <p:sldId id="258" r:id="rId4"/>
    <p:sldId id="381" r:id="rId5"/>
    <p:sldId id="382" r:id="rId6"/>
    <p:sldId id="259" r:id="rId7"/>
    <p:sldId id="260" r:id="rId8"/>
    <p:sldId id="261" r:id="rId9"/>
    <p:sldId id="262" r:id="rId10"/>
    <p:sldId id="263" r:id="rId11"/>
    <p:sldId id="264" r:id="rId12"/>
    <p:sldId id="265" r:id="rId13"/>
    <p:sldId id="266" r:id="rId14"/>
    <p:sldId id="267" r:id="rId15"/>
    <p:sldId id="372" r:id="rId16"/>
    <p:sldId id="373" r:id="rId17"/>
    <p:sldId id="268" r:id="rId18"/>
    <p:sldId id="390" r:id="rId19"/>
    <p:sldId id="391" r:id="rId20"/>
    <p:sldId id="383" r:id="rId21"/>
    <p:sldId id="269" r:id="rId22"/>
    <p:sldId id="270" r:id="rId23"/>
    <p:sldId id="271" r:id="rId24"/>
    <p:sldId id="272" r:id="rId25"/>
    <p:sldId id="273" r:id="rId26"/>
    <p:sldId id="274" r:id="rId27"/>
    <p:sldId id="374"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4" r:id="rId45"/>
    <p:sldId id="295" r:id="rId4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73810" autoAdjust="0"/>
  </p:normalViewPr>
  <p:slideViewPr>
    <p:cSldViewPr snapToGrid="0">
      <p:cViewPr varScale="1">
        <p:scale>
          <a:sx n="47" d="100"/>
          <a:sy n="47" d="100"/>
        </p:scale>
        <p:origin x="14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lang="en-US" sz="1500" b="0">
                <a:solidFill>
                  <a:srgbClr val="5B6D77"/>
                </a:solidFill>
                <a:latin typeface="Aptos"/>
                <a:ea typeface="Aptos"/>
                <a:cs typeface="Aptos"/>
              </a:rPr>
              <a:t>From EBITDA to cash before interest · €m</a:t>
            </a:r>
          </a:p>
        </c:rich>
      </c:tx>
      <c:overlay val="0"/>
    </c:title>
    <c:autoTitleDeleted val="0"/>
    <c:plotArea>
      <c:layout/>
      <c:barChart>
        <c:barDir val="col"/>
        <c:grouping val="stacked"/>
        <c:varyColors val="0"/>
        <c:ser>
          <c:idx val="0"/>
          <c:order val="0"/>
          <c:tx>
            <c:v>Floating base above zero</c:v>
          </c:tx>
          <c:spPr>
            <a:noFill/>
            <a:ln w="0">
              <a:noFill/>
              <a:prstDash val="solid"/>
            </a:ln>
          </c:spPr>
          <c:invertIfNegative val="0"/>
          <c:cat>
            <c:strRef>
              <c:f>'Chart Data'!$A$2:$A$6</c:f>
              <c:strCache>
                <c:ptCount val="5"/>
                <c:pt idx="0">
                  <c:v>EBITDA</c:v>
                </c:pt>
                <c:pt idx="1">
                  <c:v>Cash taxes</c:v>
                </c:pt>
                <c:pt idx="2">
                  <c:v>WCR increase</c:v>
                </c:pt>
                <c:pt idx="3">
                  <c:v>Capex</c:v>
                </c:pt>
                <c:pt idx="4">
                  <c:v>Cash before interest</c:v>
                </c:pt>
              </c:strCache>
            </c:strRef>
          </c:cat>
          <c:val>
            <c:numRef>
              <c:f>'Chart Data'!$B$2:$B$6</c:f>
              <c:numCache>
                <c:formatCode>0.0</c:formatCode>
                <c:ptCount val="5"/>
                <c:pt idx="0">
                  <c:v>0</c:v>
                </c:pt>
                <c:pt idx="1">
                  <c:v>26</c:v>
                </c:pt>
                <c:pt idx="2">
                  <c:v>14</c:v>
                </c:pt>
                <c:pt idx="3">
                  <c:v>4</c:v>
                </c:pt>
                <c:pt idx="4">
                  <c:v>0</c:v>
                </c:pt>
              </c:numCache>
            </c:numRef>
          </c:val>
          <c:extLst>
            <c:ext xmlns:c16="http://schemas.microsoft.com/office/drawing/2014/chart" uri="{C3380CC4-5D6E-409C-BE32-E72D297353CC}">
              <c16:uniqueId val="{00000000-6FDD-4B91-9CE2-BADFA1BCC2F5}"/>
            </c:ext>
          </c:extLst>
        </c:ser>
        <c:ser>
          <c:idx val="1"/>
          <c:order val="1"/>
          <c:tx>
            <c:v>Floating base below zero</c:v>
          </c:tx>
          <c:spPr>
            <a:noFill/>
            <a:ln w="0">
              <a:noFill/>
              <a:prstDash val="solid"/>
            </a:ln>
          </c:spPr>
          <c:invertIfNegative val="0"/>
          <c:cat>
            <c:strRef>
              <c:f>'Chart Data'!$C$2:$C$6</c:f>
              <c:strCache>
                <c:ptCount val="5"/>
                <c:pt idx="0">
                  <c:v>EBITDA</c:v>
                </c:pt>
                <c:pt idx="1">
                  <c:v>Cash taxes</c:v>
                </c:pt>
                <c:pt idx="2">
                  <c:v>WCR increase</c:v>
                </c:pt>
                <c:pt idx="3">
                  <c:v>Capex</c:v>
                </c:pt>
                <c:pt idx="4">
                  <c:v>Cash before interest</c:v>
                </c:pt>
              </c:strCache>
            </c:strRef>
          </c:cat>
          <c:val>
            <c:numRef>
              <c:f>'Chart Data'!$D$2:$D$6</c:f>
              <c:numCache>
                <c:formatCode>0.0</c:formatCode>
                <c:ptCount val="5"/>
                <c:pt idx="0">
                  <c:v>0</c:v>
                </c:pt>
                <c:pt idx="1">
                  <c:v>0</c:v>
                </c:pt>
                <c:pt idx="2">
                  <c:v>0</c:v>
                </c:pt>
                <c:pt idx="3">
                  <c:v>0</c:v>
                </c:pt>
                <c:pt idx="4">
                  <c:v>0</c:v>
                </c:pt>
              </c:numCache>
            </c:numRef>
          </c:val>
          <c:extLst>
            <c:ext xmlns:c16="http://schemas.microsoft.com/office/drawing/2014/chart" uri="{C3380CC4-5D6E-409C-BE32-E72D297353CC}">
              <c16:uniqueId val="{00000001-6FDD-4B91-9CE2-BADFA1BCC2F5}"/>
            </c:ext>
          </c:extLst>
        </c:ser>
        <c:ser>
          <c:idx val="2"/>
          <c:order val="2"/>
          <c:tx>
            <c:v>Cash inflow</c:v>
          </c:tx>
          <c:spPr>
            <a:solidFill>
              <a:srgbClr val="087F83"/>
            </a:solidFill>
            <a:ln w="0">
              <a:noFill/>
              <a:prstDash val="solid"/>
            </a:ln>
          </c:spPr>
          <c:invertIfNegative val="0"/>
          <c:cat>
            <c:strRef>
              <c:f>'Chart Data'!$E$2:$E$6</c:f>
              <c:strCache>
                <c:ptCount val="5"/>
                <c:pt idx="0">
                  <c:v>EBITDA</c:v>
                </c:pt>
                <c:pt idx="1">
                  <c:v>Cash taxes</c:v>
                </c:pt>
                <c:pt idx="2">
                  <c:v>WCR increase</c:v>
                </c:pt>
                <c:pt idx="3">
                  <c:v>Capex</c:v>
                </c:pt>
                <c:pt idx="4">
                  <c:v>Cash before interest</c:v>
                </c:pt>
              </c:strCache>
            </c:strRef>
          </c:cat>
          <c:val>
            <c:numRef>
              <c:f>'Chart Data'!$F$2:$F$6</c:f>
              <c:numCache>
                <c:formatCode>0.0</c:formatCode>
                <c:ptCount val="5"/>
                <c:pt idx="0">
                  <c:v>0</c:v>
                </c:pt>
                <c:pt idx="1">
                  <c:v>0</c:v>
                </c:pt>
                <c:pt idx="2">
                  <c:v>0</c:v>
                </c:pt>
                <c:pt idx="3">
                  <c:v>0</c:v>
                </c:pt>
                <c:pt idx="4">
                  <c:v>0</c:v>
                </c:pt>
              </c:numCache>
            </c:numRef>
          </c:val>
          <c:extLst>
            <c:ext xmlns:c16="http://schemas.microsoft.com/office/drawing/2014/chart" uri="{C3380CC4-5D6E-409C-BE32-E72D297353CC}">
              <c16:uniqueId val="{00000002-6FDD-4B91-9CE2-BADFA1BCC2F5}"/>
            </c:ext>
          </c:extLst>
        </c:ser>
        <c:ser>
          <c:idx val="3"/>
          <c:order val="3"/>
          <c:tx>
            <c:v>Cash outflow</c:v>
          </c:tx>
          <c:spPr>
            <a:solidFill>
              <a:srgbClr val="B4453F"/>
            </a:solidFill>
            <a:ln w="0">
              <a:noFill/>
              <a:prstDash val="solid"/>
            </a:ln>
          </c:spPr>
          <c:invertIfNegative val="0"/>
          <c:cat>
            <c:strRef>
              <c:f>'Chart Data'!$G$2:$G$6</c:f>
              <c:strCache>
                <c:ptCount val="5"/>
                <c:pt idx="0">
                  <c:v>EBITDA</c:v>
                </c:pt>
                <c:pt idx="1">
                  <c:v>Cash taxes</c:v>
                </c:pt>
                <c:pt idx="2">
                  <c:v>WCR increase</c:v>
                </c:pt>
                <c:pt idx="3">
                  <c:v>Capex</c:v>
                </c:pt>
                <c:pt idx="4">
                  <c:v>Cash before interest</c:v>
                </c:pt>
              </c:strCache>
            </c:strRef>
          </c:cat>
          <c:val>
            <c:numRef>
              <c:f>'Chart Data'!$H$2:$H$6</c:f>
              <c:numCache>
                <c:formatCode>0.0</c:formatCode>
                <c:ptCount val="5"/>
                <c:pt idx="0">
                  <c:v>0</c:v>
                </c:pt>
                <c:pt idx="1">
                  <c:v>4</c:v>
                </c:pt>
                <c:pt idx="2">
                  <c:v>12</c:v>
                </c:pt>
                <c:pt idx="3">
                  <c:v>10</c:v>
                </c:pt>
                <c:pt idx="4">
                  <c:v>0</c:v>
                </c:pt>
              </c:numCache>
            </c:numRef>
          </c:val>
          <c:extLst>
            <c:ext xmlns:c16="http://schemas.microsoft.com/office/drawing/2014/chart" uri="{C3380CC4-5D6E-409C-BE32-E72D297353CC}">
              <c16:uniqueId val="{00000003-6FDD-4B91-9CE2-BADFA1BCC2F5}"/>
            </c:ext>
          </c:extLst>
        </c:ser>
        <c:ser>
          <c:idx val="4"/>
          <c:order val="4"/>
          <c:tx>
            <c:v>Inflow below zero</c:v>
          </c:tx>
          <c:spPr>
            <a:solidFill>
              <a:srgbClr val="087F83"/>
            </a:solidFill>
            <a:ln w="0">
              <a:noFill/>
              <a:prstDash val="solid"/>
            </a:ln>
          </c:spPr>
          <c:invertIfNegative val="0"/>
          <c:cat>
            <c:strRef>
              <c:f>'Chart Data'!$I$2:$I$6</c:f>
              <c:strCache>
                <c:ptCount val="5"/>
                <c:pt idx="0">
                  <c:v>EBITDA</c:v>
                </c:pt>
                <c:pt idx="1">
                  <c:v>Cash taxes</c:v>
                </c:pt>
                <c:pt idx="2">
                  <c:v>WCR increase</c:v>
                </c:pt>
                <c:pt idx="3">
                  <c:v>Capex</c:v>
                </c:pt>
                <c:pt idx="4">
                  <c:v>Cash before interest</c:v>
                </c:pt>
              </c:strCache>
            </c:strRef>
          </c:cat>
          <c:val>
            <c:numRef>
              <c:f>'Chart Data'!$J$2:$J$6</c:f>
              <c:numCache>
                <c:formatCode>0.0</c:formatCode>
                <c:ptCount val="5"/>
                <c:pt idx="0">
                  <c:v>0</c:v>
                </c:pt>
                <c:pt idx="1">
                  <c:v>0</c:v>
                </c:pt>
                <c:pt idx="2">
                  <c:v>0</c:v>
                </c:pt>
                <c:pt idx="3">
                  <c:v>0</c:v>
                </c:pt>
                <c:pt idx="4">
                  <c:v>0</c:v>
                </c:pt>
              </c:numCache>
            </c:numRef>
          </c:val>
          <c:extLst>
            <c:ext xmlns:c16="http://schemas.microsoft.com/office/drawing/2014/chart" uri="{C3380CC4-5D6E-409C-BE32-E72D297353CC}">
              <c16:uniqueId val="{00000004-6FDD-4B91-9CE2-BADFA1BCC2F5}"/>
            </c:ext>
          </c:extLst>
        </c:ser>
        <c:ser>
          <c:idx val="5"/>
          <c:order val="5"/>
          <c:tx>
            <c:v>Outflow below zero</c:v>
          </c:tx>
          <c:spPr>
            <a:solidFill>
              <a:srgbClr val="B4453F"/>
            </a:solidFill>
            <a:ln w="0">
              <a:noFill/>
              <a:prstDash val="solid"/>
            </a:ln>
          </c:spPr>
          <c:invertIfNegative val="0"/>
          <c:cat>
            <c:strRef>
              <c:f>'Chart Data'!$K$2:$K$6</c:f>
              <c:strCache>
                <c:ptCount val="5"/>
                <c:pt idx="0">
                  <c:v>EBITDA</c:v>
                </c:pt>
                <c:pt idx="1">
                  <c:v>Cash taxes</c:v>
                </c:pt>
                <c:pt idx="2">
                  <c:v>WCR increase</c:v>
                </c:pt>
                <c:pt idx="3">
                  <c:v>Capex</c:v>
                </c:pt>
                <c:pt idx="4">
                  <c:v>Cash before interest</c:v>
                </c:pt>
              </c:strCache>
            </c:strRef>
          </c:cat>
          <c:val>
            <c:numRef>
              <c:f>'Chart Data'!$L$2:$L$6</c:f>
              <c:numCache>
                <c:formatCode>0.0</c:formatCode>
                <c:ptCount val="5"/>
                <c:pt idx="0">
                  <c:v>0</c:v>
                </c:pt>
                <c:pt idx="1">
                  <c:v>0</c:v>
                </c:pt>
                <c:pt idx="2">
                  <c:v>0</c:v>
                </c:pt>
                <c:pt idx="3">
                  <c:v>0</c:v>
                </c:pt>
                <c:pt idx="4">
                  <c:v>0</c:v>
                </c:pt>
              </c:numCache>
            </c:numRef>
          </c:val>
          <c:extLst>
            <c:ext xmlns:c16="http://schemas.microsoft.com/office/drawing/2014/chart" uri="{C3380CC4-5D6E-409C-BE32-E72D297353CC}">
              <c16:uniqueId val="{00000005-6FDD-4B91-9CE2-BADFA1BCC2F5}"/>
            </c:ext>
          </c:extLst>
        </c:ser>
        <c:ser>
          <c:idx val="6"/>
          <c:order val="6"/>
          <c:tx>
            <c:v>Cash balance</c:v>
          </c:tx>
          <c:spPr>
            <a:solidFill>
              <a:srgbClr val="142D3B"/>
            </a:solidFill>
            <a:ln w="0">
              <a:noFill/>
              <a:prstDash val="solid"/>
            </a:ln>
          </c:spPr>
          <c:invertIfNegative val="0"/>
          <c:cat>
            <c:strRef>
              <c:f>'Chart Data'!$M$2:$M$6</c:f>
              <c:strCache>
                <c:ptCount val="5"/>
                <c:pt idx="0">
                  <c:v>EBITDA</c:v>
                </c:pt>
                <c:pt idx="1">
                  <c:v>Cash taxes</c:v>
                </c:pt>
                <c:pt idx="2">
                  <c:v>WCR increase</c:v>
                </c:pt>
                <c:pt idx="3">
                  <c:v>Capex</c:v>
                </c:pt>
                <c:pt idx="4">
                  <c:v>Cash before interest</c:v>
                </c:pt>
              </c:strCache>
            </c:strRef>
          </c:cat>
          <c:val>
            <c:numRef>
              <c:f>'Chart Data'!$N$2:$N$6</c:f>
              <c:numCache>
                <c:formatCode>0.0</c:formatCode>
                <c:ptCount val="5"/>
                <c:pt idx="0">
                  <c:v>30</c:v>
                </c:pt>
                <c:pt idx="1">
                  <c:v>0</c:v>
                </c:pt>
                <c:pt idx="2">
                  <c:v>0</c:v>
                </c:pt>
                <c:pt idx="3">
                  <c:v>0</c:v>
                </c:pt>
                <c:pt idx="4">
                  <c:v>4</c:v>
                </c:pt>
              </c:numCache>
            </c:numRef>
          </c:val>
          <c:extLst>
            <c:ext xmlns:c16="http://schemas.microsoft.com/office/drawing/2014/chart" uri="{C3380CC4-5D6E-409C-BE32-E72D297353CC}">
              <c16:uniqueId val="{00000006-6FDD-4B91-9CE2-BADFA1BCC2F5}"/>
            </c:ext>
          </c:extLst>
        </c:ser>
        <c:dLbls>
          <c:showLegendKey val="0"/>
          <c:showVal val="0"/>
          <c:showCatName val="0"/>
          <c:showSerName val="0"/>
          <c:showPercent val="0"/>
          <c:showBubbleSize val="0"/>
        </c:dLbls>
        <c:gapWidth val="90"/>
        <c:overlap val="10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CCD6D9"/>
            </a:solidFill>
            <a:prstDash val="solid"/>
          </a:ln>
        </c:spPr>
        <c:txPr>
          <a:bodyPr anchorCtr="1"/>
          <a:lstStyle/>
          <a:p>
            <a:pPr>
              <a:defRPr sz="1575">
                <a:solidFill>
                  <a:srgbClr val="19313F"/>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ax val="40"/>
          <c:min val="0"/>
        </c:scaling>
        <c:delete val="0"/>
        <c:axPos val="l"/>
        <c:majorGridlines>
          <c:spPr>
            <a:ln w="6668">
              <a:solidFill>
                <a:srgbClr val="CCD6D9"/>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425">
                <a:solidFill>
                  <a:srgbClr val="5B6D77"/>
                </a:solidFill>
                <a:latin typeface="Aptos"/>
                <a:ea typeface="Aptos"/>
                <a:cs typeface="Aptos"/>
              </a:defRPr>
            </a:pPr>
            <a:endParaRPr lang="fr-FR"/>
          </a:p>
        </c:txPr>
        <c:crossAx val="48650112"/>
        <c:crosses val="autoZero"/>
        <c:crossBetween val="between"/>
        <c:majorUnit val="10"/>
      </c:valAx>
      <c:spPr>
        <a:solidFill>
          <a:srgbClr val="F8F7F3"/>
        </a:solidFill>
        <a:ln w="0">
          <a:noFill/>
          <a:prstDash val="solid"/>
        </a:ln>
      </c:spPr>
    </c:plotArea>
    <c:plotVisOnly val="1"/>
    <c:dispBlanksAs val="zero"/>
    <c:showDLblsOverMax val="1"/>
  </c:chart>
  <c:spPr>
    <a:solidFill>
      <a:srgbClr val="F8F7F3"/>
    </a:solid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lang="en-US" sz="1500" b="0">
                <a:solidFill>
                  <a:srgbClr val="5B6D77"/>
                </a:solidFill>
                <a:latin typeface="Aptos"/>
                <a:ea typeface="Aptos"/>
                <a:cs typeface="Aptos"/>
              </a:rPr>
              <a:t>Revenue and operating WCR · €m</a:t>
            </a:r>
          </a:p>
        </c:rich>
      </c:tx>
      <c:overlay val="0"/>
    </c:title>
    <c:autoTitleDeleted val="0"/>
    <c:plotArea>
      <c:layout/>
      <c:barChart>
        <c:barDir val="col"/>
        <c:grouping val="clustered"/>
        <c:varyColors val="0"/>
        <c:ser>
          <c:idx val="0"/>
          <c:order val="0"/>
          <c:tx>
            <c:v>Revenue</c:v>
          </c:tx>
          <c:spPr>
            <a:solidFill>
              <a:srgbClr val="142D3B"/>
            </a:solidFill>
            <a:ln w="0">
              <a:noFill/>
              <a:prstDash val="solid"/>
            </a:ln>
          </c:spPr>
          <c:invertIfNegative val="0"/>
          <c:dLbls>
            <c:numFmt formatCode="0" sourceLinked="0"/>
            <c:spPr>
              <a:noFill/>
              <a:ln>
                <a:noFill/>
              </a:ln>
              <a:effectLst/>
            </c:spPr>
            <c:txPr>
              <a:bodyPr anchorCtr="1"/>
              <a:lstStyle/>
              <a:p>
                <a:pPr>
                  <a:defRPr sz="1800" b="1">
                    <a:solidFill>
                      <a:srgbClr val="19313F"/>
                    </a:solidFill>
                    <a:latin typeface="Aptos"/>
                    <a:ea typeface="Aptos"/>
                    <a:cs typeface="Apto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Before growth</c:v>
                </c:pt>
                <c:pt idx="1">
                  <c:v>After growth</c:v>
                </c:pt>
              </c:strCache>
            </c:strRef>
          </c:cat>
          <c:val>
            <c:numRef>
              <c:f>'Chart Data'!$B$2:$B$3</c:f>
              <c:numCache>
                <c:formatCode>0</c:formatCode>
                <c:ptCount val="2"/>
                <c:pt idx="0">
                  <c:v>200</c:v>
                </c:pt>
                <c:pt idx="1">
                  <c:v>250</c:v>
                </c:pt>
              </c:numCache>
            </c:numRef>
          </c:val>
          <c:extLst>
            <c:ext xmlns:c16="http://schemas.microsoft.com/office/drawing/2014/chart" uri="{C3380CC4-5D6E-409C-BE32-E72D297353CC}">
              <c16:uniqueId val="{00000000-A817-4AE9-9AEC-82CB4088C236}"/>
            </c:ext>
          </c:extLst>
        </c:ser>
        <c:ser>
          <c:idx val="1"/>
          <c:order val="1"/>
          <c:tx>
            <c:v>Operating WCR</c:v>
          </c:tx>
          <c:spPr>
            <a:solidFill>
              <a:srgbClr val="087F83"/>
            </a:solidFill>
            <a:ln w="0">
              <a:noFill/>
              <a:prstDash val="solid"/>
            </a:ln>
          </c:spPr>
          <c:invertIfNegative val="0"/>
          <c:dLbls>
            <c:numFmt formatCode="0" sourceLinked="0"/>
            <c:spPr>
              <a:noFill/>
              <a:ln>
                <a:noFill/>
              </a:ln>
              <a:effectLst/>
            </c:spPr>
            <c:txPr>
              <a:bodyPr anchorCtr="1"/>
              <a:lstStyle/>
              <a:p>
                <a:pPr>
                  <a:defRPr sz="1800" b="1">
                    <a:solidFill>
                      <a:srgbClr val="19313F"/>
                    </a:solidFill>
                    <a:latin typeface="Aptos"/>
                    <a:ea typeface="Aptos"/>
                    <a:cs typeface="Apto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Before growth</c:v>
                </c:pt>
                <c:pt idx="1">
                  <c:v>After growth</c:v>
                </c:pt>
              </c:strCache>
            </c:strRef>
          </c:cat>
          <c:val>
            <c:numRef>
              <c:f>'Chart Data'!$D$2:$D$3</c:f>
              <c:numCache>
                <c:formatCode>0</c:formatCode>
                <c:ptCount val="2"/>
                <c:pt idx="0">
                  <c:v>40</c:v>
                </c:pt>
                <c:pt idx="1">
                  <c:v>50</c:v>
                </c:pt>
              </c:numCache>
            </c:numRef>
          </c:val>
          <c:extLst>
            <c:ext xmlns:c16="http://schemas.microsoft.com/office/drawing/2014/chart" uri="{C3380CC4-5D6E-409C-BE32-E72D297353CC}">
              <c16:uniqueId val="{00000001-A817-4AE9-9AEC-82CB4088C236}"/>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CCD6D9"/>
            </a:solidFill>
            <a:prstDash val="solid"/>
          </a:ln>
        </c:spPr>
        <c:txPr>
          <a:bodyPr anchorCtr="1"/>
          <a:lstStyle/>
          <a:p>
            <a:pPr>
              <a:defRPr sz="1650">
                <a:solidFill>
                  <a:srgbClr val="19313F"/>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ax val="300"/>
          <c:min val="0"/>
        </c:scaling>
        <c:delete val="0"/>
        <c:axPos val="l"/>
        <c:majorGridlines>
          <c:spPr>
            <a:ln w="6668">
              <a:solidFill>
                <a:srgbClr val="CCD6D9"/>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425">
                <a:solidFill>
                  <a:srgbClr val="5B6D77"/>
                </a:solidFill>
                <a:latin typeface="Aptos"/>
                <a:ea typeface="Aptos"/>
                <a:cs typeface="Aptos"/>
              </a:defRPr>
            </a:pPr>
            <a:endParaRPr lang="fr-FR"/>
          </a:p>
        </c:txPr>
        <c:crossAx val="48650112"/>
        <c:crosses val="autoZero"/>
        <c:crossBetween val="between"/>
        <c:majorUnit val="100"/>
      </c:valAx>
      <c:spPr>
        <a:solidFill>
          <a:srgbClr val="F8F7F3"/>
        </a:solidFill>
        <a:ln w="0">
          <a:noFill/>
          <a:prstDash val="solid"/>
        </a:ln>
      </c:spPr>
    </c:plotArea>
    <c:legend>
      <c:legendPos val="b"/>
      <c:overlay val="0"/>
      <c:txPr>
        <a:bodyPr anchorCtr="1"/>
        <a:lstStyle/>
        <a:p>
          <a:pPr>
            <a:defRPr sz="1500">
              <a:solidFill>
                <a:srgbClr val="5B6D77"/>
              </a:solidFill>
              <a:latin typeface="Aptos"/>
              <a:ea typeface="Aptos"/>
              <a:cs typeface="Aptos"/>
            </a:defRPr>
          </a:pPr>
          <a:endParaRPr lang="fr-FR"/>
        </a:p>
      </c:txPr>
    </c:legend>
    <c:plotVisOnly val="1"/>
    <c:dispBlanksAs val="zero"/>
    <c:showDLblsOverMax val="1"/>
  </c:chart>
  <c:spPr>
    <a:solidFill>
      <a:srgbClr val="F8F7F3"/>
    </a:solidFill>
    <a:ln w="0">
      <a:noFill/>
      <a:prstDash val="solid"/>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lang="fr-FR" sz="1500" b="0">
                <a:solidFill>
                  <a:srgbClr val="5B6D77"/>
                </a:solidFill>
                <a:latin typeface="Aptos"/>
                <a:ea typeface="Aptos"/>
                <a:cs typeface="Aptos"/>
              </a:rPr>
              <a:t>Retail operating WCR · €m</a:t>
            </a:r>
          </a:p>
        </c:rich>
      </c:tx>
      <c:overlay val="0"/>
    </c:title>
    <c:autoTitleDeleted val="0"/>
    <c:plotArea>
      <c:layout/>
      <c:barChart>
        <c:barDir val="col"/>
        <c:grouping val="stacked"/>
        <c:varyColors val="0"/>
        <c:ser>
          <c:idx val="0"/>
          <c:order val="0"/>
          <c:tx>
            <c:v>Floating base above zero</c:v>
          </c:tx>
          <c:spPr>
            <a:noFill/>
            <a:ln w="0">
              <a:noFill/>
              <a:prstDash val="solid"/>
            </a:ln>
          </c:spPr>
          <c:invertIfNegative val="0"/>
          <c:cat>
            <c:strRef>
              <c:f>'Chart Data'!$A$2:$A$5</c:f>
              <c:strCache>
                <c:ptCount val="4"/>
                <c:pt idx="0">
                  <c:v>Inventory</c:v>
                </c:pt>
                <c:pt idx="1">
                  <c:v>Receivables</c:v>
                </c:pt>
                <c:pt idx="2">
                  <c:v>Payables</c:v>
                </c:pt>
                <c:pt idx="3">
                  <c:v>WCR</c:v>
                </c:pt>
              </c:strCache>
            </c:strRef>
          </c:cat>
          <c:val>
            <c:numRef>
              <c:f>'Chart Data'!$B$2:$B$5</c:f>
              <c:numCache>
                <c:formatCode>0.0</c:formatCode>
                <c:ptCount val="4"/>
                <c:pt idx="0">
                  <c:v>0</c:v>
                </c:pt>
                <c:pt idx="1">
                  <c:v>20</c:v>
                </c:pt>
                <c:pt idx="2">
                  <c:v>0</c:v>
                </c:pt>
                <c:pt idx="3">
                  <c:v>0</c:v>
                </c:pt>
              </c:numCache>
            </c:numRef>
          </c:val>
          <c:extLst>
            <c:ext xmlns:c16="http://schemas.microsoft.com/office/drawing/2014/chart" uri="{C3380CC4-5D6E-409C-BE32-E72D297353CC}">
              <c16:uniqueId val="{00000000-6FC4-424C-B301-0D8A272D13DD}"/>
            </c:ext>
          </c:extLst>
        </c:ser>
        <c:ser>
          <c:idx val="1"/>
          <c:order val="1"/>
          <c:tx>
            <c:v>Floating base below zero</c:v>
          </c:tx>
          <c:spPr>
            <a:noFill/>
            <a:ln w="0">
              <a:noFill/>
              <a:prstDash val="solid"/>
            </a:ln>
          </c:spPr>
          <c:invertIfNegative val="0"/>
          <c:cat>
            <c:strRef>
              <c:f>'Chart Data'!$C$2:$C$5</c:f>
              <c:strCache>
                <c:ptCount val="4"/>
                <c:pt idx="0">
                  <c:v>Inventory</c:v>
                </c:pt>
                <c:pt idx="1">
                  <c:v>Receivables</c:v>
                </c:pt>
                <c:pt idx="2">
                  <c:v>Payables</c:v>
                </c:pt>
                <c:pt idx="3">
                  <c:v>WCR</c:v>
                </c:pt>
              </c:strCache>
            </c:strRef>
          </c:cat>
          <c:val>
            <c:numRef>
              <c:f>'Chart Data'!$D$2:$D$5</c:f>
              <c:numCache>
                <c:formatCode>0.0</c:formatCode>
                <c:ptCount val="4"/>
                <c:pt idx="0">
                  <c:v>0</c:v>
                </c:pt>
                <c:pt idx="1">
                  <c:v>0</c:v>
                </c:pt>
                <c:pt idx="2">
                  <c:v>0</c:v>
                </c:pt>
                <c:pt idx="3">
                  <c:v>0</c:v>
                </c:pt>
              </c:numCache>
            </c:numRef>
          </c:val>
          <c:extLst>
            <c:ext xmlns:c16="http://schemas.microsoft.com/office/drawing/2014/chart" uri="{C3380CC4-5D6E-409C-BE32-E72D297353CC}">
              <c16:uniqueId val="{00000001-6FC4-424C-B301-0D8A272D13DD}"/>
            </c:ext>
          </c:extLst>
        </c:ser>
        <c:ser>
          <c:idx val="2"/>
          <c:order val="2"/>
          <c:tx>
            <c:v>Cash inflow</c:v>
          </c:tx>
          <c:spPr>
            <a:solidFill>
              <a:srgbClr val="087F83"/>
            </a:solidFill>
            <a:ln w="0">
              <a:noFill/>
              <a:prstDash val="solid"/>
            </a:ln>
          </c:spPr>
          <c:invertIfNegative val="0"/>
          <c:cat>
            <c:strRef>
              <c:f>'Chart Data'!$E$2:$E$5</c:f>
              <c:strCache>
                <c:ptCount val="4"/>
                <c:pt idx="0">
                  <c:v>Inventory</c:v>
                </c:pt>
                <c:pt idx="1">
                  <c:v>Receivables</c:v>
                </c:pt>
                <c:pt idx="2">
                  <c:v>Payables</c:v>
                </c:pt>
                <c:pt idx="3">
                  <c:v>WCR</c:v>
                </c:pt>
              </c:strCache>
            </c:strRef>
          </c:cat>
          <c:val>
            <c:numRef>
              <c:f>'Chart Data'!$F$2:$F$5</c:f>
              <c:numCache>
                <c:formatCode>0.0</c:formatCode>
                <c:ptCount val="4"/>
                <c:pt idx="0">
                  <c:v>0</c:v>
                </c:pt>
                <c:pt idx="1">
                  <c:v>2</c:v>
                </c:pt>
                <c:pt idx="2">
                  <c:v>0</c:v>
                </c:pt>
                <c:pt idx="3">
                  <c:v>0</c:v>
                </c:pt>
              </c:numCache>
            </c:numRef>
          </c:val>
          <c:extLst>
            <c:ext xmlns:c16="http://schemas.microsoft.com/office/drawing/2014/chart" uri="{C3380CC4-5D6E-409C-BE32-E72D297353CC}">
              <c16:uniqueId val="{00000002-6FC4-424C-B301-0D8A272D13DD}"/>
            </c:ext>
          </c:extLst>
        </c:ser>
        <c:ser>
          <c:idx val="3"/>
          <c:order val="3"/>
          <c:tx>
            <c:v>Cash outflow</c:v>
          </c:tx>
          <c:spPr>
            <a:solidFill>
              <a:srgbClr val="B4453F"/>
            </a:solidFill>
            <a:ln w="0">
              <a:noFill/>
              <a:prstDash val="solid"/>
            </a:ln>
          </c:spPr>
          <c:invertIfNegative val="0"/>
          <c:cat>
            <c:strRef>
              <c:f>'Chart Data'!$G$2:$G$5</c:f>
              <c:strCache>
                <c:ptCount val="4"/>
                <c:pt idx="0">
                  <c:v>Inventory</c:v>
                </c:pt>
                <c:pt idx="1">
                  <c:v>Receivables</c:v>
                </c:pt>
                <c:pt idx="2">
                  <c:v>Payables</c:v>
                </c:pt>
                <c:pt idx="3">
                  <c:v>WCR</c:v>
                </c:pt>
              </c:strCache>
            </c:strRef>
          </c:cat>
          <c:val>
            <c:numRef>
              <c:f>'Chart Data'!$H$2:$H$5</c:f>
              <c:numCache>
                <c:formatCode>0.0</c:formatCode>
                <c:ptCount val="4"/>
                <c:pt idx="0">
                  <c:v>0</c:v>
                </c:pt>
                <c:pt idx="1">
                  <c:v>0</c:v>
                </c:pt>
                <c:pt idx="2">
                  <c:v>22</c:v>
                </c:pt>
                <c:pt idx="3">
                  <c:v>0</c:v>
                </c:pt>
              </c:numCache>
            </c:numRef>
          </c:val>
          <c:extLst>
            <c:ext xmlns:c16="http://schemas.microsoft.com/office/drawing/2014/chart" uri="{C3380CC4-5D6E-409C-BE32-E72D297353CC}">
              <c16:uniqueId val="{00000003-6FC4-424C-B301-0D8A272D13DD}"/>
            </c:ext>
          </c:extLst>
        </c:ser>
        <c:ser>
          <c:idx val="4"/>
          <c:order val="4"/>
          <c:tx>
            <c:v>Inflow below zero</c:v>
          </c:tx>
          <c:spPr>
            <a:solidFill>
              <a:srgbClr val="087F83"/>
            </a:solidFill>
            <a:ln w="0">
              <a:noFill/>
              <a:prstDash val="solid"/>
            </a:ln>
          </c:spPr>
          <c:invertIfNegative val="0"/>
          <c:cat>
            <c:strRef>
              <c:f>'Chart Data'!$I$2:$I$5</c:f>
              <c:strCache>
                <c:ptCount val="4"/>
                <c:pt idx="0">
                  <c:v>Inventory</c:v>
                </c:pt>
                <c:pt idx="1">
                  <c:v>Receivables</c:v>
                </c:pt>
                <c:pt idx="2">
                  <c:v>Payables</c:v>
                </c:pt>
                <c:pt idx="3">
                  <c:v>WCR</c:v>
                </c:pt>
              </c:strCache>
            </c:strRef>
          </c:cat>
          <c:val>
            <c:numRef>
              <c:f>'Chart Data'!$J$2:$J$5</c:f>
              <c:numCache>
                <c:formatCode>0.0</c:formatCode>
                <c:ptCount val="4"/>
                <c:pt idx="0">
                  <c:v>0</c:v>
                </c:pt>
                <c:pt idx="1">
                  <c:v>0</c:v>
                </c:pt>
                <c:pt idx="2">
                  <c:v>0</c:v>
                </c:pt>
                <c:pt idx="3">
                  <c:v>0</c:v>
                </c:pt>
              </c:numCache>
            </c:numRef>
          </c:val>
          <c:extLst>
            <c:ext xmlns:c16="http://schemas.microsoft.com/office/drawing/2014/chart" uri="{C3380CC4-5D6E-409C-BE32-E72D297353CC}">
              <c16:uniqueId val="{00000004-6FC4-424C-B301-0D8A272D13DD}"/>
            </c:ext>
          </c:extLst>
        </c:ser>
        <c:ser>
          <c:idx val="5"/>
          <c:order val="5"/>
          <c:tx>
            <c:v>Outflow below zero</c:v>
          </c:tx>
          <c:spPr>
            <a:solidFill>
              <a:srgbClr val="B4453F"/>
            </a:solidFill>
            <a:ln w="0">
              <a:noFill/>
              <a:prstDash val="solid"/>
            </a:ln>
          </c:spPr>
          <c:invertIfNegative val="0"/>
          <c:cat>
            <c:strRef>
              <c:f>'Chart Data'!$K$2:$K$5</c:f>
              <c:strCache>
                <c:ptCount val="4"/>
                <c:pt idx="0">
                  <c:v>Inventory</c:v>
                </c:pt>
                <c:pt idx="1">
                  <c:v>Receivables</c:v>
                </c:pt>
                <c:pt idx="2">
                  <c:v>Payables</c:v>
                </c:pt>
                <c:pt idx="3">
                  <c:v>WCR</c:v>
                </c:pt>
              </c:strCache>
            </c:strRef>
          </c:cat>
          <c:val>
            <c:numRef>
              <c:f>'Chart Data'!$L$2:$L$5</c:f>
              <c:numCache>
                <c:formatCode>0.0</c:formatCode>
                <c:ptCount val="4"/>
                <c:pt idx="0">
                  <c:v>0</c:v>
                </c:pt>
                <c:pt idx="1">
                  <c:v>0</c:v>
                </c:pt>
                <c:pt idx="2">
                  <c:v>-13</c:v>
                </c:pt>
                <c:pt idx="3">
                  <c:v>0</c:v>
                </c:pt>
              </c:numCache>
            </c:numRef>
          </c:val>
          <c:extLst>
            <c:ext xmlns:c16="http://schemas.microsoft.com/office/drawing/2014/chart" uri="{C3380CC4-5D6E-409C-BE32-E72D297353CC}">
              <c16:uniqueId val="{00000005-6FC4-424C-B301-0D8A272D13DD}"/>
            </c:ext>
          </c:extLst>
        </c:ser>
        <c:ser>
          <c:idx val="6"/>
          <c:order val="6"/>
          <c:tx>
            <c:v>Cash balance</c:v>
          </c:tx>
          <c:spPr>
            <a:solidFill>
              <a:srgbClr val="142D3B"/>
            </a:solidFill>
            <a:ln w="0">
              <a:noFill/>
              <a:prstDash val="solid"/>
            </a:ln>
          </c:spPr>
          <c:invertIfNegative val="0"/>
          <c:cat>
            <c:strRef>
              <c:f>'Chart Data'!$M$2:$M$5</c:f>
              <c:strCache>
                <c:ptCount val="4"/>
                <c:pt idx="0">
                  <c:v>Inventory</c:v>
                </c:pt>
                <c:pt idx="1">
                  <c:v>Receivables</c:v>
                </c:pt>
                <c:pt idx="2">
                  <c:v>Payables</c:v>
                </c:pt>
                <c:pt idx="3">
                  <c:v>WCR</c:v>
                </c:pt>
              </c:strCache>
            </c:strRef>
          </c:cat>
          <c:val>
            <c:numRef>
              <c:f>'Chart Data'!$N$2:$N$5</c:f>
              <c:numCache>
                <c:formatCode>0.0</c:formatCode>
                <c:ptCount val="4"/>
                <c:pt idx="0">
                  <c:v>20</c:v>
                </c:pt>
                <c:pt idx="1">
                  <c:v>0</c:v>
                </c:pt>
                <c:pt idx="2">
                  <c:v>0</c:v>
                </c:pt>
                <c:pt idx="3">
                  <c:v>-13</c:v>
                </c:pt>
              </c:numCache>
            </c:numRef>
          </c:val>
          <c:extLst>
            <c:ext xmlns:c16="http://schemas.microsoft.com/office/drawing/2014/chart" uri="{C3380CC4-5D6E-409C-BE32-E72D297353CC}">
              <c16:uniqueId val="{00000006-6FC4-424C-B301-0D8A272D13DD}"/>
            </c:ext>
          </c:extLst>
        </c:ser>
        <c:dLbls>
          <c:showLegendKey val="0"/>
          <c:showVal val="0"/>
          <c:showCatName val="0"/>
          <c:showSerName val="0"/>
          <c:showPercent val="0"/>
          <c:showBubbleSize val="0"/>
        </c:dLbls>
        <c:gapWidth val="90"/>
        <c:overlap val="10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CCD6D9"/>
            </a:solidFill>
            <a:prstDash val="solid"/>
          </a:ln>
        </c:spPr>
        <c:txPr>
          <a:bodyPr anchorCtr="1"/>
          <a:lstStyle/>
          <a:p>
            <a:pPr>
              <a:defRPr sz="1575">
                <a:solidFill>
                  <a:srgbClr val="19313F"/>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ax val="50"/>
          <c:min val="-20"/>
        </c:scaling>
        <c:delete val="0"/>
        <c:axPos val="l"/>
        <c:majorGridlines>
          <c:spPr>
            <a:ln w="6668">
              <a:solidFill>
                <a:srgbClr val="CCD6D9"/>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425">
                <a:solidFill>
                  <a:srgbClr val="5B6D77"/>
                </a:solidFill>
                <a:latin typeface="Aptos"/>
                <a:ea typeface="Aptos"/>
                <a:cs typeface="Aptos"/>
              </a:defRPr>
            </a:pPr>
            <a:endParaRPr lang="fr-FR"/>
          </a:p>
        </c:txPr>
        <c:crossAx val="48650112"/>
        <c:crosses val="autoZero"/>
        <c:crossBetween val="between"/>
        <c:majorUnit val="10"/>
      </c:valAx>
      <c:spPr>
        <a:solidFill>
          <a:srgbClr val="F8F7F3"/>
        </a:solidFill>
        <a:ln w="0">
          <a:noFill/>
          <a:prstDash val="solid"/>
        </a:ln>
      </c:spPr>
    </c:plotArea>
    <c:plotVisOnly val="1"/>
    <c:dispBlanksAs val="zero"/>
    <c:showDLblsOverMax val="1"/>
  </c:chart>
  <c:spPr>
    <a:solidFill>
      <a:srgbClr val="F8F7F3"/>
    </a:solidFill>
    <a:ln w="0">
      <a:noFill/>
      <a:prstDash val="solid"/>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lang="fr-FR" sz="1500" b="0">
                <a:solidFill>
                  <a:srgbClr val="5B6D77"/>
                </a:solidFill>
                <a:latin typeface="Aptos"/>
                <a:ea typeface="Aptos"/>
                <a:cs typeface="Aptos"/>
              </a:rPr>
              <a:t>Industrial operating WCR · €m</a:t>
            </a:r>
          </a:p>
        </c:rich>
      </c:tx>
      <c:overlay val="0"/>
    </c:title>
    <c:autoTitleDeleted val="0"/>
    <c:plotArea>
      <c:layout/>
      <c:barChart>
        <c:barDir val="col"/>
        <c:grouping val="stacked"/>
        <c:varyColors val="0"/>
        <c:ser>
          <c:idx val="0"/>
          <c:order val="0"/>
          <c:tx>
            <c:v>Floating base above zero</c:v>
          </c:tx>
          <c:spPr>
            <a:noFill/>
            <a:ln w="0">
              <a:noFill/>
              <a:prstDash val="solid"/>
            </a:ln>
          </c:spPr>
          <c:invertIfNegative val="0"/>
          <c:cat>
            <c:strRef>
              <c:f>'Chart Data'!$A$2:$A$5</c:f>
              <c:strCache>
                <c:ptCount val="4"/>
                <c:pt idx="0">
                  <c:v>Inventory</c:v>
                </c:pt>
                <c:pt idx="1">
                  <c:v>Receivables</c:v>
                </c:pt>
                <c:pt idx="2">
                  <c:v>Payables</c:v>
                </c:pt>
                <c:pt idx="3">
                  <c:v>WCR</c:v>
                </c:pt>
              </c:strCache>
            </c:strRef>
          </c:cat>
          <c:val>
            <c:numRef>
              <c:f>'Chart Data'!$B$2:$B$5</c:f>
              <c:numCache>
                <c:formatCode>0.0</c:formatCode>
                <c:ptCount val="4"/>
                <c:pt idx="0">
                  <c:v>0</c:v>
                </c:pt>
                <c:pt idx="1">
                  <c:v>20</c:v>
                </c:pt>
                <c:pt idx="2">
                  <c:v>0</c:v>
                </c:pt>
                <c:pt idx="3">
                  <c:v>0</c:v>
                </c:pt>
              </c:numCache>
            </c:numRef>
          </c:val>
          <c:extLst>
            <c:ext xmlns:c16="http://schemas.microsoft.com/office/drawing/2014/chart" uri="{C3380CC4-5D6E-409C-BE32-E72D297353CC}">
              <c16:uniqueId val="{00000000-3989-419C-9390-A39EED822C4E}"/>
            </c:ext>
          </c:extLst>
        </c:ser>
        <c:ser>
          <c:idx val="1"/>
          <c:order val="1"/>
          <c:tx>
            <c:v>Floating base below zero</c:v>
          </c:tx>
          <c:spPr>
            <a:noFill/>
            <a:ln w="0">
              <a:noFill/>
              <a:prstDash val="solid"/>
            </a:ln>
          </c:spPr>
          <c:invertIfNegative val="0"/>
          <c:cat>
            <c:strRef>
              <c:f>'Chart Data'!$C$2:$C$5</c:f>
              <c:strCache>
                <c:ptCount val="4"/>
                <c:pt idx="0">
                  <c:v>Inventory</c:v>
                </c:pt>
                <c:pt idx="1">
                  <c:v>Receivables</c:v>
                </c:pt>
                <c:pt idx="2">
                  <c:v>Payables</c:v>
                </c:pt>
                <c:pt idx="3">
                  <c:v>WCR</c:v>
                </c:pt>
              </c:strCache>
            </c:strRef>
          </c:cat>
          <c:val>
            <c:numRef>
              <c:f>'Chart Data'!$D$2:$D$5</c:f>
              <c:numCache>
                <c:formatCode>0.0</c:formatCode>
                <c:ptCount val="4"/>
                <c:pt idx="0">
                  <c:v>0</c:v>
                </c:pt>
                <c:pt idx="1">
                  <c:v>0</c:v>
                </c:pt>
                <c:pt idx="2">
                  <c:v>0</c:v>
                </c:pt>
                <c:pt idx="3">
                  <c:v>0</c:v>
                </c:pt>
              </c:numCache>
            </c:numRef>
          </c:val>
          <c:extLst>
            <c:ext xmlns:c16="http://schemas.microsoft.com/office/drawing/2014/chart" uri="{C3380CC4-5D6E-409C-BE32-E72D297353CC}">
              <c16:uniqueId val="{00000001-3989-419C-9390-A39EED822C4E}"/>
            </c:ext>
          </c:extLst>
        </c:ser>
        <c:ser>
          <c:idx val="2"/>
          <c:order val="2"/>
          <c:tx>
            <c:v>Cash inflow</c:v>
          </c:tx>
          <c:spPr>
            <a:solidFill>
              <a:srgbClr val="087F83"/>
            </a:solidFill>
            <a:ln w="0">
              <a:noFill/>
              <a:prstDash val="solid"/>
            </a:ln>
          </c:spPr>
          <c:invertIfNegative val="0"/>
          <c:cat>
            <c:strRef>
              <c:f>'Chart Data'!$E$2:$E$5</c:f>
              <c:strCache>
                <c:ptCount val="4"/>
                <c:pt idx="0">
                  <c:v>Inventory</c:v>
                </c:pt>
                <c:pt idx="1">
                  <c:v>Receivables</c:v>
                </c:pt>
                <c:pt idx="2">
                  <c:v>Payables</c:v>
                </c:pt>
                <c:pt idx="3">
                  <c:v>WCR</c:v>
                </c:pt>
              </c:strCache>
            </c:strRef>
          </c:cat>
          <c:val>
            <c:numRef>
              <c:f>'Chart Data'!$F$2:$F$5</c:f>
              <c:numCache>
                <c:formatCode>0.0</c:formatCode>
                <c:ptCount val="4"/>
                <c:pt idx="0">
                  <c:v>0</c:v>
                </c:pt>
                <c:pt idx="1">
                  <c:v>25</c:v>
                </c:pt>
                <c:pt idx="2">
                  <c:v>0</c:v>
                </c:pt>
                <c:pt idx="3">
                  <c:v>0</c:v>
                </c:pt>
              </c:numCache>
            </c:numRef>
          </c:val>
          <c:extLst>
            <c:ext xmlns:c16="http://schemas.microsoft.com/office/drawing/2014/chart" uri="{C3380CC4-5D6E-409C-BE32-E72D297353CC}">
              <c16:uniqueId val="{00000002-3989-419C-9390-A39EED822C4E}"/>
            </c:ext>
          </c:extLst>
        </c:ser>
        <c:ser>
          <c:idx val="3"/>
          <c:order val="3"/>
          <c:tx>
            <c:v>Cash outflow</c:v>
          </c:tx>
          <c:spPr>
            <a:solidFill>
              <a:srgbClr val="B4453F"/>
            </a:solidFill>
            <a:ln w="0">
              <a:noFill/>
              <a:prstDash val="solid"/>
            </a:ln>
          </c:spPr>
          <c:invertIfNegative val="0"/>
          <c:cat>
            <c:strRef>
              <c:f>'Chart Data'!$G$2:$G$5</c:f>
              <c:strCache>
                <c:ptCount val="4"/>
                <c:pt idx="0">
                  <c:v>Inventory</c:v>
                </c:pt>
                <c:pt idx="1">
                  <c:v>Receivables</c:v>
                </c:pt>
                <c:pt idx="2">
                  <c:v>Payables</c:v>
                </c:pt>
                <c:pt idx="3">
                  <c:v>WCR</c:v>
                </c:pt>
              </c:strCache>
            </c:strRef>
          </c:cat>
          <c:val>
            <c:numRef>
              <c:f>'Chart Data'!$H$2:$H$5</c:f>
              <c:numCache>
                <c:formatCode>0.0</c:formatCode>
                <c:ptCount val="4"/>
                <c:pt idx="0">
                  <c:v>0</c:v>
                </c:pt>
                <c:pt idx="1">
                  <c:v>0</c:v>
                </c:pt>
                <c:pt idx="2">
                  <c:v>45</c:v>
                </c:pt>
                <c:pt idx="3">
                  <c:v>0</c:v>
                </c:pt>
              </c:numCache>
            </c:numRef>
          </c:val>
          <c:extLst>
            <c:ext xmlns:c16="http://schemas.microsoft.com/office/drawing/2014/chart" uri="{C3380CC4-5D6E-409C-BE32-E72D297353CC}">
              <c16:uniqueId val="{00000003-3989-419C-9390-A39EED822C4E}"/>
            </c:ext>
          </c:extLst>
        </c:ser>
        <c:ser>
          <c:idx val="4"/>
          <c:order val="4"/>
          <c:tx>
            <c:v>Inflow below zero</c:v>
          </c:tx>
          <c:spPr>
            <a:solidFill>
              <a:srgbClr val="087F83"/>
            </a:solidFill>
            <a:ln w="0">
              <a:noFill/>
              <a:prstDash val="solid"/>
            </a:ln>
          </c:spPr>
          <c:invertIfNegative val="0"/>
          <c:cat>
            <c:strRef>
              <c:f>'Chart Data'!$I$2:$I$5</c:f>
              <c:strCache>
                <c:ptCount val="4"/>
                <c:pt idx="0">
                  <c:v>Inventory</c:v>
                </c:pt>
                <c:pt idx="1">
                  <c:v>Receivables</c:v>
                </c:pt>
                <c:pt idx="2">
                  <c:v>Payables</c:v>
                </c:pt>
                <c:pt idx="3">
                  <c:v>WCR</c:v>
                </c:pt>
              </c:strCache>
            </c:strRef>
          </c:cat>
          <c:val>
            <c:numRef>
              <c:f>'Chart Data'!$J$2:$J$5</c:f>
              <c:numCache>
                <c:formatCode>0.0</c:formatCode>
                <c:ptCount val="4"/>
                <c:pt idx="0">
                  <c:v>0</c:v>
                </c:pt>
                <c:pt idx="1">
                  <c:v>0</c:v>
                </c:pt>
                <c:pt idx="2">
                  <c:v>0</c:v>
                </c:pt>
                <c:pt idx="3">
                  <c:v>0</c:v>
                </c:pt>
              </c:numCache>
            </c:numRef>
          </c:val>
          <c:extLst>
            <c:ext xmlns:c16="http://schemas.microsoft.com/office/drawing/2014/chart" uri="{C3380CC4-5D6E-409C-BE32-E72D297353CC}">
              <c16:uniqueId val="{00000004-3989-419C-9390-A39EED822C4E}"/>
            </c:ext>
          </c:extLst>
        </c:ser>
        <c:ser>
          <c:idx val="5"/>
          <c:order val="5"/>
          <c:tx>
            <c:v>Outflow below zero</c:v>
          </c:tx>
          <c:spPr>
            <a:solidFill>
              <a:srgbClr val="B4453F"/>
            </a:solidFill>
            <a:ln w="0">
              <a:noFill/>
              <a:prstDash val="solid"/>
            </a:ln>
          </c:spPr>
          <c:invertIfNegative val="0"/>
          <c:cat>
            <c:strRef>
              <c:f>'Chart Data'!$K$2:$K$5</c:f>
              <c:strCache>
                <c:ptCount val="4"/>
                <c:pt idx="0">
                  <c:v>Inventory</c:v>
                </c:pt>
                <c:pt idx="1">
                  <c:v>Receivables</c:v>
                </c:pt>
                <c:pt idx="2">
                  <c:v>Payables</c:v>
                </c:pt>
                <c:pt idx="3">
                  <c:v>WCR</c:v>
                </c:pt>
              </c:strCache>
            </c:strRef>
          </c:cat>
          <c:val>
            <c:numRef>
              <c:f>'Chart Data'!$L$2:$L$5</c:f>
              <c:numCache>
                <c:formatCode>0.0</c:formatCode>
                <c:ptCount val="4"/>
                <c:pt idx="0">
                  <c:v>0</c:v>
                </c:pt>
                <c:pt idx="1">
                  <c:v>0</c:v>
                </c:pt>
                <c:pt idx="2">
                  <c:v>-10</c:v>
                </c:pt>
                <c:pt idx="3">
                  <c:v>0</c:v>
                </c:pt>
              </c:numCache>
            </c:numRef>
          </c:val>
          <c:extLst>
            <c:ext xmlns:c16="http://schemas.microsoft.com/office/drawing/2014/chart" uri="{C3380CC4-5D6E-409C-BE32-E72D297353CC}">
              <c16:uniqueId val="{00000005-3989-419C-9390-A39EED822C4E}"/>
            </c:ext>
          </c:extLst>
        </c:ser>
        <c:ser>
          <c:idx val="6"/>
          <c:order val="6"/>
          <c:tx>
            <c:v>Cash balance</c:v>
          </c:tx>
          <c:spPr>
            <a:solidFill>
              <a:srgbClr val="142D3B"/>
            </a:solidFill>
            <a:ln w="0">
              <a:noFill/>
              <a:prstDash val="solid"/>
            </a:ln>
          </c:spPr>
          <c:invertIfNegative val="0"/>
          <c:cat>
            <c:strRef>
              <c:f>'Chart Data'!$M$2:$M$5</c:f>
              <c:strCache>
                <c:ptCount val="4"/>
                <c:pt idx="0">
                  <c:v>Inventory</c:v>
                </c:pt>
                <c:pt idx="1">
                  <c:v>Receivables</c:v>
                </c:pt>
                <c:pt idx="2">
                  <c:v>Payables</c:v>
                </c:pt>
                <c:pt idx="3">
                  <c:v>WCR</c:v>
                </c:pt>
              </c:strCache>
            </c:strRef>
          </c:cat>
          <c:val>
            <c:numRef>
              <c:f>'Chart Data'!$N$2:$N$5</c:f>
              <c:numCache>
                <c:formatCode>0.0</c:formatCode>
                <c:ptCount val="4"/>
                <c:pt idx="0">
                  <c:v>20</c:v>
                </c:pt>
                <c:pt idx="1">
                  <c:v>0</c:v>
                </c:pt>
                <c:pt idx="2">
                  <c:v>0</c:v>
                </c:pt>
                <c:pt idx="3">
                  <c:v>-10</c:v>
                </c:pt>
              </c:numCache>
            </c:numRef>
          </c:val>
          <c:extLst>
            <c:ext xmlns:c16="http://schemas.microsoft.com/office/drawing/2014/chart" uri="{C3380CC4-5D6E-409C-BE32-E72D297353CC}">
              <c16:uniqueId val="{00000006-3989-419C-9390-A39EED822C4E}"/>
            </c:ext>
          </c:extLst>
        </c:ser>
        <c:dLbls>
          <c:showLegendKey val="0"/>
          <c:showVal val="0"/>
          <c:showCatName val="0"/>
          <c:showSerName val="0"/>
          <c:showPercent val="0"/>
          <c:showBubbleSize val="0"/>
        </c:dLbls>
        <c:gapWidth val="90"/>
        <c:overlap val="100"/>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CCD6D9"/>
            </a:solidFill>
            <a:prstDash val="solid"/>
          </a:ln>
        </c:spPr>
        <c:txPr>
          <a:bodyPr anchorCtr="1"/>
          <a:lstStyle/>
          <a:p>
            <a:pPr>
              <a:defRPr sz="1575">
                <a:solidFill>
                  <a:srgbClr val="19313F"/>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ax val="60"/>
          <c:min val="-20"/>
        </c:scaling>
        <c:delete val="0"/>
        <c:axPos val="l"/>
        <c:majorGridlines>
          <c:spPr>
            <a:ln w="6668">
              <a:solidFill>
                <a:srgbClr val="CCD6D9"/>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425">
                <a:solidFill>
                  <a:srgbClr val="5B6D77"/>
                </a:solidFill>
                <a:latin typeface="Aptos"/>
                <a:ea typeface="Aptos"/>
                <a:cs typeface="Aptos"/>
              </a:defRPr>
            </a:pPr>
            <a:endParaRPr lang="fr-FR"/>
          </a:p>
        </c:txPr>
        <c:crossAx val="48650112"/>
        <c:crosses val="autoZero"/>
        <c:crossBetween val="between"/>
        <c:majorUnit val="10"/>
      </c:valAx>
      <c:spPr>
        <a:solidFill>
          <a:srgbClr val="F8F7F3"/>
        </a:solidFill>
        <a:ln w="0">
          <a:noFill/>
          <a:prstDash val="solid"/>
        </a:ln>
      </c:spPr>
    </c:plotArea>
    <c:plotVisOnly val="1"/>
    <c:dispBlanksAs val="zero"/>
    <c:showDLblsOverMax val="1"/>
  </c:chart>
  <c:spPr>
    <a:solidFill>
      <a:srgbClr val="F8F7F3"/>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Corporate Treasury Management. Master 2 Corporate Financial Management, SKEMA Business School. The 18-hour course develops quantified Treasury recommendations for the CFO. Cover artwork is reused from the user-provided Credit Analysis reference.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three-hour sessions. Exercises are in the separate student workbook; detailed corrections are in the professor workbook. Session 2: cash and working capital, then Case 1 launch and group preparation. Session 3: eight teams, six slides maximum, 12 minutes presentation plus four minutes of questions. Final report: maximum eight pages excluding cover and appendices; five calendar days after Session 6; no further oral presentation. AI is permitted with verification.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Chapter 1. Corporate Treasury. Why does Treasury exist and why is it strategic?</a:t>
            </a:r>
          </a:p>
          <a:p>
            <a:r>
              <a:t>1.1 Mandate and evolution</a:t>
            </a:r>
          </a:p>
          <a:p>
            <a:r>
              <a:t>1.2 Ecosystem and governance</a:t>
            </a:r>
          </a:p>
          <a:p>
            <a:r>
              <a:t>1.3 Risk framework</a:t>
            </a:r>
          </a:p>
          <a:p>
            <a:r>
              <a:t>1.4 Appetite and priorities</a:t>
            </a:r>
          </a:p>
          <a:p>
            <a:r>
              <a:t>1.5 Financial toolkit</a:t>
            </a:r>
          </a:p>
          <a:p>
            <a:r>
              <a:t>Session 1: use the toolkit as an introduction rather than a full technical treatment. Suggested allocation: about 75 minutes of teaching, a break, then 90 minutes of corrected exercises. WCR, CCC, leverage, liquidity headroom and market sensitivities are developed in later chapters. The Delta incident example is optional depending on class pace.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activity, 3–4 minutes. Read the scenario aloud as a personal story. Ask for a show of hands before advancing. Invite one student who votes to lend €50 and another who refuses to explain their logic. Do not reveal the calculation before the vote. The loan is repaid next month, after tonight’s bill. The €150 receipt is due next week and is not available now. This is a fictional example. Keep the exercise brief and return to the corporate equivalent on the next existing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Reveal after the vote. Simplified net position = 100 cash + 150 receivable − 80 liability = 170. That positive net position does not remove the timing mismatch. A €50 loan today leaves €50 cash against an €80 payment tonight, a €30 gap. At most €20 can be lent assuming no other payment needs and no extra liquidity buffer. An independently secured immediate financing source could change the decision, but next week’s promised receipt alone cannot. Ask students to replace pocket with bank accounts, the €80 bill with payroll, and the friend with a customer. Then advance to the existing profitable-company slide. Do not equate this personal net position with corporate EBITDA.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profitable company can still run out of cash</a:t>
            </a:r>
          </a:p>
          <a:p>
            <a:endParaRPr/>
          </a:p>
          <a:p>
            <a:r>
              <a:t>An exporter reports EUR 12m EBITDA but must pay EUR 8m wages and suppliers before customers settle. Profit measures performance; cash timing determines whether obligations can be paid.</a:t>
            </a:r>
          </a:p>
          <a:p>
            <a:endParaRPr/>
          </a:p>
          <a:p>
            <a:r>
              <a:t>Worked example or discussion</a:t>
            </a:r>
          </a:p>
          <a:p>
            <a:r>
              <a:t>Draw two timelines with profit recognised at delivery and cash collected 60 days later. Ask students which event pays payroll.</a:t>
            </a:r>
          </a:p>
          <a:p>
            <a:endParaRPr/>
          </a:p>
          <a:p>
            <a:r>
              <a:t>CFO implication</a:t>
            </a:r>
          </a:p>
          <a:p>
            <a:r>
              <a:t>Build liquidity protection into the operating plan before accepting additional orders.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Treasury mandate</a:t>
            </a:r>
          </a:p>
          <a:p>
            <a:endParaRPr/>
          </a:p>
          <a:p>
            <a:r>
              <a:t>Corporate Treasury is not about maximizing profit. It is about protecting the company, ensuring liquidity, optimizing financing decisions and supporting strategic objectives. Financing costs matter, but taking uncompensated risk to increase yield can jeopardise operations.</a:t>
            </a:r>
          </a:p>
          <a:p>
            <a:endParaRPr/>
          </a:p>
          <a:p>
            <a:r>
              <a:t>Worked example or discussion</a:t>
            </a:r>
          </a:p>
          <a:p>
            <a:r>
              <a:t>Four connected areas around business continuity: liquidity, funding, risk and strategic support.</a:t>
            </a:r>
          </a:p>
          <a:p>
            <a:endParaRPr/>
          </a:p>
          <a:p>
            <a:r>
              <a:t>CFO implication</a:t>
            </a:r>
          </a:p>
          <a:p>
            <a:r>
              <a:t>Evaluate decisions using cost, resilience and business objectives together.</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From bank operations to strategic Treasury</a:t>
            </a:r>
          </a:p>
          <a:p>
            <a:endParaRPr/>
          </a:p>
          <a:p>
            <a:r>
              <a:t>Payments, bank reconciliation and cash reporting remain necessary. Strategic Treasury adds forecast ownership, access to finance, exposure management and advice on investment capacity. Automating a payment does not replace deciding whether the business can afford it.</a:t>
            </a:r>
          </a:p>
          <a:p>
            <a:endParaRPr/>
          </a:p>
          <a:p>
            <a:r>
              <a:t>Worked example or discussion</a:t>
            </a:r>
          </a:p>
          <a:p>
            <a:r>
              <a:t>Show a progression from transaction execution to cash visibility, forecast and CFO advice.</a:t>
            </a:r>
          </a:p>
          <a:p>
            <a:endParaRPr/>
          </a:p>
          <a:p>
            <a:r>
              <a:t>CFO implication</a:t>
            </a:r>
          </a:p>
          <a:p>
            <a:r>
              <a:t>Keep reliable operations while extending Treasury involvement upstream into commercial decisions.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Treasurer ecosystem</a:t>
            </a:r>
          </a:p>
          <a:p>
            <a:endParaRPr/>
          </a:p>
          <a:p>
            <a:r>
              <a:t>Accounting explains recognised balances; FP&amp;A models the business plan; business units know orders and collection risks; banks provide execution and finance; investors assess repayment and value. Treasury reconciles these perspectives into dated cash flows.</a:t>
            </a:r>
          </a:p>
          <a:p>
            <a:endParaRPr/>
          </a:p>
          <a:p>
            <a:r>
              <a:t>Worked example or discussion</a:t>
            </a:r>
          </a:p>
          <a:p>
            <a:r>
              <a:t>Use a responsibility map with Treasury at the centre and named data owners at each interface.</a:t>
            </a:r>
          </a:p>
          <a:p>
            <a:endParaRPr/>
          </a:p>
          <a:p>
            <a:r>
              <a:t>CFO implication</a:t>
            </a:r>
          </a:p>
          <a:p>
            <a:r>
              <a:t>Agree data ownership and escalation deadlines with the CFO.</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Governance before instruments</a:t>
            </a:r>
          </a:p>
          <a:p>
            <a:endParaRPr/>
          </a:p>
          <a:p>
            <a:r>
              <a:t>A treasury policy defines permitted instruments, approved counterparties, risk limits, delegation and reporting. Treasury may report directly to the CFO to align financing with strategy. Organisational size affects the reporting structure; it is not a universal rule.</a:t>
            </a:r>
          </a:p>
          <a:p>
            <a:endParaRPr/>
          </a:p>
          <a:p>
            <a:r>
              <a:t>Worked example or discussion</a:t>
            </a:r>
          </a:p>
          <a:p>
            <a:r>
              <a:t>Compare central policy with local execution in a two-column responsibility matrix.</a:t>
            </a:r>
          </a:p>
          <a:p>
            <a:endParaRPr/>
          </a:p>
          <a:p>
            <a:r>
              <a:t>CFO implication</a:t>
            </a:r>
          </a:p>
          <a:p>
            <a:r>
              <a:t>Centralise risk policy and visibility; allow local execution where operational knowledge or restrictions require it.</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Controls protect liquidity too</a:t>
            </a:r>
          </a:p>
          <a:p>
            <a:endParaRPr/>
          </a:p>
          <a:p>
            <a:r>
              <a:t>Separate trade initiation, approval, confirmation and settlement. Verify bank-detail changes through an independent channel. A hedge does not protect against fraudulent payment instructions. Cash visibility and access control support the same survival objective.</a:t>
            </a:r>
          </a:p>
          <a:p>
            <a:endParaRPr/>
          </a:p>
          <a:p>
            <a:r>
              <a:t>Worked example or discussion</a:t>
            </a:r>
          </a:p>
          <a:p>
            <a:r>
              <a:t>Display a payment process with approval and independent verification checkpoints.</a:t>
            </a:r>
          </a:p>
          <a:p>
            <a:endParaRPr/>
          </a:p>
          <a:p>
            <a:r>
              <a:t>CFO implication</a:t>
            </a:r>
          </a:p>
          <a:p>
            <a:r>
              <a:t>Assign control owners and ensure a backup process when a bank platform fails.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Liquidity risk versus funding risk</a:t>
            </a:r>
          </a:p>
          <a:p>
            <a:endParaRPr/>
          </a:p>
          <a:p>
            <a:r>
              <a:t>Liquidity risk concerns paying obligations when due. Funding risk concerns obtaining or renewing financing on acceptable terms. A loan maturity can turn funding risk into a cash shortage; a delayed customer payment can cause liquidity stress without changing long-term debt.</a:t>
            </a:r>
          </a:p>
          <a:p>
            <a:endParaRPr/>
          </a:p>
          <a:p>
            <a:r>
              <a:t>Worked example or discussion</a:t>
            </a:r>
          </a:p>
          <a:p>
            <a:r>
              <a:t>Show a maturity falling inside a cash forecast with an unconfirmed refinancing assumption.</a:t>
            </a:r>
          </a:p>
          <a:p>
            <a:endParaRPr/>
          </a:p>
          <a:p>
            <a:r>
              <a:t>CFO implication</a:t>
            </a:r>
          </a:p>
          <a:p>
            <a:r>
              <a:t>Measure cash shortfalls separately from reliance on refinancing.</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Market risks transmit into cash</a:t>
            </a:r>
          </a:p>
          <a:p>
            <a:endParaRPr/>
          </a:p>
          <a:p>
            <a:r>
              <a:t>FX affects currency receipts and payments; floating rates affect interest cash flows; commodities affect input costs and margins. Exposure is a quantity with a currency, repricing date or purchase horizon, not simply the fact that a company operates abroad.</a:t>
            </a:r>
          </a:p>
          <a:p>
            <a:endParaRPr/>
          </a:p>
          <a:p>
            <a:r>
              <a:t>Worked example or discussion</a:t>
            </a:r>
          </a:p>
          <a:p>
            <a:r>
              <a:t>Map each market shock to an invoice, debt coupon or supplier order.</a:t>
            </a:r>
          </a:p>
          <a:p>
            <a:endParaRPr/>
          </a:p>
          <a:p>
            <a:r>
              <a:t>CFO implication</a:t>
            </a:r>
          </a:p>
          <a:p>
            <a:r>
              <a:t>Identify the exposure and timing before selecting a hedge.</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Counterparty and operating risks</a:t>
            </a:r>
          </a:p>
          <a:p>
            <a:endParaRPr/>
          </a:p>
          <a:p>
            <a:r>
              <a:t>A bank failure may block deposits and payments; customer default damages collections; supplier failure interrupts production. Counterparty risk differs from normal payment timing, although both can reduce liquidity. Forecast errors, cyber incidents and legal restrictions amplify exposure.</a:t>
            </a:r>
          </a:p>
          <a:p>
            <a:endParaRPr/>
          </a:p>
          <a:p>
            <a:r>
              <a:t>Worked example or discussion</a:t>
            </a:r>
          </a:p>
          <a:p>
            <a:r>
              <a:t>Use a risk register with risk, cause, cash channel, owner and early warning indicator.</a:t>
            </a:r>
          </a:p>
          <a:p>
            <a:endParaRPr/>
          </a:p>
          <a:p>
            <a:r>
              <a:t>CFO implication</a:t>
            </a:r>
          </a:p>
          <a:p>
            <a:r>
              <a:t>Include bank concentration and critical suppliers in the Treasury dashboard.</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Fictional supplier bank-detail fraud example. A criminal impersonates the genuine supplier and requests a bank account change. The invoice itself is genuine. The company sends €100,000 to the criminal’s account, so its debt to the genuine supplier remains unpaid. If it must then pay the legitimate supplier in full and has no immediate recovery, total cash outflow is €200,000 instead of the €100,000 originally budgeted. The incremental loss and extra funding need are €100,000, not €200,000. Two signatures may fail if both approvers rely on the same fake email or changed master data. Verify beneficiary changes independently using an established contact channel, separate amendment and payment authorisation, and restrict bank access. If discovered, contact the bank promptly, seek recall, escalate, and protect supplier continuity. Recovery and insurance are uncertain and should not be counted as immediately available cash. Ask: is the invoice false, or is the bank account false? The bank account is false.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Illustrative mechanisms, not claims about named companies. Ask students which channel changes EBITDA, WCR, timing, or more than one. Avoid counting the same missing receipt both as a lost sale and an incremental receivable.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Risk appetite makes choices explicit</a:t>
            </a:r>
          </a:p>
          <a:p>
            <a:endParaRPr/>
          </a:p>
          <a:p>
            <a:r>
              <a:t>Risk appetite defines how much uncertainty the company can accept while protecting objectives. Translate it into limits: minimum accessible cash, maximum unhedged exposure, counterparty concentration and debt maturity concentration. Limits should reflect cash generation and resilience.</a:t>
            </a:r>
          </a:p>
          <a:p>
            <a:endParaRPr/>
          </a:p>
          <a:p>
            <a:r>
              <a:t>Worked example or discussion</a:t>
            </a:r>
          </a:p>
          <a:p>
            <a:r>
              <a:t>Place risk capacity, appetite and operating limits in three nested areas.</a:t>
            </a:r>
          </a:p>
          <a:p>
            <a:endParaRPr/>
          </a:p>
          <a:p>
            <a:r>
              <a:t>CFO implication</a:t>
            </a:r>
          </a:p>
          <a:p>
            <a:r>
              <a:t>Seek CFO or board approval for measurable limits and escalation rules.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French exporter receives dollars because its US customers pay in USD. Its payroll and suppliers require euros. It therefore needs to exchange those dollars for euros. Start with this business need before introducing any financial instrument. The example uses USD 10m to match the following forward example already in the course. Assume no matching USD expenses or existing hedge. Ask the class: if we receive dollars but spend euros, what amount do we need to make predictable? The amount of euros available for our payments.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quote aloud: one euro buys 1.10 dollars, then one euro buys 1.20 dollars. The euro has strengthened. With the same USD 10m receipt, EUR proceeds fall from 10,000,000/1.10 = 9,090,909.09 to 10,000,000/1.20 = 8,333,333.33. The difference is a reduction of EUR 757,575.76, rounded EUR 758k. The company has fewer euros for its expenses even though the number of dollars is unchanged. Treasury can accept the uncertainty or agree a future exchange rate with a bank. A forward agreement fixes that rate and creates a delivery commitment; explain that contract on the next existing slide. Receipt certainty is a separate issue addressed by the later overhedging example. All figures are hypothetical teaching assumptions, not market quotations.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prerequisite for the next slide, which was V3 slide 16. Hedge means arranging an offset to an exposure. An FX forward is a contract agreeing today on a currency exchange at a future date. In this example, the company agrees to sell dollars and receive euros. The agreed quotation is USD per EUR, so euros received equal dollars divided by the quote. Distinguish the uncertain forecast customer receipt from the binding bank delivery obligation. The €9.09m is not received today. This is an introductory illustration; forward pricing and full comparison of instruments remain in Chapter 5. Typical forwards do not have an upfront option premium, but forward points, spreads, credit terms, collateral and settlement arrangements still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compares forecast receipt hedges of 0%, 50% and 100%. All customer receipts and the forward settle on the same date. Original forecast USD 10m falls to actual receipts of USD 6m. With no forward, all USD 6m remain exposed to the spot rate. With a USD 5m forward, USD 5m settle with the bank and USD 1m remain unhedged. With a USD 10m forward, the company is short USD 4m for delivery and must obtain the dollars, for example by buying them at spot. This creates an additional exposure and may require settlement liquidity; the amount of an economic loss depends on the contracted forward rate and actual spot rate. Do not call the whole USD 4m an economic loss. A higher hedge ratio is appropriate only when receipt certainty and the firm’s risk capacity support it. The decision involves cash certainty, forecast reliability, execution terms and costs.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usable risk matrix</a:t>
            </a:r>
          </a:p>
          <a:p>
            <a:endParaRPr/>
          </a:p>
          <a:p>
            <a:r>
              <a:t>For classroom use, likelihood 1 means remote, 2 plausible and 3 likely; impact 1 manageable, 2 material and 3 threatening critical payments or finance. Score = likelihood x impact. These ordinal scores structure discussion; they are not expected losses.</a:t>
            </a:r>
          </a:p>
          <a:p>
            <a:endParaRPr/>
          </a:p>
          <a:p>
            <a:r>
              <a:t>Worked example or discussion</a:t>
            </a:r>
          </a:p>
          <a:p>
            <a:r>
              <a:t>Show a 3 by 3 matrix and attach cash evidence to each plotted risk.</a:t>
            </a:r>
          </a:p>
          <a:p>
            <a:endParaRPr/>
          </a:p>
          <a:p>
            <a:r>
              <a:t>CFO implication</a:t>
            </a:r>
          </a:p>
          <a:p>
            <a:r>
              <a:t>Prioritise imminent payment threats even when a market risk has the same score.</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Operating working capital and WCR</a:t>
            </a:r>
          </a:p>
          <a:p>
            <a:endParaRPr/>
          </a:p>
          <a:p>
            <a:r>
              <a:t>Operating working capital, called WCR in this course, = inventory + trade receivables - trade payables. It measures cash committed to the simplified operating cycle. Net working capital in accounting often means all current assets minus all current liabilities; that is a different perimeter.</a:t>
            </a:r>
          </a:p>
          <a:p>
            <a:endParaRPr/>
          </a:p>
          <a:p>
            <a:r>
              <a:t>Worked example or discussion</a:t>
            </a:r>
          </a:p>
          <a:p>
            <a:r>
              <a:t>Inventory EUR 30m + receivables EUR 40m - payables EUR 25m = EUR 45m WCR.</a:t>
            </a:r>
          </a:p>
          <a:p>
            <a:endParaRPr/>
          </a:p>
          <a:p>
            <a:r>
              <a:t>CFO implication</a:t>
            </a:r>
          </a:p>
          <a:p>
            <a:r>
              <a:t>Check the perimeter before comparing two companies or interpreting a negative number.</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Chapter 1 intuition: show the dates before introducing DSO, DIO and DPO calculations. Goods are bought on day 0 and sold on day 60. The supplier is paid on day 70. Customer collection is on day 100. Funding is needed for 30 days, from supplier payment to customer collection. The formal CCC formula and detailed ratio denominators remain in Chapter 2. The different example in Chapter 2 provides an application rather than a repeated explanation.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Debt and interest capacity</a:t>
            </a:r>
          </a:p>
          <a:p>
            <a:endParaRPr/>
          </a:p>
          <a:p>
            <a:r>
              <a:t>Net debt = interest-bearing debt - eligible cash. Net debt / EBITDA estimates leverage, not years to repay: EBITDA excludes capex, taxes, interest and working capital. Interest coverage = EBITDA / annual interest expense here; EBIT coverage is an alternative. Use the lender definition for covenants.</a:t>
            </a:r>
          </a:p>
          <a:p>
            <a:endParaRPr/>
          </a:p>
          <a:p>
            <a:r>
              <a:t>Worked example or discussion</a:t>
            </a:r>
          </a:p>
          <a:p>
            <a:r>
              <a:t>Debt EUR 90m, eligible cash 15, EBITDA 25 and annual interest 5 give leverage 3.0x and coverage 5.0x.</a:t>
            </a:r>
          </a:p>
          <a:p>
            <a:endParaRPr/>
          </a:p>
          <a:p>
            <a:r>
              <a:t>CFO implication</a:t>
            </a:r>
          </a:p>
          <a:p>
            <a:r>
              <a:t>Explain both repayment constraints and the limits of EBITDA-based indicators.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full numerical formula remains in Chapter 3. Distinguish an identified payment need, a financing resource that can actually be drawn in time, and the minimum retained cash balance. Use the following Delta outage case to apply the decision. Do not count an uncommitted or ineligible line as secured cash.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rewrites V3 slide 23 as a side-by-side cash bridge. Normal week: opening 6 + receipts 6 − payments 7 = closing cash 5. Outage week: €4m of receipts are delayed, reducing current-week receipts from 6 to 2; repair spending adds 1, increasing payments from 7 to 8. Closing cash = 6+2−8=0. The incident worsens the end-week cash position by 5: €4m timing delay plus €1m extra spending. The minimum operating cash buffer is a separate management assumption of €3m to retain for forecast uncertainty and upcoming payments. Required funding or timely management actions = max(0,3−0)=3. Zero closing cash is not automatically a missed payment in this simplified end-week model, but the buffer is breached. A dated daily forecast is still needed to establish whether an earlier payment trough occurs. The delayed €4m is not a permanent loss and is not deducted a second time. No immediate insurance or recovery receipt is assumed. Ask students: why €3m, rather than €5m? We need to restore the minimum buffer of 3, not necessarily the pre-incident closing balance of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Chapter 2. Cash Management and Working Capital. How can operations turn into cash?</a:t>
            </a:r>
          </a:p>
          <a:p>
            <a:r>
              <a:t>2.1 Profit and operating cash</a:t>
            </a:r>
          </a:p>
          <a:p>
            <a:r>
              <a:t>2.2 Cycle and measurement</a:t>
            </a:r>
          </a:p>
          <a:p>
            <a:r>
              <a:t>2.3 Negative WCR and CCC</a:t>
            </a:r>
          </a:p>
          <a:p>
            <a:r>
              <a:t>2.4 Cash release and tradeoffs</a:t>
            </a:r>
          </a:p>
          <a:p>
            <a:r>
              <a:t>2.5 Working capital governance</a:t>
            </a:r>
          </a:p>
          <a:p>
            <a:r>
              <a:t>Session 2: teach cash and working capital, then launch Case 1 and let teams start with instructor feedback. Suggested allocation: about 80 minutes of teaching, a break, then about 85 minutes for the brief and group work. Session 3 is presentations. Session 4 combines liquidity and funding, so select exercises to fit the available time. Sessions 5–6 retain markets and integrated stress testing.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Profit is not cash</a:t>
            </a:r>
          </a:p>
          <a:p>
            <a:endParaRPr/>
          </a:p>
          <a:p>
            <a:r>
              <a:t>Sales on credit increase profit before collection. Inventory absorbs cash before sale. Buying equipment is an investing cash outflow even though only depreciation enters annual profit. A profitable, growing business can therefore need external funding.</a:t>
            </a:r>
          </a:p>
          <a:p>
            <a:endParaRPr/>
          </a:p>
          <a:p>
            <a:r>
              <a:t>Worked example or discussion</a:t>
            </a:r>
          </a:p>
          <a:p>
            <a:r>
              <a:t>Use one order from purchase to invoice and collection; show EUR 100 profit recognised while EUR 600 remains unpaid.</a:t>
            </a:r>
          </a:p>
          <a:p>
            <a:endParaRPr/>
          </a:p>
          <a:p>
            <a:r>
              <a:t>CFO implication</a:t>
            </a:r>
          </a:p>
          <a:p>
            <a:r>
              <a:t>Pair performance targets with cash conversion targets.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simplified EBITDA to cash bridge</a:t>
            </a:r>
          </a:p>
          <a:p>
            <a:endParaRPr/>
          </a:p>
          <a:p>
            <a:r>
              <a:t>Simplified operating cash before financing = EBITDA - cash taxes - change in operating WCR. Simplified cash after capex = EBITDA - cash taxes - change in WCR - capex. This teaching bridge excludes other accrual adjustments; use full cash-flow statements in practice.</a:t>
            </a:r>
          </a:p>
          <a:p>
            <a:endParaRPr/>
          </a:p>
          <a:p>
            <a:r>
              <a:t>Worked example or discussion</a:t>
            </a:r>
          </a:p>
          <a:p>
            <a:r>
              <a:t>EBITDA 30 - tax 4 - increase in WCR 12 - capex 10 = EUR 4m cash after capex, before interest.</a:t>
            </a:r>
          </a:p>
          <a:p>
            <a:endParaRPr/>
          </a:p>
          <a:p>
            <a:r>
              <a:t>CFO implication</a:t>
            </a:r>
          </a:p>
          <a:p>
            <a:r>
              <a:t>Do not describe EBITDA as available cash.</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Growth creates a funding requirement</a:t>
            </a:r>
          </a:p>
          <a:p>
            <a:endParaRPr/>
          </a:p>
          <a:p>
            <a:r>
              <a:t>If WCR remains 20% of annual revenue, revenue growing from EUR 200m to EUR 250m requires EUR 10m additional WCR. Formula: incremental WCR = stable WCR / revenue ratio x increase in revenue. Stable ratios are an assumption, not a law.</a:t>
            </a:r>
          </a:p>
          <a:p>
            <a:endParaRPr/>
          </a:p>
          <a:p>
            <a:r>
              <a:t>Worked example or discussion</a:t>
            </a:r>
          </a:p>
          <a:p>
            <a:r>
              <a:t>Two revenue bars with WCR blocks of 40 and 50 underneath.</a:t>
            </a:r>
          </a:p>
          <a:p>
            <a:endParaRPr/>
          </a:p>
          <a:p>
            <a:r>
              <a:t>CFO implication</a:t>
            </a:r>
          </a:p>
          <a:p>
            <a:r>
              <a:t>Secure funding for profitable growth before approving higher sales targets.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working capital cycle</a:t>
            </a:r>
          </a:p>
          <a:p>
            <a:endParaRPr/>
          </a:p>
          <a:p>
            <a:r>
              <a:t>Cash buys inventory, production transforms it, sales create receivables, and collection returns cash. Suppliers provide financing when payment occurs later. Service firms may have little inventory; customer advances can reverse the sequence.</a:t>
            </a:r>
          </a:p>
          <a:p>
            <a:endParaRPr/>
          </a:p>
          <a:p>
            <a:r>
              <a:t>Worked example or discussion</a:t>
            </a:r>
          </a:p>
          <a:p>
            <a:r>
              <a:t>Create a circular process diagram Cash, Inventory, Production, Sales, Receivables, Cash collection; add the supplier-payment timeline beneath it.</a:t>
            </a:r>
          </a:p>
          <a:p>
            <a:endParaRPr/>
          </a:p>
          <a:p>
            <a:r>
              <a:t>CFO implication</a:t>
            </a:r>
          </a:p>
          <a:p>
            <a:r>
              <a:t>Adapt working capital analysis to the operating model.</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each balance means</a:t>
            </a:r>
          </a:p>
          <a:p>
            <a:endParaRPr/>
          </a:p>
          <a:p>
            <a:r>
              <a:t>Inventory is cash tied up in goods, including strategic safety stocks. Receivables finance customers and may include disputes. Payables finance purchases within agreed terms; overdue payments may signal distress. Optimisation requires operational knowledge.</a:t>
            </a:r>
          </a:p>
          <a:p>
            <a:endParaRPr/>
          </a:p>
          <a:p>
            <a:r>
              <a:t>Worked example or discussion</a:t>
            </a:r>
          </a:p>
          <a:p>
            <a:r>
              <a:t>Table with balance, cash meaning, business reason and control owner.</a:t>
            </a:r>
          </a:p>
          <a:p>
            <a:endParaRPr/>
          </a:p>
          <a:p>
            <a:r>
              <a:t>CFO implication</a:t>
            </a:r>
          </a:p>
          <a:p>
            <a:r>
              <a:t>Ask why a balance exists before asking how to reduce it.</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Measure operating WCR consistently</a:t>
            </a:r>
          </a:p>
          <a:p>
            <a:endParaRPr/>
          </a:p>
          <a:p>
            <a:r>
              <a:t>WCR = inventory + trade receivables - trade payables. An increase in WCR consumes cash; a decrease releases cash. Use change in WCR = ending WCR - opening WCR in the cash bridge. Include advances and other operating items when the case or business warrants them.</a:t>
            </a:r>
          </a:p>
          <a:p>
            <a:endParaRPr/>
          </a:p>
          <a:p>
            <a:r>
              <a:t>Worked example or discussion</a:t>
            </a:r>
          </a:p>
          <a:p>
            <a:r>
              <a:t>Opening WCR 40, closing 55: EUR 15m cash absorbed despite an unchanged cash balance at the opening date.</a:t>
            </a:r>
          </a:p>
          <a:p>
            <a:endParaRPr/>
          </a:p>
          <a:p>
            <a:r>
              <a:t>CFO implication</a:t>
            </a:r>
          </a:p>
          <a:p>
            <a:r>
              <a:t>Use consistent scope and explain acquisitions or FX translation before claiming an operational improvement.</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DSO measures collection timing</a:t>
            </a:r>
          </a:p>
          <a:p>
            <a:endParaRPr/>
          </a:p>
          <a:p>
            <a:r>
              <a:t>DSO = average receivables / annual credit sales x 365. With all sales on credit, revenue EUR 365m and AR EUR 60m give 60 days. A year-end balance is only a proxy; use ageing and monthly averages to distinguish seasonal sales from late collection.</a:t>
            </a:r>
          </a:p>
          <a:p>
            <a:endParaRPr/>
          </a:p>
          <a:p>
            <a:r>
              <a:t>Worked example or discussion</a:t>
            </a:r>
          </a:p>
          <a:p>
            <a:r>
              <a:t>Show current, 1 to 30 days overdue and over 30 days overdue receivable buckets.</a:t>
            </a:r>
          </a:p>
          <a:p>
            <a:endParaRPr/>
          </a:p>
          <a:p>
            <a:r>
              <a:t>CFO implication</a:t>
            </a:r>
          </a:p>
          <a:p>
            <a:r>
              <a:t>Focus on overdue balances and disputes, not only the aggregate ratio.</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DIO measures stock commitment</a:t>
            </a:r>
          </a:p>
          <a:p>
            <a:endParaRPr/>
          </a:p>
          <a:p>
            <a:r>
              <a:t>DIO = average inventory / annual COGS x 365. Inventory 50 and COGS 365 give 50 days. Inventory includes raw material, work in progress and finished goods. Reducing stock can damage service levels or interrupt production.</a:t>
            </a:r>
          </a:p>
          <a:p>
            <a:endParaRPr/>
          </a:p>
          <a:p>
            <a:r>
              <a:t>Worked example or discussion</a:t>
            </a:r>
          </a:p>
          <a:p>
            <a:r>
              <a:t>Three stock categories with separate slow-moving indicators.</a:t>
            </a:r>
          </a:p>
          <a:p>
            <a:endParaRPr/>
          </a:p>
          <a:p>
            <a:r>
              <a:t>CFO implication</a:t>
            </a:r>
          </a:p>
          <a:p>
            <a:r>
              <a:t>Target obsolete stock and planning errors before reducing critical safety stocks.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DPO measures supplier funding</a:t>
            </a:r>
          </a:p>
          <a:p>
            <a:endParaRPr/>
          </a:p>
          <a:p>
            <a:r>
              <a:t>DPO = average payables / annual credit purchases x 365. When only COGS is available, state that it is a proxy, particularly if inventory changes significantly. High DPO can reflect negotiated terms or unpaid overdue invoices; examine both.</a:t>
            </a:r>
          </a:p>
          <a:p>
            <a:endParaRPr/>
          </a:p>
          <a:p>
            <a:r>
              <a:t>Worked example or discussion</a:t>
            </a:r>
          </a:p>
          <a:p>
            <a:r>
              <a:t>Payables 60 / proxy COGS 365 x 365 = 60 days; contrast terms of 60 days with terms of 30.</a:t>
            </a:r>
          </a:p>
          <a:p>
            <a:endParaRPr/>
          </a:p>
          <a:p>
            <a:r>
              <a:t>CFO implication</a:t>
            </a:r>
          </a:p>
          <a:p>
            <a:r>
              <a:t>Negotiate sustainable terms and protect critical suppliers.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CCC links the operating timeline</a:t>
            </a:r>
          </a:p>
          <a:p>
            <a:endParaRPr/>
          </a:p>
          <a:p>
            <a:r>
              <a:t>CCC = DSO + DIO - DPO. DSO 60 + DIO 50 - DPO 60 = 50 days. CCC estimates the time between paying suppliers and collecting customers under consistent assumptions. It does not measure every cash obligation or funding maturity.</a:t>
            </a:r>
          </a:p>
          <a:p>
            <a:endParaRPr/>
          </a:p>
          <a:p>
            <a:r>
              <a:t>Worked example or discussion</a:t>
            </a:r>
          </a:p>
          <a:p>
            <a:r>
              <a:t>Align inventory holding, sales collection and supplier-payment periods on a single timeline.</a:t>
            </a:r>
          </a:p>
          <a:p>
            <a:endParaRPr/>
          </a:p>
          <a:p>
            <a:r>
              <a:t>CFO implication</a:t>
            </a:r>
          </a:p>
          <a:p>
            <a:r>
              <a:t>Use CCC to locate cash tied up in operations, then use a forecast to test actual liquidity.</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Negative WCR as a structural advantage</a:t>
            </a:r>
          </a:p>
          <a:p>
            <a:endParaRPr/>
          </a:p>
          <a:p>
            <a:r>
              <a:t>Cash retail customers pay immediately while suppliers grant terms. Inventory 20 + receivables 2 - payables 35 = WCR minus EUR 13m. Normal supplier financing exceeds operating assets; that financing supports the business as long as turnover and agreed terms persist.</a:t>
            </a:r>
          </a:p>
          <a:p>
            <a:endParaRPr/>
          </a:p>
          <a:p>
            <a:r>
              <a:t>Worked example or discussion</a:t>
            </a:r>
          </a:p>
          <a:p>
            <a:r>
              <a:t>Show cash collection before supplier settlement without overdue balances.</a:t>
            </a:r>
          </a:p>
          <a:p>
            <a:endParaRPr/>
          </a:p>
          <a:p>
            <a:r>
              <a:t>CFO implication</a:t>
            </a:r>
          </a:p>
          <a:p>
            <a:r>
              <a:t>Maintain supplier trust and test the model if sales decline.</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Negative WCR as a warning signal</a:t>
            </a:r>
          </a:p>
          <a:p>
            <a:endParaRPr/>
          </a:p>
          <a:p>
            <a:r>
              <a:t>An industrial firm has inventory 20, receivables 25 and payables 55: WCR minus EUR 10m. If EUR 25m of payables are overdue, the negative number may reflect unpaid obligations. Suppliers can demand cash on delivery or stop shipments.</a:t>
            </a:r>
          </a:p>
          <a:p>
            <a:endParaRPr/>
          </a:p>
          <a:p>
            <a:r>
              <a:t>Worked example or discussion</a:t>
            </a:r>
          </a:p>
          <a:p>
            <a:r>
              <a:t>Compare structural retail financing with industrial overdue payables using identical WCR signs.</a:t>
            </a:r>
          </a:p>
          <a:p>
            <a:endParaRPr/>
          </a:p>
          <a:p>
            <a:r>
              <a:t>CFO implication</a:t>
            </a:r>
          </a:p>
          <a:p>
            <a:r>
              <a:t>Investigate ageing and liquidity pressure before celebrating a cash release.</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Negative CCC is not immunity from liquidity risk</a:t>
            </a:r>
          </a:p>
          <a:p>
            <a:endParaRPr/>
          </a:p>
          <a:p>
            <a:r>
              <a:t>A retailer with DSO 0, DIO 25 and DPO 55 has CCC minus 30 days. It still pays rent, wages, taxes, capex and debt. Sales decline can shrink supplier funding; shorter payment terms can reverse the advantage. Negative WCR and negative CCC are related but are not interchangeable because ratios use different denominators.</a:t>
            </a:r>
          </a:p>
          <a:p>
            <a:endParaRPr/>
          </a:p>
          <a:p>
            <a:r>
              <a:t>Worked example or discussion</a:t>
            </a:r>
          </a:p>
          <a:p>
            <a:r>
              <a:t>Add a debt maturity and seasonal sales slump beneath the favourable CCC timeline.</a:t>
            </a:r>
          </a:p>
          <a:p>
            <a:endParaRPr/>
          </a:p>
          <a:p>
            <a:r>
              <a:t>CFO implication</a:t>
            </a:r>
          </a:p>
          <a:p>
            <a:r>
              <a:t>Stress supplier terms and debt service even when operating cash conversion is favourable.</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Release cash through DSO and DIO</a:t>
            </a:r>
          </a:p>
          <a:p>
            <a:endParaRPr/>
          </a:p>
          <a:p>
            <a:r>
              <a:t>Approximate cash release from DSO reduction = annual credit sales x days reduced / 365. From DIO reduction = annual COGS x days reduced / 365. At unchanged activity, sales 365 and COGS 219, reducing DSO by 5 and DIO by 10 releases 5 + 6 = EUR 11m.</a:t>
            </a:r>
          </a:p>
          <a:p>
            <a:endParaRPr/>
          </a:p>
          <a:p>
            <a:r>
              <a:t>Worked example or discussion</a:t>
            </a:r>
          </a:p>
          <a:p>
            <a:r>
              <a:t>Use a two-step waterfall with clearly stated stable-volume assumptions.</a:t>
            </a:r>
          </a:p>
          <a:p>
            <a:endParaRPr/>
          </a:p>
          <a:p>
            <a:r>
              <a:t>CFO implication</a:t>
            </a:r>
          </a:p>
          <a:p>
            <a:r>
              <a:t>Set achievable collection and inventory actions, then validate actual cash receipts.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DPO extension and its limits</a:t>
            </a:r>
          </a:p>
          <a:p>
            <a:endParaRPr/>
          </a:p>
          <a:p>
            <a:r>
              <a:t>Approximate cash generated = annual credit purchases x additional days / 365; use stated COGS proxy if necessary. COGS 219 with 10 extra days creates EUR 6m temporary financing. Lost discounts, higher prices and supplier fragility may outweigh the benefit. This is a balance-sheet release, not recurring annual profit.</a:t>
            </a:r>
          </a:p>
          <a:p>
            <a:endParaRPr/>
          </a:p>
          <a:p>
            <a:r>
              <a:t>Worked example or discussion</a:t>
            </a:r>
          </a:p>
          <a:p>
            <a:r>
              <a:t>Compare EUR 6m liquidity benefit with discount loss and supply risk.</a:t>
            </a:r>
          </a:p>
          <a:p>
            <a:endParaRPr/>
          </a:p>
          <a:p>
            <a:r>
              <a:t>CFO implication</a:t>
            </a:r>
          </a:p>
          <a:p>
            <a:r>
              <a:t>Accept only agreed and sustainable term changes.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cross-functional improvement plan</a:t>
            </a:r>
          </a:p>
          <a:p>
            <a:endParaRPr/>
          </a:p>
          <a:p>
            <a:r>
              <a:t>Treasury quantifies cash; Sales controls credit terms and disputes; Operations controls stock; Procurement negotiates supplier terms. Incentives focused solely on revenue or purchasing price can damage cash conversion. Improvements require accountable owners and realistic dates.</a:t>
            </a:r>
          </a:p>
          <a:p>
            <a:endParaRPr/>
          </a:p>
          <a:p>
            <a:r>
              <a:t>Worked example or discussion</a:t>
            </a:r>
          </a:p>
          <a:p>
            <a:r>
              <a:t>Action table with baseline, target days, cash effect, owner and service-level guardrail.</a:t>
            </a:r>
          </a:p>
          <a:p>
            <a:endParaRPr/>
          </a:p>
          <a:p>
            <a:r>
              <a:t>CFO implication</a:t>
            </a:r>
          </a:p>
          <a:p>
            <a:r>
              <a:t>Agree a working capital plan rather than an unsupported ratio target.</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Working capital decision checkpoint</a:t>
            </a:r>
          </a:p>
          <a:p>
            <a:endParaRPr/>
          </a:p>
          <a:p>
            <a:r>
              <a:t>Exercise 3 converts profit and growth into cash. Exercise 4 compares two negative WCR profiles. Exercise 5 evaluates a cash-release plan and discount terms. Cash releases improve liquidity once; maintaining lower balances avoids future funding needs.</a:t>
            </a:r>
          </a:p>
          <a:p>
            <a:endParaRPr/>
          </a:p>
          <a:p>
            <a:r>
              <a:t>Worked example or discussion</a:t>
            </a:r>
          </a:p>
          <a:p>
            <a:r>
              <a:t>Present the five questions: source, amount, timing, sustainability and operational consequence.</a:t>
            </a:r>
          </a:p>
          <a:p>
            <a:endParaRPr/>
          </a:p>
          <a:p>
            <a:r>
              <a:t>CFO implication</a:t>
            </a:r>
          </a:p>
          <a:p>
            <a:r>
              <a:t>Recommend actions with measurable cash benefits and explicit commercial constraints.</a:t>
            </a:r>
          </a:p>
          <a:p>
            <a:endParaRPr/>
          </a:p>
          <a:p>
            <a:r>
              <a:t>Monetary examples are fictional teaching figures in EUR millions unless stated otherwise. Use the stated definitions, scope and horizon. Visual style follows the user-supplied Credit Analysis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DB3BB15-AFDC-47BF-8AA3-F198F0A2C21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5BE69AC4-713F-4C9F-8C8E-86390C5C4B4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D72531A-1F40-4C86-9A9F-396E51862F6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F693F41-FE3A-46D4-B9F5-EE14F0449F7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DFBCF263-885C-4B70-AD34-1B61479F520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82CE827-EFD1-4642-B73A-B642A00FE79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4216F060-A0D1-45E1-A105-A7AB9C3114F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B6E6EC58-B82F-4A34-8065-9A9285E56F7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FB45D2C-47F0-4AA3-B3F0-BCAF03FE9D2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50047FC-71C4-41A2-9474-2E02243F5F1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9" name="section-reference">
            <a:extLst>
              <a:ext uri="{FF2B5EF4-FFF2-40B4-BE49-F238E27FC236}">
                <a16:creationId xmlns:a16="http://schemas.microsoft.com/office/drawing/2014/main" id="{69253622-2626-4787-B02A-0CBD4B1F8B98}"/>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a:t>
            </a:r>
          </a:p>
        </p:txBody>
      </p:sp>
      <p:sp>
        <p:nvSpPr>
          <p:cNvPr id="2" name="slide-number">
            <a:extLst>
              <a:ext uri="{FF2B5EF4-FFF2-40B4-BE49-F238E27FC236}">
                <a16:creationId xmlns:a16="http://schemas.microsoft.com/office/drawing/2014/main" id="{5E4D1411-374E-4C1C-87C6-438B52F37437}"/>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01</a:t>
            </a:r>
          </a:p>
        </p:txBody>
      </p:sp>
      <p:pic>
        <p:nvPicPr>
          <p:cNvPr id="3" name="Image 2">
            <a:extLst>
              <a:ext uri="{FF2B5EF4-FFF2-40B4-BE49-F238E27FC236}">
                <a16:creationId xmlns:a16="http://schemas.microsoft.com/office/drawing/2014/main" id="{EA8CD976-0294-49D5-86ED-BFD02FD317C9}"/>
              </a:ext>
            </a:extLst>
          </p:cNvPr>
          <p:cNvPicPr>
            <a:picLocks noChangeAspect="1"/>
          </p:cNvPicPr>
          <p:nvPr/>
        </p:nvPicPr>
        <p:blipFill>
          <a:blip r:embed="rId3"/>
          <a:srcRect/>
          <a:stretch>
            <a:fillRect/>
          </a:stretch>
        </p:blipFill>
        <p:spPr>
          <a:xfrm>
            <a:off x="0" y="0"/>
            <a:ext cx="12192000" cy="6858000"/>
          </a:xfrm>
          <a:prstGeom prst="rect">
            <a:avLst/>
          </a:prstGeom>
        </p:spPr>
      </p:pic>
      <p:sp>
        <p:nvSpPr>
          <p:cNvPr id="4" name="explanation">
            <a:extLst>
              <a:ext uri="{FF2B5EF4-FFF2-40B4-BE49-F238E27FC236}">
                <a16:creationId xmlns:a16="http://schemas.microsoft.com/office/drawing/2014/main" id="{5960AACD-61B3-46BD-9AF8-FB2865695638}"/>
              </a:ext>
            </a:extLst>
          </p:cNvPr>
          <p:cNvSpPr>
            <a:spLocks noGrp="1"/>
          </p:cNvSpPr>
          <p:nvPr/>
        </p:nvSpPr>
        <p:spPr>
          <a:xfrm>
            <a:off x="6953250" y="1171575"/>
            <a:ext cx="4476750" cy="628650"/>
          </a:xfrm>
          <a:prstGeom prst="rect">
            <a:avLst/>
          </a:prstGeom>
          <a:noFill/>
          <a:ln w="0">
            <a:noFill/>
            <a:prstDash val="solid"/>
          </a:ln>
        </p:spPr>
        <p:txBody>
          <a:bodyPr wrap="square" lIns="0" tIns="0" rIns="0" bIns="0" anchor="t">
            <a:noAutofit/>
          </a:bodyPr>
          <a:lstStyle>
            <a:defPPr algn="ctr">
              <a:defRPr sz="4200" b="0">
                <a:solidFill>
                  <a:srgbClr val="19313F"/>
                </a:solidFill>
                <a:latin typeface="Aptos"/>
                <a:ea typeface="Aptos"/>
                <a:cs typeface="Aptos"/>
              </a:defRPr>
            </a:defPPr>
          </a:lstStyle>
          <a:p>
            <a:pPr algn="ctr">
              <a:defRPr sz="4200" b="0">
                <a:solidFill>
                  <a:srgbClr val="19313F"/>
                </a:solidFill>
                <a:latin typeface="Aptos"/>
                <a:ea typeface="Aptos"/>
                <a:cs typeface="Aptos"/>
              </a:defRPr>
            </a:pPr>
            <a:r>
              <a:rPr sz="4200" b="0">
                <a:solidFill>
                  <a:srgbClr val="19313F"/>
                </a:solidFill>
                <a:latin typeface="Aptos"/>
                <a:ea typeface="Aptos"/>
                <a:cs typeface="Aptos"/>
              </a:rPr>
              <a:t>SKEMA</a:t>
            </a:r>
          </a:p>
        </p:txBody>
      </p:sp>
      <p:sp>
        <p:nvSpPr>
          <p:cNvPr id="5" name="explanation">
            <a:extLst>
              <a:ext uri="{FF2B5EF4-FFF2-40B4-BE49-F238E27FC236}">
                <a16:creationId xmlns:a16="http://schemas.microsoft.com/office/drawing/2014/main" id="{445F6C7D-3FD8-4664-84E4-4D3CB9F24F9A}"/>
              </a:ext>
            </a:extLst>
          </p:cNvPr>
          <p:cNvSpPr>
            <a:spLocks noGrp="1"/>
          </p:cNvSpPr>
          <p:nvPr/>
        </p:nvSpPr>
        <p:spPr>
          <a:xfrm>
            <a:off x="6743700" y="1828800"/>
            <a:ext cx="4762500" cy="457200"/>
          </a:xfrm>
          <a:prstGeom prst="rect">
            <a:avLst/>
          </a:prstGeom>
          <a:noFill/>
          <a:ln w="0">
            <a:noFill/>
            <a:prstDash val="solid"/>
          </a:ln>
        </p:spPr>
        <p:txBody>
          <a:bodyPr wrap="square" lIns="0" tIns="0" rIns="0" bIns="0" anchor="t">
            <a:noAutofit/>
          </a:bodyPr>
          <a:lstStyle>
            <a:defPPr algn="ctr">
              <a:defRPr sz="2250" b="0">
                <a:solidFill>
                  <a:srgbClr val="19313F"/>
                </a:solidFill>
                <a:latin typeface="Aptos"/>
                <a:ea typeface="Aptos"/>
                <a:cs typeface="Aptos"/>
              </a:defRPr>
            </a:defPPr>
          </a:lstStyle>
          <a:p>
            <a:pPr algn="ctr">
              <a:defRPr sz="2250" b="0">
                <a:solidFill>
                  <a:srgbClr val="19313F"/>
                </a:solidFill>
                <a:latin typeface="Aptos"/>
                <a:ea typeface="Aptos"/>
                <a:cs typeface="Aptos"/>
              </a:defRPr>
            </a:pPr>
            <a:r>
              <a:rPr sz="2250" b="0">
                <a:solidFill>
                  <a:srgbClr val="19313F"/>
                </a:solidFill>
                <a:latin typeface="Aptos"/>
                <a:ea typeface="Aptos"/>
                <a:cs typeface="Aptos"/>
              </a:rPr>
              <a:t>BUSINESS SCHOOL</a:t>
            </a:r>
          </a:p>
        </p:txBody>
      </p:sp>
      <p:sp>
        <p:nvSpPr>
          <p:cNvPr id="6" name="explanation">
            <a:extLst>
              <a:ext uri="{FF2B5EF4-FFF2-40B4-BE49-F238E27FC236}">
                <a16:creationId xmlns:a16="http://schemas.microsoft.com/office/drawing/2014/main" id="{182E6FB8-1777-4AE3-AEF5-E57BB61FDD5D}"/>
              </a:ext>
            </a:extLst>
          </p:cNvPr>
          <p:cNvSpPr>
            <a:spLocks noGrp="1"/>
          </p:cNvSpPr>
          <p:nvPr/>
        </p:nvSpPr>
        <p:spPr>
          <a:xfrm>
            <a:off x="6496050" y="2962275"/>
            <a:ext cx="5238750" cy="1485900"/>
          </a:xfrm>
          <a:prstGeom prst="rect">
            <a:avLst/>
          </a:prstGeom>
          <a:noFill/>
          <a:ln w="0">
            <a:noFill/>
            <a:prstDash val="solid"/>
          </a:ln>
        </p:spPr>
        <p:txBody>
          <a:bodyPr wrap="square" lIns="0" tIns="0" rIns="0" bIns="0" anchor="t">
            <a:noAutofit/>
          </a:bodyPr>
          <a:lstStyle>
            <a:defPPr algn="l">
              <a:defRPr sz="3975" b="1">
                <a:solidFill>
                  <a:srgbClr val="19313F"/>
                </a:solidFill>
                <a:latin typeface="Aptos"/>
                <a:ea typeface="Aptos"/>
                <a:cs typeface="Aptos"/>
              </a:defRPr>
            </a:defPPr>
          </a:lstStyle>
          <a:p>
            <a:pPr algn="l">
              <a:defRPr sz="3975" b="1">
                <a:solidFill>
                  <a:srgbClr val="19313F"/>
                </a:solidFill>
                <a:latin typeface="Aptos"/>
                <a:ea typeface="Aptos"/>
                <a:cs typeface="Aptos"/>
              </a:defRPr>
            </a:pPr>
            <a:r>
              <a:rPr sz="3975" b="1">
                <a:solidFill>
                  <a:srgbClr val="19313F"/>
                </a:solidFill>
                <a:latin typeface="Aptos"/>
                <a:ea typeface="Aptos"/>
                <a:cs typeface="Aptos"/>
              </a:rPr>
              <a:t>Corporate Treasury</a:t>
            </a:r>
          </a:p>
          <a:p>
            <a:pPr algn="l">
              <a:defRPr sz="3975" b="1">
                <a:solidFill>
                  <a:srgbClr val="19313F"/>
                </a:solidFill>
                <a:latin typeface="Aptos"/>
                <a:ea typeface="Aptos"/>
                <a:cs typeface="Aptos"/>
              </a:defRPr>
            </a:pPr>
            <a:r>
              <a:rPr sz="3975" b="1">
                <a:solidFill>
                  <a:srgbClr val="19313F"/>
                </a:solidFill>
                <a:latin typeface="Aptos"/>
                <a:ea typeface="Aptos"/>
                <a:cs typeface="Aptos"/>
              </a:rPr>
              <a:t>Management</a:t>
            </a:r>
          </a:p>
        </p:txBody>
      </p:sp>
      <p:sp>
        <p:nvSpPr>
          <p:cNvPr id="7" name="explanation">
            <a:extLst>
              <a:ext uri="{FF2B5EF4-FFF2-40B4-BE49-F238E27FC236}">
                <a16:creationId xmlns:a16="http://schemas.microsoft.com/office/drawing/2014/main" id="{18B98AE0-E0FE-4D6E-BDF3-4232167054B1}"/>
              </a:ext>
            </a:extLst>
          </p:cNvPr>
          <p:cNvSpPr>
            <a:spLocks noGrp="1"/>
          </p:cNvSpPr>
          <p:nvPr/>
        </p:nvSpPr>
        <p:spPr>
          <a:xfrm>
            <a:off x="6534150" y="4676775"/>
            <a:ext cx="4857750" cy="695325"/>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Master 2 Corporate Financial Management</a:t>
            </a:r>
          </a:p>
        </p:txBody>
      </p:sp>
      <p:sp>
        <p:nvSpPr>
          <p:cNvPr id="8" name="explanation">
            <a:extLst>
              <a:ext uri="{FF2B5EF4-FFF2-40B4-BE49-F238E27FC236}">
                <a16:creationId xmlns:a16="http://schemas.microsoft.com/office/drawing/2014/main" id="{15006282-4FCD-4DE4-97E6-A961BB72469A}"/>
              </a:ext>
            </a:extLst>
          </p:cNvPr>
          <p:cNvSpPr>
            <a:spLocks noGrp="1"/>
          </p:cNvSpPr>
          <p:nvPr/>
        </p:nvSpPr>
        <p:spPr>
          <a:xfrm>
            <a:off x="6534150" y="5762625"/>
            <a:ext cx="4857750" cy="409575"/>
          </a:xfrm>
          <a:prstGeom prst="rect">
            <a:avLst/>
          </a:prstGeom>
          <a:noFill/>
          <a:ln w="0">
            <a:noFill/>
            <a:prstDash val="solid"/>
          </a:ln>
        </p:spPr>
        <p:txBody>
          <a:bodyPr wrap="square" lIns="0" tIns="0" rIns="0" bIns="0" anchor="t">
            <a:noAutofit/>
          </a:bodyPr>
          <a:lstStyle>
            <a:defPPr algn="l">
              <a:defRPr sz="1800" b="1">
                <a:solidFill>
                  <a:srgbClr val="087F83"/>
                </a:solidFill>
                <a:latin typeface="Aptos"/>
                <a:ea typeface="Aptos"/>
                <a:cs typeface="Aptos"/>
              </a:defRPr>
            </a:defPPr>
          </a:lstStyle>
          <a:p>
            <a:pPr algn="l">
              <a:defRPr sz="1800" b="1">
                <a:solidFill>
                  <a:srgbClr val="087F83"/>
                </a:solidFill>
                <a:latin typeface="Aptos"/>
                <a:ea typeface="Aptos"/>
                <a:cs typeface="Aptos"/>
              </a:defRPr>
            </a:pPr>
            <a:r>
              <a:rPr sz="1800" b="1">
                <a:solidFill>
                  <a:srgbClr val="087F83"/>
                </a:solidFill>
                <a:latin typeface="Aptos"/>
                <a:ea typeface="Aptos"/>
                <a:cs typeface="Aptos"/>
              </a:rPr>
              <a:t>18 hours  •  Six sessions</a:t>
            </a:r>
          </a:p>
        </p:txBody>
      </p:sp>
    </p:spTree>
    <p:extLst>
      <p:ext uri="{BB962C8B-B14F-4D97-AF65-F5344CB8AC3E}">
        <p14:creationId xmlns:p14="http://schemas.microsoft.com/office/powerpoint/2010/main" val="914787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9" name="section-reference">
            <a:extLst>
              <a:ext uri="{FF2B5EF4-FFF2-40B4-BE49-F238E27FC236}">
                <a16:creationId xmlns:a16="http://schemas.microsoft.com/office/drawing/2014/main" id="{361BDE17-F216-46D3-89C9-B9D1ECD786F5}"/>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a:t>
            </a:r>
          </a:p>
        </p:txBody>
      </p:sp>
      <p:sp>
        <p:nvSpPr>
          <p:cNvPr id="2" name="slide-title">
            <a:extLst>
              <a:ext uri="{FF2B5EF4-FFF2-40B4-BE49-F238E27FC236}">
                <a16:creationId xmlns:a16="http://schemas.microsoft.com/office/drawing/2014/main" id="{08A50DF0-39B8-48B5-ACBE-A2BD019FAC32}"/>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Six sessions, one decision discipline</a:t>
            </a:r>
          </a:p>
        </p:txBody>
      </p:sp>
      <p:sp>
        <p:nvSpPr>
          <p:cNvPr id="3" name="slide-number">
            <a:extLst>
              <a:ext uri="{FF2B5EF4-FFF2-40B4-BE49-F238E27FC236}">
                <a16:creationId xmlns:a16="http://schemas.microsoft.com/office/drawing/2014/main" id="{3580E5B0-FDC6-4A3E-9873-93F156198225}"/>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02</a:t>
            </a:r>
          </a:p>
        </p:txBody>
      </p:sp>
      <p:sp>
        <p:nvSpPr>
          <p:cNvPr id="4" name="explanation">
            <a:extLst>
              <a:ext uri="{FF2B5EF4-FFF2-40B4-BE49-F238E27FC236}">
                <a16:creationId xmlns:a16="http://schemas.microsoft.com/office/drawing/2014/main" id="{CC8E79B2-3816-4446-BBD9-A1731862C9A7}"/>
              </a:ext>
            </a:extLst>
          </p:cNvPr>
          <p:cNvSpPr>
            <a:spLocks noGrp="1"/>
          </p:cNvSpPr>
          <p:nvPr/>
        </p:nvSpPr>
        <p:spPr>
          <a:xfrm>
            <a:off x="609600" y="1685925"/>
            <a:ext cx="571500" cy="3429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01</a:t>
            </a:r>
          </a:p>
        </p:txBody>
      </p:sp>
      <p:sp>
        <p:nvSpPr>
          <p:cNvPr id="5" name="explanation">
            <a:extLst>
              <a:ext uri="{FF2B5EF4-FFF2-40B4-BE49-F238E27FC236}">
                <a16:creationId xmlns:a16="http://schemas.microsoft.com/office/drawing/2014/main" id="{62111F83-B200-4F56-8011-AF943285414E}"/>
              </a:ext>
            </a:extLst>
          </p:cNvPr>
          <p:cNvSpPr>
            <a:spLocks noGrp="1"/>
          </p:cNvSpPr>
          <p:nvPr/>
        </p:nvSpPr>
        <p:spPr>
          <a:xfrm>
            <a:off x="1390650" y="1685925"/>
            <a:ext cx="4095750" cy="3619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Treasury mandate &amp; risk</a:t>
            </a:r>
          </a:p>
        </p:txBody>
      </p:sp>
      <p:sp>
        <p:nvSpPr>
          <p:cNvPr id="6" name="explanation">
            <a:extLst>
              <a:ext uri="{FF2B5EF4-FFF2-40B4-BE49-F238E27FC236}">
                <a16:creationId xmlns:a16="http://schemas.microsoft.com/office/drawing/2014/main" id="{87993A46-0D30-4012-A6CF-1293B97B3FF2}"/>
              </a:ext>
            </a:extLst>
          </p:cNvPr>
          <p:cNvSpPr>
            <a:spLocks noGrp="1"/>
          </p:cNvSpPr>
          <p:nvPr/>
        </p:nvSpPr>
        <p:spPr>
          <a:xfrm>
            <a:off x="5962650" y="1685925"/>
            <a:ext cx="5476875" cy="400050"/>
          </a:xfrm>
          <a:prstGeom prst="rect">
            <a:avLst/>
          </a:prstGeom>
          <a:noFill/>
          <a:ln w="0">
            <a:noFill/>
            <a:prstDash val="solid"/>
          </a:ln>
        </p:spPr>
        <p:txBody>
          <a:bodyPr wrap="square" lIns="0" tIns="0" rIns="0" bIns="0" anchor="t">
            <a:noAutofit/>
          </a:bodyPr>
          <a:lstStyle>
            <a:defPPr algn="l">
              <a:defRPr sz="1800" b="0">
                <a:solidFill>
                  <a:srgbClr val="5B6D77"/>
                </a:solidFill>
                <a:latin typeface="Aptos"/>
                <a:ea typeface="Aptos"/>
                <a:cs typeface="Aptos"/>
              </a:defRPr>
            </a:defPPr>
          </a:lstStyle>
          <a:p>
            <a:pPr algn="l">
              <a:defRPr sz="1800" b="0">
                <a:solidFill>
                  <a:srgbClr val="5B6D77"/>
                </a:solidFill>
                <a:latin typeface="Aptos"/>
                <a:ea typeface="Aptos"/>
                <a:cs typeface="Aptos"/>
              </a:defRPr>
            </a:pPr>
            <a:r>
              <a:rPr sz="1800" b="0">
                <a:solidFill>
                  <a:srgbClr val="5B6D77"/>
                </a:solidFill>
                <a:latin typeface="Aptos"/>
                <a:ea typeface="Aptos"/>
                <a:cs typeface="Aptos"/>
              </a:rPr>
              <a:t>Financial toolkit and worked exercises</a:t>
            </a:r>
          </a:p>
        </p:txBody>
      </p:sp>
      <p:sp>
        <p:nvSpPr>
          <p:cNvPr id="7" name="rule">
            <a:extLst>
              <a:ext uri="{FF2B5EF4-FFF2-40B4-BE49-F238E27FC236}">
                <a16:creationId xmlns:a16="http://schemas.microsoft.com/office/drawing/2014/main" id="{74CFC95E-6083-4D88-A987-888249517281}"/>
              </a:ext>
            </a:extLst>
          </p:cNvPr>
          <p:cNvSpPr>
            <a:spLocks noGrp="1"/>
          </p:cNvSpPr>
          <p:nvPr/>
        </p:nvSpPr>
        <p:spPr>
          <a:xfrm>
            <a:off x="1390650" y="2171700"/>
            <a:ext cx="10191750" cy="0"/>
          </a:xfrm>
          <a:prstGeom prst="line">
            <a:avLst/>
          </a:prstGeom>
          <a:noFill/>
          <a:ln w="9525">
            <a:solidFill>
              <a:srgbClr val="CCD6D9"/>
            </a:solidFill>
            <a:prstDash val="solid"/>
          </a:ln>
        </p:spPr>
        <p:txBody>
          <a:bodyPr/>
          <a:lstStyle/>
          <a:p>
            <a:endParaRPr lang="fr-FR"/>
          </a:p>
        </p:txBody>
      </p:sp>
      <p:sp>
        <p:nvSpPr>
          <p:cNvPr id="8" name="explanation">
            <a:extLst>
              <a:ext uri="{FF2B5EF4-FFF2-40B4-BE49-F238E27FC236}">
                <a16:creationId xmlns:a16="http://schemas.microsoft.com/office/drawing/2014/main" id="{0F7A0C21-2CBF-4BE8-98F0-EAF2A751CE33}"/>
              </a:ext>
            </a:extLst>
          </p:cNvPr>
          <p:cNvSpPr>
            <a:spLocks noGrp="1"/>
          </p:cNvSpPr>
          <p:nvPr/>
        </p:nvSpPr>
        <p:spPr>
          <a:xfrm>
            <a:off x="609600" y="2314575"/>
            <a:ext cx="571500" cy="3429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02</a:t>
            </a:r>
          </a:p>
        </p:txBody>
      </p:sp>
      <p:sp>
        <p:nvSpPr>
          <p:cNvPr id="9" name="explanation">
            <a:extLst>
              <a:ext uri="{FF2B5EF4-FFF2-40B4-BE49-F238E27FC236}">
                <a16:creationId xmlns:a16="http://schemas.microsoft.com/office/drawing/2014/main" id="{0E9243AA-25F1-4B1C-9F90-C4D19D24AC96}"/>
              </a:ext>
            </a:extLst>
          </p:cNvPr>
          <p:cNvSpPr>
            <a:spLocks noGrp="1"/>
          </p:cNvSpPr>
          <p:nvPr/>
        </p:nvSpPr>
        <p:spPr>
          <a:xfrm>
            <a:off x="1390650" y="2314575"/>
            <a:ext cx="4095750" cy="3619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Cash &amp; working capital</a:t>
            </a:r>
          </a:p>
        </p:txBody>
      </p:sp>
      <p:sp>
        <p:nvSpPr>
          <p:cNvPr id="10" name="explanation">
            <a:extLst>
              <a:ext uri="{FF2B5EF4-FFF2-40B4-BE49-F238E27FC236}">
                <a16:creationId xmlns:a16="http://schemas.microsoft.com/office/drawing/2014/main" id="{F048E503-933D-4D10-83E0-7CACB7F9A9BB}"/>
              </a:ext>
            </a:extLst>
          </p:cNvPr>
          <p:cNvSpPr>
            <a:spLocks noGrp="1"/>
          </p:cNvSpPr>
          <p:nvPr/>
        </p:nvSpPr>
        <p:spPr>
          <a:xfrm>
            <a:off x="5962650" y="2314575"/>
            <a:ext cx="5476875" cy="400050"/>
          </a:xfrm>
          <a:prstGeom prst="rect">
            <a:avLst/>
          </a:prstGeom>
          <a:noFill/>
          <a:ln w="0">
            <a:noFill/>
            <a:prstDash val="solid"/>
          </a:ln>
        </p:spPr>
        <p:txBody>
          <a:bodyPr wrap="square" lIns="0" tIns="0" rIns="0" bIns="0" anchor="t">
            <a:noAutofit/>
          </a:bodyPr>
          <a:lstStyle>
            <a:defPPr algn="l">
              <a:defRPr sz="1800" b="0">
                <a:solidFill>
                  <a:srgbClr val="5B6D77"/>
                </a:solidFill>
                <a:latin typeface="Aptos"/>
                <a:ea typeface="Aptos"/>
                <a:cs typeface="Aptos"/>
              </a:defRPr>
            </a:defPPr>
          </a:lstStyle>
          <a:p>
            <a:pPr algn="l">
              <a:defRPr sz="1800" b="0">
                <a:solidFill>
                  <a:srgbClr val="5B6D77"/>
                </a:solidFill>
                <a:latin typeface="Aptos"/>
                <a:ea typeface="Aptos"/>
                <a:cs typeface="Aptos"/>
              </a:defRPr>
            </a:pPr>
            <a:r>
              <a:rPr sz="1800" b="0">
                <a:solidFill>
                  <a:srgbClr val="5B6D77"/>
                </a:solidFill>
                <a:latin typeface="Aptos"/>
                <a:ea typeface="Aptos"/>
                <a:cs typeface="Aptos"/>
              </a:rPr>
              <a:t>Profit-to-cash bridge, WCR and Case 1 launch</a:t>
            </a:r>
          </a:p>
        </p:txBody>
      </p:sp>
      <p:sp>
        <p:nvSpPr>
          <p:cNvPr id="11" name="rule">
            <a:extLst>
              <a:ext uri="{FF2B5EF4-FFF2-40B4-BE49-F238E27FC236}">
                <a16:creationId xmlns:a16="http://schemas.microsoft.com/office/drawing/2014/main" id="{32C33C29-D458-4D22-8D71-FF7DCDC5B0E4}"/>
              </a:ext>
            </a:extLst>
          </p:cNvPr>
          <p:cNvSpPr>
            <a:spLocks noGrp="1"/>
          </p:cNvSpPr>
          <p:nvPr/>
        </p:nvSpPr>
        <p:spPr>
          <a:xfrm>
            <a:off x="1390650" y="2800350"/>
            <a:ext cx="10191750" cy="0"/>
          </a:xfrm>
          <a:prstGeom prst="line">
            <a:avLst/>
          </a:prstGeom>
          <a:noFill/>
          <a:ln w="9525">
            <a:solidFill>
              <a:srgbClr val="CCD6D9"/>
            </a:solidFill>
            <a:prstDash val="solid"/>
          </a:ln>
        </p:spPr>
        <p:txBody>
          <a:bodyPr/>
          <a:lstStyle/>
          <a:p>
            <a:endParaRPr lang="fr-FR"/>
          </a:p>
        </p:txBody>
      </p:sp>
      <p:sp>
        <p:nvSpPr>
          <p:cNvPr id="12" name="explanation">
            <a:extLst>
              <a:ext uri="{FF2B5EF4-FFF2-40B4-BE49-F238E27FC236}">
                <a16:creationId xmlns:a16="http://schemas.microsoft.com/office/drawing/2014/main" id="{F46E1430-680A-4CF0-80D1-2B1A51A55FA9}"/>
              </a:ext>
            </a:extLst>
          </p:cNvPr>
          <p:cNvSpPr>
            <a:spLocks noGrp="1"/>
          </p:cNvSpPr>
          <p:nvPr/>
        </p:nvSpPr>
        <p:spPr>
          <a:xfrm>
            <a:off x="609600" y="2943225"/>
            <a:ext cx="571500" cy="3429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03</a:t>
            </a:r>
          </a:p>
        </p:txBody>
      </p:sp>
      <p:sp>
        <p:nvSpPr>
          <p:cNvPr id="13" name="explanation">
            <a:extLst>
              <a:ext uri="{FF2B5EF4-FFF2-40B4-BE49-F238E27FC236}">
                <a16:creationId xmlns:a16="http://schemas.microsoft.com/office/drawing/2014/main" id="{940B4E19-9176-4B65-AB4C-6551CC8718C3}"/>
              </a:ext>
            </a:extLst>
          </p:cNvPr>
          <p:cNvSpPr>
            <a:spLocks noGrp="1"/>
          </p:cNvSpPr>
          <p:nvPr/>
        </p:nvSpPr>
        <p:spPr>
          <a:xfrm>
            <a:off x="1390650" y="2943225"/>
            <a:ext cx="4095750" cy="3619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Team presentations</a:t>
            </a:r>
          </a:p>
        </p:txBody>
      </p:sp>
      <p:sp>
        <p:nvSpPr>
          <p:cNvPr id="14" name="explanation">
            <a:extLst>
              <a:ext uri="{FF2B5EF4-FFF2-40B4-BE49-F238E27FC236}">
                <a16:creationId xmlns:a16="http://schemas.microsoft.com/office/drawing/2014/main" id="{00EB094B-BFD8-401F-8EB1-27244A13B879}"/>
              </a:ext>
            </a:extLst>
          </p:cNvPr>
          <p:cNvSpPr>
            <a:spLocks noGrp="1"/>
          </p:cNvSpPr>
          <p:nvPr/>
        </p:nvSpPr>
        <p:spPr>
          <a:xfrm>
            <a:off x="5962650" y="2943225"/>
            <a:ext cx="5476875" cy="400050"/>
          </a:xfrm>
          <a:prstGeom prst="rect">
            <a:avLst/>
          </a:prstGeom>
          <a:noFill/>
          <a:ln w="0">
            <a:noFill/>
            <a:prstDash val="solid"/>
          </a:ln>
        </p:spPr>
        <p:txBody>
          <a:bodyPr wrap="square" lIns="0" tIns="0" rIns="0" bIns="0" anchor="t">
            <a:noAutofit/>
          </a:bodyPr>
          <a:lstStyle>
            <a:defPPr algn="l">
              <a:defRPr sz="1800" b="0">
                <a:solidFill>
                  <a:srgbClr val="5B6D77"/>
                </a:solidFill>
                <a:latin typeface="Aptos"/>
                <a:ea typeface="Aptos"/>
                <a:cs typeface="Aptos"/>
              </a:defRPr>
            </a:defPPr>
          </a:lstStyle>
          <a:p>
            <a:pPr algn="l">
              <a:defRPr sz="1800" b="0">
                <a:solidFill>
                  <a:srgbClr val="5B6D77"/>
                </a:solidFill>
                <a:latin typeface="Aptos"/>
                <a:ea typeface="Aptos"/>
                <a:cs typeface="Aptos"/>
              </a:defRPr>
            </a:pPr>
            <a:r>
              <a:rPr lang="fr-FR" dirty="0">
                <a:solidFill>
                  <a:srgbClr val="5B6D77"/>
                </a:solidFill>
                <a:latin typeface="Aptos"/>
                <a:ea typeface="Aptos"/>
                <a:cs typeface="Aptos"/>
              </a:rPr>
              <a:t>T</a:t>
            </a:r>
            <a:r>
              <a:rPr sz="1800" b="0" dirty="0" err="1">
                <a:solidFill>
                  <a:srgbClr val="5B6D77"/>
                </a:solidFill>
                <a:latin typeface="Aptos"/>
                <a:ea typeface="Aptos"/>
                <a:cs typeface="Aptos"/>
              </a:rPr>
              <a:t>eams</a:t>
            </a:r>
            <a:r>
              <a:rPr lang="fr-FR" sz="1800" b="0" dirty="0">
                <a:solidFill>
                  <a:srgbClr val="5B6D77"/>
                </a:solidFill>
                <a:latin typeface="Aptos"/>
                <a:ea typeface="Aptos"/>
                <a:cs typeface="Aptos"/>
              </a:rPr>
              <a:t> of 5</a:t>
            </a:r>
            <a:r>
              <a:rPr sz="1800" b="0" dirty="0">
                <a:solidFill>
                  <a:srgbClr val="5B6D77"/>
                </a:solidFill>
                <a:latin typeface="Aptos"/>
                <a:ea typeface="Aptos"/>
                <a:cs typeface="Aptos"/>
              </a:rPr>
              <a:t>: 1</a:t>
            </a:r>
            <a:r>
              <a:rPr lang="fr-FR" sz="1800" b="0" dirty="0">
                <a:solidFill>
                  <a:srgbClr val="5B6D77"/>
                </a:solidFill>
                <a:latin typeface="Aptos"/>
                <a:ea typeface="Aptos"/>
                <a:cs typeface="Aptos"/>
              </a:rPr>
              <a:t>5</a:t>
            </a:r>
            <a:r>
              <a:rPr sz="1800" b="0" dirty="0">
                <a:solidFill>
                  <a:srgbClr val="5B6D77"/>
                </a:solidFill>
                <a:latin typeface="Aptos"/>
                <a:ea typeface="Aptos"/>
                <a:cs typeface="Aptos"/>
              </a:rPr>
              <a:t> minutes + </a:t>
            </a:r>
            <a:r>
              <a:rPr lang="fr-FR" sz="1800" b="0" dirty="0">
                <a:solidFill>
                  <a:srgbClr val="5B6D77"/>
                </a:solidFill>
                <a:latin typeface="Aptos"/>
                <a:ea typeface="Aptos"/>
                <a:cs typeface="Aptos"/>
              </a:rPr>
              <a:t>6</a:t>
            </a:r>
            <a:r>
              <a:rPr sz="1800" b="0" dirty="0">
                <a:solidFill>
                  <a:srgbClr val="5B6D77"/>
                </a:solidFill>
                <a:latin typeface="Aptos"/>
                <a:ea typeface="Aptos"/>
                <a:cs typeface="Aptos"/>
              </a:rPr>
              <a:t> minutes Q&amp;A</a:t>
            </a:r>
          </a:p>
        </p:txBody>
      </p:sp>
      <p:sp>
        <p:nvSpPr>
          <p:cNvPr id="15" name="rule">
            <a:extLst>
              <a:ext uri="{FF2B5EF4-FFF2-40B4-BE49-F238E27FC236}">
                <a16:creationId xmlns:a16="http://schemas.microsoft.com/office/drawing/2014/main" id="{79DE0915-BF2E-4117-BCE0-B3CD5369F22C}"/>
              </a:ext>
            </a:extLst>
          </p:cNvPr>
          <p:cNvSpPr>
            <a:spLocks noGrp="1"/>
          </p:cNvSpPr>
          <p:nvPr/>
        </p:nvSpPr>
        <p:spPr>
          <a:xfrm>
            <a:off x="1390650" y="3429000"/>
            <a:ext cx="10191750" cy="0"/>
          </a:xfrm>
          <a:prstGeom prst="line">
            <a:avLst/>
          </a:prstGeom>
          <a:noFill/>
          <a:ln w="9525">
            <a:solidFill>
              <a:srgbClr val="CCD6D9"/>
            </a:solidFill>
            <a:prstDash val="solid"/>
          </a:ln>
        </p:spPr>
        <p:txBody>
          <a:bodyPr/>
          <a:lstStyle/>
          <a:p>
            <a:endParaRPr lang="fr-FR"/>
          </a:p>
        </p:txBody>
      </p:sp>
      <p:sp>
        <p:nvSpPr>
          <p:cNvPr id="16" name="explanation">
            <a:extLst>
              <a:ext uri="{FF2B5EF4-FFF2-40B4-BE49-F238E27FC236}">
                <a16:creationId xmlns:a16="http://schemas.microsoft.com/office/drawing/2014/main" id="{95BF4368-5917-4BAC-9EF2-37C8ED4D1593}"/>
              </a:ext>
            </a:extLst>
          </p:cNvPr>
          <p:cNvSpPr>
            <a:spLocks noGrp="1"/>
          </p:cNvSpPr>
          <p:nvPr/>
        </p:nvSpPr>
        <p:spPr>
          <a:xfrm>
            <a:off x="609600" y="3571875"/>
            <a:ext cx="571500" cy="3429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04</a:t>
            </a:r>
          </a:p>
        </p:txBody>
      </p:sp>
      <p:sp>
        <p:nvSpPr>
          <p:cNvPr id="17" name="explanation">
            <a:extLst>
              <a:ext uri="{FF2B5EF4-FFF2-40B4-BE49-F238E27FC236}">
                <a16:creationId xmlns:a16="http://schemas.microsoft.com/office/drawing/2014/main" id="{7FD93B89-256A-46BF-8255-D2FA493BE10E}"/>
              </a:ext>
            </a:extLst>
          </p:cNvPr>
          <p:cNvSpPr>
            <a:spLocks noGrp="1"/>
          </p:cNvSpPr>
          <p:nvPr/>
        </p:nvSpPr>
        <p:spPr>
          <a:xfrm>
            <a:off x="1390650" y="3571875"/>
            <a:ext cx="4095750" cy="3619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Liquidity &amp; funding</a:t>
            </a:r>
          </a:p>
        </p:txBody>
      </p:sp>
      <p:sp>
        <p:nvSpPr>
          <p:cNvPr id="18" name="explanation">
            <a:extLst>
              <a:ext uri="{FF2B5EF4-FFF2-40B4-BE49-F238E27FC236}">
                <a16:creationId xmlns:a16="http://schemas.microsoft.com/office/drawing/2014/main" id="{0CF91457-5E92-4FA5-B63E-72D04CC4B327}"/>
              </a:ext>
            </a:extLst>
          </p:cNvPr>
          <p:cNvSpPr>
            <a:spLocks noGrp="1"/>
          </p:cNvSpPr>
          <p:nvPr/>
        </p:nvSpPr>
        <p:spPr>
          <a:xfrm>
            <a:off x="5962650" y="3571875"/>
            <a:ext cx="5476875" cy="400050"/>
          </a:xfrm>
          <a:prstGeom prst="rect">
            <a:avLst/>
          </a:prstGeom>
          <a:noFill/>
          <a:ln w="0">
            <a:noFill/>
            <a:prstDash val="solid"/>
          </a:ln>
        </p:spPr>
        <p:txBody>
          <a:bodyPr wrap="square" lIns="0" tIns="0" rIns="0" bIns="0" anchor="t">
            <a:noAutofit/>
          </a:bodyPr>
          <a:lstStyle>
            <a:defPPr algn="l">
              <a:defRPr sz="1800" b="0">
                <a:solidFill>
                  <a:srgbClr val="5B6D77"/>
                </a:solidFill>
                <a:latin typeface="Aptos"/>
                <a:ea typeface="Aptos"/>
                <a:cs typeface="Aptos"/>
              </a:defRPr>
            </a:defPPr>
          </a:lstStyle>
          <a:p>
            <a:pPr algn="l">
              <a:defRPr sz="1800" b="0">
                <a:solidFill>
                  <a:srgbClr val="5B6D77"/>
                </a:solidFill>
                <a:latin typeface="Aptos"/>
                <a:ea typeface="Aptos"/>
                <a:cs typeface="Aptos"/>
              </a:defRPr>
            </a:pPr>
            <a:r>
              <a:rPr sz="1800" b="0">
                <a:solidFill>
                  <a:srgbClr val="5B6D77"/>
                </a:solidFill>
                <a:latin typeface="Aptos"/>
                <a:ea typeface="Aptos"/>
                <a:cs typeface="Aptos"/>
              </a:rPr>
              <a:t>Cash troughs, facilities and debt capacity</a:t>
            </a:r>
          </a:p>
        </p:txBody>
      </p:sp>
      <p:sp>
        <p:nvSpPr>
          <p:cNvPr id="19" name="rule">
            <a:extLst>
              <a:ext uri="{FF2B5EF4-FFF2-40B4-BE49-F238E27FC236}">
                <a16:creationId xmlns:a16="http://schemas.microsoft.com/office/drawing/2014/main" id="{1DC1D756-AA2D-4D2D-81C3-CAA4573DA97D}"/>
              </a:ext>
            </a:extLst>
          </p:cNvPr>
          <p:cNvSpPr>
            <a:spLocks noGrp="1"/>
          </p:cNvSpPr>
          <p:nvPr/>
        </p:nvSpPr>
        <p:spPr>
          <a:xfrm>
            <a:off x="1390650" y="4057650"/>
            <a:ext cx="10191750" cy="0"/>
          </a:xfrm>
          <a:prstGeom prst="line">
            <a:avLst/>
          </a:prstGeom>
          <a:noFill/>
          <a:ln w="9525">
            <a:solidFill>
              <a:srgbClr val="CCD6D9"/>
            </a:solidFill>
            <a:prstDash val="solid"/>
          </a:ln>
        </p:spPr>
        <p:txBody>
          <a:bodyPr/>
          <a:lstStyle/>
          <a:p>
            <a:endParaRPr lang="fr-FR"/>
          </a:p>
        </p:txBody>
      </p:sp>
      <p:sp>
        <p:nvSpPr>
          <p:cNvPr id="20" name="explanation">
            <a:extLst>
              <a:ext uri="{FF2B5EF4-FFF2-40B4-BE49-F238E27FC236}">
                <a16:creationId xmlns:a16="http://schemas.microsoft.com/office/drawing/2014/main" id="{066A6DB6-7478-4AEF-A339-0D5E5BC1A5B0}"/>
              </a:ext>
            </a:extLst>
          </p:cNvPr>
          <p:cNvSpPr>
            <a:spLocks noGrp="1"/>
          </p:cNvSpPr>
          <p:nvPr/>
        </p:nvSpPr>
        <p:spPr>
          <a:xfrm>
            <a:off x="609600" y="4200525"/>
            <a:ext cx="571500" cy="3429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05</a:t>
            </a:r>
          </a:p>
        </p:txBody>
      </p:sp>
      <p:sp>
        <p:nvSpPr>
          <p:cNvPr id="21" name="explanation">
            <a:extLst>
              <a:ext uri="{FF2B5EF4-FFF2-40B4-BE49-F238E27FC236}">
                <a16:creationId xmlns:a16="http://schemas.microsoft.com/office/drawing/2014/main" id="{CE05C7B0-D99C-4321-BC7B-C91F18452BFD}"/>
              </a:ext>
            </a:extLst>
          </p:cNvPr>
          <p:cNvSpPr>
            <a:spLocks noGrp="1"/>
          </p:cNvSpPr>
          <p:nvPr/>
        </p:nvSpPr>
        <p:spPr>
          <a:xfrm>
            <a:off x="1390650" y="4200525"/>
            <a:ext cx="4095750" cy="3619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Financial markets</a:t>
            </a:r>
          </a:p>
        </p:txBody>
      </p:sp>
      <p:sp>
        <p:nvSpPr>
          <p:cNvPr id="22" name="explanation">
            <a:extLst>
              <a:ext uri="{FF2B5EF4-FFF2-40B4-BE49-F238E27FC236}">
                <a16:creationId xmlns:a16="http://schemas.microsoft.com/office/drawing/2014/main" id="{ECBB8AD3-E65D-4018-83E7-DBF896EF585F}"/>
              </a:ext>
            </a:extLst>
          </p:cNvPr>
          <p:cNvSpPr>
            <a:spLocks noGrp="1"/>
          </p:cNvSpPr>
          <p:nvPr/>
        </p:nvSpPr>
        <p:spPr>
          <a:xfrm>
            <a:off x="5962650" y="4200525"/>
            <a:ext cx="5476875" cy="400050"/>
          </a:xfrm>
          <a:prstGeom prst="rect">
            <a:avLst/>
          </a:prstGeom>
          <a:noFill/>
          <a:ln w="0">
            <a:noFill/>
            <a:prstDash val="solid"/>
          </a:ln>
        </p:spPr>
        <p:txBody>
          <a:bodyPr wrap="square" lIns="0" tIns="0" rIns="0" bIns="0" anchor="t">
            <a:noAutofit/>
          </a:bodyPr>
          <a:lstStyle>
            <a:defPPr algn="l">
              <a:defRPr sz="1800" b="0">
                <a:solidFill>
                  <a:srgbClr val="5B6D77"/>
                </a:solidFill>
                <a:latin typeface="Aptos"/>
                <a:ea typeface="Aptos"/>
                <a:cs typeface="Aptos"/>
              </a:defRPr>
            </a:defPPr>
          </a:lstStyle>
          <a:p>
            <a:pPr algn="l">
              <a:defRPr sz="1800" b="0">
                <a:solidFill>
                  <a:srgbClr val="5B6D77"/>
                </a:solidFill>
                <a:latin typeface="Aptos"/>
                <a:ea typeface="Aptos"/>
                <a:cs typeface="Aptos"/>
              </a:defRPr>
            </a:pPr>
            <a:r>
              <a:rPr sz="1800" b="0">
                <a:solidFill>
                  <a:srgbClr val="5B6D77"/>
                </a:solidFill>
                <a:latin typeface="Aptos"/>
                <a:ea typeface="Aptos"/>
                <a:cs typeface="Aptos"/>
              </a:rPr>
              <a:t>Rates, FX, commodities and surplus cash</a:t>
            </a:r>
          </a:p>
        </p:txBody>
      </p:sp>
      <p:sp>
        <p:nvSpPr>
          <p:cNvPr id="23" name="rule">
            <a:extLst>
              <a:ext uri="{FF2B5EF4-FFF2-40B4-BE49-F238E27FC236}">
                <a16:creationId xmlns:a16="http://schemas.microsoft.com/office/drawing/2014/main" id="{19D84BDE-CE96-48EA-B81A-38D56986D92A}"/>
              </a:ext>
            </a:extLst>
          </p:cNvPr>
          <p:cNvSpPr>
            <a:spLocks noGrp="1"/>
          </p:cNvSpPr>
          <p:nvPr/>
        </p:nvSpPr>
        <p:spPr>
          <a:xfrm>
            <a:off x="1390650" y="4686300"/>
            <a:ext cx="10191750" cy="0"/>
          </a:xfrm>
          <a:prstGeom prst="line">
            <a:avLst/>
          </a:prstGeom>
          <a:noFill/>
          <a:ln w="9525">
            <a:solidFill>
              <a:srgbClr val="CCD6D9"/>
            </a:solidFill>
            <a:prstDash val="solid"/>
          </a:ln>
        </p:spPr>
        <p:txBody>
          <a:bodyPr/>
          <a:lstStyle/>
          <a:p>
            <a:endParaRPr lang="fr-FR"/>
          </a:p>
        </p:txBody>
      </p:sp>
      <p:sp>
        <p:nvSpPr>
          <p:cNvPr id="24" name="explanation">
            <a:extLst>
              <a:ext uri="{FF2B5EF4-FFF2-40B4-BE49-F238E27FC236}">
                <a16:creationId xmlns:a16="http://schemas.microsoft.com/office/drawing/2014/main" id="{ABAFF64A-46A6-4FE3-9611-C3714A4FE697}"/>
              </a:ext>
            </a:extLst>
          </p:cNvPr>
          <p:cNvSpPr>
            <a:spLocks noGrp="1"/>
          </p:cNvSpPr>
          <p:nvPr/>
        </p:nvSpPr>
        <p:spPr>
          <a:xfrm>
            <a:off x="609600" y="4829175"/>
            <a:ext cx="571500" cy="3429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06</a:t>
            </a:r>
          </a:p>
        </p:txBody>
      </p:sp>
      <p:sp>
        <p:nvSpPr>
          <p:cNvPr id="25" name="explanation">
            <a:extLst>
              <a:ext uri="{FF2B5EF4-FFF2-40B4-BE49-F238E27FC236}">
                <a16:creationId xmlns:a16="http://schemas.microsoft.com/office/drawing/2014/main" id="{AFD479F6-1532-44F4-8B52-F4AF06FFA3B7}"/>
              </a:ext>
            </a:extLst>
          </p:cNvPr>
          <p:cNvSpPr>
            <a:spLocks noGrp="1"/>
          </p:cNvSpPr>
          <p:nvPr/>
        </p:nvSpPr>
        <p:spPr>
          <a:xfrm>
            <a:off x="1390650" y="4829175"/>
            <a:ext cx="4095750" cy="3619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Integrated stress test</a:t>
            </a:r>
          </a:p>
        </p:txBody>
      </p:sp>
      <p:sp>
        <p:nvSpPr>
          <p:cNvPr id="26" name="explanation">
            <a:extLst>
              <a:ext uri="{FF2B5EF4-FFF2-40B4-BE49-F238E27FC236}">
                <a16:creationId xmlns:a16="http://schemas.microsoft.com/office/drawing/2014/main" id="{9DAF0D4D-402F-4BA2-BC70-17835684860B}"/>
              </a:ext>
            </a:extLst>
          </p:cNvPr>
          <p:cNvSpPr>
            <a:spLocks noGrp="1"/>
          </p:cNvSpPr>
          <p:nvPr/>
        </p:nvSpPr>
        <p:spPr>
          <a:xfrm>
            <a:off x="5962650" y="4829175"/>
            <a:ext cx="5476875" cy="400050"/>
          </a:xfrm>
          <a:prstGeom prst="rect">
            <a:avLst/>
          </a:prstGeom>
          <a:noFill/>
          <a:ln w="0">
            <a:noFill/>
            <a:prstDash val="solid"/>
          </a:ln>
        </p:spPr>
        <p:txBody>
          <a:bodyPr wrap="square" lIns="0" tIns="0" rIns="0" bIns="0" anchor="t">
            <a:noAutofit/>
          </a:bodyPr>
          <a:lstStyle>
            <a:defPPr algn="l">
              <a:defRPr sz="1800" b="0">
                <a:solidFill>
                  <a:srgbClr val="5B6D77"/>
                </a:solidFill>
                <a:latin typeface="Aptos"/>
                <a:ea typeface="Aptos"/>
                <a:cs typeface="Aptos"/>
              </a:defRPr>
            </a:defPPr>
          </a:lstStyle>
          <a:p>
            <a:pPr algn="l">
              <a:defRPr sz="1800" b="0">
                <a:solidFill>
                  <a:srgbClr val="5B6D77"/>
                </a:solidFill>
                <a:latin typeface="Aptos"/>
                <a:ea typeface="Aptos"/>
                <a:cs typeface="Aptos"/>
              </a:defRPr>
            </a:pPr>
            <a:r>
              <a:rPr sz="1800" b="0">
                <a:solidFill>
                  <a:srgbClr val="5B6D77"/>
                </a:solidFill>
                <a:latin typeface="Aptos"/>
                <a:ea typeface="Aptos"/>
                <a:cs typeface="Aptos"/>
              </a:rPr>
              <a:t>Combined downside and CFO action plan</a:t>
            </a:r>
          </a:p>
        </p:txBody>
      </p:sp>
      <p:sp>
        <p:nvSpPr>
          <p:cNvPr id="27" name="rule">
            <a:extLst>
              <a:ext uri="{FF2B5EF4-FFF2-40B4-BE49-F238E27FC236}">
                <a16:creationId xmlns:a16="http://schemas.microsoft.com/office/drawing/2014/main" id="{FC6BC5D2-FE72-4FBF-9962-D12B6FDBB358}"/>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28" name="decision-implication">
            <a:extLst>
              <a:ext uri="{FF2B5EF4-FFF2-40B4-BE49-F238E27FC236}">
                <a16:creationId xmlns:a16="http://schemas.microsoft.com/office/drawing/2014/main" id="{81A8CBF1-2C9D-44DE-A5C2-D417566F4FB8}"/>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Identify the exposure → quantify the cash consequence → recommend an executable decision.</a:t>
            </a:r>
          </a:p>
        </p:txBody>
      </p:sp>
    </p:spTree>
    <p:extLst>
      <p:ext uri="{BB962C8B-B14F-4D97-AF65-F5344CB8AC3E}">
        <p14:creationId xmlns:p14="http://schemas.microsoft.com/office/powerpoint/2010/main" val="977476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D3B"/>
        </a:solidFill>
        <a:effectLst/>
      </p:bgPr>
    </p:bg>
    <p:spTree>
      <p:nvGrpSpPr>
        <p:cNvPr id="1" name=""/>
        <p:cNvGrpSpPr/>
        <p:nvPr/>
      </p:nvGrpSpPr>
      <p:grpSpPr>
        <a:xfrm>
          <a:off x="0" y="0"/>
          <a:ext cx="0" cy="0"/>
          <a:chOff x="0" y="0"/>
          <a:chExt cx="0" cy="0"/>
        </a:xfrm>
      </p:grpSpPr>
      <p:sp>
        <p:nvSpPr>
          <p:cNvPr id="7" name="section-reference">
            <a:extLst>
              <a:ext uri="{FF2B5EF4-FFF2-40B4-BE49-F238E27FC236}">
                <a16:creationId xmlns:a16="http://schemas.microsoft.com/office/drawing/2014/main" id="{C315F884-7DA7-40F2-84B4-6DA72C5E9C88}"/>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B5CBCF"/>
                </a:solidFill>
                <a:latin typeface="Aptos"/>
                <a:ea typeface="Aptos"/>
                <a:cs typeface="Aptos"/>
              </a:defRPr>
            </a:defPPr>
          </a:lstStyle>
          <a:p>
            <a:pPr algn="l">
              <a:defRPr sz="1050" b="1">
                <a:solidFill>
                  <a:srgbClr val="B5CBCF"/>
                </a:solidFill>
                <a:latin typeface="Aptos"/>
                <a:ea typeface="Aptos"/>
                <a:cs typeface="Aptos"/>
              </a:defRPr>
            </a:pPr>
            <a:r>
              <a:rPr sz="1050" b="1">
                <a:solidFill>
                  <a:srgbClr val="B5CBCF"/>
                </a:solidFill>
                <a:latin typeface="Aptos"/>
                <a:ea typeface="Aptos"/>
                <a:cs typeface="Aptos"/>
              </a:rPr>
              <a:t>CORPORATE TREASURY  /  CHAPTER 1</a:t>
            </a:r>
          </a:p>
        </p:txBody>
      </p:sp>
      <p:sp>
        <p:nvSpPr>
          <p:cNvPr id="2" name="slide-title">
            <a:extLst>
              <a:ext uri="{FF2B5EF4-FFF2-40B4-BE49-F238E27FC236}">
                <a16:creationId xmlns:a16="http://schemas.microsoft.com/office/drawing/2014/main" id="{B6D648D4-449D-4441-9F91-358E0C680C82}"/>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FFFFFF"/>
                </a:solidFill>
                <a:latin typeface="Aptos"/>
                <a:ea typeface="Aptos"/>
                <a:cs typeface="Aptos"/>
              </a:defRPr>
            </a:defPPr>
          </a:lstStyle>
          <a:p>
            <a:pPr algn="l">
              <a:defRPr sz="3150" b="1">
                <a:solidFill>
                  <a:srgbClr val="FFFFFF"/>
                </a:solidFill>
                <a:latin typeface="Aptos"/>
                <a:ea typeface="Aptos"/>
                <a:cs typeface="Aptos"/>
              </a:defRPr>
            </a:pPr>
            <a:r>
              <a:rPr sz="3150" b="1">
                <a:solidFill>
                  <a:srgbClr val="FFFFFF"/>
                </a:solidFill>
                <a:latin typeface="Aptos"/>
                <a:ea typeface="Aptos"/>
                <a:cs typeface="Aptos"/>
              </a:rPr>
              <a:t>Corporate Treasury</a:t>
            </a:r>
          </a:p>
        </p:txBody>
      </p:sp>
      <p:sp>
        <p:nvSpPr>
          <p:cNvPr id="3" name="slide-number">
            <a:extLst>
              <a:ext uri="{FF2B5EF4-FFF2-40B4-BE49-F238E27FC236}">
                <a16:creationId xmlns:a16="http://schemas.microsoft.com/office/drawing/2014/main" id="{797B743A-D72B-4ECB-BC78-5253005EE00B}"/>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B5CBCF"/>
                </a:solidFill>
                <a:latin typeface="Aptos"/>
                <a:ea typeface="Aptos"/>
                <a:cs typeface="Aptos"/>
              </a:defRPr>
            </a:defPPr>
          </a:lstStyle>
          <a:p>
            <a:pPr algn="r">
              <a:defRPr sz="1050" b="0">
                <a:solidFill>
                  <a:srgbClr val="B5CBCF"/>
                </a:solidFill>
                <a:latin typeface="Aptos"/>
                <a:ea typeface="Aptos"/>
                <a:cs typeface="Aptos"/>
              </a:defRPr>
            </a:pPr>
            <a:r>
              <a:rPr sz="1050" b="0">
                <a:solidFill>
                  <a:srgbClr val="B5CBCF"/>
                </a:solidFill>
                <a:latin typeface="Aptos"/>
                <a:ea typeface="Aptos"/>
                <a:cs typeface="Aptos"/>
              </a:rPr>
              <a:t>03</a:t>
            </a:r>
          </a:p>
        </p:txBody>
      </p:sp>
      <p:sp>
        <p:nvSpPr>
          <p:cNvPr id="4" name="explanation">
            <a:extLst>
              <a:ext uri="{FF2B5EF4-FFF2-40B4-BE49-F238E27FC236}">
                <a16:creationId xmlns:a16="http://schemas.microsoft.com/office/drawing/2014/main" id="{F682BAFB-AED9-4523-AB92-CF287ED2BDB8}"/>
              </a:ext>
            </a:extLst>
          </p:cNvPr>
          <p:cNvSpPr>
            <a:spLocks noGrp="1"/>
          </p:cNvSpPr>
          <p:nvPr/>
        </p:nvSpPr>
        <p:spPr>
          <a:xfrm>
            <a:off x="609600" y="1685925"/>
            <a:ext cx="2667000" cy="1447800"/>
          </a:xfrm>
          <a:prstGeom prst="rect">
            <a:avLst/>
          </a:prstGeom>
          <a:noFill/>
          <a:ln w="0">
            <a:noFill/>
            <a:prstDash val="solid"/>
          </a:ln>
        </p:spPr>
        <p:txBody>
          <a:bodyPr wrap="square" lIns="0" tIns="0" rIns="0" bIns="0" anchor="t">
            <a:noAutofit/>
          </a:bodyPr>
          <a:lstStyle>
            <a:defPPr algn="l">
              <a:defRPr sz="8400" b="1">
                <a:solidFill>
                  <a:srgbClr val="DBAE55"/>
                </a:solidFill>
                <a:latin typeface="Aptos"/>
                <a:ea typeface="Aptos"/>
                <a:cs typeface="Aptos"/>
              </a:defRPr>
            </a:defPPr>
          </a:lstStyle>
          <a:p>
            <a:pPr algn="l">
              <a:defRPr sz="8400" b="1">
                <a:solidFill>
                  <a:srgbClr val="DBAE55"/>
                </a:solidFill>
                <a:latin typeface="Aptos"/>
                <a:ea typeface="Aptos"/>
                <a:cs typeface="Aptos"/>
              </a:defRPr>
            </a:pPr>
            <a:r>
              <a:rPr sz="8400" b="1">
                <a:solidFill>
                  <a:srgbClr val="DBAE55"/>
                </a:solidFill>
                <a:latin typeface="Aptos"/>
                <a:ea typeface="Aptos"/>
                <a:cs typeface="Aptos"/>
              </a:rPr>
              <a:t>01</a:t>
            </a:r>
          </a:p>
        </p:txBody>
      </p:sp>
      <p:sp>
        <p:nvSpPr>
          <p:cNvPr id="5" name="explanation">
            <a:extLst>
              <a:ext uri="{FF2B5EF4-FFF2-40B4-BE49-F238E27FC236}">
                <a16:creationId xmlns:a16="http://schemas.microsoft.com/office/drawing/2014/main" id="{84F6F6B2-1A06-43AB-8FCF-61CEE74544CA}"/>
              </a:ext>
            </a:extLst>
          </p:cNvPr>
          <p:cNvSpPr>
            <a:spLocks noGrp="1"/>
          </p:cNvSpPr>
          <p:nvPr/>
        </p:nvSpPr>
        <p:spPr>
          <a:xfrm>
            <a:off x="609600" y="3238500"/>
            <a:ext cx="10572750" cy="1285875"/>
          </a:xfrm>
          <a:prstGeom prst="rect">
            <a:avLst/>
          </a:prstGeom>
          <a:noFill/>
          <a:ln w="0">
            <a:noFill/>
            <a:prstDash val="solid"/>
          </a:ln>
        </p:spPr>
        <p:txBody>
          <a:bodyPr wrap="square" lIns="0" tIns="0" rIns="0" bIns="0" anchor="t">
            <a:noAutofit/>
          </a:bodyPr>
          <a:lstStyle>
            <a:defPPr algn="l">
              <a:defRPr sz="3900" b="1">
                <a:solidFill>
                  <a:srgbClr val="FFFFFF"/>
                </a:solidFill>
                <a:latin typeface="Aptos"/>
                <a:ea typeface="Aptos"/>
                <a:cs typeface="Aptos"/>
              </a:defRPr>
            </a:defPPr>
          </a:lstStyle>
          <a:p>
            <a:pPr algn="l">
              <a:defRPr sz="3900" b="1">
                <a:solidFill>
                  <a:srgbClr val="FFFFFF"/>
                </a:solidFill>
                <a:latin typeface="Aptos"/>
                <a:ea typeface="Aptos"/>
                <a:cs typeface="Aptos"/>
              </a:defRPr>
            </a:pPr>
            <a:r>
              <a:rPr sz="3900" b="1">
                <a:solidFill>
                  <a:srgbClr val="FFFFFF"/>
                </a:solidFill>
                <a:latin typeface="Aptos"/>
                <a:ea typeface="Aptos"/>
                <a:cs typeface="Aptos"/>
              </a:rPr>
              <a:t>Why does Treasury exist and why is it strategic?</a:t>
            </a:r>
          </a:p>
        </p:txBody>
      </p:sp>
      <p:sp>
        <p:nvSpPr>
          <p:cNvPr id="6" name="explanation">
            <a:extLst>
              <a:ext uri="{FF2B5EF4-FFF2-40B4-BE49-F238E27FC236}">
                <a16:creationId xmlns:a16="http://schemas.microsoft.com/office/drawing/2014/main" id="{E2C85466-B3AF-4E34-866E-1B7E245CB07E}"/>
              </a:ext>
            </a:extLst>
          </p:cNvPr>
          <p:cNvSpPr>
            <a:spLocks noGrp="1"/>
          </p:cNvSpPr>
          <p:nvPr/>
        </p:nvSpPr>
        <p:spPr>
          <a:xfrm>
            <a:off x="609600" y="4933950"/>
            <a:ext cx="10477500" cy="857250"/>
          </a:xfrm>
          <a:prstGeom prst="rect">
            <a:avLst/>
          </a:prstGeom>
          <a:noFill/>
          <a:ln w="0">
            <a:noFill/>
            <a:prstDash val="solid"/>
          </a:ln>
        </p:spPr>
        <p:txBody>
          <a:bodyPr wrap="square" lIns="0" tIns="0" rIns="0" bIns="0" anchor="t">
            <a:noAutofit/>
          </a:bodyPr>
          <a:lstStyle>
            <a:defPPr algn="l">
              <a:defRPr sz="1950" b="0">
                <a:solidFill>
                  <a:srgbClr val="B5CBCF"/>
                </a:solidFill>
                <a:latin typeface="Aptos"/>
                <a:ea typeface="Aptos"/>
                <a:cs typeface="Aptos"/>
              </a:defRPr>
            </a:defPPr>
          </a:lstStyle>
          <a:p>
            <a:pPr algn="l">
              <a:defRPr sz="1950" b="0">
                <a:solidFill>
                  <a:srgbClr val="B5CBCF"/>
                </a:solidFill>
                <a:latin typeface="Aptos"/>
                <a:ea typeface="Aptos"/>
                <a:cs typeface="Aptos"/>
              </a:defRPr>
            </a:pPr>
            <a:r>
              <a:rPr sz="1950" b="0">
                <a:solidFill>
                  <a:srgbClr val="B5CBCF"/>
                </a:solidFill>
                <a:latin typeface="Aptos"/>
                <a:ea typeface="Aptos"/>
                <a:cs typeface="Aptos"/>
              </a:rPr>
              <a:t>Mandate and evolution  ·  Ecosystem and governance  ·  Risk framework  ·  Appetite and priorities  ·  Financial toolkit</a:t>
            </a:r>
          </a:p>
        </p:txBody>
      </p:sp>
    </p:spTree>
    <p:extLst>
      <p:ext uri="{BB962C8B-B14F-4D97-AF65-F5344CB8AC3E}">
        <p14:creationId xmlns:p14="http://schemas.microsoft.com/office/powerpoint/2010/main" val="949543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9" name="section-reference">
            <a:extLst>
              <a:ext uri="{FF2B5EF4-FFF2-40B4-BE49-F238E27FC236}">
                <a16:creationId xmlns:a16="http://schemas.microsoft.com/office/drawing/2014/main" id="{A6DFBBCD-3E2D-4FD1-9438-4111C65FE4CC}"/>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1.1</a:t>
            </a:r>
          </a:p>
        </p:txBody>
      </p:sp>
      <p:sp>
        <p:nvSpPr>
          <p:cNvPr id="2" name="slide-title">
            <a:extLst>
              <a:ext uri="{FF2B5EF4-FFF2-40B4-BE49-F238E27FC236}">
                <a16:creationId xmlns:a16="http://schemas.microsoft.com/office/drawing/2014/main" id="{ABA49E4E-6B93-4541-8B65-AD00ABBB51B7}"/>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I have €100 in my pocket</a:t>
            </a:r>
          </a:p>
        </p:txBody>
      </p:sp>
      <p:sp>
        <p:nvSpPr>
          <p:cNvPr id="3" name="slide-number">
            <a:extLst>
              <a:ext uri="{FF2B5EF4-FFF2-40B4-BE49-F238E27FC236}">
                <a16:creationId xmlns:a16="http://schemas.microsoft.com/office/drawing/2014/main" id="{F3745431-7578-4A30-BCF5-1309209F0743}"/>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04</a:t>
            </a:r>
          </a:p>
        </p:txBody>
      </p:sp>
      <p:sp>
        <p:nvSpPr>
          <p:cNvPr id="4" name="explanation">
            <a:extLst>
              <a:ext uri="{FF2B5EF4-FFF2-40B4-BE49-F238E27FC236}">
                <a16:creationId xmlns:a16="http://schemas.microsoft.com/office/drawing/2014/main" id="{FD476F94-82F7-4E28-895D-A99984F46178}"/>
              </a:ext>
            </a:extLst>
          </p:cNvPr>
          <p:cNvSpPr>
            <a:spLocks noGrp="1"/>
          </p:cNvSpPr>
          <p:nvPr/>
        </p:nvSpPr>
        <p:spPr>
          <a:xfrm>
            <a:off x="609600" y="1714500"/>
            <a:ext cx="10906125" cy="619125"/>
          </a:xfrm>
          <a:prstGeom prst="rect">
            <a:avLst/>
          </a:prstGeom>
          <a:noFill/>
          <a:ln w="0">
            <a:noFill/>
            <a:prstDash val="solid"/>
          </a:ln>
        </p:spPr>
        <p:txBody>
          <a:bodyPr wrap="square" lIns="0" tIns="0" rIns="0" bIns="0" anchor="t">
            <a:noAutofit/>
          </a:bodyPr>
          <a:lstStyle>
            <a:defPPr algn="l">
              <a:defRPr sz="2325" b="1">
                <a:solidFill>
                  <a:srgbClr val="19313F"/>
                </a:solidFill>
                <a:latin typeface="Aptos"/>
                <a:ea typeface="Aptos"/>
                <a:cs typeface="Aptos"/>
              </a:defRPr>
            </a:defPPr>
          </a:lstStyle>
          <a:p>
            <a:pPr algn="l">
              <a:defRPr sz="2325" b="1">
                <a:solidFill>
                  <a:srgbClr val="19313F"/>
                </a:solidFill>
                <a:latin typeface="Aptos"/>
                <a:ea typeface="Aptos"/>
                <a:cs typeface="Aptos"/>
              </a:defRPr>
            </a:pPr>
            <a:r>
              <a:rPr sz="2325" b="1">
                <a:solidFill>
                  <a:srgbClr val="19313F"/>
                </a:solidFill>
                <a:latin typeface="Aptos"/>
                <a:ea typeface="Aptos"/>
                <a:cs typeface="Aptos"/>
              </a:rPr>
              <a:t>You ask to borrow €50 today and promise to repay me next month.</a:t>
            </a:r>
          </a:p>
        </p:txBody>
      </p:sp>
      <p:sp>
        <p:nvSpPr>
          <p:cNvPr id="5" name="explanation">
            <a:extLst>
              <a:ext uri="{FF2B5EF4-FFF2-40B4-BE49-F238E27FC236}">
                <a16:creationId xmlns:a16="http://schemas.microsoft.com/office/drawing/2014/main" id="{44A4111A-5EE8-408C-96C3-D1D9371F38DE}"/>
              </a:ext>
            </a:extLst>
          </p:cNvPr>
          <p:cNvSpPr>
            <a:spLocks noGrp="1"/>
          </p:cNvSpPr>
          <p:nvPr/>
        </p:nvSpPr>
        <p:spPr>
          <a:xfrm>
            <a:off x="609600" y="25050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01</a:t>
            </a:r>
          </a:p>
        </p:txBody>
      </p:sp>
      <p:sp>
        <p:nvSpPr>
          <p:cNvPr id="6" name="explanation">
            <a:extLst>
              <a:ext uri="{FF2B5EF4-FFF2-40B4-BE49-F238E27FC236}">
                <a16:creationId xmlns:a16="http://schemas.microsoft.com/office/drawing/2014/main" id="{BA30117C-F4D3-4017-8A1D-CDDD678F7A42}"/>
              </a:ext>
            </a:extLst>
          </p:cNvPr>
          <p:cNvSpPr>
            <a:spLocks noGrp="1"/>
          </p:cNvSpPr>
          <p:nvPr/>
        </p:nvSpPr>
        <p:spPr>
          <a:xfrm>
            <a:off x="1333500" y="25050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I have €100 available now</a:t>
            </a:r>
          </a:p>
        </p:txBody>
      </p:sp>
      <p:sp>
        <p:nvSpPr>
          <p:cNvPr id="7" name="explanation">
            <a:extLst>
              <a:ext uri="{FF2B5EF4-FFF2-40B4-BE49-F238E27FC236}">
                <a16:creationId xmlns:a16="http://schemas.microsoft.com/office/drawing/2014/main" id="{2445587E-193A-42AD-8064-37EB53733DF4}"/>
              </a:ext>
            </a:extLst>
          </p:cNvPr>
          <p:cNvSpPr>
            <a:spLocks noGrp="1"/>
          </p:cNvSpPr>
          <p:nvPr/>
        </p:nvSpPr>
        <p:spPr>
          <a:xfrm>
            <a:off x="1333500" y="29146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This is the cash I can actually use today.</a:t>
            </a:r>
          </a:p>
        </p:txBody>
      </p:sp>
      <p:sp>
        <p:nvSpPr>
          <p:cNvPr id="8" name="rule">
            <a:extLst>
              <a:ext uri="{FF2B5EF4-FFF2-40B4-BE49-F238E27FC236}">
                <a16:creationId xmlns:a16="http://schemas.microsoft.com/office/drawing/2014/main" id="{A2293932-72C6-4947-B223-08C1562334CB}"/>
              </a:ext>
            </a:extLst>
          </p:cNvPr>
          <p:cNvSpPr>
            <a:spLocks noGrp="1"/>
          </p:cNvSpPr>
          <p:nvPr/>
        </p:nvSpPr>
        <p:spPr>
          <a:xfrm>
            <a:off x="1333500" y="3362325"/>
            <a:ext cx="10248900" cy="0"/>
          </a:xfrm>
          <a:prstGeom prst="line">
            <a:avLst/>
          </a:prstGeom>
          <a:noFill/>
          <a:ln w="9525">
            <a:solidFill>
              <a:srgbClr val="CCD6D9"/>
            </a:solidFill>
            <a:prstDash val="solid"/>
          </a:ln>
        </p:spPr>
        <p:txBody>
          <a:bodyPr/>
          <a:lstStyle/>
          <a:p>
            <a:endParaRPr lang="fr-FR"/>
          </a:p>
        </p:txBody>
      </p:sp>
      <p:sp>
        <p:nvSpPr>
          <p:cNvPr id="9" name="explanation">
            <a:extLst>
              <a:ext uri="{FF2B5EF4-FFF2-40B4-BE49-F238E27FC236}">
                <a16:creationId xmlns:a16="http://schemas.microsoft.com/office/drawing/2014/main" id="{95FE01A0-094B-4D04-BCAC-0989D805291E}"/>
              </a:ext>
            </a:extLst>
          </p:cNvPr>
          <p:cNvSpPr>
            <a:spLocks noGrp="1"/>
          </p:cNvSpPr>
          <p:nvPr/>
        </p:nvSpPr>
        <p:spPr>
          <a:xfrm>
            <a:off x="609600" y="34575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02</a:t>
            </a:r>
          </a:p>
        </p:txBody>
      </p:sp>
      <p:sp>
        <p:nvSpPr>
          <p:cNvPr id="10" name="explanation">
            <a:extLst>
              <a:ext uri="{FF2B5EF4-FFF2-40B4-BE49-F238E27FC236}">
                <a16:creationId xmlns:a16="http://schemas.microsoft.com/office/drawing/2014/main" id="{03E1777D-3F7B-4875-B75A-813D8BE1F2FD}"/>
              </a:ext>
            </a:extLst>
          </p:cNvPr>
          <p:cNvSpPr>
            <a:spLocks noGrp="1"/>
          </p:cNvSpPr>
          <p:nvPr/>
        </p:nvSpPr>
        <p:spPr>
          <a:xfrm>
            <a:off x="1333500" y="34575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I must pay an €80 bill tonight</a:t>
            </a:r>
          </a:p>
        </p:txBody>
      </p:sp>
      <p:sp>
        <p:nvSpPr>
          <p:cNvPr id="11" name="explanation">
            <a:extLst>
              <a:ext uri="{FF2B5EF4-FFF2-40B4-BE49-F238E27FC236}">
                <a16:creationId xmlns:a16="http://schemas.microsoft.com/office/drawing/2014/main" id="{41565B86-B79E-495F-BA2C-40EC3AA8803E}"/>
              </a:ext>
            </a:extLst>
          </p:cNvPr>
          <p:cNvSpPr>
            <a:spLocks noGrp="1"/>
          </p:cNvSpPr>
          <p:nvPr/>
        </p:nvSpPr>
        <p:spPr>
          <a:xfrm>
            <a:off x="1333500" y="38671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The payment cannot wait until next week.</a:t>
            </a:r>
          </a:p>
        </p:txBody>
      </p:sp>
      <p:sp>
        <p:nvSpPr>
          <p:cNvPr id="12" name="rule">
            <a:extLst>
              <a:ext uri="{FF2B5EF4-FFF2-40B4-BE49-F238E27FC236}">
                <a16:creationId xmlns:a16="http://schemas.microsoft.com/office/drawing/2014/main" id="{2DDCA972-7EF0-42B7-8AAD-B76CEB45197D}"/>
              </a:ext>
            </a:extLst>
          </p:cNvPr>
          <p:cNvSpPr>
            <a:spLocks noGrp="1"/>
          </p:cNvSpPr>
          <p:nvPr/>
        </p:nvSpPr>
        <p:spPr>
          <a:xfrm>
            <a:off x="1333500" y="4314825"/>
            <a:ext cx="10248900" cy="0"/>
          </a:xfrm>
          <a:prstGeom prst="line">
            <a:avLst/>
          </a:prstGeom>
          <a:noFill/>
          <a:ln w="9525">
            <a:solidFill>
              <a:srgbClr val="CCD6D9"/>
            </a:solidFill>
            <a:prstDash val="solid"/>
          </a:ln>
        </p:spPr>
        <p:txBody>
          <a:bodyPr/>
          <a:lstStyle/>
          <a:p>
            <a:endParaRPr lang="fr-FR"/>
          </a:p>
        </p:txBody>
      </p:sp>
      <p:sp>
        <p:nvSpPr>
          <p:cNvPr id="13" name="explanation">
            <a:extLst>
              <a:ext uri="{FF2B5EF4-FFF2-40B4-BE49-F238E27FC236}">
                <a16:creationId xmlns:a16="http://schemas.microsoft.com/office/drawing/2014/main" id="{6274B177-700E-4573-BF52-76E7FF903728}"/>
              </a:ext>
            </a:extLst>
          </p:cNvPr>
          <p:cNvSpPr>
            <a:spLocks noGrp="1"/>
          </p:cNvSpPr>
          <p:nvPr/>
        </p:nvSpPr>
        <p:spPr>
          <a:xfrm>
            <a:off x="609600" y="44100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03</a:t>
            </a:r>
          </a:p>
        </p:txBody>
      </p:sp>
      <p:sp>
        <p:nvSpPr>
          <p:cNvPr id="14" name="explanation">
            <a:extLst>
              <a:ext uri="{FF2B5EF4-FFF2-40B4-BE49-F238E27FC236}">
                <a16:creationId xmlns:a16="http://schemas.microsoft.com/office/drawing/2014/main" id="{FDC292B5-D5EF-4278-8EBB-C961AFDAEDA9}"/>
              </a:ext>
            </a:extLst>
          </p:cNvPr>
          <p:cNvSpPr>
            <a:spLocks noGrp="1"/>
          </p:cNvSpPr>
          <p:nvPr/>
        </p:nvSpPr>
        <p:spPr>
          <a:xfrm>
            <a:off x="1333500" y="44100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A friend will repay me €150 next week</a:t>
            </a:r>
          </a:p>
        </p:txBody>
      </p:sp>
      <p:sp>
        <p:nvSpPr>
          <p:cNvPr id="15" name="explanation">
            <a:extLst>
              <a:ext uri="{FF2B5EF4-FFF2-40B4-BE49-F238E27FC236}">
                <a16:creationId xmlns:a16="http://schemas.microsoft.com/office/drawing/2014/main" id="{6D5BA668-962B-4D4B-B063-73047EBBFAB6}"/>
              </a:ext>
            </a:extLst>
          </p:cNvPr>
          <p:cNvSpPr>
            <a:spLocks noGrp="1"/>
          </p:cNvSpPr>
          <p:nvPr/>
        </p:nvSpPr>
        <p:spPr>
          <a:xfrm>
            <a:off x="1333500" y="48196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The money is owed to me, but it has not arrived yet.</a:t>
            </a:r>
          </a:p>
        </p:txBody>
      </p:sp>
      <p:sp>
        <p:nvSpPr>
          <p:cNvPr id="16" name="explanation">
            <a:extLst>
              <a:ext uri="{FF2B5EF4-FFF2-40B4-BE49-F238E27FC236}">
                <a16:creationId xmlns:a16="http://schemas.microsoft.com/office/drawing/2014/main" id="{6AF647D6-4AC6-4237-8983-4A5B01E9CF95}"/>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Assume there are no other cash flows. Take 30 seconds to decide.</a:t>
            </a:r>
          </a:p>
        </p:txBody>
      </p:sp>
      <p:sp>
        <p:nvSpPr>
          <p:cNvPr id="17" name="rule">
            <a:extLst>
              <a:ext uri="{FF2B5EF4-FFF2-40B4-BE49-F238E27FC236}">
                <a16:creationId xmlns:a16="http://schemas.microsoft.com/office/drawing/2014/main" id="{E77FCE93-8609-4CE6-8742-5AF88D9DA813}"/>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8" name="decision-implication">
            <a:extLst>
              <a:ext uri="{FF2B5EF4-FFF2-40B4-BE49-F238E27FC236}">
                <a16:creationId xmlns:a16="http://schemas.microsoft.com/office/drawing/2014/main" id="{00F00642-9E67-4CEF-8A89-3AB7CF8A9273}"/>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Vote: lend €50, lend a smaller amount, or refuse? Explain your choice.</a:t>
            </a:r>
          </a:p>
        </p:txBody>
      </p:sp>
    </p:spTree>
    <p:extLst>
      <p:ext uri="{BB962C8B-B14F-4D97-AF65-F5344CB8AC3E}">
        <p14:creationId xmlns:p14="http://schemas.microsoft.com/office/powerpoint/2010/main" val="158505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6" name="section-reference">
            <a:extLst>
              <a:ext uri="{FF2B5EF4-FFF2-40B4-BE49-F238E27FC236}">
                <a16:creationId xmlns:a16="http://schemas.microsoft.com/office/drawing/2014/main" id="{7B694874-D054-4207-9C0B-25CF3F49CF6A}"/>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1.1</a:t>
            </a:r>
          </a:p>
        </p:txBody>
      </p:sp>
      <p:sp>
        <p:nvSpPr>
          <p:cNvPr id="2" name="slide-title">
            <a:extLst>
              <a:ext uri="{FF2B5EF4-FFF2-40B4-BE49-F238E27FC236}">
                <a16:creationId xmlns:a16="http://schemas.microsoft.com/office/drawing/2014/main" id="{8FF77F15-006B-4064-9BEE-88CA2D4F7435}"/>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The answer: I can lend at most €20</a:t>
            </a:r>
          </a:p>
        </p:txBody>
      </p:sp>
      <p:sp>
        <p:nvSpPr>
          <p:cNvPr id="3" name="slide-number">
            <a:extLst>
              <a:ext uri="{FF2B5EF4-FFF2-40B4-BE49-F238E27FC236}">
                <a16:creationId xmlns:a16="http://schemas.microsoft.com/office/drawing/2014/main" id="{AF2DE21D-8B5A-484C-83AA-38A060145804}"/>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05</a:t>
            </a:r>
          </a:p>
        </p:txBody>
      </p:sp>
      <p:sp>
        <p:nvSpPr>
          <p:cNvPr id="4" name="explanation">
            <a:extLst>
              <a:ext uri="{FF2B5EF4-FFF2-40B4-BE49-F238E27FC236}">
                <a16:creationId xmlns:a16="http://schemas.microsoft.com/office/drawing/2014/main" id="{BA27E4BC-9AFF-4E75-BFD2-C401319FAA49}"/>
              </a:ext>
            </a:extLst>
          </p:cNvPr>
          <p:cNvSpPr>
            <a:spLocks noGrp="1"/>
          </p:cNvSpPr>
          <p:nvPr/>
        </p:nvSpPr>
        <p:spPr>
          <a:xfrm>
            <a:off x="609600" y="1714500"/>
            <a:ext cx="10972800" cy="466725"/>
          </a:xfrm>
          <a:prstGeom prst="rect">
            <a:avLst/>
          </a:prstGeom>
          <a:noFill/>
          <a:ln w="0">
            <a:noFill/>
            <a:prstDash val="solid"/>
          </a:ln>
        </p:spPr>
        <p:txBody>
          <a:bodyPr wrap="square" lIns="0" tIns="0" rIns="0" bIns="0" anchor="t">
            <a:noAutofit/>
          </a:bodyPr>
          <a:lstStyle>
            <a:defPPr algn="l">
              <a:defRPr sz="2100" b="0">
                <a:solidFill>
                  <a:srgbClr val="5B6D77"/>
                </a:solidFill>
                <a:latin typeface="Aptos"/>
                <a:ea typeface="Aptos"/>
                <a:cs typeface="Aptos"/>
              </a:defRPr>
            </a:defPPr>
          </a:lstStyle>
          <a:p>
            <a:pPr algn="l">
              <a:defRPr sz="2100" b="0">
                <a:solidFill>
                  <a:srgbClr val="5B6D77"/>
                </a:solidFill>
                <a:latin typeface="Aptos"/>
                <a:ea typeface="Aptos"/>
                <a:cs typeface="Aptos"/>
              </a:defRPr>
            </a:pPr>
            <a:r>
              <a:rPr sz="2100" b="0">
                <a:solidFill>
                  <a:srgbClr val="5B6D77"/>
                </a:solidFill>
                <a:latin typeface="Aptos"/>
                <a:ea typeface="Aptos"/>
                <a:cs typeface="Aptos"/>
              </a:rPr>
              <a:t>Money owed to me increases my net position; it does not pay tonight’s bill.</a:t>
            </a:r>
          </a:p>
        </p:txBody>
      </p:sp>
      <p:sp>
        <p:nvSpPr>
          <p:cNvPr id="5" name="explanation">
            <a:extLst>
              <a:ext uri="{FF2B5EF4-FFF2-40B4-BE49-F238E27FC236}">
                <a16:creationId xmlns:a16="http://schemas.microsoft.com/office/drawing/2014/main" id="{81393C81-A497-4B3A-8B42-E35B0B0C7087}"/>
              </a:ext>
            </a:extLst>
          </p:cNvPr>
          <p:cNvSpPr>
            <a:spLocks noGrp="1"/>
          </p:cNvSpPr>
          <p:nvPr/>
        </p:nvSpPr>
        <p:spPr>
          <a:xfrm>
            <a:off x="609600" y="2590800"/>
            <a:ext cx="10972800" cy="762000"/>
          </a:xfrm>
          <a:prstGeom prst="rect">
            <a:avLst/>
          </a:prstGeom>
          <a:noFill/>
          <a:ln w="0">
            <a:noFill/>
            <a:prstDash val="solid"/>
          </a:ln>
        </p:spPr>
        <p:txBody>
          <a:bodyPr wrap="square" lIns="0" tIns="0" rIns="0" bIns="0" anchor="t">
            <a:noAutofit/>
          </a:bodyPr>
          <a:lstStyle>
            <a:defPPr algn="l">
              <a:defRPr sz="3225" b="1">
                <a:solidFill>
                  <a:srgbClr val="087F83"/>
                </a:solidFill>
                <a:latin typeface="Aptos"/>
                <a:ea typeface="Aptos"/>
                <a:cs typeface="Aptos"/>
              </a:defRPr>
            </a:defPPr>
          </a:lstStyle>
          <a:p>
            <a:pPr algn="l">
              <a:defRPr sz="3225" b="1">
                <a:solidFill>
                  <a:srgbClr val="087F83"/>
                </a:solidFill>
                <a:latin typeface="Aptos"/>
                <a:ea typeface="Aptos"/>
                <a:cs typeface="Aptos"/>
              </a:defRPr>
            </a:pPr>
            <a:r>
              <a:rPr sz="3225" b="1">
                <a:solidFill>
                  <a:srgbClr val="087F83"/>
                </a:solidFill>
                <a:latin typeface="Aptos"/>
                <a:ea typeface="Aptos"/>
                <a:cs typeface="Aptos"/>
              </a:rPr>
              <a:t>Cash available to lend = €100 − €80 = €20</a:t>
            </a:r>
          </a:p>
        </p:txBody>
      </p:sp>
      <p:sp>
        <p:nvSpPr>
          <p:cNvPr id="6" name="explanation">
            <a:extLst>
              <a:ext uri="{FF2B5EF4-FFF2-40B4-BE49-F238E27FC236}">
                <a16:creationId xmlns:a16="http://schemas.microsoft.com/office/drawing/2014/main" id="{3D718E84-274F-4AF2-BA52-103DF1952CFC}"/>
              </a:ext>
            </a:extLst>
          </p:cNvPr>
          <p:cNvSpPr>
            <a:spLocks noGrp="1"/>
          </p:cNvSpPr>
          <p:nvPr/>
        </p:nvSpPr>
        <p:spPr>
          <a:xfrm>
            <a:off x="609600" y="3762375"/>
            <a:ext cx="2524125" cy="723900"/>
          </a:xfrm>
          <a:prstGeom prst="rect">
            <a:avLst/>
          </a:prstGeom>
          <a:noFill/>
          <a:ln w="0">
            <a:noFill/>
            <a:prstDash val="solid"/>
          </a:ln>
        </p:spPr>
        <p:txBody>
          <a:bodyPr wrap="square" lIns="0" tIns="0" rIns="0" bIns="0" anchor="t">
            <a:noAutofit/>
          </a:bodyPr>
          <a:lstStyle>
            <a:defPPr algn="l">
              <a:defRPr sz="3900" b="1">
                <a:solidFill>
                  <a:srgbClr val="19313F"/>
                </a:solidFill>
                <a:latin typeface="Aptos"/>
                <a:ea typeface="Aptos"/>
                <a:cs typeface="Aptos"/>
              </a:defRPr>
            </a:defPPr>
          </a:lstStyle>
          <a:p>
            <a:pPr algn="l">
              <a:defRPr sz="3900" b="1">
                <a:solidFill>
                  <a:srgbClr val="19313F"/>
                </a:solidFill>
                <a:latin typeface="Aptos"/>
                <a:ea typeface="Aptos"/>
                <a:cs typeface="Aptos"/>
              </a:defRPr>
            </a:pPr>
            <a:r>
              <a:rPr sz="3900" b="1">
                <a:solidFill>
                  <a:srgbClr val="19313F"/>
                </a:solidFill>
                <a:latin typeface="Aptos"/>
                <a:ea typeface="Aptos"/>
                <a:cs typeface="Aptos"/>
              </a:rPr>
              <a:t>€100</a:t>
            </a:r>
          </a:p>
        </p:txBody>
      </p:sp>
      <p:sp>
        <p:nvSpPr>
          <p:cNvPr id="7" name="explanation">
            <a:extLst>
              <a:ext uri="{FF2B5EF4-FFF2-40B4-BE49-F238E27FC236}">
                <a16:creationId xmlns:a16="http://schemas.microsoft.com/office/drawing/2014/main" id="{2042DE80-B195-40AA-8BDB-4EB1D808B603}"/>
              </a:ext>
            </a:extLst>
          </p:cNvPr>
          <p:cNvSpPr>
            <a:spLocks noGrp="1"/>
          </p:cNvSpPr>
          <p:nvPr/>
        </p:nvSpPr>
        <p:spPr>
          <a:xfrm>
            <a:off x="609600" y="4562475"/>
            <a:ext cx="252412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Cash today</a:t>
            </a:r>
          </a:p>
        </p:txBody>
      </p:sp>
      <p:sp>
        <p:nvSpPr>
          <p:cNvPr id="8" name="explanation">
            <a:extLst>
              <a:ext uri="{FF2B5EF4-FFF2-40B4-BE49-F238E27FC236}">
                <a16:creationId xmlns:a16="http://schemas.microsoft.com/office/drawing/2014/main" id="{86DE439E-7537-4701-8D89-CFF45FE9F659}"/>
              </a:ext>
            </a:extLst>
          </p:cNvPr>
          <p:cNvSpPr>
            <a:spLocks noGrp="1"/>
          </p:cNvSpPr>
          <p:nvPr/>
        </p:nvSpPr>
        <p:spPr>
          <a:xfrm>
            <a:off x="3381375" y="3762375"/>
            <a:ext cx="2524125" cy="723900"/>
          </a:xfrm>
          <a:prstGeom prst="rect">
            <a:avLst/>
          </a:prstGeom>
          <a:noFill/>
          <a:ln w="0">
            <a:noFill/>
            <a:prstDash val="solid"/>
          </a:ln>
        </p:spPr>
        <p:txBody>
          <a:bodyPr wrap="square" lIns="0" tIns="0" rIns="0" bIns="0" anchor="t">
            <a:noAutofit/>
          </a:bodyPr>
          <a:lstStyle>
            <a:defPPr algn="l">
              <a:defRPr sz="3900" b="1">
                <a:solidFill>
                  <a:srgbClr val="19313F"/>
                </a:solidFill>
                <a:latin typeface="Aptos"/>
                <a:ea typeface="Aptos"/>
                <a:cs typeface="Aptos"/>
              </a:defRPr>
            </a:defPPr>
          </a:lstStyle>
          <a:p>
            <a:pPr algn="l">
              <a:defRPr sz="3900" b="1">
                <a:solidFill>
                  <a:srgbClr val="19313F"/>
                </a:solidFill>
                <a:latin typeface="Aptos"/>
                <a:ea typeface="Aptos"/>
                <a:cs typeface="Aptos"/>
              </a:defRPr>
            </a:pPr>
            <a:r>
              <a:rPr sz="3900" b="1">
                <a:solidFill>
                  <a:srgbClr val="19313F"/>
                </a:solidFill>
                <a:latin typeface="Aptos"/>
                <a:ea typeface="Aptos"/>
                <a:cs typeface="Aptos"/>
              </a:rPr>
              <a:t>+€150</a:t>
            </a:r>
          </a:p>
        </p:txBody>
      </p:sp>
      <p:sp>
        <p:nvSpPr>
          <p:cNvPr id="9" name="explanation">
            <a:extLst>
              <a:ext uri="{FF2B5EF4-FFF2-40B4-BE49-F238E27FC236}">
                <a16:creationId xmlns:a16="http://schemas.microsoft.com/office/drawing/2014/main" id="{5738B9DE-EF9B-4A2C-8A99-FE64121A8622}"/>
              </a:ext>
            </a:extLst>
          </p:cNvPr>
          <p:cNvSpPr>
            <a:spLocks noGrp="1"/>
          </p:cNvSpPr>
          <p:nvPr/>
        </p:nvSpPr>
        <p:spPr>
          <a:xfrm>
            <a:off x="3381375" y="4562475"/>
            <a:ext cx="252412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Receivable next week</a:t>
            </a:r>
          </a:p>
        </p:txBody>
      </p:sp>
      <p:sp>
        <p:nvSpPr>
          <p:cNvPr id="10" name="explanation">
            <a:extLst>
              <a:ext uri="{FF2B5EF4-FFF2-40B4-BE49-F238E27FC236}">
                <a16:creationId xmlns:a16="http://schemas.microsoft.com/office/drawing/2014/main" id="{F12017B5-FCC1-491E-A178-CE654797D8FC}"/>
              </a:ext>
            </a:extLst>
          </p:cNvPr>
          <p:cNvSpPr>
            <a:spLocks noGrp="1"/>
          </p:cNvSpPr>
          <p:nvPr/>
        </p:nvSpPr>
        <p:spPr>
          <a:xfrm>
            <a:off x="6153150" y="3762375"/>
            <a:ext cx="2524125" cy="723900"/>
          </a:xfrm>
          <a:prstGeom prst="rect">
            <a:avLst/>
          </a:prstGeom>
          <a:noFill/>
          <a:ln w="0">
            <a:noFill/>
            <a:prstDash val="solid"/>
          </a:ln>
        </p:spPr>
        <p:txBody>
          <a:bodyPr wrap="square" lIns="0" tIns="0" rIns="0" bIns="0" anchor="t">
            <a:noAutofit/>
          </a:bodyPr>
          <a:lstStyle>
            <a:defPPr algn="l">
              <a:defRPr sz="3900" b="1">
                <a:solidFill>
                  <a:srgbClr val="19313F"/>
                </a:solidFill>
                <a:latin typeface="Aptos"/>
                <a:ea typeface="Aptos"/>
                <a:cs typeface="Aptos"/>
              </a:defRPr>
            </a:defPPr>
          </a:lstStyle>
          <a:p>
            <a:pPr algn="l">
              <a:defRPr sz="3900" b="1">
                <a:solidFill>
                  <a:srgbClr val="19313F"/>
                </a:solidFill>
                <a:latin typeface="Aptos"/>
                <a:ea typeface="Aptos"/>
                <a:cs typeface="Aptos"/>
              </a:defRPr>
            </a:pPr>
            <a:r>
              <a:rPr sz="3900" b="1">
                <a:solidFill>
                  <a:srgbClr val="19313F"/>
                </a:solidFill>
                <a:latin typeface="Aptos"/>
                <a:ea typeface="Aptos"/>
                <a:cs typeface="Aptos"/>
              </a:rPr>
              <a:t>−€80</a:t>
            </a:r>
          </a:p>
        </p:txBody>
      </p:sp>
      <p:sp>
        <p:nvSpPr>
          <p:cNvPr id="11" name="explanation">
            <a:extLst>
              <a:ext uri="{FF2B5EF4-FFF2-40B4-BE49-F238E27FC236}">
                <a16:creationId xmlns:a16="http://schemas.microsoft.com/office/drawing/2014/main" id="{2853BAC9-D614-4D43-9563-D830EE3E453B}"/>
              </a:ext>
            </a:extLst>
          </p:cNvPr>
          <p:cNvSpPr>
            <a:spLocks noGrp="1"/>
          </p:cNvSpPr>
          <p:nvPr/>
        </p:nvSpPr>
        <p:spPr>
          <a:xfrm>
            <a:off x="6153150" y="4562475"/>
            <a:ext cx="252412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Bill due tonight</a:t>
            </a:r>
          </a:p>
        </p:txBody>
      </p:sp>
      <p:sp>
        <p:nvSpPr>
          <p:cNvPr id="12" name="explanation">
            <a:extLst>
              <a:ext uri="{FF2B5EF4-FFF2-40B4-BE49-F238E27FC236}">
                <a16:creationId xmlns:a16="http://schemas.microsoft.com/office/drawing/2014/main" id="{D61342D9-BA3E-4026-883D-F9A5ED1C4440}"/>
              </a:ext>
            </a:extLst>
          </p:cNvPr>
          <p:cNvSpPr>
            <a:spLocks noGrp="1"/>
          </p:cNvSpPr>
          <p:nvPr/>
        </p:nvSpPr>
        <p:spPr>
          <a:xfrm>
            <a:off x="8924925" y="3762375"/>
            <a:ext cx="2619375" cy="723900"/>
          </a:xfrm>
          <a:prstGeom prst="rect">
            <a:avLst/>
          </a:prstGeom>
          <a:noFill/>
          <a:ln w="0">
            <a:noFill/>
            <a:prstDash val="solid"/>
          </a:ln>
        </p:spPr>
        <p:txBody>
          <a:bodyPr wrap="square" lIns="0" tIns="0" rIns="0" bIns="0" anchor="t">
            <a:noAutofit/>
          </a:bodyPr>
          <a:lstStyle>
            <a:defPPr algn="l">
              <a:defRPr sz="3900" b="1">
                <a:solidFill>
                  <a:srgbClr val="087F83"/>
                </a:solidFill>
                <a:latin typeface="Aptos"/>
                <a:ea typeface="Aptos"/>
                <a:cs typeface="Aptos"/>
              </a:defRPr>
            </a:defPPr>
          </a:lstStyle>
          <a:p>
            <a:pPr algn="l">
              <a:defRPr sz="3900" b="1">
                <a:solidFill>
                  <a:srgbClr val="087F83"/>
                </a:solidFill>
                <a:latin typeface="Aptos"/>
                <a:ea typeface="Aptos"/>
                <a:cs typeface="Aptos"/>
              </a:defRPr>
            </a:pPr>
            <a:r>
              <a:rPr sz="3900" b="1">
                <a:solidFill>
                  <a:srgbClr val="087F83"/>
                </a:solidFill>
                <a:latin typeface="Aptos"/>
                <a:ea typeface="Aptos"/>
                <a:cs typeface="Aptos"/>
              </a:rPr>
              <a:t>€170</a:t>
            </a:r>
          </a:p>
        </p:txBody>
      </p:sp>
      <p:sp>
        <p:nvSpPr>
          <p:cNvPr id="13" name="explanation">
            <a:extLst>
              <a:ext uri="{FF2B5EF4-FFF2-40B4-BE49-F238E27FC236}">
                <a16:creationId xmlns:a16="http://schemas.microsoft.com/office/drawing/2014/main" id="{17CC78DE-0078-4D82-9883-AE7F1FEC1B10}"/>
              </a:ext>
            </a:extLst>
          </p:cNvPr>
          <p:cNvSpPr>
            <a:spLocks noGrp="1"/>
          </p:cNvSpPr>
          <p:nvPr/>
        </p:nvSpPr>
        <p:spPr>
          <a:xfrm>
            <a:off x="8924925" y="4562475"/>
            <a:ext cx="261937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Net position</a:t>
            </a:r>
          </a:p>
        </p:txBody>
      </p:sp>
      <p:sp>
        <p:nvSpPr>
          <p:cNvPr id="14" name="rule">
            <a:extLst>
              <a:ext uri="{FF2B5EF4-FFF2-40B4-BE49-F238E27FC236}">
                <a16:creationId xmlns:a16="http://schemas.microsoft.com/office/drawing/2014/main" id="{5F5F74A6-014B-4E74-A6F6-8EA85901965B}"/>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5" name="decision-implication">
            <a:extLst>
              <a:ext uri="{FF2B5EF4-FFF2-40B4-BE49-F238E27FC236}">
                <a16:creationId xmlns:a16="http://schemas.microsoft.com/office/drawing/2014/main" id="{73BC73CC-10AE-4A55-B35F-4AC97C40DED9}"/>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Lending €50 leaves €50 for an €80 bill: a €30 gap tonight. Next week’s receipt arrives too late.</a:t>
            </a:r>
          </a:p>
        </p:txBody>
      </p:sp>
    </p:spTree>
    <p:extLst>
      <p:ext uri="{BB962C8B-B14F-4D97-AF65-F5344CB8AC3E}">
        <p14:creationId xmlns:p14="http://schemas.microsoft.com/office/powerpoint/2010/main" val="23981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9" name="section-reference">
            <a:extLst>
              <a:ext uri="{FF2B5EF4-FFF2-40B4-BE49-F238E27FC236}">
                <a16:creationId xmlns:a16="http://schemas.microsoft.com/office/drawing/2014/main" id="{4BD637E5-3D0D-492C-B2E2-5CB9DF85E63B}"/>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1.1</a:t>
            </a:r>
          </a:p>
        </p:txBody>
      </p:sp>
      <p:sp>
        <p:nvSpPr>
          <p:cNvPr id="2" name="slide-title">
            <a:extLst>
              <a:ext uri="{FF2B5EF4-FFF2-40B4-BE49-F238E27FC236}">
                <a16:creationId xmlns:a16="http://schemas.microsoft.com/office/drawing/2014/main" id="{7D7C5877-A4AF-45ED-9521-C48597323335}"/>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A profitable company can still run out of cash</a:t>
            </a:r>
          </a:p>
        </p:txBody>
      </p:sp>
      <p:sp>
        <p:nvSpPr>
          <p:cNvPr id="3" name="slide-number">
            <a:extLst>
              <a:ext uri="{FF2B5EF4-FFF2-40B4-BE49-F238E27FC236}">
                <a16:creationId xmlns:a16="http://schemas.microsoft.com/office/drawing/2014/main" id="{10832107-CA32-4AC5-AB0D-127C2BC0026D}"/>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06</a:t>
            </a:r>
          </a:p>
        </p:txBody>
      </p:sp>
      <p:sp>
        <p:nvSpPr>
          <p:cNvPr id="4" name="explanation">
            <a:extLst>
              <a:ext uri="{FF2B5EF4-FFF2-40B4-BE49-F238E27FC236}">
                <a16:creationId xmlns:a16="http://schemas.microsoft.com/office/drawing/2014/main" id="{CDCF02EE-329E-4DF1-8B25-B817BD1DC2A1}"/>
              </a:ext>
            </a:extLst>
          </p:cNvPr>
          <p:cNvSpPr>
            <a:spLocks noGrp="1"/>
          </p:cNvSpPr>
          <p:nvPr/>
        </p:nvSpPr>
        <p:spPr>
          <a:xfrm>
            <a:off x="609600" y="1809750"/>
            <a:ext cx="3952875" cy="723900"/>
          </a:xfrm>
          <a:prstGeom prst="rect">
            <a:avLst/>
          </a:prstGeom>
          <a:noFill/>
          <a:ln w="0">
            <a:noFill/>
            <a:prstDash val="solid"/>
          </a:ln>
        </p:spPr>
        <p:txBody>
          <a:bodyPr wrap="square" lIns="0" tIns="0" rIns="0" bIns="0" anchor="t">
            <a:noAutofit/>
          </a:bodyPr>
          <a:lstStyle>
            <a:defPPr algn="l">
              <a:defRPr sz="3900" b="1">
                <a:solidFill>
                  <a:srgbClr val="087F83"/>
                </a:solidFill>
                <a:latin typeface="Aptos"/>
                <a:ea typeface="Aptos"/>
                <a:cs typeface="Aptos"/>
              </a:defRPr>
            </a:defPPr>
          </a:lstStyle>
          <a:p>
            <a:pPr algn="l">
              <a:defRPr sz="3900" b="1">
                <a:solidFill>
                  <a:srgbClr val="087F83"/>
                </a:solidFill>
                <a:latin typeface="Aptos"/>
                <a:ea typeface="Aptos"/>
                <a:cs typeface="Aptos"/>
              </a:defRPr>
            </a:pPr>
            <a:r>
              <a:rPr sz="3900" b="1">
                <a:solidFill>
                  <a:srgbClr val="087F83"/>
                </a:solidFill>
                <a:latin typeface="Aptos"/>
                <a:ea typeface="Aptos"/>
                <a:cs typeface="Aptos"/>
              </a:rPr>
              <a:t>€12m</a:t>
            </a:r>
          </a:p>
        </p:txBody>
      </p:sp>
      <p:sp>
        <p:nvSpPr>
          <p:cNvPr id="5" name="explanation">
            <a:extLst>
              <a:ext uri="{FF2B5EF4-FFF2-40B4-BE49-F238E27FC236}">
                <a16:creationId xmlns:a16="http://schemas.microsoft.com/office/drawing/2014/main" id="{CC464B4B-27A2-4D0E-BB99-8CD241C34D1B}"/>
              </a:ext>
            </a:extLst>
          </p:cNvPr>
          <p:cNvSpPr>
            <a:spLocks noGrp="1"/>
          </p:cNvSpPr>
          <p:nvPr/>
        </p:nvSpPr>
        <p:spPr>
          <a:xfrm>
            <a:off x="609600" y="2609850"/>
            <a:ext cx="395287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Annual EBITDA</a:t>
            </a:r>
          </a:p>
        </p:txBody>
      </p:sp>
      <p:sp>
        <p:nvSpPr>
          <p:cNvPr id="6" name="explanation">
            <a:extLst>
              <a:ext uri="{FF2B5EF4-FFF2-40B4-BE49-F238E27FC236}">
                <a16:creationId xmlns:a16="http://schemas.microsoft.com/office/drawing/2014/main" id="{4FA1CE0B-CE77-4D25-9AE1-DBB055E1E091}"/>
              </a:ext>
            </a:extLst>
          </p:cNvPr>
          <p:cNvSpPr>
            <a:spLocks noGrp="1"/>
          </p:cNvSpPr>
          <p:nvPr/>
        </p:nvSpPr>
        <p:spPr>
          <a:xfrm>
            <a:off x="609600" y="3362325"/>
            <a:ext cx="3952875" cy="819150"/>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Performance is positive.</a:t>
            </a:r>
          </a:p>
        </p:txBody>
      </p:sp>
      <p:sp>
        <p:nvSpPr>
          <p:cNvPr id="7" name="explanation">
            <a:extLst>
              <a:ext uri="{FF2B5EF4-FFF2-40B4-BE49-F238E27FC236}">
                <a16:creationId xmlns:a16="http://schemas.microsoft.com/office/drawing/2014/main" id="{E3F30B6F-87F7-4DCF-BF25-8E0E0749A49F}"/>
              </a:ext>
            </a:extLst>
          </p:cNvPr>
          <p:cNvSpPr>
            <a:spLocks noGrp="1"/>
          </p:cNvSpPr>
          <p:nvPr/>
        </p:nvSpPr>
        <p:spPr>
          <a:xfrm>
            <a:off x="6238875" y="1809750"/>
            <a:ext cx="4762500" cy="723900"/>
          </a:xfrm>
          <a:prstGeom prst="rect">
            <a:avLst/>
          </a:prstGeom>
          <a:noFill/>
          <a:ln w="0">
            <a:noFill/>
            <a:prstDash val="solid"/>
          </a:ln>
        </p:spPr>
        <p:txBody>
          <a:bodyPr wrap="square" lIns="0" tIns="0" rIns="0" bIns="0" anchor="t">
            <a:noAutofit/>
          </a:bodyPr>
          <a:lstStyle>
            <a:defPPr algn="l">
              <a:defRPr sz="3900" b="1">
                <a:solidFill>
                  <a:srgbClr val="B4453F"/>
                </a:solidFill>
                <a:latin typeface="Aptos"/>
                <a:ea typeface="Aptos"/>
                <a:cs typeface="Aptos"/>
              </a:defRPr>
            </a:defPPr>
          </a:lstStyle>
          <a:p>
            <a:pPr algn="l">
              <a:defRPr sz="3900" b="1">
                <a:solidFill>
                  <a:srgbClr val="B4453F"/>
                </a:solidFill>
                <a:latin typeface="Aptos"/>
                <a:ea typeface="Aptos"/>
                <a:cs typeface="Aptos"/>
              </a:defRPr>
            </a:pPr>
            <a:r>
              <a:rPr sz="3900" b="1">
                <a:solidFill>
                  <a:srgbClr val="B4453F"/>
                </a:solidFill>
                <a:latin typeface="Aptos"/>
                <a:ea typeface="Aptos"/>
                <a:cs typeface="Aptos"/>
              </a:rPr>
              <a:t>€8m</a:t>
            </a:r>
          </a:p>
        </p:txBody>
      </p:sp>
      <p:sp>
        <p:nvSpPr>
          <p:cNvPr id="8" name="explanation">
            <a:extLst>
              <a:ext uri="{FF2B5EF4-FFF2-40B4-BE49-F238E27FC236}">
                <a16:creationId xmlns:a16="http://schemas.microsoft.com/office/drawing/2014/main" id="{3BC5917F-77CE-42DC-B177-05810C395F6D}"/>
              </a:ext>
            </a:extLst>
          </p:cNvPr>
          <p:cNvSpPr>
            <a:spLocks noGrp="1"/>
          </p:cNvSpPr>
          <p:nvPr/>
        </p:nvSpPr>
        <p:spPr>
          <a:xfrm>
            <a:off x="6238875" y="2609850"/>
            <a:ext cx="4762500"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Wages &amp; suppliers due</a:t>
            </a:r>
          </a:p>
        </p:txBody>
      </p:sp>
      <p:sp>
        <p:nvSpPr>
          <p:cNvPr id="9" name="explanation">
            <a:extLst>
              <a:ext uri="{FF2B5EF4-FFF2-40B4-BE49-F238E27FC236}">
                <a16:creationId xmlns:a16="http://schemas.microsoft.com/office/drawing/2014/main" id="{40484211-FCD7-4146-A826-4B6A54D50B52}"/>
              </a:ext>
            </a:extLst>
          </p:cNvPr>
          <p:cNvSpPr>
            <a:spLocks noGrp="1"/>
          </p:cNvSpPr>
          <p:nvPr/>
        </p:nvSpPr>
        <p:spPr>
          <a:xfrm>
            <a:off x="6238875" y="3362325"/>
            <a:ext cx="4762500" cy="819150"/>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Payments fall before customer settlement.</a:t>
            </a:r>
          </a:p>
        </p:txBody>
      </p:sp>
      <p:sp>
        <p:nvSpPr>
          <p:cNvPr id="10" name="rule">
            <a:extLst>
              <a:ext uri="{FF2B5EF4-FFF2-40B4-BE49-F238E27FC236}">
                <a16:creationId xmlns:a16="http://schemas.microsoft.com/office/drawing/2014/main" id="{ABFC6A98-C33B-4599-A274-118D01583242}"/>
              </a:ext>
            </a:extLst>
          </p:cNvPr>
          <p:cNvSpPr>
            <a:spLocks noGrp="1"/>
          </p:cNvSpPr>
          <p:nvPr/>
        </p:nvSpPr>
        <p:spPr>
          <a:xfrm>
            <a:off x="609600" y="4524375"/>
            <a:ext cx="10972800" cy="0"/>
          </a:xfrm>
          <a:prstGeom prst="line">
            <a:avLst/>
          </a:prstGeom>
          <a:noFill/>
          <a:ln w="19050">
            <a:solidFill>
              <a:srgbClr val="CCD6D9"/>
            </a:solidFill>
            <a:prstDash val="solid"/>
          </a:ln>
        </p:spPr>
        <p:txBody>
          <a:bodyPr/>
          <a:lstStyle/>
          <a:p>
            <a:endParaRPr lang="fr-FR"/>
          </a:p>
        </p:txBody>
      </p:sp>
      <p:sp>
        <p:nvSpPr>
          <p:cNvPr id="11" name="explanation">
            <a:extLst>
              <a:ext uri="{FF2B5EF4-FFF2-40B4-BE49-F238E27FC236}">
                <a16:creationId xmlns:a16="http://schemas.microsoft.com/office/drawing/2014/main" id="{4C0FD385-50EF-4FE4-A434-09AF602A4E04}"/>
              </a:ext>
            </a:extLst>
          </p:cNvPr>
          <p:cNvSpPr>
            <a:spLocks noGrp="1"/>
          </p:cNvSpPr>
          <p:nvPr/>
        </p:nvSpPr>
        <p:spPr>
          <a:xfrm>
            <a:off x="609600" y="4657725"/>
            <a:ext cx="2381250" cy="285750"/>
          </a:xfrm>
          <a:prstGeom prst="rect">
            <a:avLst/>
          </a:prstGeom>
          <a:noFill/>
          <a:ln w="0">
            <a:noFill/>
            <a:prstDash val="solid"/>
          </a:ln>
        </p:spPr>
        <p:txBody>
          <a:bodyPr wrap="square" lIns="0" tIns="0" rIns="0" bIns="0" anchor="t">
            <a:noAutofit/>
          </a:bodyPr>
          <a:lstStyle>
            <a:defPPr algn="l">
              <a:defRPr sz="1500" b="1">
                <a:solidFill>
                  <a:srgbClr val="5B6D77"/>
                </a:solidFill>
                <a:latin typeface="Aptos"/>
                <a:ea typeface="Aptos"/>
                <a:cs typeface="Aptos"/>
              </a:defRPr>
            </a:defPPr>
          </a:lstStyle>
          <a:p>
            <a:pPr algn="l">
              <a:defRPr sz="1500" b="1">
                <a:solidFill>
                  <a:srgbClr val="5B6D77"/>
                </a:solidFill>
                <a:latin typeface="Aptos"/>
                <a:ea typeface="Aptos"/>
                <a:cs typeface="Aptos"/>
              </a:defRPr>
            </a:pPr>
            <a:r>
              <a:rPr sz="1500" b="1">
                <a:solidFill>
                  <a:srgbClr val="5B6D77"/>
                </a:solidFill>
                <a:latin typeface="Aptos"/>
                <a:ea typeface="Aptos"/>
                <a:cs typeface="Aptos"/>
              </a:rPr>
              <a:t>DAY 0</a:t>
            </a:r>
          </a:p>
        </p:txBody>
      </p:sp>
      <p:sp>
        <p:nvSpPr>
          <p:cNvPr id="12" name="explanation">
            <a:extLst>
              <a:ext uri="{FF2B5EF4-FFF2-40B4-BE49-F238E27FC236}">
                <a16:creationId xmlns:a16="http://schemas.microsoft.com/office/drawing/2014/main" id="{75B30679-6F58-49D5-88F4-641DF581CBB5}"/>
              </a:ext>
            </a:extLst>
          </p:cNvPr>
          <p:cNvSpPr>
            <a:spLocks noGrp="1"/>
          </p:cNvSpPr>
          <p:nvPr/>
        </p:nvSpPr>
        <p:spPr>
          <a:xfrm>
            <a:off x="5286375" y="4657725"/>
            <a:ext cx="2381250" cy="285750"/>
          </a:xfrm>
          <a:prstGeom prst="rect">
            <a:avLst/>
          </a:prstGeom>
          <a:noFill/>
          <a:ln w="0">
            <a:noFill/>
            <a:prstDash val="solid"/>
          </a:ln>
        </p:spPr>
        <p:txBody>
          <a:bodyPr wrap="square" lIns="0" tIns="0" rIns="0" bIns="0" anchor="t">
            <a:noAutofit/>
          </a:bodyPr>
          <a:lstStyle>
            <a:defPPr algn="l">
              <a:defRPr sz="1500" b="1">
                <a:solidFill>
                  <a:srgbClr val="5B6D77"/>
                </a:solidFill>
                <a:latin typeface="Aptos"/>
                <a:ea typeface="Aptos"/>
                <a:cs typeface="Aptos"/>
              </a:defRPr>
            </a:defPPr>
          </a:lstStyle>
          <a:p>
            <a:pPr algn="l">
              <a:defRPr sz="1500" b="1">
                <a:solidFill>
                  <a:srgbClr val="5B6D77"/>
                </a:solidFill>
                <a:latin typeface="Aptos"/>
                <a:ea typeface="Aptos"/>
                <a:cs typeface="Aptos"/>
              </a:defRPr>
            </a:pPr>
            <a:r>
              <a:rPr sz="1500" b="1">
                <a:solidFill>
                  <a:srgbClr val="5B6D77"/>
                </a:solidFill>
                <a:latin typeface="Aptos"/>
                <a:ea typeface="Aptos"/>
                <a:cs typeface="Aptos"/>
              </a:rPr>
              <a:t>DAY 30</a:t>
            </a:r>
          </a:p>
        </p:txBody>
      </p:sp>
      <p:sp>
        <p:nvSpPr>
          <p:cNvPr id="13" name="explanation">
            <a:extLst>
              <a:ext uri="{FF2B5EF4-FFF2-40B4-BE49-F238E27FC236}">
                <a16:creationId xmlns:a16="http://schemas.microsoft.com/office/drawing/2014/main" id="{FA5C9487-3F61-499B-AFDF-B89FC7E22D16}"/>
              </a:ext>
            </a:extLst>
          </p:cNvPr>
          <p:cNvSpPr>
            <a:spLocks noGrp="1"/>
          </p:cNvSpPr>
          <p:nvPr/>
        </p:nvSpPr>
        <p:spPr>
          <a:xfrm>
            <a:off x="9525000" y="4657725"/>
            <a:ext cx="2381250" cy="285750"/>
          </a:xfrm>
          <a:prstGeom prst="rect">
            <a:avLst/>
          </a:prstGeom>
          <a:noFill/>
          <a:ln w="0">
            <a:noFill/>
            <a:prstDash val="solid"/>
          </a:ln>
        </p:spPr>
        <p:txBody>
          <a:bodyPr wrap="square" lIns="0" tIns="0" rIns="0" bIns="0" anchor="t">
            <a:noAutofit/>
          </a:bodyPr>
          <a:lstStyle>
            <a:defPPr algn="l">
              <a:defRPr sz="1500" b="1">
                <a:solidFill>
                  <a:srgbClr val="5B6D77"/>
                </a:solidFill>
                <a:latin typeface="Aptos"/>
                <a:ea typeface="Aptos"/>
                <a:cs typeface="Aptos"/>
              </a:defRPr>
            </a:defPPr>
          </a:lstStyle>
          <a:p>
            <a:pPr algn="l">
              <a:defRPr sz="1500" b="1">
                <a:solidFill>
                  <a:srgbClr val="5B6D77"/>
                </a:solidFill>
                <a:latin typeface="Aptos"/>
                <a:ea typeface="Aptos"/>
                <a:cs typeface="Aptos"/>
              </a:defRPr>
            </a:pPr>
            <a:r>
              <a:rPr sz="1500" b="1">
                <a:solidFill>
                  <a:srgbClr val="5B6D77"/>
                </a:solidFill>
                <a:latin typeface="Aptos"/>
                <a:ea typeface="Aptos"/>
                <a:cs typeface="Aptos"/>
              </a:rPr>
              <a:t>DAY 60</a:t>
            </a:r>
          </a:p>
        </p:txBody>
      </p:sp>
      <p:sp>
        <p:nvSpPr>
          <p:cNvPr id="14" name="explanation">
            <a:extLst>
              <a:ext uri="{FF2B5EF4-FFF2-40B4-BE49-F238E27FC236}">
                <a16:creationId xmlns:a16="http://schemas.microsoft.com/office/drawing/2014/main" id="{143D75D5-1A2E-4343-A6B9-E77A52707065}"/>
              </a:ext>
            </a:extLst>
          </p:cNvPr>
          <p:cNvSpPr>
            <a:spLocks noGrp="1"/>
          </p:cNvSpPr>
          <p:nvPr/>
        </p:nvSpPr>
        <p:spPr>
          <a:xfrm>
            <a:off x="609600" y="5067300"/>
            <a:ext cx="3238500" cy="619125"/>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Deliver &amp; recognise profit</a:t>
            </a:r>
          </a:p>
        </p:txBody>
      </p:sp>
      <p:sp>
        <p:nvSpPr>
          <p:cNvPr id="15" name="explanation">
            <a:extLst>
              <a:ext uri="{FF2B5EF4-FFF2-40B4-BE49-F238E27FC236}">
                <a16:creationId xmlns:a16="http://schemas.microsoft.com/office/drawing/2014/main" id="{0B176AC0-D8C8-42E2-BF63-A7CCCCA507DA}"/>
              </a:ext>
            </a:extLst>
          </p:cNvPr>
          <p:cNvSpPr>
            <a:spLocks noGrp="1"/>
          </p:cNvSpPr>
          <p:nvPr/>
        </p:nvSpPr>
        <p:spPr>
          <a:xfrm>
            <a:off x="5286375" y="5067300"/>
            <a:ext cx="3048000" cy="619125"/>
          </a:xfrm>
          <a:prstGeom prst="rect">
            <a:avLst/>
          </a:prstGeom>
          <a:noFill/>
          <a:ln w="0">
            <a:noFill/>
            <a:prstDash val="solid"/>
          </a:ln>
        </p:spPr>
        <p:txBody>
          <a:bodyPr wrap="square" lIns="0" tIns="0" rIns="0" bIns="0" anchor="t">
            <a:noAutofit/>
          </a:bodyPr>
          <a:lstStyle>
            <a:defPPr algn="l">
              <a:defRPr sz="2025" b="1">
                <a:solidFill>
                  <a:srgbClr val="B4453F"/>
                </a:solidFill>
                <a:latin typeface="Aptos"/>
                <a:ea typeface="Aptos"/>
                <a:cs typeface="Aptos"/>
              </a:defRPr>
            </a:defPPr>
          </a:lstStyle>
          <a:p>
            <a:pPr algn="l">
              <a:defRPr sz="2025" b="1">
                <a:solidFill>
                  <a:srgbClr val="B4453F"/>
                </a:solidFill>
                <a:latin typeface="Aptos"/>
                <a:ea typeface="Aptos"/>
                <a:cs typeface="Aptos"/>
              </a:defRPr>
            </a:pPr>
            <a:r>
              <a:rPr sz="2025" b="1">
                <a:solidFill>
                  <a:srgbClr val="B4453F"/>
                </a:solidFill>
                <a:latin typeface="Aptos"/>
                <a:ea typeface="Aptos"/>
                <a:cs typeface="Aptos"/>
              </a:rPr>
              <a:t>Pay obligations</a:t>
            </a:r>
          </a:p>
        </p:txBody>
      </p:sp>
      <p:sp>
        <p:nvSpPr>
          <p:cNvPr id="16" name="explanation">
            <a:extLst>
              <a:ext uri="{FF2B5EF4-FFF2-40B4-BE49-F238E27FC236}">
                <a16:creationId xmlns:a16="http://schemas.microsoft.com/office/drawing/2014/main" id="{2EE84ABE-4B46-4B3E-83C9-E20DBCF36FF6}"/>
              </a:ext>
            </a:extLst>
          </p:cNvPr>
          <p:cNvSpPr>
            <a:spLocks noGrp="1"/>
          </p:cNvSpPr>
          <p:nvPr/>
        </p:nvSpPr>
        <p:spPr>
          <a:xfrm>
            <a:off x="9525000" y="5067300"/>
            <a:ext cx="2190750" cy="619125"/>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Collect receipts</a:t>
            </a:r>
          </a:p>
        </p:txBody>
      </p:sp>
      <p:sp>
        <p:nvSpPr>
          <p:cNvPr id="17" name="rule">
            <a:extLst>
              <a:ext uri="{FF2B5EF4-FFF2-40B4-BE49-F238E27FC236}">
                <a16:creationId xmlns:a16="http://schemas.microsoft.com/office/drawing/2014/main" id="{B9762CE0-A5D6-4FD8-9FF6-9376D1DD93FF}"/>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8" name="decision-implication">
            <a:extLst>
              <a:ext uri="{FF2B5EF4-FFF2-40B4-BE49-F238E27FC236}">
                <a16:creationId xmlns:a16="http://schemas.microsoft.com/office/drawing/2014/main" id="{AD9F2F39-95B8-4CB0-BA03-4265CDA806F1}"/>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The cash must be available before the payment date. EBITDA cannot fill a timing gap.</a:t>
            </a:r>
          </a:p>
        </p:txBody>
      </p:sp>
    </p:spTree>
    <p:extLst>
      <p:ext uri="{BB962C8B-B14F-4D97-AF65-F5344CB8AC3E}">
        <p14:creationId xmlns:p14="http://schemas.microsoft.com/office/powerpoint/2010/main" val="17043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9" name="section-reference">
            <a:extLst>
              <a:ext uri="{FF2B5EF4-FFF2-40B4-BE49-F238E27FC236}">
                <a16:creationId xmlns:a16="http://schemas.microsoft.com/office/drawing/2014/main" id="{88B0EB21-E037-4C4B-990C-7C591073E006}"/>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1.1</a:t>
            </a:r>
          </a:p>
        </p:txBody>
      </p:sp>
      <p:sp>
        <p:nvSpPr>
          <p:cNvPr id="2" name="slide-title">
            <a:extLst>
              <a:ext uri="{FF2B5EF4-FFF2-40B4-BE49-F238E27FC236}">
                <a16:creationId xmlns:a16="http://schemas.microsoft.com/office/drawing/2014/main" id="{F84A47D8-D361-4B32-83E6-8478929C1EE5}"/>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The Treasury mandate</a:t>
            </a:r>
          </a:p>
        </p:txBody>
      </p:sp>
      <p:sp>
        <p:nvSpPr>
          <p:cNvPr id="3" name="slide-number">
            <a:extLst>
              <a:ext uri="{FF2B5EF4-FFF2-40B4-BE49-F238E27FC236}">
                <a16:creationId xmlns:a16="http://schemas.microsoft.com/office/drawing/2014/main" id="{5F4B90A5-D6CD-42B5-9DCC-63CDFDBF037D}"/>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07</a:t>
            </a:r>
          </a:p>
        </p:txBody>
      </p:sp>
      <p:sp>
        <p:nvSpPr>
          <p:cNvPr id="4" name="diagram-node">
            <a:extLst>
              <a:ext uri="{FF2B5EF4-FFF2-40B4-BE49-F238E27FC236}">
                <a16:creationId xmlns:a16="http://schemas.microsoft.com/office/drawing/2014/main" id="{545D86DA-3C06-43AD-8EE6-569FE2ED1157}"/>
              </a:ext>
            </a:extLst>
          </p:cNvPr>
          <p:cNvSpPr>
            <a:spLocks noGrp="1"/>
          </p:cNvSpPr>
          <p:nvPr/>
        </p:nvSpPr>
        <p:spPr>
          <a:xfrm>
            <a:off x="609600" y="2486025"/>
            <a:ext cx="2457450" cy="1762125"/>
          </a:xfrm>
          <a:prstGeom prst="rect">
            <a:avLst/>
          </a:prstGeom>
          <a:solidFill>
            <a:srgbClr val="142D3B"/>
          </a:solidFill>
          <a:ln w="0">
            <a:noFill/>
            <a:prstDash val="solid"/>
          </a:ln>
        </p:spPr>
        <p:txBody>
          <a:bodyPr/>
          <a:lstStyle/>
          <a:p>
            <a:endParaRPr lang="fr-FR"/>
          </a:p>
        </p:txBody>
      </p:sp>
      <p:sp>
        <p:nvSpPr>
          <p:cNvPr id="5" name="explanation">
            <a:extLst>
              <a:ext uri="{FF2B5EF4-FFF2-40B4-BE49-F238E27FC236}">
                <a16:creationId xmlns:a16="http://schemas.microsoft.com/office/drawing/2014/main" id="{308B25C9-0328-4717-A1F1-D5B72F9AFE35}"/>
              </a:ext>
            </a:extLst>
          </p:cNvPr>
          <p:cNvSpPr>
            <a:spLocks noGrp="1"/>
          </p:cNvSpPr>
          <p:nvPr/>
        </p:nvSpPr>
        <p:spPr>
          <a:xfrm>
            <a:off x="781050" y="2667000"/>
            <a:ext cx="2114550" cy="571500"/>
          </a:xfrm>
          <a:prstGeom prst="rect">
            <a:avLst/>
          </a:prstGeom>
          <a:noFill/>
          <a:ln w="0">
            <a:noFill/>
            <a:prstDash val="solid"/>
          </a:ln>
        </p:spPr>
        <p:txBody>
          <a:bodyPr wrap="square" lIns="0" tIns="0" rIns="0" bIns="0" anchor="t">
            <a:noAutofit/>
          </a:bodyPr>
          <a:lstStyle>
            <a:defPPr algn="l">
              <a:defRPr sz="2025" b="1">
                <a:solidFill>
                  <a:srgbClr val="FFFFFF"/>
                </a:solidFill>
                <a:latin typeface="Aptos"/>
                <a:ea typeface="Aptos"/>
                <a:cs typeface="Aptos"/>
              </a:defRPr>
            </a:defPPr>
          </a:lstStyle>
          <a:p>
            <a:pPr algn="l">
              <a:defRPr sz="2025" b="1">
                <a:solidFill>
                  <a:srgbClr val="FFFFFF"/>
                </a:solidFill>
                <a:latin typeface="Aptos"/>
                <a:ea typeface="Aptos"/>
                <a:cs typeface="Aptos"/>
              </a:defRPr>
            </a:pPr>
            <a:r>
              <a:rPr sz="2025" b="1">
                <a:solidFill>
                  <a:srgbClr val="FFFFFF"/>
                </a:solidFill>
                <a:latin typeface="Aptos"/>
                <a:ea typeface="Aptos"/>
                <a:cs typeface="Aptos"/>
              </a:rPr>
              <a:t>Liquidity protection</a:t>
            </a:r>
          </a:p>
        </p:txBody>
      </p:sp>
      <p:sp>
        <p:nvSpPr>
          <p:cNvPr id="6" name="explanation">
            <a:extLst>
              <a:ext uri="{FF2B5EF4-FFF2-40B4-BE49-F238E27FC236}">
                <a16:creationId xmlns:a16="http://schemas.microsoft.com/office/drawing/2014/main" id="{89FD2BEF-9BD2-4629-92D4-CE5016B1DF1E}"/>
              </a:ext>
            </a:extLst>
          </p:cNvPr>
          <p:cNvSpPr>
            <a:spLocks noGrp="1"/>
          </p:cNvSpPr>
          <p:nvPr/>
        </p:nvSpPr>
        <p:spPr>
          <a:xfrm>
            <a:off x="781050" y="3267075"/>
            <a:ext cx="2114550" cy="923925"/>
          </a:xfrm>
          <a:prstGeom prst="rect">
            <a:avLst/>
          </a:prstGeom>
          <a:noFill/>
          <a:ln w="0">
            <a:noFill/>
            <a:prstDash val="solid"/>
          </a:ln>
        </p:spPr>
        <p:txBody>
          <a:bodyPr wrap="square" lIns="0" tIns="0" rIns="0" bIns="0" anchor="t">
            <a:noAutofit/>
          </a:bodyPr>
          <a:lstStyle>
            <a:defPPr algn="l">
              <a:defRPr sz="1650" b="0">
                <a:solidFill>
                  <a:srgbClr val="DCE7E9"/>
                </a:solidFill>
                <a:latin typeface="Aptos"/>
                <a:ea typeface="Aptos"/>
                <a:cs typeface="Aptos"/>
              </a:defRPr>
            </a:defPPr>
          </a:lstStyle>
          <a:p>
            <a:pPr algn="l">
              <a:defRPr sz="1650" b="0">
                <a:solidFill>
                  <a:srgbClr val="DCE7E9"/>
                </a:solidFill>
                <a:latin typeface="Aptos"/>
                <a:ea typeface="Aptos"/>
                <a:cs typeface="Aptos"/>
              </a:defRPr>
            </a:pPr>
            <a:r>
              <a:rPr sz="1650" b="0">
                <a:solidFill>
                  <a:srgbClr val="DCE7E9"/>
                </a:solidFill>
                <a:latin typeface="Aptos"/>
                <a:ea typeface="Aptos"/>
                <a:cs typeface="Aptos"/>
              </a:rPr>
              <a:t>Pay obligations when due</a:t>
            </a:r>
          </a:p>
        </p:txBody>
      </p:sp>
      <p:sp>
        <p:nvSpPr>
          <p:cNvPr id="7" name="diagram-node">
            <a:extLst>
              <a:ext uri="{FF2B5EF4-FFF2-40B4-BE49-F238E27FC236}">
                <a16:creationId xmlns:a16="http://schemas.microsoft.com/office/drawing/2014/main" id="{66990017-8088-4563-BA17-B0880B53DFF9}"/>
              </a:ext>
            </a:extLst>
          </p:cNvPr>
          <p:cNvSpPr>
            <a:spLocks noGrp="1"/>
          </p:cNvSpPr>
          <p:nvPr/>
        </p:nvSpPr>
        <p:spPr>
          <a:xfrm>
            <a:off x="3448050" y="2486025"/>
            <a:ext cx="2457450" cy="1762125"/>
          </a:xfrm>
          <a:prstGeom prst="rect">
            <a:avLst/>
          </a:prstGeom>
          <a:solidFill>
            <a:srgbClr val="DCEEE9"/>
          </a:solidFill>
          <a:ln w="0">
            <a:noFill/>
            <a:prstDash val="solid"/>
          </a:ln>
        </p:spPr>
        <p:txBody>
          <a:bodyPr/>
          <a:lstStyle/>
          <a:p>
            <a:endParaRPr lang="fr-FR"/>
          </a:p>
        </p:txBody>
      </p:sp>
      <p:sp>
        <p:nvSpPr>
          <p:cNvPr id="8" name="explanation">
            <a:extLst>
              <a:ext uri="{FF2B5EF4-FFF2-40B4-BE49-F238E27FC236}">
                <a16:creationId xmlns:a16="http://schemas.microsoft.com/office/drawing/2014/main" id="{9E499762-E8D6-4388-8B4B-BA658540DB09}"/>
              </a:ext>
            </a:extLst>
          </p:cNvPr>
          <p:cNvSpPr>
            <a:spLocks noGrp="1"/>
          </p:cNvSpPr>
          <p:nvPr/>
        </p:nvSpPr>
        <p:spPr>
          <a:xfrm>
            <a:off x="3619500" y="2667000"/>
            <a:ext cx="2114550" cy="5715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Financing decisions</a:t>
            </a:r>
          </a:p>
        </p:txBody>
      </p:sp>
      <p:sp>
        <p:nvSpPr>
          <p:cNvPr id="9" name="explanation">
            <a:extLst>
              <a:ext uri="{FF2B5EF4-FFF2-40B4-BE49-F238E27FC236}">
                <a16:creationId xmlns:a16="http://schemas.microsoft.com/office/drawing/2014/main" id="{D3784467-6F4A-4CDA-A251-03B5E52FE14A}"/>
              </a:ext>
            </a:extLst>
          </p:cNvPr>
          <p:cNvSpPr>
            <a:spLocks noGrp="1"/>
          </p:cNvSpPr>
          <p:nvPr/>
        </p:nvSpPr>
        <p:spPr>
          <a:xfrm>
            <a:off x="3619500" y="3267075"/>
            <a:ext cx="2114550" cy="923925"/>
          </a:xfrm>
          <a:prstGeom prst="rect">
            <a:avLst/>
          </a:prstGeom>
          <a:noFill/>
          <a:ln w="0">
            <a:noFill/>
            <a:prstDash val="solid"/>
          </a:ln>
        </p:spPr>
        <p:txBody>
          <a:bodyPr wrap="square" lIns="0" tIns="0" rIns="0" bIns="0" anchor="t">
            <a:noAutofit/>
          </a:bodyPr>
          <a:lstStyle>
            <a:defPPr algn="l">
              <a:defRPr sz="1650" b="0">
                <a:solidFill>
                  <a:srgbClr val="19313F"/>
                </a:solidFill>
                <a:latin typeface="Aptos"/>
                <a:ea typeface="Aptos"/>
                <a:cs typeface="Aptos"/>
              </a:defRPr>
            </a:defPPr>
          </a:lstStyle>
          <a:p>
            <a:pPr algn="l">
              <a:defRPr sz="1650" b="0">
                <a:solidFill>
                  <a:srgbClr val="19313F"/>
                </a:solidFill>
                <a:latin typeface="Aptos"/>
                <a:ea typeface="Aptos"/>
                <a:cs typeface="Aptos"/>
              </a:defRPr>
            </a:pPr>
            <a:r>
              <a:rPr sz="1650" b="0">
                <a:solidFill>
                  <a:srgbClr val="19313F"/>
                </a:solidFill>
                <a:latin typeface="Aptos"/>
                <a:ea typeface="Aptos"/>
                <a:cs typeface="Aptos"/>
              </a:rPr>
              <a:t>Finance growth and assets</a:t>
            </a:r>
          </a:p>
        </p:txBody>
      </p:sp>
      <p:sp>
        <p:nvSpPr>
          <p:cNvPr id="10" name="diagram-node">
            <a:extLst>
              <a:ext uri="{FF2B5EF4-FFF2-40B4-BE49-F238E27FC236}">
                <a16:creationId xmlns:a16="http://schemas.microsoft.com/office/drawing/2014/main" id="{B4B0BE56-F7F1-444D-8017-48FBE1381FB5}"/>
              </a:ext>
            </a:extLst>
          </p:cNvPr>
          <p:cNvSpPr>
            <a:spLocks noGrp="1"/>
          </p:cNvSpPr>
          <p:nvPr/>
        </p:nvSpPr>
        <p:spPr>
          <a:xfrm>
            <a:off x="6286500" y="2486025"/>
            <a:ext cx="2457450" cy="1762125"/>
          </a:xfrm>
          <a:prstGeom prst="rect">
            <a:avLst/>
          </a:prstGeom>
          <a:solidFill>
            <a:srgbClr val="142D3B"/>
          </a:solidFill>
          <a:ln w="0">
            <a:noFill/>
            <a:prstDash val="solid"/>
          </a:ln>
        </p:spPr>
        <p:txBody>
          <a:bodyPr/>
          <a:lstStyle/>
          <a:p>
            <a:endParaRPr lang="fr-FR"/>
          </a:p>
        </p:txBody>
      </p:sp>
      <p:sp>
        <p:nvSpPr>
          <p:cNvPr id="11" name="explanation">
            <a:extLst>
              <a:ext uri="{FF2B5EF4-FFF2-40B4-BE49-F238E27FC236}">
                <a16:creationId xmlns:a16="http://schemas.microsoft.com/office/drawing/2014/main" id="{A290279C-A77C-4522-951E-5401464A1F79}"/>
              </a:ext>
            </a:extLst>
          </p:cNvPr>
          <p:cNvSpPr>
            <a:spLocks noGrp="1"/>
          </p:cNvSpPr>
          <p:nvPr/>
        </p:nvSpPr>
        <p:spPr>
          <a:xfrm>
            <a:off x="6457950" y="2667000"/>
            <a:ext cx="2114550" cy="571500"/>
          </a:xfrm>
          <a:prstGeom prst="rect">
            <a:avLst/>
          </a:prstGeom>
          <a:noFill/>
          <a:ln w="0">
            <a:noFill/>
            <a:prstDash val="solid"/>
          </a:ln>
        </p:spPr>
        <p:txBody>
          <a:bodyPr wrap="square" lIns="0" tIns="0" rIns="0" bIns="0" anchor="t">
            <a:noAutofit/>
          </a:bodyPr>
          <a:lstStyle>
            <a:defPPr algn="l">
              <a:defRPr sz="2025" b="1">
                <a:solidFill>
                  <a:srgbClr val="FFFFFF"/>
                </a:solidFill>
                <a:latin typeface="Aptos"/>
                <a:ea typeface="Aptos"/>
                <a:cs typeface="Aptos"/>
              </a:defRPr>
            </a:defPPr>
          </a:lstStyle>
          <a:p>
            <a:pPr algn="l">
              <a:defRPr sz="2025" b="1">
                <a:solidFill>
                  <a:srgbClr val="FFFFFF"/>
                </a:solidFill>
                <a:latin typeface="Aptos"/>
                <a:ea typeface="Aptos"/>
                <a:cs typeface="Aptos"/>
              </a:defRPr>
            </a:pPr>
            <a:r>
              <a:rPr sz="2025" b="1">
                <a:solidFill>
                  <a:srgbClr val="FFFFFF"/>
                </a:solidFill>
                <a:latin typeface="Aptos"/>
                <a:ea typeface="Aptos"/>
                <a:cs typeface="Aptos"/>
              </a:rPr>
              <a:t>Risk management</a:t>
            </a:r>
          </a:p>
        </p:txBody>
      </p:sp>
      <p:sp>
        <p:nvSpPr>
          <p:cNvPr id="12" name="explanation">
            <a:extLst>
              <a:ext uri="{FF2B5EF4-FFF2-40B4-BE49-F238E27FC236}">
                <a16:creationId xmlns:a16="http://schemas.microsoft.com/office/drawing/2014/main" id="{06D3C567-D563-4152-AFF4-0A6054D0C934}"/>
              </a:ext>
            </a:extLst>
          </p:cNvPr>
          <p:cNvSpPr>
            <a:spLocks noGrp="1"/>
          </p:cNvSpPr>
          <p:nvPr/>
        </p:nvSpPr>
        <p:spPr>
          <a:xfrm>
            <a:off x="6457950" y="3267075"/>
            <a:ext cx="2114550" cy="923925"/>
          </a:xfrm>
          <a:prstGeom prst="rect">
            <a:avLst/>
          </a:prstGeom>
          <a:noFill/>
          <a:ln w="0">
            <a:noFill/>
            <a:prstDash val="solid"/>
          </a:ln>
        </p:spPr>
        <p:txBody>
          <a:bodyPr wrap="square" lIns="0" tIns="0" rIns="0" bIns="0" anchor="t">
            <a:noAutofit/>
          </a:bodyPr>
          <a:lstStyle>
            <a:defPPr algn="l">
              <a:defRPr sz="1650" b="0">
                <a:solidFill>
                  <a:srgbClr val="DCE7E9"/>
                </a:solidFill>
                <a:latin typeface="Aptos"/>
                <a:ea typeface="Aptos"/>
                <a:cs typeface="Aptos"/>
              </a:defRPr>
            </a:defPPr>
          </a:lstStyle>
          <a:p>
            <a:pPr algn="l">
              <a:defRPr sz="1650" b="0">
                <a:solidFill>
                  <a:srgbClr val="DCE7E9"/>
                </a:solidFill>
                <a:latin typeface="Aptos"/>
                <a:ea typeface="Aptos"/>
                <a:cs typeface="Aptos"/>
              </a:defRPr>
            </a:pPr>
            <a:r>
              <a:rPr sz="1650" b="0">
                <a:solidFill>
                  <a:srgbClr val="DCE7E9"/>
                </a:solidFill>
                <a:latin typeface="Aptos"/>
                <a:ea typeface="Aptos"/>
                <a:cs typeface="Aptos"/>
              </a:rPr>
              <a:t>Control cash exposures</a:t>
            </a:r>
          </a:p>
        </p:txBody>
      </p:sp>
      <p:sp>
        <p:nvSpPr>
          <p:cNvPr id="13" name="diagram-node">
            <a:extLst>
              <a:ext uri="{FF2B5EF4-FFF2-40B4-BE49-F238E27FC236}">
                <a16:creationId xmlns:a16="http://schemas.microsoft.com/office/drawing/2014/main" id="{5F1216B5-E0ED-4856-BD99-BA713C46BDA2}"/>
              </a:ext>
            </a:extLst>
          </p:cNvPr>
          <p:cNvSpPr>
            <a:spLocks noGrp="1"/>
          </p:cNvSpPr>
          <p:nvPr/>
        </p:nvSpPr>
        <p:spPr>
          <a:xfrm>
            <a:off x="9124950" y="2486025"/>
            <a:ext cx="2457450" cy="1762125"/>
          </a:xfrm>
          <a:prstGeom prst="rect">
            <a:avLst/>
          </a:prstGeom>
          <a:solidFill>
            <a:srgbClr val="DCEEE9"/>
          </a:solidFill>
          <a:ln w="0">
            <a:noFill/>
            <a:prstDash val="solid"/>
          </a:ln>
        </p:spPr>
        <p:txBody>
          <a:bodyPr/>
          <a:lstStyle/>
          <a:p>
            <a:endParaRPr lang="fr-FR"/>
          </a:p>
        </p:txBody>
      </p:sp>
      <p:sp>
        <p:nvSpPr>
          <p:cNvPr id="14" name="explanation">
            <a:extLst>
              <a:ext uri="{FF2B5EF4-FFF2-40B4-BE49-F238E27FC236}">
                <a16:creationId xmlns:a16="http://schemas.microsoft.com/office/drawing/2014/main" id="{F592EF31-218A-49BB-87DF-79813113C4C4}"/>
              </a:ext>
            </a:extLst>
          </p:cNvPr>
          <p:cNvSpPr>
            <a:spLocks noGrp="1"/>
          </p:cNvSpPr>
          <p:nvPr/>
        </p:nvSpPr>
        <p:spPr>
          <a:xfrm>
            <a:off x="9296400" y="2667000"/>
            <a:ext cx="2114550" cy="5715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Business support</a:t>
            </a:r>
          </a:p>
        </p:txBody>
      </p:sp>
      <p:sp>
        <p:nvSpPr>
          <p:cNvPr id="15" name="explanation">
            <a:extLst>
              <a:ext uri="{FF2B5EF4-FFF2-40B4-BE49-F238E27FC236}">
                <a16:creationId xmlns:a16="http://schemas.microsoft.com/office/drawing/2014/main" id="{02A62FBC-B67B-4D91-8906-58A943F0B746}"/>
              </a:ext>
            </a:extLst>
          </p:cNvPr>
          <p:cNvSpPr>
            <a:spLocks noGrp="1"/>
          </p:cNvSpPr>
          <p:nvPr/>
        </p:nvSpPr>
        <p:spPr>
          <a:xfrm>
            <a:off x="9296400" y="3267075"/>
            <a:ext cx="2114550" cy="923925"/>
          </a:xfrm>
          <a:prstGeom prst="rect">
            <a:avLst/>
          </a:prstGeom>
          <a:noFill/>
          <a:ln w="0">
            <a:noFill/>
            <a:prstDash val="solid"/>
          </a:ln>
        </p:spPr>
        <p:txBody>
          <a:bodyPr wrap="square" lIns="0" tIns="0" rIns="0" bIns="0" anchor="t">
            <a:noAutofit/>
          </a:bodyPr>
          <a:lstStyle>
            <a:defPPr algn="l">
              <a:defRPr sz="1650" b="0">
                <a:solidFill>
                  <a:srgbClr val="19313F"/>
                </a:solidFill>
                <a:latin typeface="Aptos"/>
                <a:ea typeface="Aptos"/>
                <a:cs typeface="Aptos"/>
              </a:defRPr>
            </a:defPPr>
          </a:lstStyle>
          <a:p>
            <a:pPr algn="l">
              <a:defRPr sz="1650" b="0">
                <a:solidFill>
                  <a:srgbClr val="19313F"/>
                </a:solidFill>
                <a:latin typeface="Aptos"/>
                <a:ea typeface="Aptos"/>
                <a:cs typeface="Aptos"/>
              </a:defRPr>
            </a:pPr>
            <a:r>
              <a:rPr sz="1650" b="0">
                <a:solidFill>
                  <a:srgbClr val="19313F"/>
                </a:solidFill>
                <a:latin typeface="Aptos"/>
                <a:ea typeface="Aptos"/>
                <a:cs typeface="Aptos"/>
              </a:rPr>
              <a:t>Advise commercial decisions</a:t>
            </a:r>
          </a:p>
        </p:txBody>
      </p:sp>
      <p:sp>
        <p:nvSpPr>
          <p:cNvPr id="16" name="explanation">
            <a:extLst>
              <a:ext uri="{FF2B5EF4-FFF2-40B4-BE49-F238E27FC236}">
                <a16:creationId xmlns:a16="http://schemas.microsoft.com/office/drawing/2014/main" id="{21E8C25D-8843-4470-83A7-2404ED3DFA32}"/>
              </a:ext>
            </a:extLst>
          </p:cNvPr>
          <p:cNvSpPr>
            <a:spLocks noGrp="1"/>
          </p:cNvSpPr>
          <p:nvPr/>
        </p:nvSpPr>
        <p:spPr>
          <a:xfrm>
            <a:off x="609600" y="1771650"/>
            <a:ext cx="10572750" cy="619125"/>
          </a:xfrm>
          <a:prstGeom prst="rect">
            <a:avLst/>
          </a:prstGeom>
          <a:noFill/>
          <a:ln w="0">
            <a:noFill/>
            <a:prstDash val="solid"/>
          </a:ln>
        </p:spPr>
        <p:txBody>
          <a:bodyPr wrap="square" lIns="0" tIns="0" rIns="0" bIns="0" anchor="t">
            <a:noAutofit/>
          </a:bodyPr>
          <a:lstStyle>
            <a:defPPr algn="l">
              <a:defRPr sz="2400" b="1">
                <a:solidFill>
                  <a:srgbClr val="19313F"/>
                </a:solidFill>
                <a:latin typeface="Aptos"/>
                <a:ea typeface="Aptos"/>
                <a:cs typeface="Aptos"/>
              </a:defRPr>
            </a:defPPr>
          </a:lstStyle>
          <a:p>
            <a:pPr algn="l">
              <a:defRPr sz="2400" b="1">
                <a:solidFill>
                  <a:srgbClr val="19313F"/>
                </a:solidFill>
                <a:latin typeface="Aptos"/>
                <a:ea typeface="Aptos"/>
                <a:cs typeface="Aptos"/>
              </a:defRPr>
            </a:pPr>
            <a:r>
              <a:rPr sz="2400" b="1">
                <a:solidFill>
                  <a:srgbClr val="19313F"/>
                </a:solidFill>
                <a:latin typeface="Aptos"/>
                <a:ea typeface="Aptos"/>
                <a:cs typeface="Aptos"/>
              </a:rPr>
              <a:t>Treasury protects the company’s ability to operate under uncertainty.</a:t>
            </a:r>
          </a:p>
        </p:txBody>
      </p:sp>
      <p:sp>
        <p:nvSpPr>
          <p:cNvPr id="17" name="rule">
            <a:extLst>
              <a:ext uri="{FF2B5EF4-FFF2-40B4-BE49-F238E27FC236}">
                <a16:creationId xmlns:a16="http://schemas.microsoft.com/office/drawing/2014/main" id="{9312EED1-F953-4AF6-9134-A21465A9FC9F}"/>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8" name="decision-implication">
            <a:extLst>
              <a:ext uri="{FF2B5EF4-FFF2-40B4-BE49-F238E27FC236}">
                <a16:creationId xmlns:a16="http://schemas.microsoft.com/office/drawing/2014/main" id="{E58E862F-03D2-4712-AB48-2067D39968B4}"/>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Evaluate decisions using cost, resilience and business objectives together.</a:t>
            </a:r>
          </a:p>
        </p:txBody>
      </p:sp>
    </p:spTree>
    <p:extLst>
      <p:ext uri="{BB962C8B-B14F-4D97-AF65-F5344CB8AC3E}">
        <p14:creationId xmlns:p14="http://schemas.microsoft.com/office/powerpoint/2010/main" val="559455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4" name="section-reference">
            <a:extLst>
              <a:ext uri="{FF2B5EF4-FFF2-40B4-BE49-F238E27FC236}">
                <a16:creationId xmlns:a16="http://schemas.microsoft.com/office/drawing/2014/main" id="{F3ED5CFD-87D6-44C0-8A4C-F0854A6B4FC9}"/>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1.1</a:t>
            </a:r>
          </a:p>
        </p:txBody>
      </p:sp>
      <p:sp>
        <p:nvSpPr>
          <p:cNvPr id="2" name="slide-title">
            <a:extLst>
              <a:ext uri="{FF2B5EF4-FFF2-40B4-BE49-F238E27FC236}">
                <a16:creationId xmlns:a16="http://schemas.microsoft.com/office/drawing/2014/main" id="{273B90CC-C5E2-4859-8F81-0E4C9965C13A}"/>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From bank operations to strategic Treasury</a:t>
            </a:r>
          </a:p>
        </p:txBody>
      </p:sp>
      <p:sp>
        <p:nvSpPr>
          <p:cNvPr id="3" name="slide-number">
            <a:extLst>
              <a:ext uri="{FF2B5EF4-FFF2-40B4-BE49-F238E27FC236}">
                <a16:creationId xmlns:a16="http://schemas.microsoft.com/office/drawing/2014/main" id="{E359FAE0-2CF8-479B-9A23-E95123E1F265}"/>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08</a:t>
            </a:r>
          </a:p>
        </p:txBody>
      </p:sp>
      <p:sp>
        <p:nvSpPr>
          <p:cNvPr id="4" name="explanation">
            <a:extLst>
              <a:ext uri="{FF2B5EF4-FFF2-40B4-BE49-F238E27FC236}">
                <a16:creationId xmlns:a16="http://schemas.microsoft.com/office/drawing/2014/main" id="{BE0AE4E0-2F3B-4059-863E-AEA592FF0B7E}"/>
              </a:ext>
            </a:extLst>
          </p:cNvPr>
          <p:cNvSpPr>
            <a:spLocks noGrp="1"/>
          </p:cNvSpPr>
          <p:nvPr/>
        </p:nvSpPr>
        <p:spPr>
          <a:xfrm>
            <a:off x="609600" y="1838325"/>
            <a:ext cx="5095875" cy="6286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Operational Treasury</a:t>
            </a:r>
          </a:p>
        </p:txBody>
      </p:sp>
      <p:sp>
        <p:nvSpPr>
          <p:cNvPr id="5" name="explanation">
            <a:extLst>
              <a:ext uri="{FF2B5EF4-FFF2-40B4-BE49-F238E27FC236}">
                <a16:creationId xmlns:a16="http://schemas.microsoft.com/office/drawing/2014/main" id="{C3923F78-F41D-43F7-8CD8-CFCC5AED0739}"/>
              </a:ext>
            </a:extLst>
          </p:cNvPr>
          <p:cNvSpPr>
            <a:spLocks noGrp="1"/>
          </p:cNvSpPr>
          <p:nvPr/>
        </p:nvSpPr>
        <p:spPr>
          <a:xfrm>
            <a:off x="609600" y="2714625"/>
            <a:ext cx="5000625" cy="952500"/>
          </a:xfrm>
          <a:prstGeom prst="rect">
            <a:avLst/>
          </a:prstGeom>
          <a:noFill/>
          <a:ln w="0">
            <a:noFill/>
            <a:prstDash val="solid"/>
          </a:ln>
        </p:spPr>
        <p:txBody>
          <a:bodyPr wrap="square" lIns="0" tIns="0" rIns="0" bIns="0" anchor="t">
            <a:noAutofit/>
          </a:bodyPr>
          <a:lstStyle>
            <a:defPPr algn="l">
              <a:defRPr sz="2550" b="1">
                <a:solidFill>
                  <a:srgbClr val="19313F"/>
                </a:solidFill>
                <a:latin typeface="Aptos"/>
                <a:ea typeface="Aptos"/>
                <a:cs typeface="Aptos"/>
              </a:defRPr>
            </a:defPPr>
          </a:lstStyle>
          <a:p>
            <a:pPr algn="l">
              <a:defRPr sz="2550" b="1">
                <a:solidFill>
                  <a:srgbClr val="19313F"/>
                </a:solidFill>
                <a:latin typeface="Aptos"/>
                <a:ea typeface="Aptos"/>
                <a:cs typeface="Aptos"/>
              </a:defRPr>
            </a:pPr>
            <a:r>
              <a:rPr sz="2550" b="1">
                <a:solidFill>
                  <a:srgbClr val="19313F"/>
                </a:solidFill>
                <a:latin typeface="Aptos"/>
                <a:ea typeface="Aptos"/>
                <a:cs typeface="Aptos"/>
              </a:rPr>
              <a:t>Payments and settlements</a:t>
            </a:r>
          </a:p>
        </p:txBody>
      </p:sp>
      <p:sp>
        <p:nvSpPr>
          <p:cNvPr id="6" name="rule">
            <a:extLst>
              <a:ext uri="{FF2B5EF4-FFF2-40B4-BE49-F238E27FC236}">
                <a16:creationId xmlns:a16="http://schemas.microsoft.com/office/drawing/2014/main" id="{1D334854-A862-4AE0-BB63-9A1673FDE4F3}"/>
              </a:ext>
            </a:extLst>
          </p:cNvPr>
          <p:cNvSpPr>
            <a:spLocks noGrp="1"/>
          </p:cNvSpPr>
          <p:nvPr/>
        </p:nvSpPr>
        <p:spPr>
          <a:xfrm>
            <a:off x="609600" y="3838575"/>
            <a:ext cx="4953000" cy="0"/>
          </a:xfrm>
          <a:prstGeom prst="line">
            <a:avLst/>
          </a:prstGeom>
          <a:noFill/>
          <a:ln w="9525">
            <a:solidFill>
              <a:srgbClr val="CCD6D9"/>
            </a:solidFill>
            <a:prstDash val="solid"/>
          </a:ln>
        </p:spPr>
        <p:txBody>
          <a:bodyPr/>
          <a:lstStyle/>
          <a:p>
            <a:endParaRPr lang="fr-FR"/>
          </a:p>
        </p:txBody>
      </p:sp>
      <p:sp>
        <p:nvSpPr>
          <p:cNvPr id="7" name="explanation">
            <a:extLst>
              <a:ext uri="{FF2B5EF4-FFF2-40B4-BE49-F238E27FC236}">
                <a16:creationId xmlns:a16="http://schemas.microsoft.com/office/drawing/2014/main" id="{F46D5EDD-0F2E-4ADB-B849-0B538945A6B8}"/>
              </a:ext>
            </a:extLst>
          </p:cNvPr>
          <p:cNvSpPr>
            <a:spLocks noGrp="1"/>
          </p:cNvSpPr>
          <p:nvPr/>
        </p:nvSpPr>
        <p:spPr>
          <a:xfrm>
            <a:off x="609600" y="4124325"/>
            <a:ext cx="5000625" cy="1304925"/>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Bank reconciliations</a:t>
            </a:r>
          </a:p>
          <a:p>
            <a:endParaRPr sz="2025" b="0">
              <a:solidFill>
                <a:srgbClr val="5B6D77"/>
              </a:solidFill>
              <a:latin typeface="Aptos"/>
              <a:ea typeface="Aptos"/>
              <a:cs typeface="Aptos"/>
            </a:endParaRPr>
          </a:p>
          <a:p>
            <a:pPr algn="l">
              <a:defRPr sz="2025" b="0">
                <a:solidFill>
                  <a:srgbClr val="5B6D77"/>
                </a:solidFill>
                <a:latin typeface="Aptos"/>
                <a:ea typeface="Aptos"/>
                <a:cs typeface="Aptos"/>
              </a:defRPr>
            </a:pPr>
            <a:r>
              <a:rPr sz="2025" b="0">
                <a:solidFill>
                  <a:srgbClr val="5B6D77"/>
                </a:solidFill>
                <a:latin typeface="Aptos"/>
                <a:ea typeface="Aptos"/>
                <a:cs typeface="Aptos"/>
              </a:rPr>
              <a:t>Daily cash reporting</a:t>
            </a:r>
          </a:p>
        </p:txBody>
      </p:sp>
      <p:sp>
        <p:nvSpPr>
          <p:cNvPr id="8" name="explanation">
            <a:extLst>
              <a:ext uri="{FF2B5EF4-FFF2-40B4-BE49-F238E27FC236}">
                <a16:creationId xmlns:a16="http://schemas.microsoft.com/office/drawing/2014/main" id="{322920F7-8CB6-465E-AE73-B65EE6FCF497}"/>
              </a:ext>
            </a:extLst>
          </p:cNvPr>
          <p:cNvSpPr>
            <a:spLocks noGrp="1"/>
          </p:cNvSpPr>
          <p:nvPr/>
        </p:nvSpPr>
        <p:spPr>
          <a:xfrm>
            <a:off x="6438900" y="1838325"/>
            <a:ext cx="5095875" cy="6286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Strategic Treasury</a:t>
            </a:r>
          </a:p>
        </p:txBody>
      </p:sp>
      <p:sp>
        <p:nvSpPr>
          <p:cNvPr id="9" name="explanation">
            <a:extLst>
              <a:ext uri="{FF2B5EF4-FFF2-40B4-BE49-F238E27FC236}">
                <a16:creationId xmlns:a16="http://schemas.microsoft.com/office/drawing/2014/main" id="{A618532F-F893-4C10-B9A5-5388B9F69E86}"/>
              </a:ext>
            </a:extLst>
          </p:cNvPr>
          <p:cNvSpPr>
            <a:spLocks noGrp="1"/>
          </p:cNvSpPr>
          <p:nvPr/>
        </p:nvSpPr>
        <p:spPr>
          <a:xfrm>
            <a:off x="6438900" y="2714625"/>
            <a:ext cx="5000625" cy="952500"/>
          </a:xfrm>
          <a:prstGeom prst="rect">
            <a:avLst/>
          </a:prstGeom>
          <a:noFill/>
          <a:ln w="0">
            <a:noFill/>
            <a:prstDash val="solid"/>
          </a:ln>
        </p:spPr>
        <p:txBody>
          <a:bodyPr wrap="square" lIns="0" tIns="0" rIns="0" bIns="0" anchor="t">
            <a:noAutofit/>
          </a:bodyPr>
          <a:lstStyle>
            <a:defPPr algn="l">
              <a:defRPr sz="2550" b="1">
                <a:solidFill>
                  <a:srgbClr val="19313F"/>
                </a:solidFill>
                <a:latin typeface="Aptos"/>
                <a:ea typeface="Aptos"/>
                <a:cs typeface="Aptos"/>
              </a:defRPr>
            </a:defPPr>
          </a:lstStyle>
          <a:p>
            <a:pPr algn="l">
              <a:defRPr sz="2550" b="1">
                <a:solidFill>
                  <a:srgbClr val="19313F"/>
                </a:solidFill>
                <a:latin typeface="Aptos"/>
                <a:ea typeface="Aptos"/>
                <a:cs typeface="Aptos"/>
              </a:defRPr>
            </a:pPr>
            <a:r>
              <a:rPr sz="2550" b="1">
                <a:solidFill>
                  <a:srgbClr val="19313F"/>
                </a:solidFill>
                <a:latin typeface="Aptos"/>
                <a:ea typeface="Aptos"/>
                <a:cs typeface="Aptos"/>
              </a:rPr>
              <a:t>Future liquidity needs</a:t>
            </a:r>
          </a:p>
        </p:txBody>
      </p:sp>
      <p:sp>
        <p:nvSpPr>
          <p:cNvPr id="10" name="rule">
            <a:extLst>
              <a:ext uri="{FF2B5EF4-FFF2-40B4-BE49-F238E27FC236}">
                <a16:creationId xmlns:a16="http://schemas.microsoft.com/office/drawing/2014/main" id="{D7B7BBEC-96D4-46D5-BDAD-6B0DA50E55E3}"/>
              </a:ext>
            </a:extLst>
          </p:cNvPr>
          <p:cNvSpPr>
            <a:spLocks noGrp="1"/>
          </p:cNvSpPr>
          <p:nvPr/>
        </p:nvSpPr>
        <p:spPr>
          <a:xfrm>
            <a:off x="6438900" y="3838575"/>
            <a:ext cx="4953000" cy="0"/>
          </a:xfrm>
          <a:prstGeom prst="line">
            <a:avLst/>
          </a:prstGeom>
          <a:noFill/>
          <a:ln w="9525">
            <a:solidFill>
              <a:srgbClr val="CCD6D9"/>
            </a:solidFill>
            <a:prstDash val="solid"/>
          </a:ln>
        </p:spPr>
        <p:txBody>
          <a:bodyPr/>
          <a:lstStyle/>
          <a:p>
            <a:endParaRPr lang="fr-FR"/>
          </a:p>
        </p:txBody>
      </p:sp>
      <p:sp>
        <p:nvSpPr>
          <p:cNvPr id="11" name="explanation">
            <a:extLst>
              <a:ext uri="{FF2B5EF4-FFF2-40B4-BE49-F238E27FC236}">
                <a16:creationId xmlns:a16="http://schemas.microsoft.com/office/drawing/2014/main" id="{07DEDC61-A371-4F8B-ABCC-280DAB1A0A24}"/>
              </a:ext>
            </a:extLst>
          </p:cNvPr>
          <p:cNvSpPr>
            <a:spLocks noGrp="1"/>
          </p:cNvSpPr>
          <p:nvPr/>
        </p:nvSpPr>
        <p:spPr>
          <a:xfrm>
            <a:off x="6438900" y="4124325"/>
            <a:ext cx="5000625" cy="1304925"/>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Financing and exposure policy</a:t>
            </a:r>
          </a:p>
          <a:p>
            <a:endParaRPr sz="2025" b="0">
              <a:solidFill>
                <a:srgbClr val="5B6D77"/>
              </a:solidFill>
              <a:latin typeface="Aptos"/>
              <a:ea typeface="Aptos"/>
              <a:cs typeface="Aptos"/>
            </a:endParaRPr>
          </a:p>
          <a:p>
            <a:pPr algn="l">
              <a:defRPr sz="2025" b="0">
                <a:solidFill>
                  <a:srgbClr val="5B6D77"/>
                </a:solidFill>
                <a:latin typeface="Aptos"/>
                <a:ea typeface="Aptos"/>
                <a:cs typeface="Aptos"/>
              </a:defRPr>
            </a:pPr>
            <a:r>
              <a:rPr sz="2025" b="0">
                <a:solidFill>
                  <a:srgbClr val="5B6D77"/>
                </a:solidFill>
                <a:latin typeface="Aptos"/>
                <a:ea typeface="Aptos"/>
                <a:cs typeface="Aptos"/>
              </a:rPr>
              <a:t>Advice on growth capacity</a:t>
            </a:r>
          </a:p>
        </p:txBody>
      </p:sp>
      <p:sp>
        <p:nvSpPr>
          <p:cNvPr id="12" name="rule">
            <a:extLst>
              <a:ext uri="{FF2B5EF4-FFF2-40B4-BE49-F238E27FC236}">
                <a16:creationId xmlns:a16="http://schemas.microsoft.com/office/drawing/2014/main" id="{FC5F0224-82CC-431A-8CAC-4C032816F00F}"/>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3" name="decision-implication">
            <a:extLst>
              <a:ext uri="{FF2B5EF4-FFF2-40B4-BE49-F238E27FC236}">
                <a16:creationId xmlns:a16="http://schemas.microsoft.com/office/drawing/2014/main" id="{E1B80749-8096-4B1C-AC18-71D52FC45E54}"/>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Keep reliable operations while extending Treasury involvement upstream into commercial decisions.</a:t>
            </a:r>
          </a:p>
        </p:txBody>
      </p:sp>
    </p:spTree>
    <p:extLst>
      <p:ext uri="{BB962C8B-B14F-4D97-AF65-F5344CB8AC3E}">
        <p14:creationId xmlns:p14="http://schemas.microsoft.com/office/powerpoint/2010/main" val="4573149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7" name="section-reference">
            <a:extLst>
              <a:ext uri="{FF2B5EF4-FFF2-40B4-BE49-F238E27FC236}">
                <a16:creationId xmlns:a16="http://schemas.microsoft.com/office/drawing/2014/main" id="{7AB4D12B-AE2A-40EB-9C1B-C6DC8470D415}"/>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1.2</a:t>
            </a:r>
          </a:p>
        </p:txBody>
      </p:sp>
      <p:sp>
        <p:nvSpPr>
          <p:cNvPr id="2" name="slide-title">
            <a:extLst>
              <a:ext uri="{FF2B5EF4-FFF2-40B4-BE49-F238E27FC236}">
                <a16:creationId xmlns:a16="http://schemas.microsoft.com/office/drawing/2014/main" id="{2853AE90-DBE6-4731-97EA-0F5F5CB53FD6}"/>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The Treasurer ecosystem</a:t>
            </a:r>
          </a:p>
        </p:txBody>
      </p:sp>
      <p:sp>
        <p:nvSpPr>
          <p:cNvPr id="3" name="slide-number">
            <a:extLst>
              <a:ext uri="{FF2B5EF4-FFF2-40B4-BE49-F238E27FC236}">
                <a16:creationId xmlns:a16="http://schemas.microsoft.com/office/drawing/2014/main" id="{B0D9D4CF-48C2-44BB-93A7-F1423CEE8C00}"/>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09</a:t>
            </a:r>
          </a:p>
        </p:txBody>
      </p:sp>
      <p:sp>
        <p:nvSpPr>
          <p:cNvPr id="4" name="explanation">
            <a:extLst>
              <a:ext uri="{FF2B5EF4-FFF2-40B4-BE49-F238E27FC236}">
                <a16:creationId xmlns:a16="http://schemas.microsoft.com/office/drawing/2014/main" id="{CEA4025A-98E7-4798-909D-EF7EDA4E1786}"/>
              </a:ext>
            </a:extLst>
          </p:cNvPr>
          <p:cNvSpPr>
            <a:spLocks noGrp="1"/>
          </p:cNvSpPr>
          <p:nvPr/>
        </p:nvSpPr>
        <p:spPr>
          <a:xfrm>
            <a:off x="609600" y="1762125"/>
            <a:ext cx="2000250"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Accounting</a:t>
            </a:r>
          </a:p>
        </p:txBody>
      </p:sp>
      <p:sp>
        <p:nvSpPr>
          <p:cNvPr id="5" name="explanation">
            <a:extLst>
              <a:ext uri="{FF2B5EF4-FFF2-40B4-BE49-F238E27FC236}">
                <a16:creationId xmlns:a16="http://schemas.microsoft.com/office/drawing/2014/main" id="{01FAAC15-851F-4754-99EE-D4BA47B16B3B}"/>
              </a:ext>
            </a:extLst>
          </p:cNvPr>
          <p:cNvSpPr>
            <a:spLocks noGrp="1"/>
          </p:cNvSpPr>
          <p:nvPr/>
        </p:nvSpPr>
        <p:spPr>
          <a:xfrm>
            <a:off x="2752725" y="1762125"/>
            <a:ext cx="8829675" cy="5715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Recognised balances and reconciliations</a:t>
            </a:r>
          </a:p>
        </p:txBody>
      </p:sp>
      <p:sp>
        <p:nvSpPr>
          <p:cNvPr id="6" name="rule">
            <a:extLst>
              <a:ext uri="{FF2B5EF4-FFF2-40B4-BE49-F238E27FC236}">
                <a16:creationId xmlns:a16="http://schemas.microsoft.com/office/drawing/2014/main" id="{A711A87E-6019-45B2-B322-99F622C10AE7}"/>
              </a:ext>
            </a:extLst>
          </p:cNvPr>
          <p:cNvSpPr>
            <a:spLocks noGrp="1"/>
          </p:cNvSpPr>
          <p:nvPr/>
        </p:nvSpPr>
        <p:spPr>
          <a:xfrm>
            <a:off x="609600" y="2324100"/>
            <a:ext cx="10972800" cy="0"/>
          </a:xfrm>
          <a:prstGeom prst="line">
            <a:avLst/>
          </a:prstGeom>
          <a:noFill/>
          <a:ln w="9525">
            <a:solidFill>
              <a:srgbClr val="CCD6D9"/>
            </a:solidFill>
            <a:prstDash val="solid"/>
          </a:ln>
        </p:spPr>
        <p:txBody>
          <a:bodyPr/>
          <a:lstStyle/>
          <a:p>
            <a:endParaRPr lang="fr-FR"/>
          </a:p>
        </p:txBody>
      </p:sp>
      <p:sp>
        <p:nvSpPr>
          <p:cNvPr id="7" name="explanation">
            <a:extLst>
              <a:ext uri="{FF2B5EF4-FFF2-40B4-BE49-F238E27FC236}">
                <a16:creationId xmlns:a16="http://schemas.microsoft.com/office/drawing/2014/main" id="{C32CD9AC-33DF-4F2A-AF17-7EA905FE7FC4}"/>
              </a:ext>
            </a:extLst>
          </p:cNvPr>
          <p:cNvSpPr>
            <a:spLocks noGrp="1"/>
          </p:cNvSpPr>
          <p:nvPr/>
        </p:nvSpPr>
        <p:spPr>
          <a:xfrm>
            <a:off x="609600" y="2447925"/>
            <a:ext cx="2000250"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FP&amp;A</a:t>
            </a:r>
          </a:p>
        </p:txBody>
      </p:sp>
      <p:sp>
        <p:nvSpPr>
          <p:cNvPr id="8" name="explanation">
            <a:extLst>
              <a:ext uri="{FF2B5EF4-FFF2-40B4-BE49-F238E27FC236}">
                <a16:creationId xmlns:a16="http://schemas.microsoft.com/office/drawing/2014/main" id="{0848EEDB-B830-4F7F-AAB9-5D8362FA8342}"/>
              </a:ext>
            </a:extLst>
          </p:cNvPr>
          <p:cNvSpPr>
            <a:spLocks noGrp="1"/>
          </p:cNvSpPr>
          <p:nvPr/>
        </p:nvSpPr>
        <p:spPr>
          <a:xfrm>
            <a:off x="2752725" y="2447925"/>
            <a:ext cx="8829675" cy="5715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Business plan and forecast assumptions</a:t>
            </a:r>
          </a:p>
        </p:txBody>
      </p:sp>
      <p:sp>
        <p:nvSpPr>
          <p:cNvPr id="9" name="rule">
            <a:extLst>
              <a:ext uri="{FF2B5EF4-FFF2-40B4-BE49-F238E27FC236}">
                <a16:creationId xmlns:a16="http://schemas.microsoft.com/office/drawing/2014/main" id="{8B447CD2-2DB1-4537-860C-FD9AFFF1BE2E}"/>
              </a:ext>
            </a:extLst>
          </p:cNvPr>
          <p:cNvSpPr>
            <a:spLocks noGrp="1"/>
          </p:cNvSpPr>
          <p:nvPr/>
        </p:nvSpPr>
        <p:spPr>
          <a:xfrm>
            <a:off x="609600" y="3009900"/>
            <a:ext cx="10972800" cy="0"/>
          </a:xfrm>
          <a:prstGeom prst="line">
            <a:avLst/>
          </a:prstGeom>
          <a:noFill/>
          <a:ln w="9525">
            <a:solidFill>
              <a:srgbClr val="CCD6D9"/>
            </a:solidFill>
            <a:prstDash val="solid"/>
          </a:ln>
        </p:spPr>
        <p:txBody>
          <a:bodyPr/>
          <a:lstStyle/>
          <a:p>
            <a:endParaRPr lang="fr-FR"/>
          </a:p>
        </p:txBody>
      </p:sp>
      <p:sp>
        <p:nvSpPr>
          <p:cNvPr id="10" name="explanation">
            <a:extLst>
              <a:ext uri="{FF2B5EF4-FFF2-40B4-BE49-F238E27FC236}">
                <a16:creationId xmlns:a16="http://schemas.microsoft.com/office/drawing/2014/main" id="{C9D9586C-0B55-4D35-9700-4FE325B180AF}"/>
              </a:ext>
            </a:extLst>
          </p:cNvPr>
          <p:cNvSpPr>
            <a:spLocks noGrp="1"/>
          </p:cNvSpPr>
          <p:nvPr/>
        </p:nvSpPr>
        <p:spPr>
          <a:xfrm>
            <a:off x="609600" y="3133725"/>
            <a:ext cx="2000250"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Business units</a:t>
            </a:r>
          </a:p>
        </p:txBody>
      </p:sp>
      <p:sp>
        <p:nvSpPr>
          <p:cNvPr id="11" name="explanation">
            <a:extLst>
              <a:ext uri="{FF2B5EF4-FFF2-40B4-BE49-F238E27FC236}">
                <a16:creationId xmlns:a16="http://schemas.microsoft.com/office/drawing/2014/main" id="{4B1B0679-35C9-4591-8357-1ACA1578D9E5}"/>
              </a:ext>
            </a:extLst>
          </p:cNvPr>
          <p:cNvSpPr>
            <a:spLocks noGrp="1"/>
          </p:cNvSpPr>
          <p:nvPr/>
        </p:nvSpPr>
        <p:spPr>
          <a:xfrm>
            <a:off x="2752725" y="3133725"/>
            <a:ext cx="8829675" cy="5715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Orders, disputes and payment dates</a:t>
            </a:r>
          </a:p>
        </p:txBody>
      </p:sp>
      <p:sp>
        <p:nvSpPr>
          <p:cNvPr id="12" name="rule">
            <a:extLst>
              <a:ext uri="{FF2B5EF4-FFF2-40B4-BE49-F238E27FC236}">
                <a16:creationId xmlns:a16="http://schemas.microsoft.com/office/drawing/2014/main" id="{097FA58C-8525-4EA7-BDDC-73CEA2F5D6EF}"/>
              </a:ext>
            </a:extLst>
          </p:cNvPr>
          <p:cNvSpPr>
            <a:spLocks noGrp="1"/>
          </p:cNvSpPr>
          <p:nvPr/>
        </p:nvSpPr>
        <p:spPr>
          <a:xfrm>
            <a:off x="609600" y="3695700"/>
            <a:ext cx="10972800" cy="0"/>
          </a:xfrm>
          <a:prstGeom prst="line">
            <a:avLst/>
          </a:prstGeom>
          <a:noFill/>
          <a:ln w="9525">
            <a:solidFill>
              <a:srgbClr val="CCD6D9"/>
            </a:solidFill>
            <a:prstDash val="solid"/>
          </a:ln>
        </p:spPr>
        <p:txBody>
          <a:bodyPr/>
          <a:lstStyle/>
          <a:p>
            <a:endParaRPr lang="fr-FR"/>
          </a:p>
        </p:txBody>
      </p:sp>
      <p:sp>
        <p:nvSpPr>
          <p:cNvPr id="13" name="explanation">
            <a:extLst>
              <a:ext uri="{FF2B5EF4-FFF2-40B4-BE49-F238E27FC236}">
                <a16:creationId xmlns:a16="http://schemas.microsoft.com/office/drawing/2014/main" id="{DE1F26AC-DFCA-4D95-A0FB-B4CEC33ED24D}"/>
              </a:ext>
            </a:extLst>
          </p:cNvPr>
          <p:cNvSpPr>
            <a:spLocks noGrp="1"/>
          </p:cNvSpPr>
          <p:nvPr/>
        </p:nvSpPr>
        <p:spPr>
          <a:xfrm>
            <a:off x="609600" y="3819525"/>
            <a:ext cx="2000250"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Banks and investors</a:t>
            </a:r>
          </a:p>
        </p:txBody>
      </p:sp>
      <p:sp>
        <p:nvSpPr>
          <p:cNvPr id="14" name="explanation">
            <a:extLst>
              <a:ext uri="{FF2B5EF4-FFF2-40B4-BE49-F238E27FC236}">
                <a16:creationId xmlns:a16="http://schemas.microsoft.com/office/drawing/2014/main" id="{DBC65FCD-2D55-4557-B697-5F0D4FE7F5CC}"/>
              </a:ext>
            </a:extLst>
          </p:cNvPr>
          <p:cNvSpPr>
            <a:spLocks noGrp="1"/>
          </p:cNvSpPr>
          <p:nvPr/>
        </p:nvSpPr>
        <p:spPr>
          <a:xfrm>
            <a:off x="2752725" y="3819525"/>
            <a:ext cx="8829675" cy="5715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Execution, financing and repayment expectations</a:t>
            </a:r>
          </a:p>
        </p:txBody>
      </p:sp>
      <p:sp>
        <p:nvSpPr>
          <p:cNvPr id="15" name="rule">
            <a:extLst>
              <a:ext uri="{FF2B5EF4-FFF2-40B4-BE49-F238E27FC236}">
                <a16:creationId xmlns:a16="http://schemas.microsoft.com/office/drawing/2014/main" id="{D6970C23-B15D-4B24-90EB-81BA4170FF25}"/>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6" name="decision-implication">
            <a:extLst>
              <a:ext uri="{FF2B5EF4-FFF2-40B4-BE49-F238E27FC236}">
                <a16:creationId xmlns:a16="http://schemas.microsoft.com/office/drawing/2014/main" id="{FA456AC5-75AF-4B7A-A62A-F7F7B39BD7CA}"/>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Agree data ownership and escalation deadlines with the CFO.</a:t>
            </a:r>
          </a:p>
        </p:txBody>
      </p:sp>
    </p:spTree>
    <p:extLst>
      <p:ext uri="{BB962C8B-B14F-4D97-AF65-F5344CB8AC3E}">
        <p14:creationId xmlns:p14="http://schemas.microsoft.com/office/powerpoint/2010/main" val="1169202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4" name="section-reference">
            <a:extLst>
              <a:ext uri="{FF2B5EF4-FFF2-40B4-BE49-F238E27FC236}">
                <a16:creationId xmlns:a16="http://schemas.microsoft.com/office/drawing/2014/main" id="{D3862026-2645-43E6-94EF-4126542CEEF6}"/>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1.2</a:t>
            </a:r>
          </a:p>
        </p:txBody>
      </p:sp>
      <p:sp>
        <p:nvSpPr>
          <p:cNvPr id="2" name="slide-title">
            <a:extLst>
              <a:ext uri="{FF2B5EF4-FFF2-40B4-BE49-F238E27FC236}">
                <a16:creationId xmlns:a16="http://schemas.microsoft.com/office/drawing/2014/main" id="{91487992-920D-4C99-A924-43115D4FBE12}"/>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Governance before instruments</a:t>
            </a:r>
          </a:p>
        </p:txBody>
      </p:sp>
      <p:sp>
        <p:nvSpPr>
          <p:cNvPr id="3" name="slide-number">
            <a:extLst>
              <a:ext uri="{FF2B5EF4-FFF2-40B4-BE49-F238E27FC236}">
                <a16:creationId xmlns:a16="http://schemas.microsoft.com/office/drawing/2014/main" id="{1EEAE712-746C-4B6C-A473-4226F4AD72F0}"/>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10</a:t>
            </a:r>
          </a:p>
        </p:txBody>
      </p:sp>
      <p:sp>
        <p:nvSpPr>
          <p:cNvPr id="4" name="explanation">
            <a:extLst>
              <a:ext uri="{FF2B5EF4-FFF2-40B4-BE49-F238E27FC236}">
                <a16:creationId xmlns:a16="http://schemas.microsoft.com/office/drawing/2014/main" id="{84B50915-60B6-47A0-A947-AB270F2FB583}"/>
              </a:ext>
            </a:extLst>
          </p:cNvPr>
          <p:cNvSpPr>
            <a:spLocks noGrp="1"/>
          </p:cNvSpPr>
          <p:nvPr/>
        </p:nvSpPr>
        <p:spPr>
          <a:xfrm>
            <a:off x="609600" y="1838325"/>
            <a:ext cx="5095875" cy="6286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Central policy</a:t>
            </a:r>
          </a:p>
        </p:txBody>
      </p:sp>
      <p:sp>
        <p:nvSpPr>
          <p:cNvPr id="5" name="explanation">
            <a:extLst>
              <a:ext uri="{FF2B5EF4-FFF2-40B4-BE49-F238E27FC236}">
                <a16:creationId xmlns:a16="http://schemas.microsoft.com/office/drawing/2014/main" id="{D8EC58FC-FE55-467E-A7E8-47183F0E2359}"/>
              </a:ext>
            </a:extLst>
          </p:cNvPr>
          <p:cNvSpPr>
            <a:spLocks noGrp="1"/>
          </p:cNvSpPr>
          <p:nvPr/>
        </p:nvSpPr>
        <p:spPr>
          <a:xfrm>
            <a:off x="609600" y="2714625"/>
            <a:ext cx="5000625" cy="952500"/>
          </a:xfrm>
          <a:prstGeom prst="rect">
            <a:avLst/>
          </a:prstGeom>
          <a:noFill/>
          <a:ln w="0">
            <a:noFill/>
            <a:prstDash val="solid"/>
          </a:ln>
        </p:spPr>
        <p:txBody>
          <a:bodyPr wrap="square" lIns="0" tIns="0" rIns="0" bIns="0" anchor="t">
            <a:noAutofit/>
          </a:bodyPr>
          <a:lstStyle>
            <a:defPPr algn="l">
              <a:defRPr sz="2550" b="1">
                <a:solidFill>
                  <a:srgbClr val="19313F"/>
                </a:solidFill>
                <a:latin typeface="Aptos"/>
                <a:ea typeface="Aptos"/>
                <a:cs typeface="Aptos"/>
              </a:defRPr>
            </a:defPPr>
          </a:lstStyle>
          <a:p>
            <a:pPr algn="l">
              <a:defRPr sz="2550" b="1">
                <a:solidFill>
                  <a:srgbClr val="19313F"/>
                </a:solidFill>
                <a:latin typeface="Aptos"/>
                <a:ea typeface="Aptos"/>
                <a:cs typeface="Aptos"/>
              </a:defRPr>
            </a:pPr>
            <a:r>
              <a:rPr sz="2550" b="1">
                <a:solidFill>
                  <a:srgbClr val="19313F"/>
                </a:solidFill>
                <a:latin typeface="Aptos"/>
                <a:ea typeface="Aptos"/>
                <a:cs typeface="Aptos"/>
              </a:rPr>
              <a:t>Risk appetite and limits</a:t>
            </a:r>
          </a:p>
        </p:txBody>
      </p:sp>
      <p:sp>
        <p:nvSpPr>
          <p:cNvPr id="6" name="rule">
            <a:extLst>
              <a:ext uri="{FF2B5EF4-FFF2-40B4-BE49-F238E27FC236}">
                <a16:creationId xmlns:a16="http://schemas.microsoft.com/office/drawing/2014/main" id="{BB5C18DE-6096-45BE-8438-4E49A4876D1B}"/>
              </a:ext>
            </a:extLst>
          </p:cNvPr>
          <p:cNvSpPr>
            <a:spLocks noGrp="1"/>
          </p:cNvSpPr>
          <p:nvPr/>
        </p:nvSpPr>
        <p:spPr>
          <a:xfrm>
            <a:off x="609600" y="3838575"/>
            <a:ext cx="4953000" cy="0"/>
          </a:xfrm>
          <a:prstGeom prst="line">
            <a:avLst/>
          </a:prstGeom>
          <a:noFill/>
          <a:ln w="9525">
            <a:solidFill>
              <a:srgbClr val="CCD6D9"/>
            </a:solidFill>
            <a:prstDash val="solid"/>
          </a:ln>
        </p:spPr>
        <p:txBody>
          <a:bodyPr/>
          <a:lstStyle/>
          <a:p>
            <a:endParaRPr lang="fr-FR"/>
          </a:p>
        </p:txBody>
      </p:sp>
      <p:sp>
        <p:nvSpPr>
          <p:cNvPr id="7" name="explanation">
            <a:extLst>
              <a:ext uri="{FF2B5EF4-FFF2-40B4-BE49-F238E27FC236}">
                <a16:creationId xmlns:a16="http://schemas.microsoft.com/office/drawing/2014/main" id="{704D912C-A9F0-42D4-89D9-DD0F0835043C}"/>
              </a:ext>
            </a:extLst>
          </p:cNvPr>
          <p:cNvSpPr>
            <a:spLocks noGrp="1"/>
          </p:cNvSpPr>
          <p:nvPr/>
        </p:nvSpPr>
        <p:spPr>
          <a:xfrm>
            <a:off x="609600" y="4124325"/>
            <a:ext cx="5000625" cy="1304925"/>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Permitted instruments</a:t>
            </a:r>
          </a:p>
          <a:p>
            <a:endParaRPr sz="2025" b="0">
              <a:solidFill>
                <a:srgbClr val="5B6D77"/>
              </a:solidFill>
              <a:latin typeface="Aptos"/>
              <a:ea typeface="Aptos"/>
              <a:cs typeface="Aptos"/>
            </a:endParaRPr>
          </a:p>
          <a:p>
            <a:pPr algn="l">
              <a:defRPr sz="2025" b="0">
                <a:solidFill>
                  <a:srgbClr val="5B6D77"/>
                </a:solidFill>
                <a:latin typeface="Aptos"/>
                <a:ea typeface="Aptos"/>
                <a:cs typeface="Aptos"/>
              </a:defRPr>
            </a:pPr>
            <a:r>
              <a:rPr sz="2025" b="0">
                <a:solidFill>
                  <a:srgbClr val="5B6D77"/>
                </a:solidFill>
                <a:latin typeface="Aptos"/>
                <a:ea typeface="Aptos"/>
                <a:cs typeface="Aptos"/>
              </a:rPr>
              <a:t>Funding and bank relationships</a:t>
            </a:r>
          </a:p>
        </p:txBody>
      </p:sp>
      <p:sp>
        <p:nvSpPr>
          <p:cNvPr id="8" name="explanation">
            <a:extLst>
              <a:ext uri="{FF2B5EF4-FFF2-40B4-BE49-F238E27FC236}">
                <a16:creationId xmlns:a16="http://schemas.microsoft.com/office/drawing/2014/main" id="{17440B04-755D-47EB-B9FD-E1C0D1375439}"/>
              </a:ext>
            </a:extLst>
          </p:cNvPr>
          <p:cNvSpPr>
            <a:spLocks noGrp="1"/>
          </p:cNvSpPr>
          <p:nvPr/>
        </p:nvSpPr>
        <p:spPr>
          <a:xfrm>
            <a:off x="6438900" y="1838325"/>
            <a:ext cx="5095875" cy="6286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Local execution</a:t>
            </a:r>
          </a:p>
        </p:txBody>
      </p:sp>
      <p:sp>
        <p:nvSpPr>
          <p:cNvPr id="9" name="explanation">
            <a:extLst>
              <a:ext uri="{FF2B5EF4-FFF2-40B4-BE49-F238E27FC236}">
                <a16:creationId xmlns:a16="http://schemas.microsoft.com/office/drawing/2014/main" id="{72139FD2-9B87-40DE-8000-D6AC02C711E9}"/>
              </a:ext>
            </a:extLst>
          </p:cNvPr>
          <p:cNvSpPr>
            <a:spLocks noGrp="1"/>
          </p:cNvSpPr>
          <p:nvPr/>
        </p:nvSpPr>
        <p:spPr>
          <a:xfrm>
            <a:off x="6438900" y="2714625"/>
            <a:ext cx="5000625" cy="952500"/>
          </a:xfrm>
          <a:prstGeom prst="rect">
            <a:avLst/>
          </a:prstGeom>
          <a:noFill/>
          <a:ln w="0">
            <a:noFill/>
            <a:prstDash val="solid"/>
          </a:ln>
        </p:spPr>
        <p:txBody>
          <a:bodyPr wrap="square" lIns="0" tIns="0" rIns="0" bIns="0" anchor="t">
            <a:noAutofit/>
          </a:bodyPr>
          <a:lstStyle>
            <a:defPPr algn="l">
              <a:defRPr sz="2550" b="1">
                <a:solidFill>
                  <a:srgbClr val="19313F"/>
                </a:solidFill>
                <a:latin typeface="Aptos"/>
                <a:ea typeface="Aptos"/>
                <a:cs typeface="Aptos"/>
              </a:defRPr>
            </a:defPPr>
          </a:lstStyle>
          <a:p>
            <a:pPr algn="l">
              <a:defRPr sz="2550" b="1">
                <a:solidFill>
                  <a:srgbClr val="19313F"/>
                </a:solidFill>
                <a:latin typeface="Aptos"/>
                <a:ea typeface="Aptos"/>
                <a:cs typeface="Aptos"/>
              </a:defRPr>
            </a:pPr>
            <a:r>
              <a:rPr sz="2550" b="1">
                <a:solidFill>
                  <a:srgbClr val="19313F"/>
                </a:solidFill>
                <a:latin typeface="Aptos"/>
                <a:ea typeface="Aptos"/>
                <a:cs typeface="Aptos"/>
              </a:rPr>
              <a:t>Operational payment needs</a:t>
            </a:r>
          </a:p>
        </p:txBody>
      </p:sp>
      <p:sp>
        <p:nvSpPr>
          <p:cNvPr id="10" name="rule">
            <a:extLst>
              <a:ext uri="{FF2B5EF4-FFF2-40B4-BE49-F238E27FC236}">
                <a16:creationId xmlns:a16="http://schemas.microsoft.com/office/drawing/2014/main" id="{3A32ACDF-662D-4529-8590-911833BD9CFD}"/>
              </a:ext>
            </a:extLst>
          </p:cNvPr>
          <p:cNvSpPr>
            <a:spLocks noGrp="1"/>
          </p:cNvSpPr>
          <p:nvPr/>
        </p:nvSpPr>
        <p:spPr>
          <a:xfrm>
            <a:off x="6438900" y="3838575"/>
            <a:ext cx="4953000" cy="0"/>
          </a:xfrm>
          <a:prstGeom prst="line">
            <a:avLst/>
          </a:prstGeom>
          <a:noFill/>
          <a:ln w="9525">
            <a:solidFill>
              <a:srgbClr val="CCD6D9"/>
            </a:solidFill>
            <a:prstDash val="solid"/>
          </a:ln>
        </p:spPr>
        <p:txBody>
          <a:bodyPr/>
          <a:lstStyle/>
          <a:p>
            <a:endParaRPr lang="fr-FR"/>
          </a:p>
        </p:txBody>
      </p:sp>
      <p:sp>
        <p:nvSpPr>
          <p:cNvPr id="11" name="explanation">
            <a:extLst>
              <a:ext uri="{FF2B5EF4-FFF2-40B4-BE49-F238E27FC236}">
                <a16:creationId xmlns:a16="http://schemas.microsoft.com/office/drawing/2014/main" id="{1365DC6F-F2C8-417F-B263-CDC5F0BF06BE}"/>
              </a:ext>
            </a:extLst>
          </p:cNvPr>
          <p:cNvSpPr>
            <a:spLocks noGrp="1"/>
          </p:cNvSpPr>
          <p:nvPr/>
        </p:nvSpPr>
        <p:spPr>
          <a:xfrm>
            <a:off x="6438900" y="4124325"/>
            <a:ext cx="5000625" cy="1304925"/>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Local knowledge and restrictions</a:t>
            </a:r>
          </a:p>
          <a:p>
            <a:endParaRPr sz="2025" b="0">
              <a:solidFill>
                <a:srgbClr val="5B6D77"/>
              </a:solidFill>
              <a:latin typeface="Aptos"/>
              <a:ea typeface="Aptos"/>
              <a:cs typeface="Aptos"/>
            </a:endParaRPr>
          </a:p>
          <a:p>
            <a:pPr algn="l">
              <a:defRPr sz="2025" b="0">
                <a:solidFill>
                  <a:srgbClr val="5B6D77"/>
                </a:solidFill>
                <a:latin typeface="Aptos"/>
                <a:ea typeface="Aptos"/>
                <a:cs typeface="Aptos"/>
              </a:defRPr>
            </a:pPr>
            <a:r>
              <a:rPr sz="2025" b="0">
                <a:solidFill>
                  <a:srgbClr val="5B6D77"/>
                </a:solidFill>
                <a:latin typeface="Aptos"/>
                <a:ea typeface="Aptos"/>
                <a:cs typeface="Aptos"/>
              </a:rPr>
              <a:t>Escalation to group Treasury</a:t>
            </a:r>
          </a:p>
        </p:txBody>
      </p:sp>
      <p:sp>
        <p:nvSpPr>
          <p:cNvPr id="12" name="rule">
            <a:extLst>
              <a:ext uri="{FF2B5EF4-FFF2-40B4-BE49-F238E27FC236}">
                <a16:creationId xmlns:a16="http://schemas.microsoft.com/office/drawing/2014/main" id="{43D76F96-0657-4CEA-8EC9-C5AE9C225A15}"/>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3" name="decision-implication">
            <a:extLst>
              <a:ext uri="{FF2B5EF4-FFF2-40B4-BE49-F238E27FC236}">
                <a16:creationId xmlns:a16="http://schemas.microsoft.com/office/drawing/2014/main" id="{514C1C85-5DE7-4831-A050-E4B4CBBF1B76}"/>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Centralise risk policy and visibility; allow local execution where operational knowledge or restrictions require it.</a:t>
            </a:r>
          </a:p>
        </p:txBody>
      </p:sp>
    </p:spTree>
    <p:extLst>
      <p:ext uri="{BB962C8B-B14F-4D97-AF65-F5344CB8AC3E}">
        <p14:creationId xmlns:p14="http://schemas.microsoft.com/office/powerpoint/2010/main" val="564324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cxnSp>
        <p:nvCxnSpPr>
          <p:cNvPr id="18" name="Connecteur droit avec flèche 17">
            <a:extLst>
              <a:ext uri="{FF2B5EF4-FFF2-40B4-BE49-F238E27FC236}">
                <a16:creationId xmlns:a16="http://schemas.microsoft.com/office/drawing/2014/main" id="{D6BA3665-6F7D-4CB7-A8BB-4EFDDE54540A}"/>
              </a:ext>
            </a:extLst>
          </p:cNvPr>
          <p:cNvCxnSpPr>
            <a:stCxn id="10" idx="3"/>
            <a:endCxn id="13" idx="1"/>
          </p:cNvCxnSpPr>
          <p:nvPr/>
        </p:nvCxnSpPr>
        <p:spPr>
          <a:xfrm>
            <a:off x="8743950" y="3381375"/>
            <a:ext cx="381000" cy="0"/>
          </a:xfrm>
          <a:prstGeom prst="straightConnector1">
            <a:avLst/>
          </a:prstGeom>
          <a:ln w="17145">
            <a:solidFill>
              <a:srgbClr val="087F83"/>
            </a:solidFill>
            <a:prstDash val="solid"/>
            <a:headEnd type="none" w="med" len="med"/>
            <a:tailEnd type="triangle" w="med" len="med"/>
          </a:ln>
        </p:spPr>
      </p:cxnSp>
      <p:cxnSp>
        <p:nvCxnSpPr>
          <p:cNvPr id="17" name="Connecteur droit avec flèche 16">
            <a:extLst>
              <a:ext uri="{FF2B5EF4-FFF2-40B4-BE49-F238E27FC236}">
                <a16:creationId xmlns:a16="http://schemas.microsoft.com/office/drawing/2014/main" id="{05C79042-D4DD-48F4-B919-7F89F611D91F}"/>
              </a:ext>
            </a:extLst>
          </p:cNvPr>
          <p:cNvCxnSpPr>
            <a:stCxn id="7" idx="3"/>
            <a:endCxn id="10" idx="1"/>
          </p:cNvCxnSpPr>
          <p:nvPr/>
        </p:nvCxnSpPr>
        <p:spPr>
          <a:xfrm>
            <a:off x="5905500" y="3381375"/>
            <a:ext cx="381000" cy="0"/>
          </a:xfrm>
          <a:prstGeom prst="straightConnector1">
            <a:avLst/>
          </a:prstGeom>
          <a:ln w="17145">
            <a:solidFill>
              <a:srgbClr val="087F83"/>
            </a:solidFill>
            <a:prstDash val="solid"/>
            <a:headEnd type="none" w="med" len="med"/>
            <a:tailEnd type="triangle" w="med" len="med"/>
          </a:ln>
        </p:spPr>
      </p:cxnSp>
      <p:cxnSp>
        <p:nvCxnSpPr>
          <p:cNvPr id="16" name="Connecteur droit avec flèche 15">
            <a:extLst>
              <a:ext uri="{FF2B5EF4-FFF2-40B4-BE49-F238E27FC236}">
                <a16:creationId xmlns:a16="http://schemas.microsoft.com/office/drawing/2014/main" id="{11E7D6D5-B1D8-4E46-A6FA-3AF8100690AA}"/>
              </a:ext>
            </a:extLst>
          </p:cNvPr>
          <p:cNvCxnSpPr>
            <a:stCxn id="4" idx="3"/>
            <a:endCxn id="7" idx="1"/>
          </p:cNvCxnSpPr>
          <p:nvPr/>
        </p:nvCxnSpPr>
        <p:spPr>
          <a:xfrm>
            <a:off x="3067050" y="3381375"/>
            <a:ext cx="381000" cy="0"/>
          </a:xfrm>
          <a:prstGeom prst="straightConnector1">
            <a:avLst/>
          </a:prstGeom>
          <a:ln w="17145">
            <a:solidFill>
              <a:srgbClr val="087F83"/>
            </a:solidFill>
            <a:prstDash val="solid"/>
            <a:headEnd type="none" w="med" len="med"/>
            <a:tailEnd type="triangle" w="med" len="med"/>
          </a:ln>
        </p:spPr>
      </p:cxnSp>
      <p:sp>
        <p:nvSpPr>
          <p:cNvPr id="23" name="section-reference">
            <a:extLst>
              <a:ext uri="{FF2B5EF4-FFF2-40B4-BE49-F238E27FC236}">
                <a16:creationId xmlns:a16="http://schemas.microsoft.com/office/drawing/2014/main" id="{8E7505C1-335B-424D-8DAC-5A1B529B8195}"/>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1.2</a:t>
            </a:r>
          </a:p>
        </p:txBody>
      </p:sp>
      <p:sp>
        <p:nvSpPr>
          <p:cNvPr id="2" name="slide-title">
            <a:extLst>
              <a:ext uri="{FF2B5EF4-FFF2-40B4-BE49-F238E27FC236}">
                <a16:creationId xmlns:a16="http://schemas.microsoft.com/office/drawing/2014/main" id="{2F9BA54C-1A26-43E3-8F7F-A6B1D0AAE94F}"/>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Controls protect liquidity too</a:t>
            </a:r>
          </a:p>
        </p:txBody>
      </p:sp>
      <p:sp>
        <p:nvSpPr>
          <p:cNvPr id="3" name="slide-number">
            <a:extLst>
              <a:ext uri="{FF2B5EF4-FFF2-40B4-BE49-F238E27FC236}">
                <a16:creationId xmlns:a16="http://schemas.microsoft.com/office/drawing/2014/main" id="{C8BE5AC7-113B-4BED-8EAA-B468E5117D17}"/>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11</a:t>
            </a:r>
          </a:p>
        </p:txBody>
      </p:sp>
      <p:sp>
        <p:nvSpPr>
          <p:cNvPr id="4" name="diagram-node">
            <a:extLst>
              <a:ext uri="{FF2B5EF4-FFF2-40B4-BE49-F238E27FC236}">
                <a16:creationId xmlns:a16="http://schemas.microsoft.com/office/drawing/2014/main" id="{DF00A02D-9DAA-4B32-8944-ED76EE323527}"/>
              </a:ext>
            </a:extLst>
          </p:cNvPr>
          <p:cNvSpPr>
            <a:spLocks noGrp="1"/>
          </p:cNvSpPr>
          <p:nvPr/>
        </p:nvSpPr>
        <p:spPr>
          <a:xfrm>
            <a:off x="609600" y="2476500"/>
            <a:ext cx="2457450" cy="1809750"/>
          </a:xfrm>
          <a:prstGeom prst="rect">
            <a:avLst/>
          </a:prstGeom>
          <a:solidFill>
            <a:srgbClr val="142D3B"/>
          </a:solidFill>
          <a:ln w="0">
            <a:noFill/>
            <a:prstDash val="solid"/>
          </a:ln>
        </p:spPr>
        <p:txBody>
          <a:bodyPr/>
          <a:lstStyle/>
          <a:p>
            <a:endParaRPr lang="fr-FR"/>
          </a:p>
        </p:txBody>
      </p:sp>
      <p:sp>
        <p:nvSpPr>
          <p:cNvPr id="5" name="explanation">
            <a:extLst>
              <a:ext uri="{FF2B5EF4-FFF2-40B4-BE49-F238E27FC236}">
                <a16:creationId xmlns:a16="http://schemas.microsoft.com/office/drawing/2014/main" id="{CFE47E6B-0A2E-487B-9176-7336ED4AA302}"/>
              </a:ext>
            </a:extLst>
          </p:cNvPr>
          <p:cNvSpPr>
            <a:spLocks noGrp="1"/>
          </p:cNvSpPr>
          <p:nvPr/>
        </p:nvSpPr>
        <p:spPr>
          <a:xfrm>
            <a:off x="781050" y="2657475"/>
            <a:ext cx="2114550" cy="571500"/>
          </a:xfrm>
          <a:prstGeom prst="rect">
            <a:avLst/>
          </a:prstGeom>
          <a:noFill/>
          <a:ln w="0">
            <a:noFill/>
            <a:prstDash val="solid"/>
          </a:ln>
        </p:spPr>
        <p:txBody>
          <a:bodyPr wrap="square" lIns="0" tIns="0" rIns="0" bIns="0" anchor="t">
            <a:noAutofit/>
          </a:bodyPr>
          <a:lstStyle>
            <a:defPPr algn="l">
              <a:defRPr sz="2025" b="1">
                <a:solidFill>
                  <a:srgbClr val="FFFFFF"/>
                </a:solidFill>
                <a:latin typeface="Aptos"/>
                <a:ea typeface="Aptos"/>
                <a:cs typeface="Aptos"/>
              </a:defRPr>
            </a:defPPr>
          </a:lstStyle>
          <a:p>
            <a:pPr algn="l">
              <a:defRPr sz="2025" b="1">
                <a:solidFill>
                  <a:srgbClr val="FFFFFF"/>
                </a:solidFill>
                <a:latin typeface="Aptos"/>
                <a:ea typeface="Aptos"/>
                <a:cs typeface="Aptos"/>
              </a:defRPr>
            </a:pPr>
            <a:r>
              <a:rPr sz="2025" b="1">
                <a:solidFill>
                  <a:srgbClr val="FFFFFF"/>
                </a:solidFill>
                <a:latin typeface="Aptos"/>
                <a:ea typeface="Aptos"/>
                <a:cs typeface="Aptos"/>
              </a:rPr>
              <a:t>Initiate</a:t>
            </a:r>
          </a:p>
        </p:txBody>
      </p:sp>
      <p:sp>
        <p:nvSpPr>
          <p:cNvPr id="6" name="explanation">
            <a:extLst>
              <a:ext uri="{FF2B5EF4-FFF2-40B4-BE49-F238E27FC236}">
                <a16:creationId xmlns:a16="http://schemas.microsoft.com/office/drawing/2014/main" id="{8BF720F0-39FA-4623-8B15-C03BD1FFBF77}"/>
              </a:ext>
            </a:extLst>
          </p:cNvPr>
          <p:cNvSpPr>
            <a:spLocks noGrp="1"/>
          </p:cNvSpPr>
          <p:nvPr/>
        </p:nvSpPr>
        <p:spPr>
          <a:xfrm>
            <a:off x="781050" y="3257550"/>
            <a:ext cx="2114550" cy="971550"/>
          </a:xfrm>
          <a:prstGeom prst="rect">
            <a:avLst/>
          </a:prstGeom>
          <a:noFill/>
          <a:ln w="0">
            <a:noFill/>
            <a:prstDash val="solid"/>
          </a:ln>
        </p:spPr>
        <p:txBody>
          <a:bodyPr wrap="square" lIns="0" tIns="0" rIns="0" bIns="0" anchor="t">
            <a:noAutofit/>
          </a:bodyPr>
          <a:lstStyle>
            <a:defPPr algn="l">
              <a:defRPr sz="1650" b="0">
                <a:solidFill>
                  <a:srgbClr val="DCE7E9"/>
                </a:solidFill>
                <a:latin typeface="Aptos"/>
                <a:ea typeface="Aptos"/>
                <a:cs typeface="Aptos"/>
              </a:defRPr>
            </a:defPPr>
          </a:lstStyle>
          <a:p>
            <a:pPr algn="l">
              <a:defRPr sz="1650" b="0">
                <a:solidFill>
                  <a:srgbClr val="DCE7E9"/>
                </a:solidFill>
                <a:latin typeface="Aptos"/>
                <a:ea typeface="Aptos"/>
                <a:cs typeface="Aptos"/>
              </a:defRPr>
            </a:pPr>
            <a:r>
              <a:rPr sz="1650" b="0">
                <a:solidFill>
                  <a:srgbClr val="DCE7E9"/>
                </a:solidFill>
                <a:latin typeface="Aptos"/>
                <a:ea typeface="Aptos"/>
                <a:cs typeface="Aptos"/>
              </a:rPr>
              <a:t>Prepare the payment</a:t>
            </a:r>
          </a:p>
        </p:txBody>
      </p:sp>
      <p:sp>
        <p:nvSpPr>
          <p:cNvPr id="7" name="diagram-node">
            <a:extLst>
              <a:ext uri="{FF2B5EF4-FFF2-40B4-BE49-F238E27FC236}">
                <a16:creationId xmlns:a16="http://schemas.microsoft.com/office/drawing/2014/main" id="{AF9F707C-A383-43DB-9AE3-640FA15ECCD7}"/>
              </a:ext>
            </a:extLst>
          </p:cNvPr>
          <p:cNvSpPr>
            <a:spLocks noGrp="1"/>
          </p:cNvSpPr>
          <p:nvPr/>
        </p:nvSpPr>
        <p:spPr>
          <a:xfrm>
            <a:off x="3448050" y="2476500"/>
            <a:ext cx="2457450" cy="1809750"/>
          </a:xfrm>
          <a:prstGeom prst="rect">
            <a:avLst/>
          </a:prstGeom>
          <a:solidFill>
            <a:srgbClr val="DCEEE9"/>
          </a:solidFill>
          <a:ln w="0">
            <a:noFill/>
            <a:prstDash val="solid"/>
          </a:ln>
        </p:spPr>
        <p:txBody>
          <a:bodyPr/>
          <a:lstStyle/>
          <a:p>
            <a:endParaRPr lang="fr-FR"/>
          </a:p>
        </p:txBody>
      </p:sp>
      <p:sp>
        <p:nvSpPr>
          <p:cNvPr id="8" name="explanation">
            <a:extLst>
              <a:ext uri="{FF2B5EF4-FFF2-40B4-BE49-F238E27FC236}">
                <a16:creationId xmlns:a16="http://schemas.microsoft.com/office/drawing/2014/main" id="{3D067D9E-D18A-4040-9ADC-DFCBAE164BC7}"/>
              </a:ext>
            </a:extLst>
          </p:cNvPr>
          <p:cNvSpPr>
            <a:spLocks noGrp="1"/>
          </p:cNvSpPr>
          <p:nvPr/>
        </p:nvSpPr>
        <p:spPr>
          <a:xfrm>
            <a:off x="3619500" y="2657475"/>
            <a:ext cx="2114550" cy="5715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Approve</a:t>
            </a:r>
          </a:p>
        </p:txBody>
      </p:sp>
      <p:sp>
        <p:nvSpPr>
          <p:cNvPr id="9" name="explanation">
            <a:extLst>
              <a:ext uri="{FF2B5EF4-FFF2-40B4-BE49-F238E27FC236}">
                <a16:creationId xmlns:a16="http://schemas.microsoft.com/office/drawing/2014/main" id="{1DB8A924-C74A-4EF3-91C9-A9228C7AAB80}"/>
              </a:ext>
            </a:extLst>
          </p:cNvPr>
          <p:cNvSpPr>
            <a:spLocks noGrp="1"/>
          </p:cNvSpPr>
          <p:nvPr/>
        </p:nvSpPr>
        <p:spPr>
          <a:xfrm>
            <a:off x="3619500" y="3257550"/>
            <a:ext cx="2114550" cy="971550"/>
          </a:xfrm>
          <a:prstGeom prst="rect">
            <a:avLst/>
          </a:prstGeom>
          <a:noFill/>
          <a:ln w="0">
            <a:noFill/>
            <a:prstDash val="solid"/>
          </a:ln>
        </p:spPr>
        <p:txBody>
          <a:bodyPr wrap="square" lIns="0" tIns="0" rIns="0" bIns="0" anchor="t">
            <a:noAutofit/>
          </a:bodyPr>
          <a:lstStyle>
            <a:defPPr algn="l">
              <a:defRPr sz="1650" b="0">
                <a:solidFill>
                  <a:srgbClr val="19313F"/>
                </a:solidFill>
                <a:latin typeface="Aptos"/>
                <a:ea typeface="Aptos"/>
                <a:cs typeface="Aptos"/>
              </a:defRPr>
            </a:defPPr>
          </a:lstStyle>
          <a:p>
            <a:pPr algn="l">
              <a:defRPr sz="1650" b="0">
                <a:solidFill>
                  <a:srgbClr val="19313F"/>
                </a:solidFill>
                <a:latin typeface="Aptos"/>
                <a:ea typeface="Aptos"/>
                <a:cs typeface="Aptos"/>
              </a:defRPr>
            </a:pPr>
            <a:r>
              <a:rPr sz="1650" b="0">
                <a:solidFill>
                  <a:srgbClr val="19313F"/>
                </a:solidFill>
                <a:latin typeface="Aptos"/>
                <a:ea typeface="Aptos"/>
                <a:cs typeface="Aptos"/>
              </a:rPr>
              <a:t>Independent authorisation</a:t>
            </a:r>
          </a:p>
        </p:txBody>
      </p:sp>
      <p:sp>
        <p:nvSpPr>
          <p:cNvPr id="10" name="diagram-node">
            <a:extLst>
              <a:ext uri="{FF2B5EF4-FFF2-40B4-BE49-F238E27FC236}">
                <a16:creationId xmlns:a16="http://schemas.microsoft.com/office/drawing/2014/main" id="{B417F14A-935E-438D-8BCE-7A802DDD497F}"/>
              </a:ext>
            </a:extLst>
          </p:cNvPr>
          <p:cNvSpPr>
            <a:spLocks noGrp="1"/>
          </p:cNvSpPr>
          <p:nvPr/>
        </p:nvSpPr>
        <p:spPr>
          <a:xfrm>
            <a:off x="6286500" y="2476500"/>
            <a:ext cx="2457450" cy="1809750"/>
          </a:xfrm>
          <a:prstGeom prst="rect">
            <a:avLst/>
          </a:prstGeom>
          <a:solidFill>
            <a:srgbClr val="142D3B"/>
          </a:solidFill>
          <a:ln w="0">
            <a:noFill/>
            <a:prstDash val="solid"/>
          </a:ln>
        </p:spPr>
        <p:txBody>
          <a:bodyPr/>
          <a:lstStyle/>
          <a:p>
            <a:endParaRPr lang="fr-FR"/>
          </a:p>
        </p:txBody>
      </p:sp>
      <p:sp>
        <p:nvSpPr>
          <p:cNvPr id="11" name="explanation">
            <a:extLst>
              <a:ext uri="{FF2B5EF4-FFF2-40B4-BE49-F238E27FC236}">
                <a16:creationId xmlns:a16="http://schemas.microsoft.com/office/drawing/2014/main" id="{2951B0BE-BF9C-4B7F-B8FB-F07803EA9882}"/>
              </a:ext>
            </a:extLst>
          </p:cNvPr>
          <p:cNvSpPr>
            <a:spLocks noGrp="1"/>
          </p:cNvSpPr>
          <p:nvPr/>
        </p:nvSpPr>
        <p:spPr>
          <a:xfrm>
            <a:off x="6457950" y="2657475"/>
            <a:ext cx="2114550" cy="571500"/>
          </a:xfrm>
          <a:prstGeom prst="rect">
            <a:avLst/>
          </a:prstGeom>
          <a:noFill/>
          <a:ln w="0">
            <a:noFill/>
            <a:prstDash val="solid"/>
          </a:ln>
        </p:spPr>
        <p:txBody>
          <a:bodyPr wrap="square" lIns="0" tIns="0" rIns="0" bIns="0" anchor="t">
            <a:noAutofit/>
          </a:bodyPr>
          <a:lstStyle>
            <a:defPPr algn="l">
              <a:defRPr sz="2025" b="1">
                <a:solidFill>
                  <a:srgbClr val="FFFFFF"/>
                </a:solidFill>
                <a:latin typeface="Aptos"/>
                <a:ea typeface="Aptos"/>
                <a:cs typeface="Aptos"/>
              </a:defRPr>
            </a:defPPr>
          </a:lstStyle>
          <a:p>
            <a:pPr algn="l">
              <a:defRPr sz="2025" b="1">
                <a:solidFill>
                  <a:srgbClr val="FFFFFF"/>
                </a:solidFill>
                <a:latin typeface="Aptos"/>
                <a:ea typeface="Aptos"/>
                <a:cs typeface="Aptos"/>
              </a:defRPr>
            </a:pPr>
            <a:r>
              <a:rPr sz="2025" b="1">
                <a:solidFill>
                  <a:srgbClr val="FFFFFF"/>
                </a:solidFill>
                <a:latin typeface="Aptos"/>
                <a:ea typeface="Aptos"/>
                <a:cs typeface="Aptos"/>
              </a:rPr>
              <a:t>Confirm</a:t>
            </a:r>
          </a:p>
        </p:txBody>
      </p:sp>
      <p:sp>
        <p:nvSpPr>
          <p:cNvPr id="12" name="explanation">
            <a:extLst>
              <a:ext uri="{FF2B5EF4-FFF2-40B4-BE49-F238E27FC236}">
                <a16:creationId xmlns:a16="http://schemas.microsoft.com/office/drawing/2014/main" id="{B42E4BF8-9CEE-4A49-9A7A-9FE93DA6D038}"/>
              </a:ext>
            </a:extLst>
          </p:cNvPr>
          <p:cNvSpPr>
            <a:spLocks noGrp="1"/>
          </p:cNvSpPr>
          <p:nvPr/>
        </p:nvSpPr>
        <p:spPr>
          <a:xfrm>
            <a:off x="6457950" y="3257550"/>
            <a:ext cx="2114550" cy="971550"/>
          </a:xfrm>
          <a:prstGeom prst="rect">
            <a:avLst/>
          </a:prstGeom>
          <a:noFill/>
          <a:ln w="0">
            <a:noFill/>
            <a:prstDash val="solid"/>
          </a:ln>
        </p:spPr>
        <p:txBody>
          <a:bodyPr wrap="square" lIns="0" tIns="0" rIns="0" bIns="0" anchor="t">
            <a:noAutofit/>
          </a:bodyPr>
          <a:lstStyle>
            <a:defPPr algn="l">
              <a:defRPr sz="1650" b="0">
                <a:solidFill>
                  <a:srgbClr val="DCE7E9"/>
                </a:solidFill>
                <a:latin typeface="Aptos"/>
                <a:ea typeface="Aptos"/>
                <a:cs typeface="Aptos"/>
              </a:defRPr>
            </a:defPPr>
          </a:lstStyle>
          <a:p>
            <a:pPr algn="l">
              <a:defRPr sz="1650" b="0">
                <a:solidFill>
                  <a:srgbClr val="DCE7E9"/>
                </a:solidFill>
                <a:latin typeface="Aptos"/>
                <a:ea typeface="Aptos"/>
                <a:cs typeface="Aptos"/>
              </a:defRPr>
            </a:pPr>
            <a:r>
              <a:rPr sz="1650" b="0">
                <a:solidFill>
                  <a:srgbClr val="DCE7E9"/>
                </a:solidFill>
                <a:latin typeface="Aptos"/>
                <a:ea typeface="Aptos"/>
                <a:cs typeface="Aptos"/>
              </a:rPr>
              <a:t>Validate trade details</a:t>
            </a:r>
          </a:p>
        </p:txBody>
      </p:sp>
      <p:sp>
        <p:nvSpPr>
          <p:cNvPr id="13" name="diagram-node">
            <a:extLst>
              <a:ext uri="{FF2B5EF4-FFF2-40B4-BE49-F238E27FC236}">
                <a16:creationId xmlns:a16="http://schemas.microsoft.com/office/drawing/2014/main" id="{93EB4E5A-2C0A-476A-BC2D-24A6C58BE1A8}"/>
              </a:ext>
            </a:extLst>
          </p:cNvPr>
          <p:cNvSpPr>
            <a:spLocks noGrp="1"/>
          </p:cNvSpPr>
          <p:nvPr/>
        </p:nvSpPr>
        <p:spPr>
          <a:xfrm>
            <a:off x="9124950" y="2476500"/>
            <a:ext cx="2457450" cy="1809750"/>
          </a:xfrm>
          <a:prstGeom prst="rect">
            <a:avLst/>
          </a:prstGeom>
          <a:solidFill>
            <a:srgbClr val="DCEEE9"/>
          </a:solidFill>
          <a:ln w="0">
            <a:noFill/>
            <a:prstDash val="solid"/>
          </a:ln>
        </p:spPr>
        <p:txBody>
          <a:bodyPr/>
          <a:lstStyle/>
          <a:p>
            <a:endParaRPr lang="fr-FR"/>
          </a:p>
        </p:txBody>
      </p:sp>
      <p:sp>
        <p:nvSpPr>
          <p:cNvPr id="14" name="explanation">
            <a:extLst>
              <a:ext uri="{FF2B5EF4-FFF2-40B4-BE49-F238E27FC236}">
                <a16:creationId xmlns:a16="http://schemas.microsoft.com/office/drawing/2014/main" id="{DFB50F96-7B44-48D5-AE7D-E4BC3CBFD960}"/>
              </a:ext>
            </a:extLst>
          </p:cNvPr>
          <p:cNvSpPr>
            <a:spLocks noGrp="1"/>
          </p:cNvSpPr>
          <p:nvPr/>
        </p:nvSpPr>
        <p:spPr>
          <a:xfrm>
            <a:off x="9296400" y="2657475"/>
            <a:ext cx="2114550" cy="5715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Settle</a:t>
            </a:r>
          </a:p>
        </p:txBody>
      </p:sp>
      <p:sp>
        <p:nvSpPr>
          <p:cNvPr id="15" name="explanation">
            <a:extLst>
              <a:ext uri="{FF2B5EF4-FFF2-40B4-BE49-F238E27FC236}">
                <a16:creationId xmlns:a16="http://schemas.microsoft.com/office/drawing/2014/main" id="{992A459C-5D56-4316-BACE-5F28FBE2C58E}"/>
              </a:ext>
            </a:extLst>
          </p:cNvPr>
          <p:cNvSpPr>
            <a:spLocks noGrp="1"/>
          </p:cNvSpPr>
          <p:nvPr/>
        </p:nvSpPr>
        <p:spPr>
          <a:xfrm>
            <a:off x="9296400" y="3257550"/>
            <a:ext cx="2114550" cy="971550"/>
          </a:xfrm>
          <a:prstGeom prst="rect">
            <a:avLst/>
          </a:prstGeom>
          <a:noFill/>
          <a:ln w="0">
            <a:noFill/>
            <a:prstDash val="solid"/>
          </a:ln>
        </p:spPr>
        <p:txBody>
          <a:bodyPr wrap="square" lIns="0" tIns="0" rIns="0" bIns="0" anchor="t">
            <a:noAutofit/>
          </a:bodyPr>
          <a:lstStyle>
            <a:defPPr algn="l">
              <a:defRPr sz="1650" b="0">
                <a:solidFill>
                  <a:srgbClr val="19313F"/>
                </a:solidFill>
                <a:latin typeface="Aptos"/>
                <a:ea typeface="Aptos"/>
                <a:cs typeface="Aptos"/>
              </a:defRPr>
            </a:defPPr>
          </a:lstStyle>
          <a:p>
            <a:pPr algn="l">
              <a:defRPr sz="1650" b="0">
                <a:solidFill>
                  <a:srgbClr val="19313F"/>
                </a:solidFill>
                <a:latin typeface="Aptos"/>
                <a:ea typeface="Aptos"/>
                <a:cs typeface="Aptos"/>
              </a:defRPr>
            </a:pPr>
            <a:r>
              <a:rPr sz="1650" b="0">
                <a:solidFill>
                  <a:srgbClr val="19313F"/>
                </a:solidFill>
                <a:latin typeface="Aptos"/>
                <a:ea typeface="Aptos"/>
                <a:cs typeface="Aptos"/>
              </a:rPr>
              <a:t>Release and reconcile</a:t>
            </a:r>
          </a:p>
        </p:txBody>
      </p:sp>
      <p:sp>
        <p:nvSpPr>
          <p:cNvPr id="19" name="explanation">
            <a:extLst>
              <a:ext uri="{FF2B5EF4-FFF2-40B4-BE49-F238E27FC236}">
                <a16:creationId xmlns:a16="http://schemas.microsoft.com/office/drawing/2014/main" id="{AAB4FA50-B0EA-4CB8-911B-DB05E4C9DD87}"/>
              </a:ext>
            </a:extLst>
          </p:cNvPr>
          <p:cNvSpPr>
            <a:spLocks noGrp="1"/>
          </p:cNvSpPr>
          <p:nvPr/>
        </p:nvSpPr>
        <p:spPr>
          <a:xfrm>
            <a:off x="609600" y="1752600"/>
            <a:ext cx="10477500" cy="542925"/>
          </a:xfrm>
          <a:prstGeom prst="rect">
            <a:avLst/>
          </a:prstGeom>
          <a:noFill/>
          <a:ln w="0">
            <a:noFill/>
            <a:prstDash val="solid"/>
          </a:ln>
        </p:spPr>
        <p:txBody>
          <a:bodyPr wrap="square" lIns="0" tIns="0" rIns="0" bIns="0" anchor="t">
            <a:noAutofit/>
          </a:bodyPr>
          <a:lstStyle>
            <a:defPPr algn="l">
              <a:defRPr sz="2400" b="1">
                <a:solidFill>
                  <a:srgbClr val="19313F"/>
                </a:solidFill>
                <a:latin typeface="Aptos"/>
                <a:ea typeface="Aptos"/>
                <a:cs typeface="Aptos"/>
              </a:defRPr>
            </a:defPPr>
          </a:lstStyle>
          <a:p>
            <a:pPr algn="l">
              <a:defRPr sz="2400" b="1">
                <a:solidFill>
                  <a:srgbClr val="19313F"/>
                </a:solidFill>
                <a:latin typeface="Aptos"/>
                <a:ea typeface="Aptos"/>
                <a:cs typeface="Aptos"/>
              </a:defRPr>
            </a:pPr>
            <a:r>
              <a:rPr sz="2400" b="1">
                <a:solidFill>
                  <a:srgbClr val="19313F"/>
                </a:solidFill>
                <a:latin typeface="Aptos"/>
                <a:ea typeface="Aptos"/>
                <a:cs typeface="Aptos"/>
              </a:rPr>
              <a:t>Separate duties across the transaction lifecycle.</a:t>
            </a:r>
          </a:p>
        </p:txBody>
      </p:sp>
      <p:sp>
        <p:nvSpPr>
          <p:cNvPr id="20" name="explanation">
            <a:extLst>
              <a:ext uri="{FF2B5EF4-FFF2-40B4-BE49-F238E27FC236}">
                <a16:creationId xmlns:a16="http://schemas.microsoft.com/office/drawing/2014/main" id="{54BFC60B-3925-4E0E-AF69-84106C3C442B}"/>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Controls also cover beneficiary changes, bank access and contingency procedures.</a:t>
            </a:r>
          </a:p>
        </p:txBody>
      </p:sp>
      <p:sp>
        <p:nvSpPr>
          <p:cNvPr id="21" name="rule">
            <a:extLst>
              <a:ext uri="{FF2B5EF4-FFF2-40B4-BE49-F238E27FC236}">
                <a16:creationId xmlns:a16="http://schemas.microsoft.com/office/drawing/2014/main" id="{D634322E-E367-41F7-B491-6F0423B31C8D}"/>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22" name="decision-implication">
            <a:extLst>
              <a:ext uri="{FF2B5EF4-FFF2-40B4-BE49-F238E27FC236}">
                <a16:creationId xmlns:a16="http://schemas.microsoft.com/office/drawing/2014/main" id="{B86E13E2-46DD-446C-BAAB-A1DA7EF945E0}"/>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Assign control owners and ensure a backup process when a bank platform fails.</a:t>
            </a:r>
          </a:p>
        </p:txBody>
      </p:sp>
    </p:spTree>
    <p:extLst>
      <p:ext uri="{BB962C8B-B14F-4D97-AF65-F5344CB8AC3E}">
        <p14:creationId xmlns:p14="http://schemas.microsoft.com/office/powerpoint/2010/main" val="974650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4" name="section-reference">
            <a:extLst>
              <a:ext uri="{FF2B5EF4-FFF2-40B4-BE49-F238E27FC236}">
                <a16:creationId xmlns:a16="http://schemas.microsoft.com/office/drawing/2014/main" id="{50DF7DE0-C2B8-46B2-B59F-0FC035B51815}"/>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1.3</a:t>
            </a:r>
          </a:p>
        </p:txBody>
      </p:sp>
      <p:sp>
        <p:nvSpPr>
          <p:cNvPr id="2" name="slide-title">
            <a:extLst>
              <a:ext uri="{FF2B5EF4-FFF2-40B4-BE49-F238E27FC236}">
                <a16:creationId xmlns:a16="http://schemas.microsoft.com/office/drawing/2014/main" id="{A959C6DD-0A3B-4267-B292-6288F45E6C0C}"/>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Liquidity risk versus funding risk</a:t>
            </a:r>
          </a:p>
        </p:txBody>
      </p:sp>
      <p:sp>
        <p:nvSpPr>
          <p:cNvPr id="3" name="slide-number">
            <a:extLst>
              <a:ext uri="{FF2B5EF4-FFF2-40B4-BE49-F238E27FC236}">
                <a16:creationId xmlns:a16="http://schemas.microsoft.com/office/drawing/2014/main" id="{A22F403C-2D8F-4339-9E28-2D42C049981A}"/>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13</a:t>
            </a:r>
          </a:p>
        </p:txBody>
      </p:sp>
      <p:sp>
        <p:nvSpPr>
          <p:cNvPr id="4" name="explanation">
            <a:extLst>
              <a:ext uri="{FF2B5EF4-FFF2-40B4-BE49-F238E27FC236}">
                <a16:creationId xmlns:a16="http://schemas.microsoft.com/office/drawing/2014/main" id="{C593C80A-C5B8-43EE-AB24-9A152EEF1616}"/>
              </a:ext>
            </a:extLst>
          </p:cNvPr>
          <p:cNvSpPr>
            <a:spLocks noGrp="1"/>
          </p:cNvSpPr>
          <p:nvPr/>
        </p:nvSpPr>
        <p:spPr>
          <a:xfrm>
            <a:off x="609600" y="1838325"/>
            <a:ext cx="5095875" cy="6286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Liquidity risk</a:t>
            </a:r>
          </a:p>
        </p:txBody>
      </p:sp>
      <p:sp>
        <p:nvSpPr>
          <p:cNvPr id="5" name="explanation">
            <a:extLst>
              <a:ext uri="{FF2B5EF4-FFF2-40B4-BE49-F238E27FC236}">
                <a16:creationId xmlns:a16="http://schemas.microsoft.com/office/drawing/2014/main" id="{92F0DB05-1D91-4FBC-9BC2-6676EF4D3065}"/>
              </a:ext>
            </a:extLst>
          </p:cNvPr>
          <p:cNvSpPr>
            <a:spLocks noGrp="1"/>
          </p:cNvSpPr>
          <p:nvPr/>
        </p:nvSpPr>
        <p:spPr>
          <a:xfrm>
            <a:off x="609600" y="2714625"/>
            <a:ext cx="5000625" cy="952500"/>
          </a:xfrm>
          <a:prstGeom prst="rect">
            <a:avLst/>
          </a:prstGeom>
          <a:noFill/>
          <a:ln w="0">
            <a:noFill/>
            <a:prstDash val="solid"/>
          </a:ln>
        </p:spPr>
        <p:txBody>
          <a:bodyPr wrap="square" lIns="0" tIns="0" rIns="0" bIns="0" anchor="t">
            <a:noAutofit/>
          </a:bodyPr>
          <a:lstStyle>
            <a:defPPr algn="l">
              <a:defRPr sz="2550" b="1">
                <a:solidFill>
                  <a:srgbClr val="19313F"/>
                </a:solidFill>
                <a:latin typeface="Aptos"/>
                <a:ea typeface="Aptos"/>
                <a:cs typeface="Aptos"/>
              </a:defRPr>
            </a:defPPr>
          </a:lstStyle>
          <a:p>
            <a:pPr algn="l">
              <a:defRPr sz="2550" b="1">
                <a:solidFill>
                  <a:srgbClr val="19313F"/>
                </a:solidFill>
                <a:latin typeface="Aptos"/>
                <a:ea typeface="Aptos"/>
                <a:cs typeface="Aptos"/>
              </a:defRPr>
            </a:pPr>
            <a:r>
              <a:rPr sz="2550" b="1">
                <a:solidFill>
                  <a:srgbClr val="19313F"/>
                </a:solidFill>
                <a:latin typeface="Aptos"/>
                <a:ea typeface="Aptos"/>
                <a:cs typeface="Aptos"/>
              </a:rPr>
              <a:t>Can obligations be paid on time?</a:t>
            </a:r>
          </a:p>
        </p:txBody>
      </p:sp>
      <p:sp>
        <p:nvSpPr>
          <p:cNvPr id="6" name="rule">
            <a:extLst>
              <a:ext uri="{FF2B5EF4-FFF2-40B4-BE49-F238E27FC236}">
                <a16:creationId xmlns:a16="http://schemas.microsoft.com/office/drawing/2014/main" id="{6E59E64F-05FC-497A-A732-D01124E23D27}"/>
              </a:ext>
            </a:extLst>
          </p:cNvPr>
          <p:cNvSpPr>
            <a:spLocks noGrp="1"/>
          </p:cNvSpPr>
          <p:nvPr/>
        </p:nvSpPr>
        <p:spPr>
          <a:xfrm>
            <a:off x="609600" y="3838575"/>
            <a:ext cx="4953000" cy="0"/>
          </a:xfrm>
          <a:prstGeom prst="line">
            <a:avLst/>
          </a:prstGeom>
          <a:noFill/>
          <a:ln w="9525">
            <a:solidFill>
              <a:srgbClr val="CCD6D9"/>
            </a:solidFill>
            <a:prstDash val="solid"/>
          </a:ln>
        </p:spPr>
        <p:txBody>
          <a:bodyPr/>
          <a:lstStyle/>
          <a:p>
            <a:endParaRPr lang="fr-FR"/>
          </a:p>
        </p:txBody>
      </p:sp>
      <p:sp>
        <p:nvSpPr>
          <p:cNvPr id="7" name="explanation">
            <a:extLst>
              <a:ext uri="{FF2B5EF4-FFF2-40B4-BE49-F238E27FC236}">
                <a16:creationId xmlns:a16="http://schemas.microsoft.com/office/drawing/2014/main" id="{EF3BABCE-1D97-4C59-A024-CC342FA7D5C3}"/>
              </a:ext>
            </a:extLst>
          </p:cNvPr>
          <p:cNvSpPr>
            <a:spLocks noGrp="1"/>
          </p:cNvSpPr>
          <p:nvPr/>
        </p:nvSpPr>
        <p:spPr>
          <a:xfrm>
            <a:off x="609600" y="4124325"/>
            <a:ext cx="5000625" cy="1304925"/>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Focus on cash dates and locations</a:t>
            </a:r>
          </a:p>
          <a:p>
            <a:endParaRPr sz="2025" b="0">
              <a:solidFill>
                <a:srgbClr val="5B6D77"/>
              </a:solidFill>
              <a:latin typeface="Aptos"/>
              <a:ea typeface="Aptos"/>
              <a:cs typeface="Aptos"/>
            </a:endParaRPr>
          </a:p>
          <a:p>
            <a:pPr algn="l">
              <a:defRPr sz="2025" b="0">
                <a:solidFill>
                  <a:srgbClr val="5B6D77"/>
                </a:solidFill>
                <a:latin typeface="Aptos"/>
                <a:ea typeface="Aptos"/>
                <a:cs typeface="Aptos"/>
              </a:defRPr>
            </a:pPr>
            <a:r>
              <a:rPr sz="2025" b="0">
                <a:solidFill>
                  <a:srgbClr val="5B6D77"/>
                </a:solidFill>
                <a:latin typeface="Aptos"/>
                <a:ea typeface="Aptos"/>
                <a:cs typeface="Aptos"/>
              </a:rPr>
              <a:t>Example: a delayed customer receipt</a:t>
            </a:r>
          </a:p>
        </p:txBody>
      </p:sp>
      <p:sp>
        <p:nvSpPr>
          <p:cNvPr id="8" name="explanation">
            <a:extLst>
              <a:ext uri="{FF2B5EF4-FFF2-40B4-BE49-F238E27FC236}">
                <a16:creationId xmlns:a16="http://schemas.microsoft.com/office/drawing/2014/main" id="{58E6967D-406B-482B-A528-3592E060B968}"/>
              </a:ext>
            </a:extLst>
          </p:cNvPr>
          <p:cNvSpPr>
            <a:spLocks noGrp="1"/>
          </p:cNvSpPr>
          <p:nvPr/>
        </p:nvSpPr>
        <p:spPr>
          <a:xfrm>
            <a:off x="6438900" y="1838325"/>
            <a:ext cx="5095875" cy="6286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Funding risk</a:t>
            </a:r>
          </a:p>
        </p:txBody>
      </p:sp>
      <p:sp>
        <p:nvSpPr>
          <p:cNvPr id="9" name="explanation">
            <a:extLst>
              <a:ext uri="{FF2B5EF4-FFF2-40B4-BE49-F238E27FC236}">
                <a16:creationId xmlns:a16="http://schemas.microsoft.com/office/drawing/2014/main" id="{58E10F65-6F1A-4DFF-82FE-6233CD2B4D50}"/>
              </a:ext>
            </a:extLst>
          </p:cNvPr>
          <p:cNvSpPr>
            <a:spLocks noGrp="1"/>
          </p:cNvSpPr>
          <p:nvPr/>
        </p:nvSpPr>
        <p:spPr>
          <a:xfrm>
            <a:off x="6438900" y="2714625"/>
            <a:ext cx="5000625" cy="952500"/>
          </a:xfrm>
          <a:prstGeom prst="rect">
            <a:avLst/>
          </a:prstGeom>
          <a:noFill/>
          <a:ln w="0">
            <a:noFill/>
            <a:prstDash val="solid"/>
          </a:ln>
        </p:spPr>
        <p:txBody>
          <a:bodyPr wrap="square" lIns="0" tIns="0" rIns="0" bIns="0" anchor="t">
            <a:noAutofit/>
          </a:bodyPr>
          <a:lstStyle>
            <a:defPPr algn="l">
              <a:defRPr sz="2550" b="1">
                <a:solidFill>
                  <a:srgbClr val="19313F"/>
                </a:solidFill>
                <a:latin typeface="Aptos"/>
                <a:ea typeface="Aptos"/>
                <a:cs typeface="Aptos"/>
              </a:defRPr>
            </a:defPPr>
          </a:lstStyle>
          <a:p>
            <a:pPr algn="l">
              <a:defRPr sz="2550" b="1">
                <a:solidFill>
                  <a:srgbClr val="19313F"/>
                </a:solidFill>
                <a:latin typeface="Aptos"/>
                <a:ea typeface="Aptos"/>
                <a:cs typeface="Aptos"/>
              </a:defRPr>
            </a:pPr>
            <a:r>
              <a:rPr sz="2550" b="1">
                <a:solidFill>
                  <a:srgbClr val="19313F"/>
                </a:solidFill>
                <a:latin typeface="Aptos"/>
                <a:ea typeface="Aptos"/>
                <a:cs typeface="Aptos"/>
              </a:rPr>
              <a:t>Can financing be obtained or renewed?</a:t>
            </a:r>
          </a:p>
        </p:txBody>
      </p:sp>
      <p:sp>
        <p:nvSpPr>
          <p:cNvPr id="10" name="rule">
            <a:extLst>
              <a:ext uri="{FF2B5EF4-FFF2-40B4-BE49-F238E27FC236}">
                <a16:creationId xmlns:a16="http://schemas.microsoft.com/office/drawing/2014/main" id="{FF62A5FF-711E-4626-BC6E-36243C67900A}"/>
              </a:ext>
            </a:extLst>
          </p:cNvPr>
          <p:cNvSpPr>
            <a:spLocks noGrp="1"/>
          </p:cNvSpPr>
          <p:nvPr/>
        </p:nvSpPr>
        <p:spPr>
          <a:xfrm>
            <a:off x="6438900" y="3838575"/>
            <a:ext cx="4953000" cy="0"/>
          </a:xfrm>
          <a:prstGeom prst="line">
            <a:avLst/>
          </a:prstGeom>
          <a:noFill/>
          <a:ln w="9525">
            <a:solidFill>
              <a:srgbClr val="CCD6D9"/>
            </a:solidFill>
            <a:prstDash val="solid"/>
          </a:ln>
        </p:spPr>
        <p:txBody>
          <a:bodyPr/>
          <a:lstStyle/>
          <a:p>
            <a:endParaRPr lang="fr-FR"/>
          </a:p>
        </p:txBody>
      </p:sp>
      <p:sp>
        <p:nvSpPr>
          <p:cNvPr id="11" name="explanation">
            <a:extLst>
              <a:ext uri="{FF2B5EF4-FFF2-40B4-BE49-F238E27FC236}">
                <a16:creationId xmlns:a16="http://schemas.microsoft.com/office/drawing/2014/main" id="{E7CD2A8D-F47E-4021-9334-2280CAD37FFC}"/>
              </a:ext>
            </a:extLst>
          </p:cNvPr>
          <p:cNvSpPr>
            <a:spLocks noGrp="1"/>
          </p:cNvSpPr>
          <p:nvPr/>
        </p:nvSpPr>
        <p:spPr>
          <a:xfrm>
            <a:off x="6438900" y="4124325"/>
            <a:ext cx="5000625" cy="1304925"/>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Focus on access, terms and maturity</a:t>
            </a:r>
          </a:p>
          <a:p>
            <a:endParaRPr sz="2025" b="0">
              <a:solidFill>
                <a:srgbClr val="5B6D77"/>
              </a:solidFill>
              <a:latin typeface="Aptos"/>
              <a:ea typeface="Aptos"/>
              <a:cs typeface="Aptos"/>
            </a:endParaRPr>
          </a:p>
          <a:p>
            <a:pPr algn="l">
              <a:defRPr sz="2025" b="0">
                <a:solidFill>
                  <a:srgbClr val="5B6D77"/>
                </a:solidFill>
                <a:latin typeface="Aptos"/>
                <a:ea typeface="Aptos"/>
                <a:cs typeface="Aptos"/>
              </a:defRPr>
            </a:pPr>
            <a:r>
              <a:rPr sz="2025" b="0">
                <a:solidFill>
                  <a:srgbClr val="5B6D77"/>
                </a:solidFill>
                <a:latin typeface="Aptos"/>
                <a:ea typeface="Aptos"/>
                <a:cs typeface="Aptos"/>
              </a:rPr>
              <a:t>Example: a loan cannot be refinanced</a:t>
            </a:r>
          </a:p>
        </p:txBody>
      </p:sp>
      <p:sp>
        <p:nvSpPr>
          <p:cNvPr id="12" name="rule">
            <a:extLst>
              <a:ext uri="{FF2B5EF4-FFF2-40B4-BE49-F238E27FC236}">
                <a16:creationId xmlns:a16="http://schemas.microsoft.com/office/drawing/2014/main" id="{F39311D2-AD2A-46A3-8085-0525F5F56944}"/>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3" name="decision-implication">
            <a:extLst>
              <a:ext uri="{FF2B5EF4-FFF2-40B4-BE49-F238E27FC236}">
                <a16:creationId xmlns:a16="http://schemas.microsoft.com/office/drawing/2014/main" id="{8612BFB6-6E78-4719-AFA6-73E3785DDB27}"/>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Measure cash shortfalls separately from reliance on refinancing.</a:t>
            </a:r>
          </a:p>
        </p:txBody>
      </p:sp>
    </p:spTree>
    <p:extLst>
      <p:ext uri="{BB962C8B-B14F-4D97-AF65-F5344CB8AC3E}">
        <p14:creationId xmlns:p14="http://schemas.microsoft.com/office/powerpoint/2010/main" val="516829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4" name="section-reference">
            <a:extLst>
              <a:ext uri="{FF2B5EF4-FFF2-40B4-BE49-F238E27FC236}">
                <a16:creationId xmlns:a16="http://schemas.microsoft.com/office/drawing/2014/main" id="{07E11821-7A10-488C-953E-ED9CDBB3DADE}"/>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1.3</a:t>
            </a:r>
          </a:p>
        </p:txBody>
      </p:sp>
      <p:sp>
        <p:nvSpPr>
          <p:cNvPr id="2" name="slide-title">
            <a:extLst>
              <a:ext uri="{FF2B5EF4-FFF2-40B4-BE49-F238E27FC236}">
                <a16:creationId xmlns:a16="http://schemas.microsoft.com/office/drawing/2014/main" id="{D4E5FB63-9956-4811-B3D4-8DA2E3661B0E}"/>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Market risks transmit into cash</a:t>
            </a:r>
          </a:p>
        </p:txBody>
      </p:sp>
      <p:sp>
        <p:nvSpPr>
          <p:cNvPr id="3" name="slide-number">
            <a:extLst>
              <a:ext uri="{FF2B5EF4-FFF2-40B4-BE49-F238E27FC236}">
                <a16:creationId xmlns:a16="http://schemas.microsoft.com/office/drawing/2014/main" id="{5D06ACD4-6541-4169-B28C-B75612967567}"/>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14</a:t>
            </a:r>
          </a:p>
        </p:txBody>
      </p:sp>
      <p:sp>
        <p:nvSpPr>
          <p:cNvPr id="4" name="explanation">
            <a:extLst>
              <a:ext uri="{FF2B5EF4-FFF2-40B4-BE49-F238E27FC236}">
                <a16:creationId xmlns:a16="http://schemas.microsoft.com/office/drawing/2014/main" id="{CF730658-A21E-47E3-AF26-1AABC3703F40}"/>
              </a:ext>
            </a:extLst>
          </p:cNvPr>
          <p:cNvSpPr>
            <a:spLocks noGrp="1"/>
          </p:cNvSpPr>
          <p:nvPr/>
        </p:nvSpPr>
        <p:spPr>
          <a:xfrm>
            <a:off x="609600" y="1952625"/>
            <a:ext cx="2286000"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Foreign exchange</a:t>
            </a:r>
          </a:p>
        </p:txBody>
      </p:sp>
      <p:sp>
        <p:nvSpPr>
          <p:cNvPr id="5" name="explanation">
            <a:extLst>
              <a:ext uri="{FF2B5EF4-FFF2-40B4-BE49-F238E27FC236}">
                <a16:creationId xmlns:a16="http://schemas.microsoft.com/office/drawing/2014/main" id="{21ABAAEB-D020-4522-B0CD-E5C3C126F0E0}"/>
              </a:ext>
            </a:extLst>
          </p:cNvPr>
          <p:cNvSpPr>
            <a:spLocks noGrp="1"/>
          </p:cNvSpPr>
          <p:nvPr/>
        </p:nvSpPr>
        <p:spPr>
          <a:xfrm>
            <a:off x="3038475" y="1952625"/>
            <a:ext cx="8543925" cy="10287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A stronger EUR reduces the EUR value of net USD receipts.</a:t>
            </a:r>
          </a:p>
        </p:txBody>
      </p:sp>
      <p:sp>
        <p:nvSpPr>
          <p:cNvPr id="6" name="rule">
            <a:extLst>
              <a:ext uri="{FF2B5EF4-FFF2-40B4-BE49-F238E27FC236}">
                <a16:creationId xmlns:a16="http://schemas.microsoft.com/office/drawing/2014/main" id="{25817C3D-4930-43AA-BF00-2D2F302B479E}"/>
              </a:ext>
            </a:extLst>
          </p:cNvPr>
          <p:cNvSpPr>
            <a:spLocks noGrp="1"/>
          </p:cNvSpPr>
          <p:nvPr/>
        </p:nvSpPr>
        <p:spPr>
          <a:xfrm>
            <a:off x="609600" y="2971800"/>
            <a:ext cx="10972800" cy="0"/>
          </a:xfrm>
          <a:prstGeom prst="line">
            <a:avLst/>
          </a:prstGeom>
          <a:noFill/>
          <a:ln w="9525">
            <a:solidFill>
              <a:srgbClr val="CCD6D9"/>
            </a:solidFill>
            <a:prstDash val="solid"/>
          </a:ln>
        </p:spPr>
        <p:txBody>
          <a:bodyPr/>
          <a:lstStyle/>
          <a:p>
            <a:endParaRPr lang="fr-FR"/>
          </a:p>
        </p:txBody>
      </p:sp>
      <p:sp>
        <p:nvSpPr>
          <p:cNvPr id="7" name="explanation">
            <a:extLst>
              <a:ext uri="{FF2B5EF4-FFF2-40B4-BE49-F238E27FC236}">
                <a16:creationId xmlns:a16="http://schemas.microsoft.com/office/drawing/2014/main" id="{8EC97A82-2CDE-4FE6-951D-48A50B9CA851}"/>
              </a:ext>
            </a:extLst>
          </p:cNvPr>
          <p:cNvSpPr>
            <a:spLocks noGrp="1"/>
          </p:cNvSpPr>
          <p:nvPr/>
        </p:nvSpPr>
        <p:spPr>
          <a:xfrm>
            <a:off x="609600" y="3095625"/>
            <a:ext cx="2286000"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Interest rates</a:t>
            </a:r>
          </a:p>
        </p:txBody>
      </p:sp>
      <p:sp>
        <p:nvSpPr>
          <p:cNvPr id="8" name="explanation">
            <a:extLst>
              <a:ext uri="{FF2B5EF4-FFF2-40B4-BE49-F238E27FC236}">
                <a16:creationId xmlns:a16="http://schemas.microsoft.com/office/drawing/2014/main" id="{E27C73AA-53AD-443E-9F96-AA965CC3DF83}"/>
              </a:ext>
            </a:extLst>
          </p:cNvPr>
          <p:cNvSpPr>
            <a:spLocks noGrp="1"/>
          </p:cNvSpPr>
          <p:nvPr/>
        </p:nvSpPr>
        <p:spPr>
          <a:xfrm>
            <a:off x="3038475" y="3095625"/>
            <a:ext cx="8543925" cy="10287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Reference-rate increases raise unhedged floating coupons.</a:t>
            </a:r>
          </a:p>
        </p:txBody>
      </p:sp>
      <p:sp>
        <p:nvSpPr>
          <p:cNvPr id="9" name="rule">
            <a:extLst>
              <a:ext uri="{FF2B5EF4-FFF2-40B4-BE49-F238E27FC236}">
                <a16:creationId xmlns:a16="http://schemas.microsoft.com/office/drawing/2014/main" id="{FC7E210A-CB00-409A-A570-E878E55CEB96}"/>
              </a:ext>
            </a:extLst>
          </p:cNvPr>
          <p:cNvSpPr>
            <a:spLocks noGrp="1"/>
          </p:cNvSpPr>
          <p:nvPr/>
        </p:nvSpPr>
        <p:spPr>
          <a:xfrm>
            <a:off x="609600" y="4114800"/>
            <a:ext cx="10972800" cy="0"/>
          </a:xfrm>
          <a:prstGeom prst="line">
            <a:avLst/>
          </a:prstGeom>
          <a:noFill/>
          <a:ln w="9525">
            <a:solidFill>
              <a:srgbClr val="CCD6D9"/>
            </a:solidFill>
            <a:prstDash val="solid"/>
          </a:ln>
        </p:spPr>
        <p:txBody>
          <a:bodyPr/>
          <a:lstStyle/>
          <a:p>
            <a:endParaRPr lang="fr-FR"/>
          </a:p>
        </p:txBody>
      </p:sp>
      <p:sp>
        <p:nvSpPr>
          <p:cNvPr id="10" name="explanation">
            <a:extLst>
              <a:ext uri="{FF2B5EF4-FFF2-40B4-BE49-F238E27FC236}">
                <a16:creationId xmlns:a16="http://schemas.microsoft.com/office/drawing/2014/main" id="{CEF95011-1568-4270-A63E-589D754370F3}"/>
              </a:ext>
            </a:extLst>
          </p:cNvPr>
          <p:cNvSpPr>
            <a:spLocks noGrp="1"/>
          </p:cNvSpPr>
          <p:nvPr/>
        </p:nvSpPr>
        <p:spPr>
          <a:xfrm>
            <a:off x="609600" y="4238625"/>
            <a:ext cx="2286000"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Commodities</a:t>
            </a:r>
          </a:p>
        </p:txBody>
      </p:sp>
      <p:sp>
        <p:nvSpPr>
          <p:cNvPr id="11" name="explanation">
            <a:extLst>
              <a:ext uri="{FF2B5EF4-FFF2-40B4-BE49-F238E27FC236}">
                <a16:creationId xmlns:a16="http://schemas.microsoft.com/office/drawing/2014/main" id="{BBA39E48-E1D9-445F-A6D4-413B631E595B}"/>
              </a:ext>
            </a:extLst>
          </p:cNvPr>
          <p:cNvSpPr>
            <a:spLocks noGrp="1"/>
          </p:cNvSpPr>
          <p:nvPr/>
        </p:nvSpPr>
        <p:spPr>
          <a:xfrm>
            <a:off x="3038475" y="4238625"/>
            <a:ext cx="8543925" cy="10287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Input-price increases reduce margin unless recovered in sales prices.</a:t>
            </a:r>
          </a:p>
        </p:txBody>
      </p:sp>
      <p:sp>
        <p:nvSpPr>
          <p:cNvPr id="12" name="rule">
            <a:extLst>
              <a:ext uri="{FF2B5EF4-FFF2-40B4-BE49-F238E27FC236}">
                <a16:creationId xmlns:a16="http://schemas.microsoft.com/office/drawing/2014/main" id="{05B054F1-FC7F-4A01-9798-4D17AEA2DF89}"/>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3" name="decision-implication">
            <a:extLst>
              <a:ext uri="{FF2B5EF4-FFF2-40B4-BE49-F238E27FC236}">
                <a16:creationId xmlns:a16="http://schemas.microsoft.com/office/drawing/2014/main" id="{68CECC37-9F5D-47F2-BEC1-18F89EE72595}"/>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Identify the exposure and timing before selecting a hedge.</a:t>
            </a:r>
          </a:p>
        </p:txBody>
      </p:sp>
    </p:spTree>
    <p:extLst>
      <p:ext uri="{BB962C8B-B14F-4D97-AF65-F5344CB8AC3E}">
        <p14:creationId xmlns:p14="http://schemas.microsoft.com/office/powerpoint/2010/main" val="2130623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7" name="section-reference">
            <a:extLst>
              <a:ext uri="{FF2B5EF4-FFF2-40B4-BE49-F238E27FC236}">
                <a16:creationId xmlns:a16="http://schemas.microsoft.com/office/drawing/2014/main" id="{2AE1F5AE-365A-49A3-A2ED-415A2E013CB3}"/>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1.3</a:t>
            </a:r>
          </a:p>
        </p:txBody>
      </p:sp>
      <p:sp>
        <p:nvSpPr>
          <p:cNvPr id="2" name="slide-title">
            <a:extLst>
              <a:ext uri="{FF2B5EF4-FFF2-40B4-BE49-F238E27FC236}">
                <a16:creationId xmlns:a16="http://schemas.microsoft.com/office/drawing/2014/main" id="{98468A31-9C72-453F-86CA-3E6F17A16BA2}"/>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Counterparty and operating risks</a:t>
            </a:r>
          </a:p>
        </p:txBody>
      </p:sp>
      <p:sp>
        <p:nvSpPr>
          <p:cNvPr id="3" name="slide-number">
            <a:extLst>
              <a:ext uri="{FF2B5EF4-FFF2-40B4-BE49-F238E27FC236}">
                <a16:creationId xmlns:a16="http://schemas.microsoft.com/office/drawing/2014/main" id="{BB5E24EC-D22D-4E51-88B4-82F7AF5ECBB2}"/>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15</a:t>
            </a:r>
          </a:p>
        </p:txBody>
      </p:sp>
      <p:graphicFrame>
        <p:nvGraphicFramePr>
          <p:cNvPr id="4" name="Tableau 3">
            <a:extLst>
              <a:ext uri="{FF2B5EF4-FFF2-40B4-BE49-F238E27FC236}">
                <a16:creationId xmlns:a16="http://schemas.microsoft.com/office/drawing/2014/main" id="{E9784C6F-9A45-4D87-B214-EE90FE504C19}"/>
              </a:ext>
            </a:extLst>
          </p:cNvPr>
          <p:cNvGraphicFramePr/>
          <p:nvPr/>
        </p:nvGraphicFramePr>
        <p:xfrm>
          <a:off x="609600" y="2057400"/>
          <a:ext cx="10972800" cy="2667000"/>
        </p:xfrm>
        <a:graphic>
          <a:graphicData uri="http://schemas.openxmlformats.org/drawingml/2006/table">
            <a:tbl>
              <a:tblPr firstRow="1"/>
              <a:tblGrid>
                <a:gridCol w="2000250">
                  <a:extLst>
                    <a:ext uri="{9D8B030D-6E8A-4147-A177-3AD203B41FA5}">
                      <a16:colId xmlns:a16="http://schemas.microsoft.com/office/drawing/2014/main" val="20000"/>
                    </a:ext>
                  </a:extLst>
                </a:gridCol>
                <a:gridCol w="4810125">
                  <a:extLst>
                    <a:ext uri="{9D8B030D-6E8A-4147-A177-3AD203B41FA5}">
                      <a16:colId xmlns:a16="http://schemas.microsoft.com/office/drawing/2014/main" val="20001"/>
                    </a:ext>
                  </a:extLst>
                </a:gridCol>
                <a:gridCol w="4162425">
                  <a:extLst>
                    <a:ext uri="{9D8B030D-6E8A-4147-A177-3AD203B41FA5}">
                      <a16:colId xmlns:a16="http://schemas.microsoft.com/office/drawing/2014/main" val="20002"/>
                    </a:ext>
                  </a:extLst>
                </a:gridCol>
              </a:tblGrid>
              <a:tr h="666750">
                <a:tc>
                  <a:txBody>
                    <a:bodyPr/>
                    <a:lstStyle/>
                    <a:p>
                      <a:pPr algn="l"/>
                      <a:r>
                        <a:rPr sz="1875" b="1">
                          <a:solidFill>
                            <a:srgbClr val="FFFFFF"/>
                          </a:solidFill>
                          <a:latin typeface="Aptos"/>
                          <a:ea typeface="Aptos"/>
                          <a:cs typeface="Aptos"/>
                        </a:rPr>
                        <a:t>Counterparty</a:t>
                      </a:r>
                    </a:p>
                  </a:txBody>
                  <a:tcPr anchor="ctr">
                    <a:lnL w="6668">
                      <a:solidFill>
                        <a:srgbClr val="CCD6D9"/>
                      </a:solidFill>
                      <a:prstDash val="soli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75" b="1">
                          <a:solidFill>
                            <a:srgbClr val="FFFFFF"/>
                          </a:solidFill>
                          <a:latin typeface="Aptos"/>
                          <a:ea typeface="Aptos"/>
                          <a:cs typeface="Aptos"/>
                        </a:rPr>
                        <a:t>Treasury consequence</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75" b="1">
                          <a:solidFill>
                            <a:srgbClr val="FFFFFF"/>
                          </a:solidFill>
                          <a:latin typeface="Aptos"/>
                          <a:ea typeface="Aptos"/>
                          <a:cs typeface="Aptos"/>
                        </a:rPr>
                        <a:t>Indicator</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extLst>
                  <a:ext uri="{0D108BD9-81ED-4DB2-BD59-A6C34878D82A}">
                    <a16:rowId xmlns:a16="http://schemas.microsoft.com/office/drawing/2014/main" val="10000"/>
                  </a:ext>
                </a:extLst>
              </a:tr>
              <a:tr h="666750">
                <a:tc>
                  <a:txBody>
                    <a:bodyPr/>
                    <a:lstStyle/>
                    <a:p>
                      <a:pPr algn="l"/>
                      <a:r>
                        <a:rPr sz="1875">
                          <a:solidFill>
                            <a:srgbClr val="19313F"/>
                          </a:solidFill>
                          <a:latin typeface="Aptos"/>
                          <a:ea typeface="Aptos"/>
                          <a:cs typeface="Aptos"/>
                        </a:rPr>
                        <a:t>Bank</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a:solidFill>
                            <a:srgbClr val="19313F"/>
                          </a:solidFill>
                          <a:latin typeface="Aptos"/>
                          <a:ea typeface="Aptos"/>
                          <a:cs typeface="Aptos"/>
                        </a:rPr>
                        <a:t>Cash or payment access blocked</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a:solidFill>
                            <a:srgbClr val="19313F"/>
                          </a:solidFill>
                          <a:latin typeface="Aptos"/>
                          <a:ea typeface="Aptos"/>
                          <a:cs typeface="Aptos"/>
                        </a:rPr>
                        <a:t>Bank concentration</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1"/>
                  </a:ext>
                </a:extLst>
              </a:tr>
              <a:tr h="666750">
                <a:tc>
                  <a:txBody>
                    <a:bodyPr/>
                    <a:lstStyle/>
                    <a:p>
                      <a:pPr algn="l"/>
                      <a:r>
                        <a:rPr sz="1875">
                          <a:solidFill>
                            <a:srgbClr val="19313F"/>
                          </a:solidFill>
                          <a:latin typeface="Aptos"/>
                          <a:ea typeface="Aptos"/>
                          <a:cs typeface="Aptos"/>
                        </a:rPr>
                        <a:t>Customer</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75">
                          <a:solidFill>
                            <a:srgbClr val="19313F"/>
                          </a:solidFill>
                          <a:latin typeface="Aptos"/>
                          <a:ea typeface="Aptos"/>
                          <a:cs typeface="Aptos"/>
                        </a:rPr>
                        <a:t>Receivables fail to convert</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75">
                          <a:solidFill>
                            <a:srgbClr val="19313F"/>
                          </a:solidFill>
                          <a:latin typeface="Aptos"/>
                          <a:ea typeface="Aptos"/>
                          <a:cs typeface="Aptos"/>
                        </a:rPr>
                        <a:t>Overdue balances</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2"/>
                  </a:ext>
                </a:extLst>
              </a:tr>
              <a:tr h="666750">
                <a:tc>
                  <a:txBody>
                    <a:bodyPr/>
                    <a:lstStyle/>
                    <a:p>
                      <a:pPr algn="l"/>
                      <a:r>
                        <a:rPr sz="1875">
                          <a:solidFill>
                            <a:srgbClr val="19313F"/>
                          </a:solidFill>
                          <a:latin typeface="Aptos"/>
                          <a:ea typeface="Aptos"/>
                          <a:cs typeface="Aptos"/>
                        </a:rPr>
                        <a:t>Supplier</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a:solidFill>
                            <a:srgbClr val="19313F"/>
                          </a:solidFill>
                          <a:latin typeface="Aptos"/>
                          <a:ea typeface="Aptos"/>
                          <a:cs typeface="Aptos"/>
                        </a:rPr>
                        <a:t>Production or delivery stops</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a:solidFill>
                            <a:srgbClr val="19313F"/>
                          </a:solidFill>
                          <a:latin typeface="Aptos"/>
                          <a:ea typeface="Aptos"/>
                          <a:cs typeface="Aptos"/>
                        </a:rPr>
                        <a:t>Critical supplier exposure</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3"/>
                  </a:ext>
                </a:extLst>
              </a:tr>
            </a:tbl>
          </a:graphicData>
        </a:graphic>
      </p:graphicFrame>
      <p:sp>
        <p:nvSpPr>
          <p:cNvPr id="5" name="rule">
            <a:extLst>
              <a:ext uri="{FF2B5EF4-FFF2-40B4-BE49-F238E27FC236}">
                <a16:creationId xmlns:a16="http://schemas.microsoft.com/office/drawing/2014/main" id="{7421F5B4-011B-4337-B49A-86731BAC18A9}"/>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6" name="decision-implication">
            <a:extLst>
              <a:ext uri="{FF2B5EF4-FFF2-40B4-BE49-F238E27FC236}">
                <a16:creationId xmlns:a16="http://schemas.microsoft.com/office/drawing/2014/main" id="{94AFC23F-9B34-4A19-A37E-9FA999DA3C05}"/>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Include bank concentration and critical suppliers in the Treasury dashboard.</a:t>
            </a:r>
          </a:p>
        </p:txBody>
      </p:sp>
    </p:spTree>
    <p:extLst>
      <p:ext uri="{BB962C8B-B14F-4D97-AF65-F5344CB8AC3E}">
        <p14:creationId xmlns:p14="http://schemas.microsoft.com/office/powerpoint/2010/main" val="6413144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7" name="section-reference">
            <a:extLst>
              <a:ext uri="{FF2B5EF4-FFF2-40B4-BE49-F238E27FC236}">
                <a16:creationId xmlns:a16="http://schemas.microsoft.com/office/drawing/2014/main" id="{F08602E3-16C6-4896-8849-80D024E3BEFF}"/>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dirty="0">
                <a:solidFill>
                  <a:srgbClr val="087F83"/>
                </a:solidFill>
                <a:latin typeface="Aptos"/>
                <a:ea typeface="Aptos"/>
                <a:cs typeface="Aptos"/>
              </a:rPr>
              <a:t>CORPORATE TREASURY  /  1.</a:t>
            </a:r>
            <a:r>
              <a:rPr lang="fr-FR" sz="1050" b="1" dirty="0">
                <a:solidFill>
                  <a:srgbClr val="087F83"/>
                </a:solidFill>
                <a:latin typeface="Aptos"/>
                <a:ea typeface="Aptos"/>
                <a:cs typeface="Aptos"/>
              </a:rPr>
              <a:t>3</a:t>
            </a:r>
            <a:endParaRPr sz="1050" b="1" dirty="0">
              <a:solidFill>
                <a:srgbClr val="087F83"/>
              </a:solidFill>
              <a:latin typeface="Aptos"/>
              <a:ea typeface="Aptos"/>
              <a:cs typeface="Aptos"/>
            </a:endParaRPr>
          </a:p>
        </p:txBody>
      </p:sp>
      <p:sp>
        <p:nvSpPr>
          <p:cNvPr id="2" name="slide-title">
            <a:extLst>
              <a:ext uri="{FF2B5EF4-FFF2-40B4-BE49-F238E27FC236}">
                <a16:creationId xmlns:a16="http://schemas.microsoft.com/office/drawing/2014/main" id="{5F55FDA4-FDC4-4288-8501-5393206BDF7D}"/>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Payment fraud: the wrong bank account</a:t>
            </a:r>
          </a:p>
        </p:txBody>
      </p:sp>
      <p:sp>
        <p:nvSpPr>
          <p:cNvPr id="3" name="slide-number">
            <a:extLst>
              <a:ext uri="{FF2B5EF4-FFF2-40B4-BE49-F238E27FC236}">
                <a16:creationId xmlns:a16="http://schemas.microsoft.com/office/drawing/2014/main" id="{8AFD7DC1-BF87-4131-8FCB-52F26D8C5C81}"/>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12</a:t>
            </a:r>
          </a:p>
        </p:txBody>
      </p:sp>
      <p:graphicFrame>
        <p:nvGraphicFramePr>
          <p:cNvPr id="4" name="Tableau 3">
            <a:extLst>
              <a:ext uri="{FF2B5EF4-FFF2-40B4-BE49-F238E27FC236}">
                <a16:creationId xmlns:a16="http://schemas.microsoft.com/office/drawing/2014/main" id="{D5F2FACE-3C45-48F4-9681-EAA0ACC38A66}"/>
              </a:ext>
            </a:extLst>
          </p:cNvPr>
          <p:cNvGraphicFramePr/>
          <p:nvPr/>
        </p:nvGraphicFramePr>
        <p:xfrm>
          <a:off x="609600" y="1885950"/>
          <a:ext cx="10972800" cy="3250000"/>
        </p:xfrm>
        <a:graphic>
          <a:graphicData uri="http://schemas.openxmlformats.org/drawingml/2006/table">
            <a:tbl>
              <a:tblPr firstRow="1"/>
              <a:tblGrid>
                <a:gridCol w="2300000">
                  <a:extLst>
                    <a:ext uri="{9D8B030D-6E8A-4147-A177-3AD203B41FA5}">
                      <a16:colId xmlns:a16="http://schemas.microsoft.com/office/drawing/2014/main" val="20000"/>
                    </a:ext>
                  </a:extLst>
                </a:gridCol>
                <a:gridCol w="4350000">
                  <a:extLst>
                    <a:ext uri="{9D8B030D-6E8A-4147-A177-3AD203B41FA5}">
                      <a16:colId xmlns:a16="http://schemas.microsoft.com/office/drawing/2014/main" val="20001"/>
                    </a:ext>
                  </a:extLst>
                </a:gridCol>
                <a:gridCol w="4322800">
                  <a:extLst>
                    <a:ext uri="{9D8B030D-6E8A-4147-A177-3AD203B41FA5}">
                      <a16:colId xmlns:a16="http://schemas.microsoft.com/office/drawing/2014/main" val="20002"/>
                    </a:ext>
                  </a:extLst>
                </a:gridCol>
              </a:tblGrid>
              <a:tr h="650000">
                <a:tc>
                  <a:txBody>
                    <a:bodyPr/>
                    <a:lstStyle/>
                    <a:p>
                      <a:pPr algn="l"/>
                      <a:r>
                        <a:rPr sz="1800" b="1">
                          <a:solidFill>
                            <a:srgbClr val="FFFFFF"/>
                          </a:solidFill>
                          <a:latin typeface="Aptos"/>
                          <a:ea typeface="Aptos"/>
                          <a:cs typeface="Aptos"/>
                        </a:rPr>
                        <a:t>Step</a:t>
                      </a:r>
                    </a:p>
                  </a:txBody>
                  <a:tcPr anchor="ctr">
                    <a:lnL w="6668">
                      <a:solidFill>
                        <a:srgbClr val="CCD6D9"/>
                      </a:solidFill>
                      <a:prstDash val="soli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00" b="1">
                          <a:solidFill>
                            <a:srgbClr val="FFFFFF"/>
                          </a:solidFill>
                          <a:latin typeface="Aptos"/>
                          <a:ea typeface="Aptos"/>
                          <a:cs typeface="Aptos"/>
                        </a:rPr>
                        <a:t>What happens</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00" b="1">
                          <a:solidFill>
                            <a:srgbClr val="FFFFFF"/>
                          </a:solidFill>
                          <a:latin typeface="Aptos"/>
                          <a:ea typeface="Aptos"/>
                          <a:cs typeface="Aptos"/>
                        </a:rPr>
                        <a:t>Cash consequence</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extLst>
                  <a:ext uri="{0D108BD9-81ED-4DB2-BD59-A6C34878D82A}">
                    <a16:rowId xmlns:a16="http://schemas.microsoft.com/office/drawing/2014/main" val="10000"/>
                  </a:ext>
                </a:extLst>
              </a:tr>
              <a:tr h="650000">
                <a:tc>
                  <a:txBody>
                    <a:bodyPr/>
                    <a:lstStyle/>
                    <a:p>
                      <a:pPr algn="l"/>
                      <a:r>
                        <a:rPr sz="1800">
                          <a:solidFill>
                            <a:srgbClr val="19313F"/>
                          </a:solidFill>
                          <a:latin typeface="Aptos"/>
                          <a:ea typeface="Aptos"/>
                          <a:cs typeface="Aptos"/>
                        </a:rPr>
                        <a:t>Real invoice</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We owe a genuine supplier €100,000</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The invoice is due on Friday</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1"/>
                  </a:ext>
                </a:extLst>
              </a:tr>
              <a:tr h="650000">
                <a:tc>
                  <a:txBody>
                    <a:bodyPr/>
                    <a:lstStyle/>
                    <a:p>
                      <a:pPr algn="l"/>
                      <a:r>
                        <a:rPr sz="1800">
                          <a:solidFill>
                            <a:srgbClr val="19313F"/>
                          </a:solidFill>
                          <a:latin typeface="Aptos"/>
                          <a:ea typeface="Aptos"/>
                          <a:cs typeface="Aptos"/>
                        </a:rPr>
                        <a:t>Fake email</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A criminal sends new bank details</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The account belongs to the criminal</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2"/>
                  </a:ext>
                </a:extLst>
              </a:tr>
              <a:tr h="650000">
                <a:tc>
                  <a:txBody>
                    <a:bodyPr/>
                    <a:lstStyle/>
                    <a:p>
                      <a:pPr algn="l"/>
                      <a:r>
                        <a:rPr sz="1800">
                          <a:solidFill>
                            <a:srgbClr val="19313F"/>
                          </a:solidFill>
                          <a:latin typeface="Aptos"/>
                          <a:ea typeface="Aptos"/>
                          <a:cs typeface="Aptos"/>
                        </a:rPr>
                        <a:t>Wrong payment</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We transfer €100,000 to that account</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The genuine supplier is still unpaid</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3"/>
                  </a:ext>
                </a:extLst>
              </a:tr>
              <a:tr h="650000">
                <a:tc>
                  <a:txBody>
                    <a:bodyPr/>
                    <a:lstStyle/>
                    <a:p>
                      <a:pPr algn="l"/>
                      <a:r>
                        <a:rPr sz="1800">
                          <a:solidFill>
                            <a:srgbClr val="19313F"/>
                          </a:solidFill>
                          <a:latin typeface="Aptos"/>
                          <a:ea typeface="Aptos"/>
                          <a:cs typeface="Aptos"/>
                        </a:rPr>
                        <a:t>Payment still due</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We must pay the genuine supplier</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€200,000 paid for a €100,000 invoice</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4"/>
                  </a:ext>
                </a:extLst>
              </a:tr>
            </a:tbl>
          </a:graphicData>
        </a:graphic>
      </p:graphicFrame>
      <p:sp>
        <p:nvSpPr>
          <p:cNvPr id="5" name="rule">
            <a:extLst>
              <a:ext uri="{FF2B5EF4-FFF2-40B4-BE49-F238E27FC236}">
                <a16:creationId xmlns:a16="http://schemas.microsoft.com/office/drawing/2014/main" id="{43814448-EB9A-4BB4-ACF9-D3C2E9361784}"/>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6" name="decision-implication">
            <a:extLst>
              <a:ext uri="{FF2B5EF4-FFF2-40B4-BE49-F238E27FC236}">
                <a16:creationId xmlns:a16="http://schemas.microsoft.com/office/drawing/2014/main" id="{0D9D5D3F-2313-480D-A6B2-3AADB56A9EEC}"/>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Verify new bank details through a trusted supplier contact before approving payment.</a:t>
            </a:r>
          </a:p>
        </p:txBody>
      </p:sp>
    </p:spTree>
    <p:extLst>
      <p:ext uri="{BB962C8B-B14F-4D97-AF65-F5344CB8AC3E}">
        <p14:creationId xmlns:p14="http://schemas.microsoft.com/office/powerpoint/2010/main" val="11081232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7" name="section-reference">
            <a:extLst>
              <a:ext uri="{FF2B5EF4-FFF2-40B4-BE49-F238E27FC236}">
                <a16:creationId xmlns:a16="http://schemas.microsoft.com/office/drawing/2014/main" id="{F08602E3-16C6-4896-8849-80D024E3BEFF}"/>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1.3</a:t>
            </a:r>
          </a:p>
        </p:txBody>
      </p:sp>
      <p:sp>
        <p:nvSpPr>
          <p:cNvPr id="2" name="slide-title">
            <a:extLst>
              <a:ext uri="{FF2B5EF4-FFF2-40B4-BE49-F238E27FC236}">
                <a16:creationId xmlns:a16="http://schemas.microsoft.com/office/drawing/2014/main" id="{5F55FDA4-FDC4-4288-8501-5393206BDF7D}"/>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lang="fr-FR" sz="3150" b="1" dirty="0">
                <a:solidFill>
                  <a:srgbClr val="19313F"/>
                </a:solidFill>
                <a:latin typeface="Aptos"/>
                <a:ea typeface="Aptos"/>
                <a:cs typeface="Aptos"/>
              </a:rPr>
              <a:t>O</a:t>
            </a:r>
            <a:r>
              <a:rPr sz="3150" b="1" dirty="0" err="1">
                <a:solidFill>
                  <a:srgbClr val="19313F"/>
                </a:solidFill>
                <a:latin typeface="Aptos"/>
                <a:ea typeface="Aptos"/>
                <a:cs typeface="Aptos"/>
              </a:rPr>
              <a:t>perational</a:t>
            </a:r>
            <a:r>
              <a:rPr lang="fr-FR" sz="3150" b="1" dirty="0">
                <a:solidFill>
                  <a:srgbClr val="19313F"/>
                </a:solidFill>
                <a:latin typeface="Aptos"/>
                <a:ea typeface="Aptos"/>
                <a:cs typeface="Aptos"/>
              </a:rPr>
              <a:t> </a:t>
            </a:r>
            <a:r>
              <a:rPr lang="fr-FR" sz="3150" b="1" dirty="0" err="1">
                <a:solidFill>
                  <a:srgbClr val="19313F"/>
                </a:solidFill>
                <a:latin typeface="Aptos"/>
                <a:ea typeface="Aptos"/>
                <a:cs typeface="Aptos"/>
              </a:rPr>
              <a:t>risk</a:t>
            </a:r>
            <a:r>
              <a:rPr sz="3150" b="1" dirty="0">
                <a:solidFill>
                  <a:srgbClr val="19313F"/>
                </a:solidFill>
                <a:latin typeface="Aptos"/>
                <a:ea typeface="Aptos"/>
                <a:cs typeface="Aptos"/>
              </a:rPr>
              <a:t> incident becomes a cash problem</a:t>
            </a:r>
          </a:p>
        </p:txBody>
      </p:sp>
      <p:sp>
        <p:nvSpPr>
          <p:cNvPr id="3" name="slide-number">
            <a:extLst>
              <a:ext uri="{FF2B5EF4-FFF2-40B4-BE49-F238E27FC236}">
                <a16:creationId xmlns:a16="http://schemas.microsoft.com/office/drawing/2014/main" id="{8AFD7DC1-BF87-4131-8FCB-52F26D8C5C81}"/>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16</a:t>
            </a:r>
          </a:p>
        </p:txBody>
      </p:sp>
      <p:graphicFrame>
        <p:nvGraphicFramePr>
          <p:cNvPr id="4" name="Tableau 3">
            <a:extLst>
              <a:ext uri="{FF2B5EF4-FFF2-40B4-BE49-F238E27FC236}">
                <a16:creationId xmlns:a16="http://schemas.microsoft.com/office/drawing/2014/main" id="{D5F2FACE-3C45-48F4-9681-EAA0ACC38A66}"/>
              </a:ext>
            </a:extLst>
          </p:cNvPr>
          <p:cNvGraphicFramePr/>
          <p:nvPr/>
        </p:nvGraphicFramePr>
        <p:xfrm>
          <a:off x="609600" y="1885950"/>
          <a:ext cx="10972800" cy="3108960"/>
        </p:xfrm>
        <a:graphic>
          <a:graphicData uri="http://schemas.openxmlformats.org/drawingml/2006/table">
            <a:tbl>
              <a:tblPr firstRow="1"/>
              <a:tblGrid>
                <a:gridCol w="2800000">
                  <a:extLst>
                    <a:ext uri="{9D8B030D-6E8A-4147-A177-3AD203B41FA5}">
                      <a16:colId xmlns:a16="http://schemas.microsoft.com/office/drawing/2014/main" val="20000"/>
                    </a:ext>
                  </a:extLst>
                </a:gridCol>
                <a:gridCol w="4100000">
                  <a:extLst>
                    <a:ext uri="{9D8B030D-6E8A-4147-A177-3AD203B41FA5}">
                      <a16:colId xmlns:a16="http://schemas.microsoft.com/office/drawing/2014/main" val="20001"/>
                    </a:ext>
                  </a:extLst>
                </a:gridCol>
                <a:gridCol w="4072800">
                  <a:extLst>
                    <a:ext uri="{9D8B030D-6E8A-4147-A177-3AD203B41FA5}">
                      <a16:colId xmlns:a16="http://schemas.microsoft.com/office/drawing/2014/main" val="20002"/>
                    </a:ext>
                  </a:extLst>
                </a:gridCol>
              </a:tblGrid>
              <a:tr h="617220">
                <a:tc>
                  <a:txBody>
                    <a:bodyPr/>
                    <a:lstStyle/>
                    <a:p>
                      <a:pPr algn="l"/>
                      <a:r>
                        <a:rPr sz="1800" b="1">
                          <a:solidFill>
                            <a:srgbClr val="FFFFFF"/>
                          </a:solidFill>
                          <a:latin typeface="Aptos"/>
                          <a:ea typeface="Aptos"/>
                          <a:cs typeface="Aptos"/>
                        </a:rPr>
                        <a:t>Operational event</a:t>
                      </a:r>
                    </a:p>
                  </a:txBody>
                  <a:tcPr anchor="ctr">
                    <a:lnL w="6668">
                      <a:solidFill>
                        <a:srgbClr val="CCD6D9"/>
                      </a:solidFill>
                      <a:prstDash val="soli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00" b="1">
                          <a:solidFill>
                            <a:srgbClr val="FFFFFF"/>
                          </a:solidFill>
                          <a:latin typeface="Aptos"/>
                          <a:ea typeface="Aptos"/>
                          <a:cs typeface="Aptos"/>
                        </a:rPr>
                        <a:t>Cash transmission</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00" b="1">
                          <a:solidFill>
                            <a:srgbClr val="FFFFFF"/>
                          </a:solidFill>
                          <a:latin typeface="Aptos"/>
                          <a:ea typeface="Aptos"/>
                          <a:cs typeface="Aptos"/>
                        </a:rPr>
                        <a:t>Treasury consequence</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extLst>
                  <a:ext uri="{0D108BD9-81ED-4DB2-BD59-A6C34878D82A}">
                    <a16:rowId xmlns:a16="http://schemas.microsoft.com/office/drawing/2014/main" val="10000"/>
                  </a:ext>
                </a:extLst>
              </a:tr>
              <a:tr h="617220">
                <a:tc>
                  <a:txBody>
                    <a:bodyPr/>
                    <a:lstStyle/>
                    <a:p>
                      <a:pPr algn="l"/>
                      <a:r>
                        <a:rPr sz="1800">
                          <a:solidFill>
                            <a:srgbClr val="19313F"/>
                          </a:solidFill>
                          <a:latin typeface="Aptos"/>
                          <a:ea typeface="Aptos"/>
                          <a:cs typeface="Aptos"/>
                        </a:rPr>
                        <a:t>Production outage</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Goods cannot ship or be invoiced</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Collections move beyond payroll dates</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1"/>
                  </a:ext>
                </a:extLst>
              </a:tr>
              <a:tr h="617220">
                <a:tc>
                  <a:txBody>
                    <a:bodyPr/>
                    <a:lstStyle/>
                    <a:p>
                      <a:pPr algn="l"/>
                      <a:r>
                        <a:rPr sz="1800">
                          <a:solidFill>
                            <a:srgbClr val="19313F"/>
                          </a:solidFill>
                          <a:latin typeface="Aptos"/>
                          <a:ea typeface="Aptos"/>
                          <a:cs typeface="Aptos"/>
                        </a:rPr>
                        <a:t>Product recall</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Refunds, rework and unsaleable stock</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Extra payments and higher WCR</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2"/>
                  </a:ext>
                </a:extLst>
              </a:tr>
              <a:tr h="617220">
                <a:tc>
                  <a:txBody>
                    <a:bodyPr/>
                    <a:lstStyle/>
                    <a:p>
                      <a:pPr algn="l"/>
                      <a:r>
                        <a:rPr sz="1800">
                          <a:solidFill>
                            <a:srgbClr val="19313F"/>
                          </a:solidFill>
                          <a:latin typeface="Aptos"/>
                          <a:ea typeface="Aptos"/>
                          <a:cs typeface="Aptos"/>
                        </a:rPr>
                        <a:t>Payment fraud</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Cash leaves but the supplier is unpaid</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Cash loss and a second payment need</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3"/>
                  </a:ext>
                </a:extLst>
              </a:tr>
              <a:tr h="617220">
                <a:tc>
                  <a:txBody>
                    <a:bodyPr/>
                    <a:lstStyle/>
                    <a:p>
                      <a:pPr algn="l"/>
                      <a:r>
                        <a:rPr sz="1800">
                          <a:solidFill>
                            <a:srgbClr val="19313F"/>
                          </a:solidFill>
                          <a:latin typeface="Aptos"/>
                          <a:ea typeface="Aptos"/>
                          <a:cs typeface="Aptos"/>
                        </a:rPr>
                        <a:t>Supplier disruption</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Replacement stock or advance payment</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Earlier outflows and a smaller buffer</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4"/>
                  </a:ext>
                </a:extLst>
              </a:tr>
            </a:tbl>
          </a:graphicData>
        </a:graphic>
      </p:graphicFrame>
      <p:sp>
        <p:nvSpPr>
          <p:cNvPr id="5" name="rule">
            <a:extLst>
              <a:ext uri="{FF2B5EF4-FFF2-40B4-BE49-F238E27FC236}">
                <a16:creationId xmlns:a16="http://schemas.microsoft.com/office/drawing/2014/main" id="{43814448-EB9A-4BB4-ACF9-D3C2E9361784}"/>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6" name="decision-implication">
            <a:extLst>
              <a:ext uri="{FF2B5EF4-FFF2-40B4-BE49-F238E27FC236}">
                <a16:creationId xmlns:a16="http://schemas.microsoft.com/office/drawing/2014/main" id="{0D9D5D3F-2313-480D-A6B2-3AADB56A9EEC}"/>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Trace each cash effect to its date. Separate delayed receipts from permanent losses.</a:t>
            </a:r>
          </a:p>
        </p:txBody>
      </p:sp>
    </p:spTree>
    <p:extLst>
      <p:ext uri="{BB962C8B-B14F-4D97-AF65-F5344CB8AC3E}">
        <p14:creationId xmlns:p14="http://schemas.microsoft.com/office/powerpoint/2010/main" val="1108123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cxnSp>
        <p:nvCxnSpPr>
          <p:cNvPr id="14" name="Connecteur droit avec flèche 13">
            <a:extLst>
              <a:ext uri="{FF2B5EF4-FFF2-40B4-BE49-F238E27FC236}">
                <a16:creationId xmlns:a16="http://schemas.microsoft.com/office/drawing/2014/main" id="{40383D0D-242E-455B-A37D-0E64095B3A3F}"/>
              </a:ext>
            </a:extLst>
          </p:cNvPr>
          <p:cNvCxnSpPr>
            <a:stCxn id="7" idx="3"/>
            <a:endCxn id="10" idx="1"/>
          </p:cNvCxnSpPr>
          <p:nvPr/>
        </p:nvCxnSpPr>
        <p:spPr>
          <a:xfrm>
            <a:off x="7797800" y="3238500"/>
            <a:ext cx="381000" cy="0"/>
          </a:xfrm>
          <a:prstGeom prst="straightConnector1">
            <a:avLst/>
          </a:prstGeom>
          <a:ln w="17145">
            <a:solidFill>
              <a:srgbClr val="087F83"/>
            </a:solidFill>
            <a:prstDash val="solid"/>
            <a:headEnd type="none" w="med" len="med"/>
            <a:tailEnd type="triangle" w="med" len="med"/>
          </a:ln>
        </p:spPr>
      </p:cxnSp>
      <p:cxnSp>
        <p:nvCxnSpPr>
          <p:cNvPr id="13" name="Connecteur droit avec flèche 12">
            <a:extLst>
              <a:ext uri="{FF2B5EF4-FFF2-40B4-BE49-F238E27FC236}">
                <a16:creationId xmlns:a16="http://schemas.microsoft.com/office/drawing/2014/main" id="{BA33BBEC-4578-4EBB-8120-90D2C730E790}"/>
              </a:ext>
            </a:extLst>
          </p:cNvPr>
          <p:cNvCxnSpPr>
            <a:stCxn id="4" idx="3"/>
            <a:endCxn id="7" idx="1"/>
          </p:cNvCxnSpPr>
          <p:nvPr/>
        </p:nvCxnSpPr>
        <p:spPr>
          <a:xfrm>
            <a:off x="4013200" y="3238500"/>
            <a:ext cx="381000" cy="0"/>
          </a:xfrm>
          <a:prstGeom prst="straightConnector1">
            <a:avLst/>
          </a:prstGeom>
          <a:ln w="17145">
            <a:solidFill>
              <a:srgbClr val="087F83"/>
            </a:solidFill>
            <a:prstDash val="solid"/>
            <a:headEnd type="none" w="med" len="med"/>
            <a:tailEnd type="triangle" w="med" len="med"/>
          </a:ln>
        </p:spPr>
      </p:cxnSp>
      <p:sp>
        <p:nvSpPr>
          <p:cNvPr id="18" name="section-reference">
            <a:extLst>
              <a:ext uri="{FF2B5EF4-FFF2-40B4-BE49-F238E27FC236}">
                <a16:creationId xmlns:a16="http://schemas.microsoft.com/office/drawing/2014/main" id="{FB066725-F6E5-4438-824E-F8EDCFD81B20}"/>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1.4</a:t>
            </a:r>
          </a:p>
        </p:txBody>
      </p:sp>
      <p:sp>
        <p:nvSpPr>
          <p:cNvPr id="2" name="slide-title">
            <a:extLst>
              <a:ext uri="{FF2B5EF4-FFF2-40B4-BE49-F238E27FC236}">
                <a16:creationId xmlns:a16="http://schemas.microsoft.com/office/drawing/2014/main" id="{13D5AC96-EFAF-4B81-BBD1-BEA1E050D4F2}"/>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Risk appetite makes choices explicit</a:t>
            </a:r>
          </a:p>
        </p:txBody>
      </p:sp>
      <p:sp>
        <p:nvSpPr>
          <p:cNvPr id="3" name="slide-number">
            <a:extLst>
              <a:ext uri="{FF2B5EF4-FFF2-40B4-BE49-F238E27FC236}">
                <a16:creationId xmlns:a16="http://schemas.microsoft.com/office/drawing/2014/main" id="{77725E18-4913-43A3-A48A-E5FD4373BB18}"/>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17</a:t>
            </a:r>
          </a:p>
        </p:txBody>
      </p:sp>
      <p:sp>
        <p:nvSpPr>
          <p:cNvPr id="4" name="diagram-node">
            <a:extLst>
              <a:ext uri="{FF2B5EF4-FFF2-40B4-BE49-F238E27FC236}">
                <a16:creationId xmlns:a16="http://schemas.microsoft.com/office/drawing/2014/main" id="{882CD009-3CE4-4CE4-A527-273D8090A8F4}"/>
              </a:ext>
            </a:extLst>
          </p:cNvPr>
          <p:cNvSpPr>
            <a:spLocks noGrp="1"/>
          </p:cNvSpPr>
          <p:nvPr/>
        </p:nvSpPr>
        <p:spPr>
          <a:xfrm>
            <a:off x="609600" y="2381250"/>
            <a:ext cx="3403600" cy="1714500"/>
          </a:xfrm>
          <a:prstGeom prst="rect">
            <a:avLst/>
          </a:prstGeom>
          <a:solidFill>
            <a:srgbClr val="142D3B"/>
          </a:solidFill>
          <a:ln w="0">
            <a:noFill/>
            <a:prstDash val="solid"/>
          </a:ln>
        </p:spPr>
        <p:txBody>
          <a:bodyPr/>
          <a:lstStyle/>
          <a:p>
            <a:endParaRPr lang="fr-FR"/>
          </a:p>
        </p:txBody>
      </p:sp>
      <p:sp>
        <p:nvSpPr>
          <p:cNvPr id="5" name="explanation">
            <a:extLst>
              <a:ext uri="{FF2B5EF4-FFF2-40B4-BE49-F238E27FC236}">
                <a16:creationId xmlns:a16="http://schemas.microsoft.com/office/drawing/2014/main" id="{1A6876C3-4AD8-4238-B35C-DBB5426F1F1C}"/>
              </a:ext>
            </a:extLst>
          </p:cNvPr>
          <p:cNvSpPr>
            <a:spLocks noGrp="1"/>
          </p:cNvSpPr>
          <p:nvPr/>
        </p:nvSpPr>
        <p:spPr>
          <a:xfrm>
            <a:off x="781050" y="2562225"/>
            <a:ext cx="3060700" cy="571500"/>
          </a:xfrm>
          <a:prstGeom prst="rect">
            <a:avLst/>
          </a:prstGeom>
          <a:noFill/>
          <a:ln w="0">
            <a:noFill/>
            <a:prstDash val="solid"/>
          </a:ln>
        </p:spPr>
        <p:txBody>
          <a:bodyPr wrap="square" lIns="0" tIns="0" rIns="0" bIns="0" anchor="t">
            <a:noAutofit/>
          </a:bodyPr>
          <a:lstStyle>
            <a:defPPr algn="l">
              <a:defRPr sz="2025" b="1">
                <a:solidFill>
                  <a:srgbClr val="FFFFFF"/>
                </a:solidFill>
                <a:latin typeface="Aptos"/>
                <a:ea typeface="Aptos"/>
                <a:cs typeface="Aptos"/>
              </a:defRPr>
            </a:defPPr>
          </a:lstStyle>
          <a:p>
            <a:pPr algn="l">
              <a:defRPr sz="2025" b="1">
                <a:solidFill>
                  <a:srgbClr val="FFFFFF"/>
                </a:solidFill>
                <a:latin typeface="Aptos"/>
                <a:ea typeface="Aptos"/>
                <a:cs typeface="Aptos"/>
              </a:defRPr>
            </a:pPr>
            <a:r>
              <a:rPr sz="2025" b="1">
                <a:solidFill>
                  <a:srgbClr val="FFFFFF"/>
                </a:solidFill>
                <a:latin typeface="Aptos"/>
                <a:ea typeface="Aptos"/>
                <a:cs typeface="Aptos"/>
              </a:rPr>
              <a:t>Risk capacity</a:t>
            </a:r>
          </a:p>
        </p:txBody>
      </p:sp>
      <p:sp>
        <p:nvSpPr>
          <p:cNvPr id="6" name="explanation">
            <a:extLst>
              <a:ext uri="{FF2B5EF4-FFF2-40B4-BE49-F238E27FC236}">
                <a16:creationId xmlns:a16="http://schemas.microsoft.com/office/drawing/2014/main" id="{CD784D84-4CE0-47B5-90D2-3F16214FFE90}"/>
              </a:ext>
            </a:extLst>
          </p:cNvPr>
          <p:cNvSpPr>
            <a:spLocks noGrp="1"/>
          </p:cNvSpPr>
          <p:nvPr/>
        </p:nvSpPr>
        <p:spPr>
          <a:xfrm>
            <a:off x="781050" y="3162300"/>
            <a:ext cx="3060700" cy="876300"/>
          </a:xfrm>
          <a:prstGeom prst="rect">
            <a:avLst/>
          </a:prstGeom>
          <a:noFill/>
          <a:ln w="0">
            <a:noFill/>
            <a:prstDash val="solid"/>
          </a:ln>
        </p:spPr>
        <p:txBody>
          <a:bodyPr wrap="square" lIns="0" tIns="0" rIns="0" bIns="0" anchor="t">
            <a:noAutofit/>
          </a:bodyPr>
          <a:lstStyle>
            <a:defPPr algn="l">
              <a:defRPr sz="1650" b="0">
                <a:solidFill>
                  <a:srgbClr val="DCE7E9"/>
                </a:solidFill>
                <a:latin typeface="Aptos"/>
                <a:ea typeface="Aptos"/>
                <a:cs typeface="Aptos"/>
              </a:defRPr>
            </a:defPPr>
          </a:lstStyle>
          <a:p>
            <a:pPr algn="l">
              <a:defRPr sz="1650" b="0">
                <a:solidFill>
                  <a:srgbClr val="DCE7E9"/>
                </a:solidFill>
                <a:latin typeface="Aptos"/>
                <a:ea typeface="Aptos"/>
                <a:cs typeface="Aptos"/>
              </a:defRPr>
            </a:pPr>
            <a:r>
              <a:rPr sz="1650" b="0">
                <a:solidFill>
                  <a:srgbClr val="DCE7E9"/>
                </a:solidFill>
                <a:latin typeface="Aptos"/>
                <a:ea typeface="Aptos"/>
                <a:cs typeface="Aptos"/>
              </a:rPr>
              <a:t>Maximum loss the business can absorb</a:t>
            </a:r>
          </a:p>
        </p:txBody>
      </p:sp>
      <p:sp>
        <p:nvSpPr>
          <p:cNvPr id="7" name="diagram-node">
            <a:extLst>
              <a:ext uri="{FF2B5EF4-FFF2-40B4-BE49-F238E27FC236}">
                <a16:creationId xmlns:a16="http://schemas.microsoft.com/office/drawing/2014/main" id="{24A51F21-BEED-4DE0-A549-7F055134E167}"/>
              </a:ext>
            </a:extLst>
          </p:cNvPr>
          <p:cNvSpPr>
            <a:spLocks noGrp="1"/>
          </p:cNvSpPr>
          <p:nvPr/>
        </p:nvSpPr>
        <p:spPr>
          <a:xfrm>
            <a:off x="4394200" y="2381250"/>
            <a:ext cx="3403600" cy="1714500"/>
          </a:xfrm>
          <a:prstGeom prst="rect">
            <a:avLst/>
          </a:prstGeom>
          <a:solidFill>
            <a:srgbClr val="DCEEE9"/>
          </a:solidFill>
          <a:ln w="0">
            <a:noFill/>
            <a:prstDash val="solid"/>
          </a:ln>
        </p:spPr>
        <p:txBody>
          <a:bodyPr/>
          <a:lstStyle/>
          <a:p>
            <a:endParaRPr lang="fr-FR"/>
          </a:p>
        </p:txBody>
      </p:sp>
      <p:sp>
        <p:nvSpPr>
          <p:cNvPr id="8" name="explanation">
            <a:extLst>
              <a:ext uri="{FF2B5EF4-FFF2-40B4-BE49-F238E27FC236}">
                <a16:creationId xmlns:a16="http://schemas.microsoft.com/office/drawing/2014/main" id="{3756F49E-AA5D-4EAB-8EA8-A799497D4E04}"/>
              </a:ext>
            </a:extLst>
          </p:cNvPr>
          <p:cNvSpPr>
            <a:spLocks noGrp="1"/>
          </p:cNvSpPr>
          <p:nvPr/>
        </p:nvSpPr>
        <p:spPr>
          <a:xfrm>
            <a:off x="4565650" y="2562225"/>
            <a:ext cx="3060700" cy="5715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Risk appetite</a:t>
            </a:r>
          </a:p>
        </p:txBody>
      </p:sp>
      <p:sp>
        <p:nvSpPr>
          <p:cNvPr id="9" name="explanation">
            <a:extLst>
              <a:ext uri="{FF2B5EF4-FFF2-40B4-BE49-F238E27FC236}">
                <a16:creationId xmlns:a16="http://schemas.microsoft.com/office/drawing/2014/main" id="{9F3C9B59-A029-4B9B-A8FB-CE969F4EFC7F}"/>
              </a:ext>
            </a:extLst>
          </p:cNvPr>
          <p:cNvSpPr>
            <a:spLocks noGrp="1"/>
          </p:cNvSpPr>
          <p:nvPr/>
        </p:nvSpPr>
        <p:spPr>
          <a:xfrm>
            <a:off x="4565650" y="3162300"/>
            <a:ext cx="3060700" cy="876300"/>
          </a:xfrm>
          <a:prstGeom prst="rect">
            <a:avLst/>
          </a:prstGeom>
          <a:noFill/>
          <a:ln w="0">
            <a:noFill/>
            <a:prstDash val="solid"/>
          </a:ln>
        </p:spPr>
        <p:txBody>
          <a:bodyPr wrap="square" lIns="0" tIns="0" rIns="0" bIns="0" anchor="t">
            <a:noAutofit/>
          </a:bodyPr>
          <a:lstStyle>
            <a:defPPr algn="l">
              <a:defRPr sz="1650" b="0">
                <a:solidFill>
                  <a:srgbClr val="19313F"/>
                </a:solidFill>
                <a:latin typeface="Aptos"/>
                <a:ea typeface="Aptos"/>
                <a:cs typeface="Aptos"/>
              </a:defRPr>
            </a:defPPr>
          </a:lstStyle>
          <a:p>
            <a:pPr algn="l">
              <a:defRPr sz="1650" b="0">
                <a:solidFill>
                  <a:srgbClr val="19313F"/>
                </a:solidFill>
                <a:latin typeface="Aptos"/>
                <a:ea typeface="Aptos"/>
                <a:cs typeface="Aptos"/>
              </a:defRPr>
            </a:pPr>
            <a:r>
              <a:rPr sz="1650" b="0">
                <a:solidFill>
                  <a:srgbClr val="19313F"/>
                </a:solidFill>
                <a:latin typeface="Aptos"/>
                <a:ea typeface="Aptos"/>
                <a:cs typeface="Aptos"/>
              </a:rPr>
              <a:t>Exposure management accepts</a:t>
            </a:r>
          </a:p>
        </p:txBody>
      </p:sp>
      <p:sp>
        <p:nvSpPr>
          <p:cNvPr id="10" name="diagram-node">
            <a:extLst>
              <a:ext uri="{FF2B5EF4-FFF2-40B4-BE49-F238E27FC236}">
                <a16:creationId xmlns:a16="http://schemas.microsoft.com/office/drawing/2014/main" id="{BC31A21A-71FB-4BB1-82FD-C1054713FA78}"/>
              </a:ext>
            </a:extLst>
          </p:cNvPr>
          <p:cNvSpPr>
            <a:spLocks noGrp="1"/>
          </p:cNvSpPr>
          <p:nvPr/>
        </p:nvSpPr>
        <p:spPr>
          <a:xfrm>
            <a:off x="8178800" y="2381250"/>
            <a:ext cx="3403600" cy="1714500"/>
          </a:xfrm>
          <a:prstGeom prst="rect">
            <a:avLst/>
          </a:prstGeom>
          <a:solidFill>
            <a:srgbClr val="142D3B"/>
          </a:solidFill>
          <a:ln w="0">
            <a:noFill/>
            <a:prstDash val="solid"/>
          </a:ln>
        </p:spPr>
        <p:txBody>
          <a:bodyPr/>
          <a:lstStyle/>
          <a:p>
            <a:endParaRPr lang="fr-FR"/>
          </a:p>
        </p:txBody>
      </p:sp>
      <p:sp>
        <p:nvSpPr>
          <p:cNvPr id="11" name="explanation">
            <a:extLst>
              <a:ext uri="{FF2B5EF4-FFF2-40B4-BE49-F238E27FC236}">
                <a16:creationId xmlns:a16="http://schemas.microsoft.com/office/drawing/2014/main" id="{E23E03E7-B878-47FA-AD89-010C9C01466F}"/>
              </a:ext>
            </a:extLst>
          </p:cNvPr>
          <p:cNvSpPr>
            <a:spLocks noGrp="1"/>
          </p:cNvSpPr>
          <p:nvPr/>
        </p:nvSpPr>
        <p:spPr>
          <a:xfrm>
            <a:off x="8350250" y="2562225"/>
            <a:ext cx="3060700" cy="571500"/>
          </a:xfrm>
          <a:prstGeom prst="rect">
            <a:avLst/>
          </a:prstGeom>
          <a:noFill/>
          <a:ln w="0">
            <a:noFill/>
            <a:prstDash val="solid"/>
          </a:ln>
        </p:spPr>
        <p:txBody>
          <a:bodyPr wrap="square" lIns="0" tIns="0" rIns="0" bIns="0" anchor="t">
            <a:noAutofit/>
          </a:bodyPr>
          <a:lstStyle>
            <a:defPPr algn="l">
              <a:defRPr sz="2025" b="1">
                <a:solidFill>
                  <a:srgbClr val="FFFFFF"/>
                </a:solidFill>
                <a:latin typeface="Aptos"/>
                <a:ea typeface="Aptos"/>
                <a:cs typeface="Aptos"/>
              </a:defRPr>
            </a:defPPr>
          </a:lstStyle>
          <a:p>
            <a:pPr algn="l">
              <a:defRPr sz="2025" b="1">
                <a:solidFill>
                  <a:srgbClr val="FFFFFF"/>
                </a:solidFill>
                <a:latin typeface="Aptos"/>
                <a:ea typeface="Aptos"/>
                <a:cs typeface="Aptos"/>
              </a:defRPr>
            </a:pPr>
            <a:r>
              <a:rPr sz="2025" b="1">
                <a:solidFill>
                  <a:srgbClr val="FFFFFF"/>
                </a:solidFill>
                <a:latin typeface="Aptos"/>
                <a:ea typeface="Aptos"/>
                <a:cs typeface="Aptos"/>
              </a:rPr>
              <a:t>Operating limits</a:t>
            </a:r>
          </a:p>
        </p:txBody>
      </p:sp>
      <p:sp>
        <p:nvSpPr>
          <p:cNvPr id="12" name="explanation">
            <a:extLst>
              <a:ext uri="{FF2B5EF4-FFF2-40B4-BE49-F238E27FC236}">
                <a16:creationId xmlns:a16="http://schemas.microsoft.com/office/drawing/2014/main" id="{5C5C637B-72F2-4A23-8048-2E67959EF098}"/>
              </a:ext>
            </a:extLst>
          </p:cNvPr>
          <p:cNvSpPr>
            <a:spLocks noGrp="1"/>
          </p:cNvSpPr>
          <p:nvPr/>
        </p:nvSpPr>
        <p:spPr>
          <a:xfrm>
            <a:off x="8350250" y="3162300"/>
            <a:ext cx="3060700" cy="876300"/>
          </a:xfrm>
          <a:prstGeom prst="rect">
            <a:avLst/>
          </a:prstGeom>
          <a:noFill/>
          <a:ln w="0">
            <a:noFill/>
            <a:prstDash val="solid"/>
          </a:ln>
        </p:spPr>
        <p:txBody>
          <a:bodyPr wrap="square" lIns="0" tIns="0" rIns="0" bIns="0" anchor="t">
            <a:noAutofit/>
          </a:bodyPr>
          <a:lstStyle>
            <a:defPPr algn="l">
              <a:defRPr sz="1650" b="0">
                <a:solidFill>
                  <a:srgbClr val="DCE7E9"/>
                </a:solidFill>
                <a:latin typeface="Aptos"/>
                <a:ea typeface="Aptos"/>
                <a:cs typeface="Aptos"/>
              </a:defRPr>
            </a:defPPr>
          </a:lstStyle>
          <a:p>
            <a:pPr algn="l">
              <a:defRPr sz="1650" b="0">
                <a:solidFill>
                  <a:srgbClr val="DCE7E9"/>
                </a:solidFill>
                <a:latin typeface="Aptos"/>
                <a:ea typeface="Aptos"/>
                <a:cs typeface="Aptos"/>
              </a:defRPr>
            </a:pPr>
            <a:r>
              <a:rPr sz="1650" b="0">
                <a:solidFill>
                  <a:srgbClr val="DCE7E9"/>
                </a:solidFill>
                <a:latin typeface="Aptos"/>
                <a:ea typeface="Aptos"/>
                <a:cs typeface="Aptos"/>
              </a:rPr>
              <a:t>Measurable controls and thresholds</a:t>
            </a:r>
          </a:p>
        </p:txBody>
      </p:sp>
      <p:sp>
        <p:nvSpPr>
          <p:cNvPr id="15" name="explanation">
            <a:extLst>
              <a:ext uri="{FF2B5EF4-FFF2-40B4-BE49-F238E27FC236}">
                <a16:creationId xmlns:a16="http://schemas.microsoft.com/office/drawing/2014/main" id="{59F2375B-E3EA-4698-99C5-BC4C341AD37C}"/>
              </a:ext>
            </a:extLst>
          </p:cNvPr>
          <p:cNvSpPr>
            <a:spLocks noGrp="1"/>
          </p:cNvSpPr>
          <p:nvPr/>
        </p:nvSpPr>
        <p:spPr>
          <a:xfrm>
            <a:off x="609600" y="4543425"/>
            <a:ext cx="10763250" cy="781050"/>
          </a:xfrm>
          <a:prstGeom prst="rect">
            <a:avLst/>
          </a:prstGeom>
          <a:noFill/>
          <a:ln w="0">
            <a:noFill/>
            <a:prstDash val="solid"/>
          </a:ln>
        </p:spPr>
        <p:txBody>
          <a:bodyPr wrap="square" lIns="0" tIns="0" rIns="0" bIns="0" anchor="t">
            <a:noAutofit/>
          </a:bodyPr>
          <a:lstStyle>
            <a:defPPr algn="l">
              <a:defRPr sz="2325" b="1">
                <a:solidFill>
                  <a:srgbClr val="19313F"/>
                </a:solidFill>
                <a:latin typeface="Aptos"/>
                <a:ea typeface="Aptos"/>
                <a:cs typeface="Aptos"/>
              </a:defRPr>
            </a:defPPr>
          </a:lstStyle>
          <a:p>
            <a:pPr algn="l">
              <a:defRPr sz="2325" b="1">
                <a:solidFill>
                  <a:srgbClr val="19313F"/>
                </a:solidFill>
                <a:latin typeface="Aptos"/>
                <a:ea typeface="Aptos"/>
                <a:cs typeface="Aptos"/>
              </a:defRPr>
            </a:pPr>
            <a:r>
              <a:rPr sz="2325" b="1">
                <a:solidFill>
                  <a:srgbClr val="19313F"/>
                </a:solidFill>
                <a:latin typeface="Aptos"/>
                <a:ea typeface="Aptos"/>
                <a:cs typeface="Aptos"/>
              </a:rPr>
              <a:t>Capacity constrains appetite. Limits turn appetite into daily decisions.</a:t>
            </a:r>
          </a:p>
        </p:txBody>
      </p:sp>
      <p:sp>
        <p:nvSpPr>
          <p:cNvPr id="16" name="rule">
            <a:extLst>
              <a:ext uri="{FF2B5EF4-FFF2-40B4-BE49-F238E27FC236}">
                <a16:creationId xmlns:a16="http://schemas.microsoft.com/office/drawing/2014/main" id="{2AA5DFCA-25A8-4693-84B6-7A89F9B11495}"/>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7" name="decision-implication">
            <a:extLst>
              <a:ext uri="{FF2B5EF4-FFF2-40B4-BE49-F238E27FC236}">
                <a16:creationId xmlns:a16="http://schemas.microsoft.com/office/drawing/2014/main" id="{A89690C6-5616-4027-8455-CD4D3131B3F2}"/>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Seek CFO or board approval for measurable limits and escalation rules.</a:t>
            </a:r>
          </a:p>
        </p:txBody>
      </p:sp>
    </p:spTree>
    <p:extLst>
      <p:ext uri="{BB962C8B-B14F-4D97-AF65-F5344CB8AC3E}">
        <p14:creationId xmlns:p14="http://schemas.microsoft.com/office/powerpoint/2010/main" val="2126950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ection-reference">
            <a:extLst>
              <a:ext uri="{FF2B5EF4-FFF2-40B4-BE49-F238E27FC236}">
                <a16:creationId xmlns:a16="http://schemas.microsoft.com/office/drawing/2014/main" id="{A6DFBBCD-3E2D-4FD1-9438-4111C65FE4CC}"/>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1.4</a:t>
            </a:r>
          </a:p>
        </p:txBody>
      </p:sp>
      <p:sp>
        <p:nvSpPr>
          <p:cNvPr id="2" name="slide-title">
            <a:extLst>
              <a:ext uri="{FF2B5EF4-FFF2-40B4-BE49-F238E27FC236}">
                <a16:creationId xmlns:a16="http://schemas.microsoft.com/office/drawing/2014/main" id="{ABA49E4E-6B93-4541-8B65-AD00ABBB51B7}"/>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Why a French exporter needs to exchange dollars</a:t>
            </a:r>
          </a:p>
        </p:txBody>
      </p:sp>
      <p:sp>
        <p:nvSpPr>
          <p:cNvPr id="3" name="slide-number">
            <a:extLst>
              <a:ext uri="{FF2B5EF4-FFF2-40B4-BE49-F238E27FC236}">
                <a16:creationId xmlns:a16="http://schemas.microsoft.com/office/drawing/2014/main" id="{F3745431-7578-4A30-BCF5-1309209F0743}"/>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FX 1</a:t>
            </a:r>
          </a:p>
        </p:txBody>
      </p:sp>
      <p:sp>
        <p:nvSpPr>
          <p:cNvPr id="4" name="explanation">
            <a:extLst>
              <a:ext uri="{FF2B5EF4-FFF2-40B4-BE49-F238E27FC236}">
                <a16:creationId xmlns:a16="http://schemas.microsoft.com/office/drawing/2014/main" id="{FD476F94-82F7-4E28-895D-A99984F46178}"/>
              </a:ext>
            </a:extLst>
          </p:cNvPr>
          <p:cNvSpPr>
            <a:spLocks noGrp="1"/>
          </p:cNvSpPr>
          <p:nvPr/>
        </p:nvSpPr>
        <p:spPr>
          <a:xfrm>
            <a:off x="609600" y="1714500"/>
            <a:ext cx="10906125" cy="619125"/>
          </a:xfrm>
          <a:prstGeom prst="rect">
            <a:avLst/>
          </a:prstGeom>
          <a:noFill/>
          <a:ln w="0">
            <a:noFill/>
            <a:prstDash val="solid"/>
          </a:ln>
        </p:spPr>
        <p:txBody>
          <a:bodyPr wrap="square" lIns="0" tIns="0" rIns="0" bIns="0" anchor="t">
            <a:noAutofit/>
          </a:bodyPr>
          <a:lstStyle>
            <a:defPPr algn="l">
              <a:defRPr sz="2325" b="1">
                <a:solidFill>
                  <a:srgbClr val="19313F"/>
                </a:solidFill>
                <a:latin typeface="Aptos"/>
                <a:ea typeface="Aptos"/>
                <a:cs typeface="Aptos"/>
              </a:defRPr>
            </a:defPPr>
          </a:lstStyle>
          <a:p>
            <a:pPr algn="l">
              <a:defRPr sz="2325" b="1">
                <a:solidFill>
                  <a:srgbClr val="19313F"/>
                </a:solidFill>
                <a:latin typeface="Aptos"/>
                <a:ea typeface="Aptos"/>
                <a:cs typeface="Aptos"/>
              </a:defRPr>
            </a:pPr>
            <a:r>
              <a:rPr sz="2325" b="1">
                <a:solidFill>
                  <a:srgbClr val="19313F"/>
                </a:solidFill>
                <a:latin typeface="Aptos"/>
                <a:ea typeface="Aptos"/>
                <a:cs typeface="Aptos"/>
              </a:rPr>
              <a:t>A French company sells products to US customers.</a:t>
            </a:r>
          </a:p>
        </p:txBody>
      </p:sp>
      <p:sp>
        <p:nvSpPr>
          <p:cNvPr id="5" name="explanation">
            <a:extLst>
              <a:ext uri="{FF2B5EF4-FFF2-40B4-BE49-F238E27FC236}">
                <a16:creationId xmlns:a16="http://schemas.microsoft.com/office/drawing/2014/main" id="{44A4111A-5EE8-408C-96C3-D1D9371F38DE}"/>
              </a:ext>
            </a:extLst>
          </p:cNvPr>
          <p:cNvSpPr>
            <a:spLocks noGrp="1"/>
          </p:cNvSpPr>
          <p:nvPr/>
        </p:nvSpPr>
        <p:spPr>
          <a:xfrm>
            <a:off x="609600" y="25050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01</a:t>
            </a:r>
          </a:p>
        </p:txBody>
      </p:sp>
      <p:sp>
        <p:nvSpPr>
          <p:cNvPr id="6" name="explanation">
            <a:extLst>
              <a:ext uri="{FF2B5EF4-FFF2-40B4-BE49-F238E27FC236}">
                <a16:creationId xmlns:a16="http://schemas.microsoft.com/office/drawing/2014/main" id="{BA30117C-F4D3-4017-8A1D-CDDD678F7A42}"/>
              </a:ext>
            </a:extLst>
          </p:cNvPr>
          <p:cNvSpPr>
            <a:spLocks noGrp="1"/>
          </p:cNvSpPr>
          <p:nvPr/>
        </p:nvSpPr>
        <p:spPr>
          <a:xfrm>
            <a:off x="1333500" y="25050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Its customers pay in US dollars</a:t>
            </a:r>
          </a:p>
        </p:txBody>
      </p:sp>
      <p:sp>
        <p:nvSpPr>
          <p:cNvPr id="7" name="explanation">
            <a:extLst>
              <a:ext uri="{FF2B5EF4-FFF2-40B4-BE49-F238E27FC236}">
                <a16:creationId xmlns:a16="http://schemas.microsoft.com/office/drawing/2014/main" id="{2445587E-193A-42AD-8064-37EB53733DF4}"/>
              </a:ext>
            </a:extLst>
          </p:cNvPr>
          <p:cNvSpPr>
            <a:spLocks noGrp="1"/>
          </p:cNvSpPr>
          <p:nvPr/>
        </p:nvSpPr>
        <p:spPr>
          <a:xfrm>
            <a:off x="1333500" y="29146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The company expects USD 10m in three months.</a:t>
            </a:r>
          </a:p>
        </p:txBody>
      </p:sp>
      <p:sp>
        <p:nvSpPr>
          <p:cNvPr id="8" name="rule">
            <a:extLst>
              <a:ext uri="{FF2B5EF4-FFF2-40B4-BE49-F238E27FC236}">
                <a16:creationId xmlns:a16="http://schemas.microsoft.com/office/drawing/2014/main" id="{A2293932-72C6-4947-B223-08C1562334CB}"/>
              </a:ext>
            </a:extLst>
          </p:cNvPr>
          <p:cNvSpPr>
            <a:spLocks noGrp="1"/>
          </p:cNvSpPr>
          <p:nvPr/>
        </p:nvSpPr>
        <p:spPr>
          <a:xfrm>
            <a:off x="1333500" y="3362325"/>
            <a:ext cx="10248900" cy="0"/>
          </a:xfrm>
          <a:prstGeom prst="line">
            <a:avLst/>
          </a:prstGeom>
          <a:noFill/>
          <a:ln w="9525">
            <a:solidFill>
              <a:srgbClr val="CCD6D9"/>
            </a:solidFill>
            <a:prstDash val="solid"/>
          </a:ln>
        </p:spPr>
        <p:txBody>
          <a:bodyPr/>
          <a:lstStyle/>
          <a:p>
            <a:endParaRPr lang="fr-FR"/>
          </a:p>
        </p:txBody>
      </p:sp>
      <p:sp>
        <p:nvSpPr>
          <p:cNvPr id="9" name="explanation">
            <a:extLst>
              <a:ext uri="{FF2B5EF4-FFF2-40B4-BE49-F238E27FC236}">
                <a16:creationId xmlns:a16="http://schemas.microsoft.com/office/drawing/2014/main" id="{95FE01A0-094B-4D04-BCAC-0989D805291E}"/>
              </a:ext>
            </a:extLst>
          </p:cNvPr>
          <p:cNvSpPr>
            <a:spLocks noGrp="1"/>
          </p:cNvSpPr>
          <p:nvPr/>
        </p:nvSpPr>
        <p:spPr>
          <a:xfrm>
            <a:off x="609600" y="34575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02</a:t>
            </a:r>
          </a:p>
        </p:txBody>
      </p:sp>
      <p:sp>
        <p:nvSpPr>
          <p:cNvPr id="10" name="explanation">
            <a:extLst>
              <a:ext uri="{FF2B5EF4-FFF2-40B4-BE49-F238E27FC236}">
                <a16:creationId xmlns:a16="http://schemas.microsoft.com/office/drawing/2014/main" id="{03E1777D-3F7B-4875-B75A-813D8BE1F2FD}"/>
              </a:ext>
            </a:extLst>
          </p:cNvPr>
          <p:cNvSpPr>
            <a:spLocks noGrp="1"/>
          </p:cNvSpPr>
          <p:nvPr/>
        </p:nvSpPr>
        <p:spPr>
          <a:xfrm>
            <a:off x="1333500" y="34575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Its expenses require euros</a:t>
            </a:r>
          </a:p>
        </p:txBody>
      </p:sp>
      <p:sp>
        <p:nvSpPr>
          <p:cNvPr id="11" name="explanation">
            <a:extLst>
              <a:ext uri="{FF2B5EF4-FFF2-40B4-BE49-F238E27FC236}">
                <a16:creationId xmlns:a16="http://schemas.microsoft.com/office/drawing/2014/main" id="{41565B86-B79E-495F-BA2C-40EC3AA8803E}"/>
              </a:ext>
            </a:extLst>
          </p:cNvPr>
          <p:cNvSpPr>
            <a:spLocks noGrp="1"/>
          </p:cNvSpPr>
          <p:nvPr/>
        </p:nvSpPr>
        <p:spPr>
          <a:xfrm>
            <a:off x="1333500" y="38671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Payroll and suppliers in France must be paid in EUR.</a:t>
            </a:r>
          </a:p>
        </p:txBody>
      </p:sp>
      <p:sp>
        <p:nvSpPr>
          <p:cNvPr id="12" name="rule">
            <a:extLst>
              <a:ext uri="{FF2B5EF4-FFF2-40B4-BE49-F238E27FC236}">
                <a16:creationId xmlns:a16="http://schemas.microsoft.com/office/drawing/2014/main" id="{2DDCA972-7EF0-42B7-8AAD-B76CEB45197D}"/>
              </a:ext>
            </a:extLst>
          </p:cNvPr>
          <p:cNvSpPr>
            <a:spLocks noGrp="1"/>
          </p:cNvSpPr>
          <p:nvPr/>
        </p:nvSpPr>
        <p:spPr>
          <a:xfrm>
            <a:off x="1333500" y="4314825"/>
            <a:ext cx="10248900" cy="0"/>
          </a:xfrm>
          <a:prstGeom prst="line">
            <a:avLst/>
          </a:prstGeom>
          <a:noFill/>
          <a:ln w="9525">
            <a:solidFill>
              <a:srgbClr val="CCD6D9"/>
            </a:solidFill>
            <a:prstDash val="solid"/>
          </a:ln>
        </p:spPr>
        <p:txBody>
          <a:bodyPr/>
          <a:lstStyle/>
          <a:p>
            <a:endParaRPr lang="fr-FR"/>
          </a:p>
        </p:txBody>
      </p:sp>
      <p:sp>
        <p:nvSpPr>
          <p:cNvPr id="13" name="explanation">
            <a:extLst>
              <a:ext uri="{FF2B5EF4-FFF2-40B4-BE49-F238E27FC236}">
                <a16:creationId xmlns:a16="http://schemas.microsoft.com/office/drawing/2014/main" id="{6274B177-700E-4573-BF52-76E7FF903728}"/>
              </a:ext>
            </a:extLst>
          </p:cNvPr>
          <p:cNvSpPr>
            <a:spLocks noGrp="1"/>
          </p:cNvSpPr>
          <p:nvPr/>
        </p:nvSpPr>
        <p:spPr>
          <a:xfrm>
            <a:off x="609600" y="44100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03</a:t>
            </a:r>
          </a:p>
        </p:txBody>
      </p:sp>
      <p:sp>
        <p:nvSpPr>
          <p:cNvPr id="14" name="explanation">
            <a:extLst>
              <a:ext uri="{FF2B5EF4-FFF2-40B4-BE49-F238E27FC236}">
                <a16:creationId xmlns:a16="http://schemas.microsoft.com/office/drawing/2014/main" id="{FDC292B5-D5EF-4278-8EBB-C961AFDAEDA9}"/>
              </a:ext>
            </a:extLst>
          </p:cNvPr>
          <p:cNvSpPr>
            <a:spLocks noGrp="1"/>
          </p:cNvSpPr>
          <p:nvPr/>
        </p:nvSpPr>
        <p:spPr>
          <a:xfrm>
            <a:off x="1333500" y="44100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It needs to exchange the dollars for euros</a:t>
            </a:r>
          </a:p>
        </p:txBody>
      </p:sp>
      <p:sp>
        <p:nvSpPr>
          <p:cNvPr id="15" name="explanation">
            <a:extLst>
              <a:ext uri="{FF2B5EF4-FFF2-40B4-BE49-F238E27FC236}">
                <a16:creationId xmlns:a16="http://schemas.microsoft.com/office/drawing/2014/main" id="{6D5BA668-962B-4D4B-B063-73047EBBFAB6}"/>
              </a:ext>
            </a:extLst>
          </p:cNvPr>
          <p:cNvSpPr>
            <a:spLocks noGrp="1"/>
          </p:cNvSpPr>
          <p:nvPr/>
        </p:nvSpPr>
        <p:spPr>
          <a:xfrm>
            <a:off x="1333500" y="48196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The exchange rate determines how many euros the company receives.</a:t>
            </a:r>
          </a:p>
        </p:txBody>
      </p:sp>
      <p:sp>
        <p:nvSpPr>
          <p:cNvPr id="16" name="explanation">
            <a:extLst>
              <a:ext uri="{FF2B5EF4-FFF2-40B4-BE49-F238E27FC236}">
                <a16:creationId xmlns:a16="http://schemas.microsoft.com/office/drawing/2014/main" id="{6AF647D6-4AC6-4237-8983-4A5B01E9CF95}"/>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Fictional example. Assume the company has no dollar expenses to offset the receipts.</a:t>
            </a:r>
          </a:p>
        </p:txBody>
      </p:sp>
      <p:sp>
        <p:nvSpPr>
          <p:cNvPr id="17" name="rule">
            <a:extLst>
              <a:ext uri="{FF2B5EF4-FFF2-40B4-BE49-F238E27FC236}">
                <a16:creationId xmlns:a16="http://schemas.microsoft.com/office/drawing/2014/main" id="{E77FCE93-8609-4CE6-8742-5AF88D9DA813}"/>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8" name="decision-implication">
            <a:extLst>
              <a:ext uri="{FF2B5EF4-FFF2-40B4-BE49-F238E27FC236}">
                <a16:creationId xmlns:a16="http://schemas.microsoft.com/office/drawing/2014/main" id="{00F00642-9E67-4CEF-8A89-3AB7CF8A9273}"/>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Treasury needs predictable cash in euros to fund expenses and protect margins.</a:t>
            </a:r>
          </a:p>
        </p:txBody>
      </p:sp>
    </p:spTree>
    <p:extLst>
      <p:ext uri="{BB962C8B-B14F-4D97-AF65-F5344CB8AC3E}">
        <p14:creationId xmlns:p14="http://schemas.microsoft.com/office/powerpoint/2010/main" val="681263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ection-reference">
            <a:extLst>
              <a:ext uri="{FF2B5EF4-FFF2-40B4-BE49-F238E27FC236}">
                <a16:creationId xmlns:a16="http://schemas.microsoft.com/office/drawing/2014/main" id="{1C7CEA98-062E-481A-A412-C3D6DADCB02D}"/>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1.4</a:t>
            </a:r>
          </a:p>
        </p:txBody>
      </p:sp>
      <p:sp>
        <p:nvSpPr>
          <p:cNvPr id="2" name="slide-title">
            <a:extLst>
              <a:ext uri="{FF2B5EF4-FFF2-40B4-BE49-F238E27FC236}">
                <a16:creationId xmlns:a16="http://schemas.microsoft.com/office/drawing/2014/main" id="{C91B1F4A-EEEA-4FFA-8609-96297190D81D}"/>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The same dollar receipts can produce fewer euros</a:t>
            </a:r>
          </a:p>
        </p:txBody>
      </p:sp>
      <p:sp>
        <p:nvSpPr>
          <p:cNvPr id="3" name="slide-number">
            <a:extLst>
              <a:ext uri="{FF2B5EF4-FFF2-40B4-BE49-F238E27FC236}">
                <a16:creationId xmlns:a16="http://schemas.microsoft.com/office/drawing/2014/main" id="{DC4D96E4-59FB-4785-9F3B-2314A8D45BEB}"/>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FX 2</a:t>
            </a:r>
          </a:p>
        </p:txBody>
      </p:sp>
      <p:graphicFrame>
        <p:nvGraphicFramePr>
          <p:cNvPr id="4" name="Tableau 3">
            <a:extLst>
              <a:ext uri="{FF2B5EF4-FFF2-40B4-BE49-F238E27FC236}">
                <a16:creationId xmlns:a16="http://schemas.microsoft.com/office/drawing/2014/main" id="{534F6515-96ED-4B86-A2B0-B378BB701615}"/>
              </a:ext>
            </a:extLst>
          </p:cNvPr>
          <p:cNvGraphicFramePr/>
          <p:nvPr/>
        </p:nvGraphicFramePr>
        <p:xfrm>
          <a:off x="609600" y="2076450"/>
          <a:ext cx="7239000" cy="2400300"/>
        </p:xfrm>
        <a:graphic>
          <a:graphicData uri="http://schemas.openxmlformats.org/drawingml/2006/table">
            <a:tbl>
              <a:tblPr firstRow="1"/>
              <a:tblGrid>
                <a:gridCol w="3714750">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tblGrid>
              <a:tr h="579120">
                <a:tc>
                  <a:txBody>
                    <a:bodyPr/>
                    <a:lstStyle/>
                    <a:p>
                      <a:pPr algn="l"/>
                      <a:r>
                        <a:rPr sz="1875" b="1">
                          <a:solidFill>
                            <a:srgbClr val="FFFFFF"/>
                          </a:solidFill>
                          <a:latin typeface="Aptos"/>
                          <a:ea typeface="Aptos"/>
                          <a:cs typeface="Aptos"/>
                        </a:rPr>
                        <a:t>Cash conversion</a:t>
                      </a:r>
                    </a:p>
                  </a:txBody>
                  <a:tcPr anchor="ctr">
                    <a:lnL w="6668">
                      <a:solidFill>
                        <a:srgbClr val="CCD6D9"/>
                      </a:solidFill>
                      <a:prstDash val="soli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75" b="1">
                          <a:solidFill>
                            <a:srgbClr val="FFFFFF"/>
                          </a:solidFill>
                          <a:latin typeface="Aptos"/>
                          <a:ea typeface="Aptos"/>
                          <a:cs typeface="Aptos"/>
                        </a:rPr>
                        <a:t>1 EUR = 1.10 USD</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75" b="1">
                          <a:solidFill>
                            <a:srgbClr val="FFFFFF"/>
                          </a:solidFill>
                          <a:latin typeface="Aptos"/>
                          <a:ea typeface="Aptos"/>
                          <a:cs typeface="Aptos"/>
                        </a:rPr>
                        <a:t>1 EUR = 1.20 USD</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extLst>
                  <a:ext uri="{0D108BD9-81ED-4DB2-BD59-A6C34878D82A}">
                    <a16:rowId xmlns:a16="http://schemas.microsoft.com/office/drawing/2014/main" val="10000"/>
                  </a:ext>
                </a:extLst>
              </a:tr>
              <a:tr h="579120">
                <a:tc>
                  <a:txBody>
                    <a:bodyPr/>
                    <a:lstStyle/>
                    <a:p>
                      <a:pPr algn="l"/>
                      <a:r>
                        <a:rPr sz="1875" b="0">
                          <a:solidFill>
                            <a:srgbClr val="19313F"/>
                          </a:solidFill>
                          <a:latin typeface="Aptos"/>
                          <a:ea typeface="Aptos"/>
                          <a:cs typeface="Aptos"/>
                        </a:rPr>
                        <a:t>USD receipts</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b="0">
                          <a:solidFill>
                            <a:srgbClr val="19313F"/>
                          </a:solidFill>
                          <a:latin typeface="Aptos"/>
                          <a:ea typeface="Aptos"/>
                          <a:cs typeface="Aptos"/>
                        </a:rPr>
                        <a:t>USD 10m</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b="0">
                          <a:solidFill>
                            <a:srgbClr val="19313F"/>
                          </a:solidFill>
                          <a:latin typeface="Aptos"/>
                          <a:ea typeface="Aptos"/>
                          <a:cs typeface="Aptos"/>
                        </a:rPr>
                        <a:t>USD 10m</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1"/>
                  </a:ext>
                </a:extLst>
              </a:tr>
              <a:tr h="579120">
                <a:tc>
                  <a:txBody>
                    <a:bodyPr/>
                    <a:lstStyle/>
                    <a:p>
                      <a:pPr algn="l"/>
                      <a:r>
                        <a:rPr sz="1875" b="0">
                          <a:solidFill>
                            <a:srgbClr val="19313F"/>
                          </a:solidFill>
                          <a:latin typeface="Aptos"/>
                          <a:ea typeface="Aptos"/>
                          <a:cs typeface="Aptos"/>
                        </a:rPr>
                        <a:t>Conversion into EUR</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75" b="0">
                          <a:solidFill>
                            <a:srgbClr val="19313F"/>
                          </a:solidFill>
                          <a:latin typeface="Aptos"/>
                          <a:ea typeface="Aptos"/>
                          <a:cs typeface="Aptos"/>
                        </a:rPr>
                        <a:t>10m / 1.10</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75" b="0">
                          <a:solidFill>
                            <a:srgbClr val="19313F"/>
                          </a:solidFill>
                          <a:latin typeface="Aptos"/>
                          <a:ea typeface="Aptos"/>
                          <a:cs typeface="Aptos"/>
                        </a:rPr>
                        <a:t>10m / 1.20</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2"/>
                  </a:ext>
                </a:extLst>
              </a:tr>
              <a:tr h="579120">
                <a:tc>
                  <a:txBody>
                    <a:bodyPr/>
                    <a:lstStyle/>
                    <a:p>
                      <a:pPr algn="l"/>
                      <a:r>
                        <a:rPr sz="1875" b="0">
                          <a:solidFill>
                            <a:srgbClr val="19313F"/>
                          </a:solidFill>
                          <a:latin typeface="Aptos"/>
                          <a:ea typeface="Aptos"/>
                          <a:cs typeface="Aptos"/>
                        </a:rPr>
                        <a:t>EUR received</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b="0">
                          <a:solidFill>
                            <a:srgbClr val="19313F"/>
                          </a:solidFill>
                          <a:latin typeface="Aptos"/>
                          <a:ea typeface="Aptos"/>
                          <a:cs typeface="Aptos"/>
                        </a:rPr>
                        <a:t>€9.091m</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b="0">
                          <a:solidFill>
                            <a:srgbClr val="19313F"/>
                          </a:solidFill>
                          <a:latin typeface="Aptos"/>
                          <a:ea typeface="Aptos"/>
                          <a:cs typeface="Aptos"/>
                        </a:rPr>
                        <a:t>€8.333m</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3"/>
                  </a:ext>
                </a:extLst>
              </a:tr>
            </a:tbl>
          </a:graphicData>
        </a:graphic>
      </p:graphicFrame>
      <p:sp>
        <p:nvSpPr>
          <p:cNvPr id="5" name="explanation">
            <a:extLst>
              <a:ext uri="{FF2B5EF4-FFF2-40B4-BE49-F238E27FC236}">
                <a16:creationId xmlns:a16="http://schemas.microsoft.com/office/drawing/2014/main" id="{954C415D-0C49-4B17-B367-E64B5DD46078}"/>
              </a:ext>
            </a:extLst>
          </p:cNvPr>
          <p:cNvSpPr>
            <a:spLocks noGrp="1"/>
          </p:cNvSpPr>
          <p:nvPr/>
        </p:nvSpPr>
        <p:spPr>
          <a:xfrm>
            <a:off x="8572500" y="2181225"/>
            <a:ext cx="3000375" cy="723900"/>
          </a:xfrm>
          <a:prstGeom prst="rect">
            <a:avLst/>
          </a:prstGeom>
          <a:noFill/>
          <a:ln w="0">
            <a:noFill/>
            <a:prstDash val="solid"/>
          </a:ln>
        </p:spPr>
        <p:txBody>
          <a:bodyPr wrap="square" lIns="0" tIns="0" rIns="0" bIns="0" anchor="t">
            <a:noAutofit/>
          </a:bodyPr>
          <a:lstStyle>
            <a:defPPr algn="l">
              <a:defRPr sz="3900" b="1">
                <a:solidFill>
                  <a:srgbClr val="B4453F"/>
                </a:solidFill>
                <a:latin typeface="Aptos"/>
                <a:ea typeface="Aptos"/>
                <a:cs typeface="Aptos"/>
              </a:defRPr>
            </a:defPPr>
          </a:lstStyle>
          <a:p>
            <a:pPr algn="l">
              <a:defRPr sz="3900" b="1">
                <a:solidFill>
                  <a:srgbClr val="B4453F"/>
                </a:solidFill>
                <a:latin typeface="Aptos"/>
                <a:ea typeface="Aptos"/>
                <a:cs typeface="Aptos"/>
              </a:defRPr>
            </a:pPr>
            <a:r>
              <a:rPr sz="3900" b="1">
                <a:solidFill>
                  <a:srgbClr val="B4453F"/>
                </a:solidFill>
                <a:latin typeface="Aptos"/>
                <a:ea typeface="Aptos"/>
                <a:cs typeface="Aptos"/>
              </a:rPr>
              <a:t>−€758k</a:t>
            </a:r>
          </a:p>
        </p:txBody>
      </p:sp>
      <p:sp>
        <p:nvSpPr>
          <p:cNvPr id="6" name="explanation">
            <a:extLst>
              <a:ext uri="{FF2B5EF4-FFF2-40B4-BE49-F238E27FC236}">
                <a16:creationId xmlns:a16="http://schemas.microsoft.com/office/drawing/2014/main" id="{B5411723-B476-48EE-A3D9-B1F4F0E6F3CA}"/>
              </a:ext>
            </a:extLst>
          </p:cNvPr>
          <p:cNvSpPr>
            <a:spLocks noGrp="1"/>
          </p:cNvSpPr>
          <p:nvPr/>
        </p:nvSpPr>
        <p:spPr>
          <a:xfrm>
            <a:off x="8572500" y="2981325"/>
            <a:ext cx="300037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Less cash in euros</a:t>
            </a:r>
          </a:p>
        </p:txBody>
      </p:sp>
      <p:sp>
        <p:nvSpPr>
          <p:cNvPr id="7" name="explanation">
            <a:extLst>
              <a:ext uri="{FF2B5EF4-FFF2-40B4-BE49-F238E27FC236}">
                <a16:creationId xmlns:a16="http://schemas.microsoft.com/office/drawing/2014/main" id="{FB1F46DF-E849-49BC-BCB2-B8E7421A746B}"/>
              </a:ext>
            </a:extLst>
          </p:cNvPr>
          <p:cNvSpPr>
            <a:spLocks noGrp="1"/>
          </p:cNvSpPr>
          <p:nvPr/>
        </p:nvSpPr>
        <p:spPr>
          <a:xfrm>
            <a:off x="8572500" y="3733800"/>
            <a:ext cx="3000375" cy="819150"/>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A stronger euro means the same dollars buy fewer euros.</a:t>
            </a:r>
          </a:p>
        </p:txBody>
      </p:sp>
      <p:sp>
        <p:nvSpPr>
          <p:cNvPr id="8" name="explanation">
            <a:extLst>
              <a:ext uri="{FF2B5EF4-FFF2-40B4-BE49-F238E27FC236}">
                <a16:creationId xmlns:a16="http://schemas.microsoft.com/office/drawing/2014/main" id="{3FA4B6B0-CF55-497E-8C4C-219306A86872}"/>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Illustrative rates. EUR proceeds = USD receipts divided by the number of USD per EUR. Figures rounded.</a:t>
            </a:r>
          </a:p>
        </p:txBody>
      </p:sp>
      <p:sp>
        <p:nvSpPr>
          <p:cNvPr id="9" name="rule">
            <a:extLst>
              <a:ext uri="{FF2B5EF4-FFF2-40B4-BE49-F238E27FC236}">
                <a16:creationId xmlns:a16="http://schemas.microsoft.com/office/drawing/2014/main" id="{8EB615D5-6CDE-452F-BD90-65E3253BC33F}"/>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0" name="decision-implication">
            <a:extLst>
              <a:ext uri="{FF2B5EF4-FFF2-40B4-BE49-F238E27FC236}">
                <a16:creationId xmlns:a16="http://schemas.microsoft.com/office/drawing/2014/main" id="{DE07DF7C-7662-4BF6-900B-4E6401B36EC4}"/>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Treasury can agree a rate with a bank today for exchanging the future dollars into euros.</a:t>
            </a:r>
          </a:p>
        </p:txBody>
      </p:sp>
    </p:spTree>
    <p:extLst>
      <p:ext uri="{BB962C8B-B14F-4D97-AF65-F5344CB8AC3E}">
        <p14:creationId xmlns:p14="http://schemas.microsoft.com/office/powerpoint/2010/main" val="3147263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9" name="section-reference">
            <a:extLst>
              <a:ext uri="{FF2B5EF4-FFF2-40B4-BE49-F238E27FC236}">
                <a16:creationId xmlns:a16="http://schemas.microsoft.com/office/drawing/2014/main" id="{A6DFBBCD-3E2D-4FD1-9438-4111C65FE4CC}"/>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1.4</a:t>
            </a:r>
          </a:p>
        </p:txBody>
      </p:sp>
      <p:sp>
        <p:nvSpPr>
          <p:cNvPr id="2" name="slide-title">
            <a:extLst>
              <a:ext uri="{FF2B5EF4-FFF2-40B4-BE49-F238E27FC236}">
                <a16:creationId xmlns:a16="http://schemas.microsoft.com/office/drawing/2014/main" id="{ABA49E4E-6B93-4541-8B65-AD00ABBB51B7}"/>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An FX forward is a delivery commitment</a:t>
            </a:r>
          </a:p>
        </p:txBody>
      </p:sp>
      <p:sp>
        <p:nvSpPr>
          <p:cNvPr id="3" name="slide-number">
            <a:extLst>
              <a:ext uri="{FF2B5EF4-FFF2-40B4-BE49-F238E27FC236}">
                <a16:creationId xmlns:a16="http://schemas.microsoft.com/office/drawing/2014/main" id="{F3745431-7578-4A30-BCF5-1309209F0743}"/>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18</a:t>
            </a:r>
          </a:p>
        </p:txBody>
      </p:sp>
      <p:sp>
        <p:nvSpPr>
          <p:cNvPr id="4" name="explanation">
            <a:extLst>
              <a:ext uri="{FF2B5EF4-FFF2-40B4-BE49-F238E27FC236}">
                <a16:creationId xmlns:a16="http://schemas.microsoft.com/office/drawing/2014/main" id="{FD476F94-82F7-4E28-895D-A99984F46178}"/>
              </a:ext>
            </a:extLst>
          </p:cNvPr>
          <p:cNvSpPr>
            <a:spLocks noGrp="1"/>
          </p:cNvSpPr>
          <p:nvPr/>
        </p:nvSpPr>
        <p:spPr>
          <a:xfrm>
            <a:off x="609600" y="1714500"/>
            <a:ext cx="10906125" cy="619125"/>
          </a:xfrm>
          <a:prstGeom prst="rect">
            <a:avLst/>
          </a:prstGeom>
          <a:noFill/>
          <a:ln w="0">
            <a:noFill/>
            <a:prstDash val="solid"/>
          </a:ln>
        </p:spPr>
        <p:txBody>
          <a:bodyPr wrap="square" lIns="0" tIns="0" rIns="0" bIns="0" anchor="t">
            <a:noAutofit/>
          </a:bodyPr>
          <a:lstStyle>
            <a:defPPr algn="l">
              <a:defRPr sz="2325" b="1">
                <a:solidFill>
                  <a:srgbClr val="19313F"/>
                </a:solidFill>
                <a:latin typeface="Aptos"/>
                <a:ea typeface="Aptos"/>
                <a:cs typeface="Aptos"/>
              </a:defRPr>
            </a:defPPr>
          </a:lstStyle>
          <a:p>
            <a:pPr algn="l">
              <a:defRPr sz="2325" b="1">
                <a:solidFill>
                  <a:srgbClr val="19313F"/>
                </a:solidFill>
                <a:latin typeface="Aptos"/>
                <a:ea typeface="Aptos"/>
                <a:cs typeface="Aptos"/>
              </a:defRPr>
            </a:pPr>
            <a:r>
              <a:rPr sz="2325" b="1">
                <a:solidFill>
                  <a:srgbClr val="19313F"/>
                </a:solidFill>
                <a:latin typeface="Aptos"/>
                <a:ea typeface="Aptos"/>
                <a:cs typeface="Aptos"/>
              </a:rPr>
              <a:t>Example: we expect USD 10m from customers on 30 June.</a:t>
            </a:r>
          </a:p>
        </p:txBody>
      </p:sp>
      <p:sp>
        <p:nvSpPr>
          <p:cNvPr id="5" name="explanation">
            <a:extLst>
              <a:ext uri="{FF2B5EF4-FFF2-40B4-BE49-F238E27FC236}">
                <a16:creationId xmlns:a16="http://schemas.microsoft.com/office/drawing/2014/main" id="{44A4111A-5EE8-408C-96C3-D1D9371F38DE}"/>
              </a:ext>
            </a:extLst>
          </p:cNvPr>
          <p:cNvSpPr>
            <a:spLocks noGrp="1"/>
          </p:cNvSpPr>
          <p:nvPr/>
        </p:nvSpPr>
        <p:spPr>
          <a:xfrm>
            <a:off x="609600" y="25050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01</a:t>
            </a:r>
          </a:p>
        </p:txBody>
      </p:sp>
      <p:sp>
        <p:nvSpPr>
          <p:cNvPr id="6" name="explanation">
            <a:extLst>
              <a:ext uri="{FF2B5EF4-FFF2-40B4-BE49-F238E27FC236}">
                <a16:creationId xmlns:a16="http://schemas.microsoft.com/office/drawing/2014/main" id="{BA30117C-F4D3-4017-8A1D-CDDD678F7A42}"/>
              </a:ext>
            </a:extLst>
          </p:cNvPr>
          <p:cNvSpPr>
            <a:spLocks noGrp="1"/>
          </p:cNvSpPr>
          <p:nvPr/>
        </p:nvSpPr>
        <p:spPr>
          <a:xfrm>
            <a:off x="1333500" y="25050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Agree the exchange today</a:t>
            </a:r>
          </a:p>
        </p:txBody>
      </p:sp>
      <p:sp>
        <p:nvSpPr>
          <p:cNvPr id="7" name="explanation">
            <a:extLst>
              <a:ext uri="{FF2B5EF4-FFF2-40B4-BE49-F238E27FC236}">
                <a16:creationId xmlns:a16="http://schemas.microsoft.com/office/drawing/2014/main" id="{2445587E-193A-42AD-8064-37EB53733DF4}"/>
              </a:ext>
            </a:extLst>
          </p:cNvPr>
          <p:cNvSpPr>
            <a:spLocks noGrp="1"/>
          </p:cNvSpPr>
          <p:nvPr/>
        </p:nvSpPr>
        <p:spPr>
          <a:xfrm>
            <a:off x="1333500" y="29146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We sign to sell USD 10m to a bank on 30 June at 1.10 USD per EUR.</a:t>
            </a:r>
          </a:p>
        </p:txBody>
      </p:sp>
      <p:sp>
        <p:nvSpPr>
          <p:cNvPr id="8" name="rule">
            <a:extLst>
              <a:ext uri="{FF2B5EF4-FFF2-40B4-BE49-F238E27FC236}">
                <a16:creationId xmlns:a16="http://schemas.microsoft.com/office/drawing/2014/main" id="{A2293932-72C6-4947-B223-08C1562334CB}"/>
              </a:ext>
            </a:extLst>
          </p:cNvPr>
          <p:cNvSpPr>
            <a:spLocks noGrp="1"/>
          </p:cNvSpPr>
          <p:nvPr/>
        </p:nvSpPr>
        <p:spPr>
          <a:xfrm>
            <a:off x="1333500" y="3362325"/>
            <a:ext cx="10248900" cy="0"/>
          </a:xfrm>
          <a:prstGeom prst="line">
            <a:avLst/>
          </a:prstGeom>
          <a:noFill/>
          <a:ln w="9525">
            <a:solidFill>
              <a:srgbClr val="CCD6D9"/>
            </a:solidFill>
            <a:prstDash val="solid"/>
          </a:ln>
        </p:spPr>
        <p:txBody>
          <a:bodyPr/>
          <a:lstStyle/>
          <a:p>
            <a:endParaRPr lang="fr-FR"/>
          </a:p>
        </p:txBody>
      </p:sp>
      <p:sp>
        <p:nvSpPr>
          <p:cNvPr id="9" name="explanation">
            <a:extLst>
              <a:ext uri="{FF2B5EF4-FFF2-40B4-BE49-F238E27FC236}">
                <a16:creationId xmlns:a16="http://schemas.microsoft.com/office/drawing/2014/main" id="{95FE01A0-094B-4D04-BCAC-0989D805291E}"/>
              </a:ext>
            </a:extLst>
          </p:cNvPr>
          <p:cNvSpPr>
            <a:spLocks noGrp="1"/>
          </p:cNvSpPr>
          <p:nvPr/>
        </p:nvSpPr>
        <p:spPr>
          <a:xfrm>
            <a:off x="609600" y="34575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02</a:t>
            </a:r>
          </a:p>
        </p:txBody>
      </p:sp>
      <p:sp>
        <p:nvSpPr>
          <p:cNvPr id="10" name="explanation">
            <a:extLst>
              <a:ext uri="{FF2B5EF4-FFF2-40B4-BE49-F238E27FC236}">
                <a16:creationId xmlns:a16="http://schemas.microsoft.com/office/drawing/2014/main" id="{03E1777D-3F7B-4875-B75A-813D8BE1F2FD}"/>
              </a:ext>
            </a:extLst>
          </p:cNvPr>
          <p:cNvSpPr>
            <a:spLocks noGrp="1"/>
          </p:cNvSpPr>
          <p:nvPr/>
        </p:nvSpPr>
        <p:spPr>
          <a:xfrm>
            <a:off x="1333500" y="34575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Fix the future EUR amount</a:t>
            </a:r>
          </a:p>
        </p:txBody>
      </p:sp>
      <p:sp>
        <p:nvSpPr>
          <p:cNvPr id="11" name="explanation">
            <a:extLst>
              <a:ext uri="{FF2B5EF4-FFF2-40B4-BE49-F238E27FC236}">
                <a16:creationId xmlns:a16="http://schemas.microsoft.com/office/drawing/2014/main" id="{41565B86-B79E-495F-BA2C-40EC3AA8803E}"/>
              </a:ext>
            </a:extLst>
          </p:cNvPr>
          <p:cNvSpPr>
            <a:spLocks noGrp="1"/>
          </p:cNvSpPr>
          <p:nvPr/>
        </p:nvSpPr>
        <p:spPr>
          <a:xfrm>
            <a:off x="1333500" y="38671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The bank will pay USD 10m / 1.10 = approximately EUR 9.09m.</a:t>
            </a:r>
          </a:p>
        </p:txBody>
      </p:sp>
      <p:sp>
        <p:nvSpPr>
          <p:cNvPr id="12" name="rule">
            <a:extLst>
              <a:ext uri="{FF2B5EF4-FFF2-40B4-BE49-F238E27FC236}">
                <a16:creationId xmlns:a16="http://schemas.microsoft.com/office/drawing/2014/main" id="{2DDCA972-7EF0-42B7-8AAD-B76CEB45197D}"/>
              </a:ext>
            </a:extLst>
          </p:cNvPr>
          <p:cNvSpPr>
            <a:spLocks noGrp="1"/>
          </p:cNvSpPr>
          <p:nvPr/>
        </p:nvSpPr>
        <p:spPr>
          <a:xfrm>
            <a:off x="1333500" y="4314825"/>
            <a:ext cx="10248900" cy="0"/>
          </a:xfrm>
          <a:prstGeom prst="line">
            <a:avLst/>
          </a:prstGeom>
          <a:noFill/>
          <a:ln w="9525">
            <a:solidFill>
              <a:srgbClr val="CCD6D9"/>
            </a:solidFill>
            <a:prstDash val="solid"/>
          </a:ln>
        </p:spPr>
        <p:txBody>
          <a:bodyPr/>
          <a:lstStyle/>
          <a:p>
            <a:endParaRPr lang="fr-FR"/>
          </a:p>
        </p:txBody>
      </p:sp>
      <p:sp>
        <p:nvSpPr>
          <p:cNvPr id="13" name="explanation">
            <a:extLst>
              <a:ext uri="{FF2B5EF4-FFF2-40B4-BE49-F238E27FC236}">
                <a16:creationId xmlns:a16="http://schemas.microsoft.com/office/drawing/2014/main" id="{6274B177-700E-4573-BF52-76E7FF903728}"/>
              </a:ext>
            </a:extLst>
          </p:cNvPr>
          <p:cNvSpPr>
            <a:spLocks noGrp="1"/>
          </p:cNvSpPr>
          <p:nvPr/>
        </p:nvSpPr>
        <p:spPr>
          <a:xfrm>
            <a:off x="609600" y="44100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03</a:t>
            </a:r>
          </a:p>
        </p:txBody>
      </p:sp>
      <p:sp>
        <p:nvSpPr>
          <p:cNvPr id="14" name="explanation">
            <a:extLst>
              <a:ext uri="{FF2B5EF4-FFF2-40B4-BE49-F238E27FC236}">
                <a16:creationId xmlns:a16="http://schemas.microsoft.com/office/drawing/2014/main" id="{FDC292B5-D5EF-4278-8EBB-C961AFDAEDA9}"/>
              </a:ext>
            </a:extLst>
          </p:cNvPr>
          <p:cNvSpPr>
            <a:spLocks noGrp="1"/>
          </p:cNvSpPr>
          <p:nvPr/>
        </p:nvSpPr>
        <p:spPr>
          <a:xfrm>
            <a:off x="1333500" y="44100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Deliver the promised dollars</a:t>
            </a:r>
          </a:p>
        </p:txBody>
      </p:sp>
      <p:sp>
        <p:nvSpPr>
          <p:cNvPr id="15" name="explanation">
            <a:extLst>
              <a:ext uri="{FF2B5EF4-FFF2-40B4-BE49-F238E27FC236}">
                <a16:creationId xmlns:a16="http://schemas.microsoft.com/office/drawing/2014/main" id="{6D5BA668-962B-4D4B-B063-73047EBBFAB6}"/>
              </a:ext>
            </a:extLst>
          </p:cNvPr>
          <p:cNvSpPr>
            <a:spLocks noGrp="1"/>
          </p:cNvSpPr>
          <p:nvPr/>
        </p:nvSpPr>
        <p:spPr>
          <a:xfrm>
            <a:off x="1333500" y="48196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We must deliver USD 10m, even if customers only pay us USD 6m.</a:t>
            </a:r>
          </a:p>
        </p:txBody>
      </p:sp>
      <p:sp>
        <p:nvSpPr>
          <p:cNvPr id="16" name="explanation">
            <a:extLst>
              <a:ext uri="{FF2B5EF4-FFF2-40B4-BE49-F238E27FC236}">
                <a16:creationId xmlns:a16="http://schemas.microsoft.com/office/drawing/2014/main" id="{6AF647D6-4AC6-4237-8983-4A5B01E9CF95}"/>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Simplified deliverable forward: one company, one settlement date, no pre-existing hedge.</a:t>
            </a:r>
          </a:p>
        </p:txBody>
      </p:sp>
      <p:sp>
        <p:nvSpPr>
          <p:cNvPr id="17" name="rule">
            <a:extLst>
              <a:ext uri="{FF2B5EF4-FFF2-40B4-BE49-F238E27FC236}">
                <a16:creationId xmlns:a16="http://schemas.microsoft.com/office/drawing/2014/main" id="{E77FCE93-8609-4CE6-8742-5AF88D9DA813}"/>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8" name="decision-implication">
            <a:extLst>
              <a:ext uri="{FF2B5EF4-FFF2-40B4-BE49-F238E27FC236}">
                <a16:creationId xmlns:a16="http://schemas.microsoft.com/office/drawing/2014/main" id="{00F00642-9E67-4CEF-8A89-3AB7CF8A9273}"/>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The bank contract remains binding even if customer receipts turn out lower than forecast.</a:t>
            </a:r>
          </a:p>
        </p:txBody>
      </p:sp>
    </p:spTree>
    <p:extLst>
      <p:ext uri="{BB962C8B-B14F-4D97-AF65-F5344CB8AC3E}">
        <p14:creationId xmlns:p14="http://schemas.microsoft.com/office/powerpoint/2010/main" val="158505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7" name="section-reference">
            <a:extLst>
              <a:ext uri="{FF2B5EF4-FFF2-40B4-BE49-F238E27FC236}">
                <a16:creationId xmlns:a16="http://schemas.microsoft.com/office/drawing/2014/main" id="{B7040AF1-8F1D-4633-BDD0-A928BFEE90CB}"/>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1.4</a:t>
            </a:r>
          </a:p>
        </p:txBody>
      </p:sp>
      <p:sp>
        <p:nvSpPr>
          <p:cNvPr id="2" name="slide-title">
            <a:extLst>
              <a:ext uri="{FF2B5EF4-FFF2-40B4-BE49-F238E27FC236}">
                <a16:creationId xmlns:a16="http://schemas.microsoft.com/office/drawing/2014/main" id="{6DFF8B3A-672D-445B-A704-D2DD67EB9E05}"/>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A full hedge can exceed actual receipts</a:t>
            </a:r>
          </a:p>
        </p:txBody>
      </p:sp>
      <p:sp>
        <p:nvSpPr>
          <p:cNvPr id="3" name="slide-number">
            <a:extLst>
              <a:ext uri="{FF2B5EF4-FFF2-40B4-BE49-F238E27FC236}">
                <a16:creationId xmlns:a16="http://schemas.microsoft.com/office/drawing/2014/main" id="{4D529017-95B1-4324-AD10-94E1A127EA15}"/>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19</a:t>
            </a:r>
          </a:p>
        </p:txBody>
      </p:sp>
      <p:graphicFrame>
        <p:nvGraphicFramePr>
          <p:cNvPr id="4" name="Tableau 3">
            <a:extLst>
              <a:ext uri="{FF2B5EF4-FFF2-40B4-BE49-F238E27FC236}">
                <a16:creationId xmlns:a16="http://schemas.microsoft.com/office/drawing/2014/main" id="{852CB993-6D79-4CA6-B9B9-3F7340F3D4D4}"/>
              </a:ext>
            </a:extLst>
          </p:cNvPr>
          <p:cNvGraphicFramePr/>
          <p:nvPr/>
        </p:nvGraphicFramePr>
        <p:xfrm>
          <a:off x="609600" y="1885950"/>
          <a:ext cx="10972800" cy="3250000"/>
        </p:xfrm>
        <a:graphic>
          <a:graphicData uri="http://schemas.openxmlformats.org/drawingml/2006/table">
            <a:tbl>
              <a:tblPr firstRow="1"/>
              <a:tblGrid>
                <a:gridCol w="3300000">
                  <a:extLst>
                    <a:ext uri="{9D8B030D-6E8A-4147-A177-3AD203B41FA5}">
                      <a16:colId xmlns:a16="http://schemas.microsoft.com/office/drawing/2014/main" val="20000"/>
                    </a:ext>
                  </a:extLst>
                </a:gridCol>
                <a:gridCol w="2557600">
                  <a:extLst>
                    <a:ext uri="{9D8B030D-6E8A-4147-A177-3AD203B41FA5}">
                      <a16:colId xmlns:a16="http://schemas.microsoft.com/office/drawing/2014/main" val="20001"/>
                    </a:ext>
                  </a:extLst>
                </a:gridCol>
                <a:gridCol w="2557600">
                  <a:extLst>
                    <a:ext uri="{9D8B030D-6E8A-4147-A177-3AD203B41FA5}">
                      <a16:colId xmlns:a16="http://schemas.microsoft.com/office/drawing/2014/main" val="20002"/>
                    </a:ext>
                  </a:extLst>
                </a:gridCol>
                <a:gridCol w="2557600">
                  <a:extLst>
                    <a:ext uri="{9D8B030D-6E8A-4147-A177-3AD203B41FA5}">
                      <a16:colId xmlns:a16="http://schemas.microsoft.com/office/drawing/2014/main" val="20003"/>
                    </a:ext>
                  </a:extLst>
                </a:gridCol>
              </a:tblGrid>
              <a:tr h="650000">
                <a:tc>
                  <a:txBody>
                    <a:bodyPr/>
                    <a:lstStyle/>
                    <a:p>
                      <a:pPr algn="l"/>
                      <a:r>
                        <a:rPr sz="1725" b="1">
                          <a:solidFill>
                            <a:srgbClr val="FFFFFF"/>
                          </a:solidFill>
                          <a:latin typeface="Aptos"/>
                          <a:ea typeface="Aptos"/>
                          <a:cs typeface="Aptos"/>
                        </a:rPr>
                        <a:t>USD millions</a:t>
                      </a:r>
                    </a:p>
                  </a:txBody>
                  <a:tcPr anchor="ctr">
                    <a:lnL w="6668">
                      <a:solidFill>
                        <a:srgbClr val="CCD6D9"/>
                      </a:solidFill>
                      <a:prstDash val="soli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725" b="1">
                          <a:solidFill>
                            <a:srgbClr val="FFFFFF"/>
                          </a:solidFill>
                          <a:latin typeface="Aptos"/>
                          <a:ea typeface="Aptos"/>
                          <a:cs typeface="Aptos"/>
                        </a:rPr>
                        <a:t>No forward</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725" b="1">
                          <a:solidFill>
                            <a:srgbClr val="FFFFFF"/>
                          </a:solidFill>
                          <a:latin typeface="Aptos"/>
                          <a:ea typeface="Aptos"/>
                          <a:cs typeface="Aptos"/>
                        </a:rPr>
                        <a:t>Sell USD 5m</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725" b="1">
                          <a:solidFill>
                            <a:srgbClr val="FFFFFF"/>
                          </a:solidFill>
                          <a:latin typeface="Aptos"/>
                          <a:ea typeface="Aptos"/>
                          <a:cs typeface="Aptos"/>
                        </a:rPr>
                        <a:t>Sell USD 10m</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extLst>
                  <a:ext uri="{0D108BD9-81ED-4DB2-BD59-A6C34878D82A}">
                    <a16:rowId xmlns:a16="http://schemas.microsoft.com/office/drawing/2014/main" val="10000"/>
                  </a:ext>
                </a:extLst>
              </a:tr>
              <a:tr h="650000">
                <a:tc>
                  <a:txBody>
                    <a:bodyPr/>
                    <a:lstStyle/>
                    <a:p>
                      <a:pPr algn="l"/>
                      <a:r>
                        <a:rPr sz="1725" b="0">
                          <a:solidFill>
                            <a:srgbClr val="19313F"/>
                          </a:solidFill>
                          <a:latin typeface="Aptos"/>
                          <a:ea typeface="Aptos"/>
                          <a:cs typeface="Aptos"/>
                        </a:rPr>
                        <a:t>Forecast receipts</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725" b="0">
                          <a:solidFill>
                            <a:srgbClr val="19313F"/>
                          </a:solidFill>
                          <a:latin typeface="Aptos"/>
                          <a:ea typeface="Aptos"/>
                          <a:cs typeface="Aptos"/>
                        </a:rPr>
                        <a:t>10</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725" b="0">
                          <a:solidFill>
                            <a:srgbClr val="19313F"/>
                          </a:solidFill>
                          <a:latin typeface="Aptos"/>
                          <a:ea typeface="Aptos"/>
                          <a:cs typeface="Aptos"/>
                        </a:rPr>
                        <a:t>10</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725" b="0">
                          <a:solidFill>
                            <a:srgbClr val="19313F"/>
                          </a:solidFill>
                          <a:latin typeface="Aptos"/>
                          <a:ea typeface="Aptos"/>
                          <a:cs typeface="Aptos"/>
                        </a:rPr>
                        <a:t>10</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1"/>
                  </a:ext>
                </a:extLst>
              </a:tr>
              <a:tr h="650000">
                <a:tc>
                  <a:txBody>
                    <a:bodyPr/>
                    <a:lstStyle/>
                    <a:p>
                      <a:pPr algn="l"/>
                      <a:r>
                        <a:rPr sz="1725" b="0">
                          <a:solidFill>
                            <a:srgbClr val="19313F"/>
                          </a:solidFill>
                          <a:latin typeface="Aptos"/>
                          <a:ea typeface="Aptos"/>
                          <a:cs typeface="Aptos"/>
                        </a:rPr>
                        <a:t>Actual receipts</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725" b="0">
                          <a:solidFill>
                            <a:srgbClr val="19313F"/>
                          </a:solidFill>
                          <a:latin typeface="Aptos"/>
                          <a:ea typeface="Aptos"/>
                          <a:cs typeface="Aptos"/>
                        </a:rPr>
                        <a:t>6</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725" b="0">
                          <a:solidFill>
                            <a:srgbClr val="19313F"/>
                          </a:solidFill>
                          <a:latin typeface="Aptos"/>
                          <a:ea typeface="Aptos"/>
                          <a:cs typeface="Aptos"/>
                        </a:rPr>
                        <a:t>6</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725" b="0">
                          <a:solidFill>
                            <a:srgbClr val="19313F"/>
                          </a:solidFill>
                          <a:latin typeface="Aptos"/>
                          <a:ea typeface="Aptos"/>
                          <a:cs typeface="Aptos"/>
                        </a:rPr>
                        <a:t>6</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2"/>
                  </a:ext>
                </a:extLst>
              </a:tr>
              <a:tr h="650000">
                <a:tc>
                  <a:txBody>
                    <a:bodyPr/>
                    <a:lstStyle/>
                    <a:p>
                      <a:pPr algn="l"/>
                      <a:r>
                        <a:rPr sz="1725" b="0">
                          <a:solidFill>
                            <a:srgbClr val="19313F"/>
                          </a:solidFill>
                          <a:latin typeface="Aptos"/>
                          <a:ea typeface="Aptos"/>
                          <a:cs typeface="Aptos"/>
                        </a:rPr>
                        <a:t>USD due to bank</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725" b="0">
                          <a:solidFill>
                            <a:srgbClr val="19313F"/>
                          </a:solidFill>
                          <a:latin typeface="Aptos"/>
                          <a:ea typeface="Aptos"/>
                          <a:cs typeface="Aptos"/>
                        </a:rPr>
                        <a:t>0</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725" b="0">
                          <a:solidFill>
                            <a:srgbClr val="19313F"/>
                          </a:solidFill>
                          <a:latin typeface="Aptos"/>
                          <a:ea typeface="Aptos"/>
                          <a:cs typeface="Aptos"/>
                        </a:rPr>
                        <a:t>5</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725" b="0">
                          <a:solidFill>
                            <a:srgbClr val="19313F"/>
                          </a:solidFill>
                          <a:latin typeface="Aptos"/>
                          <a:ea typeface="Aptos"/>
                          <a:cs typeface="Aptos"/>
                        </a:rPr>
                        <a:t>10</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3"/>
                  </a:ext>
                </a:extLst>
              </a:tr>
              <a:tr h="650000">
                <a:tc>
                  <a:txBody>
                    <a:bodyPr/>
                    <a:lstStyle/>
                    <a:p>
                      <a:pPr algn="l"/>
                      <a:r>
                        <a:rPr sz="1725" b="0">
                          <a:solidFill>
                            <a:srgbClr val="19313F"/>
                          </a:solidFill>
                          <a:latin typeface="Aptos"/>
                          <a:ea typeface="Aptos"/>
                          <a:cs typeface="Aptos"/>
                        </a:rPr>
                        <a:t>After delivery</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725" b="0">
                          <a:solidFill>
                            <a:srgbClr val="19313F"/>
                          </a:solidFill>
                          <a:latin typeface="Aptos"/>
                          <a:ea typeface="Aptos"/>
                          <a:cs typeface="Aptos"/>
                        </a:rPr>
                        <a:t>Keep USD 6m</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725" b="0">
                          <a:solidFill>
                            <a:srgbClr val="19313F"/>
                          </a:solidFill>
                          <a:latin typeface="Aptos"/>
                          <a:ea typeface="Aptos"/>
                          <a:cs typeface="Aptos"/>
                        </a:rPr>
                        <a:t>Keep USD 1m</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725" b="0">
                          <a:solidFill>
                            <a:srgbClr val="19313F"/>
                          </a:solidFill>
                          <a:latin typeface="Aptos"/>
                          <a:ea typeface="Aptos"/>
                          <a:cs typeface="Aptos"/>
                        </a:rPr>
                        <a:t>Buy USD 4m</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4"/>
                  </a:ext>
                </a:extLst>
              </a:tr>
            </a:tbl>
          </a:graphicData>
        </a:graphic>
      </p:graphicFrame>
      <p:sp>
        <p:nvSpPr>
          <p:cNvPr id="5" name="rule">
            <a:extLst>
              <a:ext uri="{FF2B5EF4-FFF2-40B4-BE49-F238E27FC236}">
                <a16:creationId xmlns:a16="http://schemas.microsoft.com/office/drawing/2014/main" id="{F91EF263-EB31-4897-A41D-60AC6B050F7C}"/>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6" name="decision-implication">
            <a:extLst>
              <a:ext uri="{FF2B5EF4-FFF2-40B4-BE49-F238E27FC236}">
                <a16:creationId xmlns:a16="http://schemas.microsoft.com/office/drawing/2014/main" id="{21EB1A69-1278-4227-9877-26998F542244}"/>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Receiving USD 6m but promising USD 10m leaves USD 4m to buy for the bank settlement.</a:t>
            </a:r>
          </a:p>
        </p:txBody>
      </p:sp>
      <p:sp>
        <p:nvSpPr>
          <p:cNvPr id="8" name="forward-cost-note">
            <a:extLst>
              <a:ext uri="{FF2B5EF4-FFF2-40B4-BE49-F238E27FC236}">
                <a16:creationId xmlns:a16="http://schemas.microsoft.com/office/drawing/2014/main" id="{6AF647D6-4AC6-4237-8983-4A5B01E9CF95}"/>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A forward usually has no upfront option premium. Spreads, forward points and liquidity terms still matter.</a:t>
            </a:r>
          </a:p>
        </p:txBody>
      </p:sp>
    </p:spTree>
    <p:extLst>
      <p:ext uri="{BB962C8B-B14F-4D97-AF65-F5344CB8AC3E}">
        <p14:creationId xmlns:p14="http://schemas.microsoft.com/office/powerpoint/2010/main" val="1869181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44" name="section-reference">
            <a:extLst>
              <a:ext uri="{FF2B5EF4-FFF2-40B4-BE49-F238E27FC236}">
                <a16:creationId xmlns:a16="http://schemas.microsoft.com/office/drawing/2014/main" id="{FE4B9B67-3E42-4EAA-AD15-FDF19952037F}"/>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1.4</a:t>
            </a:r>
          </a:p>
        </p:txBody>
      </p:sp>
      <p:sp>
        <p:nvSpPr>
          <p:cNvPr id="2" name="slide-title">
            <a:extLst>
              <a:ext uri="{FF2B5EF4-FFF2-40B4-BE49-F238E27FC236}">
                <a16:creationId xmlns:a16="http://schemas.microsoft.com/office/drawing/2014/main" id="{28B7E229-9117-4323-B13C-703EA058ED20}"/>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A usable risk matrix</a:t>
            </a:r>
          </a:p>
        </p:txBody>
      </p:sp>
      <p:sp>
        <p:nvSpPr>
          <p:cNvPr id="3" name="slide-number">
            <a:extLst>
              <a:ext uri="{FF2B5EF4-FFF2-40B4-BE49-F238E27FC236}">
                <a16:creationId xmlns:a16="http://schemas.microsoft.com/office/drawing/2014/main" id="{99C4BF6E-C2C4-4332-B17C-0F6AF0E4957E}"/>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20</a:t>
            </a:r>
          </a:p>
        </p:txBody>
      </p:sp>
      <p:sp>
        <p:nvSpPr>
          <p:cNvPr id="4" name="explanation">
            <a:extLst>
              <a:ext uri="{FF2B5EF4-FFF2-40B4-BE49-F238E27FC236}">
                <a16:creationId xmlns:a16="http://schemas.microsoft.com/office/drawing/2014/main" id="{38B11407-996C-4F9F-93DE-B9EF3B17E6FA}"/>
              </a:ext>
            </a:extLst>
          </p:cNvPr>
          <p:cNvSpPr>
            <a:spLocks noGrp="1"/>
          </p:cNvSpPr>
          <p:nvPr/>
        </p:nvSpPr>
        <p:spPr>
          <a:xfrm>
            <a:off x="609600" y="1933575"/>
            <a:ext cx="1809750" cy="333375"/>
          </a:xfrm>
          <a:prstGeom prst="rect">
            <a:avLst/>
          </a:prstGeom>
          <a:noFill/>
          <a:ln w="0">
            <a:noFill/>
            <a:prstDash val="solid"/>
          </a:ln>
        </p:spPr>
        <p:txBody>
          <a:bodyPr wrap="square" lIns="0" tIns="0" rIns="0" bIns="0" anchor="t">
            <a:noAutofit/>
          </a:bodyPr>
          <a:lstStyle>
            <a:defPPr algn="l">
              <a:defRPr sz="1725" b="1">
                <a:solidFill>
                  <a:srgbClr val="5B6D77"/>
                </a:solidFill>
                <a:latin typeface="Aptos"/>
                <a:ea typeface="Aptos"/>
                <a:cs typeface="Aptos"/>
              </a:defRPr>
            </a:defPPr>
          </a:lstStyle>
          <a:p>
            <a:pPr algn="l">
              <a:defRPr sz="1725" b="1">
                <a:solidFill>
                  <a:srgbClr val="5B6D77"/>
                </a:solidFill>
                <a:latin typeface="Aptos"/>
                <a:ea typeface="Aptos"/>
                <a:cs typeface="Aptos"/>
              </a:defRPr>
            </a:pPr>
            <a:r>
              <a:rPr sz="1725" b="1">
                <a:solidFill>
                  <a:srgbClr val="5B6D77"/>
                </a:solidFill>
                <a:latin typeface="Aptos"/>
                <a:ea typeface="Aptos"/>
                <a:cs typeface="Aptos"/>
              </a:rPr>
              <a:t>Likelihood</a:t>
            </a:r>
          </a:p>
        </p:txBody>
      </p:sp>
      <p:sp>
        <p:nvSpPr>
          <p:cNvPr id="5" name="explanation">
            <a:extLst>
              <a:ext uri="{FF2B5EF4-FFF2-40B4-BE49-F238E27FC236}">
                <a16:creationId xmlns:a16="http://schemas.microsoft.com/office/drawing/2014/main" id="{8D6E9CBD-269E-4E17-BDB8-65FBF43F3C8F}"/>
              </a:ext>
            </a:extLst>
          </p:cNvPr>
          <p:cNvSpPr>
            <a:spLocks noGrp="1"/>
          </p:cNvSpPr>
          <p:nvPr/>
        </p:nvSpPr>
        <p:spPr>
          <a:xfrm>
            <a:off x="2571750" y="1685925"/>
            <a:ext cx="2571750" cy="342900"/>
          </a:xfrm>
          <a:prstGeom prst="rect">
            <a:avLst/>
          </a:prstGeom>
          <a:noFill/>
          <a:ln w="0">
            <a:noFill/>
            <a:prstDash val="solid"/>
          </a:ln>
        </p:spPr>
        <p:txBody>
          <a:bodyPr wrap="square" lIns="0" tIns="0" rIns="0" bIns="0" anchor="t">
            <a:noAutofit/>
          </a:bodyPr>
          <a:lstStyle>
            <a:defPPr algn="l">
              <a:defRPr sz="1725" b="1">
                <a:solidFill>
                  <a:srgbClr val="5B6D77"/>
                </a:solidFill>
                <a:latin typeface="Aptos"/>
                <a:ea typeface="Aptos"/>
                <a:cs typeface="Aptos"/>
              </a:defRPr>
            </a:defPPr>
          </a:lstStyle>
          <a:p>
            <a:pPr algn="l">
              <a:defRPr sz="1725" b="1">
                <a:solidFill>
                  <a:srgbClr val="5B6D77"/>
                </a:solidFill>
                <a:latin typeface="Aptos"/>
                <a:ea typeface="Aptos"/>
                <a:cs typeface="Aptos"/>
              </a:defRPr>
            </a:pPr>
            <a:r>
              <a:rPr sz="1725" b="1">
                <a:solidFill>
                  <a:srgbClr val="5B6D77"/>
                </a:solidFill>
                <a:latin typeface="Aptos"/>
                <a:ea typeface="Aptos"/>
                <a:cs typeface="Aptos"/>
              </a:rPr>
              <a:t>Impact →</a:t>
            </a:r>
          </a:p>
        </p:txBody>
      </p:sp>
      <p:sp>
        <p:nvSpPr>
          <p:cNvPr id="6" name="explanation">
            <a:extLst>
              <a:ext uri="{FF2B5EF4-FFF2-40B4-BE49-F238E27FC236}">
                <a16:creationId xmlns:a16="http://schemas.microsoft.com/office/drawing/2014/main" id="{6DD40CBB-79AE-4235-BDD8-68BB740A536F}"/>
              </a:ext>
            </a:extLst>
          </p:cNvPr>
          <p:cNvSpPr>
            <a:spLocks noGrp="1"/>
          </p:cNvSpPr>
          <p:nvPr/>
        </p:nvSpPr>
        <p:spPr>
          <a:xfrm>
            <a:off x="609600" y="2486025"/>
            <a:ext cx="1905000" cy="419100"/>
          </a:xfrm>
          <a:prstGeom prst="rect">
            <a:avLst/>
          </a:prstGeom>
          <a:noFill/>
          <a:ln w="0">
            <a:noFill/>
            <a:prstDash val="solid"/>
          </a:ln>
        </p:spPr>
        <p:txBody>
          <a:bodyPr wrap="square" lIns="0" tIns="0" rIns="0" bIns="0" anchor="t">
            <a:noAutofit/>
          </a:bodyPr>
          <a:lstStyle>
            <a:defPPr algn="l">
              <a:defRPr sz="1875" b="0">
                <a:solidFill>
                  <a:srgbClr val="19313F"/>
                </a:solidFill>
                <a:latin typeface="Aptos"/>
                <a:ea typeface="Aptos"/>
                <a:cs typeface="Aptos"/>
              </a:defRPr>
            </a:defPPr>
          </a:lstStyle>
          <a:p>
            <a:pPr algn="l">
              <a:defRPr sz="1875" b="0">
                <a:solidFill>
                  <a:srgbClr val="19313F"/>
                </a:solidFill>
                <a:latin typeface="Aptos"/>
                <a:ea typeface="Aptos"/>
                <a:cs typeface="Aptos"/>
              </a:defRPr>
            </a:pPr>
            <a:r>
              <a:rPr sz="1875" b="0">
                <a:solidFill>
                  <a:srgbClr val="19313F"/>
                </a:solidFill>
                <a:latin typeface="Aptos"/>
                <a:ea typeface="Aptos"/>
                <a:cs typeface="Aptos"/>
              </a:rPr>
              <a:t>Likely · 3</a:t>
            </a:r>
          </a:p>
        </p:txBody>
      </p:sp>
      <p:sp>
        <p:nvSpPr>
          <p:cNvPr id="7" name="risk-score-cell">
            <a:extLst>
              <a:ext uri="{FF2B5EF4-FFF2-40B4-BE49-F238E27FC236}">
                <a16:creationId xmlns:a16="http://schemas.microsoft.com/office/drawing/2014/main" id="{64E92832-E8A6-4DD6-9074-D3D99EC4F48C}"/>
              </a:ext>
            </a:extLst>
          </p:cNvPr>
          <p:cNvSpPr>
            <a:spLocks noGrp="1"/>
          </p:cNvSpPr>
          <p:nvPr/>
        </p:nvSpPr>
        <p:spPr>
          <a:xfrm>
            <a:off x="2571750" y="2219325"/>
            <a:ext cx="866775" cy="866775"/>
          </a:xfrm>
          <a:prstGeom prst="rect">
            <a:avLst/>
          </a:prstGeom>
          <a:solidFill>
            <a:srgbClr val="F2E9B9"/>
          </a:solidFill>
          <a:ln w="0">
            <a:noFill/>
            <a:prstDash val="solid"/>
          </a:ln>
        </p:spPr>
        <p:txBody>
          <a:bodyPr/>
          <a:lstStyle/>
          <a:p>
            <a:endParaRPr lang="fr-FR"/>
          </a:p>
        </p:txBody>
      </p:sp>
      <p:sp>
        <p:nvSpPr>
          <p:cNvPr id="8" name="explanation">
            <a:extLst>
              <a:ext uri="{FF2B5EF4-FFF2-40B4-BE49-F238E27FC236}">
                <a16:creationId xmlns:a16="http://schemas.microsoft.com/office/drawing/2014/main" id="{F2904AE5-5468-4BC3-99F5-B361324DD23A}"/>
              </a:ext>
            </a:extLst>
          </p:cNvPr>
          <p:cNvSpPr>
            <a:spLocks noGrp="1"/>
          </p:cNvSpPr>
          <p:nvPr/>
        </p:nvSpPr>
        <p:spPr>
          <a:xfrm>
            <a:off x="2571750" y="2447925"/>
            <a:ext cx="866775" cy="438150"/>
          </a:xfrm>
          <a:prstGeom prst="rect">
            <a:avLst/>
          </a:prstGeom>
          <a:noFill/>
          <a:ln w="0">
            <a:noFill/>
            <a:prstDash val="solid"/>
          </a:ln>
        </p:spPr>
        <p:txBody>
          <a:bodyPr wrap="square" lIns="0" tIns="0" rIns="0" bIns="0" anchor="t">
            <a:noAutofit/>
          </a:bodyPr>
          <a:lstStyle>
            <a:defPPr algn="ctr">
              <a:defRPr sz="2325" b="1">
                <a:solidFill>
                  <a:srgbClr val="19313F"/>
                </a:solidFill>
                <a:latin typeface="Aptos"/>
                <a:ea typeface="Aptos"/>
                <a:cs typeface="Aptos"/>
              </a:defRPr>
            </a:defPPr>
          </a:lstStyle>
          <a:p>
            <a:pPr algn="ctr">
              <a:defRPr sz="2325" b="1">
                <a:solidFill>
                  <a:srgbClr val="19313F"/>
                </a:solidFill>
                <a:latin typeface="Aptos"/>
                <a:ea typeface="Aptos"/>
                <a:cs typeface="Aptos"/>
              </a:defRPr>
            </a:pPr>
            <a:r>
              <a:rPr sz="2325" b="1">
                <a:solidFill>
                  <a:srgbClr val="19313F"/>
                </a:solidFill>
                <a:latin typeface="Aptos"/>
                <a:ea typeface="Aptos"/>
                <a:cs typeface="Aptos"/>
              </a:rPr>
              <a:t>3</a:t>
            </a:r>
          </a:p>
        </p:txBody>
      </p:sp>
      <p:sp>
        <p:nvSpPr>
          <p:cNvPr id="9" name="risk-score-cell">
            <a:extLst>
              <a:ext uri="{FF2B5EF4-FFF2-40B4-BE49-F238E27FC236}">
                <a16:creationId xmlns:a16="http://schemas.microsoft.com/office/drawing/2014/main" id="{FACABD79-A1C7-4314-8DAD-3A0FCC65F7DF}"/>
              </a:ext>
            </a:extLst>
          </p:cNvPr>
          <p:cNvSpPr>
            <a:spLocks noGrp="1"/>
          </p:cNvSpPr>
          <p:nvPr/>
        </p:nvSpPr>
        <p:spPr>
          <a:xfrm>
            <a:off x="3467100" y="2219325"/>
            <a:ext cx="866775" cy="866775"/>
          </a:xfrm>
          <a:prstGeom prst="rect">
            <a:avLst/>
          </a:prstGeom>
          <a:solidFill>
            <a:srgbClr val="EAC496"/>
          </a:solidFill>
          <a:ln w="0">
            <a:noFill/>
            <a:prstDash val="solid"/>
          </a:ln>
        </p:spPr>
        <p:txBody>
          <a:bodyPr/>
          <a:lstStyle/>
          <a:p>
            <a:endParaRPr lang="fr-FR"/>
          </a:p>
        </p:txBody>
      </p:sp>
      <p:sp>
        <p:nvSpPr>
          <p:cNvPr id="10" name="explanation">
            <a:extLst>
              <a:ext uri="{FF2B5EF4-FFF2-40B4-BE49-F238E27FC236}">
                <a16:creationId xmlns:a16="http://schemas.microsoft.com/office/drawing/2014/main" id="{71FF086E-1C30-4ACB-BD64-B85F2A2D4E56}"/>
              </a:ext>
            </a:extLst>
          </p:cNvPr>
          <p:cNvSpPr>
            <a:spLocks noGrp="1"/>
          </p:cNvSpPr>
          <p:nvPr/>
        </p:nvSpPr>
        <p:spPr>
          <a:xfrm>
            <a:off x="3467100" y="2447925"/>
            <a:ext cx="866775" cy="438150"/>
          </a:xfrm>
          <a:prstGeom prst="rect">
            <a:avLst/>
          </a:prstGeom>
          <a:noFill/>
          <a:ln w="0">
            <a:noFill/>
            <a:prstDash val="solid"/>
          </a:ln>
        </p:spPr>
        <p:txBody>
          <a:bodyPr wrap="square" lIns="0" tIns="0" rIns="0" bIns="0" anchor="t">
            <a:noAutofit/>
          </a:bodyPr>
          <a:lstStyle>
            <a:defPPr algn="ctr">
              <a:defRPr sz="2325" b="1">
                <a:solidFill>
                  <a:srgbClr val="19313F"/>
                </a:solidFill>
                <a:latin typeface="Aptos"/>
                <a:ea typeface="Aptos"/>
                <a:cs typeface="Aptos"/>
              </a:defRPr>
            </a:defPPr>
          </a:lstStyle>
          <a:p>
            <a:pPr algn="ctr">
              <a:defRPr sz="2325" b="1">
                <a:solidFill>
                  <a:srgbClr val="19313F"/>
                </a:solidFill>
                <a:latin typeface="Aptos"/>
                <a:ea typeface="Aptos"/>
                <a:cs typeface="Aptos"/>
              </a:defRPr>
            </a:pPr>
            <a:r>
              <a:rPr sz="2325" b="1">
                <a:solidFill>
                  <a:srgbClr val="19313F"/>
                </a:solidFill>
                <a:latin typeface="Aptos"/>
                <a:ea typeface="Aptos"/>
                <a:cs typeface="Aptos"/>
              </a:rPr>
              <a:t>6</a:t>
            </a:r>
          </a:p>
        </p:txBody>
      </p:sp>
      <p:sp>
        <p:nvSpPr>
          <p:cNvPr id="11" name="risk-score-cell">
            <a:extLst>
              <a:ext uri="{FF2B5EF4-FFF2-40B4-BE49-F238E27FC236}">
                <a16:creationId xmlns:a16="http://schemas.microsoft.com/office/drawing/2014/main" id="{E00BC510-A45C-4A2F-B3ED-32056C5B6D31}"/>
              </a:ext>
            </a:extLst>
          </p:cNvPr>
          <p:cNvSpPr>
            <a:spLocks noGrp="1"/>
          </p:cNvSpPr>
          <p:nvPr/>
        </p:nvSpPr>
        <p:spPr>
          <a:xfrm>
            <a:off x="4362450" y="2219325"/>
            <a:ext cx="866775" cy="866775"/>
          </a:xfrm>
          <a:prstGeom prst="rect">
            <a:avLst/>
          </a:prstGeom>
          <a:solidFill>
            <a:srgbClr val="F3E2DD"/>
          </a:solidFill>
          <a:ln w="0">
            <a:noFill/>
            <a:prstDash val="solid"/>
          </a:ln>
        </p:spPr>
        <p:txBody>
          <a:bodyPr/>
          <a:lstStyle/>
          <a:p>
            <a:endParaRPr lang="fr-FR"/>
          </a:p>
        </p:txBody>
      </p:sp>
      <p:sp>
        <p:nvSpPr>
          <p:cNvPr id="12" name="explanation">
            <a:extLst>
              <a:ext uri="{FF2B5EF4-FFF2-40B4-BE49-F238E27FC236}">
                <a16:creationId xmlns:a16="http://schemas.microsoft.com/office/drawing/2014/main" id="{2C94D80F-5A50-467E-AE52-9827E2EA48B5}"/>
              </a:ext>
            </a:extLst>
          </p:cNvPr>
          <p:cNvSpPr>
            <a:spLocks noGrp="1"/>
          </p:cNvSpPr>
          <p:nvPr/>
        </p:nvSpPr>
        <p:spPr>
          <a:xfrm>
            <a:off x="4362450" y="2447925"/>
            <a:ext cx="866775" cy="438150"/>
          </a:xfrm>
          <a:prstGeom prst="rect">
            <a:avLst/>
          </a:prstGeom>
          <a:noFill/>
          <a:ln w="0">
            <a:noFill/>
            <a:prstDash val="solid"/>
          </a:ln>
        </p:spPr>
        <p:txBody>
          <a:bodyPr wrap="square" lIns="0" tIns="0" rIns="0" bIns="0" anchor="t">
            <a:noAutofit/>
          </a:bodyPr>
          <a:lstStyle>
            <a:defPPr algn="ctr">
              <a:defRPr sz="2325" b="1">
                <a:solidFill>
                  <a:srgbClr val="19313F"/>
                </a:solidFill>
                <a:latin typeface="Aptos"/>
                <a:ea typeface="Aptos"/>
                <a:cs typeface="Aptos"/>
              </a:defRPr>
            </a:defPPr>
          </a:lstStyle>
          <a:p>
            <a:pPr algn="ctr">
              <a:defRPr sz="2325" b="1">
                <a:solidFill>
                  <a:srgbClr val="19313F"/>
                </a:solidFill>
                <a:latin typeface="Aptos"/>
                <a:ea typeface="Aptos"/>
                <a:cs typeface="Aptos"/>
              </a:defRPr>
            </a:pPr>
            <a:r>
              <a:rPr sz="2325" b="1">
                <a:solidFill>
                  <a:srgbClr val="19313F"/>
                </a:solidFill>
                <a:latin typeface="Aptos"/>
                <a:ea typeface="Aptos"/>
                <a:cs typeface="Aptos"/>
              </a:rPr>
              <a:t>9</a:t>
            </a:r>
          </a:p>
        </p:txBody>
      </p:sp>
      <p:sp>
        <p:nvSpPr>
          <p:cNvPr id="13" name="explanation">
            <a:extLst>
              <a:ext uri="{FF2B5EF4-FFF2-40B4-BE49-F238E27FC236}">
                <a16:creationId xmlns:a16="http://schemas.microsoft.com/office/drawing/2014/main" id="{C40481D2-473A-4AE9-9CC9-5FFC25F349BE}"/>
              </a:ext>
            </a:extLst>
          </p:cNvPr>
          <p:cNvSpPr>
            <a:spLocks noGrp="1"/>
          </p:cNvSpPr>
          <p:nvPr/>
        </p:nvSpPr>
        <p:spPr>
          <a:xfrm>
            <a:off x="609600" y="3381375"/>
            <a:ext cx="1905000" cy="419100"/>
          </a:xfrm>
          <a:prstGeom prst="rect">
            <a:avLst/>
          </a:prstGeom>
          <a:noFill/>
          <a:ln w="0">
            <a:noFill/>
            <a:prstDash val="solid"/>
          </a:ln>
        </p:spPr>
        <p:txBody>
          <a:bodyPr wrap="square" lIns="0" tIns="0" rIns="0" bIns="0" anchor="t">
            <a:noAutofit/>
          </a:bodyPr>
          <a:lstStyle>
            <a:defPPr algn="l">
              <a:defRPr sz="1875" b="0">
                <a:solidFill>
                  <a:srgbClr val="19313F"/>
                </a:solidFill>
                <a:latin typeface="Aptos"/>
                <a:ea typeface="Aptos"/>
                <a:cs typeface="Aptos"/>
              </a:defRPr>
            </a:defPPr>
          </a:lstStyle>
          <a:p>
            <a:pPr algn="l">
              <a:defRPr sz="1875" b="0">
                <a:solidFill>
                  <a:srgbClr val="19313F"/>
                </a:solidFill>
                <a:latin typeface="Aptos"/>
                <a:ea typeface="Aptos"/>
                <a:cs typeface="Aptos"/>
              </a:defRPr>
            </a:pPr>
            <a:r>
              <a:rPr sz="1875" b="0">
                <a:solidFill>
                  <a:srgbClr val="19313F"/>
                </a:solidFill>
                <a:latin typeface="Aptos"/>
                <a:ea typeface="Aptos"/>
                <a:cs typeface="Aptos"/>
              </a:rPr>
              <a:t>Plausible · 2</a:t>
            </a:r>
          </a:p>
        </p:txBody>
      </p:sp>
      <p:sp>
        <p:nvSpPr>
          <p:cNvPr id="14" name="risk-score-cell">
            <a:extLst>
              <a:ext uri="{FF2B5EF4-FFF2-40B4-BE49-F238E27FC236}">
                <a16:creationId xmlns:a16="http://schemas.microsoft.com/office/drawing/2014/main" id="{902F97D6-B568-435A-989F-989B0C05227E}"/>
              </a:ext>
            </a:extLst>
          </p:cNvPr>
          <p:cNvSpPr>
            <a:spLocks noGrp="1"/>
          </p:cNvSpPr>
          <p:nvPr/>
        </p:nvSpPr>
        <p:spPr>
          <a:xfrm>
            <a:off x="2571750" y="3114675"/>
            <a:ext cx="866775" cy="866775"/>
          </a:xfrm>
          <a:prstGeom prst="rect">
            <a:avLst/>
          </a:prstGeom>
          <a:solidFill>
            <a:srgbClr val="DCEEE9"/>
          </a:solidFill>
          <a:ln w="0">
            <a:noFill/>
            <a:prstDash val="solid"/>
          </a:ln>
        </p:spPr>
        <p:txBody>
          <a:bodyPr/>
          <a:lstStyle/>
          <a:p>
            <a:endParaRPr lang="fr-FR"/>
          </a:p>
        </p:txBody>
      </p:sp>
      <p:sp>
        <p:nvSpPr>
          <p:cNvPr id="15" name="explanation">
            <a:extLst>
              <a:ext uri="{FF2B5EF4-FFF2-40B4-BE49-F238E27FC236}">
                <a16:creationId xmlns:a16="http://schemas.microsoft.com/office/drawing/2014/main" id="{47B95AD4-BDFD-4DEC-9C50-CC7DFD680001}"/>
              </a:ext>
            </a:extLst>
          </p:cNvPr>
          <p:cNvSpPr>
            <a:spLocks noGrp="1"/>
          </p:cNvSpPr>
          <p:nvPr/>
        </p:nvSpPr>
        <p:spPr>
          <a:xfrm>
            <a:off x="2571750" y="3343275"/>
            <a:ext cx="866775" cy="438150"/>
          </a:xfrm>
          <a:prstGeom prst="rect">
            <a:avLst/>
          </a:prstGeom>
          <a:noFill/>
          <a:ln w="0">
            <a:noFill/>
            <a:prstDash val="solid"/>
          </a:ln>
        </p:spPr>
        <p:txBody>
          <a:bodyPr wrap="square" lIns="0" tIns="0" rIns="0" bIns="0" anchor="t">
            <a:noAutofit/>
          </a:bodyPr>
          <a:lstStyle>
            <a:defPPr algn="ctr">
              <a:defRPr sz="2325" b="1">
                <a:solidFill>
                  <a:srgbClr val="19313F"/>
                </a:solidFill>
                <a:latin typeface="Aptos"/>
                <a:ea typeface="Aptos"/>
                <a:cs typeface="Aptos"/>
              </a:defRPr>
            </a:defPPr>
          </a:lstStyle>
          <a:p>
            <a:pPr algn="ctr">
              <a:defRPr sz="2325" b="1">
                <a:solidFill>
                  <a:srgbClr val="19313F"/>
                </a:solidFill>
                <a:latin typeface="Aptos"/>
                <a:ea typeface="Aptos"/>
                <a:cs typeface="Aptos"/>
              </a:defRPr>
            </a:pPr>
            <a:r>
              <a:rPr sz="2325" b="1">
                <a:solidFill>
                  <a:srgbClr val="19313F"/>
                </a:solidFill>
                <a:latin typeface="Aptos"/>
                <a:ea typeface="Aptos"/>
                <a:cs typeface="Aptos"/>
              </a:rPr>
              <a:t>2</a:t>
            </a:r>
          </a:p>
        </p:txBody>
      </p:sp>
      <p:sp>
        <p:nvSpPr>
          <p:cNvPr id="16" name="risk-score-cell">
            <a:extLst>
              <a:ext uri="{FF2B5EF4-FFF2-40B4-BE49-F238E27FC236}">
                <a16:creationId xmlns:a16="http://schemas.microsoft.com/office/drawing/2014/main" id="{3ABFF15B-D93D-4AC8-B293-F23ED578740E}"/>
              </a:ext>
            </a:extLst>
          </p:cNvPr>
          <p:cNvSpPr>
            <a:spLocks noGrp="1"/>
          </p:cNvSpPr>
          <p:nvPr/>
        </p:nvSpPr>
        <p:spPr>
          <a:xfrm>
            <a:off x="3467100" y="3114675"/>
            <a:ext cx="866775" cy="866775"/>
          </a:xfrm>
          <a:prstGeom prst="rect">
            <a:avLst/>
          </a:prstGeom>
          <a:solidFill>
            <a:srgbClr val="F2E9B9"/>
          </a:solidFill>
          <a:ln w="0">
            <a:noFill/>
            <a:prstDash val="solid"/>
          </a:ln>
        </p:spPr>
        <p:txBody>
          <a:bodyPr/>
          <a:lstStyle/>
          <a:p>
            <a:endParaRPr lang="fr-FR"/>
          </a:p>
        </p:txBody>
      </p:sp>
      <p:sp>
        <p:nvSpPr>
          <p:cNvPr id="17" name="explanation">
            <a:extLst>
              <a:ext uri="{FF2B5EF4-FFF2-40B4-BE49-F238E27FC236}">
                <a16:creationId xmlns:a16="http://schemas.microsoft.com/office/drawing/2014/main" id="{22DAB18B-2949-4A31-8F32-670ECD0D63B6}"/>
              </a:ext>
            </a:extLst>
          </p:cNvPr>
          <p:cNvSpPr>
            <a:spLocks noGrp="1"/>
          </p:cNvSpPr>
          <p:nvPr/>
        </p:nvSpPr>
        <p:spPr>
          <a:xfrm>
            <a:off x="3467100" y="3343275"/>
            <a:ext cx="866775" cy="438150"/>
          </a:xfrm>
          <a:prstGeom prst="rect">
            <a:avLst/>
          </a:prstGeom>
          <a:noFill/>
          <a:ln w="0">
            <a:noFill/>
            <a:prstDash val="solid"/>
          </a:ln>
        </p:spPr>
        <p:txBody>
          <a:bodyPr wrap="square" lIns="0" tIns="0" rIns="0" bIns="0" anchor="t">
            <a:noAutofit/>
          </a:bodyPr>
          <a:lstStyle>
            <a:defPPr algn="ctr">
              <a:defRPr sz="2325" b="1">
                <a:solidFill>
                  <a:srgbClr val="19313F"/>
                </a:solidFill>
                <a:latin typeface="Aptos"/>
                <a:ea typeface="Aptos"/>
                <a:cs typeface="Aptos"/>
              </a:defRPr>
            </a:defPPr>
          </a:lstStyle>
          <a:p>
            <a:pPr algn="ctr">
              <a:defRPr sz="2325" b="1">
                <a:solidFill>
                  <a:srgbClr val="19313F"/>
                </a:solidFill>
                <a:latin typeface="Aptos"/>
                <a:ea typeface="Aptos"/>
                <a:cs typeface="Aptos"/>
              </a:defRPr>
            </a:pPr>
            <a:r>
              <a:rPr sz="2325" b="1">
                <a:solidFill>
                  <a:srgbClr val="19313F"/>
                </a:solidFill>
                <a:latin typeface="Aptos"/>
                <a:ea typeface="Aptos"/>
                <a:cs typeface="Aptos"/>
              </a:rPr>
              <a:t>4</a:t>
            </a:r>
          </a:p>
        </p:txBody>
      </p:sp>
      <p:sp>
        <p:nvSpPr>
          <p:cNvPr id="18" name="risk-score-cell">
            <a:extLst>
              <a:ext uri="{FF2B5EF4-FFF2-40B4-BE49-F238E27FC236}">
                <a16:creationId xmlns:a16="http://schemas.microsoft.com/office/drawing/2014/main" id="{AF0FAFFF-8086-4B88-932B-306EDD05C79E}"/>
              </a:ext>
            </a:extLst>
          </p:cNvPr>
          <p:cNvSpPr>
            <a:spLocks noGrp="1"/>
          </p:cNvSpPr>
          <p:nvPr/>
        </p:nvSpPr>
        <p:spPr>
          <a:xfrm>
            <a:off x="4362450" y="3114675"/>
            <a:ext cx="866775" cy="866775"/>
          </a:xfrm>
          <a:prstGeom prst="rect">
            <a:avLst/>
          </a:prstGeom>
          <a:solidFill>
            <a:srgbClr val="EAC496"/>
          </a:solidFill>
          <a:ln w="0">
            <a:noFill/>
            <a:prstDash val="solid"/>
          </a:ln>
        </p:spPr>
        <p:txBody>
          <a:bodyPr/>
          <a:lstStyle/>
          <a:p>
            <a:endParaRPr lang="fr-FR"/>
          </a:p>
        </p:txBody>
      </p:sp>
      <p:sp>
        <p:nvSpPr>
          <p:cNvPr id="19" name="explanation">
            <a:extLst>
              <a:ext uri="{FF2B5EF4-FFF2-40B4-BE49-F238E27FC236}">
                <a16:creationId xmlns:a16="http://schemas.microsoft.com/office/drawing/2014/main" id="{C2B03E42-2001-4AE2-88B0-EE2CFA85DF89}"/>
              </a:ext>
            </a:extLst>
          </p:cNvPr>
          <p:cNvSpPr>
            <a:spLocks noGrp="1"/>
          </p:cNvSpPr>
          <p:nvPr/>
        </p:nvSpPr>
        <p:spPr>
          <a:xfrm>
            <a:off x="4362450" y="3343275"/>
            <a:ext cx="866775" cy="438150"/>
          </a:xfrm>
          <a:prstGeom prst="rect">
            <a:avLst/>
          </a:prstGeom>
          <a:noFill/>
          <a:ln w="0">
            <a:noFill/>
            <a:prstDash val="solid"/>
          </a:ln>
        </p:spPr>
        <p:txBody>
          <a:bodyPr wrap="square" lIns="0" tIns="0" rIns="0" bIns="0" anchor="t">
            <a:noAutofit/>
          </a:bodyPr>
          <a:lstStyle>
            <a:defPPr algn="ctr">
              <a:defRPr sz="2325" b="1">
                <a:solidFill>
                  <a:srgbClr val="19313F"/>
                </a:solidFill>
                <a:latin typeface="Aptos"/>
                <a:ea typeface="Aptos"/>
                <a:cs typeface="Aptos"/>
              </a:defRPr>
            </a:defPPr>
          </a:lstStyle>
          <a:p>
            <a:pPr algn="ctr">
              <a:defRPr sz="2325" b="1">
                <a:solidFill>
                  <a:srgbClr val="19313F"/>
                </a:solidFill>
                <a:latin typeface="Aptos"/>
                <a:ea typeface="Aptos"/>
                <a:cs typeface="Aptos"/>
              </a:defRPr>
            </a:pPr>
            <a:r>
              <a:rPr sz="2325" b="1">
                <a:solidFill>
                  <a:srgbClr val="19313F"/>
                </a:solidFill>
                <a:latin typeface="Aptos"/>
                <a:ea typeface="Aptos"/>
                <a:cs typeface="Aptos"/>
              </a:rPr>
              <a:t>6</a:t>
            </a:r>
          </a:p>
        </p:txBody>
      </p:sp>
      <p:sp>
        <p:nvSpPr>
          <p:cNvPr id="20" name="explanation">
            <a:extLst>
              <a:ext uri="{FF2B5EF4-FFF2-40B4-BE49-F238E27FC236}">
                <a16:creationId xmlns:a16="http://schemas.microsoft.com/office/drawing/2014/main" id="{E97111C5-3FE9-429B-ABED-FD0F9259E3F6}"/>
              </a:ext>
            </a:extLst>
          </p:cNvPr>
          <p:cNvSpPr>
            <a:spLocks noGrp="1"/>
          </p:cNvSpPr>
          <p:nvPr/>
        </p:nvSpPr>
        <p:spPr>
          <a:xfrm>
            <a:off x="609600" y="4276725"/>
            <a:ext cx="1905000" cy="419100"/>
          </a:xfrm>
          <a:prstGeom prst="rect">
            <a:avLst/>
          </a:prstGeom>
          <a:noFill/>
          <a:ln w="0">
            <a:noFill/>
            <a:prstDash val="solid"/>
          </a:ln>
        </p:spPr>
        <p:txBody>
          <a:bodyPr wrap="square" lIns="0" tIns="0" rIns="0" bIns="0" anchor="t">
            <a:noAutofit/>
          </a:bodyPr>
          <a:lstStyle>
            <a:defPPr algn="l">
              <a:defRPr sz="1875" b="0">
                <a:solidFill>
                  <a:srgbClr val="19313F"/>
                </a:solidFill>
                <a:latin typeface="Aptos"/>
                <a:ea typeface="Aptos"/>
                <a:cs typeface="Aptos"/>
              </a:defRPr>
            </a:defPPr>
          </a:lstStyle>
          <a:p>
            <a:pPr algn="l">
              <a:defRPr sz="1875" b="0">
                <a:solidFill>
                  <a:srgbClr val="19313F"/>
                </a:solidFill>
                <a:latin typeface="Aptos"/>
                <a:ea typeface="Aptos"/>
                <a:cs typeface="Aptos"/>
              </a:defRPr>
            </a:pPr>
            <a:r>
              <a:rPr sz="1875" b="0">
                <a:solidFill>
                  <a:srgbClr val="19313F"/>
                </a:solidFill>
                <a:latin typeface="Aptos"/>
                <a:ea typeface="Aptos"/>
                <a:cs typeface="Aptos"/>
              </a:rPr>
              <a:t>Remote · 1</a:t>
            </a:r>
          </a:p>
        </p:txBody>
      </p:sp>
      <p:sp>
        <p:nvSpPr>
          <p:cNvPr id="21" name="risk-score-cell">
            <a:extLst>
              <a:ext uri="{FF2B5EF4-FFF2-40B4-BE49-F238E27FC236}">
                <a16:creationId xmlns:a16="http://schemas.microsoft.com/office/drawing/2014/main" id="{FE67C126-575C-4915-B04B-ACC73BBF8749}"/>
              </a:ext>
            </a:extLst>
          </p:cNvPr>
          <p:cNvSpPr>
            <a:spLocks noGrp="1"/>
          </p:cNvSpPr>
          <p:nvPr/>
        </p:nvSpPr>
        <p:spPr>
          <a:xfrm>
            <a:off x="2571750" y="4010025"/>
            <a:ext cx="866775" cy="866775"/>
          </a:xfrm>
          <a:prstGeom prst="rect">
            <a:avLst/>
          </a:prstGeom>
          <a:solidFill>
            <a:srgbClr val="DCEEE9"/>
          </a:solidFill>
          <a:ln w="0">
            <a:noFill/>
            <a:prstDash val="solid"/>
          </a:ln>
        </p:spPr>
        <p:txBody>
          <a:bodyPr/>
          <a:lstStyle/>
          <a:p>
            <a:endParaRPr lang="fr-FR"/>
          </a:p>
        </p:txBody>
      </p:sp>
      <p:sp>
        <p:nvSpPr>
          <p:cNvPr id="22" name="explanation">
            <a:extLst>
              <a:ext uri="{FF2B5EF4-FFF2-40B4-BE49-F238E27FC236}">
                <a16:creationId xmlns:a16="http://schemas.microsoft.com/office/drawing/2014/main" id="{5B810F88-E97E-4103-841A-51772CD158D2}"/>
              </a:ext>
            </a:extLst>
          </p:cNvPr>
          <p:cNvSpPr>
            <a:spLocks noGrp="1"/>
          </p:cNvSpPr>
          <p:nvPr/>
        </p:nvSpPr>
        <p:spPr>
          <a:xfrm>
            <a:off x="2571750" y="4238625"/>
            <a:ext cx="866775" cy="438150"/>
          </a:xfrm>
          <a:prstGeom prst="rect">
            <a:avLst/>
          </a:prstGeom>
          <a:noFill/>
          <a:ln w="0">
            <a:noFill/>
            <a:prstDash val="solid"/>
          </a:ln>
        </p:spPr>
        <p:txBody>
          <a:bodyPr wrap="square" lIns="0" tIns="0" rIns="0" bIns="0" anchor="t">
            <a:noAutofit/>
          </a:bodyPr>
          <a:lstStyle>
            <a:defPPr algn="ctr">
              <a:defRPr sz="2325" b="1">
                <a:solidFill>
                  <a:srgbClr val="19313F"/>
                </a:solidFill>
                <a:latin typeface="Aptos"/>
                <a:ea typeface="Aptos"/>
                <a:cs typeface="Aptos"/>
              </a:defRPr>
            </a:defPPr>
          </a:lstStyle>
          <a:p>
            <a:pPr algn="ctr">
              <a:defRPr sz="2325" b="1">
                <a:solidFill>
                  <a:srgbClr val="19313F"/>
                </a:solidFill>
                <a:latin typeface="Aptos"/>
                <a:ea typeface="Aptos"/>
                <a:cs typeface="Aptos"/>
              </a:defRPr>
            </a:pPr>
            <a:r>
              <a:rPr sz="2325" b="1">
                <a:solidFill>
                  <a:srgbClr val="19313F"/>
                </a:solidFill>
                <a:latin typeface="Aptos"/>
                <a:ea typeface="Aptos"/>
                <a:cs typeface="Aptos"/>
              </a:rPr>
              <a:t>1</a:t>
            </a:r>
          </a:p>
        </p:txBody>
      </p:sp>
      <p:sp>
        <p:nvSpPr>
          <p:cNvPr id="23" name="risk-score-cell">
            <a:extLst>
              <a:ext uri="{FF2B5EF4-FFF2-40B4-BE49-F238E27FC236}">
                <a16:creationId xmlns:a16="http://schemas.microsoft.com/office/drawing/2014/main" id="{C09DEE29-810E-4C72-82C7-9469B6B539E2}"/>
              </a:ext>
            </a:extLst>
          </p:cNvPr>
          <p:cNvSpPr>
            <a:spLocks noGrp="1"/>
          </p:cNvSpPr>
          <p:nvPr/>
        </p:nvSpPr>
        <p:spPr>
          <a:xfrm>
            <a:off x="3467100" y="4010025"/>
            <a:ext cx="866775" cy="866775"/>
          </a:xfrm>
          <a:prstGeom prst="rect">
            <a:avLst/>
          </a:prstGeom>
          <a:solidFill>
            <a:srgbClr val="DCEEE9"/>
          </a:solidFill>
          <a:ln w="0">
            <a:noFill/>
            <a:prstDash val="solid"/>
          </a:ln>
        </p:spPr>
        <p:txBody>
          <a:bodyPr/>
          <a:lstStyle/>
          <a:p>
            <a:endParaRPr lang="fr-FR"/>
          </a:p>
        </p:txBody>
      </p:sp>
      <p:sp>
        <p:nvSpPr>
          <p:cNvPr id="24" name="explanation">
            <a:extLst>
              <a:ext uri="{FF2B5EF4-FFF2-40B4-BE49-F238E27FC236}">
                <a16:creationId xmlns:a16="http://schemas.microsoft.com/office/drawing/2014/main" id="{13139EB8-8382-4CA8-8808-B1C26ACB385D}"/>
              </a:ext>
            </a:extLst>
          </p:cNvPr>
          <p:cNvSpPr>
            <a:spLocks noGrp="1"/>
          </p:cNvSpPr>
          <p:nvPr/>
        </p:nvSpPr>
        <p:spPr>
          <a:xfrm>
            <a:off x="3467100" y="4238625"/>
            <a:ext cx="866775" cy="438150"/>
          </a:xfrm>
          <a:prstGeom prst="rect">
            <a:avLst/>
          </a:prstGeom>
          <a:noFill/>
          <a:ln w="0">
            <a:noFill/>
            <a:prstDash val="solid"/>
          </a:ln>
        </p:spPr>
        <p:txBody>
          <a:bodyPr wrap="square" lIns="0" tIns="0" rIns="0" bIns="0" anchor="t">
            <a:noAutofit/>
          </a:bodyPr>
          <a:lstStyle>
            <a:defPPr algn="ctr">
              <a:defRPr sz="2325" b="1">
                <a:solidFill>
                  <a:srgbClr val="19313F"/>
                </a:solidFill>
                <a:latin typeface="Aptos"/>
                <a:ea typeface="Aptos"/>
                <a:cs typeface="Aptos"/>
              </a:defRPr>
            </a:defPPr>
          </a:lstStyle>
          <a:p>
            <a:pPr algn="ctr">
              <a:defRPr sz="2325" b="1">
                <a:solidFill>
                  <a:srgbClr val="19313F"/>
                </a:solidFill>
                <a:latin typeface="Aptos"/>
                <a:ea typeface="Aptos"/>
                <a:cs typeface="Aptos"/>
              </a:defRPr>
            </a:pPr>
            <a:r>
              <a:rPr sz="2325" b="1">
                <a:solidFill>
                  <a:srgbClr val="19313F"/>
                </a:solidFill>
                <a:latin typeface="Aptos"/>
                <a:ea typeface="Aptos"/>
                <a:cs typeface="Aptos"/>
              </a:rPr>
              <a:t>2</a:t>
            </a:r>
          </a:p>
        </p:txBody>
      </p:sp>
      <p:sp>
        <p:nvSpPr>
          <p:cNvPr id="25" name="risk-score-cell">
            <a:extLst>
              <a:ext uri="{FF2B5EF4-FFF2-40B4-BE49-F238E27FC236}">
                <a16:creationId xmlns:a16="http://schemas.microsoft.com/office/drawing/2014/main" id="{FAEA944D-4D67-4D0F-8897-35702ED6AA40}"/>
              </a:ext>
            </a:extLst>
          </p:cNvPr>
          <p:cNvSpPr>
            <a:spLocks noGrp="1"/>
          </p:cNvSpPr>
          <p:nvPr/>
        </p:nvSpPr>
        <p:spPr>
          <a:xfrm>
            <a:off x="4362450" y="4010025"/>
            <a:ext cx="866775" cy="866775"/>
          </a:xfrm>
          <a:prstGeom prst="rect">
            <a:avLst/>
          </a:prstGeom>
          <a:solidFill>
            <a:srgbClr val="F2E9B9"/>
          </a:solidFill>
          <a:ln w="0">
            <a:noFill/>
            <a:prstDash val="solid"/>
          </a:ln>
        </p:spPr>
        <p:txBody>
          <a:bodyPr/>
          <a:lstStyle/>
          <a:p>
            <a:endParaRPr lang="fr-FR"/>
          </a:p>
        </p:txBody>
      </p:sp>
      <p:sp>
        <p:nvSpPr>
          <p:cNvPr id="26" name="explanation">
            <a:extLst>
              <a:ext uri="{FF2B5EF4-FFF2-40B4-BE49-F238E27FC236}">
                <a16:creationId xmlns:a16="http://schemas.microsoft.com/office/drawing/2014/main" id="{6C66405B-6129-4033-9058-42DFEAC8A762}"/>
              </a:ext>
            </a:extLst>
          </p:cNvPr>
          <p:cNvSpPr>
            <a:spLocks noGrp="1"/>
          </p:cNvSpPr>
          <p:nvPr/>
        </p:nvSpPr>
        <p:spPr>
          <a:xfrm>
            <a:off x="4362450" y="4238625"/>
            <a:ext cx="866775" cy="438150"/>
          </a:xfrm>
          <a:prstGeom prst="rect">
            <a:avLst/>
          </a:prstGeom>
          <a:noFill/>
          <a:ln w="0">
            <a:noFill/>
            <a:prstDash val="solid"/>
          </a:ln>
        </p:spPr>
        <p:txBody>
          <a:bodyPr wrap="square" lIns="0" tIns="0" rIns="0" bIns="0" anchor="t">
            <a:noAutofit/>
          </a:bodyPr>
          <a:lstStyle>
            <a:defPPr algn="ctr">
              <a:defRPr sz="2325" b="1">
                <a:solidFill>
                  <a:srgbClr val="19313F"/>
                </a:solidFill>
                <a:latin typeface="Aptos"/>
                <a:ea typeface="Aptos"/>
                <a:cs typeface="Aptos"/>
              </a:defRPr>
            </a:defPPr>
          </a:lstStyle>
          <a:p>
            <a:pPr algn="ctr">
              <a:defRPr sz="2325" b="1">
                <a:solidFill>
                  <a:srgbClr val="19313F"/>
                </a:solidFill>
                <a:latin typeface="Aptos"/>
                <a:ea typeface="Aptos"/>
                <a:cs typeface="Aptos"/>
              </a:defRPr>
            </a:pPr>
            <a:r>
              <a:rPr sz="2325" b="1">
                <a:solidFill>
                  <a:srgbClr val="19313F"/>
                </a:solidFill>
                <a:latin typeface="Aptos"/>
                <a:ea typeface="Aptos"/>
                <a:cs typeface="Aptos"/>
              </a:rPr>
              <a:t>3</a:t>
            </a:r>
          </a:p>
        </p:txBody>
      </p:sp>
      <p:sp>
        <p:nvSpPr>
          <p:cNvPr id="27" name="explanation">
            <a:extLst>
              <a:ext uri="{FF2B5EF4-FFF2-40B4-BE49-F238E27FC236}">
                <a16:creationId xmlns:a16="http://schemas.microsoft.com/office/drawing/2014/main" id="{821C0DDC-37BF-440A-80B8-FB641D8EF1D1}"/>
              </a:ext>
            </a:extLst>
          </p:cNvPr>
          <p:cNvSpPr>
            <a:spLocks noGrp="1"/>
          </p:cNvSpPr>
          <p:nvPr/>
        </p:nvSpPr>
        <p:spPr>
          <a:xfrm>
            <a:off x="2571750" y="5000625"/>
            <a:ext cx="866775" cy="400050"/>
          </a:xfrm>
          <a:prstGeom prst="rect">
            <a:avLst/>
          </a:prstGeom>
          <a:noFill/>
          <a:ln w="0">
            <a:noFill/>
            <a:prstDash val="solid"/>
          </a:ln>
        </p:spPr>
        <p:txBody>
          <a:bodyPr wrap="square" lIns="0" tIns="0" rIns="0" bIns="0" anchor="t">
            <a:noAutofit/>
          </a:bodyPr>
          <a:lstStyle>
            <a:defPPr algn="ctr">
              <a:defRPr sz="1350" b="0">
                <a:solidFill>
                  <a:srgbClr val="5B6D77"/>
                </a:solidFill>
                <a:latin typeface="Aptos"/>
                <a:ea typeface="Aptos"/>
                <a:cs typeface="Aptos"/>
              </a:defRPr>
            </a:defPPr>
          </a:lstStyle>
          <a:p>
            <a:pPr algn="ctr">
              <a:defRPr sz="1350" b="0">
                <a:solidFill>
                  <a:srgbClr val="5B6D77"/>
                </a:solidFill>
                <a:latin typeface="Aptos"/>
                <a:ea typeface="Aptos"/>
                <a:cs typeface="Aptos"/>
              </a:defRPr>
            </a:pPr>
            <a:r>
              <a:rPr sz="1350" b="0">
                <a:solidFill>
                  <a:srgbClr val="5B6D77"/>
                </a:solidFill>
                <a:latin typeface="Aptos"/>
                <a:ea typeface="Aptos"/>
                <a:cs typeface="Aptos"/>
              </a:rPr>
              <a:t>1 Low</a:t>
            </a:r>
          </a:p>
        </p:txBody>
      </p:sp>
      <p:sp>
        <p:nvSpPr>
          <p:cNvPr id="28" name="explanation">
            <a:extLst>
              <a:ext uri="{FF2B5EF4-FFF2-40B4-BE49-F238E27FC236}">
                <a16:creationId xmlns:a16="http://schemas.microsoft.com/office/drawing/2014/main" id="{F2F025C1-888A-4FEC-9E54-39D63830D471}"/>
              </a:ext>
            </a:extLst>
          </p:cNvPr>
          <p:cNvSpPr>
            <a:spLocks noGrp="1"/>
          </p:cNvSpPr>
          <p:nvPr/>
        </p:nvSpPr>
        <p:spPr>
          <a:xfrm>
            <a:off x="3467100" y="5000625"/>
            <a:ext cx="866775" cy="400050"/>
          </a:xfrm>
          <a:prstGeom prst="rect">
            <a:avLst/>
          </a:prstGeom>
          <a:noFill/>
          <a:ln w="0">
            <a:noFill/>
            <a:prstDash val="solid"/>
          </a:ln>
        </p:spPr>
        <p:txBody>
          <a:bodyPr wrap="square" lIns="0" tIns="0" rIns="0" bIns="0" anchor="t">
            <a:noAutofit/>
          </a:bodyPr>
          <a:lstStyle>
            <a:defPPr algn="ctr">
              <a:defRPr sz="1350" b="0">
                <a:solidFill>
                  <a:srgbClr val="5B6D77"/>
                </a:solidFill>
                <a:latin typeface="Aptos"/>
                <a:ea typeface="Aptos"/>
                <a:cs typeface="Aptos"/>
              </a:defRPr>
            </a:defPPr>
          </a:lstStyle>
          <a:p>
            <a:pPr algn="ctr">
              <a:defRPr sz="1350" b="0">
                <a:solidFill>
                  <a:srgbClr val="5B6D77"/>
                </a:solidFill>
                <a:latin typeface="Aptos"/>
                <a:ea typeface="Aptos"/>
                <a:cs typeface="Aptos"/>
              </a:defRPr>
            </a:pPr>
            <a:r>
              <a:rPr sz="1350" b="0">
                <a:solidFill>
                  <a:srgbClr val="5B6D77"/>
                </a:solidFill>
                <a:latin typeface="Aptos"/>
                <a:ea typeface="Aptos"/>
                <a:cs typeface="Aptos"/>
              </a:rPr>
              <a:t>2 Medium</a:t>
            </a:r>
          </a:p>
        </p:txBody>
      </p:sp>
      <p:sp>
        <p:nvSpPr>
          <p:cNvPr id="29" name="explanation">
            <a:extLst>
              <a:ext uri="{FF2B5EF4-FFF2-40B4-BE49-F238E27FC236}">
                <a16:creationId xmlns:a16="http://schemas.microsoft.com/office/drawing/2014/main" id="{4250A430-CBA2-43CF-A93D-F574F9B69D84}"/>
              </a:ext>
            </a:extLst>
          </p:cNvPr>
          <p:cNvSpPr>
            <a:spLocks noGrp="1"/>
          </p:cNvSpPr>
          <p:nvPr/>
        </p:nvSpPr>
        <p:spPr>
          <a:xfrm>
            <a:off x="4362450" y="5000625"/>
            <a:ext cx="866775" cy="400050"/>
          </a:xfrm>
          <a:prstGeom prst="rect">
            <a:avLst/>
          </a:prstGeom>
          <a:noFill/>
          <a:ln w="0">
            <a:noFill/>
            <a:prstDash val="solid"/>
          </a:ln>
        </p:spPr>
        <p:txBody>
          <a:bodyPr wrap="square" lIns="0" tIns="0" rIns="0" bIns="0" anchor="t">
            <a:noAutofit/>
          </a:bodyPr>
          <a:lstStyle>
            <a:defPPr algn="ctr">
              <a:defRPr sz="1350" b="0">
                <a:solidFill>
                  <a:srgbClr val="5B6D77"/>
                </a:solidFill>
                <a:latin typeface="Aptos"/>
                <a:ea typeface="Aptos"/>
                <a:cs typeface="Aptos"/>
              </a:defRPr>
            </a:defPPr>
          </a:lstStyle>
          <a:p>
            <a:pPr algn="ctr">
              <a:defRPr sz="1350" b="0">
                <a:solidFill>
                  <a:srgbClr val="5B6D77"/>
                </a:solidFill>
                <a:latin typeface="Aptos"/>
                <a:ea typeface="Aptos"/>
                <a:cs typeface="Aptos"/>
              </a:defRPr>
            </a:pPr>
            <a:r>
              <a:rPr sz="1350" b="0">
                <a:solidFill>
                  <a:srgbClr val="5B6D77"/>
                </a:solidFill>
                <a:latin typeface="Aptos"/>
                <a:ea typeface="Aptos"/>
                <a:cs typeface="Aptos"/>
              </a:rPr>
              <a:t>3 High</a:t>
            </a:r>
          </a:p>
        </p:txBody>
      </p:sp>
      <p:sp>
        <p:nvSpPr>
          <p:cNvPr id="30" name="explanation">
            <a:extLst>
              <a:ext uri="{FF2B5EF4-FFF2-40B4-BE49-F238E27FC236}">
                <a16:creationId xmlns:a16="http://schemas.microsoft.com/office/drawing/2014/main" id="{853DD0F0-AFB1-40D1-942A-28677419AA67}"/>
              </a:ext>
            </a:extLst>
          </p:cNvPr>
          <p:cNvSpPr>
            <a:spLocks noGrp="1"/>
          </p:cNvSpPr>
          <p:nvPr/>
        </p:nvSpPr>
        <p:spPr>
          <a:xfrm>
            <a:off x="6191250" y="1914525"/>
            <a:ext cx="1285875"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Retention</a:t>
            </a:r>
          </a:p>
        </p:txBody>
      </p:sp>
      <p:sp>
        <p:nvSpPr>
          <p:cNvPr id="31" name="explanation">
            <a:extLst>
              <a:ext uri="{FF2B5EF4-FFF2-40B4-BE49-F238E27FC236}">
                <a16:creationId xmlns:a16="http://schemas.microsoft.com/office/drawing/2014/main" id="{CECA9F03-A26D-4580-B3B1-233D9828CD40}"/>
              </a:ext>
            </a:extLst>
          </p:cNvPr>
          <p:cNvSpPr>
            <a:spLocks noGrp="1"/>
          </p:cNvSpPr>
          <p:nvPr/>
        </p:nvSpPr>
        <p:spPr>
          <a:xfrm>
            <a:off x="7620000" y="1914525"/>
            <a:ext cx="3905250" cy="7620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Accept and fund a tolerable exposure.</a:t>
            </a:r>
          </a:p>
        </p:txBody>
      </p:sp>
      <p:sp>
        <p:nvSpPr>
          <p:cNvPr id="32" name="rule">
            <a:extLst>
              <a:ext uri="{FF2B5EF4-FFF2-40B4-BE49-F238E27FC236}">
                <a16:creationId xmlns:a16="http://schemas.microsoft.com/office/drawing/2014/main" id="{E4E0DDD3-5679-42E7-87F8-DD8929824C97}"/>
              </a:ext>
            </a:extLst>
          </p:cNvPr>
          <p:cNvSpPr>
            <a:spLocks noGrp="1"/>
          </p:cNvSpPr>
          <p:nvPr/>
        </p:nvSpPr>
        <p:spPr>
          <a:xfrm>
            <a:off x="6191250" y="2667000"/>
            <a:ext cx="5334000" cy="0"/>
          </a:xfrm>
          <a:prstGeom prst="line">
            <a:avLst/>
          </a:prstGeom>
          <a:noFill/>
          <a:ln w="9525">
            <a:solidFill>
              <a:srgbClr val="CCD6D9"/>
            </a:solidFill>
            <a:prstDash val="solid"/>
          </a:ln>
        </p:spPr>
        <p:txBody>
          <a:bodyPr/>
          <a:lstStyle/>
          <a:p>
            <a:endParaRPr lang="fr-FR"/>
          </a:p>
        </p:txBody>
      </p:sp>
      <p:sp>
        <p:nvSpPr>
          <p:cNvPr id="33" name="explanation">
            <a:extLst>
              <a:ext uri="{FF2B5EF4-FFF2-40B4-BE49-F238E27FC236}">
                <a16:creationId xmlns:a16="http://schemas.microsoft.com/office/drawing/2014/main" id="{123CD840-8A00-4853-B525-212A20AAECA4}"/>
              </a:ext>
            </a:extLst>
          </p:cNvPr>
          <p:cNvSpPr>
            <a:spLocks noGrp="1"/>
          </p:cNvSpPr>
          <p:nvPr/>
        </p:nvSpPr>
        <p:spPr>
          <a:xfrm>
            <a:off x="6191250" y="2790825"/>
            <a:ext cx="1285875"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Reduction</a:t>
            </a:r>
          </a:p>
        </p:txBody>
      </p:sp>
      <p:sp>
        <p:nvSpPr>
          <p:cNvPr id="34" name="explanation">
            <a:extLst>
              <a:ext uri="{FF2B5EF4-FFF2-40B4-BE49-F238E27FC236}">
                <a16:creationId xmlns:a16="http://schemas.microsoft.com/office/drawing/2014/main" id="{31D2FEE0-009E-4BFF-A40E-96735E7DD9A7}"/>
              </a:ext>
            </a:extLst>
          </p:cNvPr>
          <p:cNvSpPr>
            <a:spLocks noGrp="1"/>
          </p:cNvSpPr>
          <p:nvPr/>
        </p:nvSpPr>
        <p:spPr>
          <a:xfrm>
            <a:off x="7620000" y="2790825"/>
            <a:ext cx="3905250" cy="7620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Change operations or strengthen controls.</a:t>
            </a:r>
          </a:p>
        </p:txBody>
      </p:sp>
      <p:sp>
        <p:nvSpPr>
          <p:cNvPr id="35" name="rule">
            <a:extLst>
              <a:ext uri="{FF2B5EF4-FFF2-40B4-BE49-F238E27FC236}">
                <a16:creationId xmlns:a16="http://schemas.microsoft.com/office/drawing/2014/main" id="{D4FFDCA1-40FE-4C8C-886F-FD1947538528}"/>
              </a:ext>
            </a:extLst>
          </p:cNvPr>
          <p:cNvSpPr>
            <a:spLocks noGrp="1"/>
          </p:cNvSpPr>
          <p:nvPr/>
        </p:nvSpPr>
        <p:spPr>
          <a:xfrm>
            <a:off x="6191250" y="3543300"/>
            <a:ext cx="5334000" cy="0"/>
          </a:xfrm>
          <a:prstGeom prst="line">
            <a:avLst/>
          </a:prstGeom>
          <a:noFill/>
          <a:ln w="9525">
            <a:solidFill>
              <a:srgbClr val="CCD6D9"/>
            </a:solidFill>
            <a:prstDash val="solid"/>
          </a:ln>
        </p:spPr>
        <p:txBody>
          <a:bodyPr/>
          <a:lstStyle/>
          <a:p>
            <a:endParaRPr lang="fr-FR"/>
          </a:p>
        </p:txBody>
      </p:sp>
      <p:sp>
        <p:nvSpPr>
          <p:cNvPr id="36" name="explanation">
            <a:extLst>
              <a:ext uri="{FF2B5EF4-FFF2-40B4-BE49-F238E27FC236}">
                <a16:creationId xmlns:a16="http://schemas.microsoft.com/office/drawing/2014/main" id="{B2488B84-B43B-4CB8-96FF-35ED6E2D4BD6}"/>
              </a:ext>
            </a:extLst>
          </p:cNvPr>
          <p:cNvSpPr>
            <a:spLocks noGrp="1"/>
          </p:cNvSpPr>
          <p:nvPr/>
        </p:nvSpPr>
        <p:spPr>
          <a:xfrm>
            <a:off x="6191250" y="3667125"/>
            <a:ext cx="1285875"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Transfer</a:t>
            </a:r>
          </a:p>
        </p:txBody>
      </p:sp>
      <p:sp>
        <p:nvSpPr>
          <p:cNvPr id="37" name="explanation">
            <a:extLst>
              <a:ext uri="{FF2B5EF4-FFF2-40B4-BE49-F238E27FC236}">
                <a16:creationId xmlns:a16="http://schemas.microsoft.com/office/drawing/2014/main" id="{63578451-BCED-4922-A805-1E31E8D686AC}"/>
              </a:ext>
            </a:extLst>
          </p:cNvPr>
          <p:cNvSpPr>
            <a:spLocks noGrp="1"/>
          </p:cNvSpPr>
          <p:nvPr/>
        </p:nvSpPr>
        <p:spPr>
          <a:xfrm>
            <a:off x="7620000" y="3667125"/>
            <a:ext cx="3905250" cy="7620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Use suitable insurance or hedging.</a:t>
            </a:r>
          </a:p>
        </p:txBody>
      </p:sp>
      <p:sp>
        <p:nvSpPr>
          <p:cNvPr id="38" name="rule">
            <a:extLst>
              <a:ext uri="{FF2B5EF4-FFF2-40B4-BE49-F238E27FC236}">
                <a16:creationId xmlns:a16="http://schemas.microsoft.com/office/drawing/2014/main" id="{EA56F297-F557-4BC4-88D2-4B4AB4AEECDD}"/>
              </a:ext>
            </a:extLst>
          </p:cNvPr>
          <p:cNvSpPr>
            <a:spLocks noGrp="1"/>
          </p:cNvSpPr>
          <p:nvPr/>
        </p:nvSpPr>
        <p:spPr>
          <a:xfrm>
            <a:off x="6191250" y="4419600"/>
            <a:ext cx="5334000" cy="0"/>
          </a:xfrm>
          <a:prstGeom prst="line">
            <a:avLst/>
          </a:prstGeom>
          <a:noFill/>
          <a:ln w="9525">
            <a:solidFill>
              <a:srgbClr val="CCD6D9"/>
            </a:solidFill>
            <a:prstDash val="solid"/>
          </a:ln>
        </p:spPr>
        <p:txBody>
          <a:bodyPr/>
          <a:lstStyle/>
          <a:p>
            <a:endParaRPr lang="fr-FR"/>
          </a:p>
        </p:txBody>
      </p:sp>
      <p:sp>
        <p:nvSpPr>
          <p:cNvPr id="39" name="explanation">
            <a:extLst>
              <a:ext uri="{FF2B5EF4-FFF2-40B4-BE49-F238E27FC236}">
                <a16:creationId xmlns:a16="http://schemas.microsoft.com/office/drawing/2014/main" id="{4BD8E2F1-4C07-4DF1-817D-8FF59C1B8A6F}"/>
              </a:ext>
            </a:extLst>
          </p:cNvPr>
          <p:cNvSpPr>
            <a:spLocks noGrp="1"/>
          </p:cNvSpPr>
          <p:nvPr/>
        </p:nvSpPr>
        <p:spPr>
          <a:xfrm>
            <a:off x="6191250" y="4543425"/>
            <a:ext cx="1285875"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Avoidance</a:t>
            </a:r>
          </a:p>
        </p:txBody>
      </p:sp>
      <p:sp>
        <p:nvSpPr>
          <p:cNvPr id="40" name="explanation">
            <a:extLst>
              <a:ext uri="{FF2B5EF4-FFF2-40B4-BE49-F238E27FC236}">
                <a16:creationId xmlns:a16="http://schemas.microsoft.com/office/drawing/2014/main" id="{1BA0485A-2F86-4805-AE57-D76883630184}"/>
              </a:ext>
            </a:extLst>
          </p:cNvPr>
          <p:cNvSpPr>
            <a:spLocks noGrp="1"/>
          </p:cNvSpPr>
          <p:nvPr/>
        </p:nvSpPr>
        <p:spPr>
          <a:xfrm>
            <a:off x="7620000" y="4543425"/>
            <a:ext cx="3905250" cy="7620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Stop an exposure that exceeds capacity.</a:t>
            </a:r>
          </a:p>
        </p:txBody>
      </p:sp>
      <p:sp>
        <p:nvSpPr>
          <p:cNvPr id="41" name="explanation">
            <a:extLst>
              <a:ext uri="{FF2B5EF4-FFF2-40B4-BE49-F238E27FC236}">
                <a16:creationId xmlns:a16="http://schemas.microsoft.com/office/drawing/2014/main" id="{108C611F-9C43-441D-A715-3ED67B10C7CA}"/>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Likelihood × impact gives an ordinal priority score, not an expected monetary loss.</a:t>
            </a:r>
          </a:p>
        </p:txBody>
      </p:sp>
      <p:sp>
        <p:nvSpPr>
          <p:cNvPr id="42" name="rule">
            <a:extLst>
              <a:ext uri="{FF2B5EF4-FFF2-40B4-BE49-F238E27FC236}">
                <a16:creationId xmlns:a16="http://schemas.microsoft.com/office/drawing/2014/main" id="{B427C1FC-5FF7-4043-B03A-B98CC558A6AA}"/>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43" name="decision-implication">
            <a:extLst>
              <a:ext uri="{FF2B5EF4-FFF2-40B4-BE49-F238E27FC236}">
                <a16:creationId xmlns:a16="http://schemas.microsoft.com/office/drawing/2014/main" id="{35D9667D-E37B-453C-83E2-0C47D0A9CCFC}"/>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Score = likelihood × impact. Scores support judgement, not a monetary loss estimate.</a:t>
            </a:r>
          </a:p>
        </p:txBody>
      </p:sp>
    </p:spTree>
    <p:extLst>
      <p:ext uri="{BB962C8B-B14F-4D97-AF65-F5344CB8AC3E}">
        <p14:creationId xmlns:p14="http://schemas.microsoft.com/office/powerpoint/2010/main" val="1268674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6" name="section-reference">
            <a:extLst>
              <a:ext uri="{FF2B5EF4-FFF2-40B4-BE49-F238E27FC236}">
                <a16:creationId xmlns:a16="http://schemas.microsoft.com/office/drawing/2014/main" id="{7B694874-D054-4207-9C0B-25CF3F49CF6A}"/>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1.5</a:t>
            </a:r>
          </a:p>
        </p:txBody>
      </p:sp>
      <p:sp>
        <p:nvSpPr>
          <p:cNvPr id="2" name="slide-title">
            <a:extLst>
              <a:ext uri="{FF2B5EF4-FFF2-40B4-BE49-F238E27FC236}">
                <a16:creationId xmlns:a16="http://schemas.microsoft.com/office/drawing/2014/main" id="{8FF77F15-006B-4064-9BEE-88CA2D4F7435}"/>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Operating working capital requirement</a:t>
            </a:r>
          </a:p>
        </p:txBody>
      </p:sp>
      <p:sp>
        <p:nvSpPr>
          <p:cNvPr id="3" name="slide-number">
            <a:extLst>
              <a:ext uri="{FF2B5EF4-FFF2-40B4-BE49-F238E27FC236}">
                <a16:creationId xmlns:a16="http://schemas.microsoft.com/office/drawing/2014/main" id="{AF2DE21D-8B5A-484C-83AA-38A060145804}"/>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21</a:t>
            </a:r>
          </a:p>
        </p:txBody>
      </p:sp>
      <p:sp>
        <p:nvSpPr>
          <p:cNvPr id="4" name="explanation">
            <a:extLst>
              <a:ext uri="{FF2B5EF4-FFF2-40B4-BE49-F238E27FC236}">
                <a16:creationId xmlns:a16="http://schemas.microsoft.com/office/drawing/2014/main" id="{BA27E4BC-9AFF-4E75-BFD2-C401319FAA49}"/>
              </a:ext>
            </a:extLst>
          </p:cNvPr>
          <p:cNvSpPr>
            <a:spLocks noGrp="1"/>
          </p:cNvSpPr>
          <p:nvPr/>
        </p:nvSpPr>
        <p:spPr>
          <a:xfrm>
            <a:off x="609600" y="1714500"/>
            <a:ext cx="10972800" cy="466725"/>
          </a:xfrm>
          <a:prstGeom prst="rect">
            <a:avLst/>
          </a:prstGeom>
          <a:noFill/>
          <a:ln w="0">
            <a:noFill/>
            <a:prstDash val="solid"/>
          </a:ln>
        </p:spPr>
        <p:txBody>
          <a:bodyPr wrap="square" lIns="0" tIns="0" rIns="0" bIns="0" anchor="t">
            <a:noAutofit/>
          </a:bodyPr>
          <a:lstStyle>
            <a:defPPr algn="l">
              <a:defRPr sz="2100" b="0">
                <a:solidFill>
                  <a:srgbClr val="5B6D77"/>
                </a:solidFill>
                <a:latin typeface="Aptos"/>
                <a:ea typeface="Aptos"/>
                <a:cs typeface="Aptos"/>
              </a:defRPr>
            </a:defPPr>
          </a:lstStyle>
          <a:p>
            <a:pPr algn="l">
              <a:defRPr sz="2100" b="0">
                <a:solidFill>
                  <a:srgbClr val="5B6D77"/>
                </a:solidFill>
                <a:latin typeface="Aptos"/>
                <a:ea typeface="Aptos"/>
                <a:cs typeface="Aptos"/>
              </a:defRPr>
            </a:pPr>
            <a:r>
              <a:rPr sz="2100" b="0">
                <a:solidFill>
                  <a:srgbClr val="5B6D77"/>
                </a:solidFill>
                <a:latin typeface="Aptos"/>
                <a:ea typeface="Aptos"/>
                <a:cs typeface="Aptos"/>
              </a:rPr>
              <a:t>Operating working capital requirement (WCR)</a:t>
            </a:r>
          </a:p>
        </p:txBody>
      </p:sp>
      <p:sp>
        <p:nvSpPr>
          <p:cNvPr id="5" name="explanation">
            <a:extLst>
              <a:ext uri="{FF2B5EF4-FFF2-40B4-BE49-F238E27FC236}">
                <a16:creationId xmlns:a16="http://schemas.microsoft.com/office/drawing/2014/main" id="{81393C81-A497-4B3A-8B42-E35B0B0C7087}"/>
              </a:ext>
            </a:extLst>
          </p:cNvPr>
          <p:cNvSpPr>
            <a:spLocks noGrp="1"/>
          </p:cNvSpPr>
          <p:nvPr/>
        </p:nvSpPr>
        <p:spPr>
          <a:xfrm>
            <a:off x="609600" y="2590800"/>
            <a:ext cx="10972800" cy="762000"/>
          </a:xfrm>
          <a:prstGeom prst="rect">
            <a:avLst/>
          </a:prstGeom>
          <a:noFill/>
          <a:ln w="0">
            <a:noFill/>
            <a:prstDash val="solid"/>
          </a:ln>
        </p:spPr>
        <p:txBody>
          <a:bodyPr wrap="square" lIns="0" tIns="0" rIns="0" bIns="0" anchor="t">
            <a:noAutofit/>
          </a:bodyPr>
          <a:lstStyle>
            <a:defPPr algn="l">
              <a:defRPr sz="3225" b="1">
                <a:solidFill>
                  <a:srgbClr val="087F83"/>
                </a:solidFill>
                <a:latin typeface="Aptos"/>
                <a:ea typeface="Aptos"/>
                <a:cs typeface="Aptos"/>
              </a:defRPr>
            </a:defPPr>
          </a:lstStyle>
          <a:p>
            <a:pPr algn="l">
              <a:defRPr sz="3225" b="1">
                <a:solidFill>
                  <a:srgbClr val="087F83"/>
                </a:solidFill>
                <a:latin typeface="Aptos"/>
                <a:ea typeface="Aptos"/>
                <a:cs typeface="Aptos"/>
              </a:defRPr>
            </a:pPr>
            <a:r>
              <a:rPr sz="3225" b="1">
                <a:solidFill>
                  <a:srgbClr val="087F83"/>
                </a:solidFill>
                <a:latin typeface="Aptos"/>
                <a:ea typeface="Aptos"/>
                <a:cs typeface="Aptos"/>
              </a:rPr>
              <a:t>WCR  =  Inventory  +  Receivables  −  Payables</a:t>
            </a:r>
          </a:p>
        </p:txBody>
      </p:sp>
      <p:sp>
        <p:nvSpPr>
          <p:cNvPr id="6" name="explanation">
            <a:extLst>
              <a:ext uri="{FF2B5EF4-FFF2-40B4-BE49-F238E27FC236}">
                <a16:creationId xmlns:a16="http://schemas.microsoft.com/office/drawing/2014/main" id="{3D718E84-274F-4AF2-BA52-103DF1952CFC}"/>
              </a:ext>
            </a:extLst>
          </p:cNvPr>
          <p:cNvSpPr>
            <a:spLocks noGrp="1"/>
          </p:cNvSpPr>
          <p:nvPr/>
        </p:nvSpPr>
        <p:spPr>
          <a:xfrm>
            <a:off x="609600" y="3762375"/>
            <a:ext cx="2524125" cy="723900"/>
          </a:xfrm>
          <a:prstGeom prst="rect">
            <a:avLst/>
          </a:prstGeom>
          <a:noFill/>
          <a:ln w="0">
            <a:noFill/>
            <a:prstDash val="solid"/>
          </a:ln>
        </p:spPr>
        <p:txBody>
          <a:bodyPr wrap="square" lIns="0" tIns="0" rIns="0" bIns="0" anchor="t">
            <a:noAutofit/>
          </a:bodyPr>
          <a:lstStyle>
            <a:defPPr algn="l">
              <a:defRPr sz="3900" b="1">
                <a:solidFill>
                  <a:srgbClr val="19313F"/>
                </a:solidFill>
                <a:latin typeface="Aptos"/>
                <a:ea typeface="Aptos"/>
                <a:cs typeface="Aptos"/>
              </a:defRPr>
            </a:defPPr>
          </a:lstStyle>
          <a:p>
            <a:pPr algn="l">
              <a:defRPr sz="3900" b="1">
                <a:solidFill>
                  <a:srgbClr val="19313F"/>
                </a:solidFill>
                <a:latin typeface="Aptos"/>
                <a:ea typeface="Aptos"/>
                <a:cs typeface="Aptos"/>
              </a:defRPr>
            </a:pPr>
            <a:r>
              <a:rPr sz="3900" b="1">
                <a:solidFill>
                  <a:srgbClr val="19313F"/>
                </a:solidFill>
                <a:latin typeface="Aptos"/>
                <a:ea typeface="Aptos"/>
                <a:cs typeface="Aptos"/>
              </a:rPr>
              <a:t>€30m</a:t>
            </a:r>
          </a:p>
        </p:txBody>
      </p:sp>
      <p:sp>
        <p:nvSpPr>
          <p:cNvPr id="7" name="explanation">
            <a:extLst>
              <a:ext uri="{FF2B5EF4-FFF2-40B4-BE49-F238E27FC236}">
                <a16:creationId xmlns:a16="http://schemas.microsoft.com/office/drawing/2014/main" id="{2042DE80-B195-40AA-8BDB-4EB1D808B603}"/>
              </a:ext>
            </a:extLst>
          </p:cNvPr>
          <p:cNvSpPr>
            <a:spLocks noGrp="1"/>
          </p:cNvSpPr>
          <p:nvPr/>
        </p:nvSpPr>
        <p:spPr>
          <a:xfrm>
            <a:off x="609600" y="4562475"/>
            <a:ext cx="252412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Inventory</a:t>
            </a:r>
          </a:p>
        </p:txBody>
      </p:sp>
      <p:sp>
        <p:nvSpPr>
          <p:cNvPr id="8" name="explanation">
            <a:extLst>
              <a:ext uri="{FF2B5EF4-FFF2-40B4-BE49-F238E27FC236}">
                <a16:creationId xmlns:a16="http://schemas.microsoft.com/office/drawing/2014/main" id="{86DE439E-7537-4701-8D89-CFF45FE9F659}"/>
              </a:ext>
            </a:extLst>
          </p:cNvPr>
          <p:cNvSpPr>
            <a:spLocks noGrp="1"/>
          </p:cNvSpPr>
          <p:nvPr/>
        </p:nvSpPr>
        <p:spPr>
          <a:xfrm>
            <a:off x="3381375" y="3762375"/>
            <a:ext cx="2524125" cy="723900"/>
          </a:xfrm>
          <a:prstGeom prst="rect">
            <a:avLst/>
          </a:prstGeom>
          <a:noFill/>
          <a:ln w="0">
            <a:noFill/>
            <a:prstDash val="solid"/>
          </a:ln>
        </p:spPr>
        <p:txBody>
          <a:bodyPr wrap="square" lIns="0" tIns="0" rIns="0" bIns="0" anchor="t">
            <a:noAutofit/>
          </a:bodyPr>
          <a:lstStyle>
            <a:defPPr algn="l">
              <a:defRPr sz="3900" b="1">
                <a:solidFill>
                  <a:srgbClr val="19313F"/>
                </a:solidFill>
                <a:latin typeface="Aptos"/>
                <a:ea typeface="Aptos"/>
                <a:cs typeface="Aptos"/>
              </a:defRPr>
            </a:defPPr>
          </a:lstStyle>
          <a:p>
            <a:pPr algn="l">
              <a:defRPr sz="3900" b="1">
                <a:solidFill>
                  <a:srgbClr val="19313F"/>
                </a:solidFill>
                <a:latin typeface="Aptos"/>
                <a:ea typeface="Aptos"/>
                <a:cs typeface="Aptos"/>
              </a:defRPr>
            </a:pPr>
            <a:r>
              <a:rPr sz="3900" b="1">
                <a:solidFill>
                  <a:srgbClr val="19313F"/>
                </a:solidFill>
                <a:latin typeface="Aptos"/>
                <a:ea typeface="Aptos"/>
                <a:cs typeface="Aptos"/>
              </a:rPr>
              <a:t>€40m</a:t>
            </a:r>
          </a:p>
        </p:txBody>
      </p:sp>
      <p:sp>
        <p:nvSpPr>
          <p:cNvPr id="9" name="explanation">
            <a:extLst>
              <a:ext uri="{FF2B5EF4-FFF2-40B4-BE49-F238E27FC236}">
                <a16:creationId xmlns:a16="http://schemas.microsoft.com/office/drawing/2014/main" id="{5738B9DE-EF9B-4A2C-8A99-FE64121A8622}"/>
              </a:ext>
            </a:extLst>
          </p:cNvPr>
          <p:cNvSpPr>
            <a:spLocks noGrp="1"/>
          </p:cNvSpPr>
          <p:nvPr/>
        </p:nvSpPr>
        <p:spPr>
          <a:xfrm>
            <a:off x="3381375" y="4562475"/>
            <a:ext cx="252412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Receivables</a:t>
            </a:r>
          </a:p>
        </p:txBody>
      </p:sp>
      <p:sp>
        <p:nvSpPr>
          <p:cNvPr id="10" name="explanation">
            <a:extLst>
              <a:ext uri="{FF2B5EF4-FFF2-40B4-BE49-F238E27FC236}">
                <a16:creationId xmlns:a16="http://schemas.microsoft.com/office/drawing/2014/main" id="{F12017B5-FCC1-491E-A178-CE654797D8FC}"/>
              </a:ext>
            </a:extLst>
          </p:cNvPr>
          <p:cNvSpPr>
            <a:spLocks noGrp="1"/>
          </p:cNvSpPr>
          <p:nvPr/>
        </p:nvSpPr>
        <p:spPr>
          <a:xfrm>
            <a:off x="6153150" y="3762375"/>
            <a:ext cx="2524125" cy="723900"/>
          </a:xfrm>
          <a:prstGeom prst="rect">
            <a:avLst/>
          </a:prstGeom>
          <a:noFill/>
          <a:ln w="0">
            <a:noFill/>
            <a:prstDash val="solid"/>
          </a:ln>
        </p:spPr>
        <p:txBody>
          <a:bodyPr wrap="square" lIns="0" tIns="0" rIns="0" bIns="0" anchor="t">
            <a:noAutofit/>
          </a:bodyPr>
          <a:lstStyle>
            <a:defPPr algn="l">
              <a:defRPr sz="3900" b="1">
                <a:solidFill>
                  <a:srgbClr val="19313F"/>
                </a:solidFill>
                <a:latin typeface="Aptos"/>
                <a:ea typeface="Aptos"/>
                <a:cs typeface="Aptos"/>
              </a:defRPr>
            </a:defPPr>
          </a:lstStyle>
          <a:p>
            <a:pPr algn="l">
              <a:defRPr sz="3900" b="1">
                <a:solidFill>
                  <a:srgbClr val="19313F"/>
                </a:solidFill>
                <a:latin typeface="Aptos"/>
                <a:ea typeface="Aptos"/>
                <a:cs typeface="Aptos"/>
              </a:defRPr>
            </a:pPr>
            <a:r>
              <a:rPr sz="3900" b="1">
                <a:solidFill>
                  <a:srgbClr val="19313F"/>
                </a:solidFill>
                <a:latin typeface="Aptos"/>
                <a:ea typeface="Aptos"/>
                <a:cs typeface="Aptos"/>
              </a:rPr>
              <a:t>−€25m</a:t>
            </a:r>
          </a:p>
        </p:txBody>
      </p:sp>
      <p:sp>
        <p:nvSpPr>
          <p:cNvPr id="11" name="explanation">
            <a:extLst>
              <a:ext uri="{FF2B5EF4-FFF2-40B4-BE49-F238E27FC236}">
                <a16:creationId xmlns:a16="http://schemas.microsoft.com/office/drawing/2014/main" id="{2853BAC9-D614-4D43-9563-D830EE3E453B}"/>
              </a:ext>
            </a:extLst>
          </p:cNvPr>
          <p:cNvSpPr>
            <a:spLocks noGrp="1"/>
          </p:cNvSpPr>
          <p:nvPr/>
        </p:nvSpPr>
        <p:spPr>
          <a:xfrm>
            <a:off x="6153150" y="4562475"/>
            <a:ext cx="252412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Trade payables</a:t>
            </a:r>
          </a:p>
        </p:txBody>
      </p:sp>
      <p:sp>
        <p:nvSpPr>
          <p:cNvPr id="12" name="explanation">
            <a:extLst>
              <a:ext uri="{FF2B5EF4-FFF2-40B4-BE49-F238E27FC236}">
                <a16:creationId xmlns:a16="http://schemas.microsoft.com/office/drawing/2014/main" id="{D61342D9-BA3E-4026-883D-F9A5ED1C4440}"/>
              </a:ext>
            </a:extLst>
          </p:cNvPr>
          <p:cNvSpPr>
            <a:spLocks noGrp="1"/>
          </p:cNvSpPr>
          <p:nvPr/>
        </p:nvSpPr>
        <p:spPr>
          <a:xfrm>
            <a:off x="8924925" y="3762375"/>
            <a:ext cx="2619375" cy="723900"/>
          </a:xfrm>
          <a:prstGeom prst="rect">
            <a:avLst/>
          </a:prstGeom>
          <a:noFill/>
          <a:ln w="0">
            <a:noFill/>
            <a:prstDash val="solid"/>
          </a:ln>
        </p:spPr>
        <p:txBody>
          <a:bodyPr wrap="square" lIns="0" tIns="0" rIns="0" bIns="0" anchor="t">
            <a:noAutofit/>
          </a:bodyPr>
          <a:lstStyle>
            <a:defPPr algn="l">
              <a:defRPr sz="3900" b="1">
                <a:solidFill>
                  <a:srgbClr val="087F83"/>
                </a:solidFill>
                <a:latin typeface="Aptos"/>
                <a:ea typeface="Aptos"/>
                <a:cs typeface="Aptos"/>
              </a:defRPr>
            </a:defPPr>
          </a:lstStyle>
          <a:p>
            <a:pPr algn="l">
              <a:defRPr sz="3900" b="1">
                <a:solidFill>
                  <a:srgbClr val="087F83"/>
                </a:solidFill>
                <a:latin typeface="Aptos"/>
                <a:ea typeface="Aptos"/>
                <a:cs typeface="Aptos"/>
              </a:defRPr>
            </a:pPr>
            <a:r>
              <a:rPr sz="3900" b="1">
                <a:solidFill>
                  <a:srgbClr val="087F83"/>
                </a:solidFill>
                <a:latin typeface="Aptos"/>
                <a:ea typeface="Aptos"/>
                <a:cs typeface="Aptos"/>
              </a:rPr>
              <a:t>€45m</a:t>
            </a:r>
          </a:p>
        </p:txBody>
      </p:sp>
      <p:sp>
        <p:nvSpPr>
          <p:cNvPr id="13" name="explanation">
            <a:extLst>
              <a:ext uri="{FF2B5EF4-FFF2-40B4-BE49-F238E27FC236}">
                <a16:creationId xmlns:a16="http://schemas.microsoft.com/office/drawing/2014/main" id="{17CC78DE-0078-4D82-9883-AE7F1FEC1B10}"/>
              </a:ext>
            </a:extLst>
          </p:cNvPr>
          <p:cNvSpPr>
            <a:spLocks noGrp="1"/>
          </p:cNvSpPr>
          <p:nvPr/>
        </p:nvSpPr>
        <p:spPr>
          <a:xfrm>
            <a:off x="8924925" y="4562475"/>
            <a:ext cx="261937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Cash tied up</a:t>
            </a:r>
          </a:p>
        </p:txBody>
      </p:sp>
      <p:sp>
        <p:nvSpPr>
          <p:cNvPr id="14" name="rule">
            <a:extLst>
              <a:ext uri="{FF2B5EF4-FFF2-40B4-BE49-F238E27FC236}">
                <a16:creationId xmlns:a16="http://schemas.microsoft.com/office/drawing/2014/main" id="{5F5F74A6-014B-4E74-A6F6-8EA85901965B}"/>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5" name="decision-implication">
            <a:extLst>
              <a:ext uri="{FF2B5EF4-FFF2-40B4-BE49-F238E27FC236}">
                <a16:creationId xmlns:a16="http://schemas.microsoft.com/office/drawing/2014/main" id="{73BC73CC-10AE-4A55-B35F-4AC97C40DED9}"/>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Here, WCR excludes cash and debt. Accounting net working capital uses a different perimeter.</a:t>
            </a:r>
          </a:p>
        </p:txBody>
      </p:sp>
    </p:spTree>
    <p:extLst>
      <p:ext uri="{BB962C8B-B14F-4D97-AF65-F5344CB8AC3E}">
        <p14:creationId xmlns:p14="http://schemas.microsoft.com/office/powerpoint/2010/main" val="23981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2" name="section-reference">
            <a:extLst>
              <a:ext uri="{FF2B5EF4-FFF2-40B4-BE49-F238E27FC236}">
                <a16:creationId xmlns:a16="http://schemas.microsoft.com/office/drawing/2014/main" id="{8CDA4DA6-1AE3-41F6-8E19-18B2CA1C48CA}"/>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1.5</a:t>
            </a:r>
          </a:p>
        </p:txBody>
      </p:sp>
      <p:sp>
        <p:nvSpPr>
          <p:cNvPr id="2" name="slide-title">
            <a:extLst>
              <a:ext uri="{FF2B5EF4-FFF2-40B4-BE49-F238E27FC236}">
                <a16:creationId xmlns:a16="http://schemas.microsoft.com/office/drawing/2014/main" id="{DF3E7D19-7FC5-4CE2-819A-930DF85AEB23}"/>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Customers pay after suppliers are paid</a:t>
            </a:r>
          </a:p>
        </p:txBody>
      </p:sp>
      <p:sp>
        <p:nvSpPr>
          <p:cNvPr id="3" name="slide-number">
            <a:extLst>
              <a:ext uri="{FF2B5EF4-FFF2-40B4-BE49-F238E27FC236}">
                <a16:creationId xmlns:a16="http://schemas.microsoft.com/office/drawing/2014/main" id="{389177A7-9F52-4E68-9802-E50A43C51BCB}"/>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22</a:t>
            </a:r>
          </a:p>
        </p:txBody>
      </p:sp>
      <p:sp>
        <p:nvSpPr>
          <p:cNvPr id="4" name="explanation">
            <a:extLst>
              <a:ext uri="{FF2B5EF4-FFF2-40B4-BE49-F238E27FC236}">
                <a16:creationId xmlns:a16="http://schemas.microsoft.com/office/drawing/2014/main" id="{BF37EA88-4D7C-4CD5-8445-041BCD96F89F}"/>
              </a:ext>
            </a:extLst>
          </p:cNvPr>
          <p:cNvSpPr>
            <a:spLocks noGrp="1"/>
          </p:cNvSpPr>
          <p:nvPr/>
        </p:nvSpPr>
        <p:spPr>
          <a:xfrm>
            <a:off x="2476500" y="1647825"/>
            <a:ext cx="2381250" cy="314325"/>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Purchase: day 0</a:t>
            </a:r>
          </a:p>
        </p:txBody>
      </p:sp>
      <p:sp>
        <p:nvSpPr>
          <p:cNvPr id="5" name="explanation">
            <a:extLst>
              <a:ext uri="{FF2B5EF4-FFF2-40B4-BE49-F238E27FC236}">
                <a16:creationId xmlns:a16="http://schemas.microsoft.com/office/drawing/2014/main" id="{C4086CB8-00F6-4949-B700-AF0036FEE9DF}"/>
              </a:ext>
            </a:extLst>
          </p:cNvPr>
          <p:cNvSpPr>
            <a:spLocks noGrp="1"/>
          </p:cNvSpPr>
          <p:nvPr/>
        </p:nvSpPr>
        <p:spPr>
          <a:xfrm>
            <a:off x="6972300" y="1647825"/>
            <a:ext cx="2381250" cy="314325"/>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Sale: day 60</a:t>
            </a:r>
          </a:p>
        </p:txBody>
      </p:sp>
      <p:sp>
        <p:nvSpPr>
          <p:cNvPr id="6" name="explanation">
            <a:extLst>
              <a:ext uri="{FF2B5EF4-FFF2-40B4-BE49-F238E27FC236}">
                <a16:creationId xmlns:a16="http://schemas.microsoft.com/office/drawing/2014/main" id="{F59DBBE2-7FB9-4362-9DB6-2DE5775E41BE}"/>
              </a:ext>
            </a:extLst>
          </p:cNvPr>
          <p:cNvSpPr>
            <a:spLocks noGrp="1"/>
          </p:cNvSpPr>
          <p:nvPr/>
        </p:nvSpPr>
        <p:spPr>
          <a:xfrm>
            <a:off x="9048750" y="1647825"/>
            <a:ext cx="2571750" cy="314325"/>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Collection: day 100</a:t>
            </a:r>
          </a:p>
        </p:txBody>
      </p:sp>
      <p:sp>
        <p:nvSpPr>
          <p:cNvPr id="7" name="explanation">
            <a:extLst>
              <a:ext uri="{FF2B5EF4-FFF2-40B4-BE49-F238E27FC236}">
                <a16:creationId xmlns:a16="http://schemas.microsoft.com/office/drawing/2014/main" id="{58005F38-6C6C-40A5-A317-C95B7416AC69}"/>
              </a:ext>
            </a:extLst>
          </p:cNvPr>
          <p:cNvSpPr>
            <a:spLocks noGrp="1"/>
          </p:cNvSpPr>
          <p:nvPr/>
        </p:nvSpPr>
        <p:spPr>
          <a:xfrm>
            <a:off x="609600" y="2286000"/>
            <a:ext cx="1733550" cy="590550"/>
          </a:xfrm>
          <a:prstGeom prst="rect">
            <a:avLst/>
          </a:prstGeom>
          <a:noFill/>
          <a:ln w="0">
            <a:noFill/>
            <a:prstDash val="solid"/>
          </a:ln>
        </p:spPr>
        <p:txBody>
          <a:bodyPr wrap="square" lIns="0" tIns="0" rIns="0" bIns="0" anchor="t">
            <a:noAutofit/>
          </a:bodyPr>
          <a:lstStyle>
            <a:defPPr algn="l">
              <a:defRPr sz="1800" b="1">
                <a:solidFill>
                  <a:srgbClr val="19313F"/>
                </a:solidFill>
                <a:latin typeface="Aptos"/>
                <a:ea typeface="Aptos"/>
                <a:cs typeface="Aptos"/>
              </a:defRPr>
            </a:defPPr>
          </a:lstStyle>
          <a:p>
            <a:pPr algn="l">
              <a:defRPr sz="1800" b="1">
                <a:solidFill>
                  <a:srgbClr val="19313F"/>
                </a:solidFill>
                <a:latin typeface="Aptos"/>
                <a:ea typeface="Aptos"/>
                <a:cs typeface="Aptos"/>
              </a:defRPr>
            </a:pPr>
            <a:r>
              <a:rPr sz="1800" b="1">
                <a:solidFill>
                  <a:srgbClr val="19313F"/>
                </a:solidFill>
                <a:latin typeface="Aptos"/>
                <a:ea typeface="Aptos"/>
                <a:cs typeface="Aptos"/>
              </a:rPr>
              <a:t>Stock held</a:t>
            </a:r>
          </a:p>
        </p:txBody>
      </p:sp>
      <p:sp>
        <p:nvSpPr>
          <p:cNvPr id="8" name="duration-bar">
            <a:extLst>
              <a:ext uri="{FF2B5EF4-FFF2-40B4-BE49-F238E27FC236}">
                <a16:creationId xmlns:a16="http://schemas.microsoft.com/office/drawing/2014/main" id="{732E1061-1DC7-417A-88FF-45D6F6578537}"/>
              </a:ext>
            </a:extLst>
          </p:cNvPr>
          <p:cNvSpPr>
            <a:spLocks noGrp="1"/>
          </p:cNvSpPr>
          <p:nvPr/>
        </p:nvSpPr>
        <p:spPr>
          <a:xfrm>
            <a:off x="2476500" y="2190750"/>
            <a:ext cx="5257800" cy="523875"/>
          </a:xfrm>
          <a:prstGeom prst="rect">
            <a:avLst/>
          </a:prstGeom>
          <a:solidFill>
            <a:srgbClr val="087F83"/>
          </a:solidFill>
          <a:ln w="0">
            <a:noFill/>
            <a:prstDash val="solid"/>
          </a:ln>
        </p:spPr>
        <p:txBody>
          <a:bodyPr/>
          <a:lstStyle/>
          <a:p>
            <a:endParaRPr lang="fr-FR"/>
          </a:p>
        </p:txBody>
      </p:sp>
      <p:sp>
        <p:nvSpPr>
          <p:cNvPr id="9" name="explanation">
            <a:extLst>
              <a:ext uri="{FF2B5EF4-FFF2-40B4-BE49-F238E27FC236}">
                <a16:creationId xmlns:a16="http://schemas.microsoft.com/office/drawing/2014/main" id="{5960B111-7ECA-4525-8585-0A666C9A0044}"/>
              </a:ext>
            </a:extLst>
          </p:cNvPr>
          <p:cNvSpPr>
            <a:spLocks noGrp="1"/>
          </p:cNvSpPr>
          <p:nvPr/>
        </p:nvSpPr>
        <p:spPr>
          <a:xfrm>
            <a:off x="2609850" y="2305050"/>
            <a:ext cx="5048250" cy="381000"/>
          </a:xfrm>
          <a:prstGeom prst="rect">
            <a:avLst/>
          </a:prstGeom>
          <a:noFill/>
          <a:ln w="0">
            <a:noFill/>
            <a:prstDash val="solid"/>
          </a:ln>
        </p:spPr>
        <p:txBody>
          <a:bodyPr wrap="square" lIns="0" tIns="0" rIns="0" bIns="0" anchor="t">
            <a:noAutofit/>
          </a:bodyPr>
          <a:lstStyle>
            <a:defPPr algn="l">
              <a:defRPr sz="1950" b="1">
                <a:solidFill>
                  <a:srgbClr val="FFFFFF"/>
                </a:solidFill>
                <a:latin typeface="Aptos"/>
                <a:ea typeface="Aptos"/>
                <a:cs typeface="Aptos"/>
              </a:defRPr>
            </a:defPPr>
          </a:lstStyle>
          <a:p>
            <a:pPr algn="l">
              <a:defRPr sz="1950" b="1">
                <a:solidFill>
                  <a:srgbClr val="FFFFFF"/>
                </a:solidFill>
                <a:latin typeface="Aptos"/>
                <a:ea typeface="Aptos"/>
                <a:cs typeface="Aptos"/>
              </a:defRPr>
            </a:pPr>
            <a:r>
              <a:rPr sz="1950" b="1">
                <a:solidFill>
                  <a:srgbClr val="FFFFFF"/>
                </a:solidFill>
                <a:latin typeface="Aptos"/>
                <a:ea typeface="Aptos"/>
                <a:cs typeface="Aptos"/>
              </a:rPr>
              <a:t>60 days</a:t>
            </a:r>
          </a:p>
        </p:txBody>
      </p:sp>
      <p:sp>
        <p:nvSpPr>
          <p:cNvPr id="10" name="explanation">
            <a:extLst>
              <a:ext uri="{FF2B5EF4-FFF2-40B4-BE49-F238E27FC236}">
                <a16:creationId xmlns:a16="http://schemas.microsoft.com/office/drawing/2014/main" id="{C64CC3CC-37C1-4A06-8B45-CFE826D99866}"/>
              </a:ext>
            </a:extLst>
          </p:cNvPr>
          <p:cNvSpPr>
            <a:spLocks noGrp="1"/>
          </p:cNvSpPr>
          <p:nvPr/>
        </p:nvSpPr>
        <p:spPr>
          <a:xfrm>
            <a:off x="609600" y="3067050"/>
            <a:ext cx="1733550" cy="590550"/>
          </a:xfrm>
          <a:prstGeom prst="rect">
            <a:avLst/>
          </a:prstGeom>
          <a:noFill/>
          <a:ln w="0">
            <a:noFill/>
            <a:prstDash val="solid"/>
          </a:ln>
        </p:spPr>
        <p:txBody>
          <a:bodyPr wrap="square" lIns="0" tIns="0" rIns="0" bIns="0" anchor="t">
            <a:noAutofit/>
          </a:bodyPr>
          <a:lstStyle>
            <a:defPPr algn="l">
              <a:defRPr sz="1800" b="1">
                <a:solidFill>
                  <a:srgbClr val="19313F"/>
                </a:solidFill>
                <a:latin typeface="Aptos"/>
                <a:ea typeface="Aptos"/>
                <a:cs typeface="Aptos"/>
              </a:defRPr>
            </a:defPPr>
          </a:lstStyle>
          <a:p>
            <a:pPr algn="l">
              <a:defRPr sz="1800" b="1">
                <a:solidFill>
                  <a:srgbClr val="19313F"/>
                </a:solidFill>
                <a:latin typeface="Aptos"/>
                <a:ea typeface="Aptos"/>
                <a:cs typeface="Aptos"/>
              </a:defRPr>
            </a:pPr>
            <a:r>
              <a:rPr sz="1800" b="1">
                <a:solidFill>
                  <a:srgbClr val="19313F"/>
                </a:solidFill>
                <a:latin typeface="Aptos"/>
                <a:ea typeface="Aptos"/>
                <a:cs typeface="Aptos"/>
              </a:rPr>
              <a:t>Collection wait</a:t>
            </a:r>
          </a:p>
        </p:txBody>
      </p:sp>
      <p:sp>
        <p:nvSpPr>
          <p:cNvPr id="11" name="duration-bar">
            <a:extLst>
              <a:ext uri="{FF2B5EF4-FFF2-40B4-BE49-F238E27FC236}">
                <a16:creationId xmlns:a16="http://schemas.microsoft.com/office/drawing/2014/main" id="{A6C9E925-46A4-44AB-B903-1A5856E2E9AF}"/>
              </a:ext>
            </a:extLst>
          </p:cNvPr>
          <p:cNvSpPr>
            <a:spLocks noGrp="1"/>
          </p:cNvSpPr>
          <p:nvPr/>
        </p:nvSpPr>
        <p:spPr>
          <a:xfrm>
            <a:off x="7734300" y="2971800"/>
            <a:ext cx="3505200" cy="523875"/>
          </a:xfrm>
          <a:prstGeom prst="rect">
            <a:avLst/>
          </a:prstGeom>
          <a:solidFill>
            <a:srgbClr val="142D3B"/>
          </a:solidFill>
          <a:ln w="0">
            <a:noFill/>
            <a:prstDash val="solid"/>
          </a:ln>
        </p:spPr>
        <p:txBody>
          <a:bodyPr/>
          <a:lstStyle/>
          <a:p>
            <a:endParaRPr lang="fr-FR"/>
          </a:p>
        </p:txBody>
      </p:sp>
      <p:sp>
        <p:nvSpPr>
          <p:cNvPr id="12" name="explanation">
            <a:extLst>
              <a:ext uri="{FF2B5EF4-FFF2-40B4-BE49-F238E27FC236}">
                <a16:creationId xmlns:a16="http://schemas.microsoft.com/office/drawing/2014/main" id="{19CC5250-2DF4-42D1-829B-335091643461}"/>
              </a:ext>
            </a:extLst>
          </p:cNvPr>
          <p:cNvSpPr>
            <a:spLocks noGrp="1"/>
          </p:cNvSpPr>
          <p:nvPr/>
        </p:nvSpPr>
        <p:spPr>
          <a:xfrm>
            <a:off x="7867650" y="3086100"/>
            <a:ext cx="3295650" cy="381000"/>
          </a:xfrm>
          <a:prstGeom prst="rect">
            <a:avLst/>
          </a:prstGeom>
          <a:noFill/>
          <a:ln w="0">
            <a:noFill/>
            <a:prstDash val="solid"/>
          </a:ln>
        </p:spPr>
        <p:txBody>
          <a:bodyPr wrap="square" lIns="0" tIns="0" rIns="0" bIns="0" anchor="t">
            <a:noAutofit/>
          </a:bodyPr>
          <a:lstStyle>
            <a:defPPr algn="l">
              <a:defRPr sz="1950" b="1">
                <a:solidFill>
                  <a:srgbClr val="FFFFFF"/>
                </a:solidFill>
                <a:latin typeface="Aptos"/>
                <a:ea typeface="Aptos"/>
                <a:cs typeface="Aptos"/>
              </a:defRPr>
            </a:defPPr>
          </a:lstStyle>
          <a:p>
            <a:pPr algn="l">
              <a:defRPr sz="1950" b="1">
                <a:solidFill>
                  <a:srgbClr val="FFFFFF"/>
                </a:solidFill>
                <a:latin typeface="Aptos"/>
                <a:ea typeface="Aptos"/>
                <a:cs typeface="Aptos"/>
              </a:defRPr>
            </a:pPr>
            <a:r>
              <a:rPr sz="1950" b="1">
                <a:solidFill>
                  <a:srgbClr val="FFFFFF"/>
                </a:solidFill>
                <a:latin typeface="Aptos"/>
                <a:ea typeface="Aptos"/>
                <a:cs typeface="Aptos"/>
              </a:rPr>
              <a:t>40 days</a:t>
            </a:r>
          </a:p>
        </p:txBody>
      </p:sp>
      <p:sp>
        <p:nvSpPr>
          <p:cNvPr id="13" name="explanation">
            <a:extLst>
              <a:ext uri="{FF2B5EF4-FFF2-40B4-BE49-F238E27FC236}">
                <a16:creationId xmlns:a16="http://schemas.microsoft.com/office/drawing/2014/main" id="{55BB8A20-08DE-4F73-9D41-6709CB00DB21}"/>
              </a:ext>
            </a:extLst>
          </p:cNvPr>
          <p:cNvSpPr>
            <a:spLocks noGrp="1"/>
          </p:cNvSpPr>
          <p:nvPr/>
        </p:nvSpPr>
        <p:spPr>
          <a:xfrm>
            <a:off x="609600" y="3848100"/>
            <a:ext cx="1733550" cy="590550"/>
          </a:xfrm>
          <a:prstGeom prst="rect">
            <a:avLst/>
          </a:prstGeom>
          <a:noFill/>
          <a:ln w="0">
            <a:noFill/>
            <a:prstDash val="solid"/>
          </a:ln>
        </p:spPr>
        <p:txBody>
          <a:bodyPr wrap="square" lIns="0" tIns="0" rIns="0" bIns="0" anchor="t">
            <a:noAutofit/>
          </a:bodyPr>
          <a:lstStyle>
            <a:defPPr algn="l">
              <a:defRPr sz="1800" b="1">
                <a:solidFill>
                  <a:srgbClr val="19313F"/>
                </a:solidFill>
                <a:latin typeface="Aptos"/>
                <a:ea typeface="Aptos"/>
                <a:cs typeface="Aptos"/>
              </a:defRPr>
            </a:defPPr>
          </a:lstStyle>
          <a:p>
            <a:pPr algn="l">
              <a:defRPr sz="1800" b="1">
                <a:solidFill>
                  <a:srgbClr val="19313F"/>
                </a:solidFill>
                <a:latin typeface="Aptos"/>
                <a:ea typeface="Aptos"/>
                <a:cs typeface="Aptos"/>
              </a:defRPr>
            </a:pPr>
            <a:r>
              <a:rPr sz="1800" b="1">
                <a:solidFill>
                  <a:srgbClr val="19313F"/>
                </a:solidFill>
                <a:latin typeface="Aptos"/>
                <a:ea typeface="Aptos"/>
                <a:cs typeface="Aptos"/>
              </a:rPr>
              <a:t>Supplier credit</a:t>
            </a:r>
          </a:p>
        </p:txBody>
      </p:sp>
      <p:sp>
        <p:nvSpPr>
          <p:cNvPr id="14" name="duration-bar">
            <a:extLst>
              <a:ext uri="{FF2B5EF4-FFF2-40B4-BE49-F238E27FC236}">
                <a16:creationId xmlns:a16="http://schemas.microsoft.com/office/drawing/2014/main" id="{FABA3F29-E283-49E0-B3F0-FDC86B5D745B}"/>
              </a:ext>
            </a:extLst>
          </p:cNvPr>
          <p:cNvSpPr>
            <a:spLocks noGrp="1"/>
          </p:cNvSpPr>
          <p:nvPr/>
        </p:nvSpPr>
        <p:spPr>
          <a:xfrm>
            <a:off x="2476500" y="3752850"/>
            <a:ext cx="6134100" cy="523875"/>
          </a:xfrm>
          <a:prstGeom prst="rect">
            <a:avLst/>
          </a:prstGeom>
          <a:solidFill>
            <a:srgbClr val="DBAE55"/>
          </a:solidFill>
          <a:ln w="0">
            <a:noFill/>
            <a:prstDash val="solid"/>
          </a:ln>
        </p:spPr>
        <p:txBody>
          <a:bodyPr/>
          <a:lstStyle/>
          <a:p>
            <a:endParaRPr lang="fr-FR"/>
          </a:p>
        </p:txBody>
      </p:sp>
      <p:sp>
        <p:nvSpPr>
          <p:cNvPr id="15" name="explanation">
            <a:extLst>
              <a:ext uri="{FF2B5EF4-FFF2-40B4-BE49-F238E27FC236}">
                <a16:creationId xmlns:a16="http://schemas.microsoft.com/office/drawing/2014/main" id="{653A6D29-27FD-4180-A039-887D920F641C}"/>
              </a:ext>
            </a:extLst>
          </p:cNvPr>
          <p:cNvSpPr>
            <a:spLocks noGrp="1"/>
          </p:cNvSpPr>
          <p:nvPr/>
        </p:nvSpPr>
        <p:spPr>
          <a:xfrm>
            <a:off x="2609850" y="3867150"/>
            <a:ext cx="5924550" cy="381000"/>
          </a:xfrm>
          <a:prstGeom prst="rect">
            <a:avLst/>
          </a:prstGeom>
          <a:noFill/>
          <a:ln w="0">
            <a:noFill/>
            <a:prstDash val="solid"/>
          </a:ln>
        </p:spPr>
        <p:txBody>
          <a:bodyPr wrap="square" lIns="0" tIns="0" rIns="0" bIns="0" anchor="t">
            <a:noAutofit/>
          </a:bodyPr>
          <a:lstStyle>
            <a:defPPr algn="l">
              <a:defRPr sz="1950" b="1">
                <a:solidFill>
                  <a:srgbClr val="19313F"/>
                </a:solidFill>
                <a:latin typeface="Aptos"/>
                <a:ea typeface="Aptos"/>
                <a:cs typeface="Aptos"/>
              </a:defRPr>
            </a:defPPr>
          </a:lstStyle>
          <a:p>
            <a:pPr algn="l">
              <a:defRPr sz="1950" b="1">
                <a:solidFill>
                  <a:srgbClr val="19313F"/>
                </a:solidFill>
                <a:latin typeface="Aptos"/>
                <a:ea typeface="Aptos"/>
                <a:cs typeface="Aptos"/>
              </a:defRPr>
            </a:pPr>
            <a:r>
              <a:rPr sz="1950" b="1">
                <a:solidFill>
                  <a:srgbClr val="19313F"/>
                </a:solidFill>
                <a:latin typeface="Aptos"/>
                <a:ea typeface="Aptos"/>
                <a:cs typeface="Aptos"/>
              </a:rPr>
              <a:t>70 days</a:t>
            </a:r>
          </a:p>
        </p:txBody>
      </p:sp>
      <p:sp>
        <p:nvSpPr>
          <p:cNvPr id="16" name="explanation">
            <a:extLst>
              <a:ext uri="{FF2B5EF4-FFF2-40B4-BE49-F238E27FC236}">
                <a16:creationId xmlns:a16="http://schemas.microsoft.com/office/drawing/2014/main" id="{1C7D8DFE-3540-415A-9939-E089BBBFC03E}"/>
              </a:ext>
            </a:extLst>
          </p:cNvPr>
          <p:cNvSpPr>
            <a:spLocks noGrp="1"/>
          </p:cNvSpPr>
          <p:nvPr/>
        </p:nvSpPr>
        <p:spPr>
          <a:xfrm>
            <a:off x="609600" y="4629150"/>
            <a:ext cx="1733550" cy="590550"/>
          </a:xfrm>
          <a:prstGeom prst="rect">
            <a:avLst/>
          </a:prstGeom>
          <a:noFill/>
          <a:ln w="0">
            <a:noFill/>
            <a:prstDash val="solid"/>
          </a:ln>
        </p:spPr>
        <p:txBody>
          <a:bodyPr wrap="square" lIns="0" tIns="0" rIns="0" bIns="0" anchor="t">
            <a:noAutofit/>
          </a:bodyPr>
          <a:lstStyle>
            <a:defPPr algn="l">
              <a:defRPr sz="1800" b="1">
                <a:solidFill>
                  <a:srgbClr val="19313F"/>
                </a:solidFill>
                <a:latin typeface="Aptos"/>
                <a:ea typeface="Aptos"/>
                <a:cs typeface="Aptos"/>
              </a:defRPr>
            </a:defPPr>
          </a:lstStyle>
          <a:p>
            <a:pPr algn="l">
              <a:defRPr sz="1800" b="1">
                <a:solidFill>
                  <a:srgbClr val="19313F"/>
                </a:solidFill>
                <a:latin typeface="Aptos"/>
                <a:ea typeface="Aptos"/>
                <a:cs typeface="Aptos"/>
              </a:defRPr>
            </a:pPr>
            <a:r>
              <a:rPr sz="1800" b="1">
                <a:solidFill>
                  <a:srgbClr val="19313F"/>
                </a:solidFill>
                <a:latin typeface="Aptos"/>
                <a:ea typeface="Aptos"/>
                <a:cs typeface="Aptos"/>
              </a:rPr>
              <a:t>Cash funding gap</a:t>
            </a:r>
          </a:p>
        </p:txBody>
      </p:sp>
      <p:sp>
        <p:nvSpPr>
          <p:cNvPr id="17" name="duration-bar">
            <a:extLst>
              <a:ext uri="{FF2B5EF4-FFF2-40B4-BE49-F238E27FC236}">
                <a16:creationId xmlns:a16="http://schemas.microsoft.com/office/drawing/2014/main" id="{82ECEEF4-5ED6-46D7-BEEF-326A88661372}"/>
              </a:ext>
            </a:extLst>
          </p:cNvPr>
          <p:cNvSpPr>
            <a:spLocks noGrp="1"/>
          </p:cNvSpPr>
          <p:nvPr/>
        </p:nvSpPr>
        <p:spPr>
          <a:xfrm>
            <a:off x="8610600" y="4533900"/>
            <a:ext cx="2628900" cy="523875"/>
          </a:xfrm>
          <a:prstGeom prst="rect">
            <a:avLst/>
          </a:prstGeom>
          <a:solidFill>
            <a:srgbClr val="B4453F"/>
          </a:solidFill>
          <a:ln w="0">
            <a:noFill/>
            <a:prstDash val="solid"/>
          </a:ln>
        </p:spPr>
        <p:txBody>
          <a:bodyPr/>
          <a:lstStyle/>
          <a:p>
            <a:endParaRPr lang="fr-FR"/>
          </a:p>
        </p:txBody>
      </p:sp>
      <p:sp>
        <p:nvSpPr>
          <p:cNvPr id="18" name="explanation">
            <a:extLst>
              <a:ext uri="{FF2B5EF4-FFF2-40B4-BE49-F238E27FC236}">
                <a16:creationId xmlns:a16="http://schemas.microsoft.com/office/drawing/2014/main" id="{B1272D78-1D51-4CD7-BB89-0EB1C4AE9305}"/>
              </a:ext>
            </a:extLst>
          </p:cNvPr>
          <p:cNvSpPr>
            <a:spLocks noGrp="1"/>
          </p:cNvSpPr>
          <p:nvPr/>
        </p:nvSpPr>
        <p:spPr>
          <a:xfrm>
            <a:off x="8743950" y="4648200"/>
            <a:ext cx="2419350" cy="381000"/>
          </a:xfrm>
          <a:prstGeom prst="rect">
            <a:avLst/>
          </a:prstGeom>
          <a:noFill/>
          <a:ln w="0">
            <a:noFill/>
            <a:prstDash val="solid"/>
          </a:ln>
        </p:spPr>
        <p:txBody>
          <a:bodyPr wrap="square" lIns="0" tIns="0" rIns="0" bIns="0" anchor="t">
            <a:noAutofit/>
          </a:bodyPr>
          <a:lstStyle>
            <a:defPPr algn="l">
              <a:defRPr sz="1950" b="1">
                <a:solidFill>
                  <a:srgbClr val="FFFFFF"/>
                </a:solidFill>
                <a:latin typeface="Aptos"/>
                <a:ea typeface="Aptos"/>
                <a:cs typeface="Aptos"/>
              </a:defRPr>
            </a:defPPr>
          </a:lstStyle>
          <a:p>
            <a:pPr algn="l">
              <a:defRPr sz="1950" b="1">
                <a:solidFill>
                  <a:srgbClr val="FFFFFF"/>
                </a:solidFill>
                <a:latin typeface="Aptos"/>
                <a:ea typeface="Aptos"/>
                <a:cs typeface="Aptos"/>
              </a:defRPr>
            </a:pPr>
            <a:r>
              <a:rPr sz="1950" b="1">
                <a:solidFill>
                  <a:srgbClr val="FFFFFF"/>
                </a:solidFill>
                <a:latin typeface="Aptos"/>
                <a:ea typeface="Aptos"/>
                <a:cs typeface="Aptos"/>
              </a:rPr>
              <a:t>30 days</a:t>
            </a:r>
          </a:p>
        </p:txBody>
      </p:sp>
      <p:sp>
        <p:nvSpPr>
          <p:cNvPr id="19" name="explanation">
            <a:extLst>
              <a:ext uri="{FF2B5EF4-FFF2-40B4-BE49-F238E27FC236}">
                <a16:creationId xmlns:a16="http://schemas.microsoft.com/office/drawing/2014/main" id="{02B1DEF9-60B8-4132-91E0-CD8172F2A44F}"/>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Buy on day 0, sell on day 60, pay the supplier on day 70, collect from the customer on day 100.</a:t>
            </a:r>
          </a:p>
        </p:txBody>
      </p:sp>
      <p:sp>
        <p:nvSpPr>
          <p:cNvPr id="20" name="rule">
            <a:extLst>
              <a:ext uri="{FF2B5EF4-FFF2-40B4-BE49-F238E27FC236}">
                <a16:creationId xmlns:a16="http://schemas.microsoft.com/office/drawing/2014/main" id="{F9522456-0158-409A-840D-4D5142F4ACB2}"/>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21" name="decision-implication">
            <a:extLst>
              <a:ext uri="{FF2B5EF4-FFF2-40B4-BE49-F238E27FC236}">
                <a16:creationId xmlns:a16="http://schemas.microsoft.com/office/drawing/2014/main" id="{E01E259F-C4C3-4930-A15B-F17689E3C2E4}"/>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Cash must fund days 70 to 100: a 30-day gap. Chapter 2 turns this timeline into days ratios.</a:t>
            </a:r>
          </a:p>
        </p:txBody>
      </p:sp>
    </p:spTree>
    <p:extLst>
      <p:ext uri="{BB962C8B-B14F-4D97-AF65-F5344CB8AC3E}">
        <p14:creationId xmlns:p14="http://schemas.microsoft.com/office/powerpoint/2010/main" val="1414529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7" name="section-reference">
            <a:extLst>
              <a:ext uri="{FF2B5EF4-FFF2-40B4-BE49-F238E27FC236}">
                <a16:creationId xmlns:a16="http://schemas.microsoft.com/office/drawing/2014/main" id="{E87848DE-CFD8-48F2-A3EE-DC072929AD78}"/>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1.5</a:t>
            </a:r>
          </a:p>
        </p:txBody>
      </p:sp>
      <p:sp>
        <p:nvSpPr>
          <p:cNvPr id="2" name="slide-title">
            <a:extLst>
              <a:ext uri="{FF2B5EF4-FFF2-40B4-BE49-F238E27FC236}">
                <a16:creationId xmlns:a16="http://schemas.microsoft.com/office/drawing/2014/main" id="{38E12A63-75D8-4327-9995-45CF118F4322}"/>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Debt and interest capacity</a:t>
            </a:r>
          </a:p>
        </p:txBody>
      </p:sp>
      <p:sp>
        <p:nvSpPr>
          <p:cNvPr id="3" name="slide-number">
            <a:extLst>
              <a:ext uri="{FF2B5EF4-FFF2-40B4-BE49-F238E27FC236}">
                <a16:creationId xmlns:a16="http://schemas.microsoft.com/office/drawing/2014/main" id="{C4E21506-73EF-4504-8A69-CFD12ADD633A}"/>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23</a:t>
            </a:r>
          </a:p>
        </p:txBody>
      </p:sp>
      <p:sp>
        <p:nvSpPr>
          <p:cNvPr id="4" name="explanation">
            <a:extLst>
              <a:ext uri="{FF2B5EF4-FFF2-40B4-BE49-F238E27FC236}">
                <a16:creationId xmlns:a16="http://schemas.microsoft.com/office/drawing/2014/main" id="{A1BCD5B2-A609-4178-A162-40A4F3B9F561}"/>
              </a:ext>
            </a:extLst>
          </p:cNvPr>
          <p:cNvSpPr>
            <a:spLocks noGrp="1"/>
          </p:cNvSpPr>
          <p:nvPr/>
        </p:nvSpPr>
        <p:spPr>
          <a:xfrm>
            <a:off x="609600" y="1809750"/>
            <a:ext cx="4953000" cy="43815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defRPr sz="2025" b="1">
                <a:solidFill>
                  <a:srgbClr val="087F83"/>
                </a:solidFill>
                <a:latin typeface="Aptos"/>
                <a:ea typeface="Aptos"/>
                <a:cs typeface="Aptos"/>
              </a:defRPr>
            </a:pPr>
            <a:r>
              <a:rPr sz="2025" b="1" dirty="0">
                <a:solidFill>
                  <a:srgbClr val="087F83"/>
                </a:solidFill>
                <a:latin typeface="Aptos"/>
                <a:ea typeface="Aptos"/>
                <a:cs typeface="Aptos"/>
              </a:rPr>
              <a:t>Leverage</a:t>
            </a:r>
            <a:r>
              <a:rPr lang="fr-FR" sz="2025" b="1" dirty="0">
                <a:solidFill>
                  <a:srgbClr val="087F83"/>
                </a:solidFill>
                <a:latin typeface="Aptos"/>
                <a:ea typeface="Aptos"/>
                <a:cs typeface="Aptos"/>
              </a:rPr>
              <a:t> (or </a:t>
            </a:r>
            <a:r>
              <a:rPr lang="fr-FR" sz="2025" b="1" dirty="0">
                <a:solidFill>
                  <a:srgbClr val="087F83"/>
                </a:solidFill>
                <a:latin typeface="Aptos"/>
              </a:rPr>
              <a:t>Net </a:t>
            </a:r>
            <a:r>
              <a:rPr lang="fr-FR" sz="2025" b="1" dirty="0" err="1">
                <a:solidFill>
                  <a:srgbClr val="087F83"/>
                </a:solidFill>
                <a:latin typeface="Aptos"/>
              </a:rPr>
              <a:t>debt</a:t>
            </a:r>
            <a:r>
              <a:rPr lang="fr-FR" sz="2025" b="1" dirty="0">
                <a:solidFill>
                  <a:srgbClr val="087F83"/>
                </a:solidFill>
                <a:latin typeface="Aptos"/>
              </a:rPr>
              <a:t>-to-EBITDA)</a:t>
            </a:r>
            <a:endParaRPr sz="2025" b="1" dirty="0">
              <a:solidFill>
                <a:srgbClr val="087F83"/>
              </a:solidFill>
              <a:latin typeface="Aptos"/>
              <a:ea typeface="Aptos"/>
              <a:cs typeface="Aptos"/>
            </a:endParaRPr>
          </a:p>
        </p:txBody>
      </p:sp>
      <p:sp>
        <p:nvSpPr>
          <p:cNvPr id="5" name="formula-numerator">
            <a:extLst>
              <a:ext uri="{FF2B5EF4-FFF2-40B4-BE49-F238E27FC236}">
                <a16:creationId xmlns:a16="http://schemas.microsoft.com/office/drawing/2014/main" id="{AD24A448-6CFB-4567-82E9-CB35853376D4}"/>
              </a:ext>
            </a:extLst>
          </p:cNvPr>
          <p:cNvSpPr>
            <a:spLocks noGrp="1"/>
          </p:cNvSpPr>
          <p:nvPr/>
        </p:nvSpPr>
        <p:spPr>
          <a:xfrm>
            <a:off x="609600" y="2457450"/>
            <a:ext cx="4667250" cy="457200"/>
          </a:xfrm>
          <a:prstGeom prst="rect">
            <a:avLst/>
          </a:prstGeom>
          <a:noFill/>
          <a:ln w="0">
            <a:noFill/>
            <a:prstDash val="solid"/>
          </a:ln>
        </p:spPr>
        <p:txBody>
          <a:bodyPr wrap="square" lIns="0" tIns="0" rIns="0" bIns="0" anchor="t">
            <a:noAutofit/>
          </a:bodyPr>
          <a:lstStyle>
            <a:defPPr algn="ctr">
              <a:defRPr sz="2550" b="1">
                <a:solidFill>
                  <a:srgbClr val="087F83"/>
                </a:solidFill>
                <a:latin typeface="Aptos"/>
                <a:ea typeface="Aptos"/>
                <a:cs typeface="Aptos"/>
              </a:defRPr>
            </a:defPPr>
          </a:lstStyle>
          <a:p>
            <a:pPr algn="ctr">
              <a:defRPr sz="2550" b="1">
                <a:solidFill>
                  <a:srgbClr val="087F83"/>
                </a:solidFill>
                <a:latin typeface="Aptos"/>
                <a:ea typeface="Aptos"/>
                <a:cs typeface="Aptos"/>
              </a:defRPr>
            </a:pPr>
            <a:r>
              <a:rPr sz="2550" b="1">
                <a:solidFill>
                  <a:srgbClr val="087F83"/>
                </a:solidFill>
                <a:latin typeface="Aptos"/>
                <a:ea typeface="Aptos"/>
                <a:cs typeface="Aptos"/>
              </a:rPr>
              <a:t>Debt − eligible cash</a:t>
            </a:r>
          </a:p>
        </p:txBody>
      </p:sp>
      <p:sp>
        <p:nvSpPr>
          <p:cNvPr id="6" name="rule">
            <a:extLst>
              <a:ext uri="{FF2B5EF4-FFF2-40B4-BE49-F238E27FC236}">
                <a16:creationId xmlns:a16="http://schemas.microsoft.com/office/drawing/2014/main" id="{798831C7-281C-4807-9946-587091503EA4}"/>
              </a:ext>
            </a:extLst>
          </p:cNvPr>
          <p:cNvSpPr>
            <a:spLocks noGrp="1"/>
          </p:cNvSpPr>
          <p:nvPr/>
        </p:nvSpPr>
        <p:spPr>
          <a:xfrm>
            <a:off x="609600" y="2952750"/>
            <a:ext cx="4667250" cy="0"/>
          </a:xfrm>
          <a:prstGeom prst="line">
            <a:avLst/>
          </a:prstGeom>
          <a:noFill/>
          <a:ln w="16193">
            <a:solidFill>
              <a:srgbClr val="087F83"/>
            </a:solidFill>
            <a:prstDash val="solid"/>
          </a:ln>
        </p:spPr>
        <p:txBody>
          <a:bodyPr/>
          <a:lstStyle/>
          <a:p>
            <a:endParaRPr lang="fr-FR"/>
          </a:p>
        </p:txBody>
      </p:sp>
      <p:sp>
        <p:nvSpPr>
          <p:cNvPr id="7" name="formula-denominator">
            <a:extLst>
              <a:ext uri="{FF2B5EF4-FFF2-40B4-BE49-F238E27FC236}">
                <a16:creationId xmlns:a16="http://schemas.microsoft.com/office/drawing/2014/main" id="{9F6C3B57-147F-4368-A935-DEF2131BE259}"/>
              </a:ext>
            </a:extLst>
          </p:cNvPr>
          <p:cNvSpPr>
            <a:spLocks noGrp="1"/>
          </p:cNvSpPr>
          <p:nvPr/>
        </p:nvSpPr>
        <p:spPr>
          <a:xfrm>
            <a:off x="609600" y="3067050"/>
            <a:ext cx="4667250" cy="495300"/>
          </a:xfrm>
          <a:prstGeom prst="rect">
            <a:avLst/>
          </a:prstGeom>
          <a:noFill/>
          <a:ln w="0">
            <a:noFill/>
            <a:prstDash val="solid"/>
          </a:ln>
        </p:spPr>
        <p:txBody>
          <a:bodyPr wrap="square" lIns="0" tIns="0" rIns="0" bIns="0" anchor="t">
            <a:noAutofit/>
          </a:bodyPr>
          <a:lstStyle>
            <a:defPPr algn="ctr">
              <a:defRPr sz="2550" b="1">
                <a:solidFill>
                  <a:srgbClr val="087F83"/>
                </a:solidFill>
                <a:latin typeface="Aptos"/>
                <a:ea typeface="Aptos"/>
                <a:cs typeface="Aptos"/>
              </a:defRPr>
            </a:defPPr>
          </a:lstStyle>
          <a:p>
            <a:pPr algn="ctr">
              <a:defRPr sz="2550" b="1">
                <a:solidFill>
                  <a:srgbClr val="087F83"/>
                </a:solidFill>
                <a:latin typeface="Aptos"/>
                <a:ea typeface="Aptos"/>
                <a:cs typeface="Aptos"/>
              </a:defRPr>
            </a:pPr>
            <a:r>
              <a:rPr sz="2550" b="1">
                <a:solidFill>
                  <a:srgbClr val="087F83"/>
                </a:solidFill>
                <a:latin typeface="Aptos"/>
                <a:ea typeface="Aptos"/>
                <a:cs typeface="Aptos"/>
              </a:rPr>
              <a:t>EBITDA</a:t>
            </a:r>
          </a:p>
        </p:txBody>
      </p:sp>
      <p:sp>
        <p:nvSpPr>
          <p:cNvPr id="8" name="explanation">
            <a:extLst>
              <a:ext uri="{FF2B5EF4-FFF2-40B4-BE49-F238E27FC236}">
                <a16:creationId xmlns:a16="http://schemas.microsoft.com/office/drawing/2014/main" id="{DA97171E-D92E-4B15-8B6E-8DDEDBC2FEDA}"/>
              </a:ext>
            </a:extLst>
          </p:cNvPr>
          <p:cNvSpPr>
            <a:spLocks noGrp="1"/>
          </p:cNvSpPr>
          <p:nvPr/>
        </p:nvSpPr>
        <p:spPr>
          <a:xfrm>
            <a:off x="609600" y="4219575"/>
            <a:ext cx="5048250" cy="685800"/>
          </a:xfrm>
          <a:prstGeom prst="rect">
            <a:avLst/>
          </a:prstGeom>
          <a:noFill/>
          <a:ln w="0">
            <a:noFill/>
            <a:prstDash val="solid"/>
          </a:ln>
        </p:spPr>
        <p:txBody>
          <a:bodyPr wrap="square" lIns="0" tIns="0" rIns="0" bIns="0" anchor="t">
            <a:noAutofit/>
          </a:bodyPr>
          <a:lstStyle>
            <a:defPPr algn="l">
              <a:defRPr sz="2625" b="1">
                <a:solidFill>
                  <a:srgbClr val="19313F"/>
                </a:solidFill>
                <a:latin typeface="Aptos"/>
                <a:ea typeface="Aptos"/>
                <a:cs typeface="Aptos"/>
              </a:defRPr>
            </a:defPPr>
          </a:lstStyle>
          <a:p>
            <a:pPr algn="l">
              <a:defRPr sz="2625" b="1">
                <a:solidFill>
                  <a:srgbClr val="19313F"/>
                </a:solidFill>
                <a:latin typeface="Aptos"/>
                <a:ea typeface="Aptos"/>
                <a:cs typeface="Aptos"/>
              </a:defRPr>
            </a:pPr>
            <a:r>
              <a:rPr sz="2625" b="1">
                <a:solidFill>
                  <a:srgbClr val="19313F"/>
                </a:solidFill>
                <a:latin typeface="Aptos"/>
                <a:ea typeface="Aptos"/>
                <a:cs typeface="Aptos"/>
              </a:rPr>
              <a:t>(90 − 15) / 25 = 3.0×</a:t>
            </a:r>
          </a:p>
        </p:txBody>
      </p:sp>
      <p:sp>
        <p:nvSpPr>
          <p:cNvPr id="9" name="explanation">
            <a:extLst>
              <a:ext uri="{FF2B5EF4-FFF2-40B4-BE49-F238E27FC236}">
                <a16:creationId xmlns:a16="http://schemas.microsoft.com/office/drawing/2014/main" id="{C0BCA4B7-2B07-4D98-9CD8-B49E2938ACB1}"/>
              </a:ext>
            </a:extLst>
          </p:cNvPr>
          <p:cNvSpPr>
            <a:spLocks noGrp="1"/>
          </p:cNvSpPr>
          <p:nvPr/>
        </p:nvSpPr>
        <p:spPr>
          <a:xfrm>
            <a:off x="6438900" y="1809750"/>
            <a:ext cx="5143500" cy="43815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Interest coverage</a:t>
            </a:r>
          </a:p>
        </p:txBody>
      </p:sp>
      <p:sp>
        <p:nvSpPr>
          <p:cNvPr id="10" name="formula-numerator">
            <a:extLst>
              <a:ext uri="{FF2B5EF4-FFF2-40B4-BE49-F238E27FC236}">
                <a16:creationId xmlns:a16="http://schemas.microsoft.com/office/drawing/2014/main" id="{732367E8-35A8-4BE8-8945-29303137622A}"/>
              </a:ext>
            </a:extLst>
          </p:cNvPr>
          <p:cNvSpPr>
            <a:spLocks noGrp="1"/>
          </p:cNvSpPr>
          <p:nvPr/>
        </p:nvSpPr>
        <p:spPr>
          <a:xfrm>
            <a:off x="6438900" y="2457450"/>
            <a:ext cx="4667250" cy="457200"/>
          </a:xfrm>
          <a:prstGeom prst="rect">
            <a:avLst/>
          </a:prstGeom>
          <a:noFill/>
          <a:ln w="0">
            <a:noFill/>
            <a:prstDash val="solid"/>
          </a:ln>
        </p:spPr>
        <p:txBody>
          <a:bodyPr wrap="square" lIns="0" tIns="0" rIns="0" bIns="0" anchor="t">
            <a:noAutofit/>
          </a:bodyPr>
          <a:lstStyle>
            <a:defPPr algn="ctr">
              <a:defRPr sz="2550" b="1">
                <a:solidFill>
                  <a:srgbClr val="087F83"/>
                </a:solidFill>
                <a:latin typeface="Aptos"/>
                <a:ea typeface="Aptos"/>
                <a:cs typeface="Aptos"/>
              </a:defRPr>
            </a:defPPr>
          </a:lstStyle>
          <a:p>
            <a:pPr algn="ctr">
              <a:defRPr sz="2550" b="1">
                <a:solidFill>
                  <a:srgbClr val="087F83"/>
                </a:solidFill>
                <a:latin typeface="Aptos"/>
                <a:ea typeface="Aptos"/>
                <a:cs typeface="Aptos"/>
              </a:defRPr>
            </a:pPr>
            <a:r>
              <a:rPr sz="2550" b="1">
                <a:solidFill>
                  <a:srgbClr val="087F83"/>
                </a:solidFill>
                <a:latin typeface="Aptos"/>
                <a:ea typeface="Aptos"/>
                <a:cs typeface="Aptos"/>
              </a:rPr>
              <a:t>EBITDA</a:t>
            </a:r>
          </a:p>
        </p:txBody>
      </p:sp>
      <p:sp>
        <p:nvSpPr>
          <p:cNvPr id="11" name="rule">
            <a:extLst>
              <a:ext uri="{FF2B5EF4-FFF2-40B4-BE49-F238E27FC236}">
                <a16:creationId xmlns:a16="http://schemas.microsoft.com/office/drawing/2014/main" id="{23FD8334-2D1B-4CEA-A9B3-93616F506E99}"/>
              </a:ext>
            </a:extLst>
          </p:cNvPr>
          <p:cNvSpPr>
            <a:spLocks noGrp="1"/>
          </p:cNvSpPr>
          <p:nvPr/>
        </p:nvSpPr>
        <p:spPr>
          <a:xfrm>
            <a:off x="6438900" y="2952750"/>
            <a:ext cx="4667250" cy="0"/>
          </a:xfrm>
          <a:prstGeom prst="line">
            <a:avLst/>
          </a:prstGeom>
          <a:noFill/>
          <a:ln w="16193">
            <a:solidFill>
              <a:srgbClr val="087F83"/>
            </a:solidFill>
            <a:prstDash val="solid"/>
          </a:ln>
        </p:spPr>
        <p:txBody>
          <a:bodyPr/>
          <a:lstStyle/>
          <a:p>
            <a:endParaRPr lang="fr-FR"/>
          </a:p>
        </p:txBody>
      </p:sp>
      <p:sp>
        <p:nvSpPr>
          <p:cNvPr id="12" name="formula-denominator">
            <a:extLst>
              <a:ext uri="{FF2B5EF4-FFF2-40B4-BE49-F238E27FC236}">
                <a16:creationId xmlns:a16="http://schemas.microsoft.com/office/drawing/2014/main" id="{BABA6A10-8F97-4C4C-B605-01CBE252B184}"/>
              </a:ext>
            </a:extLst>
          </p:cNvPr>
          <p:cNvSpPr>
            <a:spLocks noGrp="1"/>
          </p:cNvSpPr>
          <p:nvPr/>
        </p:nvSpPr>
        <p:spPr>
          <a:xfrm>
            <a:off x="6438900" y="3067050"/>
            <a:ext cx="4667250" cy="495300"/>
          </a:xfrm>
          <a:prstGeom prst="rect">
            <a:avLst/>
          </a:prstGeom>
          <a:noFill/>
          <a:ln w="0">
            <a:noFill/>
            <a:prstDash val="solid"/>
          </a:ln>
        </p:spPr>
        <p:txBody>
          <a:bodyPr wrap="square" lIns="0" tIns="0" rIns="0" bIns="0" anchor="t">
            <a:noAutofit/>
          </a:bodyPr>
          <a:lstStyle>
            <a:defPPr algn="ctr">
              <a:defRPr sz="2550" b="1">
                <a:solidFill>
                  <a:srgbClr val="087F83"/>
                </a:solidFill>
                <a:latin typeface="Aptos"/>
                <a:ea typeface="Aptos"/>
                <a:cs typeface="Aptos"/>
              </a:defRPr>
            </a:defPPr>
          </a:lstStyle>
          <a:p>
            <a:pPr algn="ctr">
              <a:defRPr sz="2550" b="1">
                <a:solidFill>
                  <a:srgbClr val="087F83"/>
                </a:solidFill>
                <a:latin typeface="Aptos"/>
                <a:ea typeface="Aptos"/>
                <a:cs typeface="Aptos"/>
              </a:defRPr>
            </a:pPr>
            <a:r>
              <a:rPr sz="2550" b="1">
                <a:solidFill>
                  <a:srgbClr val="087F83"/>
                </a:solidFill>
                <a:latin typeface="Aptos"/>
                <a:ea typeface="Aptos"/>
                <a:cs typeface="Aptos"/>
              </a:rPr>
              <a:t>Annual interest</a:t>
            </a:r>
          </a:p>
        </p:txBody>
      </p:sp>
      <p:sp>
        <p:nvSpPr>
          <p:cNvPr id="13" name="explanation">
            <a:extLst>
              <a:ext uri="{FF2B5EF4-FFF2-40B4-BE49-F238E27FC236}">
                <a16:creationId xmlns:a16="http://schemas.microsoft.com/office/drawing/2014/main" id="{532438FF-B658-43BF-A45B-95CC70DCB353}"/>
              </a:ext>
            </a:extLst>
          </p:cNvPr>
          <p:cNvSpPr>
            <a:spLocks noGrp="1"/>
          </p:cNvSpPr>
          <p:nvPr/>
        </p:nvSpPr>
        <p:spPr>
          <a:xfrm>
            <a:off x="6438900" y="4219575"/>
            <a:ext cx="5048250" cy="685800"/>
          </a:xfrm>
          <a:prstGeom prst="rect">
            <a:avLst/>
          </a:prstGeom>
          <a:noFill/>
          <a:ln w="0">
            <a:noFill/>
            <a:prstDash val="solid"/>
          </a:ln>
        </p:spPr>
        <p:txBody>
          <a:bodyPr wrap="square" lIns="0" tIns="0" rIns="0" bIns="0" anchor="t">
            <a:noAutofit/>
          </a:bodyPr>
          <a:lstStyle>
            <a:defPPr algn="l">
              <a:defRPr sz="2625" b="1">
                <a:solidFill>
                  <a:srgbClr val="19313F"/>
                </a:solidFill>
                <a:latin typeface="Aptos"/>
                <a:ea typeface="Aptos"/>
                <a:cs typeface="Aptos"/>
              </a:defRPr>
            </a:defPPr>
          </a:lstStyle>
          <a:p>
            <a:pPr algn="l">
              <a:defRPr sz="2625" b="1">
                <a:solidFill>
                  <a:srgbClr val="19313F"/>
                </a:solidFill>
                <a:latin typeface="Aptos"/>
                <a:ea typeface="Aptos"/>
                <a:cs typeface="Aptos"/>
              </a:defRPr>
            </a:pPr>
            <a:r>
              <a:rPr sz="2625" b="1">
                <a:solidFill>
                  <a:srgbClr val="19313F"/>
                </a:solidFill>
                <a:latin typeface="Aptos"/>
                <a:ea typeface="Aptos"/>
                <a:cs typeface="Aptos"/>
              </a:rPr>
              <a:t>25 / 5 = 5.0×</a:t>
            </a:r>
          </a:p>
        </p:txBody>
      </p:sp>
      <p:sp>
        <p:nvSpPr>
          <p:cNvPr id="14" name="explanation">
            <a:extLst>
              <a:ext uri="{FF2B5EF4-FFF2-40B4-BE49-F238E27FC236}">
                <a16:creationId xmlns:a16="http://schemas.microsoft.com/office/drawing/2014/main" id="{C782790A-C87F-4292-B031-CF9A6DF2E1EF}"/>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Leverage is not “years to repay”: EBITDA excludes taxes, capex, WCR and interest.</a:t>
            </a:r>
          </a:p>
        </p:txBody>
      </p:sp>
      <p:sp>
        <p:nvSpPr>
          <p:cNvPr id="15" name="rule">
            <a:extLst>
              <a:ext uri="{FF2B5EF4-FFF2-40B4-BE49-F238E27FC236}">
                <a16:creationId xmlns:a16="http://schemas.microsoft.com/office/drawing/2014/main" id="{7CA3CD91-86D7-42C2-B403-2114B5143EF9}"/>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6" name="decision-implication">
            <a:extLst>
              <a:ext uri="{FF2B5EF4-FFF2-40B4-BE49-F238E27FC236}">
                <a16:creationId xmlns:a16="http://schemas.microsoft.com/office/drawing/2014/main" id="{6F082D5B-1738-435A-A6D2-9A132D670607}"/>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These earnings ratios do not include every repayment cash requirement.</a:t>
            </a:r>
          </a:p>
        </p:txBody>
      </p:sp>
    </p:spTree>
    <p:extLst>
      <p:ext uri="{BB962C8B-B14F-4D97-AF65-F5344CB8AC3E}">
        <p14:creationId xmlns:p14="http://schemas.microsoft.com/office/powerpoint/2010/main" val="13318821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9" name="section-reference">
            <a:extLst>
              <a:ext uri="{FF2B5EF4-FFF2-40B4-BE49-F238E27FC236}">
                <a16:creationId xmlns:a16="http://schemas.microsoft.com/office/drawing/2014/main" id="{A6DFBBCD-3E2D-4FD1-9438-4111C65FE4CC}"/>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1.5</a:t>
            </a:r>
          </a:p>
        </p:txBody>
      </p:sp>
      <p:sp>
        <p:nvSpPr>
          <p:cNvPr id="2" name="slide-title">
            <a:extLst>
              <a:ext uri="{FF2B5EF4-FFF2-40B4-BE49-F238E27FC236}">
                <a16:creationId xmlns:a16="http://schemas.microsoft.com/office/drawing/2014/main" id="{ABA49E4E-6B93-4541-8B65-AD00ABBB51B7}"/>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A payment gap needs an executable response</a:t>
            </a:r>
          </a:p>
        </p:txBody>
      </p:sp>
      <p:sp>
        <p:nvSpPr>
          <p:cNvPr id="3" name="slide-number">
            <a:extLst>
              <a:ext uri="{FF2B5EF4-FFF2-40B4-BE49-F238E27FC236}">
                <a16:creationId xmlns:a16="http://schemas.microsoft.com/office/drawing/2014/main" id="{F3745431-7578-4A30-BCF5-1309209F0743}"/>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24</a:t>
            </a:r>
          </a:p>
        </p:txBody>
      </p:sp>
      <p:sp>
        <p:nvSpPr>
          <p:cNvPr id="4" name="explanation">
            <a:extLst>
              <a:ext uri="{FF2B5EF4-FFF2-40B4-BE49-F238E27FC236}">
                <a16:creationId xmlns:a16="http://schemas.microsoft.com/office/drawing/2014/main" id="{FD476F94-82F7-4E28-895D-A99984F46178}"/>
              </a:ext>
            </a:extLst>
          </p:cNvPr>
          <p:cNvSpPr>
            <a:spLocks noGrp="1"/>
          </p:cNvSpPr>
          <p:nvPr/>
        </p:nvSpPr>
        <p:spPr>
          <a:xfrm>
            <a:off x="609600" y="1714500"/>
            <a:ext cx="10906125" cy="619125"/>
          </a:xfrm>
          <a:prstGeom prst="rect">
            <a:avLst/>
          </a:prstGeom>
          <a:noFill/>
          <a:ln w="0">
            <a:noFill/>
            <a:prstDash val="solid"/>
          </a:ln>
        </p:spPr>
        <p:txBody>
          <a:bodyPr wrap="square" lIns="0" tIns="0" rIns="0" bIns="0" anchor="t">
            <a:noAutofit/>
          </a:bodyPr>
          <a:lstStyle>
            <a:defPPr algn="l">
              <a:defRPr sz="2325" b="1">
                <a:solidFill>
                  <a:srgbClr val="19313F"/>
                </a:solidFill>
                <a:latin typeface="Aptos"/>
                <a:ea typeface="Aptos"/>
                <a:cs typeface="Aptos"/>
              </a:defRPr>
            </a:defPPr>
          </a:lstStyle>
          <a:p>
            <a:pPr algn="l">
              <a:defRPr sz="2325" b="1">
                <a:solidFill>
                  <a:srgbClr val="19313F"/>
                </a:solidFill>
                <a:latin typeface="Aptos"/>
                <a:ea typeface="Aptos"/>
                <a:cs typeface="Aptos"/>
              </a:defRPr>
            </a:pPr>
            <a:r>
              <a:rPr sz="2325" b="1">
                <a:solidFill>
                  <a:srgbClr val="19313F"/>
                </a:solidFill>
                <a:latin typeface="Aptos"/>
                <a:ea typeface="Aptos"/>
                <a:cs typeface="Aptos"/>
              </a:rPr>
              <a:t>The outage case asks for a Treasury decision, not only a cash total.</a:t>
            </a:r>
          </a:p>
        </p:txBody>
      </p:sp>
      <p:sp>
        <p:nvSpPr>
          <p:cNvPr id="5" name="explanation">
            <a:extLst>
              <a:ext uri="{FF2B5EF4-FFF2-40B4-BE49-F238E27FC236}">
                <a16:creationId xmlns:a16="http://schemas.microsoft.com/office/drawing/2014/main" id="{44A4111A-5EE8-408C-96C3-D1D9371F38DE}"/>
              </a:ext>
            </a:extLst>
          </p:cNvPr>
          <p:cNvSpPr>
            <a:spLocks noGrp="1"/>
          </p:cNvSpPr>
          <p:nvPr/>
        </p:nvSpPr>
        <p:spPr>
          <a:xfrm>
            <a:off x="609600" y="25050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01</a:t>
            </a:r>
          </a:p>
        </p:txBody>
      </p:sp>
      <p:sp>
        <p:nvSpPr>
          <p:cNvPr id="6" name="explanation">
            <a:extLst>
              <a:ext uri="{FF2B5EF4-FFF2-40B4-BE49-F238E27FC236}">
                <a16:creationId xmlns:a16="http://schemas.microsoft.com/office/drawing/2014/main" id="{BA30117C-F4D3-4017-8A1D-CDDD678F7A42}"/>
              </a:ext>
            </a:extLst>
          </p:cNvPr>
          <p:cNvSpPr>
            <a:spLocks noGrp="1"/>
          </p:cNvSpPr>
          <p:nvPr/>
        </p:nvSpPr>
        <p:spPr>
          <a:xfrm>
            <a:off x="1333500" y="25050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Find the first payment date at risk</a:t>
            </a:r>
          </a:p>
        </p:txBody>
      </p:sp>
      <p:sp>
        <p:nvSpPr>
          <p:cNvPr id="7" name="explanation">
            <a:extLst>
              <a:ext uri="{FF2B5EF4-FFF2-40B4-BE49-F238E27FC236}">
                <a16:creationId xmlns:a16="http://schemas.microsoft.com/office/drawing/2014/main" id="{2445587E-193A-42AD-8064-37EB53733DF4}"/>
              </a:ext>
            </a:extLst>
          </p:cNvPr>
          <p:cNvSpPr>
            <a:spLocks noGrp="1"/>
          </p:cNvSpPr>
          <p:nvPr/>
        </p:nvSpPr>
        <p:spPr>
          <a:xfrm>
            <a:off x="1333500" y="29146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Use the forecast to identify when accessible cash becomes insufficient.</a:t>
            </a:r>
          </a:p>
        </p:txBody>
      </p:sp>
      <p:sp>
        <p:nvSpPr>
          <p:cNvPr id="8" name="rule">
            <a:extLst>
              <a:ext uri="{FF2B5EF4-FFF2-40B4-BE49-F238E27FC236}">
                <a16:creationId xmlns:a16="http://schemas.microsoft.com/office/drawing/2014/main" id="{A2293932-72C6-4947-B223-08C1562334CB}"/>
              </a:ext>
            </a:extLst>
          </p:cNvPr>
          <p:cNvSpPr>
            <a:spLocks noGrp="1"/>
          </p:cNvSpPr>
          <p:nvPr/>
        </p:nvSpPr>
        <p:spPr>
          <a:xfrm>
            <a:off x="1333500" y="3362325"/>
            <a:ext cx="10248900" cy="0"/>
          </a:xfrm>
          <a:prstGeom prst="line">
            <a:avLst/>
          </a:prstGeom>
          <a:noFill/>
          <a:ln w="9525">
            <a:solidFill>
              <a:srgbClr val="CCD6D9"/>
            </a:solidFill>
            <a:prstDash val="solid"/>
          </a:ln>
        </p:spPr>
        <p:txBody>
          <a:bodyPr/>
          <a:lstStyle/>
          <a:p>
            <a:endParaRPr lang="fr-FR"/>
          </a:p>
        </p:txBody>
      </p:sp>
      <p:sp>
        <p:nvSpPr>
          <p:cNvPr id="9" name="explanation">
            <a:extLst>
              <a:ext uri="{FF2B5EF4-FFF2-40B4-BE49-F238E27FC236}">
                <a16:creationId xmlns:a16="http://schemas.microsoft.com/office/drawing/2014/main" id="{95FE01A0-094B-4D04-BCAC-0989D805291E}"/>
              </a:ext>
            </a:extLst>
          </p:cNvPr>
          <p:cNvSpPr>
            <a:spLocks noGrp="1"/>
          </p:cNvSpPr>
          <p:nvPr/>
        </p:nvSpPr>
        <p:spPr>
          <a:xfrm>
            <a:off x="609600" y="34575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02</a:t>
            </a:r>
          </a:p>
        </p:txBody>
      </p:sp>
      <p:sp>
        <p:nvSpPr>
          <p:cNvPr id="10" name="explanation">
            <a:extLst>
              <a:ext uri="{FF2B5EF4-FFF2-40B4-BE49-F238E27FC236}">
                <a16:creationId xmlns:a16="http://schemas.microsoft.com/office/drawing/2014/main" id="{03E1777D-3F7B-4875-B75A-813D8BE1F2FD}"/>
              </a:ext>
            </a:extLst>
          </p:cNvPr>
          <p:cNvSpPr>
            <a:spLocks noGrp="1"/>
          </p:cNvSpPr>
          <p:nvPr/>
        </p:nvSpPr>
        <p:spPr>
          <a:xfrm>
            <a:off x="1333500" y="34575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Check a genuinely drawable funding source</a:t>
            </a:r>
          </a:p>
        </p:txBody>
      </p:sp>
      <p:sp>
        <p:nvSpPr>
          <p:cNvPr id="11" name="explanation">
            <a:extLst>
              <a:ext uri="{FF2B5EF4-FFF2-40B4-BE49-F238E27FC236}">
                <a16:creationId xmlns:a16="http://schemas.microsoft.com/office/drawing/2014/main" id="{41565B86-B79E-495F-BA2C-40EC3AA8803E}"/>
              </a:ext>
            </a:extLst>
          </p:cNvPr>
          <p:cNvSpPr>
            <a:spLocks noGrp="1"/>
          </p:cNvSpPr>
          <p:nvPr/>
        </p:nvSpPr>
        <p:spPr>
          <a:xfrm>
            <a:off x="1333500" y="38671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Confirm the facility, conditions, amount and availability before that date.</a:t>
            </a:r>
          </a:p>
        </p:txBody>
      </p:sp>
      <p:sp>
        <p:nvSpPr>
          <p:cNvPr id="12" name="rule">
            <a:extLst>
              <a:ext uri="{FF2B5EF4-FFF2-40B4-BE49-F238E27FC236}">
                <a16:creationId xmlns:a16="http://schemas.microsoft.com/office/drawing/2014/main" id="{2DDCA972-7EF0-42B7-8AAD-B76CEB45197D}"/>
              </a:ext>
            </a:extLst>
          </p:cNvPr>
          <p:cNvSpPr>
            <a:spLocks noGrp="1"/>
          </p:cNvSpPr>
          <p:nvPr/>
        </p:nvSpPr>
        <p:spPr>
          <a:xfrm>
            <a:off x="1333500" y="4314825"/>
            <a:ext cx="10248900" cy="0"/>
          </a:xfrm>
          <a:prstGeom prst="line">
            <a:avLst/>
          </a:prstGeom>
          <a:noFill/>
          <a:ln w="9525">
            <a:solidFill>
              <a:srgbClr val="CCD6D9"/>
            </a:solidFill>
            <a:prstDash val="solid"/>
          </a:ln>
        </p:spPr>
        <p:txBody>
          <a:bodyPr/>
          <a:lstStyle/>
          <a:p>
            <a:endParaRPr lang="fr-FR"/>
          </a:p>
        </p:txBody>
      </p:sp>
      <p:sp>
        <p:nvSpPr>
          <p:cNvPr id="13" name="explanation">
            <a:extLst>
              <a:ext uri="{FF2B5EF4-FFF2-40B4-BE49-F238E27FC236}">
                <a16:creationId xmlns:a16="http://schemas.microsoft.com/office/drawing/2014/main" id="{6274B177-700E-4573-BF52-76E7FF903728}"/>
              </a:ext>
            </a:extLst>
          </p:cNvPr>
          <p:cNvSpPr>
            <a:spLocks noGrp="1"/>
          </p:cNvSpPr>
          <p:nvPr/>
        </p:nvSpPr>
        <p:spPr>
          <a:xfrm>
            <a:off x="609600" y="44100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03</a:t>
            </a:r>
          </a:p>
        </p:txBody>
      </p:sp>
      <p:sp>
        <p:nvSpPr>
          <p:cNvPr id="14" name="explanation">
            <a:extLst>
              <a:ext uri="{FF2B5EF4-FFF2-40B4-BE49-F238E27FC236}">
                <a16:creationId xmlns:a16="http://schemas.microsoft.com/office/drawing/2014/main" id="{FDC292B5-D5EF-4278-8EBB-C961AFDAEDA9}"/>
              </a:ext>
            </a:extLst>
          </p:cNvPr>
          <p:cNvSpPr>
            <a:spLocks noGrp="1"/>
          </p:cNvSpPr>
          <p:nvPr/>
        </p:nvSpPr>
        <p:spPr>
          <a:xfrm>
            <a:off x="1333500" y="44100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Keep enough cash after the payment</a:t>
            </a:r>
          </a:p>
        </p:txBody>
      </p:sp>
      <p:sp>
        <p:nvSpPr>
          <p:cNvPr id="15" name="explanation">
            <a:extLst>
              <a:ext uri="{FF2B5EF4-FFF2-40B4-BE49-F238E27FC236}">
                <a16:creationId xmlns:a16="http://schemas.microsoft.com/office/drawing/2014/main" id="{6D5BA668-962B-4D4B-B063-73047EBBFAB6}"/>
              </a:ext>
            </a:extLst>
          </p:cNvPr>
          <p:cNvSpPr>
            <a:spLocks noGrp="1"/>
          </p:cNvSpPr>
          <p:nvPr/>
        </p:nvSpPr>
        <p:spPr>
          <a:xfrm>
            <a:off x="1333500" y="4819650"/>
            <a:ext cx="10248900" cy="5238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Retain the operating buffer; date each action and prepare a fallback.</a:t>
            </a:r>
          </a:p>
        </p:txBody>
      </p:sp>
      <p:sp>
        <p:nvSpPr>
          <p:cNvPr id="16" name="explanation">
            <a:extLst>
              <a:ext uri="{FF2B5EF4-FFF2-40B4-BE49-F238E27FC236}">
                <a16:creationId xmlns:a16="http://schemas.microsoft.com/office/drawing/2014/main" id="{6AF647D6-4AC6-4237-8983-4A5B01E9CF95}"/>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Chapter 3 develops the full cash forecast and liquidity headroom calculation.</a:t>
            </a:r>
          </a:p>
        </p:txBody>
      </p:sp>
      <p:sp>
        <p:nvSpPr>
          <p:cNvPr id="17" name="rule">
            <a:extLst>
              <a:ext uri="{FF2B5EF4-FFF2-40B4-BE49-F238E27FC236}">
                <a16:creationId xmlns:a16="http://schemas.microsoft.com/office/drawing/2014/main" id="{E77FCE93-8609-4CE6-8742-5AF88D9DA813}"/>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8" name="decision-implication">
            <a:extLst>
              <a:ext uri="{FF2B5EF4-FFF2-40B4-BE49-F238E27FC236}">
                <a16:creationId xmlns:a16="http://schemas.microsoft.com/office/drawing/2014/main" id="{00F00642-9E67-4CEF-8A89-3AB7CF8A9273}"/>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Cash timing, funding access and the minimum buffer determine what Treasury can commit.</a:t>
            </a:r>
          </a:p>
        </p:txBody>
      </p:sp>
    </p:spTree>
    <p:extLst>
      <p:ext uri="{BB962C8B-B14F-4D97-AF65-F5344CB8AC3E}">
        <p14:creationId xmlns:p14="http://schemas.microsoft.com/office/powerpoint/2010/main" val="1585058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1" name="section-reference">
            <a:extLst>
              <a:ext uri="{FF2B5EF4-FFF2-40B4-BE49-F238E27FC236}">
                <a16:creationId xmlns:a16="http://schemas.microsoft.com/office/drawing/2014/main" id="{1C7CEA98-062E-481A-A412-C3D6DADCB02D}"/>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1.5</a:t>
            </a:r>
          </a:p>
        </p:txBody>
      </p:sp>
      <p:sp>
        <p:nvSpPr>
          <p:cNvPr id="2" name="slide-title">
            <a:extLst>
              <a:ext uri="{FF2B5EF4-FFF2-40B4-BE49-F238E27FC236}">
                <a16:creationId xmlns:a16="http://schemas.microsoft.com/office/drawing/2014/main" id="{C91B1F4A-EEEA-4FFA-8609-96297190D81D}"/>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The outage leaves zero cash and a €3m buffer gap</a:t>
            </a:r>
          </a:p>
        </p:txBody>
      </p:sp>
      <p:sp>
        <p:nvSpPr>
          <p:cNvPr id="3" name="slide-number">
            <a:extLst>
              <a:ext uri="{FF2B5EF4-FFF2-40B4-BE49-F238E27FC236}">
                <a16:creationId xmlns:a16="http://schemas.microsoft.com/office/drawing/2014/main" id="{DC4D96E4-59FB-4785-9F3B-2314A8D45BEB}"/>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25</a:t>
            </a:r>
          </a:p>
        </p:txBody>
      </p:sp>
      <p:graphicFrame>
        <p:nvGraphicFramePr>
          <p:cNvPr id="4" name="Tableau 3">
            <a:extLst>
              <a:ext uri="{FF2B5EF4-FFF2-40B4-BE49-F238E27FC236}">
                <a16:creationId xmlns:a16="http://schemas.microsoft.com/office/drawing/2014/main" id="{534F6515-96ED-4B86-A2B0-B378BB701615}"/>
              </a:ext>
            </a:extLst>
          </p:cNvPr>
          <p:cNvGraphicFramePr/>
          <p:nvPr/>
        </p:nvGraphicFramePr>
        <p:xfrm>
          <a:off x="609600" y="2076450"/>
          <a:ext cx="7239000" cy="2895600"/>
        </p:xfrm>
        <a:graphic>
          <a:graphicData uri="http://schemas.openxmlformats.org/drawingml/2006/table">
            <a:tbl>
              <a:tblPr firstRow="1"/>
              <a:tblGrid>
                <a:gridCol w="3714750">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tblGrid>
              <a:tr h="579120">
                <a:tc>
                  <a:txBody>
                    <a:bodyPr/>
                    <a:lstStyle/>
                    <a:p>
                      <a:pPr algn="l"/>
                      <a:r>
                        <a:rPr sz="1875" b="1">
                          <a:solidFill>
                            <a:srgbClr val="FFFFFF"/>
                          </a:solidFill>
                          <a:latin typeface="Aptos"/>
                          <a:ea typeface="Aptos"/>
                          <a:cs typeface="Aptos"/>
                        </a:rPr>
                        <a:t>Weekly cash, €m</a:t>
                      </a:r>
                    </a:p>
                  </a:txBody>
                  <a:tcPr anchor="ctr">
                    <a:lnL w="6668">
                      <a:solidFill>
                        <a:srgbClr val="CCD6D9"/>
                      </a:solidFill>
                      <a:prstDash val="soli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75" b="1">
                          <a:solidFill>
                            <a:srgbClr val="FFFFFF"/>
                          </a:solidFill>
                          <a:latin typeface="Aptos"/>
                          <a:ea typeface="Aptos"/>
                          <a:cs typeface="Aptos"/>
                        </a:rPr>
                        <a:t>Normal</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75" b="1">
                          <a:solidFill>
                            <a:srgbClr val="FFFFFF"/>
                          </a:solidFill>
                          <a:latin typeface="Aptos"/>
                          <a:ea typeface="Aptos"/>
                          <a:cs typeface="Aptos"/>
                        </a:rPr>
                        <a:t>Outage</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extLst>
                  <a:ext uri="{0D108BD9-81ED-4DB2-BD59-A6C34878D82A}">
                    <a16:rowId xmlns:a16="http://schemas.microsoft.com/office/drawing/2014/main" val="10000"/>
                  </a:ext>
                </a:extLst>
              </a:tr>
              <a:tr h="579120">
                <a:tc>
                  <a:txBody>
                    <a:bodyPr/>
                    <a:lstStyle/>
                    <a:p>
                      <a:pPr algn="l"/>
                      <a:r>
                        <a:rPr sz="1875" b="0">
                          <a:solidFill>
                            <a:srgbClr val="19313F"/>
                          </a:solidFill>
                          <a:latin typeface="Aptos"/>
                          <a:ea typeface="Aptos"/>
                          <a:cs typeface="Aptos"/>
                        </a:rPr>
                        <a:t>Opening cash</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b="0">
                          <a:solidFill>
                            <a:srgbClr val="19313F"/>
                          </a:solidFill>
                          <a:latin typeface="Aptos"/>
                          <a:ea typeface="Aptos"/>
                          <a:cs typeface="Aptos"/>
                        </a:rPr>
                        <a:t>6</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b="0">
                          <a:solidFill>
                            <a:srgbClr val="19313F"/>
                          </a:solidFill>
                          <a:latin typeface="Aptos"/>
                          <a:ea typeface="Aptos"/>
                          <a:cs typeface="Aptos"/>
                        </a:rPr>
                        <a:t>6</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1"/>
                  </a:ext>
                </a:extLst>
              </a:tr>
              <a:tr h="579120">
                <a:tc>
                  <a:txBody>
                    <a:bodyPr/>
                    <a:lstStyle/>
                    <a:p>
                      <a:pPr algn="l"/>
                      <a:r>
                        <a:rPr sz="1875" b="0">
                          <a:solidFill>
                            <a:srgbClr val="19313F"/>
                          </a:solidFill>
                          <a:latin typeface="Aptos"/>
                          <a:ea typeface="Aptos"/>
                          <a:cs typeface="Aptos"/>
                        </a:rPr>
                        <a:t>Customer receipts</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75" b="0">
                          <a:solidFill>
                            <a:srgbClr val="19313F"/>
                          </a:solidFill>
                          <a:latin typeface="Aptos"/>
                          <a:ea typeface="Aptos"/>
                          <a:cs typeface="Aptos"/>
                        </a:rPr>
                        <a:t>6</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75" b="0">
                          <a:solidFill>
                            <a:srgbClr val="19313F"/>
                          </a:solidFill>
                          <a:latin typeface="Aptos"/>
                          <a:ea typeface="Aptos"/>
                          <a:cs typeface="Aptos"/>
                        </a:rPr>
                        <a:t>2</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2"/>
                  </a:ext>
                </a:extLst>
              </a:tr>
              <a:tr h="579120">
                <a:tc>
                  <a:txBody>
                    <a:bodyPr/>
                    <a:lstStyle/>
                    <a:p>
                      <a:pPr algn="l"/>
                      <a:r>
                        <a:rPr sz="1875" b="0">
                          <a:solidFill>
                            <a:srgbClr val="19313F"/>
                          </a:solidFill>
                          <a:latin typeface="Aptos"/>
                          <a:ea typeface="Aptos"/>
                          <a:cs typeface="Aptos"/>
                        </a:rPr>
                        <a:t>Cash payments</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b="0">
                          <a:solidFill>
                            <a:srgbClr val="19313F"/>
                          </a:solidFill>
                          <a:latin typeface="Aptos"/>
                          <a:ea typeface="Aptos"/>
                          <a:cs typeface="Aptos"/>
                        </a:rPr>
                        <a:t>(7)</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75" b="0">
                          <a:solidFill>
                            <a:srgbClr val="19313F"/>
                          </a:solidFill>
                          <a:latin typeface="Aptos"/>
                          <a:ea typeface="Aptos"/>
                          <a:cs typeface="Aptos"/>
                        </a:rPr>
                        <a:t>(8)</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3"/>
                  </a:ext>
                </a:extLst>
              </a:tr>
              <a:tr h="579120">
                <a:tc>
                  <a:txBody>
                    <a:bodyPr/>
                    <a:lstStyle/>
                    <a:p>
                      <a:pPr algn="l"/>
                      <a:r>
                        <a:rPr sz="1875" b="1">
                          <a:solidFill>
                            <a:srgbClr val="087F83"/>
                          </a:solidFill>
                          <a:latin typeface="Aptos"/>
                          <a:ea typeface="Aptos"/>
                          <a:cs typeface="Aptos"/>
                        </a:rPr>
                        <a:t>Closing cash</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DCEEE9"/>
                    </a:solidFill>
                  </a:tcPr>
                </a:tc>
                <a:tc>
                  <a:txBody>
                    <a:bodyPr/>
                    <a:lstStyle/>
                    <a:p>
                      <a:pPr algn="l"/>
                      <a:r>
                        <a:rPr sz="1875" b="1">
                          <a:solidFill>
                            <a:srgbClr val="087F83"/>
                          </a:solidFill>
                          <a:latin typeface="Aptos"/>
                          <a:ea typeface="Aptos"/>
                          <a:cs typeface="Aptos"/>
                        </a:rPr>
                        <a:t>5</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DCEEE9"/>
                    </a:solidFill>
                  </a:tcPr>
                </a:tc>
                <a:tc>
                  <a:txBody>
                    <a:bodyPr/>
                    <a:lstStyle/>
                    <a:p>
                      <a:pPr algn="l"/>
                      <a:r>
                        <a:rPr sz="1875" b="1">
                          <a:solidFill>
                            <a:srgbClr val="087F83"/>
                          </a:solidFill>
                          <a:latin typeface="Aptos"/>
                          <a:ea typeface="Aptos"/>
                          <a:cs typeface="Aptos"/>
                        </a:rPr>
                        <a:t>0</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DCEEE9"/>
                    </a:solidFill>
                  </a:tcPr>
                </a:tc>
                <a:extLst>
                  <a:ext uri="{0D108BD9-81ED-4DB2-BD59-A6C34878D82A}">
                    <a16:rowId xmlns:a16="http://schemas.microsoft.com/office/drawing/2014/main" val="10004"/>
                  </a:ext>
                </a:extLst>
              </a:tr>
            </a:tbl>
          </a:graphicData>
        </a:graphic>
      </p:graphicFrame>
      <p:sp>
        <p:nvSpPr>
          <p:cNvPr id="5" name="explanation">
            <a:extLst>
              <a:ext uri="{FF2B5EF4-FFF2-40B4-BE49-F238E27FC236}">
                <a16:creationId xmlns:a16="http://schemas.microsoft.com/office/drawing/2014/main" id="{954C415D-0C49-4B17-B367-E64B5DD46078}"/>
              </a:ext>
            </a:extLst>
          </p:cNvPr>
          <p:cNvSpPr>
            <a:spLocks noGrp="1"/>
          </p:cNvSpPr>
          <p:nvPr/>
        </p:nvSpPr>
        <p:spPr>
          <a:xfrm>
            <a:off x="8572500" y="2181225"/>
            <a:ext cx="3000375" cy="723900"/>
          </a:xfrm>
          <a:prstGeom prst="rect">
            <a:avLst/>
          </a:prstGeom>
          <a:noFill/>
          <a:ln w="0">
            <a:noFill/>
            <a:prstDash val="solid"/>
          </a:ln>
        </p:spPr>
        <p:txBody>
          <a:bodyPr wrap="square" lIns="0" tIns="0" rIns="0" bIns="0" anchor="t">
            <a:noAutofit/>
          </a:bodyPr>
          <a:lstStyle>
            <a:defPPr algn="l">
              <a:defRPr sz="3900" b="1">
                <a:solidFill>
                  <a:srgbClr val="B4453F"/>
                </a:solidFill>
                <a:latin typeface="Aptos"/>
                <a:ea typeface="Aptos"/>
                <a:cs typeface="Aptos"/>
              </a:defRPr>
            </a:defPPr>
          </a:lstStyle>
          <a:p>
            <a:pPr algn="l">
              <a:defRPr sz="3900" b="1">
                <a:solidFill>
                  <a:srgbClr val="B4453F"/>
                </a:solidFill>
                <a:latin typeface="Aptos"/>
                <a:ea typeface="Aptos"/>
                <a:cs typeface="Aptos"/>
              </a:defRPr>
            </a:pPr>
            <a:r>
              <a:rPr sz="3900" b="1">
                <a:solidFill>
                  <a:srgbClr val="B4453F"/>
                </a:solidFill>
                <a:latin typeface="Aptos"/>
                <a:ea typeface="Aptos"/>
                <a:cs typeface="Aptos"/>
              </a:rPr>
              <a:t>€3m</a:t>
            </a:r>
          </a:p>
        </p:txBody>
      </p:sp>
      <p:sp>
        <p:nvSpPr>
          <p:cNvPr id="6" name="explanation">
            <a:extLst>
              <a:ext uri="{FF2B5EF4-FFF2-40B4-BE49-F238E27FC236}">
                <a16:creationId xmlns:a16="http://schemas.microsoft.com/office/drawing/2014/main" id="{B5411723-B476-48EE-A3D9-B1F4F0E6F3CA}"/>
              </a:ext>
            </a:extLst>
          </p:cNvPr>
          <p:cNvSpPr>
            <a:spLocks noGrp="1"/>
          </p:cNvSpPr>
          <p:nvPr/>
        </p:nvSpPr>
        <p:spPr>
          <a:xfrm>
            <a:off x="8572500" y="2981325"/>
            <a:ext cx="300037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Needed to restore the cash buffer</a:t>
            </a:r>
          </a:p>
        </p:txBody>
      </p:sp>
      <p:sp>
        <p:nvSpPr>
          <p:cNvPr id="7" name="explanation">
            <a:extLst>
              <a:ext uri="{FF2B5EF4-FFF2-40B4-BE49-F238E27FC236}">
                <a16:creationId xmlns:a16="http://schemas.microsoft.com/office/drawing/2014/main" id="{FB1F46DF-E849-49BC-BCB2-B8E7421A746B}"/>
              </a:ext>
            </a:extLst>
          </p:cNvPr>
          <p:cNvSpPr>
            <a:spLocks noGrp="1"/>
          </p:cNvSpPr>
          <p:nvPr/>
        </p:nvSpPr>
        <p:spPr>
          <a:xfrm>
            <a:off x="8572500" y="3733800"/>
            <a:ext cx="3000375" cy="819150"/>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The required reserve is €3m. Closing cash is €0m. Funding needed: €3m − €0m.</a:t>
            </a:r>
          </a:p>
        </p:txBody>
      </p:sp>
      <p:sp>
        <p:nvSpPr>
          <p:cNvPr id="8" name="explanation">
            <a:extLst>
              <a:ext uri="{FF2B5EF4-FFF2-40B4-BE49-F238E27FC236}">
                <a16:creationId xmlns:a16="http://schemas.microsoft.com/office/drawing/2014/main" id="{3FA4B6B0-CF55-497E-8C4C-219306A86872}"/>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Fictional Delta week. €4m of receipts arrive later; incident payments = €7m normal + €1m repair.</a:t>
            </a:r>
          </a:p>
        </p:txBody>
      </p:sp>
      <p:sp>
        <p:nvSpPr>
          <p:cNvPr id="9" name="rule">
            <a:extLst>
              <a:ext uri="{FF2B5EF4-FFF2-40B4-BE49-F238E27FC236}">
                <a16:creationId xmlns:a16="http://schemas.microsoft.com/office/drawing/2014/main" id="{8EB615D5-6CDE-452F-BD90-65E3253BC33F}"/>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0" name="decision-implication">
            <a:extLst>
              <a:ext uri="{FF2B5EF4-FFF2-40B4-BE49-F238E27FC236}">
                <a16:creationId xmlns:a16="http://schemas.microsoft.com/office/drawing/2014/main" id="{DE07DF7C-7662-4BF6-900B-4E6401B36EC4}"/>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Zero cash covers the modelled payments, but leaves nothing for the next critical payment.</a:t>
            </a:r>
          </a:p>
        </p:txBody>
      </p:sp>
    </p:spTree>
    <p:extLst>
      <p:ext uri="{BB962C8B-B14F-4D97-AF65-F5344CB8AC3E}">
        <p14:creationId xmlns:p14="http://schemas.microsoft.com/office/powerpoint/2010/main" val="19579914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42D3B"/>
        </a:solidFill>
        <a:effectLst/>
      </p:bgPr>
    </p:bg>
    <p:spTree>
      <p:nvGrpSpPr>
        <p:cNvPr id="1" name=""/>
        <p:cNvGrpSpPr/>
        <p:nvPr/>
      </p:nvGrpSpPr>
      <p:grpSpPr>
        <a:xfrm>
          <a:off x="0" y="0"/>
          <a:ext cx="0" cy="0"/>
          <a:chOff x="0" y="0"/>
          <a:chExt cx="0" cy="0"/>
        </a:xfrm>
      </p:grpSpPr>
      <p:sp>
        <p:nvSpPr>
          <p:cNvPr id="8" name="section-reference">
            <a:extLst>
              <a:ext uri="{FF2B5EF4-FFF2-40B4-BE49-F238E27FC236}">
                <a16:creationId xmlns:a16="http://schemas.microsoft.com/office/drawing/2014/main" id="{056B9951-6D90-4AE4-ACFD-E0842AD1BEBE}"/>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B5CBCF"/>
                </a:solidFill>
                <a:latin typeface="Aptos"/>
                <a:ea typeface="Aptos"/>
                <a:cs typeface="Aptos"/>
              </a:defRPr>
            </a:defPPr>
          </a:lstStyle>
          <a:p>
            <a:pPr algn="l">
              <a:defRPr sz="1050" b="1">
                <a:solidFill>
                  <a:srgbClr val="B5CBCF"/>
                </a:solidFill>
                <a:latin typeface="Aptos"/>
                <a:ea typeface="Aptos"/>
                <a:cs typeface="Aptos"/>
              </a:defRPr>
            </a:pPr>
            <a:r>
              <a:rPr sz="1050" b="1">
                <a:solidFill>
                  <a:srgbClr val="B5CBCF"/>
                </a:solidFill>
                <a:latin typeface="Aptos"/>
                <a:ea typeface="Aptos"/>
                <a:cs typeface="Aptos"/>
              </a:rPr>
              <a:t>CORPORATE TREASURY  /  CHAPTER 2</a:t>
            </a:r>
          </a:p>
        </p:txBody>
      </p:sp>
      <p:sp>
        <p:nvSpPr>
          <p:cNvPr id="2" name="slide-title">
            <a:extLst>
              <a:ext uri="{FF2B5EF4-FFF2-40B4-BE49-F238E27FC236}">
                <a16:creationId xmlns:a16="http://schemas.microsoft.com/office/drawing/2014/main" id="{3690DCA3-BA32-4E4B-89E7-43F4DACAA959}"/>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FFFFFF"/>
                </a:solidFill>
                <a:latin typeface="Aptos"/>
                <a:ea typeface="Aptos"/>
                <a:cs typeface="Aptos"/>
              </a:defRPr>
            </a:defPPr>
          </a:lstStyle>
          <a:p>
            <a:pPr algn="l">
              <a:defRPr sz="3150" b="1">
                <a:solidFill>
                  <a:srgbClr val="FFFFFF"/>
                </a:solidFill>
                <a:latin typeface="Aptos"/>
                <a:ea typeface="Aptos"/>
                <a:cs typeface="Aptos"/>
              </a:defRPr>
            </a:pPr>
            <a:r>
              <a:rPr sz="3150" b="1">
                <a:solidFill>
                  <a:srgbClr val="FFFFFF"/>
                </a:solidFill>
                <a:latin typeface="Aptos"/>
                <a:ea typeface="Aptos"/>
                <a:cs typeface="Aptos"/>
              </a:rPr>
              <a:t>Cash &amp; Working Capital</a:t>
            </a:r>
          </a:p>
        </p:txBody>
      </p:sp>
      <p:sp>
        <p:nvSpPr>
          <p:cNvPr id="3" name="slide-number">
            <a:extLst>
              <a:ext uri="{FF2B5EF4-FFF2-40B4-BE49-F238E27FC236}">
                <a16:creationId xmlns:a16="http://schemas.microsoft.com/office/drawing/2014/main" id="{CE5EBF99-5702-442C-AF34-695122EBA81B}"/>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B5CBCF"/>
                </a:solidFill>
                <a:latin typeface="Aptos"/>
                <a:ea typeface="Aptos"/>
                <a:cs typeface="Aptos"/>
              </a:defRPr>
            </a:defPPr>
          </a:lstStyle>
          <a:p>
            <a:pPr algn="r">
              <a:defRPr sz="1050" b="0">
                <a:solidFill>
                  <a:srgbClr val="B5CBCF"/>
                </a:solidFill>
                <a:latin typeface="Aptos"/>
                <a:ea typeface="Aptos"/>
                <a:cs typeface="Aptos"/>
              </a:defRPr>
            </a:pPr>
            <a:r>
              <a:rPr sz="1050" b="0">
                <a:solidFill>
                  <a:srgbClr val="B5CBCF"/>
                </a:solidFill>
                <a:latin typeface="Aptos"/>
                <a:ea typeface="Aptos"/>
                <a:cs typeface="Aptos"/>
              </a:rPr>
              <a:t>27</a:t>
            </a:r>
          </a:p>
        </p:txBody>
      </p:sp>
      <p:sp>
        <p:nvSpPr>
          <p:cNvPr id="4" name="explanation">
            <a:extLst>
              <a:ext uri="{FF2B5EF4-FFF2-40B4-BE49-F238E27FC236}">
                <a16:creationId xmlns:a16="http://schemas.microsoft.com/office/drawing/2014/main" id="{E2C9178C-E3B1-4D46-B9B4-D4C60EFED49B}"/>
              </a:ext>
            </a:extLst>
          </p:cNvPr>
          <p:cNvSpPr>
            <a:spLocks noGrp="1"/>
          </p:cNvSpPr>
          <p:nvPr/>
        </p:nvSpPr>
        <p:spPr>
          <a:xfrm>
            <a:off x="609600" y="1685925"/>
            <a:ext cx="2667000" cy="1447800"/>
          </a:xfrm>
          <a:prstGeom prst="rect">
            <a:avLst/>
          </a:prstGeom>
          <a:noFill/>
          <a:ln w="0">
            <a:noFill/>
            <a:prstDash val="solid"/>
          </a:ln>
        </p:spPr>
        <p:txBody>
          <a:bodyPr wrap="square" lIns="0" tIns="0" rIns="0" bIns="0" anchor="t">
            <a:noAutofit/>
          </a:bodyPr>
          <a:lstStyle>
            <a:defPPr algn="l">
              <a:defRPr sz="8400" b="1">
                <a:solidFill>
                  <a:srgbClr val="DBAE55"/>
                </a:solidFill>
                <a:latin typeface="Aptos"/>
                <a:ea typeface="Aptos"/>
                <a:cs typeface="Aptos"/>
              </a:defRPr>
            </a:defPPr>
          </a:lstStyle>
          <a:p>
            <a:pPr algn="l">
              <a:defRPr sz="8400" b="1">
                <a:solidFill>
                  <a:srgbClr val="DBAE55"/>
                </a:solidFill>
                <a:latin typeface="Aptos"/>
                <a:ea typeface="Aptos"/>
                <a:cs typeface="Aptos"/>
              </a:defRPr>
            </a:pPr>
            <a:r>
              <a:rPr sz="8400" b="1">
                <a:solidFill>
                  <a:srgbClr val="DBAE55"/>
                </a:solidFill>
                <a:latin typeface="Aptos"/>
                <a:ea typeface="Aptos"/>
                <a:cs typeface="Aptos"/>
              </a:rPr>
              <a:t>02</a:t>
            </a:r>
          </a:p>
        </p:txBody>
      </p:sp>
      <p:sp>
        <p:nvSpPr>
          <p:cNvPr id="5" name="explanation">
            <a:extLst>
              <a:ext uri="{FF2B5EF4-FFF2-40B4-BE49-F238E27FC236}">
                <a16:creationId xmlns:a16="http://schemas.microsoft.com/office/drawing/2014/main" id="{8E6152EF-5AD3-473E-A4BC-E45B391C08CA}"/>
              </a:ext>
            </a:extLst>
          </p:cNvPr>
          <p:cNvSpPr>
            <a:spLocks noGrp="1"/>
          </p:cNvSpPr>
          <p:nvPr/>
        </p:nvSpPr>
        <p:spPr>
          <a:xfrm>
            <a:off x="609600" y="3238500"/>
            <a:ext cx="6381750" cy="1285875"/>
          </a:xfrm>
          <a:prstGeom prst="rect">
            <a:avLst/>
          </a:prstGeom>
          <a:noFill/>
          <a:ln w="0">
            <a:noFill/>
            <a:prstDash val="solid"/>
          </a:ln>
        </p:spPr>
        <p:txBody>
          <a:bodyPr wrap="square" lIns="0" tIns="0" rIns="0" bIns="0" anchor="t">
            <a:noAutofit/>
          </a:bodyPr>
          <a:lstStyle>
            <a:defPPr algn="l">
              <a:defRPr sz="3900" b="1">
                <a:solidFill>
                  <a:srgbClr val="FFFFFF"/>
                </a:solidFill>
                <a:latin typeface="Aptos"/>
                <a:ea typeface="Aptos"/>
                <a:cs typeface="Aptos"/>
              </a:defRPr>
            </a:defPPr>
          </a:lstStyle>
          <a:p>
            <a:pPr algn="l">
              <a:defRPr sz="3900" b="1">
                <a:solidFill>
                  <a:srgbClr val="FFFFFF"/>
                </a:solidFill>
                <a:latin typeface="Aptos"/>
                <a:ea typeface="Aptos"/>
                <a:cs typeface="Aptos"/>
              </a:defRPr>
            </a:pPr>
            <a:r>
              <a:rPr sz="3900" b="1">
                <a:solidFill>
                  <a:srgbClr val="FFFFFF"/>
                </a:solidFill>
                <a:latin typeface="Aptos"/>
                <a:ea typeface="Aptos"/>
                <a:cs typeface="Aptos"/>
              </a:rPr>
              <a:t>How can operations turn into cash?</a:t>
            </a:r>
          </a:p>
        </p:txBody>
      </p:sp>
      <p:sp>
        <p:nvSpPr>
          <p:cNvPr id="6" name="explanation">
            <a:extLst>
              <a:ext uri="{FF2B5EF4-FFF2-40B4-BE49-F238E27FC236}">
                <a16:creationId xmlns:a16="http://schemas.microsoft.com/office/drawing/2014/main" id="{1B577BC5-DB2B-44B8-8622-383CE36B33EA}"/>
              </a:ext>
            </a:extLst>
          </p:cNvPr>
          <p:cNvSpPr>
            <a:spLocks noGrp="1"/>
          </p:cNvSpPr>
          <p:nvPr/>
        </p:nvSpPr>
        <p:spPr>
          <a:xfrm>
            <a:off x="609600" y="4933950"/>
            <a:ext cx="6191250" cy="857250"/>
          </a:xfrm>
          <a:prstGeom prst="rect">
            <a:avLst/>
          </a:prstGeom>
          <a:noFill/>
          <a:ln w="0">
            <a:noFill/>
            <a:prstDash val="solid"/>
          </a:ln>
        </p:spPr>
        <p:txBody>
          <a:bodyPr wrap="square" lIns="0" tIns="0" rIns="0" bIns="0" anchor="t">
            <a:noAutofit/>
          </a:bodyPr>
          <a:lstStyle>
            <a:defPPr algn="l">
              <a:defRPr sz="1950" b="0">
                <a:solidFill>
                  <a:srgbClr val="B5CBCF"/>
                </a:solidFill>
                <a:latin typeface="Aptos"/>
                <a:ea typeface="Aptos"/>
                <a:cs typeface="Aptos"/>
              </a:defRPr>
            </a:defPPr>
          </a:lstStyle>
          <a:p>
            <a:pPr algn="l">
              <a:defRPr sz="1950" b="0">
                <a:solidFill>
                  <a:srgbClr val="B5CBCF"/>
                </a:solidFill>
                <a:latin typeface="Aptos"/>
                <a:ea typeface="Aptos"/>
                <a:cs typeface="Aptos"/>
              </a:defRPr>
            </a:pPr>
            <a:r>
              <a:rPr sz="1950" b="0">
                <a:solidFill>
                  <a:srgbClr val="B5CBCF"/>
                </a:solidFill>
                <a:latin typeface="Aptos"/>
                <a:ea typeface="Aptos"/>
                <a:cs typeface="Aptos"/>
              </a:rPr>
              <a:t>Profit and operating cash  ·  Cycle and measurement  ·  Negative WCR and CCC  ·  Cash release and tradeoffs  ·  Working capital governance</a:t>
            </a:r>
          </a:p>
        </p:txBody>
      </p:sp>
      <p:pic>
        <p:nvPicPr>
          <p:cNvPr id="7" name="Image 6">
            <a:extLst>
              <a:ext uri="{FF2B5EF4-FFF2-40B4-BE49-F238E27FC236}">
                <a16:creationId xmlns:a16="http://schemas.microsoft.com/office/drawing/2014/main" id="{E5ABC6D5-1450-4629-888E-FA3C8F56B55E}"/>
              </a:ext>
            </a:extLst>
          </p:cNvPr>
          <p:cNvPicPr>
            <a:picLocks noChangeAspect="1"/>
          </p:cNvPicPr>
          <p:nvPr/>
        </p:nvPicPr>
        <p:blipFill>
          <a:blip r:embed="rId3"/>
          <a:srcRect t="11007" b="11007"/>
          <a:stretch>
            <a:fillRect/>
          </a:stretch>
        </p:blipFill>
        <p:spPr>
          <a:xfrm>
            <a:off x="7905750" y="1685925"/>
            <a:ext cx="3429000" cy="4010025"/>
          </a:xfrm>
          <a:prstGeom prst="rect">
            <a:avLst/>
          </a:prstGeom>
        </p:spPr>
      </p:pic>
    </p:spTree>
    <p:extLst>
      <p:ext uri="{BB962C8B-B14F-4D97-AF65-F5344CB8AC3E}">
        <p14:creationId xmlns:p14="http://schemas.microsoft.com/office/powerpoint/2010/main" val="15476907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cxnSp>
        <p:nvCxnSpPr>
          <p:cNvPr id="14" name="Connecteur droit avec flèche 13">
            <a:extLst>
              <a:ext uri="{FF2B5EF4-FFF2-40B4-BE49-F238E27FC236}">
                <a16:creationId xmlns:a16="http://schemas.microsoft.com/office/drawing/2014/main" id="{1EC26497-39F8-404E-8AC9-7B772E2C959B}"/>
              </a:ext>
            </a:extLst>
          </p:cNvPr>
          <p:cNvCxnSpPr>
            <a:stCxn id="7" idx="3"/>
            <a:endCxn id="10" idx="1"/>
          </p:cNvCxnSpPr>
          <p:nvPr/>
        </p:nvCxnSpPr>
        <p:spPr>
          <a:xfrm>
            <a:off x="7797800" y="3257550"/>
            <a:ext cx="381000" cy="0"/>
          </a:xfrm>
          <a:prstGeom prst="straightConnector1">
            <a:avLst/>
          </a:prstGeom>
          <a:ln w="17145">
            <a:solidFill>
              <a:srgbClr val="087F83"/>
            </a:solidFill>
            <a:prstDash val="solid"/>
            <a:headEnd type="none" w="med" len="med"/>
            <a:tailEnd type="triangle" w="med" len="med"/>
          </a:ln>
        </p:spPr>
      </p:cxnSp>
      <p:cxnSp>
        <p:nvCxnSpPr>
          <p:cNvPr id="13" name="Connecteur droit avec flèche 12">
            <a:extLst>
              <a:ext uri="{FF2B5EF4-FFF2-40B4-BE49-F238E27FC236}">
                <a16:creationId xmlns:a16="http://schemas.microsoft.com/office/drawing/2014/main" id="{A2CDD500-F989-4AD6-9F8F-2028F241EFB3}"/>
              </a:ext>
            </a:extLst>
          </p:cNvPr>
          <p:cNvCxnSpPr>
            <a:stCxn id="4" idx="3"/>
            <a:endCxn id="7" idx="1"/>
          </p:cNvCxnSpPr>
          <p:nvPr/>
        </p:nvCxnSpPr>
        <p:spPr>
          <a:xfrm>
            <a:off x="4013200" y="3257550"/>
            <a:ext cx="381000" cy="0"/>
          </a:xfrm>
          <a:prstGeom prst="straightConnector1">
            <a:avLst/>
          </a:prstGeom>
          <a:ln w="17145">
            <a:solidFill>
              <a:srgbClr val="087F83"/>
            </a:solidFill>
            <a:prstDash val="solid"/>
            <a:headEnd type="none" w="med" len="med"/>
            <a:tailEnd type="triangle" w="med" len="med"/>
          </a:ln>
        </p:spPr>
      </p:cxnSp>
      <p:sp>
        <p:nvSpPr>
          <p:cNvPr id="18" name="section-reference">
            <a:extLst>
              <a:ext uri="{FF2B5EF4-FFF2-40B4-BE49-F238E27FC236}">
                <a16:creationId xmlns:a16="http://schemas.microsoft.com/office/drawing/2014/main" id="{5E5D48C8-7EDB-4715-B9E0-C5C430085D21}"/>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2.1</a:t>
            </a:r>
          </a:p>
        </p:txBody>
      </p:sp>
      <p:sp>
        <p:nvSpPr>
          <p:cNvPr id="2" name="slide-title">
            <a:extLst>
              <a:ext uri="{FF2B5EF4-FFF2-40B4-BE49-F238E27FC236}">
                <a16:creationId xmlns:a16="http://schemas.microsoft.com/office/drawing/2014/main" id="{6A872C16-6C81-4ACA-9157-30224C42CD7B}"/>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Profit is not cash</a:t>
            </a:r>
          </a:p>
        </p:txBody>
      </p:sp>
      <p:sp>
        <p:nvSpPr>
          <p:cNvPr id="3" name="slide-number">
            <a:extLst>
              <a:ext uri="{FF2B5EF4-FFF2-40B4-BE49-F238E27FC236}">
                <a16:creationId xmlns:a16="http://schemas.microsoft.com/office/drawing/2014/main" id="{D476371D-A7B9-4818-904A-4F9E453E4277}"/>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28</a:t>
            </a:r>
          </a:p>
        </p:txBody>
      </p:sp>
      <p:sp>
        <p:nvSpPr>
          <p:cNvPr id="4" name="diagram-node">
            <a:extLst>
              <a:ext uri="{FF2B5EF4-FFF2-40B4-BE49-F238E27FC236}">
                <a16:creationId xmlns:a16="http://schemas.microsoft.com/office/drawing/2014/main" id="{0F2D51FA-A018-4F51-8B48-93CDFABBD143}"/>
              </a:ext>
            </a:extLst>
          </p:cNvPr>
          <p:cNvSpPr>
            <a:spLocks noGrp="1"/>
          </p:cNvSpPr>
          <p:nvPr/>
        </p:nvSpPr>
        <p:spPr>
          <a:xfrm>
            <a:off x="609600" y="2390775"/>
            <a:ext cx="3403600" cy="1733550"/>
          </a:xfrm>
          <a:prstGeom prst="rect">
            <a:avLst/>
          </a:prstGeom>
          <a:solidFill>
            <a:srgbClr val="142D3B"/>
          </a:solidFill>
          <a:ln w="0">
            <a:noFill/>
            <a:prstDash val="solid"/>
          </a:ln>
        </p:spPr>
        <p:txBody>
          <a:bodyPr/>
          <a:lstStyle/>
          <a:p>
            <a:endParaRPr lang="fr-FR"/>
          </a:p>
        </p:txBody>
      </p:sp>
      <p:sp>
        <p:nvSpPr>
          <p:cNvPr id="5" name="explanation">
            <a:extLst>
              <a:ext uri="{FF2B5EF4-FFF2-40B4-BE49-F238E27FC236}">
                <a16:creationId xmlns:a16="http://schemas.microsoft.com/office/drawing/2014/main" id="{1469B92F-AF31-408B-AAF2-6B277804427A}"/>
              </a:ext>
            </a:extLst>
          </p:cNvPr>
          <p:cNvSpPr>
            <a:spLocks noGrp="1"/>
          </p:cNvSpPr>
          <p:nvPr/>
        </p:nvSpPr>
        <p:spPr>
          <a:xfrm>
            <a:off x="781050" y="2571750"/>
            <a:ext cx="3060700" cy="571500"/>
          </a:xfrm>
          <a:prstGeom prst="rect">
            <a:avLst/>
          </a:prstGeom>
          <a:noFill/>
          <a:ln w="0">
            <a:noFill/>
            <a:prstDash val="solid"/>
          </a:ln>
        </p:spPr>
        <p:txBody>
          <a:bodyPr wrap="square" lIns="0" tIns="0" rIns="0" bIns="0" anchor="t">
            <a:noAutofit/>
          </a:bodyPr>
          <a:lstStyle>
            <a:defPPr algn="l">
              <a:defRPr sz="2025" b="1">
                <a:solidFill>
                  <a:srgbClr val="FFFFFF"/>
                </a:solidFill>
                <a:latin typeface="Aptos"/>
                <a:ea typeface="Aptos"/>
                <a:cs typeface="Aptos"/>
              </a:defRPr>
            </a:defPPr>
          </a:lstStyle>
          <a:p>
            <a:pPr algn="l">
              <a:defRPr sz="2025" b="1">
                <a:solidFill>
                  <a:srgbClr val="FFFFFF"/>
                </a:solidFill>
                <a:latin typeface="Aptos"/>
                <a:ea typeface="Aptos"/>
                <a:cs typeface="Aptos"/>
              </a:defRPr>
            </a:pPr>
            <a:r>
              <a:rPr sz="2025" b="1">
                <a:solidFill>
                  <a:srgbClr val="FFFFFF"/>
                </a:solidFill>
                <a:latin typeface="Aptos"/>
                <a:ea typeface="Aptos"/>
                <a:cs typeface="Aptos"/>
              </a:rPr>
              <a:t>Purchase</a:t>
            </a:r>
          </a:p>
        </p:txBody>
      </p:sp>
      <p:sp>
        <p:nvSpPr>
          <p:cNvPr id="6" name="explanation">
            <a:extLst>
              <a:ext uri="{FF2B5EF4-FFF2-40B4-BE49-F238E27FC236}">
                <a16:creationId xmlns:a16="http://schemas.microsoft.com/office/drawing/2014/main" id="{4871C6BE-7BB3-4174-A09B-7B2BA6AA3CAA}"/>
              </a:ext>
            </a:extLst>
          </p:cNvPr>
          <p:cNvSpPr>
            <a:spLocks noGrp="1"/>
          </p:cNvSpPr>
          <p:nvPr/>
        </p:nvSpPr>
        <p:spPr>
          <a:xfrm>
            <a:off x="781050" y="3171825"/>
            <a:ext cx="3060700" cy="895350"/>
          </a:xfrm>
          <a:prstGeom prst="rect">
            <a:avLst/>
          </a:prstGeom>
          <a:noFill/>
          <a:ln w="0">
            <a:noFill/>
            <a:prstDash val="solid"/>
          </a:ln>
        </p:spPr>
        <p:txBody>
          <a:bodyPr wrap="square" lIns="0" tIns="0" rIns="0" bIns="0" anchor="t">
            <a:noAutofit/>
          </a:bodyPr>
          <a:lstStyle>
            <a:defPPr algn="l">
              <a:defRPr sz="1650" b="0">
                <a:solidFill>
                  <a:srgbClr val="DCE7E9"/>
                </a:solidFill>
                <a:latin typeface="Aptos"/>
                <a:ea typeface="Aptos"/>
                <a:cs typeface="Aptos"/>
              </a:defRPr>
            </a:defPPr>
          </a:lstStyle>
          <a:p>
            <a:pPr algn="l">
              <a:defRPr sz="1650" b="0">
                <a:solidFill>
                  <a:srgbClr val="DCE7E9"/>
                </a:solidFill>
                <a:latin typeface="Aptos"/>
                <a:ea typeface="Aptos"/>
                <a:cs typeface="Aptos"/>
              </a:defRPr>
            </a:pPr>
            <a:r>
              <a:rPr sz="1650" b="0">
                <a:solidFill>
                  <a:srgbClr val="DCE7E9"/>
                </a:solidFill>
                <a:latin typeface="Aptos"/>
                <a:ea typeface="Aptos"/>
                <a:cs typeface="Aptos"/>
              </a:rPr>
              <a:t>Inventory consumes cash</a:t>
            </a:r>
          </a:p>
        </p:txBody>
      </p:sp>
      <p:sp>
        <p:nvSpPr>
          <p:cNvPr id="7" name="diagram-node">
            <a:extLst>
              <a:ext uri="{FF2B5EF4-FFF2-40B4-BE49-F238E27FC236}">
                <a16:creationId xmlns:a16="http://schemas.microsoft.com/office/drawing/2014/main" id="{6865E1F0-348F-496F-BE91-E1335D13F42E}"/>
              </a:ext>
            </a:extLst>
          </p:cNvPr>
          <p:cNvSpPr>
            <a:spLocks noGrp="1"/>
          </p:cNvSpPr>
          <p:nvPr/>
        </p:nvSpPr>
        <p:spPr>
          <a:xfrm>
            <a:off x="4394200" y="2390775"/>
            <a:ext cx="3403600" cy="1733550"/>
          </a:xfrm>
          <a:prstGeom prst="rect">
            <a:avLst/>
          </a:prstGeom>
          <a:solidFill>
            <a:srgbClr val="DCEEE9"/>
          </a:solidFill>
          <a:ln w="0">
            <a:noFill/>
            <a:prstDash val="solid"/>
          </a:ln>
        </p:spPr>
        <p:txBody>
          <a:bodyPr/>
          <a:lstStyle/>
          <a:p>
            <a:endParaRPr lang="fr-FR"/>
          </a:p>
        </p:txBody>
      </p:sp>
      <p:sp>
        <p:nvSpPr>
          <p:cNvPr id="8" name="explanation">
            <a:extLst>
              <a:ext uri="{FF2B5EF4-FFF2-40B4-BE49-F238E27FC236}">
                <a16:creationId xmlns:a16="http://schemas.microsoft.com/office/drawing/2014/main" id="{6814C118-8D18-4F42-B738-2DB54CF1CA47}"/>
              </a:ext>
            </a:extLst>
          </p:cNvPr>
          <p:cNvSpPr>
            <a:spLocks noGrp="1"/>
          </p:cNvSpPr>
          <p:nvPr/>
        </p:nvSpPr>
        <p:spPr>
          <a:xfrm>
            <a:off x="4565650" y="2571750"/>
            <a:ext cx="3060700" cy="5715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Invoice</a:t>
            </a:r>
          </a:p>
        </p:txBody>
      </p:sp>
      <p:sp>
        <p:nvSpPr>
          <p:cNvPr id="9" name="explanation">
            <a:extLst>
              <a:ext uri="{FF2B5EF4-FFF2-40B4-BE49-F238E27FC236}">
                <a16:creationId xmlns:a16="http://schemas.microsoft.com/office/drawing/2014/main" id="{23F3852C-6D8B-4F63-B9AF-F76C9B950B8D}"/>
              </a:ext>
            </a:extLst>
          </p:cNvPr>
          <p:cNvSpPr>
            <a:spLocks noGrp="1"/>
          </p:cNvSpPr>
          <p:nvPr/>
        </p:nvSpPr>
        <p:spPr>
          <a:xfrm>
            <a:off x="4565650" y="3171825"/>
            <a:ext cx="3060700" cy="895350"/>
          </a:xfrm>
          <a:prstGeom prst="rect">
            <a:avLst/>
          </a:prstGeom>
          <a:noFill/>
          <a:ln w="0">
            <a:noFill/>
            <a:prstDash val="solid"/>
          </a:ln>
        </p:spPr>
        <p:txBody>
          <a:bodyPr wrap="square" lIns="0" tIns="0" rIns="0" bIns="0" anchor="t">
            <a:noAutofit/>
          </a:bodyPr>
          <a:lstStyle>
            <a:defPPr algn="l">
              <a:defRPr sz="1650" b="0">
                <a:solidFill>
                  <a:srgbClr val="19313F"/>
                </a:solidFill>
                <a:latin typeface="Aptos"/>
                <a:ea typeface="Aptos"/>
                <a:cs typeface="Aptos"/>
              </a:defRPr>
            </a:defPPr>
          </a:lstStyle>
          <a:p>
            <a:pPr algn="l">
              <a:defRPr sz="1650" b="0">
                <a:solidFill>
                  <a:srgbClr val="19313F"/>
                </a:solidFill>
                <a:latin typeface="Aptos"/>
                <a:ea typeface="Aptos"/>
                <a:cs typeface="Aptos"/>
              </a:defRPr>
            </a:pPr>
            <a:r>
              <a:rPr sz="1650" b="0">
                <a:solidFill>
                  <a:srgbClr val="19313F"/>
                </a:solidFill>
                <a:latin typeface="Aptos"/>
                <a:ea typeface="Aptos"/>
                <a:cs typeface="Aptos"/>
              </a:rPr>
              <a:t>€100 profit; €600 unpaid</a:t>
            </a:r>
          </a:p>
        </p:txBody>
      </p:sp>
      <p:sp>
        <p:nvSpPr>
          <p:cNvPr id="10" name="diagram-node">
            <a:extLst>
              <a:ext uri="{FF2B5EF4-FFF2-40B4-BE49-F238E27FC236}">
                <a16:creationId xmlns:a16="http://schemas.microsoft.com/office/drawing/2014/main" id="{3F4FEEFA-7DFF-49E5-B541-4CBAA2CAB78E}"/>
              </a:ext>
            </a:extLst>
          </p:cNvPr>
          <p:cNvSpPr>
            <a:spLocks noGrp="1"/>
          </p:cNvSpPr>
          <p:nvPr/>
        </p:nvSpPr>
        <p:spPr>
          <a:xfrm>
            <a:off x="8178800" y="2390775"/>
            <a:ext cx="3403600" cy="1733550"/>
          </a:xfrm>
          <a:prstGeom prst="rect">
            <a:avLst/>
          </a:prstGeom>
          <a:solidFill>
            <a:srgbClr val="142D3B"/>
          </a:solidFill>
          <a:ln w="0">
            <a:noFill/>
            <a:prstDash val="solid"/>
          </a:ln>
        </p:spPr>
        <p:txBody>
          <a:bodyPr/>
          <a:lstStyle/>
          <a:p>
            <a:endParaRPr lang="fr-FR"/>
          </a:p>
        </p:txBody>
      </p:sp>
      <p:sp>
        <p:nvSpPr>
          <p:cNvPr id="11" name="explanation">
            <a:extLst>
              <a:ext uri="{FF2B5EF4-FFF2-40B4-BE49-F238E27FC236}">
                <a16:creationId xmlns:a16="http://schemas.microsoft.com/office/drawing/2014/main" id="{7921C027-511B-4829-93A8-D02658ED6061}"/>
              </a:ext>
            </a:extLst>
          </p:cNvPr>
          <p:cNvSpPr>
            <a:spLocks noGrp="1"/>
          </p:cNvSpPr>
          <p:nvPr/>
        </p:nvSpPr>
        <p:spPr>
          <a:xfrm>
            <a:off x="8350250" y="2571750"/>
            <a:ext cx="3060700" cy="571500"/>
          </a:xfrm>
          <a:prstGeom prst="rect">
            <a:avLst/>
          </a:prstGeom>
          <a:noFill/>
          <a:ln w="0">
            <a:noFill/>
            <a:prstDash val="solid"/>
          </a:ln>
        </p:spPr>
        <p:txBody>
          <a:bodyPr wrap="square" lIns="0" tIns="0" rIns="0" bIns="0" anchor="t">
            <a:noAutofit/>
          </a:bodyPr>
          <a:lstStyle>
            <a:defPPr algn="l">
              <a:defRPr sz="2025" b="1">
                <a:solidFill>
                  <a:srgbClr val="FFFFFF"/>
                </a:solidFill>
                <a:latin typeface="Aptos"/>
                <a:ea typeface="Aptos"/>
                <a:cs typeface="Aptos"/>
              </a:defRPr>
            </a:defPPr>
          </a:lstStyle>
          <a:p>
            <a:pPr algn="l">
              <a:defRPr sz="2025" b="1">
                <a:solidFill>
                  <a:srgbClr val="FFFFFF"/>
                </a:solidFill>
                <a:latin typeface="Aptos"/>
                <a:ea typeface="Aptos"/>
                <a:cs typeface="Aptos"/>
              </a:defRPr>
            </a:pPr>
            <a:r>
              <a:rPr sz="2025" b="1">
                <a:solidFill>
                  <a:srgbClr val="FFFFFF"/>
                </a:solidFill>
                <a:latin typeface="Aptos"/>
                <a:ea typeface="Aptos"/>
                <a:cs typeface="Aptos"/>
              </a:rPr>
              <a:t>Collection</a:t>
            </a:r>
          </a:p>
        </p:txBody>
      </p:sp>
      <p:sp>
        <p:nvSpPr>
          <p:cNvPr id="12" name="explanation">
            <a:extLst>
              <a:ext uri="{FF2B5EF4-FFF2-40B4-BE49-F238E27FC236}">
                <a16:creationId xmlns:a16="http://schemas.microsoft.com/office/drawing/2014/main" id="{D35FAA9D-A21D-47D8-A2E0-50EF17A1F26B}"/>
              </a:ext>
            </a:extLst>
          </p:cNvPr>
          <p:cNvSpPr>
            <a:spLocks noGrp="1"/>
          </p:cNvSpPr>
          <p:nvPr/>
        </p:nvSpPr>
        <p:spPr>
          <a:xfrm>
            <a:off x="8350250" y="3171825"/>
            <a:ext cx="3060700" cy="895350"/>
          </a:xfrm>
          <a:prstGeom prst="rect">
            <a:avLst/>
          </a:prstGeom>
          <a:noFill/>
          <a:ln w="0">
            <a:noFill/>
            <a:prstDash val="solid"/>
          </a:ln>
        </p:spPr>
        <p:txBody>
          <a:bodyPr wrap="square" lIns="0" tIns="0" rIns="0" bIns="0" anchor="t">
            <a:noAutofit/>
          </a:bodyPr>
          <a:lstStyle>
            <a:defPPr algn="l">
              <a:defRPr sz="1650" b="0">
                <a:solidFill>
                  <a:srgbClr val="DCE7E9"/>
                </a:solidFill>
                <a:latin typeface="Aptos"/>
                <a:ea typeface="Aptos"/>
                <a:cs typeface="Aptos"/>
              </a:defRPr>
            </a:defPPr>
          </a:lstStyle>
          <a:p>
            <a:pPr algn="l">
              <a:defRPr sz="1650" b="0">
                <a:solidFill>
                  <a:srgbClr val="DCE7E9"/>
                </a:solidFill>
                <a:latin typeface="Aptos"/>
                <a:ea typeface="Aptos"/>
                <a:cs typeface="Aptos"/>
              </a:defRPr>
            </a:pPr>
            <a:r>
              <a:rPr sz="1650" b="0">
                <a:solidFill>
                  <a:srgbClr val="DCE7E9"/>
                </a:solidFill>
                <a:latin typeface="Aptos"/>
                <a:ea typeface="Aptos"/>
                <a:cs typeface="Aptos"/>
              </a:rPr>
              <a:t>Receivable becomes cash</a:t>
            </a:r>
          </a:p>
        </p:txBody>
      </p:sp>
      <p:sp>
        <p:nvSpPr>
          <p:cNvPr id="15" name="explanation">
            <a:extLst>
              <a:ext uri="{FF2B5EF4-FFF2-40B4-BE49-F238E27FC236}">
                <a16:creationId xmlns:a16="http://schemas.microsoft.com/office/drawing/2014/main" id="{A3AA9712-2779-4BF8-9086-AB51C2025DF1}"/>
              </a:ext>
            </a:extLst>
          </p:cNvPr>
          <p:cNvSpPr>
            <a:spLocks noGrp="1"/>
          </p:cNvSpPr>
          <p:nvPr/>
        </p:nvSpPr>
        <p:spPr>
          <a:xfrm>
            <a:off x="609600" y="4524375"/>
            <a:ext cx="10572750" cy="857250"/>
          </a:xfrm>
          <a:prstGeom prst="rect">
            <a:avLst/>
          </a:prstGeom>
          <a:noFill/>
          <a:ln w="0">
            <a:noFill/>
            <a:prstDash val="solid"/>
          </a:ln>
        </p:spPr>
        <p:txBody>
          <a:bodyPr wrap="square" lIns="0" tIns="0" rIns="0" bIns="0" anchor="t">
            <a:noAutofit/>
          </a:bodyPr>
          <a:lstStyle>
            <a:defPPr algn="l">
              <a:defRPr sz="2400" b="1">
                <a:solidFill>
                  <a:srgbClr val="19313F"/>
                </a:solidFill>
                <a:latin typeface="Aptos"/>
                <a:ea typeface="Aptos"/>
                <a:cs typeface="Aptos"/>
              </a:defRPr>
            </a:defPPr>
          </a:lstStyle>
          <a:p>
            <a:pPr algn="l">
              <a:defRPr sz="2400" b="1">
                <a:solidFill>
                  <a:srgbClr val="19313F"/>
                </a:solidFill>
                <a:latin typeface="Aptos"/>
                <a:ea typeface="Aptos"/>
                <a:cs typeface="Aptos"/>
              </a:defRPr>
            </a:pPr>
            <a:r>
              <a:rPr sz="2400" b="1">
                <a:solidFill>
                  <a:srgbClr val="19313F"/>
                </a:solidFill>
                <a:latin typeface="Aptos"/>
                <a:ea typeface="Aptos"/>
                <a:cs typeface="Aptos"/>
              </a:rPr>
              <a:t>Accounting recognition and bank settlement occur at different dates.</a:t>
            </a:r>
          </a:p>
        </p:txBody>
      </p:sp>
      <p:sp>
        <p:nvSpPr>
          <p:cNvPr id="16" name="rule">
            <a:extLst>
              <a:ext uri="{FF2B5EF4-FFF2-40B4-BE49-F238E27FC236}">
                <a16:creationId xmlns:a16="http://schemas.microsoft.com/office/drawing/2014/main" id="{2F063514-7505-4592-B62D-1D526CF2A0DA}"/>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7" name="decision-implication">
            <a:extLst>
              <a:ext uri="{FF2B5EF4-FFF2-40B4-BE49-F238E27FC236}">
                <a16:creationId xmlns:a16="http://schemas.microsoft.com/office/drawing/2014/main" id="{FD806667-BAD0-4D6D-BCDF-691FA084390D}"/>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Growth, receivables and equipment purchases can absorb cash despite positive profit.</a:t>
            </a:r>
          </a:p>
        </p:txBody>
      </p:sp>
    </p:spTree>
    <p:extLst>
      <p:ext uri="{BB962C8B-B14F-4D97-AF65-F5344CB8AC3E}">
        <p14:creationId xmlns:p14="http://schemas.microsoft.com/office/powerpoint/2010/main" val="798253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2" name="section-reference">
            <a:extLst>
              <a:ext uri="{FF2B5EF4-FFF2-40B4-BE49-F238E27FC236}">
                <a16:creationId xmlns:a16="http://schemas.microsoft.com/office/drawing/2014/main" id="{15AA105B-E511-4980-9BBF-4DC74B49C625}"/>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2.1</a:t>
            </a:r>
          </a:p>
        </p:txBody>
      </p:sp>
      <p:sp>
        <p:nvSpPr>
          <p:cNvPr id="2" name="slide-title">
            <a:extLst>
              <a:ext uri="{FF2B5EF4-FFF2-40B4-BE49-F238E27FC236}">
                <a16:creationId xmlns:a16="http://schemas.microsoft.com/office/drawing/2014/main" id="{03941960-638E-4284-8DA0-8B23F3953C65}"/>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A simplified EBITDA to cash bridge</a:t>
            </a:r>
          </a:p>
        </p:txBody>
      </p:sp>
      <p:sp>
        <p:nvSpPr>
          <p:cNvPr id="3" name="slide-number">
            <a:extLst>
              <a:ext uri="{FF2B5EF4-FFF2-40B4-BE49-F238E27FC236}">
                <a16:creationId xmlns:a16="http://schemas.microsoft.com/office/drawing/2014/main" id="{16F151ED-136B-4188-89C3-8708905BA70B}"/>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29</a:t>
            </a:r>
          </a:p>
        </p:txBody>
      </p:sp>
      <p:graphicFrame>
        <p:nvGraphicFramePr>
          <p:cNvPr id="4" name="Chart">
            <a:extLst>
              <a:ext uri="{FF2B5EF4-FFF2-40B4-BE49-F238E27FC236}">
                <a16:creationId xmlns:a16="http://schemas.microsoft.com/office/drawing/2014/main" id="{42D4CD0D-AF90-4743-8373-FC8CC57DEFAC}"/>
              </a:ext>
            </a:extLst>
          </p:cNvPr>
          <p:cNvGraphicFramePr/>
          <p:nvPr/>
        </p:nvGraphicFramePr>
        <p:xfrm>
          <a:off x="609600" y="1733550"/>
          <a:ext cx="10972800" cy="3733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igned-cash-movement">
            <a:extLst>
              <a:ext uri="{FF2B5EF4-FFF2-40B4-BE49-F238E27FC236}">
                <a16:creationId xmlns:a16="http://schemas.microsoft.com/office/drawing/2014/main" id="{A856D919-D7BC-4735-AFD2-9C031126025E}"/>
              </a:ext>
            </a:extLst>
          </p:cNvPr>
          <p:cNvSpPr>
            <a:spLocks noGrp="1"/>
          </p:cNvSpPr>
          <p:nvPr/>
        </p:nvSpPr>
        <p:spPr>
          <a:xfrm>
            <a:off x="1791653" y="2190750"/>
            <a:ext cx="1085850" cy="285750"/>
          </a:xfrm>
          <a:prstGeom prst="rect">
            <a:avLst/>
          </a:prstGeom>
          <a:noFill/>
          <a:ln w="0">
            <a:noFill/>
            <a:prstDash val="solid"/>
          </a:ln>
        </p:spPr>
        <p:txBody>
          <a:bodyPr wrap="square" lIns="0" tIns="0" rIns="0" bIns="0" anchor="t">
            <a:noAutofit/>
          </a:bodyPr>
          <a:lstStyle>
            <a:defPPr algn="ctr">
              <a:defRPr sz="1800" b="1">
                <a:solidFill>
                  <a:srgbClr val="142D3B"/>
                </a:solidFill>
                <a:latin typeface="Aptos"/>
                <a:ea typeface="Aptos"/>
                <a:cs typeface="Aptos"/>
              </a:defRPr>
            </a:defPPr>
          </a:lstStyle>
          <a:p>
            <a:pPr algn="ctr">
              <a:defRPr sz="1800" b="1">
                <a:solidFill>
                  <a:srgbClr val="142D3B"/>
                </a:solidFill>
                <a:latin typeface="Aptos"/>
                <a:ea typeface="Aptos"/>
                <a:cs typeface="Aptos"/>
              </a:defRPr>
            </a:pPr>
            <a:r>
              <a:rPr sz="1800" b="1">
                <a:solidFill>
                  <a:srgbClr val="142D3B"/>
                </a:solidFill>
                <a:latin typeface="Aptos"/>
                <a:ea typeface="Aptos"/>
                <a:cs typeface="Aptos"/>
              </a:rPr>
              <a:t>30.0</a:t>
            </a:r>
          </a:p>
        </p:txBody>
      </p:sp>
      <p:sp>
        <p:nvSpPr>
          <p:cNvPr id="6" name="signed-cash-movement">
            <a:extLst>
              <a:ext uri="{FF2B5EF4-FFF2-40B4-BE49-F238E27FC236}">
                <a16:creationId xmlns:a16="http://schemas.microsoft.com/office/drawing/2014/main" id="{EE712763-BC44-409B-8C5E-F5DABA1CFB53}"/>
              </a:ext>
            </a:extLst>
          </p:cNvPr>
          <p:cNvSpPr>
            <a:spLocks noGrp="1"/>
          </p:cNvSpPr>
          <p:nvPr/>
        </p:nvSpPr>
        <p:spPr>
          <a:xfrm>
            <a:off x="3793808" y="2190750"/>
            <a:ext cx="1085850" cy="285750"/>
          </a:xfrm>
          <a:prstGeom prst="rect">
            <a:avLst/>
          </a:prstGeom>
          <a:noFill/>
          <a:ln w="0">
            <a:noFill/>
            <a:prstDash val="solid"/>
          </a:ln>
        </p:spPr>
        <p:txBody>
          <a:bodyPr wrap="square" lIns="0" tIns="0" rIns="0" bIns="0" anchor="t">
            <a:noAutofit/>
          </a:bodyPr>
          <a:lstStyle>
            <a:defPPr algn="ctr">
              <a:defRPr sz="1800" b="1">
                <a:solidFill>
                  <a:srgbClr val="B4453F"/>
                </a:solidFill>
                <a:latin typeface="Aptos"/>
                <a:ea typeface="Aptos"/>
                <a:cs typeface="Aptos"/>
              </a:defRPr>
            </a:defPPr>
          </a:lstStyle>
          <a:p>
            <a:pPr algn="ctr">
              <a:defRPr sz="1800" b="1">
                <a:solidFill>
                  <a:srgbClr val="B4453F"/>
                </a:solidFill>
                <a:latin typeface="Aptos"/>
                <a:ea typeface="Aptos"/>
                <a:cs typeface="Aptos"/>
              </a:defRPr>
            </a:pPr>
            <a:r>
              <a:rPr sz="1800" b="1">
                <a:solidFill>
                  <a:srgbClr val="B4453F"/>
                </a:solidFill>
                <a:latin typeface="Aptos"/>
                <a:ea typeface="Aptos"/>
                <a:cs typeface="Aptos"/>
              </a:rPr>
              <a:t>-4.0</a:t>
            </a:r>
          </a:p>
        </p:txBody>
      </p:sp>
      <p:sp>
        <p:nvSpPr>
          <p:cNvPr id="7" name="signed-cash-movement">
            <a:extLst>
              <a:ext uri="{FF2B5EF4-FFF2-40B4-BE49-F238E27FC236}">
                <a16:creationId xmlns:a16="http://schemas.microsoft.com/office/drawing/2014/main" id="{92025370-D8B6-475A-8CB4-CF40E05942E1}"/>
              </a:ext>
            </a:extLst>
          </p:cNvPr>
          <p:cNvSpPr>
            <a:spLocks noGrp="1"/>
          </p:cNvSpPr>
          <p:nvPr/>
        </p:nvSpPr>
        <p:spPr>
          <a:xfrm>
            <a:off x="5795963" y="2190750"/>
            <a:ext cx="1085850" cy="285750"/>
          </a:xfrm>
          <a:prstGeom prst="rect">
            <a:avLst/>
          </a:prstGeom>
          <a:noFill/>
          <a:ln w="0">
            <a:noFill/>
            <a:prstDash val="solid"/>
          </a:ln>
        </p:spPr>
        <p:txBody>
          <a:bodyPr wrap="square" lIns="0" tIns="0" rIns="0" bIns="0" anchor="t">
            <a:noAutofit/>
          </a:bodyPr>
          <a:lstStyle>
            <a:defPPr algn="ctr">
              <a:defRPr sz="1800" b="1">
                <a:solidFill>
                  <a:srgbClr val="B4453F"/>
                </a:solidFill>
                <a:latin typeface="Aptos"/>
                <a:ea typeface="Aptos"/>
                <a:cs typeface="Aptos"/>
              </a:defRPr>
            </a:defPPr>
          </a:lstStyle>
          <a:p>
            <a:pPr algn="ctr">
              <a:defRPr sz="1800" b="1">
                <a:solidFill>
                  <a:srgbClr val="B4453F"/>
                </a:solidFill>
                <a:latin typeface="Aptos"/>
                <a:ea typeface="Aptos"/>
                <a:cs typeface="Aptos"/>
              </a:defRPr>
            </a:pPr>
            <a:r>
              <a:rPr sz="1800" b="1">
                <a:solidFill>
                  <a:srgbClr val="B4453F"/>
                </a:solidFill>
                <a:latin typeface="Aptos"/>
                <a:ea typeface="Aptos"/>
                <a:cs typeface="Aptos"/>
              </a:rPr>
              <a:t>-12.0</a:t>
            </a:r>
          </a:p>
        </p:txBody>
      </p:sp>
      <p:sp>
        <p:nvSpPr>
          <p:cNvPr id="8" name="signed-cash-movement">
            <a:extLst>
              <a:ext uri="{FF2B5EF4-FFF2-40B4-BE49-F238E27FC236}">
                <a16:creationId xmlns:a16="http://schemas.microsoft.com/office/drawing/2014/main" id="{D4518B18-CE91-4F58-B1EC-CD51197E09CB}"/>
              </a:ext>
            </a:extLst>
          </p:cNvPr>
          <p:cNvSpPr>
            <a:spLocks noGrp="1"/>
          </p:cNvSpPr>
          <p:nvPr/>
        </p:nvSpPr>
        <p:spPr>
          <a:xfrm>
            <a:off x="7798118" y="2190750"/>
            <a:ext cx="1085850" cy="285750"/>
          </a:xfrm>
          <a:prstGeom prst="rect">
            <a:avLst/>
          </a:prstGeom>
          <a:noFill/>
          <a:ln w="0">
            <a:noFill/>
            <a:prstDash val="solid"/>
          </a:ln>
        </p:spPr>
        <p:txBody>
          <a:bodyPr wrap="square" lIns="0" tIns="0" rIns="0" bIns="0" anchor="t">
            <a:noAutofit/>
          </a:bodyPr>
          <a:lstStyle>
            <a:defPPr algn="ctr">
              <a:defRPr sz="1800" b="1">
                <a:solidFill>
                  <a:srgbClr val="B4453F"/>
                </a:solidFill>
                <a:latin typeface="Aptos"/>
                <a:ea typeface="Aptos"/>
                <a:cs typeface="Aptos"/>
              </a:defRPr>
            </a:defPPr>
          </a:lstStyle>
          <a:p>
            <a:pPr algn="ctr">
              <a:defRPr sz="1800" b="1">
                <a:solidFill>
                  <a:srgbClr val="B4453F"/>
                </a:solidFill>
                <a:latin typeface="Aptos"/>
                <a:ea typeface="Aptos"/>
                <a:cs typeface="Aptos"/>
              </a:defRPr>
            </a:pPr>
            <a:r>
              <a:rPr sz="1800" b="1">
                <a:solidFill>
                  <a:srgbClr val="B4453F"/>
                </a:solidFill>
                <a:latin typeface="Aptos"/>
                <a:ea typeface="Aptos"/>
                <a:cs typeface="Aptos"/>
              </a:rPr>
              <a:t>-10.0</a:t>
            </a:r>
          </a:p>
        </p:txBody>
      </p:sp>
      <p:sp>
        <p:nvSpPr>
          <p:cNvPr id="9" name="signed-cash-movement">
            <a:extLst>
              <a:ext uri="{FF2B5EF4-FFF2-40B4-BE49-F238E27FC236}">
                <a16:creationId xmlns:a16="http://schemas.microsoft.com/office/drawing/2014/main" id="{00D52FC3-CFC7-41E6-8491-614907AE4FF5}"/>
              </a:ext>
            </a:extLst>
          </p:cNvPr>
          <p:cNvSpPr>
            <a:spLocks noGrp="1"/>
          </p:cNvSpPr>
          <p:nvPr/>
        </p:nvSpPr>
        <p:spPr>
          <a:xfrm>
            <a:off x="9800273" y="2190750"/>
            <a:ext cx="1085850" cy="285750"/>
          </a:xfrm>
          <a:prstGeom prst="rect">
            <a:avLst/>
          </a:prstGeom>
          <a:noFill/>
          <a:ln w="0">
            <a:noFill/>
            <a:prstDash val="solid"/>
          </a:ln>
        </p:spPr>
        <p:txBody>
          <a:bodyPr wrap="square" lIns="0" tIns="0" rIns="0" bIns="0" anchor="t">
            <a:noAutofit/>
          </a:bodyPr>
          <a:lstStyle>
            <a:defPPr algn="ctr">
              <a:defRPr sz="1800" b="1">
                <a:solidFill>
                  <a:srgbClr val="142D3B"/>
                </a:solidFill>
                <a:latin typeface="Aptos"/>
                <a:ea typeface="Aptos"/>
                <a:cs typeface="Aptos"/>
              </a:defRPr>
            </a:defPPr>
          </a:lstStyle>
          <a:p>
            <a:pPr algn="ctr">
              <a:defRPr sz="1800" b="1">
                <a:solidFill>
                  <a:srgbClr val="142D3B"/>
                </a:solidFill>
                <a:latin typeface="Aptos"/>
                <a:ea typeface="Aptos"/>
                <a:cs typeface="Aptos"/>
              </a:defRPr>
            </a:pPr>
            <a:r>
              <a:rPr sz="1800" b="1">
                <a:solidFill>
                  <a:srgbClr val="142D3B"/>
                </a:solidFill>
                <a:latin typeface="Aptos"/>
                <a:ea typeface="Aptos"/>
                <a:cs typeface="Aptos"/>
              </a:rPr>
              <a:t>4.0</a:t>
            </a:r>
          </a:p>
        </p:txBody>
      </p:sp>
      <p:sp>
        <p:nvSpPr>
          <p:cNvPr id="10" name="rule">
            <a:extLst>
              <a:ext uri="{FF2B5EF4-FFF2-40B4-BE49-F238E27FC236}">
                <a16:creationId xmlns:a16="http://schemas.microsoft.com/office/drawing/2014/main" id="{2B2598EE-00A0-4A13-8309-D55AB9C7833E}"/>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1" name="decision-implication">
            <a:extLst>
              <a:ext uri="{FF2B5EF4-FFF2-40B4-BE49-F238E27FC236}">
                <a16:creationId xmlns:a16="http://schemas.microsoft.com/office/drawing/2014/main" id="{F3700079-4ABE-4343-AFAD-78089FB1F276}"/>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Simplified bridge. EBITDA is not the cash available for debt repayment.</a:t>
            </a:r>
          </a:p>
        </p:txBody>
      </p:sp>
    </p:spTree>
    <p:extLst>
      <p:ext uri="{BB962C8B-B14F-4D97-AF65-F5344CB8AC3E}">
        <p14:creationId xmlns:p14="http://schemas.microsoft.com/office/powerpoint/2010/main" val="971736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1" name="section-reference">
            <a:extLst>
              <a:ext uri="{FF2B5EF4-FFF2-40B4-BE49-F238E27FC236}">
                <a16:creationId xmlns:a16="http://schemas.microsoft.com/office/drawing/2014/main" id="{203543FF-AC57-4203-B92F-13217DA7FD5B}"/>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2.1</a:t>
            </a:r>
          </a:p>
        </p:txBody>
      </p:sp>
      <p:sp>
        <p:nvSpPr>
          <p:cNvPr id="2" name="slide-title">
            <a:extLst>
              <a:ext uri="{FF2B5EF4-FFF2-40B4-BE49-F238E27FC236}">
                <a16:creationId xmlns:a16="http://schemas.microsoft.com/office/drawing/2014/main" id="{4AD7DD05-684B-4589-BD9D-53EF7F869765}"/>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Growth creates a funding requirement</a:t>
            </a:r>
          </a:p>
        </p:txBody>
      </p:sp>
      <p:sp>
        <p:nvSpPr>
          <p:cNvPr id="3" name="slide-number">
            <a:extLst>
              <a:ext uri="{FF2B5EF4-FFF2-40B4-BE49-F238E27FC236}">
                <a16:creationId xmlns:a16="http://schemas.microsoft.com/office/drawing/2014/main" id="{6EE1A5B8-AC9B-4042-8E4E-D0AB9BF462FE}"/>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30</a:t>
            </a:r>
          </a:p>
        </p:txBody>
      </p:sp>
      <p:graphicFrame>
        <p:nvGraphicFramePr>
          <p:cNvPr id="4" name="Chart">
            <a:extLst>
              <a:ext uri="{FF2B5EF4-FFF2-40B4-BE49-F238E27FC236}">
                <a16:creationId xmlns:a16="http://schemas.microsoft.com/office/drawing/2014/main" id="{14D50206-D7A5-48FB-9AD1-F33DE7B10A57}"/>
              </a:ext>
            </a:extLst>
          </p:cNvPr>
          <p:cNvGraphicFramePr/>
          <p:nvPr/>
        </p:nvGraphicFramePr>
        <p:xfrm>
          <a:off x="609600" y="1885950"/>
          <a:ext cx="70485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 name="explanation">
            <a:extLst>
              <a:ext uri="{FF2B5EF4-FFF2-40B4-BE49-F238E27FC236}">
                <a16:creationId xmlns:a16="http://schemas.microsoft.com/office/drawing/2014/main" id="{AA56BC12-C085-4380-BD1B-0A50CE2C0D74}"/>
              </a:ext>
            </a:extLst>
          </p:cNvPr>
          <p:cNvSpPr>
            <a:spLocks noGrp="1"/>
          </p:cNvSpPr>
          <p:nvPr/>
        </p:nvSpPr>
        <p:spPr>
          <a:xfrm>
            <a:off x="8286750" y="2133600"/>
            <a:ext cx="3238500" cy="723900"/>
          </a:xfrm>
          <a:prstGeom prst="rect">
            <a:avLst/>
          </a:prstGeom>
          <a:noFill/>
          <a:ln w="0">
            <a:noFill/>
            <a:prstDash val="solid"/>
          </a:ln>
        </p:spPr>
        <p:txBody>
          <a:bodyPr wrap="square" lIns="0" tIns="0" rIns="0" bIns="0" anchor="t">
            <a:noAutofit/>
          </a:bodyPr>
          <a:lstStyle>
            <a:defPPr algn="l">
              <a:defRPr sz="3900" b="1">
                <a:solidFill>
                  <a:srgbClr val="B4453F"/>
                </a:solidFill>
                <a:latin typeface="Aptos"/>
                <a:ea typeface="Aptos"/>
                <a:cs typeface="Aptos"/>
              </a:defRPr>
            </a:defPPr>
          </a:lstStyle>
          <a:p>
            <a:pPr algn="l">
              <a:defRPr sz="3900" b="1">
                <a:solidFill>
                  <a:srgbClr val="B4453F"/>
                </a:solidFill>
                <a:latin typeface="Aptos"/>
                <a:ea typeface="Aptos"/>
                <a:cs typeface="Aptos"/>
              </a:defRPr>
            </a:pPr>
            <a:r>
              <a:rPr sz="3900" b="1">
                <a:solidFill>
                  <a:srgbClr val="B4453F"/>
                </a:solidFill>
                <a:latin typeface="Aptos"/>
                <a:ea typeface="Aptos"/>
                <a:cs typeface="Aptos"/>
              </a:rPr>
              <a:t>€10m</a:t>
            </a:r>
          </a:p>
        </p:txBody>
      </p:sp>
      <p:sp>
        <p:nvSpPr>
          <p:cNvPr id="6" name="explanation">
            <a:extLst>
              <a:ext uri="{FF2B5EF4-FFF2-40B4-BE49-F238E27FC236}">
                <a16:creationId xmlns:a16="http://schemas.microsoft.com/office/drawing/2014/main" id="{128EA36F-7E9D-4427-AAF0-399754A7C9A1}"/>
              </a:ext>
            </a:extLst>
          </p:cNvPr>
          <p:cNvSpPr>
            <a:spLocks noGrp="1"/>
          </p:cNvSpPr>
          <p:nvPr/>
        </p:nvSpPr>
        <p:spPr>
          <a:xfrm>
            <a:off x="8286750" y="2933700"/>
            <a:ext cx="3238500"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Additional WCR to finance</a:t>
            </a:r>
          </a:p>
        </p:txBody>
      </p:sp>
      <p:sp>
        <p:nvSpPr>
          <p:cNvPr id="7" name="explanation">
            <a:extLst>
              <a:ext uri="{FF2B5EF4-FFF2-40B4-BE49-F238E27FC236}">
                <a16:creationId xmlns:a16="http://schemas.microsoft.com/office/drawing/2014/main" id="{0E53FC70-2787-42E3-9E54-649D9EF68035}"/>
              </a:ext>
            </a:extLst>
          </p:cNvPr>
          <p:cNvSpPr>
            <a:spLocks noGrp="1"/>
          </p:cNvSpPr>
          <p:nvPr/>
        </p:nvSpPr>
        <p:spPr>
          <a:xfrm>
            <a:off x="8286750" y="3686175"/>
            <a:ext cx="3238500" cy="819150"/>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20% × (€250m − €200m).</a:t>
            </a:r>
          </a:p>
        </p:txBody>
      </p:sp>
      <p:sp>
        <p:nvSpPr>
          <p:cNvPr id="8" name="explanation">
            <a:extLst>
              <a:ext uri="{FF2B5EF4-FFF2-40B4-BE49-F238E27FC236}">
                <a16:creationId xmlns:a16="http://schemas.microsoft.com/office/drawing/2014/main" id="{DC150916-5FCC-4A02-B5A0-2460428E5F22}"/>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The WCR-to-revenue ratio is assumed stable at 20%. It can deteriorate as the business grows.</a:t>
            </a:r>
          </a:p>
        </p:txBody>
      </p:sp>
      <p:sp>
        <p:nvSpPr>
          <p:cNvPr id="9" name="rule">
            <a:extLst>
              <a:ext uri="{FF2B5EF4-FFF2-40B4-BE49-F238E27FC236}">
                <a16:creationId xmlns:a16="http://schemas.microsoft.com/office/drawing/2014/main" id="{357EE77F-3CD2-4158-926E-6C05E9FA582A}"/>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0" name="decision-implication">
            <a:extLst>
              <a:ext uri="{FF2B5EF4-FFF2-40B4-BE49-F238E27FC236}">
                <a16:creationId xmlns:a16="http://schemas.microsoft.com/office/drawing/2014/main" id="{93CD8EFC-A68B-4181-81E8-9EBA86CD376F}"/>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Secure funding for profitable growth before approving higher sales targets.</a:t>
            </a:r>
          </a:p>
        </p:txBody>
      </p:sp>
    </p:spTree>
    <p:extLst>
      <p:ext uri="{BB962C8B-B14F-4D97-AF65-F5344CB8AC3E}">
        <p14:creationId xmlns:p14="http://schemas.microsoft.com/office/powerpoint/2010/main" val="1399732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cxnSp>
        <p:nvCxnSpPr>
          <p:cNvPr id="22" name="Connecteur droit avec flèche 21">
            <a:extLst>
              <a:ext uri="{FF2B5EF4-FFF2-40B4-BE49-F238E27FC236}">
                <a16:creationId xmlns:a16="http://schemas.microsoft.com/office/drawing/2014/main" id="{53994054-F45B-4E6B-8997-5D60EE365B88}"/>
              </a:ext>
            </a:extLst>
          </p:cNvPr>
          <p:cNvCxnSpPr>
            <a:stCxn id="16" idx="1"/>
            <a:endCxn id="13" idx="3"/>
          </p:cNvCxnSpPr>
          <p:nvPr/>
        </p:nvCxnSpPr>
        <p:spPr>
          <a:xfrm flipH="1">
            <a:off x="7581900" y="4686300"/>
            <a:ext cx="1047750" cy="0"/>
          </a:xfrm>
          <a:prstGeom prst="straightConnector1">
            <a:avLst/>
          </a:prstGeom>
          <a:ln w="17145">
            <a:solidFill>
              <a:srgbClr val="087F83"/>
            </a:solidFill>
            <a:prstDash val="solid"/>
            <a:headEnd type="none" w="med" len="med"/>
            <a:tailEnd type="triangle" w="med" len="med"/>
          </a:ln>
        </p:spPr>
      </p:cxnSp>
      <p:cxnSp>
        <p:nvCxnSpPr>
          <p:cNvPr id="21" name="Connecteur droit avec flèche 20">
            <a:extLst>
              <a:ext uri="{FF2B5EF4-FFF2-40B4-BE49-F238E27FC236}">
                <a16:creationId xmlns:a16="http://schemas.microsoft.com/office/drawing/2014/main" id="{167CFE74-80F8-413C-A74B-78FACD5EE40B}"/>
              </a:ext>
            </a:extLst>
          </p:cNvPr>
          <p:cNvCxnSpPr>
            <a:stCxn id="10" idx="2"/>
            <a:endCxn id="16" idx="0"/>
          </p:cNvCxnSpPr>
          <p:nvPr/>
        </p:nvCxnSpPr>
        <p:spPr>
          <a:xfrm>
            <a:off x="10106025" y="3400425"/>
            <a:ext cx="0" cy="628650"/>
          </a:xfrm>
          <a:prstGeom prst="straightConnector1">
            <a:avLst/>
          </a:prstGeom>
          <a:ln w="17145">
            <a:solidFill>
              <a:srgbClr val="087F83"/>
            </a:solidFill>
            <a:prstDash val="solid"/>
            <a:headEnd type="none" w="med" len="med"/>
            <a:tailEnd type="triangle" w="med" len="med"/>
          </a:ln>
        </p:spPr>
      </p:cxnSp>
      <p:cxnSp>
        <p:nvCxnSpPr>
          <p:cNvPr id="20" name="Connecteur droit avec flèche 19">
            <a:extLst>
              <a:ext uri="{FF2B5EF4-FFF2-40B4-BE49-F238E27FC236}">
                <a16:creationId xmlns:a16="http://schemas.microsoft.com/office/drawing/2014/main" id="{C8814D7B-E64A-4603-AE90-5821E8F25BA7}"/>
              </a:ext>
            </a:extLst>
          </p:cNvPr>
          <p:cNvCxnSpPr>
            <a:stCxn id="7" idx="3"/>
            <a:endCxn id="10" idx="1"/>
          </p:cNvCxnSpPr>
          <p:nvPr/>
        </p:nvCxnSpPr>
        <p:spPr>
          <a:xfrm>
            <a:off x="7581900" y="2743200"/>
            <a:ext cx="1047750" cy="0"/>
          </a:xfrm>
          <a:prstGeom prst="straightConnector1">
            <a:avLst/>
          </a:prstGeom>
          <a:ln w="17145">
            <a:solidFill>
              <a:srgbClr val="087F83"/>
            </a:solidFill>
            <a:prstDash val="solid"/>
            <a:headEnd type="none" w="med" len="med"/>
            <a:tailEnd type="triangle" w="med" len="med"/>
          </a:ln>
        </p:spPr>
      </p:cxnSp>
      <p:cxnSp>
        <p:nvCxnSpPr>
          <p:cNvPr id="19" name="Connecteur droit avec flèche 18">
            <a:extLst>
              <a:ext uri="{FF2B5EF4-FFF2-40B4-BE49-F238E27FC236}">
                <a16:creationId xmlns:a16="http://schemas.microsoft.com/office/drawing/2014/main" id="{B5DEF0FA-3DCD-48D1-815E-4EA1D33578E0}"/>
              </a:ext>
            </a:extLst>
          </p:cNvPr>
          <p:cNvCxnSpPr>
            <a:stCxn id="4" idx="3"/>
            <a:endCxn id="7" idx="1"/>
          </p:cNvCxnSpPr>
          <p:nvPr/>
        </p:nvCxnSpPr>
        <p:spPr>
          <a:xfrm>
            <a:off x="3562350" y="2743200"/>
            <a:ext cx="1066800" cy="0"/>
          </a:xfrm>
          <a:prstGeom prst="straightConnector1">
            <a:avLst/>
          </a:prstGeom>
          <a:ln w="17145">
            <a:solidFill>
              <a:srgbClr val="087F83"/>
            </a:solidFill>
            <a:prstDash val="solid"/>
            <a:headEnd type="none" w="med" len="med"/>
            <a:tailEnd type="triangle" w="med" len="med"/>
          </a:ln>
        </p:spPr>
      </p:cxnSp>
      <p:sp>
        <p:nvSpPr>
          <p:cNvPr id="26" name="section-reference">
            <a:extLst>
              <a:ext uri="{FF2B5EF4-FFF2-40B4-BE49-F238E27FC236}">
                <a16:creationId xmlns:a16="http://schemas.microsoft.com/office/drawing/2014/main" id="{EC270DAB-93F3-44C7-95AE-68EAEC05D687}"/>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2.2</a:t>
            </a:r>
          </a:p>
        </p:txBody>
      </p:sp>
      <p:sp>
        <p:nvSpPr>
          <p:cNvPr id="2" name="slide-title">
            <a:extLst>
              <a:ext uri="{FF2B5EF4-FFF2-40B4-BE49-F238E27FC236}">
                <a16:creationId xmlns:a16="http://schemas.microsoft.com/office/drawing/2014/main" id="{335B5EAA-A231-4F20-B153-60CB446D0C53}"/>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The working capital cycle</a:t>
            </a:r>
          </a:p>
        </p:txBody>
      </p:sp>
      <p:sp>
        <p:nvSpPr>
          <p:cNvPr id="3" name="slide-number">
            <a:extLst>
              <a:ext uri="{FF2B5EF4-FFF2-40B4-BE49-F238E27FC236}">
                <a16:creationId xmlns:a16="http://schemas.microsoft.com/office/drawing/2014/main" id="{6133F8A1-7429-4982-BA09-3F47A47C785D}"/>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31</a:t>
            </a:r>
          </a:p>
        </p:txBody>
      </p:sp>
      <p:sp>
        <p:nvSpPr>
          <p:cNvPr id="4" name="diagram-node">
            <a:extLst>
              <a:ext uri="{FF2B5EF4-FFF2-40B4-BE49-F238E27FC236}">
                <a16:creationId xmlns:a16="http://schemas.microsoft.com/office/drawing/2014/main" id="{65CC081D-1FA4-4ABD-9E69-77073FB0F0A2}"/>
              </a:ext>
            </a:extLst>
          </p:cNvPr>
          <p:cNvSpPr>
            <a:spLocks noGrp="1"/>
          </p:cNvSpPr>
          <p:nvPr/>
        </p:nvSpPr>
        <p:spPr>
          <a:xfrm>
            <a:off x="609600" y="2085975"/>
            <a:ext cx="2952750" cy="1314450"/>
          </a:xfrm>
          <a:prstGeom prst="rect">
            <a:avLst/>
          </a:prstGeom>
          <a:solidFill>
            <a:srgbClr val="142D3B"/>
          </a:solidFill>
          <a:ln w="0">
            <a:noFill/>
            <a:prstDash val="solid"/>
          </a:ln>
        </p:spPr>
        <p:txBody>
          <a:bodyPr/>
          <a:lstStyle/>
          <a:p>
            <a:endParaRPr lang="fr-FR"/>
          </a:p>
        </p:txBody>
      </p:sp>
      <p:sp>
        <p:nvSpPr>
          <p:cNvPr id="5" name="explanation">
            <a:extLst>
              <a:ext uri="{FF2B5EF4-FFF2-40B4-BE49-F238E27FC236}">
                <a16:creationId xmlns:a16="http://schemas.microsoft.com/office/drawing/2014/main" id="{9C2B3AE6-0797-41D6-8ACE-F151D1BB2FC1}"/>
              </a:ext>
            </a:extLst>
          </p:cNvPr>
          <p:cNvSpPr>
            <a:spLocks noGrp="1"/>
          </p:cNvSpPr>
          <p:nvPr/>
        </p:nvSpPr>
        <p:spPr>
          <a:xfrm>
            <a:off x="781050" y="2266950"/>
            <a:ext cx="2609850" cy="571500"/>
          </a:xfrm>
          <a:prstGeom prst="rect">
            <a:avLst/>
          </a:prstGeom>
          <a:noFill/>
          <a:ln w="0">
            <a:noFill/>
            <a:prstDash val="solid"/>
          </a:ln>
        </p:spPr>
        <p:txBody>
          <a:bodyPr wrap="square" lIns="0" tIns="0" rIns="0" bIns="0" anchor="t">
            <a:noAutofit/>
          </a:bodyPr>
          <a:lstStyle>
            <a:defPPr algn="l">
              <a:defRPr sz="2025" b="1">
                <a:solidFill>
                  <a:srgbClr val="FFFFFF"/>
                </a:solidFill>
                <a:latin typeface="Aptos"/>
                <a:ea typeface="Aptos"/>
                <a:cs typeface="Aptos"/>
              </a:defRPr>
            </a:defPPr>
          </a:lstStyle>
          <a:p>
            <a:pPr algn="l">
              <a:defRPr sz="2025" b="1">
                <a:solidFill>
                  <a:srgbClr val="FFFFFF"/>
                </a:solidFill>
                <a:latin typeface="Aptos"/>
                <a:ea typeface="Aptos"/>
                <a:cs typeface="Aptos"/>
              </a:defRPr>
            </a:pPr>
            <a:r>
              <a:rPr sz="2025" b="1">
                <a:solidFill>
                  <a:srgbClr val="FFFFFF"/>
                </a:solidFill>
                <a:latin typeface="Aptos"/>
                <a:ea typeface="Aptos"/>
                <a:cs typeface="Aptos"/>
              </a:rPr>
              <a:t>Cash</a:t>
            </a:r>
          </a:p>
        </p:txBody>
      </p:sp>
      <p:sp>
        <p:nvSpPr>
          <p:cNvPr id="6" name="explanation">
            <a:extLst>
              <a:ext uri="{FF2B5EF4-FFF2-40B4-BE49-F238E27FC236}">
                <a16:creationId xmlns:a16="http://schemas.microsoft.com/office/drawing/2014/main" id="{F48FF9FF-8BE3-4BE8-8136-71B6B06B0AB3}"/>
              </a:ext>
            </a:extLst>
          </p:cNvPr>
          <p:cNvSpPr>
            <a:spLocks noGrp="1"/>
          </p:cNvSpPr>
          <p:nvPr/>
        </p:nvSpPr>
        <p:spPr>
          <a:xfrm>
            <a:off x="781050" y="2867025"/>
            <a:ext cx="2609850" cy="476250"/>
          </a:xfrm>
          <a:prstGeom prst="rect">
            <a:avLst/>
          </a:prstGeom>
          <a:noFill/>
          <a:ln w="0">
            <a:noFill/>
            <a:prstDash val="solid"/>
          </a:ln>
        </p:spPr>
        <p:txBody>
          <a:bodyPr wrap="square" lIns="0" tIns="0" rIns="0" bIns="0" anchor="t">
            <a:noAutofit/>
          </a:bodyPr>
          <a:lstStyle>
            <a:defPPr algn="l">
              <a:defRPr sz="1650" b="0">
                <a:solidFill>
                  <a:srgbClr val="DCE7E9"/>
                </a:solidFill>
                <a:latin typeface="Aptos"/>
                <a:ea typeface="Aptos"/>
                <a:cs typeface="Aptos"/>
              </a:defRPr>
            </a:defPPr>
          </a:lstStyle>
          <a:p>
            <a:pPr algn="l">
              <a:defRPr sz="1650" b="0">
                <a:solidFill>
                  <a:srgbClr val="DCE7E9"/>
                </a:solidFill>
                <a:latin typeface="Aptos"/>
                <a:ea typeface="Aptos"/>
                <a:cs typeface="Aptos"/>
              </a:defRPr>
            </a:pPr>
            <a:r>
              <a:rPr sz="1650" b="0">
                <a:solidFill>
                  <a:srgbClr val="DCE7E9"/>
                </a:solidFill>
                <a:latin typeface="Aptos"/>
                <a:ea typeface="Aptos"/>
                <a:cs typeface="Aptos"/>
              </a:rPr>
              <a:t>Committed to the operating cycle</a:t>
            </a:r>
          </a:p>
        </p:txBody>
      </p:sp>
      <p:sp>
        <p:nvSpPr>
          <p:cNvPr id="7" name="diagram-node">
            <a:extLst>
              <a:ext uri="{FF2B5EF4-FFF2-40B4-BE49-F238E27FC236}">
                <a16:creationId xmlns:a16="http://schemas.microsoft.com/office/drawing/2014/main" id="{27585931-61EE-48E7-8768-0BA772556FB1}"/>
              </a:ext>
            </a:extLst>
          </p:cNvPr>
          <p:cNvSpPr>
            <a:spLocks noGrp="1"/>
          </p:cNvSpPr>
          <p:nvPr/>
        </p:nvSpPr>
        <p:spPr>
          <a:xfrm>
            <a:off x="4629150" y="2085975"/>
            <a:ext cx="2952750" cy="1314450"/>
          </a:xfrm>
          <a:prstGeom prst="rect">
            <a:avLst/>
          </a:prstGeom>
          <a:solidFill>
            <a:srgbClr val="DCEEE9"/>
          </a:solidFill>
          <a:ln w="0">
            <a:noFill/>
            <a:prstDash val="solid"/>
          </a:ln>
        </p:spPr>
        <p:txBody>
          <a:bodyPr/>
          <a:lstStyle/>
          <a:p>
            <a:endParaRPr lang="fr-FR"/>
          </a:p>
        </p:txBody>
      </p:sp>
      <p:sp>
        <p:nvSpPr>
          <p:cNvPr id="8" name="explanation">
            <a:extLst>
              <a:ext uri="{FF2B5EF4-FFF2-40B4-BE49-F238E27FC236}">
                <a16:creationId xmlns:a16="http://schemas.microsoft.com/office/drawing/2014/main" id="{A46282FF-8EB4-4FC2-80FB-5BD0614214AD}"/>
              </a:ext>
            </a:extLst>
          </p:cNvPr>
          <p:cNvSpPr>
            <a:spLocks noGrp="1"/>
          </p:cNvSpPr>
          <p:nvPr/>
        </p:nvSpPr>
        <p:spPr>
          <a:xfrm>
            <a:off x="4800600" y="2266950"/>
            <a:ext cx="2609850" cy="5715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Inventory</a:t>
            </a:r>
          </a:p>
        </p:txBody>
      </p:sp>
      <p:sp>
        <p:nvSpPr>
          <p:cNvPr id="9" name="explanation">
            <a:extLst>
              <a:ext uri="{FF2B5EF4-FFF2-40B4-BE49-F238E27FC236}">
                <a16:creationId xmlns:a16="http://schemas.microsoft.com/office/drawing/2014/main" id="{489D9923-6DAF-497A-B588-E30F7347EC02}"/>
              </a:ext>
            </a:extLst>
          </p:cNvPr>
          <p:cNvSpPr>
            <a:spLocks noGrp="1"/>
          </p:cNvSpPr>
          <p:nvPr/>
        </p:nvSpPr>
        <p:spPr>
          <a:xfrm>
            <a:off x="4800600" y="2867025"/>
            <a:ext cx="2609850" cy="476250"/>
          </a:xfrm>
          <a:prstGeom prst="rect">
            <a:avLst/>
          </a:prstGeom>
          <a:noFill/>
          <a:ln w="0">
            <a:noFill/>
            <a:prstDash val="solid"/>
          </a:ln>
        </p:spPr>
        <p:txBody>
          <a:bodyPr wrap="square" lIns="0" tIns="0" rIns="0" bIns="0" anchor="t">
            <a:noAutofit/>
          </a:bodyPr>
          <a:lstStyle>
            <a:defPPr algn="l">
              <a:defRPr sz="1650" b="0">
                <a:solidFill>
                  <a:srgbClr val="19313F"/>
                </a:solidFill>
                <a:latin typeface="Aptos"/>
                <a:ea typeface="Aptos"/>
                <a:cs typeface="Aptos"/>
              </a:defRPr>
            </a:defPPr>
          </a:lstStyle>
          <a:p>
            <a:pPr algn="l">
              <a:defRPr sz="1650" b="0">
                <a:solidFill>
                  <a:srgbClr val="19313F"/>
                </a:solidFill>
                <a:latin typeface="Aptos"/>
                <a:ea typeface="Aptos"/>
                <a:cs typeface="Aptos"/>
              </a:defRPr>
            </a:pPr>
            <a:r>
              <a:rPr sz="1650" b="0">
                <a:solidFill>
                  <a:srgbClr val="19313F"/>
                </a:solidFill>
                <a:latin typeface="Aptos"/>
                <a:ea typeface="Aptos"/>
                <a:cs typeface="Aptos"/>
              </a:rPr>
              <a:t>Raw materials and finished goods</a:t>
            </a:r>
          </a:p>
        </p:txBody>
      </p:sp>
      <p:sp>
        <p:nvSpPr>
          <p:cNvPr id="10" name="diagram-node">
            <a:extLst>
              <a:ext uri="{FF2B5EF4-FFF2-40B4-BE49-F238E27FC236}">
                <a16:creationId xmlns:a16="http://schemas.microsoft.com/office/drawing/2014/main" id="{C4BA59AD-C798-4EF3-A10C-D2635BF7187E}"/>
              </a:ext>
            </a:extLst>
          </p:cNvPr>
          <p:cNvSpPr>
            <a:spLocks noGrp="1"/>
          </p:cNvSpPr>
          <p:nvPr/>
        </p:nvSpPr>
        <p:spPr>
          <a:xfrm>
            <a:off x="8629650" y="2085975"/>
            <a:ext cx="2952750" cy="1314450"/>
          </a:xfrm>
          <a:prstGeom prst="rect">
            <a:avLst/>
          </a:prstGeom>
          <a:solidFill>
            <a:srgbClr val="142D3B"/>
          </a:solidFill>
          <a:ln w="0">
            <a:noFill/>
            <a:prstDash val="solid"/>
          </a:ln>
        </p:spPr>
        <p:txBody>
          <a:bodyPr/>
          <a:lstStyle/>
          <a:p>
            <a:endParaRPr lang="fr-FR"/>
          </a:p>
        </p:txBody>
      </p:sp>
      <p:sp>
        <p:nvSpPr>
          <p:cNvPr id="11" name="explanation">
            <a:extLst>
              <a:ext uri="{FF2B5EF4-FFF2-40B4-BE49-F238E27FC236}">
                <a16:creationId xmlns:a16="http://schemas.microsoft.com/office/drawing/2014/main" id="{ED9D6262-392B-4684-918B-A509650A4B93}"/>
              </a:ext>
            </a:extLst>
          </p:cNvPr>
          <p:cNvSpPr>
            <a:spLocks noGrp="1"/>
          </p:cNvSpPr>
          <p:nvPr/>
        </p:nvSpPr>
        <p:spPr>
          <a:xfrm>
            <a:off x="8801100" y="2266950"/>
            <a:ext cx="2609850" cy="571500"/>
          </a:xfrm>
          <a:prstGeom prst="rect">
            <a:avLst/>
          </a:prstGeom>
          <a:noFill/>
          <a:ln w="0">
            <a:noFill/>
            <a:prstDash val="solid"/>
          </a:ln>
        </p:spPr>
        <p:txBody>
          <a:bodyPr wrap="square" lIns="0" tIns="0" rIns="0" bIns="0" anchor="t">
            <a:noAutofit/>
          </a:bodyPr>
          <a:lstStyle>
            <a:defPPr algn="l">
              <a:defRPr sz="2025" b="1">
                <a:solidFill>
                  <a:srgbClr val="FFFFFF"/>
                </a:solidFill>
                <a:latin typeface="Aptos"/>
                <a:ea typeface="Aptos"/>
                <a:cs typeface="Aptos"/>
              </a:defRPr>
            </a:defPPr>
          </a:lstStyle>
          <a:p>
            <a:pPr algn="l">
              <a:defRPr sz="2025" b="1">
                <a:solidFill>
                  <a:srgbClr val="FFFFFF"/>
                </a:solidFill>
                <a:latin typeface="Aptos"/>
                <a:ea typeface="Aptos"/>
                <a:cs typeface="Aptos"/>
              </a:defRPr>
            </a:pPr>
            <a:r>
              <a:rPr sz="2025" b="1">
                <a:solidFill>
                  <a:srgbClr val="FFFFFF"/>
                </a:solidFill>
                <a:latin typeface="Aptos"/>
                <a:ea typeface="Aptos"/>
                <a:cs typeface="Aptos"/>
              </a:rPr>
              <a:t>Sales</a:t>
            </a:r>
          </a:p>
        </p:txBody>
      </p:sp>
      <p:sp>
        <p:nvSpPr>
          <p:cNvPr id="12" name="explanation">
            <a:extLst>
              <a:ext uri="{FF2B5EF4-FFF2-40B4-BE49-F238E27FC236}">
                <a16:creationId xmlns:a16="http://schemas.microsoft.com/office/drawing/2014/main" id="{67551A55-31CD-4D9B-AD56-C414B807A6BB}"/>
              </a:ext>
            </a:extLst>
          </p:cNvPr>
          <p:cNvSpPr>
            <a:spLocks noGrp="1"/>
          </p:cNvSpPr>
          <p:nvPr/>
        </p:nvSpPr>
        <p:spPr>
          <a:xfrm>
            <a:off x="8801100" y="2867025"/>
            <a:ext cx="2609850" cy="476250"/>
          </a:xfrm>
          <a:prstGeom prst="rect">
            <a:avLst/>
          </a:prstGeom>
          <a:noFill/>
          <a:ln w="0">
            <a:noFill/>
            <a:prstDash val="solid"/>
          </a:ln>
        </p:spPr>
        <p:txBody>
          <a:bodyPr wrap="square" lIns="0" tIns="0" rIns="0" bIns="0" anchor="t">
            <a:noAutofit/>
          </a:bodyPr>
          <a:lstStyle>
            <a:defPPr algn="l">
              <a:defRPr sz="1650" b="0">
                <a:solidFill>
                  <a:srgbClr val="DCE7E9"/>
                </a:solidFill>
                <a:latin typeface="Aptos"/>
                <a:ea typeface="Aptos"/>
                <a:cs typeface="Aptos"/>
              </a:defRPr>
            </a:defPPr>
          </a:lstStyle>
          <a:p>
            <a:pPr algn="l">
              <a:defRPr sz="1650" b="0">
                <a:solidFill>
                  <a:srgbClr val="DCE7E9"/>
                </a:solidFill>
                <a:latin typeface="Aptos"/>
                <a:ea typeface="Aptos"/>
                <a:cs typeface="Aptos"/>
              </a:defRPr>
            </a:pPr>
            <a:r>
              <a:rPr sz="1650" b="0">
                <a:solidFill>
                  <a:srgbClr val="DCE7E9"/>
                </a:solidFill>
                <a:latin typeface="Aptos"/>
                <a:ea typeface="Aptos"/>
                <a:cs typeface="Aptos"/>
              </a:rPr>
              <a:t>Delivery and invoice</a:t>
            </a:r>
          </a:p>
        </p:txBody>
      </p:sp>
      <p:sp>
        <p:nvSpPr>
          <p:cNvPr id="13" name="diagram-node">
            <a:extLst>
              <a:ext uri="{FF2B5EF4-FFF2-40B4-BE49-F238E27FC236}">
                <a16:creationId xmlns:a16="http://schemas.microsoft.com/office/drawing/2014/main" id="{5BD32BC2-870F-4877-9EDD-51015683BC3E}"/>
              </a:ext>
            </a:extLst>
          </p:cNvPr>
          <p:cNvSpPr>
            <a:spLocks noGrp="1"/>
          </p:cNvSpPr>
          <p:nvPr/>
        </p:nvSpPr>
        <p:spPr>
          <a:xfrm>
            <a:off x="4629150" y="4029075"/>
            <a:ext cx="2952750" cy="1314450"/>
          </a:xfrm>
          <a:prstGeom prst="rect">
            <a:avLst/>
          </a:prstGeom>
          <a:solidFill>
            <a:srgbClr val="DCEEE9"/>
          </a:solidFill>
          <a:ln w="0">
            <a:noFill/>
            <a:prstDash val="solid"/>
          </a:ln>
        </p:spPr>
        <p:txBody>
          <a:bodyPr/>
          <a:lstStyle/>
          <a:p>
            <a:endParaRPr lang="fr-FR"/>
          </a:p>
        </p:txBody>
      </p:sp>
      <p:sp>
        <p:nvSpPr>
          <p:cNvPr id="14" name="explanation">
            <a:extLst>
              <a:ext uri="{FF2B5EF4-FFF2-40B4-BE49-F238E27FC236}">
                <a16:creationId xmlns:a16="http://schemas.microsoft.com/office/drawing/2014/main" id="{16584D81-6399-481B-94F3-F268CB4A9C9C}"/>
              </a:ext>
            </a:extLst>
          </p:cNvPr>
          <p:cNvSpPr>
            <a:spLocks noGrp="1"/>
          </p:cNvSpPr>
          <p:nvPr/>
        </p:nvSpPr>
        <p:spPr>
          <a:xfrm>
            <a:off x="4800600" y="4210050"/>
            <a:ext cx="2609850" cy="5715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Cash collection</a:t>
            </a:r>
          </a:p>
        </p:txBody>
      </p:sp>
      <p:sp>
        <p:nvSpPr>
          <p:cNvPr id="15" name="explanation">
            <a:extLst>
              <a:ext uri="{FF2B5EF4-FFF2-40B4-BE49-F238E27FC236}">
                <a16:creationId xmlns:a16="http://schemas.microsoft.com/office/drawing/2014/main" id="{916F08E2-7DC1-4546-B5FC-DEF8E7A8D961}"/>
              </a:ext>
            </a:extLst>
          </p:cNvPr>
          <p:cNvSpPr>
            <a:spLocks noGrp="1"/>
          </p:cNvSpPr>
          <p:nvPr/>
        </p:nvSpPr>
        <p:spPr>
          <a:xfrm>
            <a:off x="4800600" y="4810125"/>
            <a:ext cx="2609850" cy="476250"/>
          </a:xfrm>
          <a:prstGeom prst="rect">
            <a:avLst/>
          </a:prstGeom>
          <a:noFill/>
          <a:ln w="0">
            <a:noFill/>
            <a:prstDash val="solid"/>
          </a:ln>
        </p:spPr>
        <p:txBody>
          <a:bodyPr wrap="square" lIns="0" tIns="0" rIns="0" bIns="0" anchor="t">
            <a:noAutofit/>
          </a:bodyPr>
          <a:lstStyle>
            <a:defPPr algn="l">
              <a:defRPr sz="1650" b="0">
                <a:solidFill>
                  <a:srgbClr val="19313F"/>
                </a:solidFill>
                <a:latin typeface="Aptos"/>
                <a:ea typeface="Aptos"/>
                <a:cs typeface="Aptos"/>
              </a:defRPr>
            </a:defPPr>
          </a:lstStyle>
          <a:p>
            <a:pPr algn="l">
              <a:defRPr sz="1650" b="0">
                <a:solidFill>
                  <a:srgbClr val="19313F"/>
                </a:solidFill>
                <a:latin typeface="Aptos"/>
                <a:ea typeface="Aptos"/>
                <a:cs typeface="Aptos"/>
              </a:defRPr>
            </a:pPr>
            <a:r>
              <a:rPr sz="1650" b="0">
                <a:solidFill>
                  <a:srgbClr val="19313F"/>
                </a:solidFill>
                <a:latin typeface="Aptos"/>
                <a:ea typeface="Aptos"/>
                <a:cs typeface="Aptos"/>
              </a:rPr>
              <a:t>Receivables convert into liquidity</a:t>
            </a:r>
          </a:p>
        </p:txBody>
      </p:sp>
      <p:sp>
        <p:nvSpPr>
          <p:cNvPr id="16" name="diagram-node">
            <a:extLst>
              <a:ext uri="{FF2B5EF4-FFF2-40B4-BE49-F238E27FC236}">
                <a16:creationId xmlns:a16="http://schemas.microsoft.com/office/drawing/2014/main" id="{6E54814D-CD67-4F18-88A8-F3ABEB37FC18}"/>
              </a:ext>
            </a:extLst>
          </p:cNvPr>
          <p:cNvSpPr>
            <a:spLocks noGrp="1"/>
          </p:cNvSpPr>
          <p:nvPr/>
        </p:nvSpPr>
        <p:spPr>
          <a:xfrm>
            <a:off x="8629650" y="4029075"/>
            <a:ext cx="2952750" cy="1314450"/>
          </a:xfrm>
          <a:prstGeom prst="rect">
            <a:avLst/>
          </a:prstGeom>
          <a:solidFill>
            <a:srgbClr val="DCEEE9"/>
          </a:solidFill>
          <a:ln w="0">
            <a:noFill/>
            <a:prstDash val="solid"/>
          </a:ln>
        </p:spPr>
        <p:txBody>
          <a:bodyPr/>
          <a:lstStyle/>
          <a:p>
            <a:endParaRPr lang="fr-FR"/>
          </a:p>
        </p:txBody>
      </p:sp>
      <p:sp>
        <p:nvSpPr>
          <p:cNvPr id="17" name="explanation">
            <a:extLst>
              <a:ext uri="{FF2B5EF4-FFF2-40B4-BE49-F238E27FC236}">
                <a16:creationId xmlns:a16="http://schemas.microsoft.com/office/drawing/2014/main" id="{276681CA-A7F9-4F94-BD58-58C034150602}"/>
              </a:ext>
            </a:extLst>
          </p:cNvPr>
          <p:cNvSpPr>
            <a:spLocks noGrp="1"/>
          </p:cNvSpPr>
          <p:nvPr/>
        </p:nvSpPr>
        <p:spPr>
          <a:xfrm>
            <a:off x="8801100" y="4210050"/>
            <a:ext cx="2609850" cy="57150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Receivables</a:t>
            </a:r>
          </a:p>
        </p:txBody>
      </p:sp>
      <p:sp>
        <p:nvSpPr>
          <p:cNvPr id="18" name="explanation">
            <a:extLst>
              <a:ext uri="{FF2B5EF4-FFF2-40B4-BE49-F238E27FC236}">
                <a16:creationId xmlns:a16="http://schemas.microsoft.com/office/drawing/2014/main" id="{3201CB3A-AB19-4253-A005-8120BEC9213B}"/>
              </a:ext>
            </a:extLst>
          </p:cNvPr>
          <p:cNvSpPr>
            <a:spLocks noGrp="1"/>
          </p:cNvSpPr>
          <p:nvPr/>
        </p:nvSpPr>
        <p:spPr>
          <a:xfrm>
            <a:off x="8801100" y="4810125"/>
            <a:ext cx="2609850" cy="476250"/>
          </a:xfrm>
          <a:prstGeom prst="rect">
            <a:avLst/>
          </a:prstGeom>
          <a:noFill/>
          <a:ln w="0">
            <a:noFill/>
            <a:prstDash val="solid"/>
          </a:ln>
        </p:spPr>
        <p:txBody>
          <a:bodyPr wrap="square" lIns="0" tIns="0" rIns="0" bIns="0" anchor="t">
            <a:noAutofit/>
          </a:bodyPr>
          <a:lstStyle>
            <a:defPPr algn="l">
              <a:defRPr sz="1650" b="0">
                <a:solidFill>
                  <a:srgbClr val="19313F"/>
                </a:solidFill>
                <a:latin typeface="Aptos"/>
                <a:ea typeface="Aptos"/>
                <a:cs typeface="Aptos"/>
              </a:defRPr>
            </a:defPPr>
          </a:lstStyle>
          <a:p>
            <a:pPr algn="l">
              <a:defRPr sz="1650" b="0">
                <a:solidFill>
                  <a:srgbClr val="19313F"/>
                </a:solidFill>
                <a:latin typeface="Aptos"/>
                <a:ea typeface="Aptos"/>
                <a:cs typeface="Aptos"/>
              </a:defRPr>
            </a:pPr>
            <a:r>
              <a:rPr sz="1650" b="0">
                <a:solidFill>
                  <a:srgbClr val="19313F"/>
                </a:solidFill>
                <a:latin typeface="Aptos"/>
                <a:ea typeface="Aptos"/>
                <a:cs typeface="Aptos"/>
              </a:rPr>
              <a:t>Customer financing until payment</a:t>
            </a:r>
          </a:p>
        </p:txBody>
      </p:sp>
      <p:sp>
        <p:nvSpPr>
          <p:cNvPr id="23" name="explanation">
            <a:extLst>
              <a:ext uri="{FF2B5EF4-FFF2-40B4-BE49-F238E27FC236}">
                <a16:creationId xmlns:a16="http://schemas.microsoft.com/office/drawing/2014/main" id="{CACF90A0-892F-4EC9-9C1B-9E1591258DA0}"/>
              </a:ext>
            </a:extLst>
          </p:cNvPr>
          <p:cNvSpPr>
            <a:spLocks noGrp="1"/>
          </p:cNvSpPr>
          <p:nvPr/>
        </p:nvSpPr>
        <p:spPr>
          <a:xfrm>
            <a:off x="609600" y="4114800"/>
            <a:ext cx="2905125" cy="1009650"/>
          </a:xfrm>
          <a:prstGeom prst="rect">
            <a:avLst/>
          </a:prstGeom>
          <a:noFill/>
          <a:ln w="0">
            <a:noFill/>
            <a:prstDash val="solid"/>
          </a:ln>
        </p:spPr>
        <p:txBody>
          <a:bodyPr wrap="square" lIns="0" tIns="0" rIns="0" bIns="0" anchor="t">
            <a:noAutofit/>
          </a:bodyPr>
          <a:lstStyle>
            <a:defPPr algn="l">
              <a:defRPr sz="2025" b="1">
                <a:solidFill>
                  <a:srgbClr val="087F83"/>
                </a:solidFill>
                <a:latin typeface="Aptos"/>
                <a:ea typeface="Aptos"/>
                <a:cs typeface="Aptos"/>
              </a:defRPr>
            </a:defPPr>
          </a:lstStyle>
          <a:p>
            <a:pPr algn="l">
              <a:defRPr sz="2025" b="1">
                <a:solidFill>
                  <a:srgbClr val="087F83"/>
                </a:solidFill>
                <a:latin typeface="Aptos"/>
                <a:ea typeface="Aptos"/>
                <a:cs typeface="Aptos"/>
              </a:defRPr>
            </a:pPr>
            <a:r>
              <a:rPr sz="2025" b="1">
                <a:solidFill>
                  <a:srgbClr val="087F83"/>
                </a:solidFill>
                <a:latin typeface="Aptos"/>
                <a:ea typeface="Aptos"/>
                <a:cs typeface="Aptos"/>
              </a:rPr>
              <a:t>Supplier credit delays part of the cash outflow.</a:t>
            </a:r>
          </a:p>
        </p:txBody>
      </p:sp>
      <p:sp>
        <p:nvSpPr>
          <p:cNvPr id="24" name="rule">
            <a:extLst>
              <a:ext uri="{FF2B5EF4-FFF2-40B4-BE49-F238E27FC236}">
                <a16:creationId xmlns:a16="http://schemas.microsoft.com/office/drawing/2014/main" id="{33A3737D-34E1-4A30-BC75-34369B7644FE}"/>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25" name="decision-implication">
            <a:extLst>
              <a:ext uri="{FF2B5EF4-FFF2-40B4-BE49-F238E27FC236}">
                <a16:creationId xmlns:a16="http://schemas.microsoft.com/office/drawing/2014/main" id="{005C9FBC-4AAF-450F-BC0F-AC25691050EE}"/>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Supplier credit changes when cash leaves. Service businesses may have little inventory.</a:t>
            </a:r>
          </a:p>
        </p:txBody>
      </p:sp>
    </p:spTree>
    <p:extLst>
      <p:ext uri="{BB962C8B-B14F-4D97-AF65-F5344CB8AC3E}">
        <p14:creationId xmlns:p14="http://schemas.microsoft.com/office/powerpoint/2010/main" val="370038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4" name="section-reference">
            <a:extLst>
              <a:ext uri="{FF2B5EF4-FFF2-40B4-BE49-F238E27FC236}">
                <a16:creationId xmlns:a16="http://schemas.microsoft.com/office/drawing/2014/main" id="{B823ACBC-C63E-4D4C-A36C-082A099D85E3}"/>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2.2</a:t>
            </a:r>
          </a:p>
        </p:txBody>
      </p:sp>
      <p:sp>
        <p:nvSpPr>
          <p:cNvPr id="2" name="slide-title">
            <a:extLst>
              <a:ext uri="{FF2B5EF4-FFF2-40B4-BE49-F238E27FC236}">
                <a16:creationId xmlns:a16="http://schemas.microsoft.com/office/drawing/2014/main" id="{A26D3A7B-C9BC-42B7-A563-F7C61BE806CD}"/>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What each balance means</a:t>
            </a:r>
          </a:p>
        </p:txBody>
      </p:sp>
      <p:sp>
        <p:nvSpPr>
          <p:cNvPr id="3" name="slide-number">
            <a:extLst>
              <a:ext uri="{FF2B5EF4-FFF2-40B4-BE49-F238E27FC236}">
                <a16:creationId xmlns:a16="http://schemas.microsoft.com/office/drawing/2014/main" id="{49443A76-C62E-4DC6-B74B-2119B32E5F5E}"/>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32</a:t>
            </a:r>
          </a:p>
        </p:txBody>
      </p:sp>
      <p:sp>
        <p:nvSpPr>
          <p:cNvPr id="4" name="explanation">
            <a:extLst>
              <a:ext uri="{FF2B5EF4-FFF2-40B4-BE49-F238E27FC236}">
                <a16:creationId xmlns:a16="http://schemas.microsoft.com/office/drawing/2014/main" id="{F1DC2CC0-5B40-4D85-9960-5C991A259A51}"/>
              </a:ext>
            </a:extLst>
          </p:cNvPr>
          <p:cNvSpPr>
            <a:spLocks noGrp="1"/>
          </p:cNvSpPr>
          <p:nvPr/>
        </p:nvSpPr>
        <p:spPr>
          <a:xfrm>
            <a:off x="609600" y="1952625"/>
            <a:ext cx="2143125"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Inventory</a:t>
            </a:r>
          </a:p>
        </p:txBody>
      </p:sp>
      <p:sp>
        <p:nvSpPr>
          <p:cNvPr id="5" name="explanation">
            <a:extLst>
              <a:ext uri="{FF2B5EF4-FFF2-40B4-BE49-F238E27FC236}">
                <a16:creationId xmlns:a16="http://schemas.microsoft.com/office/drawing/2014/main" id="{BBFA205E-643C-4FE9-ADBA-94E986205622}"/>
              </a:ext>
            </a:extLst>
          </p:cNvPr>
          <p:cNvSpPr>
            <a:spLocks noGrp="1"/>
          </p:cNvSpPr>
          <p:nvPr/>
        </p:nvSpPr>
        <p:spPr>
          <a:xfrm>
            <a:off x="2895600" y="1952625"/>
            <a:ext cx="8686800" cy="10287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Cash tied up. Safety stock and service.</a:t>
            </a:r>
          </a:p>
        </p:txBody>
      </p:sp>
      <p:sp>
        <p:nvSpPr>
          <p:cNvPr id="6" name="rule">
            <a:extLst>
              <a:ext uri="{FF2B5EF4-FFF2-40B4-BE49-F238E27FC236}">
                <a16:creationId xmlns:a16="http://schemas.microsoft.com/office/drawing/2014/main" id="{BD78BFF9-5189-4742-AF2E-8849AA824BF7}"/>
              </a:ext>
            </a:extLst>
          </p:cNvPr>
          <p:cNvSpPr>
            <a:spLocks noGrp="1"/>
          </p:cNvSpPr>
          <p:nvPr/>
        </p:nvSpPr>
        <p:spPr>
          <a:xfrm>
            <a:off x="609600" y="2971800"/>
            <a:ext cx="10972800" cy="0"/>
          </a:xfrm>
          <a:prstGeom prst="line">
            <a:avLst/>
          </a:prstGeom>
          <a:noFill/>
          <a:ln w="9525">
            <a:solidFill>
              <a:srgbClr val="CCD6D9"/>
            </a:solidFill>
            <a:prstDash val="solid"/>
          </a:ln>
        </p:spPr>
        <p:txBody>
          <a:bodyPr/>
          <a:lstStyle/>
          <a:p>
            <a:endParaRPr lang="fr-FR"/>
          </a:p>
        </p:txBody>
      </p:sp>
      <p:sp>
        <p:nvSpPr>
          <p:cNvPr id="7" name="explanation">
            <a:extLst>
              <a:ext uri="{FF2B5EF4-FFF2-40B4-BE49-F238E27FC236}">
                <a16:creationId xmlns:a16="http://schemas.microsoft.com/office/drawing/2014/main" id="{9E6A5551-FC99-484B-9F97-69974DBF201D}"/>
              </a:ext>
            </a:extLst>
          </p:cNvPr>
          <p:cNvSpPr>
            <a:spLocks noGrp="1"/>
          </p:cNvSpPr>
          <p:nvPr/>
        </p:nvSpPr>
        <p:spPr>
          <a:xfrm>
            <a:off x="609600" y="3095625"/>
            <a:ext cx="2143125"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Receivables</a:t>
            </a:r>
          </a:p>
        </p:txBody>
      </p:sp>
      <p:sp>
        <p:nvSpPr>
          <p:cNvPr id="8" name="explanation">
            <a:extLst>
              <a:ext uri="{FF2B5EF4-FFF2-40B4-BE49-F238E27FC236}">
                <a16:creationId xmlns:a16="http://schemas.microsoft.com/office/drawing/2014/main" id="{CB151FE1-BF75-4A73-BEC1-CB53871C838B}"/>
              </a:ext>
            </a:extLst>
          </p:cNvPr>
          <p:cNvSpPr>
            <a:spLocks noGrp="1"/>
          </p:cNvSpPr>
          <p:nvPr/>
        </p:nvSpPr>
        <p:spPr>
          <a:xfrm>
            <a:off x="2895600" y="3095625"/>
            <a:ext cx="8686800" cy="10287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Customer financing. Sales and credit risk.</a:t>
            </a:r>
          </a:p>
        </p:txBody>
      </p:sp>
      <p:sp>
        <p:nvSpPr>
          <p:cNvPr id="9" name="rule">
            <a:extLst>
              <a:ext uri="{FF2B5EF4-FFF2-40B4-BE49-F238E27FC236}">
                <a16:creationId xmlns:a16="http://schemas.microsoft.com/office/drawing/2014/main" id="{83D6AD7B-C011-4F7A-A8E3-BFC78C31B038}"/>
              </a:ext>
            </a:extLst>
          </p:cNvPr>
          <p:cNvSpPr>
            <a:spLocks noGrp="1"/>
          </p:cNvSpPr>
          <p:nvPr/>
        </p:nvSpPr>
        <p:spPr>
          <a:xfrm>
            <a:off x="609600" y="4114800"/>
            <a:ext cx="10972800" cy="0"/>
          </a:xfrm>
          <a:prstGeom prst="line">
            <a:avLst/>
          </a:prstGeom>
          <a:noFill/>
          <a:ln w="9525">
            <a:solidFill>
              <a:srgbClr val="CCD6D9"/>
            </a:solidFill>
            <a:prstDash val="solid"/>
          </a:ln>
        </p:spPr>
        <p:txBody>
          <a:bodyPr/>
          <a:lstStyle/>
          <a:p>
            <a:endParaRPr lang="fr-FR"/>
          </a:p>
        </p:txBody>
      </p:sp>
      <p:sp>
        <p:nvSpPr>
          <p:cNvPr id="10" name="explanation">
            <a:extLst>
              <a:ext uri="{FF2B5EF4-FFF2-40B4-BE49-F238E27FC236}">
                <a16:creationId xmlns:a16="http://schemas.microsoft.com/office/drawing/2014/main" id="{3D7501A7-A275-4D28-8128-034F9FBA35D6}"/>
              </a:ext>
            </a:extLst>
          </p:cNvPr>
          <p:cNvSpPr>
            <a:spLocks noGrp="1"/>
          </p:cNvSpPr>
          <p:nvPr/>
        </p:nvSpPr>
        <p:spPr>
          <a:xfrm>
            <a:off x="609600" y="4238625"/>
            <a:ext cx="2143125"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Payables</a:t>
            </a:r>
          </a:p>
        </p:txBody>
      </p:sp>
      <p:sp>
        <p:nvSpPr>
          <p:cNvPr id="11" name="explanation">
            <a:extLst>
              <a:ext uri="{FF2B5EF4-FFF2-40B4-BE49-F238E27FC236}">
                <a16:creationId xmlns:a16="http://schemas.microsoft.com/office/drawing/2014/main" id="{C4CC86C1-A764-4CF8-AD87-50562B8F0110}"/>
              </a:ext>
            </a:extLst>
          </p:cNvPr>
          <p:cNvSpPr>
            <a:spLocks noGrp="1"/>
          </p:cNvSpPr>
          <p:nvPr/>
        </p:nvSpPr>
        <p:spPr>
          <a:xfrm>
            <a:off x="2895600" y="4238625"/>
            <a:ext cx="8686800" cy="1028700"/>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Supplier financing. Agreed terms and supplier health.</a:t>
            </a:r>
          </a:p>
        </p:txBody>
      </p:sp>
      <p:sp>
        <p:nvSpPr>
          <p:cNvPr id="12" name="rule">
            <a:extLst>
              <a:ext uri="{FF2B5EF4-FFF2-40B4-BE49-F238E27FC236}">
                <a16:creationId xmlns:a16="http://schemas.microsoft.com/office/drawing/2014/main" id="{DC204C61-C043-4624-A835-5D94CEDDF1A1}"/>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3" name="decision-implication">
            <a:extLst>
              <a:ext uri="{FF2B5EF4-FFF2-40B4-BE49-F238E27FC236}">
                <a16:creationId xmlns:a16="http://schemas.microsoft.com/office/drawing/2014/main" id="{A7FCED24-91DB-4C14-8FDF-4510FFB9F238}"/>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Ask why a balance exists before asking how to reduce it.</a:t>
            </a:r>
          </a:p>
        </p:txBody>
      </p:sp>
    </p:spTree>
    <p:extLst>
      <p:ext uri="{BB962C8B-B14F-4D97-AF65-F5344CB8AC3E}">
        <p14:creationId xmlns:p14="http://schemas.microsoft.com/office/powerpoint/2010/main" val="238993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3" name="section-reference">
            <a:extLst>
              <a:ext uri="{FF2B5EF4-FFF2-40B4-BE49-F238E27FC236}">
                <a16:creationId xmlns:a16="http://schemas.microsoft.com/office/drawing/2014/main" id="{23BB8587-9183-42CD-9CDF-0C36F9AFCE56}"/>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2.2</a:t>
            </a:r>
          </a:p>
        </p:txBody>
      </p:sp>
      <p:sp>
        <p:nvSpPr>
          <p:cNvPr id="2" name="slide-title">
            <a:extLst>
              <a:ext uri="{FF2B5EF4-FFF2-40B4-BE49-F238E27FC236}">
                <a16:creationId xmlns:a16="http://schemas.microsoft.com/office/drawing/2014/main" id="{74429750-659A-4B61-8F6D-D56462A1154C}"/>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Measure operating WCR consistently</a:t>
            </a:r>
          </a:p>
        </p:txBody>
      </p:sp>
      <p:sp>
        <p:nvSpPr>
          <p:cNvPr id="3" name="slide-number">
            <a:extLst>
              <a:ext uri="{FF2B5EF4-FFF2-40B4-BE49-F238E27FC236}">
                <a16:creationId xmlns:a16="http://schemas.microsoft.com/office/drawing/2014/main" id="{04E80661-E3AF-4DEA-B422-2983C5AA118F}"/>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33</a:t>
            </a:r>
          </a:p>
        </p:txBody>
      </p:sp>
      <p:sp>
        <p:nvSpPr>
          <p:cNvPr id="4" name="explanation">
            <a:extLst>
              <a:ext uri="{FF2B5EF4-FFF2-40B4-BE49-F238E27FC236}">
                <a16:creationId xmlns:a16="http://schemas.microsoft.com/office/drawing/2014/main" id="{161624EB-35E3-419C-9799-8E74092AFD46}"/>
              </a:ext>
            </a:extLst>
          </p:cNvPr>
          <p:cNvSpPr>
            <a:spLocks noGrp="1"/>
          </p:cNvSpPr>
          <p:nvPr/>
        </p:nvSpPr>
        <p:spPr>
          <a:xfrm>
            <a:off x="609600" y="2076450"/>
            <a:ext cx="3143250" cy="723900"/>
          </a:xfrm>
          <a:prstGeom prst="rect">
            <a:avLst/>
          </a:prstGeom>
          <a:noFill/>
          <a:ln w="0">
            <a:noFill/>
            <a:prstDash val="solid"/>
          </a:ln>
        </p:spPr>
        <p:txBody>
          <a:bodyPr wrap="square" lIns="0" tIns="0" rIns="0" bIns="0" anchor="t">
            <a:noAutofit/>
          </a:bodyPr>
          <a:lstStyle>
            <a:defPPr algn="l">
              <a:defRPr sz="3900" b="1">
                <a:solidFill>
                  <a:srgbClr val="19313F"/>
                </a:solidFill>
                <a:latin typeface="Aptos"/>
                <a:ea typeface="Aptos"/>
                <a:cs typeface="Aptos"/>
              </a:defRPr>
            </a:defPPr>
          </a:lstStyle>
          <a:p>
            <a:pPr algn="l">
              <a:defRPr sz="3900" b="1">
                <a:solidFill>
                  <a:srgbClr val="19313F"/>
                </a:solidFill>
                <a:latin typeface="Aptos"/>
                <a:ea typeface="Aptos"/>
                <a:cs typeface="Aptos"/>
              </a:defRPr>
            </a:pPr>
            <a:r>
              <a:rPr sz="3900" b="1">
                <a:solidFill>
                  <a:srgbClr val="19313F"/>
                </a:solidFill>
                <a:latin typeface="Aptos"/>
                <a:ea typeface="Aptos"/>
                <a:cs typeface="Aptos"/>
              </a:rPr>
              <a:t>€40m</a:t>
            </a:r>
          </a:p>
        </p:txBody>
      </p:sp>
      <p:sp>
        <p:nvSpPr>
          <p:cNvPr id="5" name="explanation">
            <a:extLst>
              <a:ext uri="{FF2B5EF4-FFF2-40B4-BE49-F238E27FC236}">
                <a16:creationId xmlns:a16="http://schemas.microsoft.com/office/drawing/2014/main" id="{ACB586EE-5613-414E-AD5F-5FE9E73E995B}"/>
              </a:ext>
            </a:extLst>
          </p:cNvPr>
          <p:cNvSpPr>
            <a:spLocks noGrp="1"/>
          </p:cNvSpPr>
          <p:nvPr/>
        </p:nvSpPr>
        <p:spPr>
          <a:xfrm>
            <a:off x="609600" y="2876550"/>
            <a:ext cx="3143250"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Opening WCR</a:t>
            </a:r>
          </a:p>
        </p:txBody>
      </p:sp>
      <p:sp>
        <p:nvSpPr>
          <p:cNvPr id="6" name="explanation">
            <a:extLst>
              <a:ext uri="{FF2B5EF4-FFF2-40B4-BE49-F238E27FC236}">
                <a16:creationId xmlns:a16="http://schemas.microsoft.com/office/drawing/2014/main" id="{AC150805-B775-4315-BD88-E052DEF518C2}"/>
              </a:ext>
            </a:extLst>
          </p:cNvPr>
          <p:cNvSpPr>
            <a:spLocks noGrp="1"/>
          </p:cNvSpPr>
          <p:nvPr/>
        </p:nvSpPr>
        <p:spPr>
          <a:xfrm>
            <a:off x="4286250" y="2076450"/>
            <a:ext cx="3143250" cy="723900"/>
          </a:xfrm>
          <a:prstGeom prst="rect">
            <a:avLst/>
          </a:prstGeom>
          <a:noFill/>
          <a:ln w="0">
            <a:noFill/>
            <a:prstDash val="solid"/>
          </a:ln>
        </p:spPr>
        <p:txBody>
          <a:bodyPr wrap="square" lIns="0" tIns="0" rIns="0" bIns="0" anchor="t">
            <a:noAutofit/>
          </a:bodyPr>
          <a:lstStyle>
            <a:defPPr algn="l">
              <a:defRPr sz="3900" b="1">
                <a:solidFill>
                  <a:srgbClr val="19313F"/>
                </a:solidFill>
                <a:latin typeface="Aptos"/>
                <a:ea typeface="Aptos"/>
                <a:cs typeface="Aptos"/>
              </a:defRPr>
            </a:defPPr>
          </a:lstStyle>
          <a:p>
            <a:pPr algn="l">
              <a:defRPr sz="3900" b="1">
                <a:solidFill>
                  <a:srgbClr val="19313F"/>
                </a:solidFill>
                <a:latin typeface="Aptos"/>
                <a:ea typeface="Aptos"/>
                <a:cs typeface="Aptos"/>
              </a:defRPr>
            </a:pPr>
            <a:r>
              <a:rPr sz="3900" b="1">
                <a:solidFill>
                  <a:srgbClr val="19313F"/>
                </a:solidFill>
                <a:latin typeface="Aptos"/>
                <a:ea typeface="Aptos"/>
                <a:cs typeface="Aptos"/>
              </a:rPr>
              <a:t>€55m</a:t>
            </a:r>
          </a:p>
        </p:txBody>
      </p:sp>
      <p:sp>
        <p:nvSpPr>
          <p:cNvPr id="7" name="explanation">
            <a:extLst>
              <a:ext uri="{FF2B5EF4-FFF2-40B4-BE49-F238E27FC236}">
                <a16:creationId xmlns:a16="http://schemas.microsoft.com/office/drawing/2014/main" id="{72A6AE26-99B2-4E95-8E4C-1D999790BC65}"/>
              </a:ext>
            </a:extLst>
          </p:cNvPr>
          <p:cNvSpPr>
            <a:spLocks noGrp="1"/>
          </p:cNvSpPr>
          <p:nvPr/>
        </p:nvSpPr>
        <p:spPr>
          <a:xfrm>
            <a:off x="4286250" y="2876550"/>
            <a:ext cx="3143250"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Closing WCR</a:t>
            </a:r>
          </a:p>
        </p:txBody>
      </p:sp>
      <p:sp>
        <p:nvSpPr>
          <p:cNvPr id="8" name="explanation">
            <a:extLst>
              <a:ext uri="{FF2B5EF4-FFF2-40B4-BE49-F238E27FC236}">
                <a16:creationId xmlns:a16="http://schemas.microsoft.com/office/drawing/2014/main" id="{DD4CA8FF-925F-42FE-A48C-5437DB7F1338}"/>
              </a:ext>
            </a:extLst>
          </p:cNvPr>
          <p:cNvSpPr>
            <a:spLocks noGrp="1"/>
          </p:cNvSpPr>
          <p:nvPr/>
        </p:nvSpPr>
        <p:spPr>
          <a:xfrm>
            <a:off x="7962900" y="2076450"/>
            <a:ext cx="3476625" cy="723900"/>
          </a:xfrm>
          <a:prstGeom prst="rect">
            <a:avLst/>
          </a:prstGeom>
          <a:noFill/>
          <a:ln w="0">
            <a:noFill/>
            <a:prstDash val="solid"/>
          </a:ln>
        </p:spPr>
        <p:txBody>
          <a:bodyPr wrap="square" lIns="0" tIns="0" rIns="0" bIns="0" anchor="t">
            <a:noAutofit/>
          </a:bodyPr>
          <a:lstStyle>
            <a:defPPr algn="l">
              <a:defRPr sz="3900" b="1">
                <a:solidFill>
                  <a:srgbClr val="B4453F"/>
                </a:solidFill>
                <a:latin typeface="Aptos"/>
                <a:ea typeface="Aptos"/>
                <a:cs typeface="Aptos"/>
              </a:defRPr>
            </a:defPPr>
          </a:lstStyle>
          <a:p>
            <a:pPr algn="l">
              <a:defRPr sz="3900" b="1">
                <a:solidFill>
                  <a:srgbClr val="B4453F"/>
                </a:solidFill>
                <a:latin typeface="Aptos"/>
                <a:ea typeface="Aptos"/>
                <a:cs typeface="Aptos"/>
              </a:defRPr>
            </a:pPr>
            <a:r>
              <a:rPr sz="3900" b="1">
                <a:solidFill>
                  <a:srgbClr val="B4453F"/>
                </a:solidFill>
                <a:latin typeface="Aptos"/>
                <a:ea typeface="Aptos"/>
                <a:cs typeface="Aptos"/>
              </a:rPr>
              <a:t>−€15m</a:t>
            </a:r>
          </a:p>
        </p:txBody>
      </p:sp>
      <p:sp>
        <p:nvSpPr>
          <p:cNvPr id="9" name="explanation">
            <a:extLst>
              <a:ext uri="{FF2B5EF4-FFF2-40B4-BE49-F238E27FC236}">
                <a16:creationId xmlns:a16="http://schemas.microsoft.com/office/drawing/2014/main" id="{CC521704-F23F-4168-8F4E-45EE5164B026}"/>
              </a:ext>
            </a:extLst>
          </p:cNvPr>
          <p:cNvSpPr>
            <a:spLocks noGrp="1"/>
          </p:cNvSpPr>
          <p:nvPr/>
        </p:nvSpPr>
        <p:spPr>
          <a:xfrm>
            <a:off x="7962900" y="2876550"/>
            <a:ext cx="347662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Cash consequence</a:t>
            </a:r>
          </a:p>
        </p:txBody>
      </p:sp>
      <p:sp>
        <p:nvSpPr>
          <p:cNvPr id="10" name="explanation">
            <a:extLst>
              <a:ext uri="{FF2B5EF4-FFF2-40B4-BE49-F238E27FC236}">
                <a16:creationId xmlns:a16="http://schemas.microsoft.com/office/drawing/2014/main" id="{D8A100EE-5CD3-4EC7-BA99-4F2C28578A96}"/>
              </a:ext>
            </a:extLst>
          </p:cNvPr>
          <p:cNvSpPr>
            <a:spLocks noGrp="1"/>
          </p:cNvSpPr>
          <p:nvPr/>
        </p:nvSpPr>
        <p:spPr>
          <a:xfrm>
            <a:off x="609600" y="4410075"/>
            <a:ext cx="10668000" cy="1009650"/>
          </a:xfrm>
          <a:prstGeom prst="rect">
            <a:avLst/>
          </a:prstGeom>
          <a:noFill/>
          <a:ln w="0">
            <a:noFill/>
            <a:prstDash val="solid"/>
          </a:ln>
        </p:spPr>
        <p:txBody>
          <a:bodyPr wrap="square" lIns="0" tIns="0" rIns="0" bIns="0" anchor="t">
            <a:noAutofit/>
          </a:bodyPr>
          <a:lstStyle>
            <a:defPPr algn="l">
              <a:defRPr sz="2850" b="1">
                <a:solidFill>
                  <a:srgbClr val="087F83"/>
                </a:solidFill>
                <a:latin typeface="Aptos"/>
                <a:ea typeface="Aptos"/>
                <a:cs typeface="Aptos"/>
              </a:defRPr>
            </a:defPPr>
          </a:lstStyle>
          <a:p>
            <a:pPr algn="l">
              <a:defRPr sz="2850" b="1">
                <a:solidFill>
                  <a:srgbClr val="087F83"/>
                </a:solidFill>
                <a:latin typeface="Aptos"/>
                <a:ea typeface="Aptos"/>
                <a:cs typeface="Aptos"/>
              </a:defRPr>
            </a:pPr>
            <a:r>
              <a:rPr sz="2850" b="1">
                <a:solidFill>
                  <a:srgbClr val="087F83"/>
                </a:solidFill>
                <a:latin typeface="Aptos"/>
                <a:ea typeface="Aptos"/>
                <a:cs typeface="Aptos"/>
              </a:rPr>
              <a:t>ΔWCR = 55 − 40 = +15</a:t>
            </a:r>
          </a:p>
          <a:p>
            <a:pPr algn="l">
              <a:defRPr sz="2850" b="1">
                <a:solidFill>
                  <a:srgbClr val="087F83"/>
                </a:solidFill>
                <a:latin typeface="Aptos"/>
                <a:ea typeface="Aptos"/>
                <a:cs typeface="Aptos"/>
              </a:defRPr>
            </a:pPr>
            <a:r>
              <a:rPr sz="2850" b="1">
                <a:solidFill>
                  <a:srgbClr val="087F83"/>
                </a:solidFill>
                <a:latin typeface="Aptos"/>
                <a:ea typeface="Aptos"/>
                <a:cs typeface="Aptos"/>
              </a:rPr>
              <a:t>Cash-flow impact = −ΔWCR</a:t>
            </a:r>
          </a:p>
        </p:txBody>
      </p:sp>
      <p:sp>
        <p:nvSpPr>
          <p:cNvPr id="11" name="rule">
            <a:extLst>
              <a:ext uri="{FF2B5EF4-FFF2-40B4-BE49-F238E27FC236}">
                <a16:creationId xmlns:a16="http://schemas.microsoft.com/office/drawing/2014/main" id="{2DE89DED-3830-4F18-A6CF-5385F46395C3}"/>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2" name="decision-implication">
            <a:extLst>
              <a:ext uri="{FF2B5EF4-FFF2-40B4-BE49-F238E27FC236}">
                <a16:creationId xmlns:a16="http://schemas.microsoft.com/office/drawing/2014/main" id="{FC4421C7-274B-4938-A602-6E0107C5318B}"/>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Use consistent scope and explain acquisitions or FX translation before claiming an operational improvement.</a:t>
            </a:r>
          </a:p>
        </p:txBody>
      </p:sp>
    </p:spTree>
    <p:extLst>
      <p:ext uri="{BB962C8B-B14F-4D97-AF65-F5344CB8AC3E}">
        <p14:creationId xmlns:p14="http://schemas.microsoft.com/office/powerpoint/2010/main" val="14518227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5" name="section-reference">
            <a:extLst>
              <a:ext uri="{FF2B5EF4-FFF2-40B4-BE49-F238E27FC236}">
                <a16:creationId xmlns:a16="http://schemas.microsoft.com/office/drawing/2014/main" id="{5D6FF24C-98CA-456E-86B3-891EC837817D}"/>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2.2</a:t>
            </a:r>
          </a:p>
        </p:txBody>
      </p:sp>
      <p:sp>
        <p:nvSpPr>
          <p:cNvPr id="2" name="slide-title">
            <a:extLst>
              <a:ext uri="{FF2B5EF4-FFF2-40B4-BE49-F238E27FC236}">
                <a16:creationId xmlns:a16="http://schemas.microsoft.com/office/drawing/2014/main" id="{60B10E69-478E-4964-948A-669AB4818468}"/>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DSO measures collection timing</a:t>
            </a:r>
          </a:p>
        </p:txBody>
      </p:sp>
      <p:sp>
        <p:nvSpPr>
          <p:cNvPr id="3" name="slide-number">
            <a:extLst>
              <a:ext uri="{FF2B5EF4-FFF2-40B4-BE49-F238E27FC236}">
                <a16:creationId xmlns:a16="http://schemas.microsoft.com/office/drawing/2014/main" id="{F08F7826-8526-4018-9356-0D41C37116EF}"/>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34</a:t>
            </a:r>
          </a:p>
        </p:txBody>
      </p:sp>
      <p:sp>
        <p:nvSpPr>
          <p:cNvPr id="4" name="explanation">
            <a:extLst>
              <a:ext uri="{FF2B5EF4-FFF2-40B4-BE49-F238E27FC236}">
                <a16:creationId xmlns:a16="http://schemas.microsoft.com/office/drawing/2014/main" id="{0F4C4546-A832-41BE-BB6B-646E56800F18}"/>
              </a:ext>
            </a:extLst>
          </p:cNvPr>
          <p:cNvSpPr>
            <a:spLocks noGrp="1"/>
          </p:cNvSpPr>
          <p:nvPr/>
        </p:nvSpPr>
        <p:spPr>
          <a:xfrm>
            <a:off x="609600" y="2600325"/>
            <a:ext cx="1714500" cy="619125"/>
          </a:xfrm>
          <a:prstGeom prst="rect">
            <a:avLst/>
          </a:prstGeom>
          <a:noFill/>
          <a:ln w="0">
            <a:noFill/>
            <a:prstDash val="solid"/>
          </a:ln>
        </p:spPr>
        <p:txBody>
          <a:bodyPr wrap="square" lIns="0" tIns="0" rIns="0" bIns="0" anchor="t">
            <a:noAutofit/>
          </a:bodyPr>
          <a:lstStyle>
            <a:defPPr algn="l">
              <a:defRPr sz="3225" b="1">
                <a:solidFill>
                  <a:srgbClr val="087F83"/>
                </a:solidFill>
                <a:latin typeface="Aptos"/>
                <a:ea typeface="Aptos"/>
                <a:cs typeface="Aptos"/>
              </a:defRPr>
            </a:defPPr>
          </a:lstStyle>
          <a:p>
            <a:pPr algn="l">
              <a:defRPr sz="3225" b="1">
                <a:solidFill>
                  <a:srgbClr val="087F83"/>
                </a:solidFill>
                <a:latin typeface="Aptos"/>
                <a:ea typeface="Aptos"/>
                <a:cs typeface="Aptos"/>
              </a:defRPr>
            </a:pPr>
            <a:r>
              <a:rPr sz="3225" b="1">
                <a:solidFill>
                  <a:srgbClr val="087F83"/>
                </a:solidFill>
                <a:latin typeface="Aptos"/>
                <a:ea typeface="Aptos"/>
                <a:cs typeface="Aptos"/>
              </a:rPr>
              <a:t>DSO  =</a:t>
            </a:r>
          </a:p>
        </p:txBody>
      </p:sp>
      <p:sp>
        <p:nvSpPr>
          <p:cNvPr id="5" name="formula-numerator">
            <a:extLst>
              <a:ext uri="{FF2B5EF4-FFF2-40B4-BE49-F238E27FC236}">
                <a16:creationId xmlns:a16="http://schemas.microsoft.com/office/drawing/2014/main" id="{9D3A1864-00F8-4590-AC7A-9AC89C43F920}"/>
              </a:ext>
            </a:extLst>
          </p:cNvPr>
          <p:cNvSpPr>
            <a:spLocks noGrp="1"/>
          </p:cNvSpPr>
          <p:nvPr/>
        </p:nvSpPr>
        <p:spPr>
          <a:xfrm>
            <a:off x="2428875" y="2076450"/>
            <a:ext cx="5143500" cy="457200"/>
          </a:xfrm>
          <a:prstGeom prst="rect">
            <a:avLst/>
          </a:prstGeom>
          <a:noFill/>
          <a:ln w="0">
            <a:noFill/>
            <a:prstDash val="solid"/>
          </a:ln>
        </p:spPr>
        <p:txBody>
          <a:bodyPr wrap="square" lIns="0" tIns="0" rIns="0" bIns="0" anchor="t">
            <a:noAutofit/>
          </a:bodyPr>
          <a:lstStyle>
            <a:defPPr algn="ctr">
              <a:defRPr sz="2475" b="1">
                <a:solidFill>
                  <a:srgbClr val="087F83"/>
                </a:solidFill>
                <a:latin typeface="Aptos"/>
                <a:ea typeface="Aptos"/>
                <a:cs typeface="Aptos"/>
              </a:defRPr>
            </a:defPPr>
          </a:lstStyle>
          <a:p>
            <a:pPr algn="ctr">
              <a:defRPr sz="2475" b="1">
                <a:solidFill>
                  <a:srgbClr val="087F83"/>
                </a:solidFill>
                <a:latin typeface="Aptos"/>
                <a:ea typeface="Aptos"/>
                <a:cs typeface="Aptos"/>
              </a:defRPr>
            </a:pPr>
            <a:r>
              <a:rPr sz="2475" b="1">
                <a:solidFill>
                  <a:srgbClr val="087F83"/>
                </a:solidFill>
                <a:latin typeface="Aptos"/>
                <a:ea typeface="Aptos"/>
                <a:cs typeface="Aptos"/>
              </a:rPr>
              <a:t>Average receivables</a:t>
            </a:r>
          </a:p>
        </p:txBody>
      </p:sp>
      <p:sp>
        <p:nvSpPr>
          <p:cNvPr id="6" name="rule">
            <a:extLst>
              <a:ext uri="{FF2B5EF4-FFF2-40B4-BE49-F238E27FC236}">
                <a16:creationId xmlns:a16="http://schemas.microsoft.com/office/drawing/2014/main" id="{9DD0C35E-BA1B-4E18-BD2B-F496207F36CD}"/>
              </a:ext>
            </a:extLst>
          </p:cNvPr>
          <p:cNvSpPr>
            <a:spLocks noGrp="1"/>
          </p:cNvSpPr>
          <p:nvPr/>
        </p:nvSpPr>
        <p:spPr>
          <a:xfrm>
            <a:off x="2428875" y="2571750"/>
            <a:ext cx="5143500" cy="0"/>
          </a:xfrm>
          <a:prstGeom prst="line">
            <a:avLst/>
          </a:prstGeom>
          <a:noFill/>
          <a:ln w="16193">
            <a:solidFill>
              <a:srgbClr val="087F83"/>
            </a:solidFill>
            <a:prstDash val="solid"/>
          </a:ln>
        </p:spPr>
        <p:txBody>
          <a:bodyPr/>
          <a:lstStyle/>
          <a:p>
            <a:endParaRPr lang="fr-FR"/>
          </a:p>
        </p:txBody>
      </p:sp>
      <p:sp>
        <p:nvSpPr>
          <p:cNvPr id="7" name="formula-denominator">
            <a:extLst>
              <a:ext uri="{FF2B5EF4-FFF2-40B4-BE49-F238E27FC236}">
                <a16:creationId xmlns:a16="http://schemas.microsoft.com/office/drawing/2014/main" id="{A7C3B157-EE3A-4A03-8E30-49FF577E51D2}"/>
              </a:ext>
            </a:extLst>
          </p:cNvPr>
          <p:cNvSpPr>
            <a:spLocks noGrp="1"/>
          </p:cNvSpPr>
          <p:nvPr/>
        </p:nvSpPr>
        <p:spPr>
          <a:xfrm>
            <a:off x="2428875" y="2686050"/>
            <a:ext cx="5143500" cy="495300"/>
          </a:xfrm>
          <a:prstGeom prst="rect">
            <a:avLst/>
          </a:prstGeom>
          <a:noFill/>
          <a:ln w="0">
            <a:noFill/>
            <a:prstDash val="solid"/>
          </a:ln>
        </p:spPr>
        <p:txBody>
          <a:bodyPr wrap="square" lIns="0" tIns="0" rIns="0" bIns="0" anchor="t">
            <a:noAutofit/>
          </a:bodyPr>
          <a:lstStyle>
            <a:defPPr algn="ctr">
              <a:defRPr sz="2475" b="1">
                <a:solidFill>
                  <a:srgbClr val="087F83"/>
                </a:solidFill>
                <a:latin typeface="Aptos"/>
                <a:ea typeface="Aptos"/>
                <a:cs typeface="Aptos"/>
              </a:defRPr>
            </a:defPPr>
          </a:lstStyle>
          <a:p>
            <a:pPr algn="ctr">
              <a:defRPr sz="2475" b="1">
                <a:solidFill>
                  <a:srgbClr val="087F83"/>
                </a:solidFill>
                <a:latin typeface="Aptos"/>
                <a:ea typeface="Aptos"/>
                <a:cs typeface="Aptos"/>
              </a:defRPr>
            </a:pPr>
            <a:r>
              <a:rPr sz="2475" b="1">
                <a:solidFill>
                  <a:srgbClr val="087F83"/>
                </a:solidFill>
                <a:latin typeface="Aptos"/>
                <a:ea typeface="Aptos"/>
                <a:cs typeface="Aptos"/>
              </a:rPr>
              <a:t>Annual credit sales</a:t>
            </a:r>
          </a:p>
        </p:txBody>
      </p:sp>
      <p:sp>
        <p:nvSpPr>
          <p:cNvPr id="8" name="explanation">
            <a:extLst>
              <a:ext uri="{FF2B5EF4-FFF2-40B4-BE49-F238E27FC236}">
                <a16:creationId xmlns:a16="http://schemas.microsoft.com/office/drawing/2014/main" id="{01E7E2A9-F523-4FE2-B911-AFBF2AD2F8BD}"/>
              </a:ext>
            </a:extLst>
          </p:cNvPr>
          <p:cNvSpPr>
            <a:spLocks noGrp="1"/>
          </p:cNvSpPr>
          <p:nvPr/>
        </p:nvSpPr>
        <p:spPr>
          <a:xfrm>
            <a:off x="8048625" y="2590800"/>
            <a:ext cx="2381250" cy="619125"/>
          </a:xfrm>
          <a:prstGeom prst="rect">
            <a:avLst/>
          </a:prstGeom>
          <a:noFill/>
          <a:ln w="0">
            <a:noFill/>
            <a:prstDash val="solid"/>
          </a:ln>
        </p:spPr>
        <p:txBody>
          <a:bodyPr wrap="square" lIns="0" tIns="0" rIns="0" bIns="0" anchor="t">
            <a:noAutofit/>
          </a:bodyPr>
          <a:lstStyle>
            <a:defPPr algn="l">
              <a:defRPr sz="3225" b="1">
                <a:solidFill>
                  <a:srgbClr val="087F83"/>
                </a:solidFill>
                <a:latin typeface="Aptos"/>
                <a:ea typeface="Aptos"/>
                <a:cs typeface="Aptos"/>
              </a:defRPr>
            </a:defPPr>
          </a:lstStyle>
          <a:p>
            <a:pPr algn="l">
              <a:defRPr sz="3225" b="1">
                <a:solidFill>
                  <a:srgbClr val="087F83"/>
                </a:solidFill>
                <a:latin typeface="Aptos"/>
                <a:ea typeface="Aptos"/>
                <a:cs typeface="Aptos"/>
              </a:defRPr>
            </a:pPr>
            <a:r>
              <a:rPr sz="3225" b="1">
                <a:solidFill>
                  <a:srgbClr val="087F83"/>
                </a:solidFill>
                <a:latin typeface="Aptos"/>
                <a:ea typeface="Aptos"/>
                <a:cs typeface="Aptos"/>
              </a:rPr>
              <a:t>× 365</a:t>
            </a:r>
          </a:p>
        </p:txBody>
      </p:sp>
      <p:sp>
        <p:nvSpPr>
          <p:cNvPr id="9" name="explanation">
            <a:extLst>
              <a:ext uri="{FF2B5EF4-FFF2-40B4-BE49-F238E27FC236}">
                <a16:creationId xmlns:a16="http://schemas.microsoft.com/office/drawing/2014/main" id="{048D5683-4E40-471D-91FF-B7EB1E607D9D}"/>
              </a:ext>
            </a:extLst>
          </p:cNvPr>
          <p:cNvSpPr>
            <a:spLocks noGrp="1"/>
          </p:cNvSpPr>
          <p:nvPr/>
        </p:nvSpPr>
        <p:spPr>
          <a:xfrm>
            <a:off x="609600" y="3383280"/>
            <a:ext cx="10477500" cy="1143000"/>
          </a:xfrm>
          <a:prstGeom prst="rect">
            <a:avLst/>
          </a:prstGeom>
          <a:noFill/>
          <a:ln w="0">
            <a:noFill/>
            <a:prstDash val="solid"/>
          </a:ln>
        </p:spPr>
        <p:txBody>
          <a:bodyPr wrap="square" lIns="0" tIns="0" rIns="0" bIns="0" anchor="t">
            <a:noAutofit/>
          </a:bodyPr>
          <a:lstStyle>
            <a:defPPr algn="l">
              <a:defRPr sz="2775" b="1">
                <a:solidFill>
                  <a:srgbClr val="19313F"/>
                </a:solidFill>
                <a:latin typeface="Aptos"/>
                <a:ea typeface="Aptos"/>
                <a:cs typeface="Aptos"/>
              </a:defRPr>
            </a:defPPr>
          </a:lstStyle>
          <a:p>
            <a:pPr algn="l">
              <a:defRPr sz="1700" b="0">
                <a:solidFill>
                  <a:srgbClr val="6B7E89"/>
                </a:solidFill>
                <a:latin typeface="Aptos"/>
                <a:ea typeface="Aptos"/>
                <a:cs typeface="Aptos"/>
              </a:defRPr>
            </a:pPr>
            <a:r>
              <a:rPr sz="1700" b="0">
                <a:solidFill>
                  <a:srgbClr val="6B7E89"/>
                </a:solidFill>
                <a:latin typeface="Aptos"/>
                <a:ea typeface="Aptos"/>
                <a:cs typeface="Aptos"/>
              </a:rPr>
              <a:t>Average receivables: €60m   /   Annual credit sales: €365m</a:t>
            </a:r>
          </a:p>
          <a:p>
            <a:pPr algn="l">
              <a:defRPr sz="2775" b="1">
                <a:solidFill>
                  <a:srgbClr val="19313F"/>
                </a:solidFill>
                <a:latin typeface="Aptos"/>
                <a:ea typeface="Aptos"/>
                <a:cs typeface="Aptos"/>
              </a:defRPr>
            </a:pPr>
            <a:r>
              <a:rPr sz="2775" b="1">
                <a:solidFill>
                  <a:srgbClr val="19313F"/>
                </a:solidFill>
                <a:latin typeface="Aptos"/>
                <a:ea typeface="Aptos"/>
                <a:cs typeface="Aptos"/>
              </a:rPr>
              <a:t>(€60m / €365m) × 365 = 60 days</a:t>
            </a:r>
          </a:p>
        </p:txBody>
      </p:sp>
      <p:sp>
        <p:nvSpPr>
          <p:cNvPr id="10" name="rule">
            <a:extLst>
              <a:ext uri="{FF2B5EF4-FFF2-40B4-BE49-F238E27FC236}">
                <a16:creationId xmlns:a16="http://schemas.microsoft.com/office/drawing/2014/main" id="{67039BE7-C7B4-4E7C-8F5A-E87503B0CF6A}"/>
              </a:ext>
            </a:extLst>
          </p:cNvPr>
          <p:cNvSpPr>
            <a:spLocks noGrp="1"/>
          </p:cNvSpPr>
          <p:nvPr/>
        </p:nvSpPr>
        <p:spPr>
          <a:xfrm>
            <a:off x="609600" y="4581525"/>
            <a:ext cx="10972800" cy="0"/>
          </a:xfrm>
          <a:prstGeom prst="line">
            <a:avLst/>
          </a:prstGeom>
          <a:noFill/>
          <a:ln w="9525">
            <a:solidFill>
              <a:srgbClr val="CCD6D9"/>
            </a:solidFill>
            <a:prstDash val="solid"/>
          </a:ln>
        </p:spPr>
        <p:txBody>
          <a:bodyPr/>
          <a:lstStyle/>
          <a:p>
            <a:endParaRPr lang="fr-FR"/>
          </a:p>
        </p:txBody>
      </p:sp>
      <p:sp>
        <p:nvSpPr>
          <p:cNvPr id="11" name="explanation">
            <a:extLst>
              <a:ext uri="{FF2B5EF4-FFF2-40B4-BE49-F238E27FC236}">
                <a16:creationId xmlns:a16="http://schemas.microsoft.com/office/drawing/2014/main" id="{2283DD8D-66FB-415C-947C-1181CF2E068E}"/>
              </a:ext>
            </a:extLst>
          </p:cNvPr>
          <p:cNvSpPr>
            <a:spLocks noGrp="1"/>
          </p:cNvSpPr>
          <p:nvPr/>
        </p:nvSpPr>
        <p:spPr>
          <a:xfrm>
            <a:off x="609600" y="4819650"/>
            <a:ext cx="3810000" cy="552450"/>
          </a:xfrm>
          <a:prstGeom prst="rect">
            <a:avLst/>
          </a:prstGeom>
          <a:noFill/>
          <a:ln w="0">
            <a:noFill/>
            <a:prstDash val="solid"/>
          </a:ln>
        </p:spPr>
        <p:txBody>
          <a:bodyPr wrap="square" lIns="0" tIns="0" rIns="0" bIns="0" anchor="t">
            <a:noAutofit/>
          </a:bodyPr>
          <a:lstStyle>
            <a:defPPr algn="l">
              <a:defRPr sz="1950" b="1">
                <a:solidFill>
                  <a:srgbClr val="087F83"/>
                </a:solidFill>
                <a:latin typeface="Aptos"/>
                <a:ea typeface="Aptos"/>
                <a:cs typeface="Aptos"/>
              </a:defRPr>
            </a:defPPr>
          </a:lstStyle>
          <a:p>
            <a:pPr algn="l">
              <a:defRPr sz="1950" b="1">
                <a:solidFill>
                  <a:srgbClr val="087F83"/>
                </a:solidFill>
                <a:latin typeface="Aptos"/>
                <a:ea typeface="Aptos"/>
                <a:cs typeface="Aptos"/>
              </a:defRPr>
            </a:pPr>
            <a:r>
              <a:rPr sz="1950" b="1">
                <a:solidFill>
                  <a:srgbClr val="087F83"/>
                </a:solidFill>
                <a:latin typeface="Aptos"/>
                <a:ea typeface="Aptos"/>
                <a:cs typeface="Aptos"/>
              </a:rPr>
              <a:t>Check collection quality</a:t>
            </a:r>
          </a:p>
        </p:txBody>
      </p:sp>
      <p:sp>
        <p:nvSpPr>
          <p:cNvPr id="12" name="explanation">
            <a:extLst>
              <a:ext uri="{FF2B5EF4-FFF2-40B4-BE49-F238E27FC236}">
                <a16:creationId xmlns:a16="http://schemas.microsoft.com/office/drawing/2014/main" id="{1E6ED107-6F5C-45BA-A906-E75122A29B3D}"/>
              </a:ext>
            </a:extLst>
          </p:cNvPr>
          <p:cNvSpPr>
            <a:spLocks noGrp="1"/>
          </p:cNvSpPr>
          <p:nvPr/>
        </p:nvSpPr>
        <p:spPr>
          <a:xfrm>
            <a:off x="4857750" y="4819650"/>
            <a:ext cx="6572250" cy="876300"/>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Ageing distinguishes normal terms from overdue or disputed invoices.</a:t>
            </a:r>
          </a:p>
        </p:txBody>
      </p:sp>
      <p:sp>
        <p:nvSpPr>
          <p:cNvPr id="13" name="rule">
            <a:extLst>
              <a:ext uri="{FF2B5EF4-FFF2-40B4-BE49-F238E27FC236}">
                <a16:creationId xmlns:a16="http://schemas.microsoft.com/office/drawing/2014/main" id="{88546D25-30D2-4E91-B077-A1D7F81502A3}"/>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4" name="decision-implication">
            <a:extLst>
              <a:ext uri="{FF2B5EF4-FFF2-40B4-BE49-F238E27FC236}">
                <a16:creationId xmlns:a16="http://schemas.microsoft.com/office/drawing/2014/main" id="{DC1A0EE8-9FEB-4222-BBC3-F53992BA2DD8}"/>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Focus on overdue balances and disputes, not only the aggregate ratio.</a:t>
            </a:r>
          </a:p>
        </p:txBody>
      </p:sp>
    </p:spTree>
    <p:extLst>
      <p:ext uri="{BB962C8B-B14F-4D97-AF65-F5344CB8AC3E}">
        <p14:creationId xmlns:p14="http://schemas.microsoft.com/office/powerpoint/2010/main" val="2090838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5" name="section-reference">
            <a:extLst>
              <a:ext uri="{FF2B5EF4-FFF2-40B4-BE49-F238E27FC236}">
                <a16:creationId xmlns:a16="http://schemas.microsoft.com/office/drawing/2014/main" id="{69F11F33-4E5F-40B7-B7B4-239ABBBA756D}"/>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2.2</a:t>
            </a:r>
          </a:p>
        </p:txBody>
      </p:sp>
      <p:sp>
        <p:nvSpPr>
          <p:cNvPr id="2" name="slide-title">
            <a:extLst>
              <a:ext uri="{FF2B5EF4-FFF2-40B4-BE49-F238E27FC236}">
                <a16:creationId xmlns:a16="http://schemas.microsoft.com/office/drawing/2014/main" id="{6BF5D8B7-B067-47C2-9DB9-4CD94B2ACE04}"/>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DIO measures stock commitment</a:t>
            </a:r>
          </a:p>
        </p:txBody>
      </p:sp>
      <p:sp>
        <p:nvSpPr>
          <p:cNvPr id="3" name="slide-number">
            <a:extLst>
              <a:ext uri="{FF2B5EF4-FFF2-40B4-BE49-F238E27FC236}">
                <a16:creationId xmlns:a16="http://schemas.microsoft.com/office/drawing/2014/main" id="{55124F3C-CB78-480A-B966-52C1C2E50D07}"/>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35</a:t>
            </a:r>
          </a:p>
        </p:txBody>
      </p:sp>
      <p:sp>
        <p:nvSpPr>
          <p:cNvPr id="4" name="explanation">
            <a:extLst>
              <a:ext uri="{FF2B5EF4-FFF2-40B4-BE49-F238E27FC236}">
                <a16:creationId xmlns:a16="http://schemas.microsoft.com/office/drawing/2014/main" id="{76E6EBDD-3184-429E-BB12-40D5543E1E55}"/>
              </a:ext>
            </a:extLst>
          </p:cNvPr>
          <p:cNvSpPr>
            <a:spLocks noGrp="1"/>
          </p:cNvSpPr>
          <p:nvPr/>
        </p:nvSpPr>
        <p:spPr>
          <a:xfrm>
            <a:off x="609600" y="2600325"/>
            <a:ext cx="1714500" cy="619125"/>
          </a:xfrm>
          <a:prstGeom prst="rect">
            <a:avLst/>
          </a:prstGeom>
          <a:noFill/>
          <a:ln w="0">
            <a:noFill/>
            <a:prstDash val="solid"/>
          </a:ln>
        </p:spPr>
        <p:txBody>
          <a:bodyPr wrap="square" lIns="0" tIns="0" rIns="0" bIns="0" anchor="t">
            <a:noAutofit/>
          </a:bodyPr>
          <a:lstStyle>
            <a:defPPr algn="l">
              <a:defRPr sz="3225" b="1">
                <a:solidFill>
                  <a:srgbClr val="087F83"/>
                </a:solidFill>
                <a:latin typeface="Aptos"/>
                <a:ea typeface="Aptos"/>
                <a:cs typeface="Aptos"/>
              </a:defRPr>
            </a:defPPr>
          </a:lstStyle>
          <a:p>
            <a:pPr algn="l">
              <a:defRPr sz="3225" b="1">
                <a:solidFill>
                  <a:srgbClr val="087F83"/>
                </a:solidFill>
                <a:latin typeface="Aptos"/>
                <a:ea typeface="Aptos"/>
                <a:cs typeface="Aptos"/>
              </a:defRPr>
            </a:pPr>
            <a:r>
              <a:rPr sz="3225" b="1">
                <a:solidFill>
                  <a:srgbClr val="087F83"/>
                </a:solidFill>
                <a:latin typeface="Aptos"/>
                <a:ea typeface="Aptos"/>
                <a:cs typeface="Aptos"/>
              </a:rPr>
              <a:t>DIO  =</a:t>
            </a:r>
          </a:p>
        </p:txBody>
      </p:sp>
      <p:sp>
        <p:nvSpPr>
          <p:cNvPr id="5" name="formula-numerator">
            <a:extLst>
              <a:ext uri="{FF2B5EF4-FFF2-40B4-BE49-F238E27FC236}">
                <a16:creationId xmlns:a16="http://schemas.microsoft.com/office/drawing/2014/main" id="{0F686E1C-C54B-4431-9A64-2FBAE0496527}"/>
              </a:ext>
            </a:extLst>
          </p:cNvPr>
          <p:cNvSpPr>
            <a:spLocks noGrp="1"/>
          </p:cNvSpPr>
          <p:nvPr/>
        </p:nvSpPr>
        <p:spPr>
          <a:xfrm>
            <a:off x="2428875" y="2076450"/>
            <a:ext cx="5143500" cy="457200"/>
          </a:xfrm>
          <a:prstGeom prst="rect">
            <a:avLst/>
          </a:prstGeom>
          <a:noFill/>
          <a:ln w="0">
            <a:noFill/>
            <a:prstDash val="solid"/>
          </a:ln>
        </p:spPr>
        <p:txBody>
          <a:bodyPr wrap="square" lIns="0" tIns="0" rIns="0" bIns="0" anchor="t">
            <a:noAutofit/>
          </a:bodyPr>
          <a:lstStyle>
            <a:defPPr algn="ctr">
              <a:defRPr sz="2475" b="1">
                <a:solidFill>
                  <a:srgbClr val="087F83"/>
                </a:solidFill>
                <a:latin typeface="Aptos"/>
                <a:ea typeface="Aptos"/>
                <a:cs typeface="Aptos"/>
              </a:defRPr>
            </a:defPPr>
          </a:lstStyle>
          <a:p>
            <a:pPr algn="ctr">
              <a:defRPr sz="2475" b="1">
                <a:solidFill>
                  <a:srgbClr val="087F83"/>
                </a:solidFill>
                <a:latin typeface="Aptos"/>
                <a:ea typeface="Aptos"/>
                <a:cs typeface="Aptos"/>
              </a:defRPr>
            </a:pPr>
            <a:r>
              <a:rPr sz="2475" b="1">
                <a:solidFill>
                  <a:srgbClr val="087F83"/>
                </a:solidFill>
                <a:latin typeface="Aptos"/>
                <a:ea typeface="Aptos"/>
                <a:cs typeface="Aptos"/>
              </a:rPr>
              <a:t>Average inventory</a:t>
            </a:r>
          </a:p>
        </p:txBody>
      </p:sp>
      <p:sp>
        <p:nvSpPr>
          <p:cNvPr id="6" name="rule">
            <a:extLst>
              <a:ext uri="{FF2B5EF4-FFF2-40B4-BE49-F238E27FC236}">
                <a16:creationId xmlns:a16="http://schemas.microsoft.com/office/drawing/2014/main" id="{0B44A5A2-61D5-4D5C-9F15-18D2805BAE90}"/>
              </a:ext>
            </a:extLst>
          </p:cNvPr>
          <p:cNvSpPr>
            <a:spLocks noGrp="1"/>
          </p:cNvSpPr>
          <p:nvPr/>
        </p:nvSpPr>
        <p:spPr>
          <a:xfrm>
            <a:off x="2428875" y="2571750"/>
            <a:ext cx="5143500" cy="0"/>
          </a:xfrm>
          <a:prstGeom prst="line">
            <a:avLst/>
          </a:prstGeom>
          <a:noFill/>
          <a:ln w="16193">
            <a:solidFill>
              <a:srgbClr val="087F83"/>
            </a:solidFill>
            <a:prstDash val="solid"/>
          </a:ln>
        </p:spPr>
        <p:txBody>
          <a:bodyPr/>
          <a:lstStyle/>
          <a:p>
            <a:endParaRPr lang="fr-FR"/>
          </a:p>
        </p:txBody>
      </p:sp>
      <p:sp>
        <p:nvSpPr>
          <p:cNvPr id="7" name="formula-denominator">
            <a:extLst>
              <a:ext uri="{FF2B5EF4-FFF2-40B4-BE49-F238E27FC236}">
                <a16:creationId xmlns:a16="http://schemas.microsoft.com/office/drawing/2014/main" id="{335D580C-6A2B-4570-AD1E-F6EA8F618D03}"/>
              </a:ext>
            </a:extLst>
          </p:cNvPr>
          <p:cNvSpPr>
            <a:spLocks noGrp="1"/>
          </p:cNvSpPr>
          <p:nvPr/>
        </p:nvSpPr>
        <p:spPr>
          <a:xfrm>
            <a:off x="2428875" y="2686050"/>
            <a:ext cx="5143500" cy="495300"/>
          </a:xfrm>
          <a:prstGeom prst="rect">
            <a:avLst/>
          </a:prstGeom>
          <a:noFill/>
          <a:ln w="0">
            <a:noFill/>
            <a:prstDash val="solid"/>
          </a:ln>
        </p:spPr>
        <p:txBody>
          <a:bodyPr wrap="square" lIns="0" tIns="0" rIns="0" bIns="0" anchor="t">
            <a:noAutofit/>
          </a:bodyPr>
          <a:lstStyle>
            <a:defPPr algn="ctr">
              <a:defRPr sz="2475" b="1">
                <a:solidFill>
                  <a:srgbClr val="087F83"/>
                </a:solidFill>
                <a:latin typeface="Aptos"/>
                <a:ea typeface="Aptos"/>
                <a:cs typeface="Aptos"/>
              </a:defRPr>
            </a:defPPr>
          </a:lstStyle>
          <a:p>
            <a:pPr algn="ctr">
              <a:defRPr sz="2475" b="1">
                <a:solidFill>
                  <a:srgbClr val="087F83"/>
                </a:solidFill>
                <a:latin typeface="Aptos"/>
                <a:ea typeface="Aptos"/>
                <a:cs typeface="Aptos"/>
              </a:defRPr>
            </a:pPr>
            <a:r>
              <a:rPr sz="2475" b="1">
                <a:solidFill>
                  <a:srgbClr val="087F83"/>
                </a:solidFill>
                <a:latin typeface="Aptos"/>
                <a:ea typeface="Aptos"/>
                <a:cs typeface="Aptos"/>
              </a:rPr>
              <a:t>Annual cost of goods sold</a:t>
            </a:r>
          </a:p>
        </p:txBody>
      </p:sp>
      <p:sp>
        <p:nvSpPr>
          <p:cNvPr id="8" name="explanation">
            <a:extLst>
              <a:ext uri="{FF2B5EF4-FFF2-40B4-BE49-F238E27FC236}">
                <a16:creationId xmlns:a16="http://schemas.microsoft.com/office/drawing/2014/main" id="{5B7FD9E0-DF8A-4B9B-B220-8BEE6A2A7A27}"/>
              </a:ext>
            </a:extLst>
          </p:cNvPr>
          <p:cNvSpPr>
            <a:spLocks noGrp="1"/>
          </p:cNvSpPr>
          <p:nvPr/>
        </p:nvSpPr>
        <p:spPr>
          <a:xfrm>
            <a:off x="8048625" y="2590800"/>
            <a:ext cx="2381250" cy="619125"/>
          </a:xfrm>
          <a:prstGeom prst="rect">
            <a:avLst/>
          </a:prstGeom>
          <a:noFill/>
          <a:ln w="0">
            <a:noFill/>
            <a:prstDash val="solid"/>
          </a:ln>
        </p:spPr>
        <p:txBody>
          <a:bodyPr wrap="square" lIns="0" tIns="0" rIns="0" bIns="0" anchor="t">
            <a:noAutofit/>
          </a:bodyPr>
          <a:lstStyle>
            <a:defPPr algn="l">
              <a:defRPr sz="3225" b="1">
                <a:solidFill>
                  <a:srgbClr val="087F83"/>
                </a:solidFill>
                <a:latin typeface="Aptos"/>
                <a:ea typeface="Aptos"/>
                <a:cs typeface="Aptos"/>
              </a:defRPr>
            </a:defPPr>
          </a:lstStyle>
          <a:p>
            <a:pPr algn="l">
              <a:defRPr sz="3225" b="1">
                <a:solidFill>
                  <a:srgbClr val="087F83"/>
                </a:solidFill>
                <a:latin typeface="Aptos"/>
                <a:ea typeface="Aptos"/>
                <a:cs typeface="Aptos"/>
              </a:defRPr>
            </a:pPr>
            <a:r>
              <a:rPr sz="3225" b="1">
                <a:solidFill>
                  <a:srgbClr val="087F83"/>
                </a:solidFill>
                <a:latin typeface="Aptos"/>
                <a:ea typeface="Aptos"/>
                <a:cs typeface="Aptos"/>
              </a:rPr>
              <a:t>× 365</a:t>
            </a:r>
          </a:p>
        </p:txBody>
      </p:sp>
      <p:sp>
        <p:nvSpPr>
          <p:cNvPr id="9" name="explanation">
            <a:extLst>
              <a:ext uri="{FF2B5EF4-FFF2-40B4-BE49-F238E27FC236}">
                <a16:creationId xmlns:a16="http://schemas.microsoft.com/office/drawing/2014/main" id="{34835FD8-735E-4225-B883-5529D7D559EB}"/>
              </a:ext>
            </a:extLst>
          </p:cNvPr>
          <p:cNvSpPr>
            <a:spLocks noGrp="1"/>
          </p:cNvSpPr>
          <p:nvPr/>
        </p:nvSpPr>
        <p:spPr>
          <a:xfrm>
            <a:off x="609600" y="3383280"/>
            <a:ext cx="10477500" cy="1143000"/>
          </a:xfrm>
          <a:prstGeom prst="rect">
            <a:avLst/>
          </a:prstGeom>
          <a:noFill/>
          <a:ln w="0">
            <a:noFill/>
            <a:prstDash val="solid"/>
          </a:ln>
        </p:spPr>
        <p:txBody>
          <a:bodyPr wrap="square" lIns="0" tIns="0" rIns="0" bIns="0" anchor="t">
            <a:noAutofit/>
          </a:bodyPr>
          <a:lstStyle>
            <a:defPPr algn="l">
              <a:defRPr sz="2775" b="1">
                <a:solidFill>
                  <a:srgbClr val="19313F"/>
                </a:solidFill>
                <a:latin typeface="Aptos"/>
                <a:ea typeface="Aptos"/>
                <a:cs typeface="Aptos"/>
              </a:defRPr>
            </a:defPPr>
          </a:lstStyle>
          <a:p>
            <a:pPr algn="l">
              <a:defRPr sz="1700" b="0">
                <a:solidFill>
                  <a:srgbClr val="6B7E89"/>
                </a:solidFill>
                <a:latin typeface="Aptos"/>
                <a:ea typeface="Aptos"/>
                <a:cs typeface="Aptos"/>
              </a:defRPr>
            </a:pPr>
            <a:r>
              <a:rPr sz="1700" b="0">
                <a:solidFill>
                  <a:srgbClr val="6B7E89"/>
                </a:solidFill>
                <a:latin typeface="Aptos"/>
                <a:ea typeface="Aptos"/>
                <a:cs typeface="Aptos"/>
              </a:rPr>
              <a:t>Average inventory: €50m   /   Annual COGS: €365m</a:t>
            </a:r>
          </a:p>
          <a:p>
            <a:pPr algn="l">
              <a:defRPr sz="2775" b="1">
                <a:solidFill>
                  <a:srgbClr val="19313F"/>
                </a:solidFill>
                <a:latin typeface="Aptos"/>
                <a:ea typeface="Aptos"/>
                <a:cs typeface="Aptos"/>
              </a:defRPr>
            </a:pPr>
            <a:r>
              <a:rPr sz="2775" b="1">
                <a:solidFill>
                  <a:srgbClr val="19313F"/>
                </a:solidFill>
                <a:latin typeface="Aptos"/>
                <a:ea typeface="Aptos"/>
                <a:cs typeface="Aptos"/>
              </a:rPr>
              <a:t>(€50m / €365m) × 365 = 50 days</a:t>
            </a:r>
          </a:p>
        </p:txBody>
      </p:sp>
      <p:sp>
        <p:nvSpPr>
          <p:cNvPr id="10" name="rule">
            <a:extLst>
              <a:ext uri="{FF2B5EF4-FFF2-40B4-BE49-F238E27FC236}">
                <a16:creationId xmlns:a16="http://schemas.microsoft.com/office/drawing/2014/main" id="{76E7CD76-B367-456D-852D-BE94F5C63823}"/>
              </a:ext>
            </a:extLst>
          </p:cNvPr>
          <p:cNvSpPr>
            <a:spLocks noGrp="1"/>
          </p:cNvSpPr>
          <p:nvPr/>
        </p:nvSpPr>
        <p:spPr>
          <a:xfrm>
            <a:off x="609600" y="4581525"/>
            <a:ext cx="10972800" cy="0"/>
          </a:xfrm>
          <a:prstGeom prst="line">
            <a:avLst/>
          </a:prstGeom>
          <a:noFill/>
          <a:ln w="9525">
            <a:solidFill>
              <a:srgbClr val="CCD6D9"/>
            </a:solidFill>
            <a:prstDash val="solid"/>
          </a:ln>
        </p:spPr>
        <p:txBody>
          <a:bodyPr/>
          <a:lstStyle/>
          <a:p>
            <a:endParaRPr lang="fr-FR"/>
          </a:p>
        </p:txBody>
      </p:sp>
      <p:sp>
        <p:nvSpPr>
          <p:cNvPr id="11" name="explanation">
            <a:extLst>
              <a:ext uri="{FF2B5EF4-FFF2-40B4-BE49-F238E27FC236}">
                <a16:creationId xmlns:a16="http://schemas.microsoft.com/office/drawing/2014/main" id="{BDD634D1-11FF-4FA8-B44F-F111BC4C4143}"/>
              </a:ext>
            </a:extLst>
          </p:cNvPr>
          <p:cNvSpPr>
            <a:spLocks noGrp="1"/>
          </p:cNvSpPr>
          <p:nvPr/>
        </p:nvSpPr>
        <p:spPr>
          <a:xfrm>
            <a:off x="609600" y="4819650"/>
            <a:ext cx="3810000" cy="552450"/>
          </a:xfrm>
          <a:prstGeom prst="rect">
            <a:avLst/>
          </a:prstGeom>
          <a:noFill/>
          <a:ln w="0">
            <a:noFill/>
            <a:prstDash val="solid"/>
          </a:ln>
        </p:spPr>
        <p:txBody>
          <a:bodyPr wrap="square" lIns="0" tIns="0" rIns="0" bIns="0" anchor="t">
            <a:noAutofit/>
          </a:bodyPr>
          <a:lstStyle>
            <a:defPPr algn="l">
              <a:defRPr sz="1950" b="1">
                <a:solidFill>
                  <a:srgbClr val="087F83"/>
                </a:solidFill>
                <a:latin typeface="Aptos"/>
                <a:ea typeface="Aptos"/>
                <a:cs typeface="Aptos"/>
              </a:defRPr>
            </a:defPPr>
          </a:lstStyle>
          <a:p>
            <a:pPr algn="l">
              <a:defRPr sz="1950" b="1">
                <a:solidFill>
                  <a:srgbClr val="087F83"/>
                </a:solidFill>
                <a:latin typeface="Aptos"/>
                <a:ea typeface="Aptos"/>
                <a:cs typeface="Aptos"/>
              </a:defRPr>
            </a:pPr>
            <a:r>
              <a:rPr sz="1950" b="1">
                <a:solidFill>
                  <a:srgbClr val="087F83"/>
                </a:solidFill>
                <a:latin typeface="Aptos"/>
                <a:ea typeface="Aptos"/>
                <a:cs typeface="Aptos"/>
              </a:rPr>
              <a:t>Inspect stock composition</a:t>
            </a:r>
          </a:p>
        </p:txBody>
      </p:sp>
      <p:sp>
        <p:nvSpPr>
          <p:cNvPr id="12" name="explanation">
            <a:extLst>
              <a:ext uri="{FF2B5EF4-FFF2-40B4-BE49-F238E27FC236}">
                <a16:creationId xmlns:a16="http://schemas.microsoft.com/office/drawing/2014/main" id="{410B4560-708C-42E2-90D0-229612510EED}"/>
              </a:ext>
            </a:extLst>
          </p:cNvPr>
          <p:cNvSpPr>
            <a:spLocks noGrp="1"/>
          </p:cNvSpPr>
          <p:nvPr/>
        </p:nvSpPr>
        <p:spPr>
          <a:xfrm>
            <a:off x="4857750" y="4819650"/>
            <a:ext cx="6572250" cy="876300"/>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Separate raw materials, work in progress and finished goods.</a:t>
            </a:r>
          </a:p>
        </p:txBody>
      </p:sp>
      <p:sp>
        <p:nvSpPr>
          <p:cNvPr id="13" name="rule">
            <a:extLst>
              <a:ext uri="{FF2B5EF4-FFF2-40B4-BE49-F238E27FC236}">
                <a16:creationId xmlns:a16="http://schemas.microsoft.com/office/drawing/2014/main" id="{560F1538-5223-4F4A-8A00-3A29F856C650}"/>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4" name="decision-implication">
            <a:extLst>
              <a:ext uri="{FF2B5EF4-FFF2-40B4-BE49-F238E27FC236}">
                <a16:creationId xmlns:a16="http://schemas.microsoft.com/office/drawing/2014/main" id="{24C36C37-924E-4F40-847E-097FF3A5B9B4}"/>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Target obsolete stock and planning errors before reducing critical safety stocks.</a:t>
            </a:r>
          </a:p>
        </p:txBody>
      </p:sp>
    </p:spTree>
    <p:extLst>
      <p:ext uri="{BB962C8B-B14F-4D97-AF65-F5344CB8AC3E}">
        <p14:creationId xmlns:p14="http://schemas.microsoft.com/office/powerpoint/2010/main" val="9353897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6" name="section-reference">
            <a:extLst>
              <a:ext uri="{FF2B5EF4-FFF2-40B4-BE49-F238E27FC236}">
                <a16:creationId xmlns:a16="http://schemas.microsoft.com/office/drawing/2014/main" id="{60A49526-187E-44F1-AC6D-C40B76D41162}"/>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2.2</a:t>
            </a:r>
          </a:p>
        </p:txBody>
      </p:sp>
      <p:sp>
        <p:nvSpPr>
          <p:cNvPr id="2" name="slide-title">
            <a:extLst>
              <a:ext uri="{FF2B5EF4-FFF2-40B4-BE49-F238E27FC236}">
                <a16:creationId xmlns:a16="http://schemas.microsoft.com/office/drawing/2014/main" id="{5C5277A0-939F-4B9C-8339-E102A5434D58}"/>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DPO measures supplier funding</a:t>
            </a:r>
          </a:p>
        </p:txBody>
      </p:sp>
      <p:sp>
        <p:nvSpPr>
          <p:cNvPr id="3" name="slide-number">
            <a:extLst>
              <a:ext uri="{FF2B5EF4-FFF2-40B4-BE49-F238E27FC236}">
                <a16:creationId xmlns:a16="http://schemas.microsoft.com/office/drawing/2014/main" id="{EF63CB68-EECA-429C-95A2-1D45B7B9493B}"/>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36</a:t>
            </a:r>
          </a:p>
        </p:txBody>
      </p:sp>
      <p:sp>
        <p:nvSpPr>
          <p:cNvPr id="4" name="explanation">
            <a:extLst>
              <a:ext uri="{FF2B5EF4-FFF2-40B4-BE49-F238E27FC236}">
                <a16:creationId xmlns:a16="http://schemas.microsoft.com/office/drawing/2014/main" id="{7904BE84-E4FF-4473-911B-9A0FE958011E}"/>
              </a:ext>
            </a:extLst>
          </p:cNvPr>
          <p:cNvSpPr>
            <a:spLocks noGrp="1"/>
          </p:cNvSpPr>
          <p:nvPr/>
        </p:nvSpPr>
        <p:spPr>
          <a:xfrm>
            <a:off x="609600" y="2600325"/>
            <a:ext cx="1714500" cy="619125"/>
          </a:xfrm>
          <a:prstGeom prst="rect">
            <a:avLst/>
          </a:prstGeom>
          <a:noFill/>
          <a:ln w="0">
            <a:noFill/>
            <a:prstDash val="solid"/>
          </a:ln>
        </p:spPr>
        <p:txBody>
          <a:bodyPr wrap="square" lIns="0" tIns="0" rIns="0" bIns="0" anchor="t">
            <a:noAutofit/>
          </a:bodyPr>
          <a:lstStyle>
            <a:defPPr algn="l">
              <a:defRPr sz="3225" b="1">
                <a:solidFill>
                  <a:srgbClr val="087F83"/>
                </a:solidFill>
                <a:latin typeface="Aptos"/>
                <a:ea typeface="Aptos"/>
                <a:cs typeface="Aptos"/>
              </a:defRPr>
            </a:defPPr>
          </a:lstStyle>
          <a:p>
            <a:pPr algn="l">
              <a:defRPr sz="3225" b="1">
                <a:solidFill>
                  <a:srgbClr val="087F83"/>
                </a:solidFill>
                <a:latin typeface="Aptos"/>
                <a:ea typeface="Aptos"/>
                <a:cs typeface="Aptos"/>
              </a:defRPr>
            </a:pPr>
            <a:r>
              <a:rPr sz="3225" b="1">
                <a:solidFill>
                  <a:srgbClr val="087F83"/>
                </a:solidFill>
                <a:latin typeface="Aptos"/>
                <a:ea typeface="Aptos"/>
                <a:cs typeface="Aptos"/>
              </a:rPr>
              <a:t>DPO  =</a:t>
            </a:r>
          </a:p>
        </p:txBody>
      </p:sp>
      <p:sp>
        <p:nvSpPr>
          <p:cNvPr id="5" name="formula-numerator">
            <a:extLst>
              <a:ext uri="{FF2B5EF4-FFF2-40B4-BE49-F238E27FC236}">
                <a16:creationId xmlns:a16="http://schemas.microsoft.com/office/drawing/2014/main" id="{AFD22C25-4E95-4FB8-A18B-2686D0594F0B}"/>
              </a:ext>
            </a:extLst>
          </p:cNvPr>
          <p:cNvSpPr>
            <a:spLocks noGrp="1"/>
          </p:cNvSpPr>
          <p:nvPr/>
        </p:nvSpPr>
        <p:spPr>
          <a:xfrm>
            <a:off x="2428875" y="2076450"/>
            <a:ext cx="5143500" cy="457200"/>
          </a:xfrm>
          <a:prstGeom prst="rect">
            <a:avLst/>
          </a:prstGeom>
          <a:noFill/>
          <a:ln w="0">
            <a:noFill/>
            <a:prstDash val="solid"/>
          </a:ln>
        </p:spPr>
        <p:txBody>
          <a:bodyPr wrap="square" lIns="0" tIns="0" rIns="0" bIns="0" anchor="t">
            <a:noAutofit/>
          </a:bodyPr>
          <a:lstStyle>
            <a:defPPr algn="ctr">
              <a:defRPr sz="2475" b="1">
                <a:solidFill>
                  <a:srgbClr val="087F83"/>
                </a:solidFill>
                <a:latin typeface="Aptos"/>
                <a:ea typeface="Aptos"/>
                <a:cs typeface="Aptos"/>
              </a:defRPr>
            </a:defPPr>
          </a:lstStyle>
          <a:p>
            <a:pPr algn="ctr">
              <a:defRPr sz="2475" b="1">
                <a:solidFill>
                  <a:srgbClr val="087F83"/>
                </a:solidFill>
                <a:latin typeface="Aptos"/>
                <a:ea typeface="Aptos"/>
                <a:cs typeface="Aptos"/>
              </a:defRPr>
            </a:pPr>
            <a:r>
              <a:rPr sz="2475" b="1">
                <a:solidFill>
                  <a:srgbClr val="087F83"/>
                </a:solidFill>
                <a:latin typeface="Aptos"/>
                <a:ea typeface="Aptos"/>
                <a:cs typeface="Aptos"/>
              </a:rPr>
              <a:t>Average trade payables</a:t>
            </a:r>
          </a:p>
        </p:txBody>
      </p:sp>
      <p:sp>
        <p:nvSpPr>
          <p:cNvPr id="6" name="rule">
            <a:extLst>
              <a:ext uri="{FF2B5EF4-FFF2-40B4-BE49-F238E27FC236}">
                <a16:creationId xmlns:a16="http://schemas.microsoft.com/office/drawing/2014/main" id="{061C2780-2ED7-422F-B99D-44A8D1BB0399}"/>
              </a:ext>
            </a:extLst>
          </p:cNvPr>
          <p:cNvSpPr>
            <a:spLocks noGrp="1"/>
          </p:cNvSpPr>
          <p:nvPr/>
        </p:nvSpPr>
        <p:spPr>
          <a:xfrm>
            <a:off x="2428875" y="2571750"/>
            <a:ext cx="5143500" cy="0"/>
          </a:xfrm>
          <a:prstGeom prst="line">
            <a:avLst/>
          </a:prstGeom>
          <a:noFill/>
          <a:ln w="16193">
            <a:solidFill>
              <a:srgbClr val="087F83"/>
            </a:solidFill>
            <a:prstDash val="solid"/>
          </a:ln>
        </p:spPr>
        <p:txBody>
          <a:bodyPr/>
          <a:lstStyle/>
          <a:p>
            <a:endParaRPr lang="fr-FR"/>
          </a:p>
        </p:txBody>
      </p:sp>
      <p:sp>
        <p:nvSpPr>
          <p:cNvPr id="7" name="formula-denominator">
            <a:extLst>
              <a:ext uri="{FF2B5EF4-FFF2-40B4-BE49-F238E27FC236}">
                <a16:creationId xmlns:a16="http://schemas.microsoft.com/office/drawing/2014/main" id="{F0B9D590-1220-497A-A3C8-E1A8191E2F4B}"/>
              </a:ext>
            </a:extLst>
          </p:cNvPr>
          <p:cNvSpPr>
            <a:spLocks noGrp="1"/>
          </p:cNvSpPr>
          <p:nvPr/>
        </p:nvSpPr>
        <p:spPr>
          <a:xfrm>
            <a:off x="2428875" y="2686050"/>
            <a:ext cx="5143500" cy="495300"/>
          </a:xfrm>
          <a:prstGeom prst="rect">
            <a:avLst/>
          </a:prstGeom>
          <a:noFill/>
          <a:ln w="0">
            <a:noFill/>
            <a:prstDash val="solid"/>
          </a:ln>
        </p:spPr>
        <p:txBody>
          <a:bodyPr wrap="square" lIns="0" tIns="0" rIns="0" bIns="0" anchor="t">
            <a:noAutofit/>
          </a:bodyPr>
          <a:lstStyle>
            <a:defPPr algn="ctr">
              <a:defRPr sz="2475" b="1">
                <a:solidFill>
                  <a:srgbClr val="087F83"/>
                </a:solidFill>
                <a:latin typeface="Aptos"/>
                <a:ea typeface="Aptos"/>
                <a:cs typeface="Aptos"/>
              </a:defRPr>
            </a:defPPr>
          </a:lstStyle>
          <a:p>
            <a:pPr algn="ctr">
              <a:defRPr sz="2475" b="1">
                <a:solidFill>
                  <a:srgbClr val="087F83"/>
                </a:solidFill>
                <a:latin typeface="Aptos"/>
                <a:ea typeface="Aptos"/>
                <a:cs typeface="Aptos"/>
              </a:defRPr>
            </a:pPr>
            <a:r>
              <a:rPr sz="2475" b="1">
                <a:solidFill>
                  <a:srgbClr val="087F83"/>
                </a:solidFill>
                <a:latin typeface="Aptos"/>
                <a:ea typeface="Aptos"/>
                <a:cs typeface="Aptos"/>
              </a:rPr>
              <a:t>Annual credit purchases</a:t>
            </a:r>
          </a:p>
        </p:txBody>
      </p:sp>
      <p:sp>
        <p:nvSpPr>
          <p:cNvPr id="8" name="explanation">
            <a:extLst>
              <a:ext uri="{FF2B5EF4-FFF2-40B4-BE49-F238E27FC236}">
                <a16:creationId xmlns:a16="http://schemas.microsoft.com/office/drawing/2014/main" id="{3A4A25BF-3030-45F1-A15C-2C0C58F12A49}"/>
              </a:ext>
            </a:extLst>
          </p:cNvPr>
          <p:cNvSpPr>
            <a:spLocks noGrp="1"/>
          </p:cNvSpPr>
          <p:nvPr/>
        </p:nvSpPr>
        <p:spPr>
          <a:xfrm>
            <a:off x="8048625" y="2590800"/>
            <a:ext cx="2381250" cy="619125"/>
          </a:xfrm>
          <a:prstGeom prst="rect">
            <a:avLst/>
          </a:prstGeom>
          <a:noFill/>
          <a:ln w="0">
            <a:noFill/>
            <a:prstDash val="solid"/>
          </a:ln>
        </p:spPr>
        <p:txBody>
          <a:bodyPr wrap="square" lIns="0" tIns="0" rIns="0" bIns="0" anchor="t">
            <a:noAutofit/>
          </a:bodyPr>
          <a:lstStyle>
            <a:defPPr algn="l">
              <a:defRPr sz="3225" b="1">
                <a:solidFill>
                  <a:srgbClr val="087F83"/>
                </a:solidFill>
                <a:latin typeface="Aptos"/>
                <a:ea typeface="Aptos"/>
                <a:cs typeface="Aptos"/>
              </a:defRPr>
            </a:defPPr>
          </a:lstStyle>
          <a:p>
            <a:pPr algn="l">
              <a:defRPr sz="3225" b="1">
                <a:solidFill>
                  <a:srgbClr val="087F83"/>
                </a:solidFill>
                <a:latin typeface="Aptos"/>
                <a:ea typeface="Aptos"/>
                <a:cs typeface="Aptos"/>
              </a:defRPr>
            </a:pPr>
            <a:r>
              <a:rPr sz="3225" b="1">
                <a:solidFill>
                  <a:srgbClr val="087F83"/>
                </a:solidFill>
                <a:latin typeface="Aptos"/>
                <a:ea typeface="Aptos"/>
                <a:cs typeface="Aptos"/>
              </a:rPr>
              <a:t>× 365</a:t>
            </a:r>
          </a:p>
        </p:txBody>
      </p:sp>
      <p:sp>
        <p:nvSpPr>
          <p:cNvPr id="9" name="explanation">
            <a:extLst>
              <a:ext uri="{FF2B5EF4-FFF2-40B4-BE49-F238E27FC236}">
                <a16:creationId xmlns:a16="http://schemas.microsoft.com/office/drawing/2014/main" id="{5A43723F-CFDB-43FE-94EA-ACB3360BBB2A}"/>
              </a:ext>
            </a:extLst>
          </p:cNvPr>
          <p:cNvSpPr>
            <a:spLocks noGrp="1"/>
          </p:cNvSpPr>
          <p:nvPr/>
        </p:nvSpPr>
        <p:spPr>
          <a:xfrm>
            <a:off x="609600" y="3383280"/>
            <a:ext cx="10477500" cy="1143000"/>
          </a:xfrm>
          <a:prstGeom prst="rect">
            <a:avLst/>
          </a:prstGeom>
          <a:noFill/>
          <a:ln w="0">
            <a:noFill/>
            <a:prstDash val="solid"/>
          </a:ln>
        </p:spPr>
        <p:txBody>
          <a:bodyPr wrap="square" lIns="0" tIns="0" rIns="0" bIns="0" anchor="t">
            <a:noAutofit/>
          </a:bodyPr>
          <a:lstStyle>
            <a:defPPr algn="l">
              <a:defRPr sz="2775" b="1">
                <a:solidFill>
                  <a:srgbClr val="19313F"/>
                </a:solidFill>
                <a:latin typeface="Aptos"/>
                <a:ea typeface="Aptos"/>
                <a:cs typeface="Aptos"/>
              </a:defRPr>
            </a:defPPr>
          </a:lstStyle>
          <a:p>
            <a:pPr algn="l">
              <a:defRPr sz="1700" b="0">
                <a:solidFill>
                  <a:srgbClr val="6B7E89"/>
                </a:solidFill>
                <a:latin typeface="Aptos"/>
                <a:ea typeface="Aptos"/>
                <a:cs typeface="Aptos"/>
              </a:defRPr>
            </a:pPr>
            <a:r>
              <a:rPr sz="1700" b="0">
                <a:solidFill>
                  <a:srgbClr val="6B7E89"/>
                </a:solidFill>
                <a:latin typeface="Aptos"/>
                <a:ea typeface="Aptos"/>
                <a:cs typeface="Aptos"/>
              </a:rPr>
              <a:t>Average trade payables: €60m   /   Annual COGS (purchases proxy): €365m</a:t>
            </a:r>
          </a:p>
          <a:p>
            <a:pPr algn="l">
              <a:defRPr sz="2775" b="1">
                <a:solidFill>
                  <a:srgbClr val="19313F"/>
                </a:solidFill>
                <a:latin typeface="Aptos"/>
                <a:ea typeface="Aptos"/>
                <a:cs typeface="Aptos"/>
              </a:defRPr>
            </a:pPr>
            <a:r>
              <a:rPr sz="2775" b="1">
                <a:solidFill>
                  <a:srgbClr val="19313F"/>
                </a:solidFill>
                <a:latin typeface="Aptos"/>
                <a:ea typeface="Aptos"/>
                <a:cs typeface="Aptos"/>
              </a:rPr>
              <a:t>(€60m / €365m) × 365 = 60 days</a:t>
            </a:r>
          </a:p>
        </p:txBody>
      </p:sp>
      <p:sp>
        <p:nvSpPr>
          <p:cNvPr id="10" name="rule">
            <a:extLst>
              <a:ext uri="{FF2B5EF4-FFF2-40B4-BE49-F238E27FC236}">
                <a16:creationId xmlns:a16="http://schemas.microsoft.com/office/drawing/2014/main" id="{A514F770-4E77-411D-9597-06485B589C9E}"/>
              </a:ext>
            </a:extLst>
          </p:cNvPr>
          <p:cNvSpPr>
            <a:spLocks noGrp="1"/>
          </p:cNvSpPr>
          <p:nvPr/>
        </p:nvSpPr>
        <p:spPr>
          <a:xfrm>
            <a:off x="609600" y="4581525"/>
            <a:ext cx="10972800" cy="0"/>
          </a:xfrm>
          <a:prstGeom prst="line">
            <a:avLst/>
          </a:prstGeom>
          <a:noFill/>
          <a:ln w="9525">
            <a:solidFill>
              <a:srgbClr val="CCD6D9"/>
            </a:solidFill>
            <a:prstDash val="solid"/>
          </a:ln>
        </p:spPr>
        <p:txBody>
          <a:bodyPr/>
          <a:lstStyle/>
          <a:p>
            <a:endParaRPr lang="fr-FR"/>
          </a:p>
        </p:txBody>
      </p:sp>
      <p:sp>
        <p:nvSpPr>
          <p:cNvPr id="11" name="explanation">
            <a:extLst>
              <a:ext uri="{FF2B5EF4-FFF2-40B4-BE49-F238E27FC236}">
                <a16:creationId xmlns:a16="http://schemas.microsoft.com/office/drawing/2014/main" id="{CCB7F72C-CE08-4D15-9131-ABE019C78A56}"/>
              </a:ext>
            </a:extLst>
          </p:cNvPr>
          <p:cNvSpPr>
            <a:spLocks noGrp="1"/>
          </p:cNvSpPr>
          <p:nvPr/>
        </p:nvSpPr>
        <p:spPr>
          <a:xfrm>
            <a:off x="609600" y="4819650"/>
            <a:ext cx="3810000" cy="552450"/>
          </a:xfrm>
          <a:prstGeom prst="rect">
            <a:avLst/>
          </a:prstGeom>
          <a:noFill/>
          <a:ln w="0">
            <a:noFill/>
            <a:prstDash val="solid"/>
          </a:ln>
        </p:spPr>
        <p:txBody>
          <a:bodyPr wrap="square" lIns="0" tIns="0" rIns="0" bIns="0" anchor="t">
            <a:noAutofit/>
          </a:bodyPr>
          <a:lstStyle>
            <a:defPPr algn="l">
              <a:defRPr sz="1950" b="1">
                <a:solidFill>
                  <a:srgbClr val="087F83"/>
                </a:solidFill>
                <a:latin typeface="Aptos"/>
                <a:ea typeface="Aptos"/>
                <a:cs typeface="Aptos"/>
              </a:defRPr>
            </a:defPPr>
          </a:lstStyle>
          <a:p>
            <a:pPr algn="l">
              <a:defRPr sz="1950" b="1">
                <a:solidFill>
                  <a:srgbClr val="087F83"/>
                </a:solidFill>
                <a:latin typeface="Aptos"/>
                <a:ea typeface="Aptos"/>
                <a:cs typeface="Aptos"/>
              </a:defRPr>
            </a:pPr>
            <a:r>
              <a:rPr sz="1950" b="1">
                <a:solidFill>
                  <a:srgbClr val="087F83"/>
                </a:solidFill>
                <a:latin typeface="Aptos"/>
                <a:ea typeface="Aptos"/>
                <a:cs typeface="Aptos"/>
              </a:rPr>
              <a:t>Check agreed supplier terms</a:t>
            </a:r>
          </a:p>
        </p:txBody>
      </p:sp>
      <p:sp>
        <p:nvSpPr>
          <p:cNvPr id="12" name="explanation">
            <a:extLst>
              <a:ext uri="{FF2B5EF4-FFF2-40B4-BE49-F238E27FC236}">
                <a16:creationId xmlns:a16="http://schemas.microsoft.com/office/drawing/2014/main" id="{E0FA583F-4600-4630-A7CA-F43D402E6938}"/>
              </a:ext>
            </a:extLst>
          </p:cNvPr>
          <p:cNvSpPr>
            <a:spLocks noGrp="1"/>
          </p:cNvSpPr>
          <p:nvPr/>
        </p:nvSpPr>
        <p:spPr>
          <a:xfrm>
            <a:off x="4857750" y="4819650"/>
            <a:ext cx="6572250" cy="876300"/>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A high DPO can result from negotiated credit or unpaid overdue invoices.</a:t>
            </a:r>
          </a:p>
        </p:txBody>
      </p:sp>
      <p:sp>
        <p:nvSpPr>
          <p:cNvPr id="13" name="explanation">
            <a:extLst>
              <a:ext uri="{FF2B5EF4-FFF2-40B4-BE49-F238E27FC236}">
                <a16:creationId xmlns:a16="http://schemas.microsoft.com/office/drawing/2014/main" id="{BCB3974B-1A37-4906-ABD2-BE4880308D6F}"/>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In this example, annual COGS is the stated purchases proxy.</a:t>
            </a:r>
          </a:p>
        </p:txBody>
      </p:sp>
      <p:sp>
        <p:nvSpPr>
          <p:cNvPr id="14" name="rule">
            <a:extLst>
              <a:ext uri="{FF2B5EF4-FFF2-40B4-BE49-F238E27FC236}">
                <a16:creationId xmlns:a16="http://schemas.microsoft.com/office/drawing/2014/main" id="{9BE262C9-EE5A-4B86-A658-0D6B9A061A15}"/>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5" name="decision-implication">
            <a:extLst>
              <a:ext uri="{FF2B5EF4-FFF2-40B4-BE49-F238E27FC236}">
                <a16:creationId xmlns:a16="http://schemas.microsoft.com/office/drawing/2014/main" id="{12F62C1A-64E3-46B9-833B-2456652D3B34}"/>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Negotiate sustainable terms and protect critical suppliers.</a:t>
            </a:r>
          </a:p>
        </p:txBody>
      </p:sp>
    </p:spTree>
    <p:extLst>
      <p:ext uri="{BB962C8B-B14F-4D97-AF65-F5344CB8AC3E}">
        <p14:creationId xmlns:p14="http://schemas.microsoft.com/office/powerpoint/2010/main" val="12831045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2" name="section-reference">
            <a:extLst>
              <a:ext uri="{FF2B5EF4-FFF2-40B4-BE49-F238E27FC236}">
                <a16:creationId xmlns:a16="http://schemas.microsoft.com/office/drawing/2014/main" id="{3F02D01C-14FB-4F86-BC5A-9966BBE800C7}"/>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2.2</a:t>
            </a:r>
          </a:p>
        </p:txBody>
      </p:sp>
      <p:sp>
        <p:nvSpPr>
          <p:cNvPr id="2" name="slide-title">
            <a:extLst>
              <a:ext uri="{FF2B5EF4-FFF2-40B4-BE49-F238E27FC236}">
                <a16:creationId xmlns:a16="http://schemas.microsoft.com/office/drawing/2014/main" id="{41E45D05-93F9-44A0-A95A-29DC49D1AC12}"/>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defRPr sz="3150" b="1">
                <a:solidFill>
                  <a:srgbClr val="19313F"/>
                </a:solidFill>
                <a:latin typeface="Aptos"/>
                <a:ea typeface="Aptos"/>
                <a:cs typeface="Aptos"/>
              </a:defRPr>
            </a:pPr>
            <a:r>
              <a:rPr sz="3150" b="1" dirty="0">
                <a:solidFill>
                  <a:srgbClr val="19313F"/>
                </a:solidFill>
                <a:latin typeface="Aptos"/>
                <a:ea typeface="Aptos"/>
                <a:cs typeface="Aptos"/>
              </a:rPr>
              <a:t>CCC links the operating timeline</a:t>
            </a:r>
            <a:r>
              <a:rPr lang="fr-FR" sz="3150" b="1" dirty="0">
                <a:solidFill>
                  <a:srgbClr val="19313F"/>
                </a:solidFill>
                <a:latin typeface="Aptos"/>
                <a:ea typeface="Aptos"/>
                <a:cs typeface="Aptos"/>
              </a:rPr>
              <a:t>: </a:t>
            </a:r>
            <a:r>
              <a:rPr lang="fr-FR" sz="3150" b="1" dirty="0">
                <a:solidFill>
                  <a:srgbClr val="19313F"/>
                </a:solidFill>
                <a:latin typeface="Aptos"/>
              </a:rPr>
              <a:t>CCC = DIO + DSO − DPO</a:t>
            </a:r>
          </a:p>
          <a:p>
            <a:pPr algn="l">
              <a:defRPr sz="3150" b="1">
                <a:solidFill>
                  <a:srgbClr val="19313F"/>
                </a:solidFill>
                <a:latin typeface="Aptos"/>
                <a:ea typeface="Aptos"/>
                <a:cs typeface="Aptos"/>
              </a:defRPr>
            </a:pPr>
            <a:endParaRPr sz="3150" b="1" dirty="0">
              <a:solidFill>
                <a:srgbClr val="19313F"/>
              </a:solidFill>
              <a:latin typeface="Aptos"/>
              <a:ea typeface="Aptos"/>
              <a:cs typeface="Aptos"/>
            </a:endParaRPr>
          </a:p>
        </p:txBody>
      </p:sp>
      <p:sp>
        <p:nvSpPr>
          <p:cNvPr id="3" name="slide-number">
            <a:extLst>
              <a:ext uri="{FF2B5EF4-FFF2-40B4-BE49-F238E27FC236}">
                <a16:creationId xmlns:a16="http://schemas.microsoft.com/office/drawing/2014/main" id="{C10554A1-ACE7-4C6B-AF11-224BDB6311E0}"/>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37</a:t>
            </a:r>
          </a:p>
        </p:txBody>
      </p:sp>
      <p:sp>
        <p:nvSpPr>
          <p:cNvPr id="4" name="explanation">
            <a:extLst>
              <a:ext uri="{FF2B5EF4-FFF2-40B4-BE49-F238E27FC236}">
                <a16:creationId xmlns:a16="http://schemas.microsoft.com/office/drawing/2014/main" id="{FBF6F740-33C8-41E6-8813-9406EF795A92}"/>
              </a:ext>
            </a:extLst>
          </p:cNvPr>
          <p:cNvSpPr>
            <a:spLocks noGrp="1"/>
          </p:cNvSpPr>
          <p:nvPr/>
        </p:nvSpPr>
        <p:spPr>
          <a:xfrm>
            <a:off x="2476500" y="1647825"/>
            <a:ext cx="2381250" cy="314325"/>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Purchase: day 0</a:t>
            </a:r>
          </a:p>
        </p:txBody>
      </p:sp>
      <p:sp>
        <p:nvSpPr>
          <p:cNvPr id="5" name="explanation">
            <a:extLst>
              <a:ext uri="{FF2B5EF4-FFF2-40B4-BE49-F238E27FC236}">
                <a16:creationId xmlns:a16="http://schemas.microsoft.com/office/drawing/2014/main" id="{CDDE83D5-8E1F-4752-9CB7-9A1C67A71E74}"/>
              </a:ext>
            </a:extLst>
          </p:cNvPr>
          <p:cNvSpPr>
            <a:spLocks noGrp="1"/>
          </p:cNvSpPr>
          <p:nvPr/>
        </p:nvSpPr>
        <p:spPr>
          <a:xfrm>
            <a:off x="5697682" y="1647825"/>
            <a:ext cx="2381250" cy="314325"/>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Sale: day 50</a:t>
            </a:r>
          </a:p>
        </p:txBody>
      </p:sp>
      <p:sp>
        <p:nvSpPr>
          <p:cNvPr id="6" name="explanation">
            <a:extLst>
              <a:ext uri="{FF2B5EF4-FFF2-40B4-BE49-F238E27FC236}">
                <a16:creationId xmlns:a16="http://schemas.microsoft.com/office/drawing/2014/main" id="{C4EF0214-1250-47A9-B9F8-E74C8F3C575E}"/>
              </a:ext>
            </a:extLst>
          </p:cNvPr>
          <p:cNvSpPr>
            <a:spLocks noGrp="1"/>
          </p:cNvSpPr>
          <p:nvPr/>
        </p:nvSpPr>
        <p:spPr>
          <a:xfrm>
            <a:off x="9048750" y="1647825"/>
            <a:ext cx="2571750" cy="314325"/>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Collection: day 110</a:t>
            </a:r>
          </a:p>
        </p:txBody>
      </p:sp>
      <p:sp>
        <p:nvSpPr>
          <p:cNvPr id="7" name="explanation">
            <a:extLst>
              <a:ext uri="{FF2B5EF4-FFF2-40B4-BE49-F238E27FC236}">
                <a16:creationId xmlns:a16="http://schemas.microsoft.com/office/drawing/2014/main" id="{9A288D2B-26FB-486B-A854-53E4F3C9C2F1}"/>
              </a:ext>
            </a:extLst>
          </p:cNvPr>
          <p:cNvSpPr>
            <a:spLocks noGrp="1"/>
          </p:cNvSpPr>
          <p:nvPr/>
        </p:nvSpPr>
        <p:spPr>
          <a:xfrm>
            <a:off x="609600" y="2286000"/>
            <a:ext cx="1733550" cy="590550"/>
          </a:xfrm>
          <a:prstGeom prst="rect">
            <a:avLst/>
          </a:prstGeom>
          <a:noFill/>
          <a:ln w="0">
            <a:noFill/>
            <a:prstDash val="solid"/>
          </a:ln>
        </p:spPr>
        <p:txBody>
          <a:bodyPr wrap="square" lIns="0" tIns="0" rIns="0" bIns="0" anchor="t">
            <a:noAutofit/>
          </a:bodyPr>
          <a:lstStyle>
            <a:defPPr algn="l">
              <a:defRPr sz="1800" b="1">
                <a:solidFill>
                  <a:srgbClr val="19313F"/>
                </a:solidFill>
                <a:latin typeface="Aptos"/>
                <a:ea typeface="Aptos"/>
                <a:cs typeface="Aptos"/>
              </a:defRPr>
            </a:defPPr>
          </a:lstStyle>
          <a:p>
            <a:pPr algn="l">
              <a:defRPr sz="1800" b="1">
                <a:solidFill>
                  <a:srgbClr val="19313F"/>
                </a:solidFill>
                <a:latin typeface="Aptos"/>
                <a:ea typeface="Aptos"/>
                <a:cs typeface="Aptos"/>
              </a:defRPr>
            </a:pPr>
            <a:r>
              <a:rPr sz="1800" b="1">
                <a:solidFill>
                  <a:srgbClr val="19313F"/>
                </a:solidFill>
                <a:latin typeface="Aptos"/>
                <a:ea typeface="Aptos"/>
                <a:cs typeface="Aptos"/>
              </a:rPr>
              <a:t>Inventory (DIO)</a:t>
            </a:r>
          </a:p>
        </p:txBody>
      </p:sp>
      <p:sp>
        <p:nvSpPr>
          <p:cNvPr id="8" name="duration-bar">
            <a:extLst>
              <a:ext uri="{FF2B5EF4-FFF2-40B4-BE49-F238E27FC236}">
                <a16:creationId xmlns:a16="http://schemas.microsoft.com/office/drawing/2014/main" id="{BF1AA0CC-3135-4857-A2EB-458A19E3955A}"/>
              </a:ext>
            </a:extLst>
          </p:cNvPr>
          <p:cNvSpPr>
            <a:spLocks noGrp="1"/>
          </p:cNvSpPr>
          <p:nvPr/>
        </p:nvSpPr>
        <p:spPr>
          <a:xfrm>
            <a:off x="2476500" y="2190750"/>
            <a:ext cx="3983182" cy="523875"/>
          </a:xfrm>
          <a:prstGeom prst="rect">
            <a:avLst/>
          </a:prstGeom>
          <a:solidFill>
            <a:srgbClr val="087F83"/>
          </a:solidFill>
          <a:ln w="0">
            <a:noFill/>
            <a:prstDash val="solid"/>
          </a:ln>
        </p:spPr>
        <p:txBody>
          <a:bodyPr/>
          <a:lstStyle/>
          <a:p>
            <a:endParaRPr lang="fr-FR"/>
          </a:p>
        </p:txBody>
      </p:sp>
      <p:sp>
        <p:nvSpPr>
          <p:cNvPr id="9" name="explanation">
            <a:extLst>
              <a:ext uri="{FF2B5EF4-FFF2-40B4-BE49-F238E27FC236}">
                <a16:creationId xmlns:a16="http://schemas.microsoft.com/office/drawing/2014/main" id="{5718DB19-0CF0-467F-BA6D-37DE38F4A1F6}"/>
              </a:ext>
            </a:extLst>
          </p:cNvPr>
          <p:cNvSpPr>
            <a:spLocks noGrp="1"/>
          </p:cNvSpPr>
          <p:nvPr/>
        </p:nvSpPr>
        <p:spPr>
          <a:xfrm>
            <a:off x="2609850" y="2305050"/>
            <a:ext cx="3773632" cy="381000"/>
          </a:xfrm>
          <a:prstGeom prst="rect">
            <a:avLst/>
          </a:prstGeom>
          <a:noFill/>
          <a:ln w="0">
            <a:noFill/>
            <a:prstDash val="solid"/>
          </a:ln>
        </p:spPr>
        <p:txBody>
          <a:bodyPr wrap="square" lIns="0" tIns="0" rIns="0" bIns="0" anchor="t">
            <a:noAutofit/>
          </a:bodyPr>
          <a:lstStyle>
            <a:defPPr algn="l">
              <a:defRPr sz="1950" b="1">
                <a:solidFill>
                  <a:srgbClr val="FFFFFF"/>
                </a:solidFill>
                <a:latin typeface="Aptos"/>
                <a:ea typeface="Aptos"/>
                <a:cs typeface="Aptos"/>
              </a:defRPr>
            </a:defPPr>
          </a:lstStyle>
          <a:p>
            <a:pPr algn="l">
              <a:defRPr sz="1950" b="1">
                <a:solidFill>
                  <a:srgbClr val="FFFFFF"/>
                </a:solidFill>
                <a:latin typeface="Aptos"/>
                <a:ea typeface="Aptos"/>
                <a:cs typeface="Aptos"/>
              </a:defRPr>
            </a:pPr>
            <a:r>
              <a:rPr sz="1950" b="1">
                <a:solidFill>
                  <a:srgbClr val="FFFFFF"/>
                </a:solidFill>
                <a:latin typeface="Aptos"/>
                <a:ea typeface="Aptos"/>
                <a:cs typeface="Aptos"/>
              </a:rPr>
              <a:t>50 days</a:t>
            </a:r>
          </a:p>
        </p:txBody>
      </p:sp>
      <p:sp>
        <p:nvSpPr>
          <p:cNvPr id="10" name="explanation">
            <a:extLst>
              <a:ext uri="{FF2B5EF4-FFF2-40B4-BE49-F238E27FC236}">
                <a16:creationId xmlns:a16="http://schemas.microsoft.com/office/drawing/2014/main" id="{250EC694-66B5-4B93-916D-BE2545502189}"/>
              </a:ext>
            </a:extLst>
          </p:cNvPr>
          <p:cNvSpPr>
            <a:spLocks noGrp="1"/>
          </p:cNvSpPr>
          <p:nvPr/>
        </p:nvSpPr>
        <p:spPr>
          <a:xfrm>
            <a:off x="609600" y="3067050"/>
            <a:ext cx="1733550" cy="590550"/>
          </a:xfrm>
          <a:prstGeom prst="rect">
            <a:avLst/>
          </a:prstGeom>
          <a:noFill/>
          <a:ln w="0">
            <a:noFill/>
            <a:prstDash val="solid"/>
          </a:ln>
        </p:spPr>
        <p:txBody>
          <a:bodyPr wrap="square" lIns="0" tIns="0" rIns="0" bIns="0" anchor="t">
            <a:noAutofit/>
          </a:bodyPr>
          <a:lstStyle>
            <a:defPPr algn="l">
              <a:defRPr sz="1800" b="1">
                <a:solidFill>
                  <a:srgbClr val="19313F"/>
                </a:solidFill>
                <a:latin typeface="Aptos"/>
                <a:ea typeface="Aptos"/>
                <a:cs typeface="Aptos"/>
              </a:defRPr>
            </a:defPPr>
          </a:lstStyle>
          <a:p>
            <a:pPr algn="l">
              <a:defRPr sz="1800" b="1">
                <a:solidFill>
                  <a:srgbClr val="19313F"/>
                </a:solidFill>
                <a:latin typeface="Aptos"/>
                <a:ea typeface="Aptos"/>
                <a:cs typeface="Aptos"/>
              </a:defRPr>
            </a:pPr>
            <a:r>
              <a:rPr sz="1800" b="1">
                <a:solidFill>
                  <a:srgbClr val="19313F"/>
                </a:solidFill>
                <a:latin typeface="Aptos"/>
                <a:ea typeface="Aptos"/>
                <a:cs typeface="Aptos"/>
              </a:rPr>
              <a:t>Receivables (DSO)</a:t>
            </a:r>
          </a:p>
        </p:txBody>
      </p:sp>
      <p:sp>
        <p:nvSpPr>
          <p:cNvPr id="11" name="duration-bar">
            <a:extLst>
              <a:ext uri="{FF2B5EF4-FFF2-40B4-BE49-F238E27FC236}">
                <a16:creationId xmlns:a16="http://schemas.microsoft.com/office/drawing/2014/main" id="{FB03200A-4AFA-4608-9814-BD122EC422A2}"/>
              </a:ext>
            </a:extLst>
          </p:cNvPr>
          <p:cNvSpPr>
            <a:spLocks noGrp="1"/>
          </p:cNvSpPr>
          <p:nvPr/>
        </p:nvSpPr>
        <p:spPr>
          <a:xfrm>
            <a:off x="6459682" y="2971800"/>
            <a:ext cx="4779818" cy="523875"/>
          </a:xfrm>
          <a:prstGeom prst="rect">
            <a:avLst/>
          </a:prstGeom>
          <a:solidFill>
            <a:srgbClr val="142D3B"/>
          </a:solidFill>
          <a:ln w="0">
            <a:noFill/>
            <a:prstDash val="solid"/>
          </a:ln>
        </p:spPr>
        <p:txBody>
          <a:bodyPr/>
          <a:lstStyle/>
          <a:p>
            <a:endParaRPr lang="fr-FR"/>
          </a:p>
        </p:txBody>
      </p:sp>
      <p:sp>
        <p:nvSpPr>
          <p:cNvPr id="12" name="explanation">
            <a:extLst>
              <a:ext uri="{FF2B5EF4-FFF2-40B4-BE49-F238E27FC236}">
                <a16:creationId xmlns:a16="http://schemas.microsoft.com/office/drawing/2014/main" id="{81758192-3926-4FE7-8186-0A704B3DCDD9}"/>
              </a:ext>
            </a:extLst>
          </p:cNvPr>
          <p:cNvSpPr>
            <a:spLocks noGrp="1"/>
          </p:cNvSpPr>
          <p:nvPr/>
        </p:nvSpPr>
        <p:spPr>
          <a:xfrm>
            <a:off x="6593032" y="3086100"/>
            <a:ext cx="4570268" cy="381000"/>
          </a:xfrm>
          <a:prstGeom prst="rect">
            <a:avLst/>
          </a:prstGeom>
          <a:noFill/>
          <a:ln w="0">
            <a:noFill/>
            <a:prstDash val="solid"/>
          </a:ln>
        </p:spPr>
        <p:txBody>
          <a:bodyPr wrap="square" lIns="0" tIns="0" rIns="0" bIns="0" anchor="t">
            <a:noAutofit/>
          </a:bodyPr>
          <a:lstStyle>
            <a:defPPr algn="l">
              <a:defRPr sz="1950" b="1">
                <a:solidFill>
                  <a:srgbClr val="FFFFFF"/>
                </a:solidFill>
                <a:latin typeface="Aptos"/>
                <a:ea typeface="Aptos"/>
                <a:cs typeface="Aptos"/>
              </a:defRPr>
            </a:defPPr>
          </a:lstStyle>
          <a:p>
            <a:pPr algn="l">
              <a:defRPr sz="1950" b="1">
                <a:solidFill>
                  <a:srgbClr val="FFFFFF"/>
                </a:solidFill>
                <a:latin typeface="Aptos"/>
                <a:ea typeface="Aptos"/>
                <a:cs typeface="Aptos"/>
              </a:defRPr>
            </a:pPr>
            <a:r>
              <a:rPr sz="1950" b="1">
                <a:solidFill>
                  <a:srgbClr val="FFFFFF"/>
                </a:solidFill>
                <a:latin typeface="Aptos"/>
                <a:ea typeface="Aptos"/>
                <a:cs typeface="Aptos"/>
              </a:rPr>
              <a:t>60 days</a:t>
            </a:r>
          </a:p>
        </p:txBody>
      </p:sp>
      <p:sp>
        <p:nvSpPr>
          <p:cNvPr id="13" name="explanation">
            <a:extLst>
              <a:ext uri="{FF2B5EF4-FFF2-40B4-BE49-F238E27FC236}">
                <a16:creationId xmlns:a16="http://schemas.microsoft.com/office/drawing/2014/main" id="{1249016C-DE5A-48DF-A18E-FE32537908B5}"/>
              </a:ext>
            </a:extLst>
          </p:cNvPr>
          <p:cNvSpPr>
            <a:spLocks noGrp="1"/>
          </p:cNvSpPr>
          <p:nvPr/>
        </p:nvSpPr>
        <p:spPr>
          <a:xfrm>
            <a:off x="609600" y="3848100"/>
            <a:ext cx="1733550" cy="590550"/>
          </a:xfrm>
          <a:prstGeom prst="rect">
            <a:avLst/>
          </a:prstGeom>
          <a:noFill/>
          <a:ln w="0">
            <a:noFill/>
            <a:prstDash val="solid"/>
          </a:ln>
        </p:spPr>
        <p:txBody>
          <a:bodyPr wrap="square" lIns="0" tIns="0" rIns="0" bIns="0" anchor="t">
            <a:noAutofit/>
          </a:bodyPr>
          <a:lstStyle>
            <a:defPPr algn="l">
              <a:defRPr sz="1800" b="1">
                <a:solidFill>
                  <a:srgbClr val="19313F"/>
                </a:solidFill>
                <a:latin typeface="Aptos"/>
                <a:ea typeface="Aptos"/>
                <a:cs typeface="Aptos"/>
              </a:defRPr>
            </a:defPPr>
          </a:lstStyle>
          <a:p>
            <a:pPr algn="l">
              <a:defRPr sz="1800" b="1">
                <a:solidFill>
                  <a:srgbClr val="19313F"/>
                </a:solidFill>
                <a:latin typeface="Aptos"/>
                <a:ea typeface="Aptos"/>
                <a:cs typeface="Aptos"/>
              </a:defRPr>
            </a:pPr>
            <a:r>
              <a:rPr sz="1800" b="1">
                <a:solidFill>
                  <a:srgbClr val="19313F"/>
                </a:solidFill>
                <a:latin typeface="Aptos"/>
                <a:ea typeface="Aptos"/>
                <a:cs typeface="Aptos"/>
              </a:rPr>
              <a:t>Supplier credit (DPO)</a:t>
            </a:r>
          </a:p>
        </p:txBody>
      </p:sp>
      <p:sp>
        <p:nvSpPr>
          <p:cNvPr id="14" name="duration-bar">
            <a:extLst>
              <a:ext uri="{FF2B5EF4-FFF2-40B4-BE49-F238E27FC236}">
                <a16:creationId xmlns:a16="http://schemas.microsoft.com/office/drawing/2014/main" id="{42F1F4ED-8B71-4801-AC13-07C57BDEC351}"/>
              </a:ext>
            </a:extLst>
          </p:cNvPr>
          <p:cNvSpPr>
            <a:spLocks noGrp="1"/>
          </p:cNvSpPr>
          <p:nvPr/>
        </p:nvSpPr>
        <p:spPr>
          <a:xfrm>
            <a:off x="2476500" y="3752850"/>
            <a:ext cx="4779818" cy="523875"/>
          </a:xfrm>
          <a:prstGeom prst="rect">
            <a:avLst/>
          </a:prstGeom>
          <a:solidFill>
            <a:srgbClr val="DBAE55"/>
          </a:solidFill>
          <a:ln w="0">
            <a:noFill/>
            <a:prstDash val="solid"/>
          </a:ln>
        </p:spPr>
        <p:txBody>
          <a:bodyPr/>
          <a:lstStyle/>
          <a:p>
            <a:endParaRPr lang="fr-FR"/>
          </a:p>
        </p:txBody>
      </p:sp>
      <p:sp>
        <p:nvSpPr>
          <p:cNvPr id="15" name="explanation">
            <a:extLst>
              <a:ext uri="{FF2B5EF4-FFF2-40B4-BE49-F238E27FC236}">
                <a16:creationId xmlns:a16="http://schemas.microsoft.com/office/drawing/2014/main" id="{9410BBAF-8950-4B56-9932-229C607AE2ED}"/>
              </a:ext>
            </a:extLst>
          </p:cNvPr>
          <p:cNvSpPr>
            <a:spLocks noGrp="1"/>
          </p:cNvSpPr>
          <p:nvPr/>
        </p:nvSpPr>
        <p:spPr>
          <a:xfrm>
            <a:off x="2609850" y="3867150"/>
            <a:ext cx="4570268" cy="381000"/>
          </a:xfrm>
          <a:prstGeom prst="rect">
            <a:avLst/>
          </a:prstGeom>
          <a:noFill/>
          <a:ln w="0">
            <a:noFill/>
            <a:prstDash val="solid"/>
          </a:ln>
        </p:spPr>
        <p:txBody>
          <a:bodyPr wrap="square" lIns="0" tIns="0" rIns="0" bIns="0" anchor="t">
            <a:noAutofit/>
          </a:bodyPr>
          <a:lstStyle>
            <a:defPPr algn="l">
              <a:defRPr sz="1950" b="1">
                <a:solidFill>
                  <a:srgbClr val="19313F"/>
                </a:solidFill>
                <a:latin typeface="Aptos"/>
                <a:ea typeface="Aptos"/>
                <a:cs typeface="Aptos"/>
              </a:defRPr>
            </a:defPPr>
          </a:lstStyle>
          <a:p>
            <a:pPr algn="l">
              <a:defRPr sz="1950" b="1">
                <a:solidFill>
                  <a:srgbClr val="19313F"/>
                </a:solidFill>
                <a:latin typeface="Aptos"/>
                <a:ea typeface="Aptos"/>
                <a:cs typeface="Aptos"/>
              </a:defRPr>
            </a:pPr>
            <a:r>
              <a:rPr sz="1950" b="1">
                <a:solidFill>
                  <a:srgbClr val="19313F"/>
                </a:solidFill>
                <a:latin typeface="Aptos"/>
                <a:ea typeface="Aptos"/>
                <a:cs typeface="Aptos"/>
              </a:rPr>
              <a:t>60 days</a:t>
            </a:r>
          </a:p>
        </p:txBody>
      </p:sp>
      <p:sp>
        <p:nvSpPr>
          <p:cNvPr id="16" name="explanation">
            <a:extLst>
              <a:ext uri="{FF2B5EF4-FFF2-40B4-BE49-F238E27FC236}">
                <a16:creationId xmlns:a16="http://schemas.microsoft.com/office/drawing/2014/main" id="{6005412C-C72D-4EAD-B035-2AAA2280D491}"/>
              </a:ext>
            </a:extLst>
          </p:cNvPr>
          <p:cNvSpPr>
            <a:spLocks noGrp="1"/>
          </p:cNvSpPr>
          <p:nvPr/>
        </p:nvSpPr>
        <p:spPr>
          <a:xfrm>
            <a:off x="609600" y="4629150"/>
            <a:ext cx="1733550" cy="590550"/>
          </a:xfrm>
          <a:prstGeom prst="rect">
            <a:avLst/>
          </a:prstGeom>
          <a:noFill/>
          <a:ln w="0">
            <a:noFill/>
            <a:prstDash val="solid"/>
          </a:ln>
        </p:spPr>
        <p:txBody>
          <a:bodyPr wrap="square" lIns="0" tIns="0" rIns="0" bIns="0" anchor="t">
            <a:noAutofit/>
          </a:bodyPr>
          <a:lstStyle>
            <a:defPPr algn="l">
              <a:defRPr sz="1800" b="1">
                <a:solidFill>
                  <a:srgbClr val="19313F"/>
                </a:solidFill>
                <a:latin typeface="Aptos"/>
                <a:ea typeface="Aptos"/>
                <a:cs typeface="Aptos"/>
              </a:defRPr>
            </a:defPPr>
          </a:lstStyle>
          <a:p>
            <a:pPr algn="l">
              <a:defRPr sz="1800" b="1">
                <a:solidFill>
                  <a:srgbClr val="19313F"/>
                </a:solidFill>
                <a:latin typeface="Aptos"/>
                <a:ea typeface="Aptos"/>
                <a:cs typeface="Aptos"/>
              </a:defRPr>
            </a:pPr>
            <a:r>
              <a:rPr sz="1800" b="1">
                <a:solidFill>
                  <a:srgbClr val="19313F"/>
                </a:solidFill>
                <a:latin typeface="Aptos"/>
                <a:ea typeface="Aptos"/>
                <a:cs typeface="Aptos"/>
              </a:rPr>
              <a:t>Cash funding gap</a:t>
            </a:r>
          </a:p>
        </p:txBody>
      </p:sp>
      <p:sp>
        <p:nvSpPr>
          <p:cNvPr id="17" name="duration-bar">
            <a:extLst>
              <a:ext uri="{FF2B5EF4-FFF2-40B4-BE49-F238E27FC236}">
                <a16:creationId xmlns:a16="http://schemas.microsoft.com/office/drawing/2014/main" id="{AB612F3D-4CD5-4230-994E-B096CA0E734E}"/>
              </a:ext>
            </a:extLst>
          </p:cNvPr>
          <p:cNvSpPr>
            <a:spLocks noGrp="1"/>
          </p:cNvSpPr>
          <p:nvPr/>
        </p:nvSpPr>
        <p:spPr>
          <a:xfrm>
            <a:off x="7256318" y="4533900"/>
            <a:ext cx="3983182" cy="523875"/>
          </a:xfrm>
          <a:prstGeom prst="rect">
            <a:avLst/>
          </a:prstGeom>
          <a:solidFill>
            <a:srgbClr val="B4453F"/>
          </a:solidFill>
          <a:ln w="0">
            <a:noFill/>
            <a:prstDash val="solid"/>
          </a:ln>
        </p:spPr>
        <p:txBody>
          <a:bodyPr/>
          <a:lstStyle/>
          <a:p>
            <a:endParaRPr lang="fr-FR"/>
          </a:p>
        </p:txBody>
      </p:sp>
      <p:sp>
        <p:nvSpPr>
          <p:cNvPr id="18" name="explanation">
            <a:extLst>
              <a:ext uri="{FF2B5EF4-FFF2-40B4-BE49-F238E27FC236}">
                <a16:creationId xmlns:a16="http://schemas.microsoft.com/office/drawing/2014/main" id="{DA4FC62A-044A-4BAF-BF70-EC44868E2E55}"/>
              </a:ext>
            </a:extLst>
          </p:cNvPr>
          <p:cNvSpPr>
            <a:spLocks noGrp="1"/>
          </p:cNvSpPr>
          <p:nvPr/>
        </p:nvSpPr>
        <p:spPr>
          <a:xfrm>
            <a:off x="7389668" y="4648200"/>
            <a:ext cx="3773632" cy="381000"/>
          </a:xfrm>
          <a:prstGeom prst="rect">
            <a:avLst/>
          </a:prstGeom>
          <a:noFill/>
          <a:ln w="0">
            <a:noFill/>
            <a:prstDash val="solid"/>
          </a:ln>
        </p:spPr>
        <p:txBody>
          <a:bodyPr wrap="square" lIns="0" tIns="0" rIns="0" bIns="0" anchor="t">
            <a:noAutofit/>
          </a:bodyPr>
          <a:lstStyle>
            <a:defPPr algn="l">
              <a:defRPr sz="1950" b="1">
                <a:solidFill>
                  <a:srgbClr val="FFFFFF"/>
                </a:solidFill>
                <a:latin typeface="Aptos"/>
                <a:ea typeface="Aptos"/>
                <a:cs typeface="Aptos"/>
              </a:defRPr>
            </a:defPPr>
          </a:lstStyle>
          <a:p>
            <a:pPr algn="l">
              <a:defRPr sz="1950" b="1">
                <a:solidFill>
                  <a:srgbClr val="FFFFFF"/>
                </a:solidFill>
                <a:latin typeface="Aptos"/>
                <a:ea typeface="Aptos"/>
                <a:cs typeface="Aptos"/>
              </a:defRPr>
            </a:pPr>
            <a:r>
              <a:rPr sz="1950" b="1">
                <a:solidFill>
                  <a:srgbClr val="FFFFFF"/>
                </a:solidFill>
                <a:latin typeface="Aptos"/>
                <a:ea typeface="Aptos"/>
                <a:cs typeface="Aptos"/>
              </a:rPr>
              <a:t>50 days</a:t>
            </a:r>
          </a:p>
        </p:txBody>
      </p:sp>
      <p:sp>
        <p:nvSpPr>
          <p:cNvPr id="19" name="explanation">
            <a:extLst>
              <a:ext uri="{FF2B5EF4-FFF2-40B4-BE49-F238E27FC236}">
                <a16:creationId xmlns:a16="http://schemas.microsoft.com/office/drawing/2014/main" id="{C7C268EC-5A23-43FF-9DD1-3F3EEAA5AB69}"/>
              </a:ext>
            </a:extLst>
          </p:cNvPr>
          <p:cNvSpPr>
            <a:spLocks noGrp="1"/>
          </p:cNvSpPr>
          <p:nvPr/>
        </p:nvSpPr>
        <p:spPr>
          <a:xfrm>
            <a:off x="609600" y="5562600"/>
            <a:ext cx="10972800" cy="41910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600" b="1" dirty="0">
                <a:solidFill>
                  <a:srgbClr val="FF0000"/>
                </a:solidFill>
                <a:highlight>
                  <a:srgbClr val="FFFF00"/>
                </a:highlight>
                <a:latin typeface="Aptos"/>
                <a:ea typeface="Aptos"/>
                <a:cs typeface="Aptos"/>
              </a:rPr>
              <a:t>DIO 50 + DSO 60 − DPO 60</a:t>
            </a:r>
            <a:r>
              <a:rPr sz="1600" b="1" dirty="0">
                <a:solidFill>
                  <a:srgbClr val="5B6D77"/>
                </a:solidFill>
                <a:highlight>
                  <a:srgbClr val="FFFF00"/>
                </a:highlight>
                <a:latin typeface="Aptos"/>
                <a:ea typeface="Aptos"/>
                <a:cs typeface="Aptos"/>
              </a:rPr>
              <a:t>. The cash funding interval runs from supplier payment to collection</a:t>
            </a:r>
            <a:r>
              <a:rPr sz="1275" b="0" dirty="0">
                <a:solidFill>
                  <a:srgbClr val="5B6D77"/>
                </a:solidFill>
                <a:highlight>
                  <a:srgbClr val="FFFF00"/>
                </a:highlight>
                <a:latin typeface="Aptos"/>
                <a:ea typeface="Aptos"/>
                <a:cs typeface="Aptos"/>
              </a:rPr>
              <a:t>.</a:t>
            </a:r>
          </a:p>
        </p:txBody>
      </p:sp>
      <p:sp>
        <p:nvSpPr>
          <p:cNvPr id="20" name="rule">
            <a:extLst>
              <a:ext uri="{FF2B5EF4-FFF2-40B4-BE49-F238E27FC236}">
                <a16:creationId xmlns:a16="http://schemas.microsoft.com/office/drawing/2014/main" id="{A62A3CF4-477C-438E-BD16-0612B4314A44}"/>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21" name="decision-implication">
            <a:extLst>
              <a:ext uri="{FF2B5EF4-FFF2-40B4-BE49-F238E27FC236}">
                <a16:creationId xmlns:a16="http://schemas.microsoft.com/office/drawing/2014/main" id="{8FC01FF1-8112-49DC-BC12-F362EF7FEB56}"/>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CCC = 50 days. The average cycle is a diagnostic; the dated forecast tests payment capacity.</a:t>
            </a:r>
          </a:p>
        </p:txBody>
      </p:sp>
    </p:spTree>
    <p:extLst>
      <p:ext uri="{BB962C8B-B14F-4D97-AF65-F5344CB8AC3E}">
        <p14:creationId xmlns:p14="http://schemas.microsoft.com/office/powerpoint/2010/main" val="5285900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4" name="section-reference">
            <a:extLst>
              <a:ext uri="{FF2B5EF4-FFF2-40B4-BE49-F238E27FC236}">
                <a16:creationId xmlns:a16="http://schemas.microsoft.com/office/drawing/2014/main" id="{60F39863-192B-4DA8-A7CE-2768363365F4}"/>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2.3</a:t>
            </a:r>
          </a:p>
        </p:txBody>
      </p:sp>
      <p:sp>
        <p:nvSpPr>
          <p:cNvPr id="2" name="slide-title">
            <a:extLst>
              <a:ext uri="{FF2B5EF4-FFF2-40B4-BE49-F238E27FC236}">
                <a16:creationId xmlns:a16="http://schemas.microsoft.com/office/drawing/2014/main" id="{EAD4CDDF-F18E-44DC-A430-E7423BAB9BC0}"/>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Negative WCR as a structural advantage</a:t>
            </a:r>
          </a:p>
        </p:txBody>
      </p:sp>
      <p:sp>
        <p:nvSpPr>
          <p:cNvPr id="3" name="slide-number">
            <a:extLst>
              <a:ext uri="{FF2B5EF4-FFF2-40B4-BE49-F238E27FC236}">
                <a16:creationId xmlns:a16="http://schemas.microsoft.com/office/drawing/2014/main" id="{6CD8609A-692D-4DC2-8FD6-8D63B04F8EEB}"/>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38</a:t>
            </a:r>
          </a:p>
        </p:txBody>
      </p:sp>
      <p:graphicFrame>
        <p:nvGraphicFramePr>
          <p:cNvPr id="4" name="Chart">
            <a:extLst>
              <a:ext uri="{FF2B5EF4-FFF2-40B4-BE49-F238E27FC236}">
                <a16:creationId xmlns:a16="http://schemas.microsoft.com/office/drawing/2014/main" id="{73285781-82F3-4D82-A3FF-9E3DBF015264}"/>
              </a:ext>
            </a:extLst>
          </p:cNvPr>
          <p:cNvGraphicFramePr/>
          <p:nvPr/>
        </p:nvGraphicFramePr>
        <p:xfrm>
          <a:off x="609600" y="1819275"/>
          <a:ext cx="7239000" cy="3486150"/>
        </p:xfrm>
        <a:graphic>
          <a:graphicData uri="http://schemas.openxmlformats.org/drawingml/2006/chart">
            <c:chart xmlns:c="http://schemas.openxmlformats.org/drawingml/2006/chart" xmlns:r="http://schemas.openxmlformats.org/officeDocument/2006/relationships" r:id="rId3"/>
          </a:graphicData>
        </a:graphic>
      </p:graphicFrame>
      <p:sp>
        <p:nvSpPr>
          <p:cNvPr id="5" name="signed-cash-movement">
            <a:extLst>
              <a:ext uri="{FF2B5EF4-FFF2-40B4-BE49-F238E27FC236}">
                <a16:creationId xmlns:a16="http://schemas.microsoft.com/office/drawing/2014/main" id="{D9C8F7A9-FB7D-494D-B9AB-6E9F6EE0054A}"/>
              </a:ext>
            </a:extLst>
          </p:cNvPr>
          <p:cNvSpPr>
            <a:spLocks noGrp="1"/>
          </p:cNvSpPr>
          <p:nvPr/>
        </p:nvSpPr>
        <p:spPr>
          <a:xfrm>
            <a:off x="1575197" y="2276475"/>
            <a:ext cx="1085850" cy="285750"/>
          </a:xfrm>
          <a:prstGeom prst="rect">
            <a:avLst/>
          </a:prstGeom>
          <a:noFill/>
          <a:ln w="0">
            <a:noFill/>
            <a:prstDash val="solid"/>
          </a:ln>
        </p:spPr>
        <p:txBody>
          <a:bodyPr wrap="square" lIns="0" tIns="0" rIns="0" bIns="0" anchor="t">
            <a:noAutofit/>
          </a:bodyPr>
          <a:lstStyle>
            <a:defPPr algn="ctr">
              <a:defRPr sz="1800" b="1">
                <a:solidFill>
                  <a:srgbClr val="142D3B"/>
                </a:solidFill>
                <a:latin typeface="Aptos"/>
                <a:ea typeface="Aptos"/>
                <a:cs typeface="Aptos"/>
              </a:defRPr>
            </a:defPPr>
          </a:lstStyle>
          <a:p>
            <a:pPr algn="ctr">
              <a:defRPr sz="1800" b="1">
                <a:solidFill>
                  <a:srgbClr val="142D3B"/>
                </a:solidFill>
                <a:latin typeface="Aptos"/>
                <a:ea typeface="Aptos"/>
                <a:cs typeface="Aptos"/>
              </a:defRPr>
            </a:pPr>
            <a:r>
              <a:rPr sz="1800" b="1">
                <a:solidFill>
                  <a:srgbClr val="142D3B"/>
                </a:solidFill>
                <a:latin typeface="Aptos"/>
                <a:ea typeface="Aptos"/>
                <a:cs typeface="Aptos"/>
              </a:rPr>
              <a:t>20.0</a:t>
            </a:r>
          </a:p>
        </p:txBody>
      </p:sp>
      <p:sp>
        <p:nvSpPr>
          <p:cNvPr id="6" name="signed-cash-movement">
            <a:extLst>
              <a:ext uri="{FF2B5EF4-FFF2-40B4-BE49-F238E27FC236}">
                <a16:creationId xmlns:a16="http://schemas.microsoft.com/office/drawing/2014/main" id="{9746C091-9641-46C2-887B-5986908ABAEF}"/>
              </a:ext>
            </a:extLst>
          </p:cNvPr>
          <p:cNvSpPr>
            <a:spLocks noGrp="1"/>
          </p:cNvSpPr>
          <p:nvPr/>
        </p:nvSpPr>
        <p:spPr>
          <a:xfrm>
            <a:off x="3144441" y="2276475"/>
            <a:ext cx="1085850" cy="285750"/>
          </a:xfrm>
          <a:prstGeom prst="rect">
            <a:avLst/>
          </a:prstGeom>
          <a:noFill/>
          <a:ln w="0">
            <a:noFill/>
            <a:prstDash val="solid"/>
          </a:ln>
        </p:spPr>
        <p:txBody>
          <a:bodyPr wrap="square" lIns="0" tIns="0" rIns="0" bIns="0" anchor="t">
            <a:noAutofit/>
          </a:bodyPr>
          <a:lstStyle>
            <a:defPPr algn="ctr">
              <a:defRPr sz="1800" b="1">
                <a:solidFill>
                  <a:srgbClr val="087F83"/>
                </a:solidFill>
                <a:latin typeface="Aptos"/>
                <a:ea typeface="Aptos"/>
                <a:cs typeface="Aptos"/>
              </a:defRPr>
            </a:defPPr>
          </a:lstStyle>
          <a:p>
            <a:pPr algn="ctr">
              <a:defRPr sz="1800" b="1">
                <a:solidFill>
                  <a:srgbClr val="087F83"/>
                </a:solidFill>
                <a:latin typeface="Aptos"/>
                <a:ea typeface="Aptos"/>
                <a:cs typeface="Aptos"/>
              </a:defRPr>
            </a:pPr>
            <a:r>
              <a:rPr sz="1800" b="1">
                <a:solidFill>
                  <a:srgbClr val="087F83"/>
                </a:solidFill>
                <a:latin typeface="Aptos"/>
                <a:ea typeface="Aptos"/>
                <a:cs typeface="Aptos"/>
              </a:rPr>
              <a:t>+2.0</a:t>
            </a:r>
          </a:p>
        </p:txBody>
      </p:sp>
      <p:sp>
        <p:nvSpPr>
          <p:cNvPr id="7" name="signed-cash-movement">
            <a:extLst>
              <a:ext uri="{FF2B5EF4-FFF2-40B4-BE49-F238E27FC236}">
                <a16:creationId xmlns:a16="http://schemas.microsoft.com/office/drawing/2014/main" id="{C7BFBEF7-D3E6-4681-A286-3A4989D06C7C}"/>
              </a:ext>
            </a:extLst>
          </p:cNvPr>
          <p:cNvSpPr>
            <a:spLocks noGrp="1"/>
          </p:cNvSpPr>
          <p:nvPr/>
        </p:nvSpPr>
        <p:spPr>
          <a:xfrm>
            <a:off x="4713684" y="2276475"/>
            <a:ext cx="1085850" cy="285750"/>
          </a:xfrm>
          <a:prstGeom prst="rect">
            <a:avLst/>
          </a:prstGeom>
          <a:noFill/>
          <a:ln w="0">
            <a:noFill/>
            <a:prstDash val="solid"/>
          </a:ln>
        </p:spPr>
        <p:txBody>
          <a:bodyPr wrap="square" lIns="0" tIns="0" rIns="0" bIns="0" anchor="t">
            <a:noAutofit/>
          </a:bodyPr>
          <a:lstStyle>
            <a:defPPr algn="ctr">
              <a:defRPr sz="1800" b="1">
                <a:solidFill>
                  <a:srgbClr val="B4453F"/>
                </a:solidFill>
                <a:latin typeface="Aptos"/>
                <a:ea typeface="Aptos"/>
                <a:cs typeface="Aptos"/>
              </a:defRPr>
            </a:defPPr>
          </a:lstStyle>
          <a:p>
            <a:pPr algn="ctr">
              <a:defRPr sz="1800" b="1">
                <a:solidFill>
                  <a:srgbClr val="B4453F"/>
                </a:solidFill>
                <a:latin typeface="Aptos"/>
                <a:ea typeface="Aptos"/>
                <a:cs typeface="Aptos"/>
              </a:defRPr>
            </a:pPr>
            <a:r>
              <a:rPr sz="1800" b="1">
                <a:solidFill>
                  <a:srgbClr val="B4453F"/>
                </a:solidFill>
                <a:latin typeface="Aptos"/>
                <a:ea typeface="Aptos"/>
                <a:cs typeface="Aptos"/>
              </a:rPr>
              <a:t>-35.0</a:t>
            </a:r>
          </a:p>
        </p:txBody>
      </p:sp>
      <p:sp>
        <p:nvSpPr>
          <p:cNvPr id="8" name="signed-cash-movement">
            <a:extLst>
              <a:ext uri="{FF2B5EF4-FFF2-40B4-BE49-F238E27FC236}">
                <a16:creationId xmlns:a16="http://schemas.microsoft.com/office/drawing/2014/main" id="{2150667F-1823-4E5C-99D1-02E76404A125}"/>
              </a:ext>
            </a:extLst>
          </p:cNvPr>
          <p:cNvSpPr>
            <a:spLocks noGrp="1"/>
          </p:cNvSpPr>
          <p:nvPr/>
        </p:nvSpPr>
        <p:spPr>
          <a:xfrm>
            <a:off x="6282928" y="2276475"/>
            <a:ext cx="1085850" cy="285750"/>
          </a:xfrm>
          <a:prstGeom prst="rect">
            <a:avLst/>
          </a:prstGeom>
          <a:noFill/>
          <a:ln w="0">
            <a:noFill/>
            <a:prstDash val="solid"/>
          </a:ln>
        </p:spPr>
        <p:txBody>
          <a:bodyPr wrap="square" lIns="0" tIns="0" rIns="0" bIns="0" anchor="t">
            <a:noAutofit/>
          </a:bodyPr>
          <a:lstStyle>
            <a:defPPr algn="ctr">
              <a:defRPr sz="1800" b="1">
                <a:solidFill>
                  <a:srgbClr val="142D3B"/>
                </a:solidFill>
                <a:latin typeface="Aptos"/>
                <a:ea typeface="Aptos"/>
                <a:cs typeface="Aptos"/>
              </a:defRPr>
            </a:defPPr>
          </a:lstStyle>
          <a:p>
            <a:pPr algn="ctr">
              <a:defRPr sz="1800" b="1">
                <a:solidFill>
                  <a:srgbClr val="142D3B"/>
                </a:solidFill>
                <a:latin typeface="Aptos"/>
                <a:ea typeface="Aptos"/>
                <a:cs typeface="Aptos"/>
              </a:defRPr>
            </a:pPr>
            <a:r>
              <a:rPr sz="1800" b="1">
                <a:solidFill>
                  <a:srgbClr val="142D3B"/>
                </a:solidFill>
                <a:latin typeface="Aptos"/>
                <a:ea typeface="Aptos"/>
                <a:cs typeface="Aptos"/>
              </a:rPr>
              <a:t>-13.0</a:t>
            </a:r>
          </a:p>
        </p:txBody>
      </p:sp>
      <p:sp>
        <p:nvSpPr>
          <p:cNvPr id="9" name="explanation">
            <a:extLst>
              <a:ext uri="{FF2B5EF4-FFF2-40B4-BE49-F238E27FC236}">
                <a16:creationId xmlns:a16="http://schemas.microsoft.com/office/drawing/2014/main" id="{AD130E40-17AC-4089-B77A-F61B4EAF8B68}"/>
              </a:ext>
            </a:extLst>
          </p:cNvPr>
          <p:cNvSpPr>
            <a:spLocks noGrp="1"/>
          </p:cNvSpPr>
          <p:nvPr/>
        </p:nvSpPr>
        <p:spPr>
          <a:xfrm>
            <a:off x="8382000" y="2066925"/>
            <a:ext cx="3143250" cy="723900"/>
          </a:xfrm>
          <a:prstGeom prst="rect">
            <a:avLst/>
          </a:prstGeom>
          <a:noFill/>
          <a:ln w="0">
            <a:noFill/>
            <a:prstDash val="solid"/>
          </a:ln>
        </p:spPr>
        <p:txBody>
          <a:bodyPr wrap="square" lIns="0" tIns="0" rIns="0" bIns="0" anchor="t">
            <a:noAutofit/>
          </a:bodyPr>
          <a:lstStyle>
            <a:defPPr algn="l">
              <a:defRPr sz="3900" b="1">
                <a:solidFill>
                  <a:srgbClr val="087F83"/>
                </a:solidFill>
                <a:latin typeface="Aptos"/>
                <a:ea typeface="Aptos"/>
                <a:cs typeface="Aptos"/>
              </a:defRPr>
            </a:defPPr>
          </a:lstStyle>
          <a:p>
            <a:pPr algn="l">
              <a:defRPr sz="3900" b="1">
                <a:solidFill>
                  <a:srgbClr val="087F83"/>
                </a:solidFill>
                <a:latin typeface="Aptos"/>
                <a:ea typeface="Aptos"/>
                <a:cs typeface="Aptos"/>
              </a:defRPr>
            </a:pPr>
            <a:r>
              <a:rPr sz="3900" b="1">
                <a:solidFill>
                  <a:srgbClr val="087F83"/>
                </a:solidFill>
                <a:latin typeface="Aptos"/>
                <a:ea typeface="Aptos"/>
                <a:cs typeface="Aptos"/>
              </a:rPr>
              <a:t>−€13m</a:t>
            </a:r>
          </a:p>
        </p:txBody>
      </p:sp>
      <p:sp>
        <p:nvSpPr>
          <p:cNvPr id="10" name="explanation">
            <a:extLst>
              <a:ext uri="{FF2B5EF4-FFF2-40B4-BE49-F238E27FC236}">
                <a16:creationId xmlns:a16="http://schemas.microsoft.com/office/drawing/2014/main" id="{CBE8C592-2E85-4A0F-AD00-72E08C1F6EDE}"/>
              </a:ext>
            </a:extLst>
          </p:cNvPr>
          <p:cNvSpPr>
            <a:spLocks noGrp="1"/>
          </p:cNvSpPr>
          <p:nvPr/>
        </p:nvSpPr>
        <p:spPr>
          <a:xfrm>
            <a:off x="8382000" y="2867025"/>
            <a:ext cx="3143250"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Structural funding advantage</a:t>
            </a:r>
          </a:p>
        </p:txBody>
      </p:sp>
      <p:sp>
        <p:nvSpPr>
          <p:cNvPr id="11" name="explanation">
            <a:extLst>
              <a:ext uri="{FF2B5EF4-FFF2-40B4-BE49-F238E27FC236}">
                <a16:creationId xmlns:a16="http://schemas.microsoft.com/office/drawing/2014/main" id="{B95821AF-4B1C-47E6-8CC5-051DFF9EE021}"/>
              </a:ext>
            </a:extLst>
          </p:cNvPr>
          <p:cNvSpPr>
            <a:spLocks noGrp="1"/>
          </p:cNvSpPr>
          <p:nvPr/>
        </p:nvSpPr>
        <p:spPr>
          <a:xfrm>
            <a:off x="8382000" y="3619500"/>
            <a:ext cx="3143250" cy="819150"/>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Fast stock turnover, immediate collection and agreed supplier credit.</a:t>
            </a:r>
          </a:p>
        </p:txBody>
      </p:sp>
      <p:sp>
        <p:nvSpPr>
          <p:cNvPr id="12" name="rule">
            <a:extLst>
              <a:ext uri="{FF2B5EF4-FFF2-40B4-BE49-F238E27FC236}">
                <a16:creationId xmlns:a16="http://schemas.microsoft.com/office/drawing/2014/main" id="{F046296A-F6A8-45AB-9CFD-34CFEBC7B343}"/>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3" name="decision-implication">
            <a:extLst>
              <a:ext uri="{FF2B5EF4-FFF2-40B4-BE49-F238E27FC236}">
                <a16:creationId xmlns:a16="http://schemas.microsoft.com/office/drawing/2014/main" id="{2FA662F0-E9C0-466C-9204-E1F99467A33C}"/>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Validate stable turnover and payment terms before treating negative WCR as an advantage.</a:t>
            </a:r>
          </a:p>
        </p:txBody>
      </p:sp>
    </p:spTree>
    <p:extLst>
      <p:ext uri="{BB962C8B-B14F-4D97-AF65-F5344CB8AC3E}">
        <p14:creationId xmlns:p14="http://schemas.microsoft.com/office/powerpoint/2010/main" val="21109307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4" name="section-reference">
            <a:extLst>
              <a:ext uri="{FF2B5EF4-FFF2-40B4-BE49-F238E27FC236}">
                <a16:creationId xmlns:a16="http://schemas.microsoft.com/office/drawing/2014/main" id="{D8B2BCC0-30AE-402B-B18B-F569D10BA36C}"/>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2.3</a:t>
            </a:r>
          </a:p>
        </p:txBody>
      </p:sp>
      <p:sp>
        <p:nvSpPr>
          <p:cNvPr id="2" name="slide-title">
            <a:extLst>
              <a:ext uri="{FF2B5EF4-FFF2-40B4-BE49-F238E27FC236}">
                <a16:creationId xmlns:a16="http://schemas.microsoft.com/office/drawing/2014/main" id="{7B34C449-37EE-47C5-B3F8-087EEAF89AF6}"/>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Negative WCR as a warning signal</a:t>
            </a:r>
          </a:p>
        </p:txBody>
      </p:sp>
      <p:sp>
        <p:nvSpPr>
          <p:cNvPr id="3" name="slide-number">
            <a:extLst>
              <a:ext uri="{FF2B5EF4-FFF2-40B4-BE49-F238E27FC236}">
                <a16:creationId xmlns:a16="http://schemas.microsoft.com/office/drawing/2014/main" id="{1C8C383A-4AB0-45CA-B3F3-A5104DFA4939}"/>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39</a:t>
            </a:r>
          </a:p>
        </p:txBody>
      </p:sp>
      <p:graphicFrame>
        <p:nvGraphicFramePr>
          <p:cNvPr id="4" name="Chart">
            <a:extLst>
              <a:ext uri="{FF2B5EF4-FFF2-40B4-BE49-F238E27FC236}">
                <a16:creationId xmlns:a16="http://schemas.microsoft.com/office/drawing/2014/main" id="{58877ECC-52D8-46E3-9FD0-6BEA0B4130AB}"/>
              </a:ext>
            </a:extLst>
          </p:cNvPr>
          <p:cNvGraphicFramePr/>
          <p:nvPr/>
        </p:nvGraphicFramePr>
        <p:xfrm>
          <a:off x="609600" y="1819275"/>
          <a:ext cx="7239000" cy="3486150"/>
        </p:xfrm>
        <a:graphic>
          <a:graphicData uri="http://schemas.openxmlformats.org/drawingml/2006/chart">
            <c:chart xmlns:c="http://schemas.openxmlformats.org/drawingml/2006/chart" xmlns:r="http://schemas.openxmlformats.org/officeDocument/2006/relationships" r:id="rId3"/>
          </a:graphicData>
        </a:graphic>
      </p:graphicFrame>
      <p:sp>
        <p:nvSpPr>
          <p:cNvPr id="5" name="signed-cash-movement">
            <a:extLst>
              <a:ext uri="{FF2B5EF4-FFF2-40B4-BE49-F238E27FC236}">
                <a16:creationId xmlns:a16="http://schemas.microsoft.com/office/drawing/2014/main" id="{EF91A419-DAFD-4483-82DB-44D3319BE724}"/>
              </a:ext>
            </a:extLst>
          </p:cNvPr>
          <p:cNvSpPr>
            <a:spLocks noGrp="1"/>
          </p:cNvSpPr>
          <p:nvPr/>
        </p:nvSpPr>
        <p:spPr>
          <a:xfrm>
            <a:off x="1575197" y="2276475"/>
            <a:ext cx="1085850" cy="285750"/>
          </a:xfrm>
          <a:prstGeom prst="rect">
            <a:avLst/>
          </a:prstGeom>
          <a:noFill/>
          <a:ln w="0">
            <a:noFill/>
            <a:prstDash val="solid"/>
          </a:ln>
        </p:spPr>
        <p:txBody>
          <a:bodyPr wrap="square" lIns="0" tIns="0" rIns="0" bIns="0" anchor="t">
            <a:noAutofit/>
          </a:bodyPr>
          <a:lstStyle>
            <a:defPPr algn="ctr">
              <a:defRPr sz="1800" b="1">
                <a:solidFill>
                  <a:srgbClr val="142D3B"/>
                </a:solidFill>
                <a:latin typeface="Aptos"/>
                <a:ea typeface="Aptos"/>
                <a:cs typeface="Aptos"/>
              </a:defRPr>
            </a:defPPr>
          </a:lstStyle>
          <a:p>
            <a:pPr algn="ctr">
              <a:defRPr sz="1800" b="1">
                <a:solidFill>
                  <a:srgbClr val="142D3B"/>
                </a:solidFill>
                <a:latin typeface="Aptos"/>
                <a:ea typeface="Aptos"/>
                <a:cs typeface="Aptos"/>
              </a:defRPr>
            </a:pPr>
            <a:r>
              <a:rPr sz="1800" b="1">
                <a:solidFill>
                  <a:srgbClr val="142D3B"/>
                </a:solidFill>
                <a:latin typeface="Aptos"/>
                <a:ea typeface="Aptos"/>
                <a:cs typeface="Aptos"/>
              </a:rPr>
              <a:t>20.0</a:t>
            </a:r>
          </a:p>
        </p:txBody>
      </p:sp>
      <p:sp>
        <p:nvSpPr>
          <p:cNvPr id="6" name="signed-cash-movement">
            <a:extLst>
              <a:ext uri="{FF2B5EF4-FFF2-40B4-BE49-F238E27FC236}">
                <a16:creationId xmlns:a16="http://schemas.microsoft.com/office/drawing/2014/main" id="{1FDD206B-86FA-44F9-8EE8-173C07CE4B35}"/>
              </a:ext>
            </a:extLst>
          </p:cNvPr>
          <p:cNvSpPr>
            <a:spLocks noGrp="1"/>
          </p:cNvSpPr>
          <p:nvPr/>
        </p:nvSpPr>
        <p:spPr>
          <a:xfrm>
            <a:off x="3144441" y="2276475"/>
            <a:ext cx="1085850" cy="285750"/>
          </a:xfrm>
          <a:prstGeom prst="rect">
            <a:avLst/>
          </a:prstGeom>
          <a:noFill/>
          <a:ln w="0">
            <a:noFill/>
            <a:prstDash val="solid"/>
          </a:ln>
        </p:spPr>
        <p:txBody>
          <a:bodyPr wrap="square" lIns="0" tIns="0" rIns="0" bIns="0" anchor="t">
            <a:noAutofit/>
          </a:bodyPr>
          <a:lstStyle>
            <a:defPPr algn="ctr">
              <a:defRPr sz="1800" b="1">
                <a:solidFill>
                  <a:srgbClr val="087F83"/>
                </a:solidFill>
                <a:latin typeface="Aptos"/>
                <a:ea typeface="Aptos"/>
                <a:cs typeface="Aptos"/>
              </a:defRPr>
            </a:defPPr>
          </a:lstStyle>
          <a:p>
            <a:pPr algn="ctr">
              <a:defRPr sz="1800" b="1">
                <a:solidFill>
                  <a:srgbClr val="087F83"/>
                </a:solidFill>
                <a:latin typeface="Aptos"/>
                <a:ea typeface="Aptos"/>
                <a:cs typeface="Aptos"/>
              </a:defRPr>
            </a:pPr>
            <a:r>
              <a:rPr sz="1800" b="1">
                <a:solidFill>
                  <a:srgbClr val="087F83"/>
                </a:solidFill>
                <a:latin typeface="Aptos"/>
                <a:ea typeface="Aptos"/>
                <a:cs typeface="Aptos"/>
              </a:rPr>
              <a:t>+25.0</a:t>
            </a:r>
          </a:p>
        </p:txBody>
      </p:sp>
      <p:sp>
        <p:nvSpPr>
          <p:cNvPr id="7" name="signed-cash-movement">
            <a:extLst>
              <a:ext uri="{FF2B5EF4-FFF2-40B4-BE49-F238E27FC236}">
                <a16:creationId xmlns:a16="http://schemas.microsoft.com/office/drawing/2014/main" id="{942E4D6D-D528-4DD3-8AD7-3FCB3C41EC88}"/>
              </a:ext>
            </a:extLst>
          </p:cNvPr>
          <p:cNvSpPr>
            <a:spLocks noGrp="1"/>
          </p:cNvSpPr>
          <p:nvPr/>
        </p:nvSpPr>
        <p:spPr>
          <a:xfrm>
            <a:off x="4713684" y="2276475"/>
            <a:ext cx="1085850" cy="285750"/>
          </a:xfrm>
          <a:prstGeom prst="rect">
            <a:avLst/>
          </a:prstGeom>
          <a:noFill/>
          <a:ln w="0">
            <a:noFill/>
            <a:prstDash val="solid"/>
          </a:ln>
        </p:spPr>
        <p:txBody>
          <a:bodyPr wrap="square" lIns="0" tIns="0" rIns="0" bIns="0" anchor="t">
            <a:noAutofit/>
          </a:bodyPr>
          <a:lstStyle>
            <a:defPPr algn="ctr">
              <a:defRPr sz="1800" b="1">
                <a:solidFill>
                  <a:srgbClr val="B4453F"/>
                </a:solidFill>
                <a:latin typeface="Aptos"/>
                <a:ea typeface="Aptos"/>
                <a:cs typeface="Aptos"/>
              </a:defRPr>
            </a:defPPr>
          </a:lstStyle>
          <a:p>
            <a:pPr algn="ctr">
              <a:defRPr sz="1800" b="1">
                <a:solidFill>
                  <a:srgbClr val="B4453F"/>
                </a:solidFill>
                <a:latin typeface="Aptos"/>
                <a:ea typeface="Aptos"/>
                <a:cs typeface="Aptos"/>
              </a:defRPr>
            </a:pPr>
            <a:r>
              <a:rPr sz="1800" b="1">
                <a:solidFill>
                  <a:srgbClr val="B4453F"/>
                </a:solidFill>
                <a:latin typeface="Aptos"/>
                <a:ea typeface="Aptos"/>
                <a:cs typeface="Aptos"/>
              </a:rPr>
              <a:t>-55.0</a:t>
            </a:r>
          </a:p>
        </p:txBody>
      </p:sp>
      <p:sp>
        <p:nvSpPr>
          <p:cNvPr id="8" name="signed-cash-movement">
            <a:extLst>
              <a:ext uri="{FF2B5EF4-FFF2-40B4-BE49-F238E27FC236}">
                <a16:creationId xmlns:a16="http://schemas.microsoft.com/office/drawing/2014/main" id="{682A8FFD-673A-42F9-AF47-BF736EB38914}"/>
              </a:ext>
            </a:extLst>
          </p:cNvPr>
          <p:cNvSpPr>
            <a:spLocks noGrp="1"/>
          </p:cNvSpPr>
          <p:nvPr/>
        </p:nvSpPr>
        <p:spPr>
          <a:xfrm>
            <a:off x="6282928" y="2276475"/>
            <a:ext cx="1085850" cy="285750"/>
          </a:xfrm>
          <a:prstGeom prst="rect">
            <a:avLst/>
          </a:prstGeom>
          <a:noFill/>
          <a:ln w="0">
            <a:noFill/>
            <a:prstDash val="solid"/>
          </a:ln>
        </p:spPr>
        <p:txBody>
          <a:bodyPr wrap="square" lIns="0" tIns="0" rIns="0" bIns="0" anchor="t">
            <a:noAutofit/>
          </a:bodyPr>
          <a:lstStyle>
            <a:defPPr algn="ctr">
              <a:defRPr sz="1800" b="1">
                <a:solidFill>
                  <a:srgbClr val="142D3B"/>
                </a:solidFill>
                <a:latin typeface="Aptos"/>
                <a:ea typeface="Aptos"/>
                <a:cs typeface="Aptos"/>
              </a:defRPr>
            </a:defPPr>
          </a:lstStyle>
          <a:p>
            <a:pPr algn="ctr">
              <a:defRPr sz="1800" b="1">
                <a:solidFill>
                  <a:srgbClr val="142D3B"/>
                </a:solidFill>
                <a:latin typeface="Aptos"/>
                <a:ea typeface="Aptos"/>
                <a:cs typeface="Aptos"/>
              </a:defRPr>
            </a:pPr>
            <a:r>
              <a:rPr sz="1800" b="1">
                <a:solidFill>
                  <a:srgbClr val="142D3B"/>
                </a:solidFill>
                <a:latin typeface="Aptos"/>
                <a:ea typeface="Aptos"/>
                <a:cs typeface="Aptos"/>
              </a:rPr>
              <a:t>-10.0</a:t>
            </a:r>
          </a:p>
        </p:txBody>
      </p:sp>
      <p:sp>
        <p:nvSpPr>
          <p:cNvPr id="9" name="explanation">
            <a:extLst>
              <a:ext uri="{FF2B5EF4-FFF2-40B4-BE49-F238E27FC236}">
                <a16:creationId xmlns:a16="http://schemas.microsoft.com/office/drawing/2014/main" id="{83B28870-BCEE-4E26-982B-C80F2CDEE2CF}"/>
              </a:ext>
            </a:extLst>
          </p:cNvPr>
          <p:cNvSpPr>
            <a:spLocks noGrp="1"/>
          </p:cNvSpPr>
          <p:nvPr/>
        </p:nvSpPr>
        <p:spPr>
          <a:xfrm>
            <a:off x="8382000" y="2066925"/>
            <a:ext cx="3143250" cy="723900"/>
          </a:xfrm>
          <a:prstGeom prst="rect">
            <a:avLst/>
          </a:prstGeom>
          <a:noFill/>
          <a:ln w="0">
            <a:noFill/>
            <a:prstDash val="solid"/>
          </a:ln>
        </p:spPr>
        <p:txBody>
          <a:bodyPr wrap="square" lIns="0" tIns="0" rIns="0" bIns="0" anchor="t">
            <a:noAutofit/>
          </a:bodyPr>
          <a:lstStyle>
            <a:defPPr algn="l">
              <a:defRPr sz="3900" b="1">
                <a:solidFill>
                  <a:srgbClr val="B4453F"/>
                </a:solidFill>
                <a:latin typeface="Aptos"/>
                <a:ea typeface="Aptos"/>
                <a:cs typeface="Aptos"/>
              </a:defRPr>
            </a:defPPr>
          </a:lstStyle>
          <a:p>
            <a:pPr algn="l">
              <a:defRPr sz="3900" b="1">
                <a:solidFill>
                  <a:srgbClr val="B4453F"/>
                </a:solidFill>
                <a:latin typeface="Aptos"/>
                <a:ea typeface="Aptos"/>
                <a:cs typeface="Aptos"/>
              </a:defRPr>
            </a:pPr>
            <a:r>
              <a:rPr sz="3900" b="1">
                <a:solidFill>
                  <a:srgbClr val="B4453F"/>
                </a:solidFill>
                <a:latin typeface="Aptos"/>
                <a:ea typeface="Aptos"/>
                <a:cs typeface="Aptos"/>
              </a:rPr>
              <a:t>−€10m</a:t>
            </a:r>
          </a:p>
        </p:txBody>
      </p:sp>
      <p:sp>
        <p:nvSpPr>
          <p:cNvPr id="10" name="explanation">
            <a:extLst>
              <a:ext uri="{FF2B5EF4-FFF2-40B4-BE49-F238E27FC236}">
                <a16:creationId xmlns:a16="http://schemas.microsoft.com/office/drawing/2014/main" id="{C53AE4F7-3176-4FF8-8060-76CCB8F97467}"/>
              </a:ext>
            </a:extLst>
          </p:cNvPr>
          <p:cNvSpPr>
            <a:spLocks noGrp="1"/>
          </p:cNvSpPr>
          <p:nvPr/>
        </p:nvSpPr>
        <p:spPr>
          <a:xfrm>
            <a:off x="8382000" y="2867025"/>
            <a:ext cx="3143250"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Supplier arrears can hide stress</a:t>
            </a:r>
          </a:p>
        </p:txBody>
      </p:sp>
      <p:sp>
        <p:nvSpPr>
          <p:cNvPr id="11" name="explanation">
            <a:extLst>
              <a:ext uri="{FF2B5EF4-FFF2-40B4-BE49-F238E27FC236}">
                <a16:creationId xmlns:a16="http://schemas.microsoft.com/office/drawing/2014/main" id="{72464C57-5EA9-493A-8E69-B848C6175C40}"/>
              </a:ext>
            </a:extLst>
          </p:cNvPr>
          <p:cNvSpPr>
            <a:spLocks noGrp="1"/>
          </p:cNvSpPr>
          <p:nvPr/>
        </p:nvSpPr>
        <p:spPr>
          <a:xfrm>
            <a:off x="8382000" y="3619500"/>
            <a:ext cx="3143250" cy="819150"/>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€25m of supplier invoices are overdue. Terms may be withdrawn.</a:t>
            </a:r>
          </a:p>
        </p:txBody>
      </p:sp>
      <p:sp>
        <p:nvSpPr>
          <p:cNvPr id="12" name="rule">
            <a:extLst>
              <a:ext uri="{FF2B5EF4-FFF2-40B4-BE49-F238E27FC236}">
                <a16:creationId xmlns:a16="http://schemas.microsoft.com/office/drawing/2014/main" id="{F812370C-6BDD-4C17-964E-CE1546B56F1C}"/>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3" name="decision-implication">
            <a:extLst>
              <a:ext uri="{FF2B5EF4-FFF2-40B4-BE49-F238E27FC236}">
                <a16:creationId xmlns:a16="http://schemas.microsoft.com/office/drawing/2014/main" id="{62E9F8CC-97E9-4287-8E58-802F43A9A39A}"/>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The same negative sign can come from missed payments. Diagnose the cause.</a:t>
            </a:r>
          </a:p>
        </p:txBody>
      </p:sp>
    </p:spTree>
    <p:extLst>
      <p:ext uri="{BB962C8B-B14F-4D97-AF65-F5344CB8AC3E}">
        <p14:creationId xmlns:p14="http://schemas.microsoft.com/office/powerpoint/2010/main" val="10659770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4" name="section-reference">
            <a:extLst>
              <a:ext uri="{FF2B5EF4-FFF2-40B4-BE49-F238E27FC236}">
                <a16:creationId xmlns:a16="http://schemas.microsoft.com/office/drawing/2014/main" id="{33BD3BCF-1895-4133-B7D4-82D151250F3F}"/>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2.3</a:t>
            </a:r>
          </a:p>
        </p:txBody>
      </p:sp>
      <p:sp>
        <p:nvSpPr>
          <p:cNvPr id="2" name="slide-title">
            <a:extLst>
              <a:ext uri="{FF2B5EF4-FFF2-40B4-BE49-F238E27FC236}">
                <a16:creationId xmlns:a16="http://schemas.microsoft.com/office/drawing/2014/main" id="{E7CDE541-C618-4AEF-BEDF-1586122C5795}"/>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Negative CCC is not immunity from liquidity risk</a:t>
            </a:r>
          </a:p>
        </p:txBody>
      </p:sp>
      <p:sp>
        <p:nvSpPr>
          <p:cNvPr id="3" name="slide-number">
            <a:extLst>
              <a:ext uri="{FF2B5EF4-FFF2-40B4-BE49-F238E27FC236}">
                <a16:creationId xmlns:a16="http://schemas.microsoft.com/office/drawing/2014/main" id="{0C444FAC-8389-4E92-AB0D-992A6F5E3104}"/>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40</a:t>
            </a:r>
          </a:p>
        </p:txBody>
      </p:sp>
      <p:sp>
        <p:nvSpPr>
          <p:cNvPr id="4" name="explanation">
            <a:extLst>
              <a:ext uri="{FF2B5EF4-FFF2-40B4-BE49-F238E27FC236}">
                <a16:creationId xmlns:a16="http://schemas.microsoft.com/office/drawing/2014/main" id="{3239175A-B97E-4C6A-BC4C-A4966D11A426}"/>
              </a:ext>
            </a:extLst>
          </p:cNvPr>
          <p:cNvSpPr>
            <a:spLocks noGrp="1"/>
          </p:cNvSpPr>
          <p:nvPr/>
        </p:nvSpPr>
        <p:spPr>
          <a:xfrm>
            <a:off x="609600" y="1838325"/>
            <a:ext cx="5095875" cy="6286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Favourable operating cycle</a:t>
            </a:r>
          </a:p>
        </p:txBody>
      </p:sp>
      <p:sp>
        <p:nvSpPr>
          <p:cNvPr id="5" name="explanation">
            <a:extLst>
              <a:ext uri="{FF2B5EF4-FFF2-40B4-BE49-F238E27FC236}">
                <a16:creationId xmlns:a16="http://schemas.microsoft.com/office/drawing/2014/main" id="{C74AF655-39F5-475A-B85A-4FB4BF791DC1}"/>
              </a:ext>
            </a:extLst>
          </p:cNvPr>
          <p:cNvSpPr>
            <a:spLocks noGrp="1"/>
          </p:cNvSpPr>
          <p:nvPr/>
        </p:nvSpPr>
        <p:spPr>
          <a:xfrm>
            <a:off x="609600" y="2714625"/>
            <a:ext cx="5000625" cy="952500"/>
          </a:xfrm>
          <a:prstGeom prst="rect">
            <a:avLst/>
          </a:prstGeom>
          <a:noFill/>
          <a:ln w="0">
            <a:noFill/>
            <a:prstDash val="solid"/>
          </a:ln>
        </p:spPr>
        <p:txBody>
          <a:bodyPr wrap="square" lIns="0" tIns="0" rIns="0" bIns="0" anchor="t">
            <a:noAutofit/>
          </a:bodyPr>
          <a:lstStyle>
            <a:defPPr algn="l">
              <a:defRPr sz="2550" b="1">
                <a:solidFill>
                  <a:srgbClr val="19313F"/>
                </a:solidFill>
                <a:latin typeface="Aptos"/>
                <a:ea typeface="Aptos"/>
                <a:cs typeface="Aptos"/>
              </a:defRPr>
            </a:defPPr>
          </a:lstStyle>
          <a:p>
            <a:pPr algn="l">
              <a:defRPr sz="2550" b="1">
                <a:solidFill>
                  <a:srgbClr val="19313F"/>
                </a:solidFill>
                <a:latin typeface="Aptos"/>
                <a:ea typeface="Aptos"/>
                <a:cs typeface="Aptos"/>
              </a:defRPr>
            </a:pPr>
            <a:r>
              <a:rPr sz="2550" b="1">
                <a:solidFill>
                  <a:srgbClr val="19313F"/>
                </a:solidFill>
                <a:latin typeface="Aptos"/>
                <a:ea typeface="Aptos"/>
                <a:cs typeface="Aptos"/>
              </a:rPr>
              <a:t>DSO 0 + DIO 25 − DPO 55</a:t>
            </a:r>
          </a:p>
        </p:txBody>
      </p:sp>
      <p:sp>
        <p:nvSpPr>
          <p:cNvPr id="6" name="rule">
            <a:extLst>
              <a:ext uri="{FF2B5EF4-FFF2-40B4-BE49-F238E27FC236}">
                <a16:creationId xmlns:a16="http://schemas.microsoft.com/office/drawing/2014/main" id="{C706BA55-6B0B-4555-86FE-BEF354CA9A0F}"/>
              </a:ext>
            </a:extLst>
          </p:cNvPr>
          <p:cNvSpPr>
            <a:spLocks noGrp="1"/>
          </p:cNvSpPr>
          <p:nvPr/>
        </p:nvSpPr>
        <p:spPr>
          <a:xfrm>
            <a:off x="609600" y="3838575"/>
            <a:ext cx="4953000" cy="0"/>
          </a:xfrm>
          <a:prstGeom prst="line">
            <a:avLst/>
          </a:prstGeom>
          <a:noFill/>
          <a:ln w="9525">
            <a:solidFill>
              <a:srgbClr val="CCD6D9"/>
            </a:solidFill>
            <a:prstDash val="solid"/>
          </a:ln>
        </p:spPr>
        <p:txBody>
          <a:bodyPr/>
          <a:lstStyle/>
          <a:p>
            <a:endParaRPr lang="fr-FR"/>
          </a:p>
        </p:txBody>
      </p:sp>
      <p:sp>
        <p:nvSpPr>
          <p:cNvPr id="7" name="explanation">
            <a:extLst>
              <a:ext uri="{FF2B5EF4-FFF2-40B4-BE49-F238E27FC236}">
                <a16:creationId xmlns:a16="http://schemas.microsoft.com/office/drawing/2014/main" id="{1DE501BC-0680-4F97-AB24-0C5605C69C20}"/>
              </a:ext>
            </a:extLst>
          </p:cNvPr>
          <p:cNvSpPr>
            <a:spLocks noGrp="1"/>
          </p:cNvSpPr>
          <p:nvPr/>
        </p:nvSpPr>
        <p:spPr>
          <a:xfrm>
            <a:off x="609600" y="4124325"/>
            <a:ext cx="5000625" cy="1304925"/>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CCC = −30 days</a:t>
            </a:r>
          </a:p>
          <a:p>
            <a:endParaRPr sz="2025" b="0">
              <a:solidFill>
                <a:srgbClr val="5B6D77"/>
              </a:solidFill>
              <a:latin typeface="Aptos"/>
              <a:ea typeface="Aptos"/>
              <a:cs typeface="Aptos"/>
            </a:endParaRPr>
          </a:p>
          <a:p>
            <a:pPr algn="l">
              <a:defRPr sz="2025" b="0">
                <a:solidFill>
                  <a:srgbClr val="5B6D77"/>
                </a:solidFill>
                <a:latin typeface="Aptos"/>
                <a:ea typeface="Aptos"/>
                <a:cs typeface="Aptos"/>
              </a:defRPr>
            </a:pPr>
            <a:r>
              <a:rPr sz="2025" b="0">
                <a:solidFill>
                  <a:srgbClr val="5B6D77"/>
                </a:solidFill>
                <a:latin typeface="Aptos"/>
                <a:ea typeface="Aptos"/>
                <a:cs typeface="Aptos"/>
              </a:rPr>
              <a:t>Customers fund part of operations</a:t>
            </a:r>
          </a:p>
        </p:txBody>
      </p:sp>
      <p:sp>
        <p:nvSpPr>
          <p:cNvPr id="8" name="explanation">
            <a:extLst>
              <a:ext uri="{FF2B5EF4-FFF2-40B4-BE49-F238E27FC236}">
                <a16:creationId xmlns:a16="http://schemas.microsoft.com/office/drawing/2014/main" id="{90AFFB65-6F81-4514-9084-4BF1DD2439AA}"/>
              </a:ext>
            </a:extLst>
          </p:cNvPr>
          <p:cNvSpPr>
            <a:spLocks noGrp="1"/>
          </p:cNvSpPr>
          <p:nvPr/>
        </p:nvSpPr>
        <p:spPr>
          <a:xfrm>
            <a:off x="6438900" y="1838325"/>
            <a:ext cx="5095875" cy="6286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Remaining cash obligations</a:t>
            </a:r>
          </a:p>
        </p:txBody>
      </p:sp>
      <p:sp>
        <p:nvSpPr>
          <p:cNvPr id="9" name="explanation">
            <a:extLst>
              <a:ext uri="{FF2B5EF4-FFF2-40B4-BE49-F238E27FC236}">
                <a16:creationId xmlns:a16="http://schemas.microsoft.com/office/drawing/2014/main" id="{BE92B156-D5AE-4913-B242-A440F296FD83}"/>
              </a:ext>
            </a:extLst>
          </p:cNvPr>
          <p:cNvSpPr>
            <a:spLocks noGrp="1"/>
          </p:cNvSpPr>
          <p:nvPr/>
        </p:nvSpPr>
        <p:spPr>
          <a:xfrm>
            <a:off x="6438900" y="2714625"/>
            <a:ext cx="5000625" cy="952500"/>
          </a:xfrm>
          <a:prstGeom prst="rect">
            <a:avLst/>
          </a:prstGeom>
          <a:noFill/>
          <a:ln w="0">
            <a:noFill/>
            <a:prstDash val="solid"/>
          </a:ln>
        </p:spPr>
        <p:txBody>
          <a:bodyPr wrap="square" lIns="0" tIns="0" rIns="0" bIns="0" anchor="t">
            <a:noAutofit/>
          </a:bodyPr>
          <a:lstStyle>
            <a:defPPr algn="l">
              <a:defRPr sz="2550" b="1">
                <a:solidFill>
                  <a:srgbClr val="19313F"/>
                </a:solidFill>
                <a:latin typeface="Aptos"/>
                <a:ea typeface="Aptos"/>
                <a:cs typeface="Aptos"/>
              </a:defRPr>
            </a:defPPr>
          </a:lstStyle>
          <a:p>
            <a:pPr algn="l">
              <a:defRPr sz="2550" b="1">
                <a:solidFill>
                  <a:srgbClr val="19313F"/>
                </a:solidFill>
                <a:latin typeface="Aptos"/>
                <a:ea typeface="Aptos"/>
                <a:cs typeface="Aptos"/>
              </a:defRPr>
            </a:pPr>
            <a:r>
              <a:rPr sz="2550" b="1">
                <a:solidFill>
                  <a:srgbClr val="19313F"/>
                </a:solidFill>
                <a:latin typeface="Aptos"/>
                <a:ea typeface="Aptos"/>
                <a:cs typeface="Aptos"/>
              </a:rPr>
              <a:t>Wages, rent and tax</a:t>
            </a:r>
          </a:p>
        </p:txBody>
      </p:sp>
      <p:sp>
        <p:nvSpPr>
          <p:cNvPr id="10" name="rule">
            <a:extLst>
              <a:ext uri="{FF2B5EF4-FFF2-40B4-BE49-F238E27FC236}">
                <a16:creationId xmlns:a16="http://schemas.microsoft.com/office/drawing/2014/main" id="{048E7C67-1918-4327-8827-F6410480957B}"/>
              </a:ext>
            </a:extLst>
          </p:cNvPr>
          <p:cNvSpPr>
            <a:spLocks noGrp="1"/>
          </p:cNvSpPr>
          <p:nvPr/>
        </p:nvSpPr>
        <p:spPr>
          <a:xfrm>
            <a:off x="6438900" y="3838575"/>
            <a:ext cx="4953000" cy="0"/>
          </a:xfrm>
          <a:prstGeom prst="line">
            <a:avLst/>
          </a:prstGeom>
          <a:noFill/>
          <a:ln w="9525">
            <a:solidFill>
              <a:srgbClr val="CCD6D9"/>
            </a:solidFill>
            <a:prstDash val="solid"/>
          </a:ln>
        </p:spPr>
        <p:txBody>
          <a:bodyPr/>
          <a:lstStyle/>
          <a:p>
            <a:endParaRPr lang="fr-FR"/>
          </a:p>
        </p:txBody>
      </p:sp>
      <p:sp>
        <p:nvSpPr>
          <p:cNvPr id="11" name="explanation">
            <a:extLst>
              <a:ext uri="{FF2B5EF4-FFF2-40B4-BE49-F238E27FC236}">
                <a16:creationId xmlns:a16="http://schemas.microsoft.com/office/drawing/2014/main" id="{215DBF3E-AB5E-449F-B8C2-9BC173A37306}"/>
              </a:ext>
            </a:extLst>
          </p:cNvPr>
          <p:cNvSpPr>
            <a:spLocks noGrp="1"/>
          </p:cNvSpPr>
          <p:nvPr/>
        </p:nvSpPr>
        <p:spPr>
          <a:xfrm>
            <a:off x="6438900" y="4124325"/>
            <a:ext cx="5000625" cy="1304925"/>
          </a:xfrm>
          <a:prstGeom prst="rect">
            <a:avLst/>
          </a:prstGeom>
          <a:noFill/>
          <a:ln w="0">
            <a:noFill/>
            <a:prstDash val="solid"/>
          </a:ln>
        </p:spPr>
        <p:txBody>
          <a:bodyPr wrap="square" lIns="0" tIns="0" rIns="0" bIns="0" anchor="t">
            <a:noAutofit/>
          </a:bodyPr>
          <a:lstStyle>
            <a:defPPr algn="l">
              <a:defRPr sz="2025" b="0">
                <a:solidFill>
                  <a:srgbClr val="5B6D77"/>
                </a:solidFill>
                <a:latin typeface="Aptos"/>
                <a:ea typeface="Aptos"/>
                <a:cs typeface="Aptos"/>
              </a:defRPr>
            </a:defPPr>
          </a:lstStyle>
          <a:p>
            <a:pPr algn="l">
              <a:defRPr sz="2025" b="0">
                <a:solidFill>
                  <a:srgbClr val="5B6D77"/>
                </a:solidFill>
                <a:latin typeface="Aptos"/>
                <a:ea typeface="Aptos"/>
                <a:cs typeface="Aptos"/>
              </a:defRPr>
            </a:pPr>
            <a:r>
              <a:rPr sz="2025" b="0">
                <a:solidFill>
                  <a:srgbClr val="5B6D77"/>
                </a:solidFill>
                <a:latin typeface="Aptos"/>
                <a:ea typeface="Aptos"/>
                <a:cs typeface="Aptos"/>
              </a:rPr>
              <a:t>Capex and principal repayments</a:t>
            </a:r>
          </a:p>
          <a:p>
            <a:endParaRPr sz="2025" b="0">
              <a:solidFill>
                <a:srgbClr val="5B6D77"/>
              </a:solidFill>
              <a:latin typeface="Aptos"/>
              <a:ea typeface="Aptos"/>
              <a:cs typeface="Aptos"/>
            </a:endParaRPr>
          </a:p>
          <a:p>
            <a:pPr algn="l">
              <a:defRPr sz="2025" b="0">
                <a:solidFill>
                  <a:srgbClr val="5B6D77"/>
                </a:solidFill>
                <a:latin typeface="Aptos"/>
                <a:ea typeface="Aptos"/>
                <a:cs typeface="Aptos"/>
              </a:defRPr>
            </a:pPr>
            <a:r>
              <a:rPr sz="2025" b="0">
                <a:solidFill>
                  <a:srgbClr val="5B6D77"/>
                </a:solidFill>
                <a:latin typeface="Aptos"/>
                <a:ea typeface="Aptos"/>
                <a:cs typeface="Aptos"/>
              </a:rPr>
              <a:t>Sales decline or shorter supplier terms</a:t>
            </a:r>
          </a:p>
        </p:txBody>
      </p:sp>
      <p:sp>
        <p:nvSpPr>
          <p:cNvPr id="12" name="rule">
            <a:extLst>
              <a:ext uri="{FF2B5EF4-FFF2-40B4-BE49-F238E27FC236}">
                <a16:creationId xmlns:a16="http://schemas.microsoft.com/office/drawing/2014/main" id="{957CF0BE-27DA-4E23-9DF1-9875B14EEAE6}"/>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3" name="decision-implication">
            <a:extLst>
              <a:ext uri="{FF2B5EF4-FFF2-40B4-BE49-F238E27FC236}">
                <a16:creationId xmlns:a16="http://schemas.microsoft.com/office/drawing/2014/main" id="{C2BC3202-287A-431E-8F32-4117FA791E5A}"/>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Stress supplier terms and debt service even when operating cash conversion is favourable.</a:t>
            </a:r>
          </a:p>
        </p:txBody>
      </p:sp>
    </p:spTree>
    <p:extLst>
      <p:ext uri="{BB962C8B-B14F-4D97-AF65-F5344CB8AC3E}">
        <p14:creationId xmlns:p14="http://schemas.microsoft.com/office/powerpoint/2010/main" val="18580419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4" name="section-reference">
            <a:extLst>
              <a:ext uri="{FF2B5EF4-FFF2-40B4-BE49-F238E27FC236}">
                <a16:creationId xmlns:a16="http://schemas.microsoft.com/office/drawing/2014/main" id="{A0AB9738-7B5F-4B25-97CE-CCA1CB35711B}"/>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2.4</a:t>
            </a:r>
          </a:p>
        </p:txBody>
      </p:sp>
      <p:sp>
        <p:nvSpPr>
          <p:cNvPr id="2" name="slide-title">
            <a:extLst>
              <a:ext uri="{FF2B5EF4-FFF2-40B4-BE49-F238E27FC236}">
                <a16:creationId xmlns:a16="http://schemas.microsoft.com/office/drawing/2014/main" id="{48674223-D762-4A79-A1E4-10A2E4514608}"/>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Release cash through DSO and DIO</a:t>
            </a:r>
          </a:p>
        </p:txBody>
      </p:sp>
      <p:sp>
        <p:nvSpPr>
          <p:cNvPr id="3" name="slide-number">
            <a:extLst>
              <a:ext uri="{FF2B5EF4-FFF2-40B4-BE49-F238E27FC236}">
                <a16:creationId xmlns:a16="http://schemas.microsoft.com/office/drawing/2014/main" id="{0D4D6B48-7F7A-4699-A5D1-6C5C13E24C4B}"/>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41</a:t>
            </a:r>
          </a:p>
        </p:txBody>
      </p:sp>
      <p:sp>
        <p:nvSpPr>
          <p:cNvPr id="4" name="explanation">
            <a:extLst>
              <a:ext uri="{FF2B5EF4-FFF2-40B4-BE49-F238E27FC236}">
                <a16:creationId xmlns:a16="http://schemas.microsoft.com/office/drawing/2014/main" id="{6BA3F7D4-3CA4-42CE-92F3-EFC9CF6A7248}"/>
              </a:ext>
            </a:extLst>
          </p:cNvPr>
          <p:cNvSpPr>
            <a:spLocks noGrp="1"/>
          </p:cNvSpPr>
          <p:nvPr/>
        </p:nvSpPr>
        <p:spPr>
          <a:xfrm>
            <a:off x="609600" y="1790700"/>
            <a:ext cx="10763250" cy="762000"/>
          </a:xfrm>
          <a:prstGeom prst="rect">
            <a:avLst/>
          </a:prstGeom>
          <a:noFill/>
          <a:ln w="0">
            <a:noFill/>
            <a:prstDash val="solid"/>
          </a:ln>
        </p:spPr>
        <p:txBody>
          <a:bodyPr wrap="square" lIns="0" tIns="0" rIns="0" bIns="0" anchor="t">
            <a:noAutofit/>
          </a:bodyPr>
          <a:lstStyle>
            <a:defPPr algn="l">
              <a:defRPr sz="2625" b="1">
                <a:solidFill>
                  <a:srgbClr val="087F83"/>
                </a:solidFill>
                <a:latin typeface="Aptos"/>
                <a:ea typeface="Aptos"/>
                <a:cs typeface="Aptos"/>
              </a:defRPr>
            </a:defPPr>
          </a:lstStyle>
          <a:p>
            <a:pPr algn="l">
              <a:defRPr sz="2625" b="1">
                <a:solidFill>
                  <a:srgbClr val="087F83"/>
                </a:solidFill>
                <a:latin typeface="Aptos"/>
                <a:ea typeface="Aptos"/>
                <a:cs typeface="Aptos"/>
              </a:defRPr>
            </a:pPr>
            <a:r>
              <a:rPr sz="2625" b="1">
                <a:solidFill>
                  <a:srgbClr val="087F83"/>
                </a:solidFill>
                <a:latin typeface="Aptos"/>
                <a:ea typeface="Aptos"/>
                <a:cs typeface="Aptos"/>
              </a:rPr>
              <a:t>Cash release = annual operating flow × days reduced / 365</a:t>
            </a:r>
          </a:p>
        </p:txBody>
      </p:sp>
      <p:sp>
        <p:nvSpPr>
          <p:cNvPr id="5" name="explanation">
            <a:extLst>
              <a:ext uri="{FF2B5EF4-FFF2-40B4-BE49-F238E27FC236}">
                <a16:creationId xmlns:a16="http://schemas.microsoft.com/office/drawing/2014/main" id="{D5F97CF6-B593-4110-A581-72CDB0A0C7C2}"/>
              </a:ext>
            </a:extLst>
          </p:cNvPr>
          <p:cNvSpPr>
            <a:spLocks noGrp="1"/>
          </p:cNvSpPr>
          <p:nvPr/>
        </p:nvSpPr>
        <p:spPr>
          <a:xfrm>
            <a:off x="609600" y="2895600"/>
            <a:ext cx="4524375" cy="723900"/>
          </a:xfrm>
          <a:prstGeom prst="rect">
            <a:avLst/>
          </a:prstGeom>
          <a:noFill/>
          <a:ln w="0">
            <a:noFill/>
            <a:prstDash val="solid"/>
          </a:ln>
        </p:spPr>
        <p:txBody>
          <a:bodyPr wrap="square" lIns="0" tIns="0" rIns="0" bIns="0" anchor="t">
            <a:noAutofit/>
          </a:bodyPr>
          <a:lstStyle>
            <a:defPPr algn="l">
              <a:defRPr sz="3900" b="1">
                <a:solidFill>
                  <a:srgbClr val="087F83"/>
                </a:solidFill>
                <a:latin typeface="Aptos"/>
                <a:ea typeface="Aptos"/>
                <a:cs typeface="Aptos"/>
              </a:defRPr>
            </a:defPPr>
          </a:lstStyle>
          <a:p>
            <a:pPr algn="l">
              <a:defRPr sz="3900" b="1">
                <a:solidFill>
                  <a:srgbClr val="087F83"/>
                </a:solidFill>
                <a:latin typeface="Aptos"/>
                <a:ea typeface="Aptos"/>
                <a:cs typeface="Aptos"/>
              </a:defRPr>
            </a:pPr>
            <a:r>
              <a:rPr sz="3900" b="1">
                <a:solidFill>
                  <a:srgbClr val="087F83"/>
                </a:solidFill>
                <a:latin typeface="Aptos"/>
                <a:ea typeface="Aptos"/>
                <a:cs typeface="Aptos"/>
              </a:rPr>
              <a:t>€5m</a:t>
            </a:r>
          </a:p>
        </p:txBody>
      </p:sp>
      <p:sp>
        <p:nvSpPr>
          <p:cNvPr id="6" name="explanation">
            <a:extLst>
              <a:ext uri="{FF2B5EF4-FFF2-40B4-BE49-F238E27FC236}">
                <a16:creationId xmlns:a16="http://schemas.microsoft.com/office/drawing/2014/main" id="{FFC93401-E560-494D-B086-170598418D90}"/>
              </a:ext>
            </a:extLst>
          </p:cNvPr>
          <p:cNvSpPr>
            <a:spLocks noGrp="1"/>
          </p:cNvSpPr>
          <p:nvPr/>
        </p:nvSpPr>
        <p:spPr>
          <a:xfrm>
            <a:off x="609600" y="3695700"/>
            <a:ext cx="452437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DSO −5 days</a:t>
            </a:r>
          </a:p>
        </p:txBody>
      </p:sp>
      <p:sp>
        <p:nvSpPr>
          <p:cNvPr id="7" name="explanation">
            <a:extLst>
              <a:ext uri="{FF2B5EF4-FFF2-40B4-BE49-F238E27FC236}">
                <a16:creationId xmlns:a16="http://schemas.microsoft.com/office/drawing/2014/main" id="{6D7DFFD5-92A5-4A6C-9DB9-8E86E8332DFE}"/>
              </a:ext>
            </a:extLst>
          </p:cNvPr>
          <p:cNvSpPr>
            <a:spLocks noGrp="1"/>
          </p:cNvSpPr>
          <p:nvPr/>
        </p:nvSpPr>
        <p:spPr>
          <a:xfrm>
            <a:off x="609600" y="4448175"/>
            <a:ext cx="4524375" cy="819150"/>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Credit sales: 365 × 5 / 365.</a:t>
            </a:r>
          </a:p>
        </p:txBody>
      </p:sp>
      <p:sp>
        <p:nvSpPr>
          <p:cNvPr id="8" name="explanation">
            <a:extLst>
              <a:ext uri="{FF2B5EF4-FFF2-40B4-BE49-F238E27FC236}">
                <a16:creationId xmlns:a16="http://schemas.microsoft.com/office/drawing/2014/main" id="{FE0DC6E2-57CE-465B-B74F-BAD9A61D0E01}"/>
              </a:ext>
            </a:extLst>
          </p:cNvPr>
          <p:cNvSpPr>
            <a:spLocks noGrp="1"/>
          </p:cNvSpPr>
          <p:nvPr/>
        </p:nvSpPr>
        <p:spPr>
          <a:xfrm>
            <a:off x="6438900" y="2895600"/>
            <a:ext cx="4524375" cy="723900"/>
          </a:xfrm>
          <a:prstGeom prst="rect">
            <a:avLst/>
          </a:prstGeom>
          <a:noFill/>
          <a:ln w="0">
            <a:noFill/>
            <a:prstDash val="solid"/>
          </a:ln>
        </p:spPr>
        <p:txBody>
          <a:bodyPr wrap="square" lIns="0" tIns="0" rIns="0" bIns="0" anchor="t">
            <a:noAutofit/>
          </a:bodyPr>
          <a:lstStyle>
            <a:defPPr algn="l">
              <a:defRPr sz="3900" b="1">
                <a:solidFill>
                  <a:srgbClr val="087F83"/>
                </a:solidFill>
                <a:latin typeface="Aptos"/>
                <a:ea typeface="Aptos"/>
                <a:cs typeface="Aptos"/>
              </a:defRPr>
            </a:defPPr>
          </a:lstStyle>
          <a:p>
            <a:pPr algn="l">
              <a:defRPr sz="3900" b="1">
                <a:solidFill>
                  <a:srgbClr val="087F83"/>
                </a:solidFill>
                <a:latin typeface="Aptos"/>
                <a:ea typeface="Aptos"/>
                <a:cs typeface="Aptos"/>
              </a:defRPr>
            </a:pPr>
            <a:r>
              <a:rPr sz="3900" b="1">
                <a:solidFill>
                  <a:srgbClr val="087F83"/>
                </a:solidFill>
                <a:latin typeface="Aptos"/>
                <a:ea typeface="Aptos"/>
                <a:cs typeface="Aptos"/>
              </a:rPr>
              <a:t>€6m</a:t>
            </a:r>
          </a:p>
        </p:txBody>
      </p:sp>
      <p:sp>
        <p:nvSpPr>
          <p:cNvPr id="9" name="explanation">
            <a:extLst>
              <a:ext uri="{FF2B5EF4-FFF2-40B4-BE49-F238E27FC236}">
                <a16:creationId xmlns:a16="http://schemas.microsoft.com/office/drawing/2014/main" id="{C0D4C9F4-813B-4883-AE8C-B58D15004CA9}"/>
              </a:ext>
            </a:extLst>
          </p:cNvPr>
          <p:cNvSpPr>
            <a:spLocks noGrp="1"/>
          </p:cNvSpPr>
          <p:nvPr/>
        </p:nvSpPr>
        <p:spPr>
          <a:xfrm>
            <a:off x="6438900" y="3695700"/>
            <a:ext cx="4524375"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DIO −10 days</a:t>
            </a:r>
          </a:p>
        </p:txBody>
      </p:sp>
      <p:sp>
        <p:nvSpPr>
          <p:cNvPr id="10" name="explanation">
            <a:extLst>
              <a:ext uri="{FF2B5EF4-FFF2-40B4-BE49-F238E27FC236}">
                <a16:creationId xmlns:a16="http://schemas.microsoft.com/office/drawing/2014/main" id="{8A6E0EE7-AABF-478B-AFCE-82A6D726F63A}"/>
              </a:ext>
            </a:extLst>
          </p:cNvPr>
          <p:cNvSpPr>
            <a:spLocks noGrp="1"/>
          </p:cNvSpPr>
          <p:nvPr/>
        </p:nvSpPr>
        <p:spPr>
          <a:xfrm>
            <a:off x="6438900" y="4448175"/>
            <a:ext cx="4524375" cy="819150"/>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COGS: 219 × 10 / 365.</a:t>
            </a:r>
          </a:p>
        </p:txBody>
      </p:sp>
      <p:sp>
        <p:nvSpPr>
          <p:cNvPr id="11" name="explanation">
            <a:extLst>
              <a:ext uri="{FF2B5EF4-FFF2-40B4-BE49-F238E27FC236}">
                <a16:creationId xmlns:a16="http://schemas.microsoft.com/office/drawing/2014/main" id="{B6078D6B-2952-494A-902C-BABEC132A95E}"/>
              </a:ext>
            </a:extLst>
          </p:cNvPr>
          <p:cNvSpPr>
            <a:spLocks noGrp="1"/>
          </p:cNvSpPr>
          <p:nvPr/>
        </p:nvSpPr>
        <p:spPr>
          <a:xfrm>
            <a:off x="609600" y="5562600"/>
            <a:ext cx="10972800" cy="323850"/>
          </a:xfrm>
          <a:prstGeom prst="rect">
            <a:avLst/>
          </a:prstGeom>
          <a:noFill/>
          <a:ln w="0">
            <a:noFill/>
            <a:prstDash val="solid"/>
          </a:ln>
        </p:spPr>
        <p:txBody>
          <a:bodyPr wrap="square" lIns="0" tIns="0" rIns="0" bIns="0" anchor="t">
            <a:noAutofit/>
          </a:bodyPr>
          <a:lstStyle>
            <a:defPPr algn="l">
              <a:defRPr sz="1275" b="0">
                <a:solidFill>
                  <a:srgbClr val="5B6D77"/>
                </a:solidFill>
                <a:latin typeface="Aptos"/>
                <a:ea typeface="Aptos"/>
                <a:cs typeface="Aptos"/>
              </a:defRPr>
            </a:defPPr>
          </a:lstStyle>
          <a:p>
            <a:pPr algn="l">
              <a:defRPr sz="1275" b="0">
                <a:solidFill>
                  <a:srgbClr val="5B6D77"/>
                </a:solidFill>
                <a:latin typeface="Aptos"/>
                <a:ea typeface="Aptos"/>
                <a:cs typeface="Aptos"/>
              </a:defRPr>
            </a:pPr>
            <a:r>
              <a:rPr sz="1275" b="0">
                <a:solidFill>
                  <a:srgbClr val="5B6D77"/>
                </a:solidFill>
                <a:latin typeface="Aptos"/>
                <a:ea typeface="Aptos"/>
                <a:cs typeface="Aptos"/>
              </a:rPr>
              <a:t>Total release €11m at unchanged activity. Use the flow corresponding to each balance.</a:t>
            </a:r>
          </a:p>
        </p:txBody>
      </p:sp>
      <p:sp>
        <p:nvSpPr>
          <p:cNvPr id="12" name="rule">
            <a:extLst>
              <a:ext uri="{FF2B5EF4-FFF2-40B4-BE49-F238E27FC236}">
                <a16:creationId xmlns:a16="http://schemas.microsoft.com/office/drawing/2014/main" id="{B2FC9DC3-4DE0-4450-B661-1BA235325D4E}"/>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3" name="decision-implication">
            <a:extLst>
              <a:ext uri="{FF2B5EF4-FFF2-40B4-BE49-F238E27FC236}">
                <a16:creationId xmlns:a16="http://schemas.microsoft.com/office/drawing/2014/main" id="{EC76337B-C993-4A62-A308-7CD54F94E6E0}"/>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Set achievable collection and inventory actions, then validate actual cash receipts.</a:t>
            </a:r>
          </a:p>
        </p:txBody>
      </p:sp>
    </p:spTree>
    <p:extLst>
      <p:ext uri="{BB962C8B-B14F-4D97-AF65-F5344CB8AC3E}">
        <p14:creationId xmlns:p14="http://schemas.microsoft.com/office/powerpoint/2010/main" val="18853927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14" name="section-reference">
            <a:extLst>
              <a:ext uri="{FF2B5EF4-FFF2-40B4-BE49-F238E27FC236}">
                <a16:creationId xmlns:a16="http://schemas.microsoft.com/office/drawing/2014/main" id="{2FD215D1-CF60-4360-A618-4D4C14AB8794}"/>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2.4</a:t>
            </a:r>
          </a:p>
        </p:txBody>
      </p:sp>
      <p:sp>
        <p:nvSpPr>
          <p:cNvPr id="2" name="slide-title">
            <a:extLst>
              <a:ext uri="{FF2B5EF4-FFF2-40B4-BE49-F238E27FC236}">
                <a16:creationId xmlns:a16="http://schemas.microsoft.com/office/drawing/2014/main" id="{D7A94308-98F2-4907-85EA-5B068EB2A1F0}"/>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DPO extension and its limits</a:t>
            </a:r>
          </a:p>
        </p:txBody>
      </p:sp>
      <p:sp>
        <p:nvSpPr>
          <p:cNvPr id="3" name="slide-number">
            <a:extLst>
              <a:ext uri="{FF2B5EF4-FFF2-40B4-BE49-F238E27FC236}">
                <a16:creationId xmlns:a16="http://schemas.microsoft.com/office/drawing/2014/main" id="{0D8EB9C0-6DF4-4693-BD0B-FEFA7B7F1CE8}"/>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42</a:t>
            </a:r>
          </a:p>
        </p:txBody>
      </p:sp>
      <p:sp>
        <p:nvSpPr>
          <p:cNvPr id="4" name="explanation">
            <a:extLst>
              <a:ext uri="{FF2B5EF4-FFF2-40B4-BE49-F238E27FC236}">
                <a16:creationId xmlns:a16="http://schemas.microsoft.com/office/drawing/2014/main" id="{741A9DE9-1B79-4E3D-8295-A0FEC197BE45}"/>
              </a:ext>
            </a:extLst>
          </p:cNvPr>
          <p:cNvSpPr>
            <a:spLocks noGrp="1"/>
          </p:cNvSpPr>
          <p:nvPr/>
        </p:nvSpPr>
        <p:spPr>
          <a:xfrm>
            <a:off x="609600" y="2047875"/>
            <a:ext cx="5715000" cy="723900"/>
          </a:xfrm>
          <a:prstGeom prst="rect">
            <a:avLst/>
          </a:prstGeom>
          <a:noFill/>
          <a:ln w="0">
            <a:noFill/>
            <a:prstDash val="solid"/>
          </a:ln>
        </p:spPr>
        <p:txBody>
          <a:bodyPr wrap="square" lIns="0" tIns="0" rIns="0" bIns="0" anchor="t">
            <a:noAutofit/>
          </a:bodyPr>
          <a:lstStyle>
            <a:defPPr algn="l">
              <a:defRPr sz="3900" b="1">
                <a:solidFill>
                  <a:srgbClr val="087F83"/>
                </a:solidFill>
                <a:latin typeface="Aptos"/>
                <a:ea typeface="Aptos"/>
                <a:cs typeface="Aptos"/>
              </a:defRPr>
            </a:defPPr>
          </a:lstStyle>
          <a:p>
            <a:pPr algn="l">
              <a:defRPr sz="3900" b="1">
                <a:solidFill>
                  <a:srgbClr val="087F83"/>
                </a:solidFill>
                <a:latin typeface="Aptos"/>
                <a:ea typeface="Aptos"/>
                <a:cs typeface="Aptos"/>
              </a:defRPr>
            </a:pPr>
            <a:r>
              <a:rPr sz="3900" b="1">
                <a:solidFill>
                  <a:srgbClr val="087F83"/>
                </a:solidFill>
                <a:latin typeface="Aptos"/>
                <a:ea typeface="Aptos"/>
                <a:cs typeface="Aptos"/>
              </a:rPr>
              <a:t>€6m</a:t>
            </a:r>
          </a:p>
        </p:txBody>
      </p:sp>
      <p:sp>
        <p:nvSpPr>
          <p:cNvPr id="5" name="explanation">
            <a:extLst>
              <a:ext uri="{FF2B5EF4-FFF2-40B4-BE49-F238E27FC236}">
                <a16:creationId xmlns:a16="http://schemas.microsoft.com/office/drawing/2014/main" id="{C096D939-6930-4DBD-86B2-2E51BD0A1A65}"/>
              </a:ext>
            </a:extLst>
          </p:cNvPr>
          <p:cNvSpPr>
            <a:spLocks noGrp="1"/>
          </p:cNvSpPr>
          <p:nvPr/>
        </p:nvSpPr>
        <p:spPr>
          <a:xfrm>
            <a:off x="609600" y="2847975"/>
            <a:ext cx="5715000" cy="571500"/>
          </a:xfrm>
          <a:prstGeom prst="rect">
            <a:avLst/>
          </a:prstGeom>
          <a:noFill/>
          <a:ln w="0">
            <a:noFill/>
            <a:prstDash val="solid"/>
          </a:ln>
        </p:spPr>
        <p:txBody>
          <a:bodyPr wrap="square" lIns="0" tIns="0" rIns="0" bIns="0" anchor="t">
            <a:noAutofit/>
          </a:bodyPr>
          <a:lstStyle>
            <a:defPPr algn="l">
              <a:defRPr sz="1875" b="1">
                <a:solidFill>
                  <a:srgbClr val="19313F"/>
                </a:solidFill>
                <a:latin typeface="Aptos"/>
                <a:ea typeface="Aptos"/>
                <a:cs typeface="Aptos"/>
              </a:defRPr>
            </a:defPPr>
          </a:lstStyle>
          <a:p>
            <a:pPr algn="l">
              <a:defRPr sz="1875" b="1">
                <a:solidFill>
                  <a:srgbClr val="19313F"/>
                </a:solidFill>
                <a:latin typeface="Aptos"/>
                <a:ea typeface="Aptos"/>
                <a:cs typeface="Aptos"/>
              </a:defRPr>
            </a:pPr>
            <a:r>
              <a:rPr sz="1875" b="1">
                <a:solidFill>
                  <a:srgbClr val="19313F"/>
                </a:solidFill>
                <a:latin typeface="Aptos"/>
                <a:ea typeface="Aptos"/>
                <a:cs typeface="Aptos"/>
              </a:rPr>
              <a:t>Cash released by DPO +10 days</a:t>
            </a:r>
          </a:p>
        </p:txBody>
      </p:sp>
      <p:sp>
        <p:nvSpPr>
          <p:cNvPr id="6" name="explanation">
            <a:extLst>
              <a:ext uri="{FF2B5EF4-FFF2-40B4-BE49-F238E27FC236}">
                <a16:creationId xmlns:a16="http://schemas.microsoft.com/office/drawing/2014/main" id="{4F6CD812-1672-433D-99EF-E7B33CCCC82D}"/>
              </a:ext>
            </a:extLst>
          </p:cNvPr>
          <p:cNvSpPr>
            <a:spLocks noGrp="1"/>
          </p:cNvSpPr>
          <p:nvPr/>
        </p:nvSpPr>
        <p:spPr>
          <a:xfrm>
            <a:off x="609600" y="3600450"/>
            <a:ext cx="5715000" cy="819150"/>
          </a:xfrm>
          <a:prstGeom prst="rect">
            <a:avLst/>
          </a:prstGeom>
          <a:noFill/>
          <a:ln w="0">
            <a:noFill/>
            <a:prstDash val="solid"/>
          </a:ln>
        </p:spPr>
        <p:txBody>
          <a:bodyPr wrap="square" lIns="0" tIns="0" rIns="0" bIns="0" anchor="t">
            <a:noAutofit/>
          </a:bodyPr>
          <a:lstStyle>
            <a:defPPr algn="l">
              <a:defRPr sz="1650" b="0">
                <a:solidFill>
                  <a:srgbClr val="5B6D77"/>
                </a:solidFill>
                <a:latin typeface="Aptos"/>
                <a:ea typeface="Aptos"/>
                <a:cs typeface="Aptos"/>
              </a:defRPr>
            </a:defPPr>
          </a:lstStyle>
          <a:p>
            <a:pPr algn="l">
              <a:defRPr sz="1650" b="0">
                <a:solidFill>
                  <a:srgbClr val="5B6D77"/>
                </a:solidFill>
                <a:latin typeface="Aptos"/>
                <a:ea typeface="Aptos"/>
                <a:cs typeface="Aptos"/>
              </a:defRPr>
            </a:pPr>
            <a:r>
              <a:rPr sz="1650" b="0">
                <a:solidFill>
                  <a:srgbClr val="5B6D77"/>
                </a:solidFill>
                <a:latin typeface="Aptos"/>
                <a:ea typeface="Aptos"/>
                <a:cs typeface="Aptos"/>
              </a:rPr>
              <a:t>Credit purchases proxy: 219 × 10 / 365.</a:t>
            </a:r>
          </a:p>
        </p:txBody>
      </p:sp>
      <p:sp>
        <p:nvSpPr>
          <p:cNvPr id="7" name="explanation">
            <a:extLst>
              <a:ext uri="{FF2B5EF4-FFF2-40B4-BE49-F238E27FC236}">
                <a16:creationId xmlns:a16="http://schemas.microsoft.com/office/drawing/2014/main" id="{7F41DD17-E584-40F6-8B80-06FC68BAE057}"/>
              </a:ext>
            </a:extLst>
          </p:cNvPr>
          <p:cNvSpPr>
            <a:spLocks noGrp="1"/>
          </p:cNvSpPr>
          <p:nvPr/>
        </p:nvSpPr>
        <p:spPr>
          <a:xfrm>
            <a:off x="6667500" y="2219325"/>
            <a:ext cx="1476375"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Cost</a:t>
            </a:r>
          </a:p>
        </p:txBody>
      </p:sp>
      <p:sp>
        <p:nvSpPr>
          <p:cNvPr id="8" name="explanation">
            <a:extLst>
              <a:ext uri="{FF2B5EF4-FFF2-40B4-BE49-F238E27FC236}">
                <a16:creationId xmlns:a16="http://schemas.microsoft.com/office/drawing/2014/main" id="{72A9BA3A-9DB9-48BA-BCD1-CB25872D15E9}"/>
              </a:ext>
            </a:extLst>
          </p:cNvPr>
          <p:cNvSpPr>
            <a:spLocks noGrp="1"/>
          </p:cNvSpPr>
          <p:nvPr/>
        </p:nvSpPr>
        <p:spPr>
          <a:xfrm>
            <a:off x="8286750" y="2219325"/>
            <a:ext cx="3238500" cy="1362075"/>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Lost discounts or higher supplier prices.</a:t>
            </a:r>
          </a:p>
        </p:txBody>
      </p:sp>
      <p:sp>
        <p:nvSpPr>
          <p:cNvPr id="9" name="rule">
            <a:extLst>
              <a:ext uri="{FF2B5EF4-FFF2-40B4-BE49-F238E27FC236}">
                <a16:creationId xmlns:a16="http://schemas.microsoft.com/office/drawing/2014/main" id="{49880CE4-84E2-45B3-B909-C126917988D4}"/>
              </a:ext>
            </a:extLst>
          </p:cNvPr>
          <p:cNvSpPr>
            <a:spLocks noGrp="1"/>
          </p:cNvSpPr>
          <p:nvPr/>
        </p:nvSpPr>
        <p:spPr>
          <a:xfrm>
            <a:off x="6667500" y="3571875"/>
            <a:ext cx="4857750" cy="0"/>
          </a:xfrm>
          <a:prstGeom prst="line">
            <a:avLst/>
          </a:prstGeom>
          <a:noFill/>
          <a:ln w="9525">
            <a:solidFill>
              <a:srgbClr val="CCD6D9"/>
            </a:solidFill>
            <a:prstDash val="solid"/>
          </a:ln>
        </p:spPr>
        <p:txBody>
          <a:bodyPr/>
          <a:lstStyle/>
          <a:p>
            <a:endParaRPr lang="fr-FR"/>
          </a:p>
        </p:txBody>
      </p:sp>
      <p:sp>
        <p:nvSpPr>
          <p:cNvPr id="10" name="explanation">
            <a:extLst>
              <a:ext uri="{FF2B5EF4-FFF2-40B4-BE49-F238E27FC236}">
                <a16:creationId xmlns:a16="http://schemas.microsoft.com/office/drawing/2014/main" id="{E3539E7F-914C-4EA3-B928-30642E8093BA}"/>
              </a:ext>
            </a:extLst>
          </p:cNvPr>
          <p:cNvSpPr>
            <a:spLocks noGrp="1"/>
          </p:cNvSpPr>
          <p:nvPr/>
        </p:nvSpPr>
        <p:spPr>
          <a:xfrm>
            <a:off x="6667500" y="3695700"/>
            <a:ext cx="1476375" cy="523875"/>
          </a:xfrm>
          <a:prstGeom prst="rect">
            <a:avLst/>
          </a:prstGeom>
          <a:noFill/>
          <a:ln w="0">
            <a:noFill/>
            <a:prstDash val="solid"/>
          </a:ln>
        </p:spPr>
        <p:txBody>
          <a:bodyPr wrap="square" lIns="0" tIns="0" rIns="0" bIns="0" anchor="t">
            <a:noAutofit/>
          </a:bodyPr>
          <a:lstStyle>
            <a:defPPr algn="l">
              <a:defRPr sz="1875" b="1">
                <a:solidFill>
                  <a:srgbClr val="087F83"/>
                </a:solidFill>
                <a:latin typeface="Aptos"/>
                <a:ea typeface="Aptos"/>
                <a:cs typeface="Aptos"/>
              </a:defRPr>
            </a:defPPr>
          </a:lstStyle>
          <a:p>
            <a:pPr algn="l">
              <a:defRPr sz="1875" b="1">
                <a:solidFill>
                  <a:srgbClr val="087F83"/>
                </a:solidFill>
                <a:latin typeface="Aptos"/>
                <a:ea typeface="Aptos"/>
                <a:cs typeface="Aptos"/>
              </a:defRPr>
            </a:pPr>
            <a:r>
              <a:rPr sz="1875" b="1">
                <a:solidFill>
                  <a:srgbClr val="087F83"/>
                </a:solidFill>
                <a:latin typeface="Aptos"/>
                <a:ea typeface="Aptos"/>
                <a:cs typeface="Aptos"/>
              </a:rPr>
              <a:t>Continuity</a:t>
            </a:r>
          </a:p>
        </p:txBody>
      </p:sp>
      <p:sp>
        <p:nvSpPr>
          <p:cNvPr id="11" name="explanation">
            <a:extLst>
              <a:ext uri="{FF2B5EF4-FFF2-40B4-BE49-F238E27FC236}">
                <a16:creationId xmlns:a16="http://schemas.microsoft.com/office/drawing/2014/main" id="{17257553-2BA6-4C28-B34C-4AF9E2E06604}"/>
              </a:ext>
            </a:extLst>
          </p:cNvPr>
          <p:cNvSpPr>
            <a:spLocks noGrp="1"/>
          </p:cNvSpPr>
          <p:nvPr/>
        </p:nvSpPr>
        <p:spPr>
          <a:xfrm>
            <a:off x="8286750" y="3695700"/>
            <a:ext cx="3238500" cy="1362075"/>
          </a:xfrm>
          <a:prstGeom prst="rect">
            <a:avLst/>
          </a:prstGeom>
          <a:noFill/>
          <a:ln w="0">
            <a:noFill/>
            <a:prstDash val="solid"/>
          </a:ln>
        </p:spPr>
        <p:txBody>
          <a:bodyPr wrap="square" lIns="0" tIns="0" rIns="0" bIns="0" anchor="t">
            <a:noAutofit/>
          </a:bodyPr>
          <a:lstStyle>
            <a:defPPr algn="l">
              <a:defRPr sz="2025" b="0">
                <a:solidFill>
                  <a:srgbClr val="19313F"/>
                </a:solidFill>
                <a:latin typeface="Aptos"/>
                <a:ea typeface="Aptos"/>
                <a:cs typeface="Aptos"/>
              </a:defRPr>
            </a:defPPr>
          </a:lstStyle>
          <a:p>
            <a:pPr algn="l">
              <a:defRPr sz="2025" b="0">
                <a:solidFill>
                  <a:srgbClr val="19313F"/>
                </a:solidFill>
                <a:latin typeface="Aptos"/>
                <a:ea typeface="Aptos"/>
                <a:cs typeface="Aptos"/>
              </a:defRPr>
            </a:pPr>
            <a:r>
              <a:rPr sz="2025" b="0">
                <a:solidFill>
                  <a:srgbClr val="19313F"/>
                </a:solidFill>
                <a:latin typeface="Aptos"/>
                <a:ea typeface="Aptos"/>
                <a:cs typeface="Aptos"/>
              </a:rPr>
              <a:t>Critical suppliers may not absorb the longer terms.</a:t>
            </a:r>
          </a:p>
        </p:txBody>
      </p:sp>
      <p:sp>
        <p:nvSpPr>
          <p:cNvPr id="12" name="rule">
            <a:extLst>
              <a:ext uri="{FF2B5EF4-FFF2-40B4-BE49-F238E27FC236}">
                <a16:creationId xmlns:a16="http://schemas.microsoft.com/office/drawing/2014/main" id="{5266EE81-14D3-4A52-B558-CF2078DD5920}"/>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13" name="decision-implication">
            <a:extLst>
              <a:ext uri="{FF2B5EF4-FFF2-40B4-BE49-F238E27FC236}">
                <a16:creationId xmlns:a16="http://schemas.microsoft.com/office/drawing/2014/main" id="{8A51FE95-3099-41BA-BBAF-9556E4F743DF}"/>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Accept only agreed and sustainable term changes.</a:t>
            </a:r>
          </a:p>
        </p:txBody>
      </p:sp>
    </p:spTree>
    <p:extLst>
      <p:ext uri="{BB962C8B-B14F-4D97-AF65-F5344CB8AC3E}">
        <p14:creationId xmlns:p14="http://schemas.microsoft.com/office/powerpoint/2010/main" val="3450639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7" name="section-reference">
            <a:extLst>
              <a:ext uri="{FF2B5EF4-FFF2-40B4-BE49-F238E27FC236}">
                <a16:creationId xmlns:a16="http://schemas.microsoft.com/office/drawing/2014/main" id="{F08602E3-16C6-4896-8849-80D024E3BEFF}"/>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2.5</a:t>
            </a:r>
          </a:p>
        </p:txBody>
      </p:sp>
      <p:sp>
        <p:nvSpPr>
          <p:cNvPr id="2" name="slide-title">
            <a:extLst>
              <a:ext uri="{FF2B5EF4-FFF2-40B4-BE49-F238E27FC236}">
                <a16:creationId xmlns:a16="http://schemas.microsoft.com/office/drawing/2014/main" id="{5F55FDA4-FDC4-4288-8501-5393206BDF7D}"/>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A cross-functional improvement plan</a:t>
            </a:r>
          </a:p>
        </p:txBody>
      </p:sp>
      <p:sp>
        <p:nvSpPr>
          <p:cNvPr id="3" name="slide-number">
            <a:extLst>
              <a:ext uri="{FF2B5EF4-FFF2-40B4-BE49-F238E27FC236}">
                <a16:creationId xmlns:a16="http://schemas.microsoft.com/office/drawing/2014/main" id="{8AFD7DC1-BF87-4131-8FCB-52F26D8C5C81}"/>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44</a:t>
            </a:r>
          </a:p>
        </p:txBody>
      </p:sp>
      <p:graphicFrame>
        <p:nvGraphicFramePr>
          <p:cNvPr id="4" name="Tableau 3">
            <a:extLst>
              <a:ext uri="{FF2B5EF4-FFF2-40B4-BE49-F238E27FC236}">
                <a16:creationId xmlns:a16="http://schemas.microsoft.com/office/drawing/2014/main" id="{D5F2FACE-3C45-48F4-9681-EAA0ACC38A66}"/>
              </a:ext>
            </a:extLst>
          </p:cNvPr>
          <p:cNvGraphicFramePr/>
          <p:nvPr/>
        </p:nvGraphicFramePr>
        <p:xfrm>
          <a:off x="609600" y="1885950"/>
          <a:ext cx="10972800" cy="3108960"/>
        </p:xfrm>
        <a:graphic>
          <a:graphicData uri="http://schemas.openxmlformats.org/drawingml/2006/table">
            <a:tbl>
              <a:tblPr firstRow="1"/>
              <a:tblGrid>
                <a:gridCol w="200025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5829300">
                  <a:extLst>
                    <a:ext uri="{9D8B030D-6E8A-4147-A177-3AD203B41FA5}">
                      <a16:colId xmlns:a16="http://schemas.microsoft.com/office/drawing/2014/main" val="20002"/>
                    </a:ext>
                  </a:extLst>
                </a:gridCol>
              </a:tblGrid>
              <a:tr h="617220">
                <a:tc>
                  <a:txBody>
                    <a:bodyPr/>
                    <a:lstStyle/>
                    <a:p>
                      <a:pPr algn="l"/>
                      <a:r>
                        <a:rPr sz="1800" b="1">
                          <a:solidFill>
                            <a:srgbClr val="FFFFFF"/>
                          </a:solidFill>
                          <a:latin typeface="Aptos"/>
                          <a:ea typeface="Aptos"/>
                          <a:cs typeface="Aptos"/>
                        </a:rPr>
                        <a:t>Lever</a:t>
                      </a:r>
                    </a:p>
                  </a:txBody>
                  <a:tcPr anchor="ctr">
                    <a:lnL w="6668">
                      <a:solidFill>
                        <a:srgbClr val="CCD6D9"/>
                      </a:solidFill>
                      <a:prstDash val="soli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00" b="1">
                          <a:solidFill>
                            <a:srgbClr val="FFFFFF"/>
                          </a:solidFill>
                          <a:latin typeface="Aptos"/>
                          <a:ea typeface="Aptos"/>
                          <a:cs typeface="Aptos"/>
                        </a:rPr>
                        <a:t>Owner</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tc>
                  <a:txBody>
                    <a:bodyPr/>
                    <a:lstStyle/>
                    <a:p>
                      <a:pPr algn="l"/>
                      <a:r>
                        <a:rPr sz="1800" b="1">
                          <a:solidFill>
                            <a:srgbClr val="FFFFFF"/>
                          </a:solidFill>
                          <a:latin typeface="Aptos"/>
                          <a:ea typeface="Aptos"/>
                          <a:cs typeface="Aptos"/>
                        </a:rPr>
                        <a:t>Guardrail</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a:solidFill>
                        <a:srgbClr val="CCD6D9"/>
                      </a:solidFill>
                      <a:prstDash val="solid"/>
                    </a:lnT>
                    <a:lnB w="6668">
                      <a:solidFill>
                        <a:srgbClr val="CCD6D9"/>
                      </a:solidFill>
                      <a:prstDash val="solid"/>
                    </a:lnB>
                    <a:solidFill>
                      <a:srgbClr val="142D3B"/>
                    </a:solidFill>
                  </a:tcPr>
                </a:tc>
                <a:extLst>
                  <a:ext uri="{0D108BD9-81ED-4DB2-BD59-A6C34878D82A}">
                    <a16:rowId xmlns:a16="http://schemas.microsoft.com/office/drawing/2014/main" val="10000"/>
                  </a:ext>
                </a:extLst>
              </a:tr>
              <a:tr h="617220">
                <a:tc>
                  <a:txBody>
                    <a:bodyPr/>
                    <a:lstStyle/>
                    <a:p>
                      <a:pPr algn="l"/>
                      <a:r>
                        <a:rPr sz="1800">
                          <a:solidFill>
                            <a:srgbClr val="19313F"/>
                          </a:solidFill>
                          <a:latin typeface="Aptos"/>
                          <a:ea typeface="Aptos"/>
                          <a:cs typeface="Aptos"/>
                        </a:rPr>
                        <a:t>DSO</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Sales and credit control</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Resolve disputes and preserve valid sales</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1"/>
                  </a:ext>
                </a:extLst>
              </a:tr>
              <a:tr h="617220">
                <a:tc>
                  <a:txBody>
                    <a:bodyPr/>
                    <a:lstStyle/>
                    <a:p>
                      <a:pPr algn="l"/>
                      <a:r>
                        <a:rPr sz="1800">
                          <a:solidFill>
                            <a:srgbClr val="19313F"/>
                          </a:solidFill>
                          <a:latin typeface="Aptos"/>
                          <a:ea typeface="Aptos"/>
                          <a:cs typeface="Aptos"/>
                        </a:rPr>
                        <a:t>DIO</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Operations</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Maintain delivery and critical stock</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2"/>
                  </a:ext>
                </a:extLst>
              </a:tr>
              <a:tr h="617220">
                <a:tc>
                  <a:txBody>
                    <a:bodyPr/>
                    <a:lstStyle/>
                    <a:p>
                      <a:pPr algn="l"/>
                      <a:r>
                        <a:rPr sz="1800">
                          <a:solidFill>
                            <a:srgbClr val="19313F"/>
                          </a:solidFill>
                          <a:latin typeface="Aptos"/>
                          <a:ea typeface="Aptos"/>
                          <a:cs typeface="Aptos"/>
                        </a:rPr>
                        <a:t>DPO</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Procurement</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tc>
                  <a:txBody>
                    <a:bodyPr/>
                    <a:lstStyle/>
                    <a:p>
                      <a:pPr algn="l"/>
                      <a:r>
                        <a:rPr sz="1800">
                          <a:solidFill>
                            <a:srgbClr val="19313F"/>
                          </a:solidFill>
                          <a:latin typeface="Aptos"/>
                          <a:ea typeface="Aptos"/>
                          <a:cs typeface="Aptos"/>
                        </a:rPr>
                        <a:t>Supplier consent and continuity</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F8F7F3"/>
                    </a:solidFill>
                  </a:tcPr>
                </a:tc>
                <a:extLst>
                  <a:ext uri="{0D108BD9-81ED-4DB2-BD59-A6C34878D82A}">
                    <a16:rowId xmlns:a16="http://schemas.microsoft.com/office/drawing/2014/main" val="10003"/>
                  </a:ext>
                </a:extLst>
              </a:tr>
              <a:tr h="617220">
                <a:tc>
                  <a:txBody>
                    <a:bodyPr/>
                    <a:lstStyle/>
                    <a:p>
                      <a:pPr algn="l"/>
                      <a:r>
                        <a:rPr sz="1800">
                          <a:solidFill>
                            <a:srgbClr val="19313F"/>
                          </a:solidFill>
                          <a:latin typeface="Aptos"/>
                          <a:ea typeface="Aptos"/>
                          <a:cs typeface="Aptos"/>
                        </a:rPr>
                        <a:t>Cash measurement</a:t>
                      </a:r>
                    </a:p>
                  </a:txBody>
                  <a:tcPr anchor="ctr">
                    <a:lnL w="6668">
                      <a:solidFill>
                        <a:srgbClr val="CCD6D9"/>
                      </a:solidFill>
                      <a:prstDash val="soli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Treasury</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tc>
                  <a:txBody>
                    <a:bodyPr/>
                    <a:lstStyle/>
                    <a:p>
                      <a:pPr algn="l"/>
                      <a:r>
                        <a:rPr sz="1800">
                          <a:solidFill>
                            <a:srgbClr val="19313F"/>
                          </a:solidFill>
                          <a:latin typeface="Aptos"/>
                          <a:ea typeface="Aptos"/>
                          <a:cs typeface="Aptos"/>
                        </a:rPr>
                        <a:t>Verify amounts and collection dates</a:t>
                      </a:r>
                    </a:p>
                  </a:txBody>
                  <a:tcPr anchor="ctr">
                    <a:lnL w="6668" cap="flat" cmpd="sng" algn="ctr">
                      <a:solidFill>
                        <a:srgbClr val="CCD6D9"/>
                      </a:solidFill>
                      <a:prstDash val="solid"/>
                      <a:round/>
                      <a:headEnd type="none" w="med" len="med"/>
                      <a:tailEnd type="none" w="med" len="med"/>
                    </a:lnL>
                    <a:lnR w="6668">
                      <a:solidFill>
                        <a:srgbClr val="CCD6D9"/>
                      </a:solidFill>
                      <a:prstDash val="solid"/>
                    </a:lnR>
                    <a:lnT w="6668" cap="flat" cmpd="sng" algn="ctr">
                      <a:solidFill>
                        <a:srgbClr val="CCD6D9"/>
                      </a:solidFill>
                      <a:prstDash val="solid"/>
                      <a:round/>
                      <a:headEnd type="none" w="med" len="med"/>
                      <a:tailEnd type="none" w="med" len="med"/>
                    </a:lnT>
                    <a:lnB w="6668">
                      <a:solidFill>
                        <a:srgbClr val="CCD6D9"/>
                      </a:solidFill>
                      <a:prstDash val="solid"/>
                    </a:lnB>
                    <a:solidFill>
                      <a:srgbClr val="EDF1EF"/>
                    </a:solidFill>
                  </a:tcPr>
                </a:tc>
                <a:extLst>
                  <a:ext uri="{0D108BD9-81ED-4DB2-BD59-A6C34878D82A}">
                    <a16:rowId xmlns:a16="http://schemas.microsoft.com/office/drawing/2014/main" val="10004"/>
                  </a:ext>
                </a:extLst>
              </a:tr>
            </a:tbl>
          </a:graphicData>
        </a:graphic>
      </p:graphicFrame>
      <p:sp>
        <p:nvSpPr>
          <p:cNvPr id="5" name="rule">
            <a:extLst>
              <a:ext uri="{FF2B5EF4-FFF2-40B4-BE49-F238E27FC236}">
                <a16:creationId xmlns:a16="http://schemas.microsoft.com/office/drawing/2014/main" id="{43814448-EB9A-4BB4-ACF9-D3C2E9361784}"/>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6" name="decision-implication">
            <a:extLst>
              <a:ext uri="{FF2B5EF4-FFF2-40B4-BE49-F238E27FC236}">
                <a16:creationId xmlns:a16="http://schemas.microsoft.com/office/drawing/2014/main" id="{0D9D5D3F-2313-480D-A6B2-3AADB56A9EEC}"/>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Cash targets need operational actions and accountable owners.</a:t>
            </a:r>
          </a:p>
        </p:txBody>
      </p:sp>
    </p:spTree>
    <p:extLst>
      <p:ext uri="{BB962C8B-B14F-4D97-AF65-F5344CB8AC3E}">
        <p14:creationId xmlns:p14="http://schemas.microsoft.com/office/powerpoint/2010/main" val="11081232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8F7F3"/>
        </a:solidFill>
        <a:effectLst/>
      </p:bgPr>
    </p:bg>
    <p:spTree>
      <p:nvGrpSpPr>
        <p:cNvPr id="1" name=""/>
        <p:cNvGrpSpPr/>
        <p:nvPr/>
      </p:nvGrpSpPr>
      <p:grpSpPr>
        <a:xfrm>
          <a:off x="0" y="0"/>
          <a:ext cx="0" cy="0"/>
          <a:chOff x="0" y="0"/>
          <a:chExt cx="0" cy="0"/>
        </a:xfrm>
      </p:grpSpPr>
      <p:sp>
        <p:nvSpPr>
          <p:cNvPr id="21" name="section-reference">
            <a:extLst>
              <a:ext uri="{FF2B5EF4-FFF2-40B4-BE49-F238E27FC236}">
                <a16:creationId xmlns:a16="http://schemas.microsoft.com/office/drawing/2014/main" id="{2D195459-C55F-4B34-9D7D-75B2DC0B73B6}"/>
              </a:ext>
            </a:extLst>
          </p:cNvPr>
          <p:cNvSpPr>
            <a:spLocks noGrp="1"/>
          </p:cNvSpPr>
          <p:nvPr/>
        </p:nvSpPr>
        <p:spPr>
          <a:xfrm>
            <a:off x="609600" y="238125"/>
            <a:ext cx="10477500" cy="228600"/>
          </a:xfrm>
          <a:prstGeom prst="rect">
            <a:avLst/>
          </a:prstGeom>
          <a:noFill/>
          <a:ln w="0">
            <a:noFill/>
            <a:prstDash val="solid"/>
          </a:ln>
        </p:spPr>
        <p:txBody>
          <a:bodyPr wrap="square" lIns="0" tIns="0" rIns="0" bIns="0" anchor="t">
            <a:noAutofit/>
          </a:bodyPr>
          <a:lstStyle>
            <a:defPPr algn="l">
              <a:defRPr sz="1050" b="1">
                <a:solidFill>
                  <a:srgbClr val="087F83"/>
                </a:solidFill>
                <a:latin typeface="Aptos"/>
                <a:ea typeface="Aptos"/>
                <a:cs typeface="Aptos"/>
              </a:defRPr>
            </a:defPPr>
          </a:lstStyle>
          <a:p>
            <a:pPr algn="l">
              <a:defRPr sz="1050" b="1">
                <a:solidFill>
                  <a:srgbClr val="087F83"/>
                </a:solidFill>
                <a:latin typeface="Aptos"/>
                <a:ea typeface="Aptos"/>
                <a:cs typeface="Aptos"/>
              </a:defRPr>
            </a:pPr>
            <a:r>
              <a:rPr sz="1050" b="1">
                <a:solidFill>
                  <a:srgbClr val="087F83"/>
                </a:solidFill>
                <a:latin typeface="Aptos"/>
                <a:ea typeface="Aptos"/>
                <a:cs typeface="Aptos"/>
              </a:rPr>
              <a:t>CORPORATE TREASURY  /  2.5</a:t>
            </a:r>
          </a:p>
        </p:txBody>
      </p:sp>
      <p:sp>
        <p:nvSpPr>
          <p:cNvPr id="2" name="slide-title">
            <a:extLst>
              <a:ext uri="{FF2B5EF4-FFF2-40B4-BE49-F238E27FC236}">
                <a16:creationId xmlns:a16="http://schemas.microsoft.com/office/drawing/2014/main" id="{C35CCEAA-1C1A-45F3-B7FA-E374A95CD8B7}"/>
              </a:ext>
            </a:extLst>
          </p:cNvPr>
          <p:cNvSpPr>
            <a:spLocks noGrp="1"/>
          </p:cNvSpPr>
          <p:nvPr/>
        </p:nvSpPr>
        <p:spPr>
          <a:xfrm>
            <a:off x="609600" y="552450"/>
            <a:ext cx="10972800" cy="1000125"/>
          </a:xfrm>
          <a:prstGeom prst="rect">
            <a:avLst/>
          </a:prstGeom>
          <a:noFill/>
          <a:ln w="0">
            <a:noFill/>
            <a:prstDash val="solid"/>
          </a:ln>
        </p:spPr>
        <p:txBody>
          <a:bodyPr wrap="square" lIns="0" tIns="0" rIns="0" bIns="0" anchor="t">
            <a:noAutofit/>
          </a:bodyPr>
          <a:lstStyle>
            <a:defPPr algn="l">
              <a:defRPr sz="3150" b="1">
                <a:solidFill>
                  <a:srgbClr val="19313F"/>
                </a:solidFill>
                <a:latin typeface="Aptos"/>
                <a:ea typeface="Aptos"/>
                <a:cs typeface="Aptos"/>
              </a:defRPr>
            </a:defPPr>
          </a:lstStyle>
          <a:p>
            <a:pPr algn="l">
              <a:defRPr sz="3150" b="1">
                <a:solidFill>
                  <a:srgbClr val="19313F"/>
                </a:solidFill>
                <a:latin typeface="Aptos"/>
                <a:ea typeface="Aptos"/>
                <a:cs typeface="Aptos"/>
              </a:defRPr>
            </a:pPr>
            <a:r>
              <a:rPr sz="3150" b="1">
                <a:solidFill>
                  <a:srgbClr val="19313F"/>
                </a:solidFill>
                <a:latin typeface="Aptos"/>
                <a:ea typeface="Aptos"/>
                <a:cs typeface="Aptos"/>
              </a:rPr>
              <a:t>Working capital decision checkpoint</a:t>
            </a:r>
          </a:p>
        </p:txBody>
      </p:sp>
      <p:sp>
        <p:nvSpPr>
          <p:cNvPr id="3" name="slide-number">
            <a:extLst>
              <a:ext uri="{FF2B5EF4-FFF2-40B4-BE49-F238E27FC236}">
                <a16:creationId xmlns:a16="http://schemas.microsoft.com/office/drawing/2014/main" id="{BE5BE174-5614-4176-9044-98A47AE1B172}"/>
              </a:ext>
            </a:extLst>
          </p:cNvPr>
          <p:cNvSpPr>
            <a:spLocks noGrp="1"/>
          </p:cNvSpPr>
          <p:nvPr/>
        </p:nvSpPr>
        <p:spPr>
          <a:xfrm>
            <a:off x="11096625" y="6543675"/>
            <a:ext cx="476250" cy="209550"/>
          </a:xfrm>
          <a:prstGeom prst="rect">
            <a:avLst/>
          </a:prstGeom>
          <a:noFill/>
          <a:ln w="0">
            <a:noFill/>
            <a:prstDash val="solid"/>
          </a:ln>
        </p:spPr>
        <p:txBody>
          <a:bodyPr wrap="square" lIns="0" tIns="0" rIns="0" bIns="0" anchor="t">
            <a:noAutofit/>
          </a:bodyPr>
          <a:lstStyle>
            <a:defPPr algn="r">
              <a:defRPr sz="1050" b="0">
                <a:solidFill>
                  <a:srgbClr val="5B6D77"/>
                </a:solidFill>
                <a:latin typeface="Aptos"/>
                <a:ea typeface="Aptos"/>
                <a:cs typeface="Aptos"/>
              </a:defRPr>
            </a:defPPr>
          </a:lstStyle>
          <a:p>
            <a:pPr algn="r">
              <a:defRPr sz="1050" b="0">
                <a:solidFill>
                  <a:srgbClr val="5B6D77"/>
                </a:solidFill>
                <a:latin typeface="Aptos"/>
                <a:ea typeface="Aptos"/>
                <a:cs typeface="Aptos"/>
              </a:defRPr>
            </a:pPr>
            <a:r>
              <a:rPr sz="1050" b="0">
                <a:solidFill>
                  <a:srgbClr val="5B6D77"/>
                </a:solidFill>
                <a:latin typeface="Aptos"/>
                <a:ea typeface="Aptos"/>
                <a:cs typeface="Aptos"/>
              </a:rPr>
              <a:t>45</a:t>
            </a:r>
          </a:p>
        </p:txBody>
      </p:sp>
      <p:sp>
        <p:nvSpPr>
          <p:cNvPr id="4" name="explanation">
            <a:extLst>
              <a:ext uri="{FF2B5EF4-FFF2-40B4-BE49-F238E27FC236}">
                <a16:creationId xmlns:a16="http://schemas.microsoft.com/office/drawing/2014/main" id="{428791BB-A049-4734-ACA8-C415AF7FFB28}"/>
              </a:ext>
            </a:extLst>
          </p:cNvPr>
          <p:cNvSpPr>
            <a:spLocks noGrp="1"/>
          </p:cNvSpPr>
          <p:nvPr/>
        </p:nvSpPr>
        <p:spPr>
          <a:xfrm>
            <a:off x="609600" y="18954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01</a:t>
            </a:r>
          </a:p>
        </p:txBody>
      </p:sp>
      <p:sp>
        <p:nvSpPr>
          <p:cNvPr id="5" name="explanation">
            <a:extLst>
              <a:ext uri="{FF2B5EF4-FFF2-40B4-BE49-F238E27FC236}">
                <a16:creationId xmlns:a16="http://schemas.microsoft.com/office/drawing/2014/main" id="{27B3B325-88DF-4C18-B712-6404B21E53FB}"/>
              </a:ext>
            </a:extLst>
          </p:cNvPr>
          <p:cNvSpPr>
            <a:spLocks noGrp="1"/>
          </p:cNvSpPr>
          <p:nvPr/>
        </p:nvSpPr>
        <p:spPr>
          <a:xfrm>
            <a:off x="1333500" y="18954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Identify the cash source</a:t>
            </a:r>
          </a:p>
        </p:txBody>
      </p:sp>
      <p:sp>
        <p:nvSpPr>
          <p:cNvPr id="6" name="explanation">
            <a:extLst>
              <a:ext uri="{FF2B5EF4-FFF2-40B4-BE49-F238E27FC236}">
                <a16:creationId xmlns:a16="http://schemas.microsoft.com/office/drawing/2014/main" id="{E2368A52-87FA-49FA-AE78-2DBBB6DFA1DB}"/>
              </a:ext>
            </a:extLst>
          </p:cNvPr>
          <p:cNvSpPr>
            <a:spLocks noGrp="1"/>
          </p:cNvSpPr>
          <p:nvPr/>
        </p:nvSpPr>
        <p:spPr>
          <a:xfrm>
            <a:off x="1333500" y="2305050"/>
            <a:ext cx="10248900" cy="4095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Operating improvement, financing or postponed payment?</a:t>
            </a:r>
          </a:p>
        </p:txBody>
      </p:sp>
      <p:sp>
        <p:nvSpPr>
          <p:cNvPr id="7" name="rule">
            <a:extLst>
              <a:ext uri="{FF2B5EF4-FFF2-40B4-BE49-F238E27FC236}">
                <a16:creationId xmlns:a16="http://schemas.microsoft.com/office/drawing/2014/main" id="{E891E10C-E879-4415-9F0B-67E421CE593B}"/>
              </a:ext>
            </a:extLst>
          </p:cNvPr>
          <p:cNvSpPr>
            <a:spLocks noGrp="1"/>
          </p:cNvSpPr>
          <p:nvPr/>
        </p:nvSpPr>
        <p:spPr>
          <a:xfrm>
            <a:off x="1333500" y="2638425"/>
            <a:ext cx="10248900" cy="0"/>
          </a:xfrm>
          <a:prstGeom prst="line">
            <a:avLst/>
          </a:prstGeom>
          <a:noFill/>
          <a:ln w="9525">
            <a:solidFill>
              <a:srgbClr val="CCD6D9"/>
            </a:solidFill>
            <a:prstDash val="solid"/>
          </a:ln>
        </p:spPr>
        <p:txBody>
          <a:bodyPr/>
          <a:lstStyle/>
          <a:p>
            <a:endParaRPr lang="fr-FR"/>
          </a:p>
        </p:txBody>
      </p:sp>
      <p:sp>
        <p:nvSpPr>
          <p:cNvPr id="8" name="explanation">
            <a:extLst>
              <a:ext uri="{FF2B5EF4-FFF2-40B4-BE49-F238E27FC236}">
                <a16:creationId xmlns:a16="http://schemas.microsoft.com/office/drawing/2014/main" id="{28586BA7-C390-4734-8562-6A60771786C8}"/>
              </a:ext>
            </a:extLst>
          </p:cNvPr>
          <p:cNvSpPr>
            <a:spLocks noGrp="1"/>
          </p:cNvSpPr>
          <p:nvPr/>
        </p:nvSpPr>
        <p:spPr>
          <a:xfrm>
            <a:off x="609600" y="27336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02</a:t>
            </a:r>
          </a:p>
        </p:txBody>
      </p:sp>
      <p:sp>
        <p:nvSpPr>
          <p:cNvPr id="9" name="explanation">
            <a:extLst>
              <a:ext uri="{FF2B5EF4-FFF2-40B4-BE49-F238E27FC236}">
                <a16:creationId xmlns:a16="http://schemas.microsoft.com/office/drawing/2014/main" id="{73765470-55AC-4FEA-A3FC-F24A8048150A}"/>
              </a:ext>
            </a:extLst>
          </p:cNvPr>
          <p:cNvSpPr>
            <a:spLocks noGrp="1"/>
          </p:cNvSpPr>
          <p:nvPr/>
        </p:nvSpPr>
        <p:spPr>
          <a:xfrm>
            <a:off x="1333500" y="27336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Quantify amount and collection date</a:t>
            </a:r>
          </a:p>
        </p:txBody>
      </p:sp>
      <p:sp>
        <p:nvSpPr>
          <p:cNvPr id="10" name="explanation">
            <a:extLst>
              <a:ext uri="{FF2B5EF4-FFF2-40B4-BE49-F238E27FC236}">
                <a16:creationId xmlns:a16="http://schemas.microsoft.com/office/drawing/2014/main" id="{D9C7CA5E-8688-4BCB-90CD-C97F8B848602}"/>
              </a:ext>
            </a:extLst>
          </p:cNvPr>
          <p:cNvSpPr>
            <a:spLocks noGrp="1"/>
          </p:cNvSpPr>
          <p:nvPr/>
        </p:nvSpPr>
        <p:spPr>
          <a:xfrm>
            <a:off x="1333500" y="3143250"/>
            <a:ext cx="10248900" cy="4095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Reconcile the estimate with the actual operating flows.</a:t>
            </a:r>
          </a:p>
        </p:txBody>
      </p:sp>
      <p:sp>
        <p:nvSpPr>
          <p:cNvPr id="11" name="rule">
            <a:extLst>
              <a:ext uri="{FF2B5EF4-FFF2-40B4-BE49-F238E27FC236}">
                <a16:creationId xmlns:a16="http://schemas.microsoft.com/office/drawing/2014/main" id="{6C3F1EAF-166E-4DA0-AE6F-BC731EDF021A}"/>
              </a:ext>
            </a:extLst>
          </p:cNvPr>
          <p:cNvSpPr>
            <a:spLocks noGrp="1"/>
          </p:cNvSpPr>
          <p:nvPr/>
        </p:nvSpPr>
        <p:spPr>
          <a:xfrm>
            <a:off x="1333500" y="3476625"/>
            <a:ext cx="10248900" cy="0"/>
          </a:xfrm>
          <a:prstGeom prst="line">
            <a:avLst/>
          </a:prstGeom>
          <a:noFill/>
          <a:ln w="9525">
            <a:solidFill>
              <a:srgbClr val="CCD6D9"/>
            </a:solidFill>
            <a:prstDash val="solid"/>
          </a:ln>
        </p:spPr>
        <p:txBody>
          <a:bodyPr/>
          <a:lstStyle/>
          <a:p>
            <a:endParaRPr lang="fr-FR"/>
          </a:p>
        </p:txBody>
      </p:sp>
      <p:sp>
        <p:nvSpPr>
          <p:cNvPr id="12" name="explanation">
            <a:extLst>
              <a:ext uri="{FF2B5EF4-FFF2-40B4-BE49-F238E27FC236}">
                <a16:creationId xmlns:a16="http://schemas.microsoft.com/office/drawing/2014/main" id="{78E6BD32-A6E2-4F8A-8D2C-D0AA94DE3847}"/>
              </a:ext>
            </a:extLst>
          </p:cNvPr>
          <p:cNvSpPr>
            <a:spLocks noGrp="1"/>
          </p:cNvSpPr>
          <p:nvPr/>
        </p:nvSpPr>
        <p:spPr>
          <a:xfrm>
            <a:off x="609600" y="35718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03</a:t>
            </a:r>
          </a:p>
        </p:txBody>
      </p:sp>
      <p:sp>
        <p:nvSpPr>
          <p:cNvPr id="13" name="explanation">
            <a:extLst>
              <a:ext uri="{FF2B5EF4-FFF2-40B4-BE49-F238E27FC236}">
                <a16:creationId xmlns:a16="http://schemas.microsoft.com/office/drawing/2014/main" id="{6886D3B7-92D7-428E-9094-0FDEFC54FE08}"/>
              </a:ext>
            </a:extLst>
          </p:cNvPr>
          <p:cNvSpPr>
            <a:spLocks noGrp="1"/>
          </p:cNvSpPr>
          <p:nvPr/>
        </p:nvSpPr>
        <p:spPr>
          <a:xfrm>
            <a:off x="1333500" y="35718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Test sustainability</a:t>
            </a:r>
          </a:p>
        </p:txBody>
      </p:sp>
      <p:sp>
        <p:nvSpPr>
          <p:cNvPr id="14" name="explanation">
            <a:extLst>
              <a:ext uri="{FF2B5EF4-FFF2-40B4-BE49-F238E27FC236}">
                <a16:creationId xmlns:a16="http://schemas.microsoft.com/office/drawing/2014/main" id="{0FDE0AB2-C252-4FD0-AD9F-D5F83202A4F2}"/>
              </a:ext>
            </a:extLst>
          </p:cNvPr>
          <p:cNvSpPr>
            <a:spLocks noGrp="1"/>
          </p:cNvSpPr>
          <p:nvPr/>
        </p:nvSpPr>
        <p:spPr>
          <a:xfrm>
            <a:off x="1333500" y="3981450"/>
            <a:ext cx="10248900" cy="4095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Keep service levels and critical suppliers viable.</a:t>
            </a:r>
          </a:p>
        </p:txBody>
      </p:sp>
      <p:sp>
        <p:nvSpPr>
          <p:cNvPr id="15" name="rule">
            <a:extLst>
              <a:ext uri="{FF2B5EF4-FFF2-40B4-BE49-F238E27FC236}">
                <a16:creationId xmlns:a16="http://schemas.microsoft.com/office/drawing/2014/main" id="{7D8C8A23-19A8-4EDD-8BE9-41F19A10EFA3}"/>
              </a:ext>
            </a:extLst>
          </p:cNvPr>
          <p:cNvSpPr>
            <a:spLocks noGrp="1"/>
          </p:cNvSpPr>
          <p:nvPr/>
        </p:nvSpPr>
        <p:spPr>
          <a:xfrm>
            <a:off x="1333500" y="4314825"/>
            <a:ext cx="10248900" cy="0"/>
          </a:xfrm>
          <a:prstGeom prst="line">
            <a:avLst/>
          </a:prstGeom>
          <a:noFill/>
          <a:ln w="9525">
            <a:solidFill>
              <a:srgbClr val="CCD6D9"/>
            </a:solidFill>
            <a:prstDash val="solid"/>
          </a:ln>
        </p:spPr>
        <p:txBody>
          <a:bodyPr/>
          <a:lstStyle/>
          <a:p>
            <a:endParaRPr lang="fr-FR"/>
          </a:p>
        </p:txBody>
      </p:sp>
      <p:sp>
        <p:nvSpPr>
          <p:cNvPr id="16" name="explanation">
            <a:extLst>
              <a:ext uri="{FF2B5EF4-FFF2-40B4-BE49-F238E27FC236}">
                <a16:creationId xmlns:a16="http://schemas.microsoft.com/office/drawing/2014/main" id="{EFBDF174-A94C-4CB9-A541-5D6999C2173B}"/>
              </a:ext>
            </a:extLst>
          </p:cNvPr>
          <p:cNvSpPr>
            <a:spLocks noGrp="1"/>
          </p:cNvSpPr>
          <p:nvPr/>
        </p:nvSpPr>
        <p:spPr>
          <a:xfrm>
            <a:off x="609600" y="4410075"/>
            <a:ext cx="495300" cy="400050"/>
          </a:xfrm>
          <a:prstGeom prst="rect">
            <a:avLst/>
          </a:prstGeom>
          <a:noFill/>
          <a:ln w="0">
            <a:noFill/>
            <a:prstDash val="solid"/>
          </a:ln>
        </p:spPr>
        <p:txBody>
          <a:bodyPr wrap="square" lIns="0" tIns="0" rIns="0" bIns="0" anchor="t">
            <a:noAutofit/>
          </a:bodyPr>
          <a:lstStyle>
            <a:defPPr algn="l">
              <a:defRPr sz="2175" b="1">
                <a:solidFill>
                  <a:srgbClr val="087F83"/>
                </a:solidFill>
                <a:latin typeface="Aptos"/>
                <a:ea typeface="Aptos"/>
                <a:cs typeface="Aptos"/>
              </a:defRPr>
            </a:defPPr>
          </a:lstStyle>
          <a:p>
            <a:pPr algn="l">
              <a:defRPr sz="2175" b="1">
                <a:solidFill>
                  <a:srgbClr val="087F83"/>
                </a:solidFill>
                <a:latin typeface="Aptos"/>
                <a:ea typeface="Aptos"/>
                <a:cs typeface="Aptos"/>
              </a:defRPr>
            </a:pPr>
            <a:r>
              <a:rPr sz="2175" b="1">
                <a:solidFill>
                  <a:srgbClr val="087F83"/>
                </a:solidFill>
                <a:latin typeface="Aptos"/>
                <a:ea typeface="Aptos"/>
                <a:cs typeface="Aptos"/>
              </a:rPr>
              <a:t>04</a:t>
            </a:r>
          </a:p>
        </p:txBody>
      </p:sp>
      <p:sp>
        <p:nvSpPr>
          <p:cNvPr id="17" name="explanation">
            <a:extLst>
              <a:ext uri="{FF2B5EF4-FFF2-40B4-BE49-F238E27FC236}">
                <a16:creationId xmlns:a16="http://schemas.microsoft.com/office/drawing/2014/main" id="{537CF8A8-9937-49F9-89F4-7AFFFF9CAF46}"/>
              </a:ext>
            </a:extLst>
          </p:cNvPr>
          <p:cNvSpPr>
            <a:spLocks noGrp="1"/>
          </p:cNvSpPr>
          <p:nvPr/>
        </p:nvSpPr>
        <p:spPr>
          <a:xfrm>
            <a:off x="1333500" y="4410075"/>
            <a:ext cx="10248900" cy="400050"/>
          </a:xfrm>
          <a:prstGeom prst="rect">
            <a:avLst/>
          </a:prstGeom>
          <a:noFill/>
          <a:ln w="0">
            <a:noFill/>
            <a:prstDash val="solid"/>
          </a:ln>
        </p:spPr>
        <p:txBody>
          <a:bodyPr wrap="square" lIns="0" tIns="0" rIns="0" bIns="0" anchor="t">
            <a:noAutofit/>
          </a:bodyPr>
          <a:lstStyle>
            <a:defPPr algn="l">
              <a:defRPr sz="2025" b="1">
                <a:solidFill>
                  <a:srgbClr val="19313F"/>
                </a:solidFill>
                <a:latin typeface="Aptos"/>
                <a:ea typeface="Aptos"/>
                <a:cs typeface="Aptos"/>
              </a:defRPr>
            </a:defPPr>
          </a:lstStyle>
          <a:p>
            <a:pPr algn="l">
              <a:defRPr sz="2025" b="1">
                <a:solidFill>
                  <a:srgbClr val="19313F"/>
                </a:solidFill>
                <a:latin typeface="Aptos"/>
                <a:ea typeface="Aptos"/>
                <a:cs typeface="Aptos"/>
              </a:defRPr>
            </a:pPr>
            <a:r>
              <a:rPr sz="2025" b="1">
                <a:solidFill>
                  <a:srgbClr val="19313F"/>
                </a:solidFill>
                <a:latin typeface="Aptos"/>
                <a:ea typeface="Aptos"/>
                <a:cs typeface="Aptos"/>
              </a:rPr>
              <a:t>Recommend to the CFO</a:t>
            </a:r>
          </a:p>
        </p:txBody>
      </p:sp>
      <p:sp>
        <p:nvSpPr>
          <p:cNvPr id="18" name="explanation">
            <a:extLst>
              <a:ext uri="{FF2B5EF4-FFF2-40B4-BE49-F238E27FC236}">
                <a16:creationId xmlns:a16="http://schemas.microsoft.com/office/drawing/2014/main" id="{4D3C2FE7-9AE1-4F03-8F0B-F4EC90B1DC86}"/>
              </a:ext>
            </a:extLst>
          </p:cNvPr>
          <p:cNvSpPr>
            <a:spLocks noGrp="1"/>
          </p:cNvSpPr>
          <p:nvPr/>
        </p:nvSpPr>
        <p:spPr>
          <a:xfrm>
            <a:off x="1333500" y="4819650"/>
            <a:ext cx="10248900" cy="409575"/>
          </a:xfrm>
          <a:prstGeom prst="rect">
            <a:avLst/>
          </a:prstGeom>
          <a:noFill/>
          <a:ln w="0">
            <a:noFill/>
            <a:prstDash val="solid"/>
          </a:ln>
        </p:spPr>
        <p:txBody>
          <a:bodyPr wrap="square" lIns="0" tIns="0" rIns="0" bIns="0" anchor="t">
            <a:noAutofit/>
          </a:bodyPr>
          <a:lstStyle>
            <a:defPPr algn="l">
              <a:defRPr sz="1725" b="0">
                <a:solidFill>
                  <a:srgbClr val="5B6D77"/>
                </a:solidFill>
                <a:latin typeface="Aptos"/>
                <a:ea typeface="Aptos"/>
                <a:cs typeface="Aptos"/>
              </a:defRPr>
            </a:defPPr>
          </a:lstStyle>
          <a:p>
            <a:pPr algn="l">
              <a:defRPr sz="1725" b="0">
                <a:solidFill>
                  <a:srgbClr val="5B6D77"/>
                </a:solidFill>
                <a:latin typeface="Aptos"/>
                <a:ea typeface="Aptos"/>
                <a:cs typeface="Aptos"/>
              </a:defRPr>
            </a:pPr>
            <a:r>
              <a:rPr sz="1725" b="0">
                <a:solidFill>
                  <a:srgbClr val="5B6D77"/>
                </a:solidFill>
                <a:latin typeface="Aptos"/>
                <a:ea typeface="Aptos"/>
                <a:cs typeface="Aptos"/>
              </a:rPr>
              <a:t>State the benefit, tradeoff, owner and deadline.</a:t>
            </a:r>
          </a:p>
        </p:txBody>
      </p:sp>
      <p:sp>
        <p:nvSpPr>
          <p:cNvPr id="19" name="rule">
            <a:extLst>
              <a:ext uri="{FF2B5EF4-FFF2-40B4-BE49-F238E27FC236}">
                <a16:creationId xmlns:a16="http://schemas.microsoft.com/office/drawing/2014/main" id="{3973CB8F-06EC-48B3-A2AB-B5A2EB3EF592}"/>
              </a:ext>
            </a:extLst>
          </p:cNvPr>
          <p:cNvSpPr>
            <a:spLocks noGrp="1"/>
          </p:cNvSpPr>
          <p:nvPr/>
        </p:nvSpPr>
        <p:spPr>
          <a:xfrm>
            <a:off x="609600" y="5981700"/>
            <a:ext cx="10972800" cy="0"/>
          </a:xfrm>
          <a:prstGeom prst="line">
            <a:avLst/>
          </a:prstGeom>
          <a:noFill/>
          <a:ln w="9525">
            <a:solidFill>
              <a:srgbClr val="CCD6D9"/>
            </a:solidFill>
            <a:prstDash val="solid"/>
          </a:ln>
        </p:spPr>
        <p:txBody>
          <a:bodyPr/>
          <a:lstStyle/>
          <a:p>
            <a:endParaRPr lang="fr-FR"/>
          </a:p>
        </p:txBody>
      </p:sp>
      <p:sp>
        <p:nvSpPr>
          <p:cNvPr id="20" name="decision-implication">
            <a:extLst>
              <a:ext uri="{FF2B5EF4-FFF2-40B4-BE49-F238E27FC236}">
                <a16:creationId xmlns:a16="http://schemas.microsoft.com/office/drawing/2014/main" id="{003DE34A-3249-404C-977A-563D0361D54C}"/>
              </a:ext>
            </a:extLst>
          </p:cNvPr>
          <p:cNvSpPr>
            <a:spLocks noGrp="1"/>
          </p:cNvSpPr>
          <p:nvPr/>
        </p:nvSpPr>
        <p:spPr>
          <a:xfrm>
            <a:off x="609600" y="6096000"/>
            <a:ext cx="10934700" cy="419100"/>
          </a:xfrm>
          <a:prstGeom prst="rect">
            <a:avLst/>
          </a:prstGeom>
          <a:noFill/>
          <a:ln w="0">
            <a:noFill/>
            <a:prstDash val="solid"/>
          </a:ln>
        </p:spPr>
        <p:txBody>
          <a:bodyPr wrap="square" lIns="0" tIns="0" rIns="0" bIns="0" anchor="t">
            <a:noAutofit/>
          </a:bodyPr>
          <a:lstStyle>
            <a:defPPr algn="l">
              <a:defRPr sz="1725" b="1">
                <a:solidFill>
                  <a:srgbClr val="087F83"/>
                </a:solidFill>
                <a:latin typeface="Aptos"/>
                <a:ea typeface="Aptos"/>
                <a:cs typeface="Aptos"/>
              </a:defRPr>
            </a:defPPr>
          </a:lstStyle>
          <a:p>
            <a:pPr algn="l">
              <a:defRPr sz="1725" b="1">
                <a:solidFill>
                  <a:srgbClr val="087F83"/>
                </a:solidFill>
                <a:latin typeface="Aptos"/>
                <a:ea typeface="Aptos"/>
                <a:cs typeface="Aptos"/>
              </a:defRPr>
            </a:pPr>
            <a:r>
              <a:rPr sz="1725" b="1">
                <a:solidFill>
                  <a:srgbClr val="087F83"/>
                </a:solidFill>
                <a:latin typeface="Aptos"/>
                <a:ea typeface="Aptos"/>
                <a:cs typeface="Aptos"/>
              </a:rPr>
              <a:t>Exercises 3 to 5: cash bridges, negative WCR and working capital actions.</a:t>
            </a:r>
          </a:p>
        </p:txBody>
      </p:sp>
    </p:spTree>
    <p:extLst>
      <p:ext uri="{BB962C8B-B14F-4D97-AF65-F5344CB8AC3E}">
        <p14:creationId xmlns:p14="http://schemas.microsoft.com/office/powerpoint/2010/main" val="66742803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9860db96-b53f-4bd7-8137-e09357cab268}" enabled="1" method="Standard" siteId="{b78d03e6-f6a2-4cff-83be-847d1a6453f9}" contentBits="0" removed="0"/>
</clbl:labelList>
</file>

<file path=docProps/app.xml><?xml version="1.0" encoding="utf-8"?>
<Properties xmlns="http://schemas.openxmlformats.org/officeDocument/2006/extended-properties" xmlns:vt="http://schemas.openxmlformats.org/officeDocument/2006/docPropsVTypes">
  <TotalTime>230</TotalTime>
  <Words>8209</Words>
  <Application>Microsoft Office PowerPoint</Application>
  <DocSecurity>0</DocSecurity>
  <PresentationFormat>Grand écran</PresentationFormat>
  <Paragraphs>1002</Paragraphs>
  <Slides>45</Slides>
  <Notes>45</Notes>
  <HiddenSlides>0</HiddenSlides>
  <MMClips>0</MMClips>
  <ScaleCrop>false</ScaleCrop>
  <HeadingPairs>
    <vt:vector size="6" baseType="variant">
      <vt:variant>
        <vt:lpstr>Polices utilisées</vt:lpstr>
      </vt:variant>
      <vt:variant>
        <vt:i4>1</vt:i4>
      </vt:variant>
      <vt:variant>
        <vt:lpstr>Thème</vt:lpstr>
      </vt:variant>
      <vt:variant>
        <vt:i4>1</vt:i4>
      </vt:variant>
      <vt:variant>
        <vt:lpstr>Titres des diapositives</vt:lpstr>
      </vt:variant>
      <vt:variant>
        <vt:i4>45</vt:i4>
      </vt:variant>
    </vt:vector>
  </HeadingPairs>
  <TitlesOfParts>
    <vt:vector size="47" baseType="lpstr">
      <vt:lpstr>Aptos</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KAMMOUN Mohamed Ali</cp:lastModifiedBy>
  <cp:revision>5</cp:revision>
  <dcterms:created xsi:type="dcterms:W3CDTF">2026-10-14T19:47:07Z</dcterms:created>
  <dcterms:modified xsi:type="dcterms:W3CDTF">2026-10-16T15:12:46Z</dcterms:modified>
</cp:coreProperties>
</file>