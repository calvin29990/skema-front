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210312"/>
            <a:ext cx="457200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39B96"/>
                </a:solidFill>
                <a:latin typeface="Arial"/>
              </a:rPr>
              <a:t>RISK CASE STUDY  /  EUROPE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438912"/>
            <a:ext cx="731520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3044"/>
                </a:solidFill>
                <a:latin typeface="Arial"/>
              </a:rPr>
              <a:t>MAJOR EUROPEAN TRADING LOSS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768096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684"/>
                </a:solidFill>
                <a:latin typeface="Arial"/>
              </a:rPr>
              <a:t>Selected benchmark trading-loss events relevant to the UBS 2011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07592"/>
            <a:ext cx="6903720" cy="5175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bs-event-map-appro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720840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07592"/>
            <a:ext cx="4279392" cy="5175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54112" y="1581912"/>
            <a:ext cx="356616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39B96"/>
                </a:solidFill>
                <a:latin typeface="Arial"/>
              </a:rPr>
              <a:t>BENCHMARK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112" y="1819656"/>
            <a:ext cx="3749039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044"/>
                </a:solidFill>
                <a:latin typeface="Arial"/>
              </a:rPr>
              <a:t>Three historic losses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54112" y="2286000"/>
            <a:ext cx="376732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00416" y="2468880"/>
            <a:ext cx="50292" cy="557784"/>
          </a:xfrm>
          <a:prstGeom prst="roundRect">
            <a:avLst/>
          </a:prstGeom>
          <a:solidFill>
            <a:srgbClr val="A7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377440"/>
            <a:ext cx="269748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044"/>
                </a:solidFill>
                <a:latin typeface="Arial"/>
              </a:rPr>
              <a:t>BARINGS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2488" y="2377440"/>
            <a:ext cx="5486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77A00"/>
                </a:solidFill>
                <a:latin typeface="Arial"/>
              </a:rPr>
              <a:t>1995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688336"/>
            <a:ext cx="210312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77A00"/>
                </a:solidFill>
                <a:latin typeface="Arial"/>
              </a:rPr>
              <a:t>USD -1.4bn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4112" y="3346704"/>
            <a:ext cx="376732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00416" y="3529584"/>
            <a:ext cx="50292" cy="557784"/>
          </a:xfrm>
          <a:prstGeom prst="roundRect">
            <a:avLst/>
          </a:prstGeom>
          <a:solidFill>
            <a:srgbClr val="B8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438144"/>
            <a:ext cx="269748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044"/>
                </a:solidFill>
                <a:latin typeface="Arial"/>
              </a:rPr>
              <a:t>KERVIEL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62488" y="3438144"/>
            <a:ext cx="5486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82631"/>
                </a:solidFill>
                <a:latin typeface="Arial"/>
              </a:rPr>
              <a:t>2008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5008" y="3749040"/>
            <a:ext cx="210312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B82631"/>
                </a:solidFill>
                <a:latin typeface="Arial"/>
              </a:rPr>
              <a:t>EUR -4.9bn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47504" y="3822191"/>
            <a:ext cx="155448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684"/>
                </a:solidFill>
                <a:latin typeface="Arial"/>
              </a:rPr>
              <a:t>Société Générale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54112" y="4407408"/>
            <a:ext cx="376732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00416" y="4590288"/>
            <a:ext cx="50292" cy="557784"/>
          </a:xfrm>
          <a:prstGeom prst="roundRect">
            <a:avLst/>
          </a:prstGeom>
          <a:solidFill>
            <a:srgbClr val="C8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5008" y="4498848"/>
            <a:ext cx="269748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044"/>
                </a:solidFill>
                <a:latin typeface="Arial"/>
              </a:rPr>
              <a:t>ADOBOLI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62488" y="4498848"/>
            <a:ext cx="5486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8272C"/>
                </a:solidFill>
                <a:latin typeface="Arial"/>
              </a:rPr>
              <a:t>2011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4809744"/>
            <a:ext cx="210312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8272C"/>
                </a:solidFill>
                <a:latin typeface="Arial"/>
              </a:rPr>
              <a:t>USD -2.3bn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4882896"/>
            <a:ext cx="155448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684"/>
                </a:solidFill>
                <a:latin typeface="Arial"/>
              </a:rPr>
              <a:t>UBS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54112" y="5486400"/>
            <a:ext cx="3767328" cy="749808"/>
          </a:xfrm>
          <a:prstGeom prst="roundRect">
            <a:avLst/>
          </a:prstGeom>
          <a:solidFill>
            <a:srgbClr val="17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5586984"/>
            <a:ext cx="333756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5D8CF"/>
                </a:solidFill>
                <a:latin typeface="Arial"/>
              </a:rPr>
              <a:t>LOCATION MATTERS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5797296"/>
            <a:ext cx="3337560" cy="3566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Adoboli traded from London; UBS headquarters are in Zurich.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Major European Trading Loss Events</dc:title>
  <dc:subject>One-slide map of selected European trading-loss events</dc:subject>
  <dc:creator>SKEMA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