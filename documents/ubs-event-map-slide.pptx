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bs-logo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1399032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93392" y="164592"/>
            <a:ext cx="813816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8232B"/>
                </a:solidFill>
                <a:latin typeface="Arial"/>
              </a:rPr>
              <a:t>UBS INVESTMENT BANK  |  2011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93392" y="448056"/>
            <a:ext cx="81381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2036"/>
                </a:solidFill>
                <a:latin typeface="Arial"/>
              </a:rPr>
              <a:t>EUROPEAN TRADING-LOSS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3392" y="685800"/>
            <a:ext cx="813816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737B80"/>
                </a:solidFill>
                <a:latin typeface="Arial"/>
              </a:rPr>
              <a:t>Treasury Committee  /  incident overview</a:t>
            </a:r>
          </a:p>
        </p:txBody>
      </p:sp>
      <p:pic>
        <p:nvPicPr>
          <p:cNvPr id="6" name="Picture 5" descr="skem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3968" y="146304"/>
            <a:ext cx="539496" cy="53949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905256"/>
            <a:ext cx="11457432" cy="10972"/>
          </a:xfrm>
          <a:prstGeom prst="rect">
            <a:avLst/>
          </a:prstGeom>
          <a:solidFill>
            <a:srgbClr val="C9C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960120"/>
            <a:ext cx="5577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737B80"/>
                </a:solidFill>
                <a:latin typeface="Arial"/>
              </a:rPr>
              <a:t>EUROPEAN LOSS EVENTS  /  MAP &amp; BENCHMARKS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960120"/>
            <a:ext cx="4800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737B80"/>
                </a:solidFill>
                <a:latin typeface="Arial"/>
              </a:rPr>
              <a:t>HISTORICAL CASES  ·  LOSS FIGURES AS LABELLED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197864"/>
            <a:ext cx="6583680" cy="4965192"/>
          </a:xfrm>
          <a:prstGeom prst="rect">
            <a:avLst/>
          </a:prstGeom>
          <a:solidFill>
            <a:srgbClr val="101315"/>
          </a:solidFill>
          <a:ln w="10160">
            <a:solidFill>
              <a:srgbClr val="30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97864"/>
            <a:ext cx="6583680" cy="41148"/>
          </a:xfrm>
          <a:prstGeom prst="rect">
            <a:avLst/>
          </a:prstGeom>
          <a:solidFill>
            <a:srgbClr val="00A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bs-event-map-approv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1271016"/>
            <a:ext cx="6393425" cy="48006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114032" y="1197864"/>
            <a:ext cx="4709160" cy="4965192"/>
          </a:xfrm>
          <a:prstGeom prst="rect">
            <a:avLst/>
          </a:prstGeom>
          <a:solidFill>
            <a:srgbClr val="101315"/>
          </a:solidFill>
          <a:ln w="10160">
            <a:solidFill>
              <a:srgbClr val="30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14032" y="1197864"/>
            <a:ext cx="4709160" cy="41148"/>
          </a:xfrm>
          <a:prstGeom prst="rect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06056" y="1426464"/>
            <a:ext cx="43434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7F8F6"/>
                </a:solidFill>
                <a:latin typeface="Arial"/>
              </a:rPr>
              <a:t>BENCHMARK LOSS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6056" y="1700784"/>
            <a:ext cx="43434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A9B0B2"/>
                </a:solidFill>
                <a:latin typeface="Arial"/>
              </a:rPr>
              <a:t>Selected European trading-loss cases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06056" y="1965960"/>
            <a:ext cx="4325112" cy="7315"/>
          </a:xfrm>
          <a:prstGeom prst="rect">
            <a:avLst/>
          </a:prstGeom>
          <a:solidFill>
            <a:srgbClr val="30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2157984"/>
            <a:ext cx="2487168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7F8F6"/>
                </a:solidFill>
                <a:latin typeface="Arial"/>
              </a:rPr>
              <a:t>BARINGS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36808" y="2157984"/>
            <a:ext cx="502920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6A600"/>
                </a:solidFill>
                <a:latin typeface="Arial"/>
              </a:rPr>
              <a:t>1995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24344" y="2414015"/>
            <a:ext cx="235915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6A600"/>
                </a:solidFill>
                <a:latin typeface="Arial"/>
              </a:rPr>
              <a:t>USD -1.4bn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6056" y="2907792"/>
            <a:ext cx="4325112" cy="7315"/>
          </a:xfrm>
          <a:prstGeom prst="rect">
            <a:avLst/>
          </a:prstGeom>
          <a:solidFill>
            <a:srgbClr val="30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24344" y="3090672"/>
            <a:ext cx="2487168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7F8F6"/>
                </a:solidFill>
                <a:latin typeface="Arial"/>
              </a:rPr>
              <a:t>KERVIEL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36808" y="3090672"/>
            <a:ext cx="502920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2036"/>
                </a:solidFill>
                <a:latin typeface="Arial"/>
              </a:rPr>
              <a:t>2008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344" y="3346704"/>
            <a:ext cx="235915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2036"/>
                </a:solidFill>
                <a:latin typeface="Arial"/>
              </a:rPr>
              <a:t>EUR -4.9bn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3401568"/>
            <a:ext cx="188366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9B0B2"/>
                </a:solidFill>
                <a:latin typeface="Arial"/>
              </a:rPr>
              <a:t>Société Générale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06056" y="3840480"/>
            <a:ext cx="4325112" cy="7315"/>
          </a:xfrm>
          <a:prstGeom prst="rect">
            <a:avLst/>
          </a:prstGeom>
          <a:solidFill>
            <a:srgbClr val="30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24344" y="4023360"/>
            <a:ext cx="2487168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7F8F6"/>
                </a:solidFill>
                <a:latin typeface="Arial"/>
              </a:rPr>
              <a:t>ADOBOLI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36808" y="4023360"/>
            <a:ext cx="502920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2036"/>
                </a:solidFill>
                <a:latin typeface="Arial"/>
              </a:rPr>
              <a:t>2011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24344" y="4279392"/>
            <a:ext cx="235915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2036"/>
                </a:solidFill>
                <a:latin typeface="Arial"/>
              </a:rPr>
              <a:t>USD -2.3bn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072" y="4334256"/>
            <a:ext cx="1883663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9B0B2"/>
                </a:solidFill>
                <a:latin typeface="Arial"/>
              </a:rPr>
              <a:t>UBS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06056" y="4773168"/>
            <a:ext cx="4325112" cy="7315"/>
          </a:xfrm>
          <a:prstGeom prst="rect">
            <a:avLst/>
          </a:prstGeom>
          <a:solidFill>
            <a:srgbClr val="30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24344" y="4965192"/>
            <a:ext cx="42519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D6A600"/>
                </a:solidFill>
                <a:latin typeface="Arial"/>
              </a:rPr>
              <a:t>LOCATION NOTE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24344" y="5212080"/>
            <a:ext cx="42519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7F8F6"/>
                </a:solidFill>
                <a:latin typeface="Arial"/>
              </a:rPr>
              <a:t>Adoboli's trading desk: London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24344" y="5477256"/>
            <a:ext cx="4251960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9B0B2"/>
                </a:solidFill>
                <a:latin typeface="Arial"/>
              </a:rPr>
              <a:t>UBS Group headquarters: Zurich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291072"/>
            <a:ext cx="11439144" cy="10972"/>
          </a:xfrm>
          <a:prstGeom prst="rect">
            <a:avLst/>
          </a:prstGeom>
          <a:solidFill>
            <a:srgbClr val="C9C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6" y="6373368"/>
            <a:ext cx="144475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C82036"/>
                </a:solidFill>
                <a:latin typeface="Arial"/>
              </a:rPr>
              <a:t>EXECUTIVE SUMMARY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47088" y="6355080"/>
            <a:ext cx="9829800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8232B"/>
                </a:solidFill>
                <a:latin typeface="Arial"/>
              </a:rPr>
              <a:t>The UBS case shows how control failures can escalate into material losses and liquidity pressure.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99648" y="6638544"/>
            <a:ext cx="86868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737B80"/>
                </a:solidFill>
                <a:latin typeface="Arial"/>
              </a:rPr>
              <a:t>UBS  ×  SKEMA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UBS Investment Bank | European Trading-Loss Benchmarks</dc:title>
  <dc:subject>Approved European trading-loss map with benchmark cases</dc:subject>
  <dc:creator>SKEMA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