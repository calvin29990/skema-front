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592"/>
            <a:ext cx="1399032" cy="4937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93392" y="164592"/>
            <a:ext cx="813816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8232B"/>
                </a:solidFill>
                <a:latin typeface="Arial"/>
              </a:rPr>
              <a:t>MAJOR EUROPEAN TRADING LOSS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3392" y="448056"/>
            <a:ext cx="813816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2036"/>
                </a:solidFill>
                <a:latin typeface="Arial"/>
              </a:rPr>
              <a:t>SELECTED BENCHMARKS RELEVANT TO UBS 2011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685800"/>
            <a:ext cx="813816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737B80"/>
                </a:solidFill>
                <a:latin typeface="Arial"/>
              </a:rPr>
              <a:t>Treasury Committee  /  incident overview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146304"/>
            <a:ext cx="539496" cy="5394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905256"/>
            <a:ext cx="11457432" cy="10972"/>
          </a:xfrm>
          <a:prstGeom prst="rect">
            <a:avLst/>
          </a:prstGeom>
          <a:solidFill>
            <a:srgbClr val="C9C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bs-event-map-approv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105" y="987552"/>
            <a:ext cx="6965789" cy="52303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6318504"/>
            <a:ext cx="11439144" cy="10972"/>
          </a:xfrm>
          <a:prstGeom prst="rect">
            <a:avLst/>
          </a:prstGeom>
          <a:solidFill>
            <a:srgbClr val="C9C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6391656"/>
            <a:ext cx="1444752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C82036"/>
                </a:solidFill>
                <a:latin typeface="Arial"/>
              </a:rPr>
              <a:t>EXECUTIVE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6373368"/>
            <a:ext cx="9829800" cy="21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18232B"/>
                </a:solidFill>
                <a:latin typeface="Arial"/>
              </a:rPr>
              <a:t>The UBS case shows how control failures can escalate into material losses and liquidity pressure.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99648" y="6647688"/>
            <a:ext cx="86868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Major European Trading Loss Events</dc:title>
  <dc:subject>Approved event map with executive-summary line</dc:subject>
  <dc:creator>SKEMA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