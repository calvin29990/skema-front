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incident</c:v>
                </c:pt>
              </c:strCache>
            </c:strRef>
          </c:tx>
          <c:spPr>
            <a:ln w="25400">
              <a:solidFill>
                <a:srgbClr val="008F72"/>
              </a:solidFill>
            </a:ln>
          </c:spPr>
          <c:marker>
            <c:symbol val="diamond"/>
            <c:size val="5"/>
            <c:spPr>
              <a:solidFill>
                <a:srgbClr val="008F72"/>
              </a:solidFill>
              <a:ln>
                <a:solidFill>
                  <a:srgbClr val="008F72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990</c:v>
                </c:pt>
                <c:pt idx="2">
                  <c:v>985</c:v>
                </c:pt>
                <c:pt idx="3">
                  <c:v>990</c:v>
                </c:pt>
                <c:pt idx="4">
                  <c:v>985</c:v>
                </c:pt>
                <c:pt idx="5">
                  <c:v>987</c:v>
                </c:pt>
                <c:pt idx="6">
                  <c:v>984</c:v>
                </c:pt>
                <c:pt idx="7">
                  <c:v>1004</c:v>
                </c:pt>
                <c:pt idx="8">
                  <c:v>1104</c:v>
                </c:pt>
                <c:pt idx="9">
                  <c:v>1054</c:v>
                </c:pt>
                <c:pt idx="10">
                  <c:v>1024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Incident base</c:v>
                </c:pt>
              </c:strCache>
            </c:strRef>
          </c:tx>
          <c:spPr>
            <a:ln w="25400">
              <a:solidFill>
                <a:srgbClr val="287FA8"/>
              </a:solidFill>
            </a:ln>
          </c:spPr>
          <c:marker>
            <c:symbol val="diamond"/>
            <c:size val="5"/>
            <c:spPr>
              <a:solidFill>
                <a:srgbClr val="287FA8"/>
              </a:solidFill>
              <a:ln>
                <a:solidFill>
                  <a:srgbClr val="287FA8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849</c:v>
                </c:pt>
                <c:pt idx="10">
                  <c:v>824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stress</c:v>
                </c:pt>
              </c:strCache>
            </c:strRef>
          </c:tx>
          <c:spPr>
            <a:ln w="25400">
              <a:solidFill>
                <a:srgbClr val="C82036"/>
              </a:solidFill>
            </a:ln>
          </c:spPr>
          <c:marker>
            <c:symbol val="diamond"/>
            <c:size val="5"/>
            <c:spPr>
              <a:solidFill>
                <a:srgbClr val="C82036"/>
              </a:solidFill>
              <a:ln>
                <a:solidFill>
                  <a:srgbClr val="C82036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549</c:v>
                </c:pt>
                <c:pt idx="10">
                  <c:v>524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Minimum buffer</c:v>
                </c:pt>
              </c:strCache>
            </c:strRef>
          </c:tx>
          <c:spPr>
            <a:ln w="17780">
              <a:solidFill>
                <a:srgbClr val="C49500"/>
              </a:solidFill>
              <a:prstDash val="dash"/>
            </a:ln>
          </c:spPr>
          <c:marker>
            <c:symbol val="square"/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0.0"/>
          <c:min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18791784"/>
        <c:crosses val="autoZero"/>
        <c:majorUnit val="100.0"/>
      </c:valAx>
    </c:plotArea>
    <c:legend>
      <c:legendPos val="b"/>
      <c:layout/>
      <c:overlay val="0"/>
      <c:txPr>
        <a:bodyPr/>
        <a:lstStyle/>
        <a:p>
          <a:pPr>
            <a:defRPr sz="8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map-slide-report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4" y="0"/>
            <a:ext cx="121491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three-panel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72"/>
            <a:ext cx="12191999" cy="68324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FROM CONTROL FAILURE TO TREASURY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1.3  ·  FAILED CONTROLS &amp; CASH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BRIDGE FROM OPERATIONAL RISK TO THE CENTRAL TREASURY QUESTION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88720"/>
            <a:ext cx="20116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2036"/>
                </a:solidFill>
                <a:latin typeface="Arial"/>
              </a:rPr>
              <a:t>Control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179576"/>
            <a:ext cx="86868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How can UBS preserve liquidity and meet payment obligations over the next three months?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847088"/>
            <a:ext cx="1353312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CONTROL
FAILURES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7607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verification gaps</a:t>
            </a:r>
          </a:p>
        </p:txBody>
      </p:sp>
      <p:sp>
        <p:nvSpPr>
          <p:cNvPr id="18" name="Chevron 17"/>
          <p:cNvSpPr/>
          <p:nvPr/>
        </p:nvSpPr>
        <p:spPr>
          <a:xfrm>
            <a:off x="1901952" y="2606040"/>
            <a:ext cx="173736" cy="182880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2140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21408" y="1847088"/>
            <a:ext cx="1353312" cy="50292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HIDDEN
POSITIONS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4942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2199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false offsets</a:t>
            </a:r>
          </a:p>
        </p:txBody>
      </p:sp>
      <p:sp>
        <p:nvSpPr>
          <p:cNvPr id="25" name="Chevron 24"/>
          <p:cNvSpPr/>
          <p:nvPr/>
        </p:nvSpPr>
        <p:spPr>
          <a:xfrm>
            <a:off x="3547872" y="2606040"/>
            <a:ext cx="173736" cy="182880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6732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67328" y="1847088"/>
            <a:ext cx="1353312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77056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056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TRADING
LOSS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9534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86791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USD 2.3bn</a:t>
            </a:r>
          </a:p>
        </p:txBody>
      </p:sp>
      <p:sp>
        <p:nvSpPr>
          <p:cNvPr id="32" name="Chevron 31"/>
          <p:cNvSpPr/>
          <p:nvPr/>
        </p:nvSpPr>
        <p:spPr>
          <a:xfrm>
            <a:off x="5193792" y="2606040"/>
            <a:ext cx="173736" cy="182880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1324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3248" y="1847088"/>
            <a:ext cx="1353312" cy="50292"/>
          </a:xfrm>
          <a:prstGeom prst="rect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22976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87FA8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22976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SETTLEMENT
OBLIGATIONS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54126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51383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dated cash due</a:t>
            </a:r>
          </a:p>
        </p:txBody>
      </p:sp>
      <p:sp>
        <p:nvSpPr>
          <p:cNvPr id="39" name="Chevron 38"/>
          <p:cNvSpPr/>
          <p:nvPr/>
        </p:nvSpPr>
        <p:spPr>
          <a:xfrm>
            <a:off x="6839712" y="2606040"/>
            <a:ext cx="173736" cy="182880"/>
          </a:xfrm>
          <a:prstGeom prst="chevron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5916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59168" y="1847088"/>
            <a:ext cx="1353312" cy="50292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68896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COLLATERAL
CALLS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18718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5975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calls / delayed returns</a:t>
            </a:r>
          </a:p>
        </p:txBody>
      </p:sp>
      <p:sp>
        <p:nvSpPr>
          <p:cNvPr id="46" name="Chevron 45"/>
          <p:cNvSpPr/>
          <p:nvPr/>
        </p:nvSpPr>
        <p:spPr>
          <a:xfrm>
            <a:off x="8485632" y="2606040"/>
            <a:ext cx="173736" cy="182880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0508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05088" y="1847088"/>
            <a:ext cx="1353312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14815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14815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LIQUIDITY
PRESSURE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83310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80567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buffer erosion</a:t>
            </a:r>
          </a:p>
        </p:txBody>
      </p:sp>
      <p:sp>
        <p:nvSpPr>
          <p:cNvPr id="53" name="Chevron 52"/>
          <p:cNvSpPr/>
          <p:nvPr/>
        </p:nvSpPr>
        <p:spPr>
          <a:xfrm>
            <a:off x="10131552" y="2606040"/>
            <a:ext cx="173736" cy="182880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51008" y="1847088"/>
            <a:ext cx="1353312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51008" y="1847088"/>
            <a:ext cx="1353312" cy="50292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60736" y="2002536"/>
            <a:ext cx="3291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8F72"/>
                </a:solidFill>
                <a:latin typeface="Arial"/>
              </a:rPr>
              <a:t>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0736" y="2350008"/>
            <a:ext cx="113385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FUNDING
REQUIREMENT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479024" y="3026664"/>
            <a:ext cx="1097280" cy="0"/>
          </a:xfrm>
          <a:prstGeom prst="line">
            <a:avLst/>
          </a:prstGeom>
          <a:ln w="825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451592" y="3154680"/>
            <a:ext cx="115214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timing gap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142232"/>
            <a:ext cx="33375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OPERATIONAL EVENT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4398264"/>
            <a:ext cx="3337559" cy="0"/>
          </a:xfrm>
          <a:prstGeom prst="line">
            <a:avLst/>
          </a:prstGeom>
          <a:ln w="2286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4517136"/>
            <a:ext cx="33375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8232B"/>
                </a:solidFill>
                <a:latin typeface="Arial"/>
              </a:rPr>
              <a:t>control failure → hidden positions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6552" y="4142232"/>
            <a:ext cx="33375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87FA8"/>
                </a:solidFill>
                <a:latin typeface="Arial"/>
              </a:rPr>
              <a:t>CASH TRANSMISSION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416552" y="4398264"/>
            <a:ext cx="3337560" cy="0"/>
          </a:xfrm>
          <a:prstGeom prst="line">
            <a:avLst/>
          </a:prstGeom>
          <a:ln w="2286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416552" y="4517136"/>
            <a:ext cx="33375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8232B"/>
                </a:solidFill>
                <a:latin typeface="Arial"/>
              </a:rPr>
              <a:t>loss → settlement / collateral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5" y="4142232"/>
            <a:ext cx="33375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8F72"/>
                </a:solidFill>
                <a:latin typeface="Arial"/>
              </a:rPr>
              <a:t>TREASURY RESPONSE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266175" y="4398264"/>
            <a:ext cx="3337561" cy="0"/>
          </a:xfrm>
          <a:prstGeom prst="line">
            <a:avLst/>
          </a:prstGeom>
          <a:ln w="2286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266175" y="4517136"/>
            <a:ext cx="33375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8232B"/>
                </a:solidFill>
                <a:latin typeface="Arial"/>
              </a:rPr>
              <a:t>liquidity pressure → funding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5138928"/>
            <a:ext cx="10991088" cy="548640"/>
          </a:xfrm>
          <a:prstGeom prst="rect">
            <a:avLst/>
          </a:prstGeom>
          <a:solidFill>
            <a:srgbClr val="E9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808" y="5276088"/>
            <a:ext cx="1062532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8232B"/>
                </a:solidFill>
                <a:latin typeface="Arial"/>
              </a:rPr>
              <a:t>The USD 2.3bn headline is a loss figure; the Treasury need depends on when cash is due, recoverable collateral and accessible liquidity.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216" y="5989320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Potential cash channels are analytical, not asserted historical UBS cash movements. Sources: FINMA 2012 §§23–41; FSA 2012 §§26–42.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INCIDENT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DISCOVERY, ANNOUNCEMENT &amp;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DATES ARE MILESTONES; CONTAINMENT AND REMEDIATION CONTINUE AFTER DISCOVERY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1874519"/>
            <a:ext cx="7772400" cy="0"/>
          </a:xfrm>
          <a:prstGeom prst="line">
            <a:avLst/>
          </a:prstGeom>
          <a:ln w="2794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408176" y="1783080"/>
            <a:ext cx="182880" cy="18288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12264"/>
            <a:ext cx="1700784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14 SEP 2011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414016"/>
            <a:ext cx="1700784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862072"/>
            <a:ext cx="1700784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Unauthorised futures positions identified.</a:t>
            </a:r>
          </a:p>
        </p:txBody>
      </p:sp>
      <p:sp>
        <p:nvSpPr>
          <p:cNvPr id="15" name="Oval 14"/>
          <p:cNvSpPr/>
          <p:nvPr/>
        </p:nvSpPr>
        <p:spPr>
          <a:xfrm>
            <a:off x="3410712" y="1783080"/>
            <a:ext cx="182880" cy="182880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2112264"/>
            <a:ext cx="1700784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15 SEP 2011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2414016"/>
            <a:ext cx="1700784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Public announcement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0904" y="2862072"/>
            <a:ext cx="1700784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Initial loss estimate communicated.</a:t>
            </a:r>
          </a:p>
        </p:txBody>
      </p:sp>
      <p:sp>
        <p:nvSpPr>
          <p:cNvPr id="19" name="Oval 18"/>
          <p:cNvSpPr/>
          <p:nvPr/>
        </p:nvSpPr>
        <p:spPr>
          <a:xfrm>
            <a:off x="5413248" y="1783080"/>
            <a:ext cx="182880" cy="182880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2112264"/>
            <a:ext cx="1700784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87FA8"/>
                </a:solidFill>
                <a:latin typeface="Arial"/>
              </a:rPr>
              <a:t>FOLLOWING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414016"/>
            <a:ext cx="1700784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Containment &amp; hedging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862072"/>
            <a:ext cx="1700784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Positions managed; exposure reviewed.</a:t>
            </a:r>
          </a:p>
        </p:txBody>
      </p:sp>
      <p:sp>
        <p:nvSpPr>
          <p:cNvPr id="23" name="Oval 22"/>
          <p:cNvSpPr/>
          <p:nvPr/>
        </p:nvSpPr>
        <p:spPr>
          <a:xfrm>
            <a:off x="7415784" y="1783080"/>
            <a:ext cx="182880" cy="182880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2112264"/>
            <a:ext cx="1700784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8F72"/>
                </a:solidFill>
                <a:latin typeface="Arial"/>
              </a:rPr>
              <a:t>FOLLOWING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414016"/>
            <a:ext cx="1700784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Investigation &amp; remediation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5976" y="2862072"/>
            <a:ext cx="1700784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Control failures examined.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344168"/>
            <a:ext cx="2852928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altons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3312" y="1426464"/>
            <a:ext cx="268224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7696" y="2999232"/>
            <a:ext cx="2606040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ILLUSTRATIVE CARTOON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1792" y="3767328"/>
            <a:ext cx="10972800" cy="0"/>
          </a:xfrm>
          <a:prstGeom prst="line">
            <a:avLst/>
          </a:prstGeom>
          <a:ln w="1016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014215"/>
            <a:ext cx="141732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TREASURY LENS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12848" y="3968496"/>
            <a:ext cx="908913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Discovery establishes the control event; it does not by itself identify the dated cash outflow or funding gap.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681728"/>
            <a:ext cx="10936224" cy="804672"/>
          </a:xfrm>
          <a:prstGeom prst="rect">
            <a:avLst/>
          </a:prstGeom>
          <a:solidFill>
            <a:srgbClr val="F8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828032"/>
            <a:ext cx="157276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C49500"/>
                </a:solidFill>
                <a:latin typeface="Arial"/>
              </a:rPr>
              <a:t>DECISION WINDOW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7168" y="4800600"/>
            <a:ext cx="1874519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14 September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15968" y="4928616"/>
            <a:ext cx="4370832" cy="0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224528" y="4837176"/>
            <a:ext cx="182880" cy="182880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95360" y="4837176"/>
            <a:ext cx="182880" cy="182880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5010912"/>
            <a:ext cx="347472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8747B"/>
                </a:solidFill>
                <a:latin typeface="Arial"/>
              </a:rPr>
              <a:t>3-month Treasury response horizon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4800600"/>
            <a:ext cx="1792224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14 December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971032"/>
            <a:ext cx="109270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Sources: FINMA 2012; FSA 2012; UBS disclosures. Cartoon is illustrative, not an incident photograph.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TREASURY LIQUIDITY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2.2  ·  CASH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ILLUSTRATIVE MODEL · USDm · CASH PATHS ARE NOT HISTORICAL UBS TREASURY DATA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133856"/>
            <a:ext cx="54864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Cash balance by scenario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399032"/>
          <a:ext cx="8412480" cy="45537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9098280" y="1426464"/>
            <a:ext cx="2633472" cy="446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98280" y="1426464"/>
            <a:ext cx="2633472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72016" y="1636776"/>
            <a:ext cx="2286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KEY MODEL OUTPUTS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2002536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Opening cash*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0464" y="1984248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08F72"/>
                </a:solidFill>
                <a:latin typeface="Arial"/>
              </a:rPr>
              <a:t>$1,000m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72016" y="2386584"/>
            <a:ext cx="228600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272016" y="2633472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Minimum buffer*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0464" y="2615184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49500"/>
                </a:solidFill>
                <a:latin typeface="Arial"/>
              </a:rPr>
              <a:t>$700m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72016" y="3017520"/>
            <a:ext cx="228600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72016" y="3264408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Incident-base minimum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0464" y="3246120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287FA8"/>
                </a:solidFill>
                <a:latin typeface="Arial"/>
              </a:rPr>
              <a:t>$765m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72016" y="3648456"/>
            <a:ext cx="228600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272016" y="3895344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First stress breach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70464" y="3877056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82036"/>
                </a:solidFill>
                <a:latin typeface="Arial"/>
              </a:rPr>
              <a:t>30 Nov · $549m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72016" y="4279392"/>
            <a:ext cx="228600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272016" y="4526279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Peak stress funding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4507992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82036"/>
                </a:solidFill>
                <a:latin typeface="Arial"/>
              </a:rPr>
              <a:t>$176m · 14 Dec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2016" y="5321808"/>
            <a:ext cx="2267712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*Teaching assumptions. Base case stays above the buffer; combined stress falls below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" y="6126480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Formula: closing cash = opening + receipts − payments − settlement outflow + signed collateral movement − costs. Funding gap = max(0, buffer − cash before funding).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STRESS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2.3  ·  CASH SHOCKS &amp; FUNDING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COMBINED SCENARIO INPUTS ARE ASSUMPTIONS, NOT HISTORICAL OUTCOMES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15568"/>
            <a:ext cx="65836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Combined shock to November incident-base cash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90472"/>
            <a:ext cx="2788920" cy="502920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54480"/>
            <a:ext cx="260603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Stress 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5848" y="1490472"/>
            <a:ext cx="1298448" cy="502920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1554480"/>
            <a:ext cx="11155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Cash impact
(USDm)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490472"/>
            <a:ext cx="4005072" cy="502920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1554480"/>
            <a:ext cx="3822191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What changes in the 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993391"/>
            <a:ext cx="2788920" cy="530352"/>
          </a:xfrm>
          <a:prstGeom prst="rect">
            <a:avLst/>
          </a:prstGeom>
          <a:solidFill>
            <a:srgbClr val="FFFFF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066543"/>
            <a:ext cx="260603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Settlement accelerated / increased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5848" y="1993391"/>
            <a:ext cx="1298448" cy="530352"/>
          </a:xfrm>
          <a:prstGeom prst="rect">
            <a:avLst/>
          </a:prstGeom>
          <a:solidFill>
            <a:srgbClr val="FFFFF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7288" y="2066543"/>
            <a:ext cx="11155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-50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54296" y="1993391"/>
            <a:ext cx="4005072" cy="530352"/>
          </a:xfrm>
          <a:prstGeom prst="rect">
            <a:avLst/>
          </a:prstGeom>
          <a:solidFill>
            <a:srgbClr val="FFFFF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45736" y="2066543"/>
            <a:ext cx="3822191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More cash is due on 30 Nov.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23744"/>
            <a:ext cx="2788920" cy="530352"/>
          </a:xfrm>
          <a:prstGeom prst="rect">
            <a:avLst/>
          </a:prstGeom>
          <a:solidFill>
            <a:srgbClr val="F0F2E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596896"/>
            <a:ext cx="260603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Collateral return delayed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55848" y="2523744"/>
            <a:ext cx="1298448" cy="530352"/>
          </a:xfrm>
          <a:prstGeom prst="rect">
            <a:avLst/>
          </a:prstGeom>
          <a:solidFill>
            <a:srgbClr val="F0F2E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47288" y="2596896"/>
            <a:ext cx="11155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-100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4296" y="2523744"/>
            <a:ext cx="4005072" cy="530352"/>
          </a:xfrm>
          <a:prstGeom prst="rect">
            <a:avLst/>
          </a:prstGeom>
          <a:solidFill>
            <a:srgbClr val="F0F2E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45736" y="2596896"/>
            <a:ext cx="3822191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Expected return shifts beyond the horizon.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054096"/>
            <a:ext cx="2788920" cy="530352"/>
          </a:xfrm>
          <a:prstGeom prst="rect">
            <a:avLst/>
          </a:prstGeom>
          <a:solidFill>
            <a:srgbClr val="FFFFF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127248"/>
            <a:ext cx="260603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Additional withdrawals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3054096"/>
            <a:ext cx="1298448" cy="530352"/>
          </a:xfrm>
          <a:prstGeom prst="rect">
            <a:avLst/>
          </a:prstGeom>
          <a:solidFill>
            <a:srgbClr val="FFFFF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3127248"/>
            <a:ext cx="11155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-100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54296" y="3054096"/>
            <a:ext cx="4005072" cy="530352"/>
          </a:xfrm>
          <a:prstGeom prst="rect">
            <a:avLst/>
          </a:prstGeom>
          <a:solidFill>
            <a:srgbClr val="FFFFF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45736" y="3127248"/>
            <a:ext cx="3822191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Incremental customer outflow on 30 Nov.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584447"/>
            <a:ext cx="2788920" cy="530352"/>
          </a:xfrm>
          <a:prstGeom prst="rect">
            <a:avLst/>
          </a:prstGeom>
          <a:solidFill>
            <a:srgbClr val="F0F2E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657599"/>
            <a:ext cx="260603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Funding rollover not renewed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55848" y="3584447"/>
            <a:ext cx="1298448" cy="530352"/>
          </a:xfrm>
          <a:prstGeom prst="rect">
            <a:avLst/>
          </a:prstGeom>
          <a:solidFill>
            <a:srgbClr val="F0F2E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47288" y="3657599"/>
            <a:ext cx="11155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-50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54296" y="3584447"/>
            <a:ext cx="4005072" cy="530352"/>
          </a:xfrm>
          <a:prstGeom prst="rect">
            <a:avLst/>
          </a:prstGeom>
          <a:solidFill>
            <a:srgbClr val="F0F2EF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5736" y="3657599"/>
            <a:ext cx="3822191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18232B"/>
                </a:solidFill>
                <a:latin typeface="Arial"/>
              </a:rPr>
              <a:t>A maturing source is unavailable.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14800"/>
            <a:ext cx="2788920" cy="530352"/>
          </a:xfrm>
          <a:prstGeom prst="rect">
            <a:avLst/>
          </a:prstGeom>
          <a:solidFill>
            <a:srgbClr val="F6E2E3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187952"/>
            <a:ext cx="260603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TOTAL CASH SHOCK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55848" y="4114800"/>
            <a:ext cx="1298448" cy="530352"/>
          </a:xfrm>
          <a:prstGeom prst="rect">
            <a:avLst/>
          </a:prstGeom>
          <a:solidFill>
            <a:srgbClr val="F6E2E3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47288" y="4187952"/>
            <a:ext cx="111556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-300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54296" y="4114800"/>
            <a:ext cx="4005072" cy="530352"/>
          </a:xfrm>
          <a:prstGeom prst="rect">
            <a:avLst/>
          </a:prstGeom>
          <a:solidFill>
            <a:srgbClr val="F6E2E3"/>
          </a:solidFill>
          <a:ln w="698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5736" y="4187952"/>
            <a:ext cx="3822191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Applied to assumed November incident-base close of $849m → $549m.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89720" y="1490472"/>
            <a:ext cx="2523744" cy="3154680"/>
          </a:xfrm>
          <a:prstGeom prst="rect">
            <a:avLst/>
          </a:prstGeom>
          <a:solidFill>
            <a:srgbClr val="F8F0D9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54312" y="1682496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8232B"/>
                </a:solidFill>
                <a:latin typeface="Arial"/>
              </a:rPr>
              <a:t>LIQUIDITY SOURCE TEST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54312" y="2112264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8747B"/>
                </a:solidFill>
                <a:latin typeface="Arial"/>
              </a:rPr>
              <a:t>Assumed line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05288" y="209397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18232B"/>
                </a:solidFill>
                <a:latin typeface="Arial"/>
              </a:rPr>
              <a:t>$200m · T+2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354312" y="2395728"/>
            <a:ext cx="2185416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9381744" y="2651760"/>
            <a:ext cx="164592" cy="164592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65208" y="2606040"/>
            <a:ext cx="74980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25 Nov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15016" y="2606040"/>
            <a:ext cx="109728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Trigger</a:t>
            </a:r>
          </a:p>
        </p:txBody>
      </p:sp>
      <p:sp>
        <p:nvSpPr>
          <p:cNvPr id="55" name="Oval 54"/>
          <p:cNvSpPr/>
          <p:nvPr/>
        </p:nvSpPr>
        <p:spPr>
          <a:xfrm>
            <a:off x="9381744" y="3182112"/>
            <a:ext cx="164592" cy="164592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65208" y="3136392"/>
            <a:ext cx="74980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29 Nov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15016" y="3136392"/>
            <a:ext cx="109728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Illustrative arrival</a:t>
            </a:r>
          </a:p>
        </p:txBody>
      </p:sp>
      <p:sp>
        <p:nvSpPr>
          <p:cNvPr id="58" name="Oval 57"/>
          <p:cNvSpPr/>
          <p:nvPr/>
        </p:nvSpPr>
        <p:spPr>
          <a:xfrm>
            <a:off x="9381744" y="3712463"/>
            <a:ext cx="164592" cy="164592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65208" y="3666744"/>
            <a:ext cx="74980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30 Nov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5016" y="3666744"/>
            <a:ext cx="109728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First buffer breach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54312" y="4251960"/>
            <a:ext cx="219456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82036"/>
                </a:solidFill>
                <a:latin typeface="Arial"/>
              </a:rPr>
              <a:t>Late arrival cannot prevent the first shortfall.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66928" y="5001768"/>
            <a:ext cx="11146536" cy="0"/>
          </a:xfrm>
          <a:prstGeom prst="line">
            <a:avLst/>
          </a:prstGeom>
          <a:ln w="1016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0080" y="5212080"/>
            <a:ext cx="11430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82036"/>
                </a:solidFill>
                <a:latin typeface="Arial"/>
              </a:rPr>
              <a:t>30 NOV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468112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232B"/>
                </a:solidFill>
                <a:latin typeface="Arial"/>
              </a:rPr>
              <a:t>$549m cash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20" y="5477256"/>
            <a:ext cx="168249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8747B"/>
                </a:solidFill>
                <a:latin typeface="Arial"/>
              </a:rPr>
              <a:t>$151m below buffer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133087" y="5212080"/>
            <a:ext cx="0" cy="667512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407408" y="5212080"/>
            <a:ext cx="11430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82036"/>
                </a:solidFill>
                <a:latin typeface="Arial"/>
              </a:rPr>
              <a:t>14 DEC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468112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232B"/>
                </a:solidFill>
                <a:latin typeface="Arial"/>
              </a:rPr>
              <a:t>$524m cash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7648" y="5477256"/>
            <a:ext cx="168249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8747B"/>
                </a:solidFill>
                <a:latin typeface="Arial"/>
              </a:rPr>
              <a:t>$176m peak need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900416" y="5212080"/>
            <a:ext cx="0" cy="667512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174736" y="5212080"/>
            <a:ext cx="11430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008F72"/>
                </a:solidFill>
                <a:latin typeface="Arial"/>
              </a:rPr>
              <a:t>MITIGATION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74736" y="5468112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232B"/>
                </a:solidFill>
                <a:latin typeface="Arial"/>
              </a:rPr>
              <a:t>Trigger by 25 Nov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94976" y="5477256"/>
            <a:ext cx="168249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8747B"/>
                </a:solidFill>
                <a:latin typeface="Arial"/>
              </a:rPr>
              <a:t>Verify source / collateral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216" y="6126480"/>
            <a:ext cx="109728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Assumed facility timing and stress inputs must be validated. A delayed funding source is tested as a timing failure, not counted as cash.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3.1  ·  LIKELIHOOD ×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RESIDUAL RATINGS ARE ANALYST JUDGEMENTS FOR THE THREE-MONTH HORIZON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1572768"/>
            <a:ext cx="1188720" cy="1188720"/>
          </a:xfrm>
          <a:prstGeom prst="rect">
            <a:avLst/>
          </a:prstGeom>
          <a:solidFill>
            <a:srgbClr val="F7E4E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18488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572768"/>
            <a:ext cx="1188720" cy="1188720"/>
          </a:xfrm>
          <a:prstGeom prst="rect">
            <a:avLst/>
          </a:prstGeom>
          <a:solidFill>
            <a:srgbClr val="F3D7D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85416" y="1618488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1572768"/>
            <a:ext cx="1188720" cy="1188720"/>
          </a:xfrm>
          <a:prstGeom prst="rect">
            <a:avLst/>
          </a:prstGeom>
          <a:solidFill>
            <a:srgbClr val="EDC4C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1618488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" y="2798064"/>
            <a:ext cx="1188720" cy="1188720"/>
          </a:xfrm>
          <a:prstGeom prst="rect">
            <a:avLst/>
          </a:prstGeom>
          <a:solidFill>
            <a:srgbClr val="F5EDD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843784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08" y="2798064"/>
            <a:ext cx="1188720" cy="1188720"/>
          </a:xfrm>
          <a:prstGeom prst="rect">
            <a:avLst/>
          </a:prstGeom>
          <a:solidFill>
            <a:srgbClr val="EFE2B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85416" y="2843784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798064"/>
            <a:ext cx="1188720" cy="1188720"/>
          </a:xfrm>
          <a:prstGeom prst="rect">
            <a:avLst/>
          </a:prstGeom>
          <a:solidFill>
            <a:srgbClr val="E9D3B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2843784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4023360"/>
            <a:ext cx="1188720" cy="1188720"/>
          </a:xfrm>
          <a:prstGeom prst="rect">
            <a:avLst/>
          </a:prstGeom>
          <a:solidFill>
            <a:srgbClr val="E5EEE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069080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08" y="4023360"/>
            <a:ext cx="1188720" cy="1188720"/>
          </a:xfrm>
          <a:prstGeom prst="rect">
            <a:avLst/>
          </a:prstGeom>
          <a:solidFill>
            <a:srgbClr val="E9EDD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85416" y="4069080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46704" y="4023360"/>
            <a:ext cx="1188720" cy="1188720"/>
          </a:xfrm>
          <a:prstGeom prst="rect">
            <a:avLst/>
          </a:prstGeom>
          <a:solidFill>
            <a:srgbClr val="F3E9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4069080"/>
            <a:ext cx="164592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" y="2011680"/>
            <a:ext cx="6675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LIKELY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" y="3236976"/>
            <a:ext cx="6675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POSSIBLE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" y="4462272"/>
            <a:ext cx="6675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UNLIKELY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5266944"/>
            <a:ext cx="118872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8232B"/>
                </a:solidFill>
                <a:latin typeface="Arial"/>
              </a:rPr>
              <a:t>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21408" y="5266944"/>
            <a:ext cx="118872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8232B"/>
                </a:solidFill>
                <a:latin typeface="Arial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46704" y="5266944"/>
            <a:ext cx="118872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8232B"/>
                </a:solidFill>
                <a:latin typeface="Arial"/>
              </a:rP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" y="1307592"/>
            <a:ext cx="658368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LIKELIHOOD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28216" y="5504688"/>
            <a:ext cx="10972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8747B"/>
                </a:solidFill>
                <a:latin typeface="Arial"/>
              </a:rPr>
              <a:t>IMPACT</a:t>
            </a:r>
          </a:p>
        </p:txBody>
      </p:sp>
      <p:sp>
        <p:nvSpPr>
          <p:cNvPr id="36" name="Oval 35"/>
          <p:cNvSpPr/>
          <p:nvPr/>
        </p:nvSpPr>
        <p:spPr>
          <a:xfrm>
            <a:off x="3584448" y="3118103"/>
            <a:ext cx="219456" cy="21945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448" y="3154679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O</a:t>
            </a:r>
          </a:p>
        </p:txBody>
      </p:sp>
      <p:sp>
        <p:nvSpPr>
          <p:cNvPr id="38" name="Oval 37"/>
          <p:cNvSpPr/>
          <p:nvPr/>
        </p:nvSpPr>
        <p:spPr>
          <a:xfrm>
            <a:off x="3831336" y="3118103"/>
            <a:ext cx="219456" cy="219456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31336" y="3154679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L</a:t>
            </a:r>
          </a:p>
        </p:txBody>
      </p:sp>
      <p:sp>
        <p:nvSpPr>
          <p:cNvPr id="40" name="Oval 39"/>
          <p:cNvSpPr/>
          <p:nvPr/>
        </p:nvSpPr>
        <p:spPr>
          <a:xfrm>
            <a:off x="4078224" y="3118103"/>
            <a:ext cx="219456" cy="219456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78224" y="3154679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42" name="Oval 41"/>
          <p:cNvSpPr/>
          <p:nvPr/>
        </p:nvSpPr>
        <p:spPr>
          <a:xfrm>
            <a:off x="2359152" y="3438144"/>
            <a:ext cx="219456" cy="219456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59152" y="3474720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44" name="Oval 43"/>
          <p:cNvSpPr/>
          <p:nvPr/>
        </p:nvSpPr>
        <p:spPr>
          <a:xfrm>
            <a:off x="2606040" y="3438144"/>
            <a:ext cx="219456" cy="219456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06040" y="3474720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46" name="Oval 45"/>
          <p:cNvSpPr/>
          <p:nvPr/>
        </p:nvSpPr>
        <p:spPr>
          <a:xfrm>
            <a:off x="2852928" y="3438144"/>
            <a:ext cx="219456" cy="219456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52928" y="3474720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G</a:t>
            </a:r>
          </a:p>
        </p:txBody>
      </p:sp>
      <p:sp>
        <p:nvSpPr>
          <p:cNvPr id="48" name="Oval 47"/>
          <p:cNvSpPr/>
          <p:nvPr/>
        </p:nvSpPr>
        <p:spPr>
          <a:xfrm>
            <a:off x="2606040" y="4507992"/>
            <a:ext cx="219456" cy="219456"/>
          </a:xfrm>
          <a:prstGeom prst="ellipse">
            <a:avLst/>
          </a:prstGeom>
          <a:solidFill>
            <a:srgbClr val="4F8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06040" y="4544568"/>
            <a:ext cx="219456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92040" y="1481328"/>
            <a:ext cx="1645920" cy="429768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65192" y="1536192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59" y="1481328"/>
            <a:ext cx="758952" cy="429768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11112" y="1536192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Likelihood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96912" y="1481328"/>
            <a:ext cx="685800" cy="429768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70063" y="1536192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Impact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82712" y="1481328"/>
            <a:ext cx="713232" cy="429768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55864" y="1536192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95944" y="1481328"/>
            <a:ext cx="2971800" cy="429768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69096" y="1536192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92040" y="1911095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5192" y="1965960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Operational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37959" y="1911095"/>
            <a:ext cx="7589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11112" y="1965960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96912" y="1911095"/>
            <a:ext cx="685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70063" y="1965960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982712" y="1911095"/>
            <a:ext cx="7132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55864" y="1965960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82036"/>
                </a:solidFill>
                <a:latin typeface="Arial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95944" y="1911095"/>
            <a:ext cx="2971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69096" y="1965960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Open breaks can hide positions.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92040" y="2350008"/>
            <a:ext cx="164592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65192" y="2404872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Liquidity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37959" y="2350008"/>
            <a:ext cx="758952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11112" y="2404872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96912" y="2350008"/>
            <a:ext cx="68580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70063" y="2404872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982712" y="2350008"/>
            <a:ext cx="713232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55864" y="2404872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82036"/>
                </a:solidFill>
                <a:latin typeface="Arial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695944" y="2350008"/>
            <a:ext cx="297180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69096" y="2404872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Settlement / collateral vs buffer.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2788920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65192" y="2843784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Market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37959" y="2788920"/>
            <a:ext cx="7589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11112" y="2843784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96912" y="2788920"/>
            <a:ext cx="685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70063" y="2843784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82712" y="2788920"/>
            <a:ext cx="7132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55864" y="2843784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18232B"/>
                </a:solidFill>
                <a:latin typeface="Arial"/>
              </a:rPr>
              <a:t>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695944" y="2788920"/>
            <a:ext cx="2971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69096" y="2843784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Adverse move before close-out.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892040" y="3227832"/>
            <a:ext cx="164592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65192" y="3282696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Counterparty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37959" y="3227832"/>
            <a:ext cx="758952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11112" y="3282696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296912" y="3227832"/>
            <a:ext cx="68580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370063" y="3282696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982712" y="3227832"/>
            <a:ext cx="713232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5864" y="3282696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18232B"/>
                </a:solidFill>
                <a:latin typeface="Arial"/>
              </a:rP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695944" y="3227832"/>
            <a:ext cx="297180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69096" y="3282696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Delayed collateral / receivable.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892040" y="3666744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965192" y="3721607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Funding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37959" y="3666744"/>
            <a:ext cx="7589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11112" y="3721607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296912" y="3666744"/>
            <a:ext cx="685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70063" y="3721607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982712" y="3666744"/>
            <a:ext cx="7132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55864" y="3721607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82036"/>
                </a:solidFill>
                <a:latin typeface="Arial"/>
              </a:rPr>
              <a:t>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95944" y="3666744"/>
            <a:ext cx="2971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769096" y="3721607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Maturity may not roll.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892040" y="4105656"/>
            <a:ext cx="164592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65192" y="4160520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Reputational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37959" y="4105656"/>
            <a:ext cx="758952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611112" y="4160520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296912" y="4105656"/>
            <a:ext cx="68580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70063" y="4160520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82712" y="4105656"/>
            <a:ext cx="713232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55864" y="4160520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695944" y="4105656"/>
            <a:ext cx="2971800" cy="438912"/>
          </a:xfrm>
          <a:prstGeom prst="rect">
            <a:avLst/>
          </a:prstGeom>
          <a:solidFill>
            <a:srgbClr val="F0F2E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769096" y="4160520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Outflows or tighter terms.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892040" y="4544568"/>
            <a:ext cx="1645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65192" y="4599431"/>
            <a:ext cx="1499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Legal / regulatory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537959" y="4544568"/>
            <a:ext cx="7589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11112" y="4599431"/>
            <a:ext cx="612647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296912" y="4544568"/>
            <a:ext cx="685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370063" y="4599431"/>
            <a:ext cx="539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982712" y="4544568"/>
            <a:ext cx="7132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55864" y="4599431"/>
            <a:ext cx="56692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18232B"/>
                </a:solidFill>
                <a:latin typeface="Arial"/>
              </a:rPr>
              <a:t>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695944" y="4544568"/>
            <a:ext cx="2971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769096" y="4599431"/>
            <a:ext cx="2825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8232B"/>
                </a:solidFill>
                <a:latin typeface="Arial"/>
              </a:rPr>
              <a:t>Investigation / remediation.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93208" y="5193792"/>
            <a:ext cx="64008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Priorities: operational control, liquidity-buffer breach and funding rollover. Re-score after close-out.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6928" y="6044184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Illustrative ratings, not UBS / regulator scores. L=likelihood; I=impact; score=L×I. Define impact using the approved buffer; the 25% threshold is proposed, not UBS policy.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CFO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3.2  ·  THREE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OWNERS · DEADLINES · EXPECTED BENEFITS · PRACTICAL FALLBACKS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097280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Decision rule: preserve payment capacity; activate funding before a verified forecast shows a buffer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1828800" cy="512064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45920"/>
            <a:ext cx="1645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PILLAR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572768"/>
            <a:ext cx="1828800" cy="512064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7168" y="1645920"/>
            <a:ext cx="1645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ACCOUNTABLE 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1572768"/>
            <a:ext cx="1417320" cy="512064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645920"/>
            <a:ext cx="12344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DEADLINE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41848" y="1572768"/>
            <a:ext cx="3291840" cy="512064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1645920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DELIVERABLE / BENEFIT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33688" y="1572768"/>
            <a:ext cx="2606040" cy="512064"/>
          </a:xfrm>
          <a:prstGeom prst="rect">
            <a:avLst/>
          </a:prstGeom>
          <a:solidFill>
            <a:srgbClr val="18232B"/>
          </a:solidFill>
          <a:ln w="10160">
            <a:solidFill>
              <a:srgbClr val="18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1645920"/>
            <a:ext cx="242316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CONSTRAINT /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084832"/>
            <a:ext cx="182880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2176272"/>
            <a:ext cx="162763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01 · Liquidity
protection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95728" y="2084832"/>
            <a:ext cx="182880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96312" y="2176272"/>
            <a:ext cx="162763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Group Treasurer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2084832"/>
            <a:ext cx="141732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25112" y="2176272"/>
            <a:ext cx="121615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Initial view
within 24h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41848" y="2084832"/>
            <a:ext cx="329184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176272"/>
            <a:ext cx="309067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Dated 13-week cash forecast; verify accessible headroom and stage funding ahead of breach.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3688" y="2084832"/>
            <a:ext cx="260604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34272" y="2176272"/>
            <a:ext cx="240487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Confirm availability, collateral eligibility, lead time and cost; use only verified fallback.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136392"/>
            <a:ext cx="1828800" cy="1051560"/>
          </a:xfrm>
          <a:prstGeom prst="rect">
            <a:avLst/>
          </a:prstGeom>
          <a:solidFill>
            <a:srgbClr val="F0F2E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" y="3227832"/>
            <a:ext cx="162763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287FA8"/>
                </a:solidFill>
                <a:latin typeface="Arial"/>
              </a:rPr>
              <a:t>02 · Exposure
containment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95728" y="3136392"/>
            <a:ext cx="1828800" cy="1051560"/>
          </a:xfrm>
          <a:prstGeom prst="rect">
            <a:avLst/>
          </a:prstGeom>
          <a:solidFill>
            <a:srgbClr val="F0F2E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96312" y="3227832"/>
            <a:ext cx="162763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IB COO + Market Risk
+ Treasury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3136392"/>
            <a:ext cx="1417320" cy="1051560"/>
          </a:xfrm>
          <a:prstGeom prst="rect">
            <a:avLst/>
          </a:prstGeom>
          <a:solidFill>
            <a:srgbClr val="F0F2E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5112" y="3227832"/>
            <a:ext cx="121615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Immediate; daily
until reconciled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41848" y="3136392"/>
            <a:ext cx="3291840" cy="1051560"/>
          </a:xfrm>
          <a:prstGeom prst="rect">
            <a:avLst/>
          </a:prstGeom>
          <a:solidFill>
            <a:srgbClr val="F0F2E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2432" y="3227832"/>
            <a:ext cx="309067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Independent position match; resolve settlement and collateral breaks. Benefit: bound uncertainty.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33688" y="3136392"/>
            <a:ext cx="2606040" cy="1051560"/>
          </a:xfrm>
          <a:prstGeom prst="rect">
            <a:avLst/>
          </a:prstGeom>
          <a:solidFill>
            <a:srgbClr val="F0F2E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34272" y="3227832"/>
            <a:ext cx="240487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Close-out cost / cash release only when confirmed; keep conservative overlay until then.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87952"/>
            <a:ext cx="182880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4279392"/>
            <a:ext cx="162763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03 · Governance
&amp; controls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95728" y="4187952"/>
            <a:ext cx="182880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96312" y="4279392"/>
            <a:ext cx="162763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CRO + IB COO;
Internal Audit validates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24528" y="4187952"/>
            <a:ext cx="141732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25112" y="4279392"/>
            <a:ext cx="121615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Interim now;
programme by 14 Dec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41848" y="4187952"/>
            <a:ext cx="329184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42432" y="4279392"/>
            <a:ext cx="309067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Dual verification, named break ownership and escalation. Benefit: detect exceptions earlier.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33688" y="4187952"/>
            <a:ext cx="2606040" cy="1051560"/>
          </a:xfrm>
          <a:prstGeom prst="rect">
            <a:avLst/>
          </a:prstGeom>
          <a:solidFill>
            <a:srgbClr val="FFFFFF"/>
          </a:solidFill>
          <a:ln w="8255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34272" y="4279392"/>
            <a:ext cx="2404872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18232B"/>
                </a:solidFill>
                <a:latin typeface="Arial"/>
              </a:rPr>
              <a:t>Manual dual sign-off until system controls and access are remediated.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5577840"/>
            <a:ext cx="96012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82036"/>
                </a:solidFill>
                <a:latin typeface="Arial"/>
              </a:rPr>
              <a:t>MONITOR</a:t>
            </a:r>
          </a:p>
        </p:txBody>
      </p:sp>
      <p:sp>
        <p:nvSpPr>
          <p:cNvPr id="52" name="Oval 51"/>
          <p:cNvSpPr/>
          <p:nvPr/>
        </p:nvSpPr>
        <p:spPr>
          <a:xfrm>
            <a:off x="1755648" y="5504688"/>
            <a:ext cx="146304" cy="146304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84248" y="5458968"/>
            <a:ext cx="267004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Accessible cash vs buffer</a:t>
            </a:r>
          </a:p>
        </p:txBody>
      </p:sp>
      <p:sp>
        <p:nvSpPr>
          <p:cNvPr id="54" name="Oval 53"/>
          <p:cNvSpPr/>
          <p:nvPr/>
        </p:nvSpPr>
        <p:spPr>
          <a:xfrm>
            <a:off x="4956048" y="5504688"/>
            <a:ext cx="146304" cy="146304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84648" y="5458968"/>
            <a:ext cx="267004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Unmatched trades / collateral</a:t>
            </a:r>
          </a:p>
        </p:txBody>
      </p:sp>
      <p:sp>
        <p:nvSpPr>
          <p:cNvPr id="56" name="Oval 55"/>
          <p:cNvSpPr/>
          <p:nvPr/>
        </p:nvSpPr>
        <p:spPr>
          <a:xfrm>
            <a:off x="8366760" y="5504688"/>
            <a:ext cx="146304" cy="146304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95360" y="5458968"/>
            <a:ext cx="267004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Funding arrival confirmed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" y="5989320"/>
            <a:ext cx="10972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Use internal Treasury records for real balances; public sources do not establish UBS’s actual daily funding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· Treasury Response</dc:title>
  <dc:subject>Eight-slide, report-aligned UBS Treasury presentation; Excel/Python-style model outputs</dc:subject>
  <dc:creator>Corporate Treasury Management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