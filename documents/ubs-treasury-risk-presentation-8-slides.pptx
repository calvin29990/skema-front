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-report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4" y="0"/>
            <a:ext cx="121491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three-panel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72"/>
            <a:ext cx="12191999" cy="68324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FROM CONTROL FAILURE TO TREASURY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1.3  ·  FAILED CONTROLS &amp; CASH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THE BRIDGE: HIDDEN POSITIONS → CASH IMPACT → LIQUIDITY PRESSURE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2834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0A985"/>
                </a:solidFill>
                <a:latin typeface="Arial"/>
              </a:rPr>
              <a:t>CENTRAL TREASURY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1143000"/>
            <a:ext cx="8339327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18232B"/>
                </a:solidFill>
                <a:latin typeface="Arial"/>
              </a:rPr>
              <a:t>How can UBS preserve liquidity and meet payments over the next three months?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7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7" y="1938528"/>
            <a:ext cx="1353312" cy="5486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6695" y="2167128"/>
            <a:ext cx="457200" cy="45720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CONTROL
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Verification gaps</a:t>
            </a:r>
          </a:p>
        </p:txBody>
      </p:sp>
      <p:sp>
        <p:nvSpPr>
          <p:cNvPr id="18" name="Chevron 17"/>
          <p:cNvSpPr/>
          <p:nvPr/>
        </p:nvSpPr>
        <p:spPr>
          <a:xfrm>
            <a:off x="1929384" y="2788920"/>
            <a:ext cx="146304" cy="201168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12264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12264" y="1938528"/>
            <a:ext cx="1353312" cy="54864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87752" y="2167128"/>
            <a:ext cx="457200" cy="457200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7752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1992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HIDDEN
POSITIONS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3704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False offsets</a:t>
            </a:r>
          </a:p>
        </p:txBody>
      </p:sp>
      <p:sp>
        <p:nvSpPr>
          <p:cNvPr id="25" name="Chevron 24"/>
          <p:cNvSpPr/>
          <p:nvPr/>
        </p:nvSpPr>
        <p:spPr>
          <a:xfrm>
            <a:off x="3520440" y="2788920"/>
            <a:ext cx="146304" cy="201168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03320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03320" y="1938528"/>
            <a:ext cx="1353312" cy="5486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78808" y="2167128"/>
            <a:ext cx="457200" cy="45720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8808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048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TRADING
LOSSES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59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USD 2.3bn</a:t>
            </a:r>
          </a:p>
        </p:txBody>
      </p:sp>
      <p:sp>
        <p:nvSpPr>
          <p:cNvPr id="32" name="Chevron 31"/>
          <p:cNvSpPr/>
          <p:nvPr/>
        </p:nvSpPr>
        <p:spPr>
          <a:xfrm>
            <a:off x="5111495" y="2788920"/>
            <a:ext cx="146304" cy="201168"/>
          </a:xfrm>
          <a:prstGeom prst="chevron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94376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294376" y="1938528"/>
            <a:ext cx="1353312" cy="54864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69864" y="2167128"/>
            <a:ext cx="457200" cy="457200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9864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4104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SETTLEMENT
OBLIGATIONS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5816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Dated cash due</a:t>
            </a:r>
          </a:p>
        </p:txBody>
      </p:sp>
      <p:sp>
        <p:nvSpPr>
          <p:cNvPr id="39" name="Chevron 38"/>
          <p:cNvSpPr/>
          <p:nvPr/>
        </p:nvSpPr>
        <p:spPr>
          <a:xfrm>
            <a:off x="6702551" y="2788920"/>
            <a:ext cx="146304" cy="201168"/>
          </a:xfrm>
          <a:prstGeom prst="chevron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85432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85432" y="1938528"/>
            <a:ext cx="1353312" cy="54864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60920" y="2167128"/>
            <a:ext cx="457200" cy="457200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COLLATERAL
CALLS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6872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Calls / delayed returns</a:t>
            </a:r>
          </a:p>
        </p:txBody>
      </p:sp>
      <p:sp>
        <p:nvSpPr>
          <p:cNvPr id="46" name="Chevron 45"/>
          <p:cNvSpPr/>
          <p:nvPr/>
        </p:nvSpPr>
        <p:spPr>
          <a:xfrm>
            <a:off x="8293608" y="2788920"/>
            <a:ext cx="146304" cy="201168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6488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76488" y="1938528"/>
            <a:ext cx="1353312" cy="5486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951976" y="2167128"/>
            <a:ext cx="457200" cy="45720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1976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86215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LIQUIDITY
PRESSURE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Buffer erosion</a:t>
            </a:r>
          </a:p>
        </p:txBody>
      </p:sp>
      <p:sp>
        <p:nvSpPr>
          <p:cNvPr id="53" name="Chevron 52"/>
          <p:cNvSpPr/>
          <p:nvPr/>
        </p:nvSpPr>
        <p:spPr>
          <a:xfrm>
            <a:off x="9884664" y="2788920"/>
            <a:ext cx="146304" cy="201168"/>
          </a:xfrm>
          <a:prstGeom prst="chevron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067544" y="1938528"/>
            <a:ext cx="1353312" cy="1865376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67544" y="1938528"/>
            <a:ext cx="1353312" cy="54864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543032" y="2167128"/>
            <a:ext cx="457200" cy="457200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43032" y="2276856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77272" y="2743200"/>
            <a:ext cx="113385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FUNDING
REQUIREMENT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58984" y="3328416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A9B0B2"/>
                </a:solidFill>
                <a:latin typeface="Arial"/>
              </a:rPr>
              <a:t>Timing gap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315968"/>
            <a:ext cx="11018520" cy="713232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8" y="4425696"/>
            <a:ext cx="230428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C82036"/>
                </a:solidFill>
                <a:latin typeface="Arial"/>
              </a:rPr>
              <a:t>OPERATIONAL EVENT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4672584"/>
            <a:ext cx="230428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control failure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31920" y="4425696"/>
            <a:ext cx="230428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2E91C1"/>
                </a:solidFill>
                <a:latin typeface="Arial"/>
              </a:rPr>
              <a:t>CASH TRANSMISSION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31920" y="4672584"/>
            <a:ext cx="230428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settlement + collateral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33488" y="4425696"/>
            <a:ext cx="230428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00A985"/>
                </a:solidFill>
                <a:latin typeface="Arial"/>
              </a:rPr>
              <a:t>TREASURY RESPONSE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3488" y="4672584"/>
            <a:ext cx="230428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forecast + funding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5504688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A headline trading loss is not itself the day-one cash need; the Treasury problem is the timing and location of obligations.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6108192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Sources: FINMA 2012 §§23–41; FSA 2012 §§26–42. Potential channels are not asserted historical cash movements.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INCIDENT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DISCOVERY, CONTAINMENT &amp; FOLLOW-THROUGH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FOUR PHASES FROM 14 SEPTEMBER 2011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1956816"/>
            <a:ext cx="7808976" cy="0"/>
          </a:xfrm>
          <a:prstGeom prst="line">
            <a:avLst/>
          </a:prstGeom>
          <a:ln w="38100">
            <a:solidFill>
              <a:srgbClr val="CFD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316736" y="1837943"/>
            <a:ext cx="237744" cy="23774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286000"/>
            <a:ext cx="1755648" cy="143560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286000"/>
            <a:ext cx="1755648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478024"/>
            <a:ext cx="15361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C82036"/>
                </a:solidFill>
                <a:latin typeface="Arial"/>
              </a:rPr>
              <a:t>14 SEP 2011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743200"/>
            <a:ext cx="153619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136392"/>
            <a:ext cx="153619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A9B0B2"/>
                </a:solidFill>
                <a:latin typeface="Arial"/>
              </a:rPr>
              <a:t>Unauthorised futures positions identified.</a:t>
            </a:r>
          </a:p>
        </p:txBody>
      </p:sp>
      <p:sp>
        <p:nvSpPr>
          <p:cNvPr id="17" name="Oval 16"/>
          <p:cNvSpPr/>
          <p:nvPr/>
        </p:nvSpPr>
        <p:spPr>
          <a:xfrm>
            <a:off x="3346704" y="1837943"/>
            <a:ext cx="237744" cy="237744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96896" y="2286000"/>
            <a:ext cx="1755648" cy="143560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96896" y="2286000"/>
            <a:ext cx="1755648" cy="4572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6624" y="2478024"/>
            <a:ext cx="15361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D6A600"/>
                </a:solidFill>
                <a:latin typeface="Arial"/>
              </a:rPr>
              <a:t>15 SEP 2011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743200"/>
            <a:ext cx="153619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Public announcement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3136392"/>
            <a:ext cx="153619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A9B0B2"/>
                </a:solidFill>
                <a:latin typeface="Arial"/>
              </a:rPr>
              <a:t>Initial loss estimate communicated.</a:t>
            </a:r>
          </a:p>
        </p:txBody>
      </p:sp>
      <p:sp>
        <p:nvSpPr>
          <p:cNvPr id="23" name="Oval 22"/>
          <p:cNvSpPr/>
          <p:nvPr/>
        </p:nvSpPr>
        <p:spPr>
          <a:xfrm>
            <a:off x="5376672" y="1837943"/>
            <a:ext cx="237744" cy="237744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26864" y="2286000"/>
            <a:ext cx="1755648" cy="143560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6864" y="2286000"/>
            <a:ext cx="1755648" cy="45720"/>
          </a:xfrm>
          <a:prstGeom prst="rect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6592" y="2478024"/>
            <a:ext cx="15361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E91C1"/>
                </a:solidFill>
                <a:latin typeface="Arial"/>
              </a:rPr>
              <a:t>FOLLOWING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592" y="2743200"/>
            <a:ext cx="153619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Containment &amp; hedging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6592" y="3136392"/>
            <a:ext cx="153619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A9B0B2"/>
                </a:solidFill>
                <a:latin typeface="Arial"/>
              </a:rPr>
              <a:t>Positions managed; exposure reviewed.</a:t>
            </a:r>
          </a:p>
        </p:txBody>
      </p:sp>
      <p:sp>
        <p:nvSpPr>
          <p:cNvPr id="29" name="Oval 28"/>
          <p:cNvSpPr/>
          <p:nvPr/>
        </p:nvSpPr>
        <p:spPr>
          <a:xfrm>
            <a:off x="7406640" y="1837943"/>
            <a:ext cx="237744" cy="237744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56832" y="2286000"/>
            <a:ext cx="1755648" cy="1435608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56832" y="2286000"/>
            <a:ext cx="1755648" cy="45720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478024"/>
            <a:ext cx="153619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A985"/>
                </a:solidFill>
                <a:latin typeface="Arial"/>
              </a:rPr>
              <a:t>FOLLOWING WEEKS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743200"/>
            <a:ext cx="153619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7F8F6"/>
                </a:solidFill>
                <a:latin typeface="Arial"/>
              </a:rPr>
              <a:t>Investigation &amp; remediation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136392"/>
            <a:ext cx="153619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A9B0B2"/>
                </a:solidFill>
                <a:latin typeface="Arial"/>
              </a:rPr>
              <a:t>Control failures examined.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417320"/>
            <a:ext cx="2852928" cy="1938528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1440" y="1490472"/>
            <a:ext cx="2665983" cy="149961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997696" y="3054096"/>
            <a:ext cx="2624328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737B80"/>
                </a:solidFill>
                <a:latin typeface="Arial"/>
              </a:rPr>
              <a:t>ILLUSTRATIVE CARTOON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87968" y="3675887"/>
            <a:ext cx="2852928" cy="832104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61704" y="3831336"/>
            <a:ext cx="248716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7F8F6"/>
                </a:solidFill>
                <a:latin typeface="Arial"/>
              </a:rPr>
              <a:t>UBS INVESTMENT BANK · LONDON ETF DESK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4965192"/>
            <a:ext cx="8001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Public announcement and subsequent response are distinct milestones.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5522976"/>
            <a:ext cx="8001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737B80"/>
                </a:solidFill>
                <a:latin typeface="Arial"/>
              </a:rPr>
              <a:t>Dates and descriptions follow the incident chronology in FINMA, FSA and UBS disclosures.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TREASURY LIQUIDITY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2.2  ·  CASH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ILLUSTRATIVE SCENARIO PATHS · USDm · NOT UBS ACTUAL CASH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80160"/>
            <a:ext cx="8869680" cy="498348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26463"/>
            <a:ext cx="40233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7F8F6"/>
                </a:solidFill>
                <a:latin typeface="Arial"/>
              </a:rPr>
              <a:t>CASH POSITION  /  USD MILLIONS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25295" y="5577840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5495544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500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25295" y="5061857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979561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600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25295" y="4545874"/>
            <a:ext cx="7936993" cy="0"/>
          </a:xfrm>
          <a:prstGeom prst="line">
            <a:avLst/>
          </a:prstGeom>
          <a:ln w="19050">
            <a:solidFill>
              <a:srgbClr val="D6A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463578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D6A600"/>
                </a:solidFill>
                <a:latin typeface="Arial"/>
              </a:rPr>
              <a:t>700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25295" y="4029891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947595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800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25295" y="3513908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431612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900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25295" y="2997925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2915629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1000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25295" y="2481942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2399646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1100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25295" y="1965960"/>
            <a:ext cx="7936993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1883664"/>
            <a:ext cx="4389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A9B0B2"/>
                </a:solidFill>
                <a:latin typeface="Arial"/>
              </a:rPr>
              <a:t>1200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335562"/>
            <a:ext cx="89611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6A600"/>
                </a:solidFill>
                <a:latin typeface="Arial"/>
              </a:rPr>
              <a:t>BUFFER 700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14 Sep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5531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9230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2929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6628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04027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7726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30 Sep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91425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Oct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5124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Nov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78824" y="5669279"/>
            <a:ext cx="56692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A9B0B2"/>
                </a:solidFill>
                <a:latin typeface="Arial"/>
              </a:rPr>
              <a:t>14 Dec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225295" y="2997925"/>
            <a:ext cx="793700" cy="51599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018995" y="3049524"/>
            <a:ext cx="793699" cy="25799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12694" y="3049524"/>
            <a:ext cx="793699" cy="25799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06393" y="3049524"/>
            <a:ext cx="793699" cy="25799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400092" y="3065003"/>
            <a:ext cx="793700" cy="10320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193792" y="3065003"/>
            <a:ext cx="793699" cy="15479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987491" y="2977286"/>
            <a:ext cx="793699" cy="103196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781190" y="2461303"/>
            <a:ext cx="793699" cy="515983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574889" y="2461303"/>
            <a:ext cx="793699" cy="257991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368588" y="2719294"/>
            <a:ext cx="793700" cy="154795"/>
          </a:xfrm>
          <a:prstGeom prst="line">
            <a:avLst/>
          </a:prstGeom>
          <a:ln w="2540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184148" y="2956777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77847" y="3008376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771546" y="3034175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65245" y="3008376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58944" y="3034175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152644" y="3023855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46343" y="3039334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40042" y="2936138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33741" y="2420155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327440" y="2678146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121140" y="2832941"/>
            <a:ext cx="82296" cy="82296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225295" y="2997925"/>
            <a:ext cx="793700" cy="438586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18995" y="3436511"/>
            <a:ext cx="793699" cy="567581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12694" y="4004092"/>
            <a:ext cx="793699" cy="154795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06393" y="4158887"/>
            <a:ext cx="793699" cy="51598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400092" y="4174366"/>
            <a:ext cx="793700" cy="36119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193792" y="4164046"/>
            <a:ext cx="793699" cy="10320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987491" y="4164046"/>
            <a:ext cx="793699" cy="25800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781190" y="3467470"/>
            <a:ext cx="793699" cy="722376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574889" y="3467470"/>
            <a:ext cx="793699" cy="309589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368588" y="3777059"/>
            <a:ext cx="793700" cy="128996"/>
          </a:xfrm>
          <a:prstGeom prst="line">
            <a:avLst/>
          </a:prstGeom>
          <a:ln w="2540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184148" y="2956777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977847" y="3395363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771546" y="3962944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565245" y="4117739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58944" y="4169337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152644" y="4133218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946343" y="4122898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740042" y="4148698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533741" y="3426322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327440" y="3735911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121140" y="3864907"/>
            <a:ext cx="82296" cy="82296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225295" y="2997925"/>
            <a:ext cx="793700" cy="438586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18995" y="3436511"/>
            <a:ext cx="793699" cy="567581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812694" y="4004092"/>
            <a:ext cx="793699" cy="154795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606393" y="4158887"/>
            <a:ext cx="793699" cy="51598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400092" y="4174366"/>
            <a:ext cx="793700" cy="36119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193792" y="4164046"/>
            <a:ext cx="793699" cy="1032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987491" y="4164046"/>
            <a:ext cx="793699" cy="2580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781190" y="3467470"/>
            <a:ext cx="793699" cy="722376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574889" y="3467470"/>
            <a:ext cx="793699" cy="1857538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368588" y="5325008"/>
            <a:ext cx="793700" cy="128996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1184148" y="2956777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77847" y="3395363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71546" y="3962944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65245" y="4117739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358944" y="4169337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152644" y="4133218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6343" y="4122898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40042" y="4148698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533741" y="3426322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27440" y="5283860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121140" y="5412856"/>
            <a:ext cx="82296" cy="8229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298448" y="5980175"/>
            <a:ext cx="256032" cy="0"/>
          </a:xfrm>
          <a:prstGeom prst="line">
            <a:avLst/>
          </a:prstGeom>
          <a:ln w="2794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609344" y="5888736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7F8F6"/>
                </a:solidFill>
                <a:latin typeface="Arial"/>
              </a:rPr>
              <a:t>NO INCIDENT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419856" y="5980175"/>
            <a:ext cx="256031" cy="0"/>
          </a:xfrm>
          <a:prstGeom prst="line">
            <a:avLst/>
          </a:prstGeom>
          <a:ln w="27940">
            <a:solidFill>
              <a:srgbClr val="2E91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730752" y="5888736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7F8F6"/>
                </a:solidFill>
                <a:latin typeface="Arial"/>
              </a:rPr>
              <a:t>INCIDENT BASE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541264" y="5980175"/>
            <a:ext cx="256032" cy="0"/>
          </a:xfrm>
          <a:prstGeom prst="line">
            <a:avLst/>
          </a:prstGeom>
          <a:ln w="2794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852159" y="5888736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7F8F6"/>
                </a:solidFill>
                <a:latin typeface="Arial"/>
              </a:rPr>
              <a:t>COMBINED STRESS</a:t>
            </a:r>
          </a:p>
        </p:txBody>
      </p:sp>
      <p:cxnSp>
        <p:nvCxnSpPr>
          <p:cNvPr id="109" name="Connector 108"/>
          <p:cNvCxnSpPr/>
          <p:nvPr/>
        </p:nvCxnSpPr>
        <p:spPr>
          <a:xfrm flipV="1">
            <a:off x="9272015" y="4545874"/>
            <a:ext cx="0" cy="90813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8586215" y="4951084"/>
            <a:ext cx="64008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82036"/>
                </a:solidFill>
                <a:latin typeface="Arial"/>
              </a:rPr>
              <a:t>$176m
peak gap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1280160"/>
            <a:ext cx="2103120" cy="4983480"/>
          </a:xfrm>
          <a:prstGeom prst="rect">
            <a:avLst/>
          </a:prstGeom>
          <a:solidFill>
            <a:srgbClr val="191E21"/>
          </a:solidFill>
          <a:ln w="10160">
            <a:solidFill>
              <a:srgbClr val="343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646920" y="1280160"/>
            <a:ext cx="2103120" cy="45720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20656" y="1490472"/>
            <a:ext cx="17556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F7F8F6"/>
                </a:solidFill>
                <a:latin typeface="Arial"/>
              </a:rPr>
              <a:t>MODEL INPUTS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20656" y="1956816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A985"/>
                </a:solidFill>
                <a:latin typeface="Arial"/>
              </a:rPr>
              <a:t>$1,000m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20656" y="2249424"/>
            <a:ext cx="171907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opening cash*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9820656" y="2560320"/>
            <a:ext cx="1737360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9820656" y="2715768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A600"/>
                </a:solidFill>
                <a:latin typeface="Arial"/>
              </a:rPr>
              <a:t>$700m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20656" y="3008376"/>
            <a:ext cx="171907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minimum buffer*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9820656" y="3319272"/>
            <a:ext cx="1737360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9820656" y="3474720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E91C1"/>
                </a:solidFill>
                <a:latin typeface="Arial"/>
              </a:rPr>
              <a:t>$765m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20656" y="3767328"/>
            <a:ext cx="171907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incident-base low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9820656" y="4315968"/>
            <a:ext cx="1737360" cy="0"/>
          </a:xfrm>
          <a:prstGeom prst="line">
            <a:avLst/>
          </a:prstGeom>
          <a:ln w="889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9820656" y="4498848"/>
            <a:ext cx="1719072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C82036"/>
                </a:solidFill>
                <a:latin typeface="Arial"/>
              </a:rPr>
              <a:t>STRESS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20656" y="4727448"/>
            <a:ext cx="1719072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$549m on 30 Nov
$524m on 14 Dec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20656" y="5632704"/>
            <a:ext cx="171907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A9B0B2"/>
                </a:solidFill>
                <a:latin typeface="Arial"/>
              </a:rPr>
              <a:t>*Assumptions; replace with UBS Treasury ledger.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336792"/>
            <a:ext cx="1097280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Base case stays above buffer; stress falls below it. Funding need is measured against the assumed $700m buffer.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STRESS TESTS: RED &amp; AMBER CASH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2.3  ·  COMBINED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SCENARIOS ARE ILLUSTRATIVE · USDm · NOT HISTORICAL UBS OUTCOMES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179576"/>
            <a:ext cx="3657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737B80"/>
                </a:solidFill>
                <a:latin typeface="Arial"/>
              </a:rPr>
              <a:t>COMBINED STRESS INPUTS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1527048"/>
            <a:ext cx="1993392" cy="987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" y="1527048"/>
            <a:ext cx="1993392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746504"/>
            <a:ext cx="731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728216"/>
            <a:ext cx="9875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Additional withdrawals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2928" y="1527048"/>
            <a:ext cx="1993392" cy="987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52928" y="1527048"/>
            <a:ext cx="1993392" cy="4572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1746504"/>
            <a:ext cx="731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6A600"/>
                </a:solidFill>
                <a:latin typeface="Arial"/>
              </a:rPr>
              <a:t>−100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2464" y="1728216"/>
            <a:ext cx="9875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Collateral return delayed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527048"/>
            <a:ext cx="1993392" cy="987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02352" y="1527048"/>
            <a:ext cx="1993392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1746504"/>
            <a:ext cx="731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28216"/>
            <a:ext cx="9875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Settlement accelerated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1775" y="1527048"/>
            <a:ext cx="1993392" cy="98755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51775" y="1527048"/>
            <a:ext cx="1993392" cy="45720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1746504"/>
            <a:ext cx="731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6A600"/>
                </a:solidFill>
                <a:latin typeface="Arial"/>
              </a:rPr>
              <a:t>−50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1" y="1728216"/>
            <a:ext cx="9875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Funding rollover fails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527048"/>
            <a:ext cx="2048256" cy="987552"/>
          </a:xfrm>
          <a:prstGeom prst="rect">
            <a:avLst/>
          </a:prstGeom>
          <a:solidFill>
            <a:srgbClr val="F4E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1719072"/>
            <a:ext cx="171907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2036"/>
                </a:solidFill>
                <a:latin typeface="Arial"/>
              </a:rPr>
              <a:t>−$300m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057400"/>
            <a:ext cx="171907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18232B"/>
                </a:solidFill>
                <a:latin typeface="Arial"/>
              </a:rPr>
              <a:t>combined cash shock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" y="2898648"/>
            <a:ext cx="7178040" cy="2331720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3063240"/>
            <a:ext cx="365760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NOVEMBER CASH BRIDGE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24128" y="4692904"/>
            <a:ext cx="6492240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24128" y="4422648"/>
            <a:ext cx="6492240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24128" y="4152392"/>
            <a:ext cx="6492240" cy="0"/>
          </a:xfrm>
          <a:prstGeom prst="line">
            <a:avLst/>
          </a:prstGeom>
          <a:ln w="15875">
            <a:solidFill>
              <a:srgbClr val="D6A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345936" y="3951224"/>
            <a:ext cx="107899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6A600"/>
                </a:solidFill>
                <a:latin typeface="Arial"/>
              </a:rPr>
              <a:t>BUFFER $700m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24128" y="3882136"/>
            <a:ext cx="6492240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4128" y="3611880"/>
            <a:ext cx="6492240" cy="0"/>
          </a:xfrm>
          <a:prstGeom prst="line">
            <a:avLst/>
          </a:prstGeom>
          <a:ln w="6985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417320" y="3749710"/>
            <a:ext cx="640080" cy="1078321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9576" y="4937760"/>
            <a:ext cx="11430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>
                <a:solidFill>
                  <a:srgbClr val="F7F8F6"/>
                </a:solidFill>
                <a:latin typeface="Arial"/>
              </a:rPr>
              <a:t>BASE
$849m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066543" y="3749710"/>
            <a:ext cx="713233" cy="0"/>
          </a:xfrm>
          <a:prstGeom prst="line">
            <a:avLst/>
          </a:prstGeom>
          <a:ln w="8255">
            <a:solidFill>
              <a:srgbClr val="A9B0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779776" y="3749710"/>
            <a:ext cx="640080" cy="13512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42032" y="4937760"/>
            <a:ext cx="11430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>
                <a:solidFill>
                  <a:srgbClr val="F7F8F6"/>
                </a:solidFill>
                <a:latin typeface="Arial"/>
              </a:rPr>
              <a:t>SETTLEMENT
−$50m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429000" y="3884838"/>
            <a:ext cx="667512" cy="0"/>
          </a:xfrm>
          <a:prstGeom prst="line">
            <a:avLst/>
          </a:prstGeom>
          <a:ln w="8255">
            <a:solidFill>
              <a:srgbClr val="A9B0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096512" y="3884838"/>
            <a:ext cx="640080" cy="270256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58768" y="4937760"/>
            <a:ext cx="11430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>
                <a:solidFill>
                  <a:srgbClr val="F7F8F6"/>
                </a:solidFill>
                <a:latin typeface="Arial"/>
              </a:rPr>
              <a:t>COLLATERAL
−$100m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745736" y="4155094"/>
            <a:ext cx="667512" cy="0"/>
          </a:xfrm>
          <a:prstGeom prst="line">
            <a:avLst/>
          </a:prstGeom>
          <a:ln w="8255">
            <a:solidFill>
              <a:srgbClr val="A9B0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413248" y="4155094"/>
            <a:ext cx="640080" cy="270256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75504" y="4937760"/>
            <a:ext cx="11430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>
                <a:solidFill>
                  <a:srgbClr val="F7F8F6"/>
                </a:solidFill>
                <a:latin typeface="Arial"/>
              </a:rPr>
              <a:t>WITHDRAWALS
−$100m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62472" y="4425350"/>
            <a:ext cx="612648" cy="0"/>
          </a:xfrm>
          <a:prstGeom prst="line">
            <a:avLst/>
          </a:prstGeom>
          <a:ln w="8255">
            <a:solidFill>
              <a:srgbClr val="A9B0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675120" y="4425350"/>
            <a:ext cx="640080" cy="135128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37376" y="4937760"/>
            <a:ext cx="11430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70" b="1">
                <a:solidFill>
                  <a:srgbClr val="F7F8F6"/>
                </a:solidFill>
                <a:latin typeface="Arial"/>
              </a:rPr>
              <a:t>ROLLOVER
−$50m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28431" y="2898648"/>
            <a:ext cx="3712463" cy="2331720"/>
          </a:xfrm>
          <a:prstGeom prst="rect">
            <a:avLst/>
          </a:prstGeom>
          <a:solidFill>
            <a:srgbClr val="F7F8F6"/>
          </a:solidFill>
          <a:ln w="10160">
            <a:solidFill>
              <a:srgbClr val="CFD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7888" y="3090672"/>
            <a:ext cx="3273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LIQUIDITY SOURCE TIMING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7888" y="3419856"/>
            <a:ext cx="3273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737B80"/>
                </a:solidFill>
                <a:latin typeface="Arial"/>
              </a:rPr>
              <a:t>Assumed $200m T+2 line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549640" y="4133087"/>
            <a:ext cx="2734056" cy="0"/>
          </a:xfrm>
          <a:prstGeom prst="line">
            <a:avLst/>
          </a:prstGeom>
          <a:ln w="31750">
            <a:solidFill>
              <a:srgbClr val="00A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531352" y="4050791"/>
            <a:ext cx="164592" cy="164592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47888" y="4334256"/>
            <a:ext cx="73152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25 NOV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11312" y="4544568"/>
            <a:ext cx="8229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Trigger</a:t>
            </a:r>
          </a:p>
        </p:txBody>
      </p:sp>
      <p:sp>
        <p:nvSpPr>
          <p:cNvPr id="59" name="Oval 58"/>
          <p:cNvSpPr/>
          <p:nvPr/>
        </p:nvSpPr>
        <p:spPr>
          <a:xfrm>
            <a:off x="9857232" y="4050791"/>
            <a:ext cx="164592" cy="16459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73767" y="4334256"/>
            <a:ext cx="73152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29 NOV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37192" y="4544568"/>
            <a:ext cx="8229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Arrives</a:t>
            </a:r>
          </a:p>
        </p:txBody>
      </p:sp>
      <p:sp>
        <p:nvSpPr>
          <p:cNvPr id="62" name="Oval 61"/>
          <p:cNvSpPr/>
          <p:nvPr/>
        </p:nvSpPr>
        <p:spPr>
          <a:xfrm>
            <a:off x="11073384" y="4050791"/>
            <a:ext cx="164592" cy="164592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89919" y="4334256"/>
            <a:ext cx="73152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8232B"/>
                </a:solidFill>
                <a:latin typeface="Arial"/>
              </a:rPr>
              <a:t>30 NOV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53344" y="4544568"/>
            <a:ext cx="82296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First breach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" y="5568696"/>
            <a:ext cx="109728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If source arrives late: $549m cash on 30 Nov, $151m below buffer; peak need $176m by 14 Dec.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" y="6044184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737B80"/>
                </a:solidFill>
                <a:latin typeface="Arial"/>
              </a:rPr>
              <a:t>Facility availability and timing are assumptions. Test delayed liquidity arrival separately; do not count an unconfirmed source as cash.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RISK MATRIX: LIKELIHOOD ×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3.1  ·  RESIDUAL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ILLUSTRATIVE ANALYST SCORES · REASSESS AFTER CONTAINMENT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1645920"/>
            <a:ext cx="1152144" cy="1152144"/>
          </a:xfrm>
          <a:prstGeom prst="rect">
            <a:avLst/>
          </a:prstGeom>
          <a:solidFill>
            <a:srgbClr val="F1DCDD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168249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645920"/>
            <a:ext cx="1152144" cy="1152144"/>
          </a:xfrm>
          <a:prstGeom prst="rect">
            <a:avLst/>
          </a:prstGeom>
          <a:solidFill>
            <a:srgbClr val="F2D1C5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5144" y="168249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1645920"/>
            <a:ext cx="1152144" cy="1152144"/>
          </a:xfrm>
          <a:prstGeom prst="rect">
            <a:avLst/>
          </a:prstGeom>
          <a:solidFill>
            <a:srgbClr val="E8B8BC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168249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834640"/>
            <a:ext cx="1152144" cy="1152144"/>
          </a:xfrm>
          <a:prstGeom prst="rect">
            <a:avLst/>
          </a:prstGeom>
          <a:solidFill>
            <a:srgbClr val="F1E9CB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287121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2834640"/>
            <a:ext cx="1152144" cy="1152144"/>
          </a:xfrm>
          <a:prstGeom prst="rect">
            <a:avLst/>
          </a:prstGeom>
          <a:solidFill>
            <a:srgbClr val="EADBAB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95144" y="287121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2834640"/>
            <a:ext cx="1152144" cy="1152144"/>
          </a:xfrm>
          <a:prstGeom prst="rect">
            <a:avLst/>
          </a:prstGeom>
          <a:solidFill>
            <a:srgbClr val="E8C7A3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3864" y="287121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4023360"/>
            <a:ext cx="1152144" cy="1152144"/>
          </a:xfrm>
          <a:prstGeom prst="rect">
            <a:avLst/>
          </a:prstGeom>
          <a:solidFill>
            <a:srgbClr val="E4EEE4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05993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0280" y="4023360"/>
            <a:ext cx="1152144" cy="1152144"/>
          </a:xfrm>
          <a:prstGeom prst="rect">
            <a:avLst/>
          </a:prstGeom>
          <a:solidFill>
            <a:srgbClr val="ECEDDB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95144" y="405993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29000" y="4023360"/>
            <a:ext cx="1152144" cy="1152144"/>
          </a:xfrm>
          <a:prstGeom prst="rect">
            <a:avLst/>
          </a:prstGeom>
          <a:solidFill>
            <a:srgbClr val="F1E6D0"/>
          </a:solidFill>
          <a:ln w="12700">
            <a:solidFill>
              <a:srgbClr val="F7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3864" y="4059936"/>
            <a:ext cx="18288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737B80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2075688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3264408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" y="4453128"/>
            <a:ext cx="7132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239512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5239512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5239512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" y="1362456"/>
            <a:ext cx="9144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737B80"/>
                </a:solidFill>
                <a:latin typeface="Arial"/>
              </a:rPr>
              <a:t>LIKELIHOOD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37943" y="5468112"/>
            <a:ext cx="1353312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737B80"/>
                </a:solidFill>
                <a:latin typeface="Arial"/>
              </a:rPr>
              <a:t>IMPACT</a:t>
            </a:r>
          </a:p>
        </p:txBody>
      </p:sp>
      <p:sp>
        <p:nvSpPr>
          <p:cNvPr id="36" name="Oval 35"/>
          <p:cNvSpPr/>
          <p:nvPr/>
        </p:nvSpPr>
        <p:spPr>
          <a:xfrm>
            <a:off x="3630168" y="3182112"/>
            <a:ext cx="237744" cy="23774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321868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O</a:t>
            </a:r>
          </a:p>
        </p:txBody>
      </p:sp>
      <p:sp>
        <p:nvSpPr>
          <p:cNvPr id="38" name="Oval 37"/>
          <p:cNvSpPr/>
          <p:nvPr/>
        </p:nvSpPr>
        <p:spPr>
          <a:xfrm>
            <a:off x="3886200" y="3182112"/>
            <a:ext cx="237744" cy="237744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86200" y="321868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L</a:t>
            </a:r>
          </a:p>
        </p:txBody>
      </p:sp>
      <p:sp>
        <p:nvSpPr>
          <p:cNvPr id="40" name="Oval 39"/>
          <p:cNvSpPr/>
          <p:nvPr/>
        </p:nvSpPr>
        <p:spPr>
          <a:xfrm>
            <a:off x="2450592" y="3456432"/>
            <a:ext cx="237744" cy="237744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0592" y="349300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2697480" y="3456432"/>
            <a:ext cx="237744" cy="237744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97480" y="349300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C</a:t>
            </a:r>
          </a:p>
        </p:txBody>
      </p:sp>
      <p:sp>
        <p:nvSpPr>
          <p:cNvPr id="44" name="Oval 43"/>
          <p:cNvSpPr/>
          <p:nvPr/>
        </p:nvSpPr>
        <p:spPr>
          <a:xfrm>
            <a:off x="4142232" y="3182112"/>
            <a:ext cx="237744" cy="23774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42232" y="321868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F</a:t>
            </a:r>
          </a:p>
        </p:txBody>
      </p:sp>
      <p:sp>
        <p:nvSpPr>
          <p:cNvPr id="46" name="Oval 45"/>
          <p:cNvSpPr/>
          <p:nvPr/>
        </p:nvSpPr>
        <p:spPr>
          <a:xfrm>
            <a:off x="2697480" y="4480560"/>
            <a:ext cx="237744" cy="237744"/>
          </a:xfrm>
          <a:prstGeom prst="ellipse">
            <a:avLst/>
          </a:prstGeom>
          <a:solidFill>
            <a:srgbClr val="42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4517136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R</a:t>
            </a:r>
          </a:p>
        </p:txBody>
      </p:sp>
      <p:sp>
        <p:nvSpPr>
          <p:cNvPr id="48" name="Oval 47"/>
          <p:cNvSpPr/>
          <p:nvPr/>
        </p:nvSpPr>
        <p:spPr>
          <a:xfrm>
            <a:off x="2944368" y="3456432"/>
            <a:ext cx="237744" cy="237744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44368" y="3493008"/>
            <a:ext cx="237744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7F8F6"/>
                </a:solidFill>
                <a:latin typeface="Arial"/>
              </a:rPr>
              <a:t>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38928" y="1417320"/>
            <a:ext cx="6583680" cy="45537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38928" y="1417320"/>
            <a:ext cx="6583680" cy="45720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67528" y="1627632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RISK REGISTER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645920"/>
            <a:ext cx="3136392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A9B0B2"/>
                </a:solidFill>
                <a:latin typeface="Arial"/>
              </a:rPr>
              <a:t>Likelihood × impact = score</a:t>
            </a:r>
          </a:p>
        </p:txBody>
      </p:sp>
      <p:sp>
        <p:nvSpPr>
          <p:cNvPr id="54" name="Oval 53"/>
          <p:cNvSpPr/>
          <p:nvPr/>
        </p:nvSpPr>
        <p:spPr>
          <a:xfrm>
            <a:off x="5376672" y="2048256"/>
            <a:ext cx="292608" cy="29260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76672" y="2093976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88152" y="2048256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Operational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2048256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C82036"/>
                </a:solidFill>
                <a:latin typeface="Arial"/>
              </a:rPr>
              <a:t>2 × 3 = 6</a:t>
            </a:r>
          </a:p>
        </p:txBody>
      </p:sp>
      <p:sp>
        <p:nvSpPr>
          <p:cNvPr id="58" name="Oval 57"/>
          <p:cNvSpPr/>
          <p:nvPr/>
        </p:nvSpPr>
        <p:spPr>
          <a:xfrm>
            <a:off x="5376672" y="2706624"/>
            <a:ext cx="292608" cy="292608"/>
          </a:xfrm>
          <a:prstGeom prst="ellipse">
            <a:avLst/>
          </a:prstGeom>
          <a:solidFill>
            <a:srgbClr val="2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76672" y="2752344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88152" y="2706624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Liquidity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2706624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2E91C1"/>
                </a:solidFill>
                <a:latin typeface="Arial"/>
              </a:rPr>
              <a:t>2 × 3 = 6</a:t>
            </a:r>
          </a:p>
        </p:txBody>
      </p:sp>
      <p:sp>
        <p:nvSpPr>
          <p:cNvPr id="62" name="Oval 61"/>
          <p:cNvSpPr/>
          <p:nvPr/>
        </p:nvSpPr>
        <p:spPr>
          <a:xfrm>
            <a:off x="5376672" y="3364992"/>
            <a:ext cx="292608" cy="292608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6672" y="3410712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88152" y="3364992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Market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60920" y="3364992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D6A600"/>
                </a:solidFill>
                <a:latin typeface="Arial"/>
              </a:rPr>
              <a:t>2 × 2 = 4</a:t>
            </a:r>
          </a:p>
        </p:txBody>
      </p:sp>
      <p:sp>
        <p:nvSpPr>
          <p:cNvPr id="66" name="Oval 65"/>
          <p:cNvSpPr/>
          <p:nvPr/>
        </p:nvSpPr>
        <p:spPr>
          <a:xfrm>
            <a:off x="5376672" y="4023360"/>
            <a:ext cx="292608" cy="292608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76672" y="4069080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88152" y="4023360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Counterparty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60920" y="4023360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00A985"/>
                </a:solidFill>
                <a:latin typeface="Arial"/>
              </a:rPr>
              <a:t>2 × 2 = 4</a:t>
            </a:r>
          </a:p>
        </p:txBody>
      </p:sp>
      <p:sp>
        <p:nvSpPr>
          <p:cNvPr id="70" name="Oval 69"/>
          <p:cNvSpPr/>
          <p:nvPr/>
        </p:nvSpPr>
        <p:spPr>
          <a:xfrm>
            <a:off x="8421624" y="2048256"/>
            <a:ext cx="292608" cy="29260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21624" y="2093976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33104" y="2048256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Funding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05872" y="2048256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C82036"/>
                </a:solidFill>
                <a:latin typeface="Arial"/>
              </a:rPr>
              <a:t>2 × 3 = 6</a:t>
            </a:r>
          </a:p>
        </p:txBody>
      </p:sp>
      <p:sp>
        <p:nvSpPr>
          <p:cNvPr id="74" name="Oval 73"/>
          <p:cNvSpPr/>
          <p:nvPr/>
        </p:nvSpPr>
        <p:spPr>
          <a:xfrm>
            <a:off x="8421624" y="2706624"/>
            <a:ext cx="292608" cy="292608"/>
          </a:xfrm>
          <a:prstGeom prst="ellipse">
            <a:avLst/>
          </a:prstGeom>
          <a:solidFill>
            <a:srgbClr val="42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21624" y="2752344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33104" y="2706624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Reputational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2706624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42A878"/>
                </a:solidFill>
                <a:latin typeface="Arial"/>
              </a:rPr>
              <a:t>1 × 2 = 2</a:t>
            </a:r>
          </a:p>
        </p:txBody>
      </p:sp>
      <p:sp>
        <p:nvSpPr>
          <p:cNvPr id="78" name="Oval 77"/>
          <p:cNvSpPr/>
          <p:nvPr/>
        </p:nvSpPr>
        <p:spPr>
          <a:xfrm>
            <a:off x="8421624" y="3364992"/>
            <a:ext cx="292608" cy="292608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21624" y="3410712"/>
            <a:ext cx="29260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7F8F6"/>
                </a:solidFill>
                <a:latin typeface="Arial"/>
              </a:rPr>
              <a:t>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33104" y="3364992"/>
            <a:ext cx="17373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F7F8F6"/>
                </a:solidFill>
                <a:latin typeface="Arial"/>
              </a:rPr>
              <a:t>Legal / regulatory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3364992"/>
            <a:ext cx="76809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90" b="1">
                <a:solidFill>
                  <a:srgbClr val="D6A600"/>
                </a:solidFill>
                <a:latin typeface="Arial"/>
              </a:rPr>
              <a:t>2 × 2 = 4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376672" y="4828032"/>
            <a:ext cx="6089904" cy="0"/>
          </a:xfrm>
          <a:prstGeom prst="line">
            <a:avLst/>
          </a:prstGeom>
          <a:ln w="1016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376672" y="5010912"/>
            <a:ext cx="141732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0A985"/>
                </a:solidFill>
                <a:latin typeface="Arial"/>
              </a:rPr>
              <a:t>TOP PRIORITIES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4965192"/>
            <a:ext cx="155448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O  ·  L  ·  F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02752" y="5001768"/>
            <a:ext cx="3099816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A9B0B2"/>
                </a:solidFill>
                <a:latin typeface="Arial"/>
              </a:rPr>
              <a:t>Operational control · buffer breach · funding rollover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216" y="6199632"/>
            <a:ext cx="109728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37B80"/>
                </a:solidFill>
                <a:latin typeface="Arial"/>
              </a:rPr>
              <a:t>Scores are analyst assumptions, not UBS / regulator ratings; calibrate against approved Treasury buffer and reconciled positions.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CFO ACTION PLAN: THREE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3.2  ·  OWNERS, DEADLINES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37B80"/>
                </a:solidFill>
                <a:latin typeface="Arial"/>
              </a:rPr>
              <a:t>PRESERVE PAYMENT CAPACITY · GATE FUNDING ON EVIDENCE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86968"/>
            <a:ext cx="11411712" cy="10972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556248"/>
            <a:ext cx="11411712" cy="9144"/>
          </a:xfrm>
          <a:prstGeom prst="rect">
            <a:avLst/>
          </a:prstGeom>
          <a:solidFill>
            <a:srgbClr val="CFD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737B80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08176"/>
            <a:ext cx="3438144" cy="437083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08176"/>
            <a:ext cx="3438144" cy="54864"/>
          </a:xfrm>
          <a:prstGeom prst="rect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808" y="1673352"/>
            <a:ext cx="530352" cy="530352"/>
          </a:xfrm>
          <a:prstGeom prst="ellipse">
            <a:avLst/>
          </a:prstGeom>
          <a:solidFill>
            <a:srgbClr val="00A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819656"/>
            <a:ext cx="5303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1655064"/>
            <a:ext cx="232257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F7F8F6"/>
                </a:solidFill>
                <a:latin typeface="Arial"/>
              </a:rPr>
              <a:t>IMMEDIATE LIQUIDITY
PROTECTION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53288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A985"/>
                </a:solidFill>
                <a:latin typeface="Arial"/>
              </a:rPr>
              <a:t>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34056"/>
            <a:ext cx="2999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Group Treasurer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255264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A985"/>
                </a:solidFill>
                <a:latin typeface="Arial"/>
              </a:rPr>
              <a:t>DEADLINE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456432"/>
            <a:ext cx="29992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9B0B2"/>
                </a:solidFill>
                <a:latin typeface="Arial"/>
              </a:rPr>
              <a:t>Initial view: 24h
Daily to 14 Dec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8096" y="3950208"/>
            <a:ext cx="3017519" cy="0"/>
          </a:xfrm>
          <a:prstGeom prst="line">
            <a:avLst/>
          </a:prstGeom>
          <a:ln w="1016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8096" y="4096512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A985"/>
                </a:solidFill>
                <a:latin typeface="Arial"/>
              </a:rPr>
              <a:t>EXPECTED BENEFIT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297680"/>
            <a:ext cx="2999232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7F8F6"/>
                </a:solidFill>
                <a:latin typeface="Arial"/>
              </a:rPr>
              <a:t>Verified headroom; staged funding before a modeled breach.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00176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9B0B2"/>
                </a:solidFill>
                <a:latin typeface="Arial"/>
              </a:rPr>
              <a:t>CONSTRAINT /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193792"/>
            <a:ext cx="2999232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Check facility access, collateral eligibility and T+2 arrival.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408176"/>
            <a:ext cx="3438144" cy="437083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408176"/>
            <a:ext cx="3438144" cy="5486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43984" y="1673352"/>
            <a:ext cx="530352" cy="530352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43984" y="1819656"/>
            <a:ext cx="5303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1655064"/>
            <a:ext cx="232257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F7F8F6"/>
                </a:solidFill>
                <a:latin typeface="Arial"/>
              </a:rPr>
              <a:t>EXPOSURE
CONTAINMENT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253288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C82036"/>
                </a:solidFill>
                <a:latin typeface="Arial"/>
              </a:rPr>
              <a:t>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2734056"/>
            <a:ext cx="2999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IB COO + Market Risk + Treasury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3255264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C82036"/>
                </a:solidFill>
                <a:latin typeface="Arial"/>
              </a:rPr>
              <a:t>DEADLINE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456432"/>
            <a:ext cx="29992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9B0B2"/>
                </a:solidFill>
                <a:latin typeface="Arial"/>
              </a:rPr>
              <a:t>Start now
Daily until reconciled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62272" y="3950208"/>
            <a:ext cx="3017520" cy="0"/>
          </a:xfrm>
          <a:prstGeom prst="line">
            <a:avLst/>
          </a:prstGeom>
          <a:ln w="1016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62272" y="4096512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C82036"/>
                </a:solidFill>
                <a:latin typeface="Arial"/>
              </a:rPr>
              <a:t>EXPECTED BENEFIT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2272" y="4297680"/>
            <a:ext cx="2999232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7F8F6"/>
                </a:solidFill>
                <a:latin typeface="Arial"/>
              </a:rPr>
              <a:t>Bound open positions; settle and collateral breaks independently.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500176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9B0B2"/>
                </a:solidFill>
                <a:latin typeface="Arial"/>
              </a:rPr>
              <a:t>CONSTRAINT / FALLBACK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5193792"/>
            <a:ext cx="2999232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Close-out cost and cash release only when confirmed.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1408176"/>
            <a:ext cx="3438144" cy="437083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55279" y="1408176"/>
            <a:ext cx="3438144" cy="54864"/>
          </a:xfrm>
          <a:prstGeom prst="rect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38159" y="1673352"/>
            <a:ext cx="530352" cy="530352"/>
          </a:xfrm>
          <a:prstGeom prst="ellipse">
            <a:avLst/>
          </a:prstGeom>
          <a:solidFill>
            <a:srgbClr val="D6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8159" y="1819656"/>
            <a:ext cx="5303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7F8F6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59" y="1655064"/>
            <a:ext cx="232257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F7F8F6"/>
                </a:solidFill>
                <a:latin typeface="Arial"/>
              </a:rPr>
              <a:t>GOVERNANCE &amp;
CONTROLS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253288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D6A600"/>
                </a:solidFill>
                <a:latin typeface="Arial"/>
              </a:rPr>
              <a:t>OWNER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56448" y="2734056"/>
            <a:ext cx="2999232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7F8F6"/>
                </a:solidFill>
                <a:latin typeface="Arial"/>
              </a:rPr>
              <a:t>CRO + IB COO
Internal Audit validates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56448" y="3255264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D6A600"/>
                </a:solidFill>
                <a:latin typeface="Arial"/>
              </a:rPr>
              <a:t>DEADLINE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6448" y="3456432"/>
            <a:ext cx="29992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9B0B2"/>
                </a:solidFill>
                <a:latin typeface="Arial"/>
              </a:rPr>
              <a:t>Interim controls now
Programme by 14 Dec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156448" y="3950208"/>
            <a:ext cx="3017519" cy="0"/>
          </a:xfrm>
          <a:prstGeom prst="line">
            <a:avLst/>
          </a:prstGeom>
          <a:ln w="10160">
            <a:solidFill>
              <a:srgbClr val="343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156448" y="4096512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D6A600"/>
                </a:solidFill>
                <a:latin typeface="Arial"/>
              </a:rPr>
              <a:t>EXPECTED BENEFIT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56448" y="4297680"/>
            <a:ext cx="2999232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7F8F6"/>
                </a:solidFill>
                <a:latin typeface="Arial"/>
              </a:rPr>
              <a:t>Dual verification; timely exception escalation; clear ownership.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6448" y="5001768"/>
            <a:ext cx="297180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A9B0B2"/>
                </a:solidFill>
                <a:latin typeface="Arial"/>
              </a:rPr>
              <a:t>CONSTRAINT / FALLBACK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56448" y="5193792"/>
            <a:ext cx="2999232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>
                <a:solidFill>
                  <a:srgbClr val="A9B0B2"/>
                </a:solidFill>
                <a:latin typeface="Arial"/>
              </a:rPr>
              <a:t>Manual dual sign-off until systems are remediated.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989320"/>
            <a:ext cx="10826496" cy="384048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" y="6071616"/>
            <a:ext cx="104424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DECISION: protect cash capacity, verify every exposure and count funding only when its arrival is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— Treasury Response</dc:title>
  <dc:subject>Eight-slide presentation aligned to report sections</dc:subject>
  <dc:creator>Corporate Treasury Management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