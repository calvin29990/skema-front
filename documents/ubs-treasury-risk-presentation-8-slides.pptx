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incident</c:v>
                </c:pt>
              </c:strCache>
            </c:strRef>
          </c:tx>
          <c:spPr>
            <a:ln w="25400">
              <a:solidFill>
                <a:srgbClr val="008F72"/>
              </a:solidFill>
            </a:ln>
          </c:spPr>
          <c:marker>
            <c:symbol val="diamond"/>
            <c:size val="4"/>
            <c:spPr>
              <a:solidFill>
                <a:srgbClr val="008F72"/>
              </a:solidFill>
              <a:ln>
                <a:solidFill>
                  <a:srgbClr val="008F72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14 Sep</c:v>
                </c:pt>
                <c:pt idx="1">
                  <c:v>15</c:v>
                </c:pt>
                <c:pt idx="2">
                  <c:v>16</c:v>
                </c:pt>
                <c:pt idx="3">
                  <c:v>17</c:v>
                </c:pt>
                <c:pt idx="4">
                  <c:v>18</c:v>
                </c:pt>
                <c:pt idx="5">
                  <c:v>19</c:v>
                </c:pt>
                <c:pt idx="6">
                  <c:v>20</c:v>
                </c:pt>
                <c:pt idx="7">
                  <c:v>30 Sep</c:v>
                </c:pt>
                <c:pt idx="8">
                  <c:v>Oct</c:v>
                </c:pt>
                <c:pt idx="9">
                  <c:v>Nov</c:v>
                </c:pt>
                <c:pt idx="10">
                  <c:v>14 Dec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1000</c:v>
                </c:pt>
                <c:pt idx="1">
                  <c:v>990</c:v>
                </c:pt>
                <c:pt idx="2">
                  <c:v>985</c:v>
                </c:pt>
                <c:pt idx="3">
                  <c:v>990</c:v>
                </c:pt>
                <c:pt idx="4">
                  <c:v>985</c:v>
                </c:pt>
                <c:pt idx="5">
                  <c:v>987</c:v>
                </c:pt>
                <c:pt idx="6">
                  <c:v>984</c:v>
                </c:pt>
                <c:pt idx="7">
                  <c:v>1004</c:v>
                </c:pt>
                <c:pt idx="8">
                  <c:v>1104</c:v>
                </c:pt>
                <c:pt idx="9">
                  <c:v>1054</c:v>
                </c:pt>
                <c:pt idx="10">
                  <c:v>1024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Incident base</c:v>
                </c:pt>
              </c:strCache>
            </c:strRef>
          </c:tx>
          <c:spPr>
            <a:ln w="25400">
              <a:solidFill>
                <a:srgbClr val="287FA8"/>
              </a:solidFill>
            </a:ln>
          </c:spPr>
          <c:marker>
            <c:symbol val="diamond"/>
            <c:size val="4"/>
            <c:spPr>
              <a:solidFill>
                <a:srgbClr val="287FA8"/>
              </a:solidFill>
              <a:ln>
                <a:solidFill>
                  <a:srgbClr val="287FA8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14 Sep</c:v>
                </c:pt>
                <c:pt idx="1">
                  <c:v>15</c:v>
                </c:pt>
                <c:pt idx="2">
                  <c:v>16</c:v>
                </c:pt>
                <c:pt idx="3">
                  <c:v>17</c:v>
                </c:pt>
                <c:pt idx="4">
                  <c:v>18</c:v>
                </c:pt>
                <c:pt idx="5">
                  <c:v>19</c:v>
                </c:pt>
                <c:pt idx="6">
                  <c:v>20</c:v>
                </c:pt>
                <c:pt idx="7">
                  <c:v>30 Sep</c:v>
                </c:pt>
                <c:pt idx="8">
                  <c:v>Oct</c:v>
                </c:pt>
                <c:pt idx="9">
                  <c:v>Nov</c:v>
                </c:pt>
                <c:pt idx="10">
                  <c:v>14 Dec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1000</c:v>
                </c:pt>
                <c:pt idx="1">
                  <c:v>915</c:v>
                </c:pt>
                <c:pt idx="2">
                  <c:v>805</c:v>
                </c:pt>
                <c:pt idx="3">
                  <c:v>775</c:v>
                </c:pt>
                <c:pt idx="4">
                  <c:v>765</c:v>
                </c:pt>
                <c:pt idx="5">
                  <c:v>772</c:v>
                </c:pt>
                <c:pt idx="6">
                  <c:v>774</c:v>
                </c:pt>
                <c:pt idx="7">
                  <c:v>769</c:v>
                </c:pt>
                <c:pt idx="8">
                  <c:v>909</c:v>
                </c:pt>
                <c:pt idx="9">
                  <c:v>849</c:v>
                </c:pt>
                <c:pt idx="10">
                  <c:v>824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 stress</c:v>
                </c:pt>
              </c:strCache>
            </c:strRef>
          </c:tx>
          <c:spPr>
            <a:ln w="25400">
              <a:solidFill>
                <a:srgbClr val="C82036"/>
              </a:solidFill>
            </a:ln>
          </c:spPr>
          <c:marker>
            <c:symbol val="diamond"/>
            <c:size val="4"/>
            <c:spPr>
              <a:solidFill>
                <a:srgbClr val="C82036"/>
              </a:solidFill>
              <a:ln>
                <a:solidFill>
                  <a:srgbClr val="C82036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14 Sep</c:v>
                </c:pt>
                <c:pt idx="1">
                  <c:v>15</c:v>
                </c:pt>
                <c:pt idx="2">
                  <c:v>16</c:v>
                </c:pt>
                <c:pt idx="3">
                  <c:v>17</c:v>
                </c:pt>
                <c:pt idx="4">
                  <c:v>18</c:v>
                </c:pt>
                <c:pt idx="5">
                  <c:v>19</c:v>
                </c:pt>
                <c:pt idx="6">
                  <c:v>20</c:v>
                </c:pt>
                <c:pt idx="7">
                  <c:v>30 Sep</c:v>
                </c:pt>
                <c:pt idx="8">
                  <c:v>Oct</c:v>
                </c:pt>
                <c:pt idx="9">
                  <c:v>Nov</c:v>
                </c:pt>
                <c:pt idx="10">
                  <c:v>14 Dec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1000</c:v>
                </c:pt>
                <c:pt idx="1">
                  <c:v>915</c:v>
                </c:pt>
                <c:pt idx="2">
                  <c:v>805</c:v>
                </c:pt>
                <c:pt idx="3">
                  <c:v>775</c:v>
                </c:pt>
                <c:pt idx="4">
                  <c:v>765</c:v>
                </c:pt>
                <c:pt idx="5">
                  <c:v>772</c:v>
                </c:pt>
                <c:pt idx="6">
                  <c:v>774</c:v>
                </c:pt>
                <c:pt idx="7">
                  <c:v>769</c:v>
                </c:pt>
                <c:pt idx="8">
                  <c:v>909</c:v>
                </c:pt>
                <c:pt idx="9">
                  <c:v>549</c:v>
                </c:pt>
                <c:pt idx="10">
                  <c:v>524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Minimum buffer</c:v>
                </c:pt>
              </c:strCache>
            </c:strRef>
          </c:tx>
          <c:spPr>
            <a:ln w="16510">
              <a:solidFill>
                <a:srgbClr val="C49500"/>
              </a:solidFill>
              <a:prstDash val="dash"/>
            </a:ln>
          </c:spPr>
          <c:marker>
            <c:symbol val="square"/>
          </c:marker>
          <c:cat>
            <c:strRef>
              <c:f>Sheet1!$A$2:$A$12</c:f>
              <c:strCache>
                <c:ptCount val="11"/>
                <c:pt idx="0">
                  <c:v>14 Sep</c:v>
                </c:pt>
                <c:pt idx="1">
                  <c:v>15</c:v>
                </c:pt>
                <c:pt idx="2">
                  <c:v>16</c:v>
                </c:pt>
                <c:pt idx="3">
                  <c:v>17</c:v>
                </c:pt>
                <c:pt idx="4">
                  <c:v>18</c:v>
                </c:pt>
                <c:pt idx="5">
                  <c:v>19</c:v>
                </c:pt>
                <c:pt idx="6">
                  <c:v>20</c:v>
                </c:pt>
                <c:pt idx="7">
                  <c:v>30 Sep</c:v>
                </c:pt>
                <c:pt idx="8">
                  <c:v>Oct</c:v>
                </c:pt>
                <c:pt idx="9">
                  <c:v>Nov</c:v>
                </c:pt>
                <c:pt idx="10">
                  <c:v>14 Dec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700</c:v>
                </c:pt>
                <c:pt idx="1">
                  <c:v>700</c:v>
                </c:pt>
                <c:pt idx="2">
                  <c:v>700</c:v>
                </c:pt>
                <c:pt idx="3">
                  <c:v>700</c:v>
                </c:pt>
                <c:pt idx="4">
                  <c:v>700</c:v>
                </c:pt>
                <c:pt idx="5">
                  <c:v>700</c:v>
                </c:pt>
                <c:pt idx="6">
                  <c:v>700</c:v>
                </c:pt>
                <c:pt idx="7">
                  <c:v>700</c:v>
                </c:pt>
                <c:pt idx="8">
                  <c:v>700</c:v>
                </c:pt>
                <c:pt idx="9">
                  <c:v>700</c:v>
                </c:pt>
                <c:pt idx="10">
                  <c:v>700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8747B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00.0"/>
          <c:min val="5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8747B"/>
                </a:solidFill>
                <a:latin typeface="Arial"/>
              </a:defRPr>
            </a:pPr>
          </a:p>
        </c:txPr>
        <c:crossAx val="2118791784"/>
        <c:crosses val="autoZero"/>
        <c:majorUnit val="100.0"/>
      </c:valAx>
    </c:plotArea>
    <c:legend>
      <c:legendPos val="b"/>
      <c:layout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roved-map-slide-report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4" y="0"/>
            <a:ext cx="1214919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"/>
            <a:ext cx="1261872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7088" y="137160"/>
            <a:ext cx="882396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232B"/>
                </a:solidFill>
                <a:latin typeface="Arial"/>
              </a:rPr>
              <a:t>HOW HIDDEN POSITIONS ESCAPED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088" y="429768"/>
            <a:ext cx="8823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C82036"/>
                </a:solidFill>
                <a:latin typeface="Arial"/>
              </a:rPr>
              <a:t>SECTION 1.2  ·  CONCEALMENT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649224"/>
            <a:ext cx="882396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8747B"/>
                </a:solidFill>
                <a:latin typeface="Arial"/>
              </a:rPr>
              <a:t>REAL FUTURES EXPOSURE VS THE APPARENT INTERNAL RISK VIEW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09728"/>
            <a:ext cx="475488" cy="502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4048" y="886968"/>
            <a:ext cx="11411712" cy="0"/>
          </a:xfrm>
          <a:prstGeom prst="line">
            <a:avLst/>
          </a:prstGeom>
          <a:ln w="1143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" y="6556248"/>
            <a:ext cx="1141171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60" y="6601968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68747B"/>
                </a:solidFill>
                <a:latin typeface="Arial"/>
              </a:rPr>
              <a:t>UBS  ×  SKEMA   /   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316736"/>
            <a:ext cx="7818120" cy="453542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44752"/>
            <a:ext cx="47548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8747B"/>
                </a:solidFill>
                <a:latin typeface="Arial"/>
              </a:rPr>
              <a:t>RELATIVE EXPOSURE  ·  SCHEMATIC, NOT TO SCALE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97864" y="2029967"/>
            <a:ext cx="6894576" cy="0"/>
          </a:xfrm>
          <a:prstGeom prst="line">
            <a:avLst/>
          </a:prstGeom>
          <a:ln w="6985">
            <a:solidFill>
              <a:srgbClr val="E4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97864" y="3017520"/>
            <a:ext cx="6894576" cy="0"/>
          </a:xfrm>
          <a:prstGeom prst="line">
            <a:avLst/>
          </a:prstGeom>
          <a:ln w="6985">
            <a:solidFill>
              <a:srgbClr val="E4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97864" y="4005071"/>
            <a:ext cx="6894576" cy="0"/>
          </a:xfrm>
          <a:prstGeom prst="line">
            <a:avLst/>
          </a:prstGeom>
          <a:ln w="6985">
            <a:solidFill>
              <a:srgbClr val="E4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97864" y="4992623"/>
            <a:ext cx="6894576" cy="0"/>
          </a:xfrm>
          <a:prstGeom prst="line">
            <a:avLst/>
          </a:prstGeom>
          <a:ln w="6985">
            <a:solidFill>
              <a:srgbClr val="E4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97864" y="4553711"/>
            <a:ext cx="1143000" cy="274320"/>
          </a:xfrm>
          <a:prstGeom prst="rect">
            <a:avLst/>
          </a:prstGeom>
          <a:solidFill>
            <a:srgbClr val="F8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40864" y="4142231"/>
            <a:ext cx="1143000" cy="621791"/>
          </a:xfrm>
          <a:prstGeom prst="rect">
            <a:avLst/>
          </a:prstGeom>
          <a:solidFill>
            <a:srgbClr val="F6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83864" y="3639311"/>
            <a:ext cx="1143000" cy="1060703"/>
          </a:xfrm>
          <a:prstGeom prst="rect">
            <a:avLst/>
          </a:prstGeom>
          <a:solidFill>
            <a:srgbClr val="F4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2980943"/>
            <a:ext cx="1188719" cy="1673352"/>
          </a:xfrm>
          <a:prstGeom prst="rect">
            <a:avLst/>
          </a:prstGeom>
          <a:solidFill>
            <a:srgbClr val="F1C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15583" y="2231136"/>
            <a:ext cx="1188720" cy="2368295"/>
          </a:xfrm>
          <a:prstGeom prst="rect">
            <a:avLst/>
          </a:prstGeom>
          <a:solidFill>
            <a:srgbClr val="EF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1197864" y="4553711"/>
            <a:ext cx="1143000" cy="274320"/>
          </a:xfrm>
          <a:prstGeom prst="line">
            <a:avLst/>
          </a:prstGeom>
          <a:ln w="3175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340864" y="4142231"/>
            <a:ext cx="1143000" cy="411480"/>
          </a:xfrm>
          <a:prstGeom prst="line">
            <a:avLst/>
          </a:prstGeom>
          <a:ln w="3175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483864" y="3639311"/>
            <a:ext cx="1143000" cy="502920"/>
          </a:xfrm>
          <a:prstGeom prst="line">
            <a:avLst/>
          </a:prstGeom>
          <a:ln w="3175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626864" y="2980943"/>
            <a:ext cx="1188719" cy="658368"/>
          </a:xfrm>
          <a:prstGeom prst="line">
            <a:avLst/>
          </a:prstGeom>
          <a:ln w="3175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815583" y="2231136"/>
            <a:ext cx="1188721" cy="749807"/>
          </a:xfrm>
          <a:prstGeom prst="line">
            <a:avLst/>
          </a:prstGeom>
          <a:ln w="3175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47572" y="4777740"/>
            <a:ext cx="100584" cy="100584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90572" y="4503419"/>
            <a:ext cx="100584" cy="100584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33572" y="4091939"/>
            <a:ext cx="100584" cy="100584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6572" y="3589019"/>
            <a:ext cx="100584" cy="100584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65292" y="2930651"/>
            <a:ext cx="100584" cy="100584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54012" y="2180844"/>
            <a:ext cx="100584" cy="100584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1197864" y="4764023"/>
            <a:ext cx="1143000" cy="64008"/>
          </a:xfrm>
          <a:prstGeom prst="line">
            <a:avLst/>
          </a:prstGeom>
          <a:ln w="27940">
            <a:solidFill>
              <a:srgbClr val="287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40864" y="4700015"/>
            <a:ext cx="1143000" cy="64008"/>
          </a:xfrm>
          <a:prstGeom prst="line">
            <a:avLst/>
          </a:prstGeom>
          <a:ln w="27940">
            <a:solidFill>
              <a:srgbClr val="287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483864" y="4654295"/>
            <a:ext cx="1143000" cy="45720"/>
          </a:xfrm>
          <a:prstGeom prst="line">
            <a:avLst/>
          </a:prstGeom>
          <a:ln w="27940">
            <a:solidFill>
              <a:srgbClr val="287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626864" y="4599431"/>
            <a:ext cx="1188719" cy="54864"/>
          </a:xfrm>
          <a:prstGeom prst="line">
            <a:avLst/>
          </a:prstGeom>
          <a:ln w="27940">
            <a:solidFill>
              <a:srgbClr val="287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815583" y="4544567"/>
            <a:ext cx="1188721" cy="54864"/>
          </a:xfrm>
          <a:prstGeom prst="line">
            <a:avLst/>
          </a:prstGeom>
          <a:ln w="27940">
            <a:solidFill>
              <a:srgbClr val="287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147572" y="4777740"/>
            <a:ext cx="100584" cy="100584"/>
          </a:xfrm>
          <a:prstGeom prst="ellipse">
            <a:avLst/>
          </a:prstGeom>
          <a:solidFill>
            <a:srgbClr val="28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290572" y="4713731"/>
            <a:ext cx="100584" cy="100584"/>
          </a:xfrm>
          <a:prstGeom prst="ellipse">
            <a:avLst/>
          </a:prstGeom>
          <a:solidFill>
            <a:srgbClr val="28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433572" y="4649723"/>
            <a:ext cx="100584" cy="100584"/>
          </a:xfrm>
          <a:prstGeom prst="ellipse">
            <a:avLst/>
          </a:prstGeom>
          <a:solidFill>
            <a:srgbClr val="28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76572" y="4604003"/>
            <a:ext cx="100584" cy="100584"/>
          </a:xfrm>
          <a:prstGeom prst="ellipse">
            <a:avLst/>
          </a:prstGeom>
          <a:solidFill>
            <a:srgbClr val="28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5292" y="4549140"/>
            <a:ext cx="100584" cy="100584"/>
          </a:xfrm>
          <a:prstGeom prst="ellipse">
            <a:avLst/>
          </a:prstGeom>
          <a:solidFill>
            <a:srgbClr val="28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54012" y="4494275"/>
            <a:ext cx="100584" cy="100584"/>
          </a:xfrm>
          <a:prstGeom prst="ellipse">
            <a:avLst/>
          </a:prstGeom>
          <a:solidFill>
            <a:srgbClr val="28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80744" y="2066543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C82036"/>
                </a:solidFill>
                <a:latin typeface="Arial"/>
              </a:rPr>
              <a:t>REAL LONG INDEX FUTURES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1183" y="4379975"/>
            <a:ext cx="28346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87FA8"/>
                </a:solidFill>
                <a:latin typeface="Arial"/>
              </a:rPr>
              <a:t>Reported risk appears limited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43983" y="2980944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82036"/>
                </a:solidFill>
                <a:latin typeface="Arial"/>
              </a:rPr>
              <a:t>Unseen exposure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97864" y="5138927"/>
            <a:ext cx="1554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68747B"/>
                </a:solidFill>
                <a:latin typeface="Arial"/>
              </a:rPr>
              <a:t>Positions build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59" y="5138927"/>
            <a:ext cx="22402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18232B"/>
                </a:solidFill>
                <a:latin typeface="Arial"/>
              </a:rPr>
              <a:t>14 SEP 2011 · DISCOVERY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1417320"/>
            <a:ext cx="292608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8232B"/>
                </a:solidFill>
                <a:latin typeface="Arial"/>
              </a:rPr>
              <a:t>WHAT HAPPENED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705088" y="1719072"/>
            <a:ext cx="2935224" cy="0"/>
          </a:xfrm>
          <a:prstGeom prst="line">
            <a:avLst/>
          </a:prstGeom>
          <a:ln w="2286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705088" y="1892807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82036"/>
                </a:solidFill>
                <a:latin typeface="Arial"/>
              </a:rP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34856" y="1892807"/>
            <a:ext cx="24871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8232B"/>
                </a:solidFill>
                <a:latin typeface="Arial"/>
              </a:rPr>
              <a:t>REAL POSITION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34856" y="2148839"/>
            <a:ext cx="24871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Long index futures remained open in the market.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134856" y="2697479"/>
            <a:ext cx="2505456" cy="0"/>
          </a:xfrm>
          <a:prstGeom prst="line">
            <a:avLst/>
          </a:prstGeom>
          <a:ln w="6985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705088" y="2825496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49500"/>
                </a:solidFill>
                <a:latin typeface="Arial"/>
              </a:rPr>
              <a:t>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34856" y="2825496"/>
            <a:ext cx="24871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8232B"/>
                </a:solidFill>
                <a:latin typeface="Arial"/>
              </a:rPr>
              <a:t>FALSE HEDGE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34856" y="3081528"/>
            <a:ext cx="24871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Fictitious deferred-settlement ETF entries were booked internally as offsets.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134856" y="3630168"/>
            <a:ext cx="2505456" cy="0"/>
          </a:xfrm>
          <a:prstGeom prst="line">
            <a:avLst/>
          </a:prstGeom>
          <a:ln w="6985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705088" y="3758183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87FA8"/>
                </a:solidFill>
                <a:latin typeface="Arial"/>
              </a:rPr>
              <a:t>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34856" y="3758183"/>
            <a:ext cx="24871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8232B"/>
                </a:solidFill>
                <a:latin typeface="Arial"/>
              </a:rPr>
              <a:t>APPARENT RISK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34856" y="4014215"/>
            <a:ext cx="24871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Risk reports appeared limited while real exposure kept growing.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134856" y="4562855"/>
            <a:ext cx="2505456" cy="0"/>
          </a:xfrm>
          <a:prstGeom prst="line">
            <a:avLst/>
          </a:prstGeom>
          <a:ln w="6985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705088" y="4690872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82036"/>
                </a:solidFill>
                <a:latin typeface="Arial"/>
              </a:rPr>
              <a:t>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4856" y="4690872"/>
            <a:ext cx="24871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8232B"/>
                </a:solidFill>
                <a:latin typeface="Arial"/>
              </a:rPr>
              <a:t>DISCOVERY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4856" y="4946904"/>
            <a:ext cx="24871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14 September 2011 · reported loss USD 2.3bn.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3504" y="6108192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8747B"/>
                </a:solidFill>
                <a:latin typeface="Arial"/>
              </a:rPr>
              <a:t>Sources: FINMA 2012 §§11–18; FSA 2012 §§23–25. The chart is conceptual; it is not a historical exposure series.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"/>
            <a:ext cx="1261872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7088" y="137160"/>
            <a:ext cx="882396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232B"/>
                </a:solidFill>
                <a:latin typeface="Arial"/>
              </a:rPr>
              <a:t>FROM CONTROL FAILURE TO TREASURY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088" y="429768"/>
            <a:ext cx="8823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C82036"/>
                </a:solidFill>
                <a:latin typeface="Arial"/>
              </a:rPr>
              <a:t>SECTION 1.3  ·  OPERATIONAL RISK → CASH →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649224"/>
            <a:ext cx="882396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8747B"/>
                </a:solidFill>
                <a:latin typeface="Arial"/>
              </a:rPr>
              <a:t>FOLLOW THE EXPOSURE AS IT SPLITS INTO SETTLEMENT AND COLLATERAL NEEDS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09728"/>
            <a:ext cx="475488" cy="502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4048" y="886968"/>
            <a:ext cx="11411712" cy="0"/>
          </a:xfrm>
          <a:prstGeom prst="line">
            <a:avLst/>
          </a:prstGeom>
          <a:ln w="1143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" y="6556248"/>
            <a:ext cx="1141171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60" y="6601968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68747B"/>
                </a:solidFill>
                <a:latin typeface="Arial"/>
              </a:rPr>
              <a:t>UBS  ×  SKEMA   /  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8232B"/>
                </a:solidFill>
                <a:latin typeface="Arial"/>
              </a:rPr>
              <a:t>A process map: one control failure creates market exposure, then two cash channels converge on liquidity.</a:t>
            </a:r>
          </a:p>
        </p:txBody>
      </p:sp>
      <p:sp>
        <p:nvSpPr>
          <p:cNvPr id="11" name="Oval 10"/>
          <p:cNvSpPr/>
          <p:nvPr/>
        </p:nvSpPr>
        <p:spPr>
          <a:xfrm>
            <a:off x="795528" y="2423160"/>
            <a:ext cx="676656" cy="676656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615184"/>
            <a:ext cx="6766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5" y="3154680"/>
            <a:ext cx="16916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8232B"/>
                </a:solidFill>
                <a:latin typeface="Arial"/>
              </a:rPr>
              <a:t>CONTROL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5" y="3483864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82036"/>
                </a:solidFill>
                <a:latin typeface="Arial"/>
              </a:rPr>
              <a:t>Verification gap</a:t>
            </a:r>
          </a:p>
        </p:txBody>
      </p:sp>
      <p:sp>
        <p:nvSpPr>
          <p:cNvPr id="15" name="Oval 14"/>
          <p:cNvSpPr/>
          <p:nvPr/>
        </p:nvSpPr>
        <p:spPr>
          <a:xfrm>
            <a:off x="2788920" y="2423160"/>
            <a:ext cx="676656" cy="676656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615184"/>
            <a:ext cx="6766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8568" y="3154680"/>
            <a:ext cx="17373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8232B"/>
                </a:solidFill>
                <a:latin typeface="Arial"/>
              </a:rPr>
              <a:t>HIDDEN POSITIONS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3483864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82036"/>
                </a:solidFill>
                <a:latin typeface="Arial"/>
              </a:rPr>
              <a:t>False offsets</a:t>
            </a:r>
          </a:p>
        </p:txBody>
      </p:sp>
      <p:sp>
        <p:nvSpPr>
          <p:cNvPr id="19" name="Oval 18"/>
          <p:cNvSpPr/>
          <p:nvPr/>
        </p:nvSpPr>
        <p:spPr>
          <a:xfrm>
            <a:off x="4809744" y="2423160"/>
            <a:ext cx="676656" cy="676656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9744" y="2615184"/>
            <a:ext cx="6766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7972" y="3154680"/>
            <a:ext cx="16002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8232B"/>
                </a:solidFill>
                <a:latin typeface="Arial"/>
              </a:rPr>
              <a:t>TRADING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7972" y="3483864"/>
            <a:ext cx="16002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82036"/>
                </a:solidFill>
                <a:latin typeface="Arial"/>
              </a:rPr>
              <a:t>USD 2.3bn</a:t>
            </a:r>
          </a:p>
        </p:txBody>
      </p:sp>
      <p:sp>
        <p:nvSpPr>
          <p:cNvPr id="23" name="Oval 22"/>
          <p:cNvSpPr/>
          <p:nvPr/>
        </p:nvSpPr>
        <p:spPr>
          <a:xfrm>
            <a:off x="6428232" y="1563624"/>
            <a:ext cx="676656" cy="676656"/>
          </a:xfrm>
          <a:prstGeom prst="ellipse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1755648"/>
            <a:ext cx="6766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2258568"/>
            <a:ext cx="153619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8232B"/>
                </a:solidFill>
                <a:latin typeface="Arial"/>
              </a:rPr>
              <a:t>SETTLEMENT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2587752"/>
            <a:ext cx="153619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49500"/>
                </a:solidFill>
                <a:latin typeface="Arial"/>
              </a:rPr>
              <a:t>Cash due</a:t>
            </a:r>
          </a:p>
        </p:txBody>
      </p:sp>
      <p:sp>
        <p:nvSpPr>
          <p:cNvPr id="27" name="Oval 26"/>
          <p:cNvSpPr/>
          <p:nvPr/>
        </p:nvSpPr>
        <p:spPr>
          <a:xfrm>
            <a:off x="6428232" y="3337559"/>
            <a:ext cx="676656" cy="676656"/>
          </a:xfrm>
          <a:prstGeom prst="ellipse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3529583"/>
            <a:ext cx="6766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4050791"/>
            <a:ext cx="17373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8232B"/>
                </a:solidFill>
                <a:latin typeface="Arial"/>
              </a:rPr>
              <a:t>COLLATERAL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4379976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49500"/>
                </a:solidFill>
                <a:latin typeface="Arial"/>
              </a:rPr>
              <a:t>Calls / delayed returns</a:t>
            </a:r>
          </a:p>
        </p:txBody>
      </p:sp>
      <p:sp>
        <p:nvSpPr>
          <p:cNvPr id="31" name="Oval 30"/>
          <p:cNvSpPr/>
          <p:nvPr/>
        </p:nvSpPr>
        <p:spPr>
          <a:xfrm>
            <a:off x="8348472" y="2423160"/>
            <a:ext cx="676656" cy="676656"/>
          </a:xfrm>
          <a:prstGeom prst="ellipse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2" y="2615184"/>
            <a:ext cx="6766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9540" y="3154680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8232B"/>
                </a:solidFill>
                <a:latin typeface="Arial"/>
              </a:rPr>
              <a:t>LIQUIDITY PRESSURE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9540" y="3483864"/>
            <a:ext cx="1874519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49500"/>
                </a:solidFill>
                <a:latin typeface="Arial"/>
              </a:rPr>
              <a:t>Buffer at risk</a:t>
            </a:r>
          </a:p>
        </p:txBody>
      </p:sp>
      <p:sp>
        <p:nvSpPr>
          <p:cNvPr id="35" name="Oval 34"/>
          <p:cNvSpPr/>
          <p:nvPr/>
        </p:nvSpPr>
        <p:spPr>
          <a:xfrm>
            <a:off x="10387584" y="2423160"/>
            <a:ext cx="676656" cy="676656"/>
          </a:xfrm>
          <a:prstGeom prst="ellipse">
            <a:avLst/>
          </a:prstGeom>
          <a:solidFill>
            <a:srgbClr val="00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87584" y="2615184"/>
            <a:ext cx="6766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11512" y="3154680"/>
            <a:ext cx="18288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8232B"/>
                </a:solidFill>
                <a:latin typeface="Arial"/>
              </a:rPr>
              <a:t>TREASURY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1512" y="3483864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008F72"/>
                </a:solidFill>
                <a:latin typeface="Arial"/>
              </a:rPr>
              <a:t>Funding action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81328" y="2761488"/>
            <a:ext cx="1280160" cy="0"/>
          </a:xfrm>
          <a:prstGeom prst="line">
            <a:avLst/>
          </a:prstGeom>
          <a:ln w="2667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2670048" y="2670048"/>
            <a:ext cx="182880" cy="182880"/>
          </a:xfrm>
          <a:prstGeom prst="triangl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474720" y="2761488"/>
            <a:ext cx="1307592" cy="0"/>
          </a:xfrm>
          <a:prstGeom prst="line">
            <a:avLst/>
          </a:prstGeom>
          <a:ln w="2667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4690872" y="2670048"/>
            <a:ext cx="182880" cy="182880"/>
          </a:xfrm>
          <a:prstGeom prst="triangl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5458968" y="2057400"/>
            <a:ext cx="941832" cy="521208"/>
          </a:xfrm>
          <a:prstGeom prst="line">
            <a:avLst/>
          </a:prstGeom>
          <a:ln w="2667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2700000">
            <a:off x="6309360" y="1965960"/>
            <a:ext cx="182880" cy="182880"/>
          </a:xfrm>
          <a:prstGeom prst="triangl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5458968" y="2944368"/>
            <a:ext cx="941832" cy="557784"/>
          </a:xfrm>
          <a:prstGeom prst="line">
            <a:avLst/>
          </a:prstGeom>
          <a:ln w="2667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8100000">
            <a:off x="6309360" y="3410712"/>
            <a:ext cx="182880" cy="182880"/>
          </a:xfrm>
          <a:prstGeom prst="triangl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7114032" y="2048256"/>
            <a:ext cx="1225295" cy="539496"/>
          </a:xfrm>
          <a:prstGeom prst="line">
            <a:avLst/>
          </a:prstGeom>
          <a:ln w="26670">
            <a:solidFill>
              <a:srgbClr val="C4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8100000">
            <a:off x="8247888" y="2496312"/>
            <a:ext cx="182880" cy="182880"/>
          </a:xfrm>
          <a:prstGeom prst="triangle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7114032" y="2944368"/>
            <a:ext cx="1225295" cy="566928"/>
          </a:xfrm>
          <a:prstGeom prst="line">
            <a:avLst/>
          </a:prstGeom>
          <a:ln w="26670">
            <a:solidFill>
              <a:srgbClr val="C4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/>
          <p:cNvSpPr/>
          <p:nvPr/>
        </p:nvSpPr>
        <p:spPr>
          <a:xfrm rot="2700000">
            <a:off x="8247888" y="2852928"/>
            <a:ext cx="182880" cy="182880"/>
          </a:xfrm>
          <a:prstGeom prst="triangle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9034272" y="2761488"/>
            <a:ext cx="1344168" cy="0"/>
          </a:xfrm>
          <a:prstGeom prst="line">
            <a:avLst/>
          </a:prstGeom>
          <a:ln w="26670">
            <a:solidFill>
              <a:srgbClr val="008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10287000" y="2670048"/>
            <a:ext cx="182880" cy="182880"/>
          </a:xfrm>
          <a:prstGeom prst="triangle">
            <a:avLst/>
          </a:prstGeom>
          <a:solidFill>
            <a:srgbClr val="00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0725912" y="3127248"/>
            <a:ext cx="0" cy="2139696"/>
          </a:xfrm>
          <a:prstGeom prst="line">
            <a:avLst/>
          </a:prstGeom>
          <a:ln w="22860">
            <a:solidFill>
              <a:srgbClr val="008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133856" y="5266944"/>
            <a:ext cx="9592056" cy="0"/>
          </a:xfrm>
          <a:prstGeom prst="line">
            <a:avLst/>
          </a:prstGeom>
          <a:ln w="22860">
            <a:solidFill>
              <a:srgbClr val="008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16200000">
            <a:off x="1042415" y="5175504"/>
            <a:ext cx="182880" cy="182880"/>
          </a:xfrm>
          <a:prstGeom prst="triangle">
            <a:avLst/>
          </a:prstGeom>
          <a:solidFill>
            <a:srgbClr val="00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41648" y="4992624"/>
            <a:ext cx="422452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08F72"/>
                </a:solidFill>
                <a:latin typeface="Arial"/>
              </a:rPr>
              <a:t>ENHANCED CONTROLS &amp; MONITORING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" y="5669280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8232B"/>
                </a:solidFill>
                <a:latin typeface="Arial"/>
              </a:rPr>
              <a:t>A trading loss becomes a Treasury issue only when it generates cash obligations through settlements, collateral requirements or funding constraints.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"/>
            <a:ext cx="1261872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7088" y="137160"/>
            <a:ext cx="882396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232B"/>
                </a:solidFill>
                <a:latin typeface="Arial"/>
              </a:rPr>
              <a:t>INCIDENT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088" y="429768"/>
            <a:ext cx="8823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C82036"/>
                </a:solidFill>
                <a:latin typeface="Arial"/>
              </a:rPr>
              <a:t>SECTION 1.2  ·  DISCOVERY, DISCLOSURE &amp;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649224"/>
            <a:ext cx="882396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8747B"/>
                </a:solidFill>
                <a:latin typeface="Arial"/>
              </a:rPr>
              <a:t>THE POSITIONS ACCUMULATED BEFORE THE SEPTEMBER DISCOVERY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09728"/>
            <a:ext cx="475488" cy="502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4048" y="886968"/>
            <a:ext cx="11411712" cy="0"/>
          </a:xfrm>
          <a:prstGeom prst="line">
            <a:avLst/>
          </a:prstGeom>
          <a:ln w="1143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" y="6556248"/>
            <a:ext cx="1141171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60" y="6601968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68747B"/>
                </a:solidFill>
                <a:latin typeface="Arial"/>
              </a:rPr>
              <a:t>UBS  ×  SKEMA   /   04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" y="1847088"/>
            <a:ext cx="7680960" cy="0"/>
          </a:xfrm>
          <a:prstGeom prst="line">
            <a:avLst/>
          </a:prstGeom>
          <a:ln w="2667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380744" y="1746504"/>
            <a:ext cx="201168" cy="201168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17007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C82036"/>
                </a:solidFill>
                <a:latin typeface="Arial"/>
              </a:rPr>
              <a:t>14 SEP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50008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79776"/>
            <a:ext cx="170078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Unauthorised positions identified.</a:t>
            </a:r>
          </a:p>
        </p:txBody>
      </p:sp>
      <p:sp>
        <p:nvSpPr>
          <p:cNvPr id="15" name="Oval 14"/>
          <p:cNvSpPr/>
          <p:nvPr/>
        </p:nvSpPr>
        <p:spPr>
          <a:xfrm>
            <a:off x="3355848" y="1746504"/>
            <a:ext cx="201168" cy="201168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5184" y="2057400"/>
            <a:ext cx="17007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C82036"/>
                </a:solidFill>
                <a:latin typeface="Arial"/>
              </a:rPr>
              <a:t>15 SEP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2350008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PUBLIC DISCLOSURE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779776"/>
            <a:ext cx="170078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UBS announces an initial loss estimate.</a:t>
            </a:r>
          </a:p>
        </p:txBody>
      </p:sp>
      <p:sp>
        <p:nvSpPr>
          <p:cNvPr id="19" name="Oval 18"/>
          <p:cNvSpPr/>
          <p:nvPr/>
        </p:nvSpPr>
        <p:spPr>
          <a:xfrm>
            <a:off x="5330951" y="1746504"/>
            <a:ext cx="201168" cy="201168"/>
          </a:xfrm>
          <a:prstGeom prst="ellipse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2057400"/>
            <a:ext cx="17007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C49500"/>
                </a:solidFill>
                <a:latin typeface="Arial"/>
              </a:rPr>
              <a:t>FOLLOWING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350008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CONTAINMENT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779776"/>
            <a:ext cx="170078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Positions reviewed; hedging and risk reduction actions.</a:t>
            </a:r>
          </a:p>
        </p:txBody>
      </p:sp>
      <p:sp>
        <p:nvSpPr>
          <p:cNvPr id="23" name="Oval 22"/>
          <p:cNvSpPr/>
          <p:nvPr/>
        </p:nvSpPr>
        <p:spPr>
          <a:xfrm>
            <a:off x="7306055" y="1746504"/>
            <a:ext cx="201168" cy="201168"/>
          </a:xfrm>
          <a:prstGeom prst="ellipse">
            <a:avLst/>
          </a:prstGeom>
          <a:solidFill>
            <a:srgbClr val="00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057400"/>
            <a:ext cx="17007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08F72"/>
                </a:solidFill>
                <a:latin typeface="Arial"/>
              </a:rPr>
              <a:t>FOLLOWING WEEKS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350008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INVESTIGATION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2779776"/>
            <a:ext cx="170078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Control failures analysed; remediation launched.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50808" y="1353312"/>
            <a:ext cx="2971800" cy="174650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daltons-illust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2484" y="1435608"/>
            <a:ext cx="2568448" cy="14447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51392" y="2926080"/>
            <a:ext cx="2761488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68747B"/>
                </a:solidFill>
                <a:latin typeface="Arial"/>
              </a:rPr>
              <a:t>ILLUSTRATIVE CARTOON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2" y="3273552"/>
            <a:ext cx="2944368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8232B"/>
                </a:solidFill>
                <a:latin typeface="Arial"/>
              </a:rPr>
              <a:t>Hidden positions accumulated before being uncovered in September 2011.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97112" y="4709160"/>
            <a:ext cx="438912" cy="201168"/>
          </a:xfrm>
          <a:prstGeom prst="rect">
            <a:avLst/>
          </a:prstGeom>
          <a:solidFill>
            <a:srgbClr val="00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9760" y="4544568"/>
            <a:ext cx="438912" cy="365760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22408" y="4343400"/>
            <a:ext cx="438912" cy="566928"/>
          </a:xfrm>
          <a:prstGeom prst="rect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35056" y="4105656"/>
            <a:ext cx="438912" cy="804672"/>
          </a:xfrm>
          <a:prstGeom prst="rect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87968" y="5020056"/>
            <a:ext cx="438912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68747B"/>
                </a:solidFill>
                <a:latin typeface="Arial"/>
              </a:rPr>
              <a:t>SMALL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6" y="5020056"/>
            <a:ext cx="438912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68747B"/>
                </a:solidFill>
                <a:latin typeface="Arial"/>
              </a:rPr>
              <a:t>GROWING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3264" y="5020056"/>
            <a:ext cx="438912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68747B"/>
                </a:solidFill>
                <a:latin typeface="Arial"/>
              </a:rPr>
              <a:t>LARGER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5912" y="5020056"/>
            <a:ext cx="603504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82036"/>
                </a:solidFill>
                <a:latin typeface="Arial"/>
              </a:rPr>
              <a:t>DISCOVERY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3785615"/>
            <a:ext cx="11045952" cy="0"/>
          </a:xfrm>
          <a:prstGeom prst="line">
            <a:avLst/>
          </a:prstGeom>
          <a:ln w="1016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8368" y="4041648"/>
            <a:ext cx="1572768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C82036"/>
                </a:solidFill>
                <a:latin typeface="Arial"/>
              </a:rPr>
              <a:t>TREASURY TAKEAWAY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3995928"/>
            <a:ext cx="5989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8232B"/>
                </a:solidFill>
                <a:latin typeface="Arial"/>
              </a:rPr>
              <a:t>The discovery date starts the response horizon; it does not make prior losses a same-day cash payment.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709160"/>
            <a:ext cx="7680960" cy="722376"/>
          </a:xfrm>
          <a:prstGeom prst="rect">
            <a:avLst/>
          </a:prstGeom>
          <a:solidFill>
            <a:srgbClr val="F8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846320"/>
            <a:ext cx="120700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C49500"/>
                </a:solidFill>
                <a:latin typeface="Arial"/>
              </a:rPr>
              <a:t>14 Sep 2011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4828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18232B"/>
                </a:solidFill>
                <a:latin typeface="Arial"/>
              </a:rPr>
              <a:t>Three-month Treasury response horizon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989320"/>
            <a:ext cx="1095451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8747B"/>
                </a:solidFill>
                <a:latin typeface="Arial"/>
              </a:rPr>
              <a:t>FINMA 2012; FSA 2012; UBS disclosures. The Dalton image is illustrative, not an incident photograph.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"/>
            <a:ext cx="1261872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7088" y="137160"/>
            <a:ext cx="882396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232B"/>
                </a:solidFill>
                <a:latin typeface="Arial"/>
              </a:rPr>
              <a:t>TREASURY LIQUIDITY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088" y="429768"/>
            <a:ext cx="8823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C82036"/>
                </a:solidFill>
                <a:latin typeface="Arial"/>
              </a:rPr>
              <a:t>SECTION 2.2  ·  CASH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649224"/>
            <a:ext cx="882396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8747B"/>
                </a:solidFill>
                <a:latin typeface="Arial"/>
              </a:rPr>
              <a:t>ILLUSTRATIVE USDm SCENARIOS · NOT HISTORICAL UBS TREASURY CASH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09728"/>
            <a:ext cx="475488" cy="502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4048" y="886968"/>
            <a:ext cx="11411712" cy="0"/>
          </a:xfrm>
          <a:prstGeom prst="line">
            <a:avLst/>
          </a:prstGeom>
          <a:ln w="1143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" y="6556248"/>
            <a:ext cx="1141171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60" y="6601968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68747B"/>
                </a:solidFill>
                <a:latin typeface="Arial"/>
              </a:rPr>
              <a:t>UBS  ×  SKEMA   /   05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66928" y="1188720"/>
          <a:ext cx="11018520" cy="345643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" y="4782312"/>
            <a:ext cx="34564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08F72"/>
                </a:solidFill>
                <a:latin typeface="Arial"/>
              </a:rPr>
              <a:t>NO INCIDENT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" y="5029200"/>
            <a:ext cx="3419856" cy="0"/>
          </a:xfrm>
          <a:prstGeom prst="line">
            <a:avLst/>
          </a:prstGeom>
          <a:ln w="17780">
            <a:solidFill>
              <a:srgbClr val="008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" y="5148072"/>
            <a:ext cx="3456432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8232B"/>
                </a:solidFill>
                <a:latin typeface="Arial"/>
              </a:rPr>
              <a:t>Normal receipts and payments keep modeled cash above the assumed $700m buffer; minimum $984m.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4782312"/>
            <a:ext cx="34564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87FA8"/>
                </a:solidFill>
                <a:latin typeface="Arial"/>
              </a:rPr>
              <a:t>INCIDENT BASE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15968" y="5029200"/>
            <a:ext cx="3419856" cy="0"/>
          </a:xfrm>
          <a:prstGeom prst="line">
            <a:avLst/>
          </a:prstGeom>
          <a:ln w="17780">
            <a:solidFill>
              <a:srgbClr val="287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15968" y="5148072"/>
            <a:ext cx="3456432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8232B"/>
                </a:solidFill>
                <a:latin typeface="Arial"/>
              </a:rPr>
              <a:t>Additional settlement and collateral needs reduce headroom; minimum $765m, no modeled breach.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4782312"/>
            <a:ext cx="34564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C82036"/>
                </a:solidFill>
                <a:latin typeface="Arial"/>
              </a:rPr>
              <a:t>COMBINED STRESS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10144" y="5029200"/>
            <a:ext cx="3419856" cy="0"/>
          </a:xfrm>
          <a:prstGeom prst="line">
            <a:avLst/>
          </a:prstGeom>
          <a:ln w="1778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10144" y="5148072"/>
            <a:ext cx="3456432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8232B"/>
                </a:solidFill>
                <a:latin typeface="Arial"/>
              </a:rPr>
              <a:t>Withdrawals and delayed collateral returns push cash below buffer on 30 Nov; peak gap $176m by 14 Dec.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062472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8747B"/>
                </a:solidFill>
                <a:latin typeface="Arial"/>
              </a:rPr>
              <a:t>Cash bridge formula: opening accessible cash + receipts − payments − settlement outflow + signed collateral movement − costs. Funding gap = max(0, buffer − cash before funding).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"/>
            <a:ext cx="1261872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7088" y="137160"/>
            <a:ext cx="882396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232B"/>
                </a:solidFill>
                <a:latin typeface="Arial"/>
              </a:rPr>
              <a:t>STRESS TEST: WHEN DOES CASH FALL BELOW THE BUFFER?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088" y="429768"/>
            <a:ext cx="8823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C82036"/>
                </a:solidFill>
                <a:latin typeface="Arial"/>
              </a:rPr>
              <a:t>SECTION 2.3  ·  COMBINED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649224"/>
            <a:ext cx="882396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8747B"/>
                </a:solidFill>
                <a:latin typeface="Arial"/>
              </a:rPr>
              <a:t>ILLUSTRATIVE USDm · STRESS INPUTS ARE ASSUMPTIONS, NOT UBS ACTUAL CASH FLOWS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09728"/>
            <a:ext cx="475488" cy="502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4048" y="886968"/>
            <a:ext cx="11411712" cy="0"/>
          </a:xfrm>
          <a:prstGeom prst="line">
            <a:avLst/>
          </a:prstGeom>
          <a:ln w="1143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" y="6556248"/>
            <a:ext cx="1141171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60" y="6601968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68747B"/>
                </a:solidFill>
                <a:latin typeface="Arial"/>
              </a:rPr>
              <a:t>UBS  ×  SKEMA   / 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078992"/>
            <a:ext cx="109728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32B"/>
                </a:solidFill>
                <a:latin typeface="Arial"/>
              </a:rPr>
              <a:t>$849m   −   $50m   −   $100m   −   $100m   −   $50m   =   $549m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673352"/>
            <a:ext cx="7927848" cy="3218688"/>
          </a:xfrm>
          <a:prstGeom prst="rect">
            <a:avLst/>
          </a:prstGeom>
          <a:solidFill>
            <a:srgbClr val="FFFFFF"/>
          </a:solidFill>
          <a:ln w="10160">
            <a:solidFill>
              <a:srgbClr val="C9C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207007" y="3916680"/>
            <a:ext cx="7159752" cy="0"/>
          </a:xfrm>
          <a:prstGeom prst="line">
            <a:avLst/>
          </a:prstGeom>
          <a:ln w="698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3843528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8747B"/>
                </a:solidFill>
                <a:latin typeface="Arial"/>
              </a:rPr>
              <a:t>500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7007" y="3429000"/>
            <a:ext cx="7159752" cy="0"/>
          </a:xfrm>
          <a:prstGeom prst="line">
            <a:avLst/>
          </a:prstGeom>
          <a:ln w="698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3355848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8747B"/>
                </a:solidFill>
                <a:latin typeface="Arial"/>
              </a:rPr>
              <a:t>600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07007" y="2941320"/>
            <a:ext cx="7159752" cy="0"/>
          </a:xfrm>
          <a:prstGeom prst="line">
            <a:avLst/>
          </a:prstGeom>
          <a:ln w="18415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2868168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C82036"/>
                </a:solidFill>
                <a:latin typeface="Arial"/>
              </a:rPr>
              <a:t>700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07007" y="2453640"/>
            <a:ext cx="7159752" cy="0"/>
          </a:xfrm>
          <a:prstGeom prst="line">
            <a:avLst/>
          </a:prstGeom>
          <a:ln w="698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4944" y="2380488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8747B"/>
                </a:solidFill>
                <a:latin typeface="Arial"/>
              </a:rPr>
              <a:t>800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07007" y="1965960"/>
            <a:ext cx="7159752" cy="0"/>
          </a:xfrm>
          <a:prstGeom prst="line">
            <a:avLst/>
          </a:prstGeom>
          <a:ln w="698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4944" y="1892807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8747B"/>
                </a:solidFill>
                <a:latin typeface="Arial"/>
              </a:rPr>
              <a:t>900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7008" y="2214676"/>
            <a:ext cx="566928" cy="1945843"/>
          </a:xfrm>
          <a:prstGeom prst="rect">
            <a:avLst/>
          </a:prstGeom>
          <a:solidFill>
            <a:srgbClr val="28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1976932"/>
            <a:ext cx="85953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87FA8"/>
                </a:solidFill>
                <a:latin typeface="Arial"/>
              </a:rPr>
              <a:t>$849m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261104"/>
            <a:ext cx="107899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8232B"/>
                </a:solidFill>
                <a:latin typeface="Arial"/>
              </a:rPr>
              <a:t>INCIDENT BASE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73936" y="2214676"/>
            <a:ext cx="484632" cy="0"/>
          </a:xfrm>
          <a:prstGeom prst="line">
            <a:avLst/>
          </a:prstGeom>
          <a:ln w="10160">
            <a:solidFill>
              <a:srgbClr val="68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258568" y="2214676"/>
            <a:ext cx="566928" cy="243840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12264" y="1976932"/>
            <a:ext cx="85953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49500"/>
                </a:solidFill>
                <a:latin typeface="Arial"/>
              </a:rPr>
              <a:t>−$50m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2536" y="4261104"/>
            <a:ext cx="107899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8232B"/>
                </a:solidFill>
                <a:latin typeface="Arial"/>
              </a:rPr>
              <a:t>SETTLEMENT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825496" y="2458516"/>
            <a:ext cx="484632" cy="0"/>
          </a:xfrm>
          <a:prstGeom prst="line">
            <a:avLst/>
          </a:prstGeom>
          <a:ln w="10160">
            <a:solidFill>
              <a:srgbClr val="68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310128" y="2458516"/>
            <a:ext cx="566928" cy="487680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63824" y="2220772"/>
            <a:ext cx="85953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49500"/>
                </a:solidFill>
                <a:latin typeface="Arial"/>
              </a:rPr>
              <a:t>−$100m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54096" y="4261104"/>
            <a:ext cx="107899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8232B"/>
                </a:solidFill>
                <a:latin typeface="Arial"/>
              </a:rPr>
              <a:t>COLLATERAL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77056" y="2946196"/>
            <a:ext cx="484632" cy="0"/>
          </a:xfrm>
          <a:prstGeom prst="line">
            <a:avLst/>
          </a:prstGeom>
          <a:ln w="10160">
            <a:solidFill>
              <a:srgbClr val="68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361688" y="2946196"/>
            <a:ext cx="566928" cy="487679"/>
          </a:xfrm>
          <a:prstGeom prst="rect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15383" y="2708452"/>
            <a:ext cx="85953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82036"/>
                </a:solidFill>
                <a:latin typeface="Arial"/>
              </a:rPr>
              <a:t>−$100m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05655" y="4261104"/>
            <a:ext cx="107899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8232B"/>
                </a:solidFill>
                <a:latin typeface="Arial"/>
              </a:rPr>
              <a:t>WITHDRAWALS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28616" y="3433876"/>
            <a:ext cx="484632" cy="0"/>
          </a:xfrm>
          <a:prstGeom prst="line">
            <a:avLst/>
          </a:prstGeom>
          <a:ln w="10160">
            <a:solidFill>
              <a:srgbClr val="68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413248" y="3433876"/>
            <a:ext cx="566928" cy="243839"/>
          </a:xfrm>
          <a:prstGeom prst="rect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66944" y="3196132"/>
            <a:ext cx="85953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82036"/>
                </a:solidFill>
                <a:latin typeface="Arial"/>
              </a:rPr>
              <a:t>−$50m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57216" y="4261104"/>
            <a:ext cx="107899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8232B"/>
                </a:solidFill>
                <a:latin typeface="Arial"/>
              </a:rPr>
              <a:t>ROLLOVER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31152" y="3677716"/>
            <a:ext cx="658368" cy="482803"/>
          </a:xfrm>
          <a:prstGeom prst="rect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93992" y="3430828"/>
            <a:ext cx="93268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2036"/>
                </a:solidFill>
                <a:latin typeface="Arial"/>
              </a:rPr>
              <a:t>$549m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02552" y="4261104"/>
            <a:ext cx="111556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8232B"/>
                </a:solidFill>
                <a:latin typeface="Arial"/>
              </a:rPr>
              <a:t>STRESS CLOSE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662672" y="2941320"/>
            <a:ext cx="0" cy="736396"/>
          </a:xfrm>
          <a:prstGeom prst="line">
            <a:avLst/>
          </a:prstGeom>
          <a:ln w="2540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744968" y="2959608"/>
            <a:ext cx="7498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C82036"/>
                </a:solidFill>
                <a:latin typeface="Arial"/>
              </a:rPr>
              <a:t>$151m
shortfall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96528" y="1673352"/>
            <a:ext cx="2761488" cy="3218688"/>
          </a:xfrm>
          <a:prstGeom prst="rect">
            <a:avLst/>
          </a:prstGeom>
          <a:solidFill>
            <a:srgbClr val="F6E2E3"/>
          </a:solidFill>
          <a:ln w="10160">
            <a:solidFill>
              <a:srgbClr val="C9C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15984" y="1901952"/>
            <a:ext cx="232257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82036"/>
                </a:solidFill>
                <a:latin typeface="Arial"/>
              </a:rPr>
              <a:t>30 NOVEMBER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5984" y="2221992"/>
            <a:ext cx="2322576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82036"/>
                </a:solidFill>
                <a:latin typeface="Arial"/>
              </a:rPr>
              <a:t>$549m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15984" y="2679192"/>
            <a:ext cx="2322576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8232B"/>
                </a:solidFill>
                <a:latin typeface="Arial"/>
              </a:rPr>
              <a:t>vs. $700m buffer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015984" y="3026664"/>
            <a:ext cx="2322576" cy="0"/>
          </a:xfrm>
          <a:prstGeom prst="line">
            <a:avLst/>
          </a:prstGeom>
          <a:ln w="1524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015984" y="3218688"/>
            <a:ext cx="232257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68747B"/>
                </a:solidFill>
                <a:latin typeface="Arial"/>
              </a:rPr>
              <a:t>14 DECEMBER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15984" y="3483864"/>
            <a:ext cx="2322576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8232B"/>
                </a:solidFill>
                <a:latin typeface="Arial"/>
              </a:rPr>
              <a:t>$524m cash  ·  $176m peak funding need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15984" y="4078224"/>
            <a:ext cx="232257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8747B"/>
                </a:solidFill>
                <a:latin typeface="Arial"/>
              </a:rPr>
              <a:t>ASSUMED FUNDING TIMING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5239512"/>
            <a:ext cx="20116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8232B"/>
                </a:solidFill>
                <a:latin typeface="Arial"/>
              </a:rPr>
              <a:t>Assumed $200m T+2 source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880360" y="5358384"/>
            <a:ext cx="7818120" cy="0"/>
          </a:xfrm>
          <a:prstGeom prst="line">
            <a:avLst/>
          </a:prstGeom>
          <a:ln w="2540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3035808" y="5266944"/>
            <a:ext cx="182880" cy="182880"/>
          </a:xfrm>
          <a:prstGeom prst="ellipse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34056" y="5532120"/>
            <a:ext cx="786384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49500"/>
                </a:solidFill>
                <a:latin typeface="Arial"/>
              </a:rPr>
              <a:t>25 NOV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51760" y="5742432"/>
            <a:ext cx="96012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8747B"/>
                </a:solidFill>
                <a:latin typeface="Arial"/>
              </a:rPr>
              <a:t>Trigger</a:t>
            </a:r>
          </a:p>
        </p:txBody>
      </p:sp>
      <p:sp>
        <p:nvSpPr>
          <p:cNvPr id="59" name="Oval 58"/>
          <p:cNvSpPr/>
          <p:nvPr/>
        </p:nvSpPr>
        <p:spPr>
          <a:xfrm>
            <a:off x="6355080" y="5266944"/>
            <a:ext cx="182880" cy="182880"/>
          </a:xfrm>
          <a:prstGeom prst="ellipse">
            <a:avLst/>
          </a:prstGeom>
          <a:solidFill>
            <a:srgbClr val="00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53328" y="5532120"/>
            <a:ext cx="786384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008F72"/>
                </a:solidFill>
                <a:latin typeface="Arial"/>
              </a:rPr>
              <a:t>29 NOV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71031" y="5742432"/>
            <a:ext cx="96012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8747B"/>
                </a:solidFill>
                <a:latin typeface="Arial"/>
              </a:rPr>
              <a:t>Arrival</a:t>
            </a:r>
          </a:p>
        </p:txBody>
      </p:sp>
      <p:sp>
        <p:nvSpPr>
          <p:cNvPr id="62" name="Oval 61"/>
          <p:cNvSpPr/>
          <p:nvPr/>
        </p:nvSpPr>
        <p:spPr>
          <a:xfrm>
            <a:off x="9893808" y="5266944"/>
            <a:ext cx="182880" cy="182880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92056" y="5532120"/>
            <a:ext cx="786384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82036"/>
                </a:solidFill>
                <a:latin typeface="Arial"/>
              </a:rPr>
              <a:t>30 NOV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9760" y="5742432"/>
            <a:ext cx="96012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8747B"/>
                </a:solidFill>
                <a:latin typeface="Arial"/>
              </a:rPr>
              <a:t>First breach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6108192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8747B"/>
                </a:solidFill>
                <a:latin typeface="Arial"/>
              </a:rPr>
              <a:t>If the source arrives after the breach, it cannot prevent the first shortfall. Verify facility access, collateral eligibility and settlement 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"/>
            <a:ext cx="1261872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7088" y="137160"/>
            <a:ext cx="882396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232B"/>
                </a:solidFill>
                <a:latin typeface="Arial"/>
              </a:rP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088" y="429768"/>
            <a:ext cx="8823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C82036"/>
                </a:solidFill>
                <a:latin typeface="Arial"/>
              </a:rPr>
              <a:t>SECTION 3.1  ·  LIKELIHOOD ×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649224"/>
            <a:ext cx="882396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8747B"/>
                </a:solidFill>
                <a:latin typeface="Arial"/>
              </a:rPr>
              <a:t>RESIDUAL RATINGS ARE ANALYST JUDGEMENTS FOR THE THREE-MONTH HORIZON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09728"/>
            <a:ext cx="475488" cy="502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4048" y="886968"/>
            <a:ext cx="11411712" cy="0"/>
          </a:xfrm>
          <a:prstGeom prst="line">
            <a:avLst/>
          </a:prstGeom>
          <a:ln w="1143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" y="6556248"/>
            <a:ext cx="1141171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60" y="6601968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68747B"/>
                </a:solidFill>
                <a:latin typeface="Arial"/>
              </a:rPr>
              <a:t>UBS  ×  SKEMA   /  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1508760"/>
            <a:ext cx="2057400" cy="1252728"/>
          </a:xfrm>
          <a:prstGeom prst="rect">
            <a:avLst/>
          </a:prstGeom>
          <a:solidFill>
            <a:srgbClr val="F1C9CD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572768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8747B"/>
                </a:solidFill>
                <a:latin typeface="Arial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1" y="1508760"/>
            <a:ext cx="2057400" cy="1252728"/>
          </a:xfrm>
          <a:prstGeom prst="rect">
            <a:avLst/>
          </a:prstGeom>
          <a:solidFill>
            <a:srgbClr val="E9AEB4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1572768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8747B"/>
                </a:solidFill>
                <a:latin typeface="Arial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10912" y="1508760"/>
            <a:ext cx="2057400" cy="1252728"/>
          </a:xfrm>
          <a:prstGeom prst="rect">
            <a:avLst/>
          </a:prstGeom>
          <a:solidFill>
            <a:srgbClr val="DD8E99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1" y="1572768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8747B"/>
                </a:solidFill>
                <a:latin typeface="Arial"/>
              </a:rPr>
              <a:t>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2807208"/>
            <a:ext cx="2057400" cy="1252728"/>
          </a:xfrm>
          <a:prstGeom prst="rect">
            <a:avLst/>
          </a:prstGeom>
          <a:solidFill>
            <a:srgbClr val="F4E6BE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871215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8747B"/>
                </a:solidFill>
                <a:latin typeface="Arial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07791" y="2807208"/>
            <a:ext cx="2057400" cy="1252728"/>
          </a:xfrm>
          <a:prstGeom prst="rect">
            <a:avLst/>
          </a:prstGeom>
          <a:solidFill>
            <a:srgbClr val="F0D998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232" y="2871215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8747B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090672"/>
            <a:ext cx="1801367" cy="9052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49500"/>
                </a:solidFill>
                <a:latin typeface="Arial"/>
              </a:rPr>
              <a:t>Market · 4
Counterparty · 4
Legal / regulatory ·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0912" y="2807208"/>
            <a:ext cx="2057400" cy="1252728"/>
          </a:xfrm>
          <a:prstGeom prst="rect">
            <a:avLst/>
          </a:prstGeom>
          <a:solidFill>
            <a:srgbClr val="E9C56F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1" y="2871215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8747B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7" y="3090672"/>
            <a:ext cx="1801367" cy="9052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2036"/>
                </a:solidFill>
                <a:latin typeface="Arial"/>
              </a:rPr>
              <a:t>Operational · 6
Liquidity · 6
Funding ·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" y="4105656"/>
            <a:ext cx="2057400" cy="1252728"/>
          </a:xfrm>
          <a:prstGeom prst="rect">
            <a:avLst/>
          </a:prstGeom>
          <a:solidFill>
            <a:srgbClr val="D7E9D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169664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8747B"/>
                </a:solidFill>
                <a:latin typeface="Arial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7791" y="4105656"/>
            <a:ext cx="2057400" cy="1252728"/>
          </a:xfrm>
          <a:prstGeom prst="rect">
            <a:avLst/>
          </a:prstGeom>
          <a:solidFill>
            <a:srgbClr val="E4ECD8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9232" y="4169664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8747B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5808" y="4389120"/>
            <a:ext cx="1801367" cy="9052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49500"/>
                </a:solidFill>
                <a:latin typeface="Arial"/>
              </a:rPr>
              <a:t>Reputational ·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10912" y="4105656"/>
            <a:ext cx="2057400" cy="1252728"/>
          </a:xfrm>
          <a:prstGeom prst="rect">
            <a:avLst/>
          </a:prstGeom>
          <a:solidFill>
            <a:srgbClr val="F0E6C7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02351" y="4169664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8747B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" y="1993391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8232B"/>
                </a:solidFill>
                <a:latin typeface="Arial"/>
              </a:rPr>
              <a:t>LIKELY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" y="3291839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8232B"/>
                </a:solidFill>
                <a:latin typeface="Arial"/>
              </a:rPr>
              <a:t>POSSIBLE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" y="4590288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8232B"/>
                </a:solidFill>
                <a:latin typeface="Arial"/>
              </a:rPr>
              <a:t>UNLIKELY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" y="1261872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8747B"/>
                </a:solidFill>
                <a:latin typeface="Arial"/>
              </a:rPr>
              <a:t>LIKELIHOOD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5431536"/>
            <a:ext cx="2057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18232B"/>
                </a:solidFill>
                <a:latin typeface="Arial"/>
              </a:rPr>
              <a:t>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07791" y="5431536"/>
            <a:ext cx="2057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18232B"/>
                </a:solidFill>
                <a:latin typeface="Arial"/>
              </a:rP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5431536"/>
            <a:ext cx="2057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18232B"/>
                </a:solidFill>
                <a:latin typeface="Arial"/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0632" y="5696712"/>
            <a:ext cx="9144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8747B"/>
                </a:solidFill>
                <a:latin typeface="Arial"/>
              </a:rPr>
              <a:t>IMPACT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1572768"/>
            <a:ext cx="3977639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232B"/>
                </a:solidFill>
                <a:latin typeface="Arial"/>
              </a:rPr>
              <a:t>PRIORITY EXPOSURES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543800" y="1901952"/>
            <a:ext cx="4032504" cy="0"/>
          </a:xfrm>
          <a:prstGeom prst="line">
            <a:avLst/>
          </a:prstGeom>
          <a:ln w="2286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543800" y="2139696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C82036"/>
                </a:solidFill>
                <a:latin typeface="Arial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9288" y="2139696"/>
            <a:ext cx="34747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8232B"/>
                </a:solidFill>
                <a:latin typeface="Arial"/>
              </a:rPr>
              <a:t>OPERATIONAL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9288" y="2414015"/>
            <a:ext cx="347472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8747B"/>
                </a:solidFill>
                <a:latin typeface="Arial"/>
              </a:rPr>
              <a:t>Unreconciled breaks can hide open positions.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019288" y="2907791"/>
            <a:ext cx="3538728" cy="0"/>
          </a:xfrm>
          <a:prstGeom prst="line">
            <a:avLst/>
          </a:prstGeom>
          <a:ln w="8255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543800" y="3081528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C82036"/>
                </a:solidFill>
                <a:latin typeface="Arial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9288" y="3081528"/>
            <a:ext cx="34747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8232B"/>
                </a:solidFill>
                <a:latin typeface="Arial"/>
              </a:rPr>
              <a:t>LIQUIDITY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9288" y="3355848"/>
            <a:ext cx="347472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8747B"/>
                </a:solidFill>
                <a:latin typeface="Arial"/>
              </a:rPr>
              <a:t>Dated settlement and collateral needs can breach the buffer.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019288" y="3849624"/>
            <a:ext cx="3538728" cy="0"/>
          </a:xfrm>
          <a:prstGeom prst="line">
            <a:avLst/>
          </a:prstGeom>
          <a:ln w="8255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543800" y="4023360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C82036"/>
                </a:solidFill>
                <a:latin typeface="Arial"/>
              </a:rP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19288" y="4023360"/>
            <a:ext cx="34747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8232B"/>
                </a:solidFill>
                <a:latin typeface="Arial"/>
              </a:rPr>
              <a:t>FUNDING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9288" y="4297680"/>
            <a:ext cx="347472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8747B"/>
                </a:solidFill>
                <a:latin typeface="Arial"/>
              </a:rPr>
              <a:t>Maturing sources may not roll before cash is due.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5065776"/>
            <a:ext cx="39319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8232B"/>
                </a:solidFill>
                <a:latin typeface="Arial"/>
              </a:rPr>
              <a:t>No risk is currently scored likely in the base assessment.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" y="5833872"/>
            <a:ext cx="201168" cy="164592"/>
          </a:xfrm>
          <a:prstGeom prst="rect">
            <a:avLst/>
          </a:prstGeom>
          <a:solidFill>
            <a:srgbClr val="4F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9848" y="5815584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8747B"/>
                </a:solidFill>
                <a:latin typeface="Arial"/>
              </a:rPr>
              <a:t>Lower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19" y="5833872"/>
            <a:ext cx="201168" cy="164592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39696" y="5815584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8747B"/>
                </a:solidFill>
                <a:latin typeface="Arial"/>
              </a:rPr>
              <a:t>Monitor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90672" y="5833872"/>
            <a:ext cx="201168" cy="164592"/>
          </a:xfrm>
          <a:prstGeom prst="rect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55848" y="5815584"/>
            <a:ext cx="84124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8747B"/>
                </a:solidFill>
                <a:latin typeface="Arial"/>
              </a:rP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2" y="5779008"/>
            <a:ext cx="691286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8747B"/>
                </a:solidFill>
                <a:latin typeface="Arial"/>
              </a:rPr>
              <a:t>Score = likelihood × impact (1–3). Analyst ratings, not UBS / regulator scores; calibrate impact to the approved buffer and re-score after containment.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"/>
            <a:ext cx="1261872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7088" y="137160"/>
            <a:ext cx="882396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232B"/>
                </a:solidFill>
                <a:latin typeface="Arial"/>
              </a:rPr>
              <a:t>CFO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088" y="429768"/>
            <a:ext cx="8823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C82036"/>
                </a:solidFill>
                <a:latin typeface="Arial"/>
              </a:rPr>
              <a:t>SECTION 3.2  ·  THREE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649224"/>
            <a:ext cx="882396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8747B"/>
                </a:solidFill>
                <a:latin typeface="Arial"/>
              </a:rPr>
              <a:t>SEQUENCE ACTIONS FROM CASH VISIBILITY TO LASTING CONTROL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09728"/>
            <a:ext cx="475488" cy="502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4048" y="886968"/>
            <a:ext cx="11411712" cy="0"/>
          </a:xfrm>
          <a:prstGeom prst="line">
            <a:avLst/>
          </a:prstGeom>
          <a:ln w="1143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" y="6556248"/>
            <a:ext cx="1141171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60" y="6601968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68747B"/>
                </a:solidFill>
                <a:latin typeface="Arial"/>
              </a:rPr>
              <a:t>UBS  ×  SKEMA   /  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481328"/>
            <a:ext cx="331012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08F72"/>
                </a:solidFill>
                <a:latin typeface="Arial"/>
              </a:rPr>
              <a:t>IMMEDIATE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1481328"/>
            <a:ext cx="106984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68747B"/>
                </a:solidFill>
                <a:latin typeface="Arial"/>
              </a:rPr>
              <a:t>WITHIN 24h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773936"/>
            <a:ext cx="3310128" cy="0"/>
          </a:xfrm>
          <a:prstGeom prst="line">
            <a:avLst/>
          </a:prstGeom>
          <a:ln w="25400">
            <a:solidFill>
              <a:srgbClr val="008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" y="2011680"/>
            <a:ext cx="3310128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232B"/>
                </a:solidFill>
                <a:latin typeface="Arial"/>
              </a:rPr>
              <a:t>LIQUIDITY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670048"/>
            <a:ext cx="3310128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8F72"/>
                </a:solidFill>
                <a:latin typeface="Arial"/>
              </a:rPr>
              <a:t>Owner  ·  Group Treasurer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88" y="3246120"/>
            <a:ext cx="0" cy="1920240"/>
          </a:xfrm>
          <a:prstGeom prst="line">
            <a:avLst/>
          </a:prstGeom>
          <a:ln w="2540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0936" y="3310128"/>
            <a:ext cx="155448" cy="155448"/>
          </a:xfrm>
          <a:prstGeom prst="ellipse">
            <a:avLst/>
          </a:prstGeom>
          <a:solidFill>
            <a:srgbClr val="00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172968"/>
            <a:ext cx="2971800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8232B"/>
                </a:solidFill>
                <a:latin typeface="Arial"/>
              </a:rPr>
              <a:t>Build a dated cash view; confirm accessible liquidity and funding arrival.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4" y="4224528"/>
            <a:ext cx="299923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23544" y="4407408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08F72"/>
                </a:solidFill>
                <a:latin typeface="Arial"/>
              </a:rPr>
              <a:t>Benefit  ·  No unexpected cash breach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4983480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68747B"/>
                </a:solidFill>
                <a:latin typeface="Arial"/>
              </a:rPr>
              <a:t>Fallback · use only confirmed, accessible funding.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1481328"/>
            <a:ext cx="331012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C49500"/>
                </a:solidFill>
                <a:latin typeface="Arial"/>
              </a:rPr>
              <a:t>CONTAINMENT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1481328"/>
            <a:ext cx="106984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68747B"/>
                </a:solidFill>
                <a:latin typeface="Arial"/>
              </a:rPr>
              <a:t>DAYS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15968" y="1773936"/>
            <a:ext cx="3310128" cy="0"/>
          </a:xfrm>
          <a:prstGeom prst="line">
            <a:avLst/>
          </a:prstGeom>
          <a:ln w="25400">
            <a:solidFill>
              <a:srgbClr val="C4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15968" y="2011680"/>
            <a:ext cx="3310128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232B"/>
                </a:solidFill>
                <a:latin typeface="Arial"/>
              </a:rPr>
              <a:t>POSITION RECONCILIATION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2670048"/>
            <a:ext cx="3310128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C49500"/>
                </a:solidFill>
                <a:latin typeface="Arial"/>
              </a:rPr>
              <a:t>Owner  ·  COO + Risk + Treasury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07407" y="3246120"/>
            <a:ext cx="0" cy="1920240"/>
          </a:xfrm>
          <a:prstGeom prst="line">
            <a:avLst/>
          </a:prstGeom>
          <a:ln w="2540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334255" y="3310128"/>
            <a:ext cx="155448" cy="155448"/>
          </a:xfrm>
          <a:prstGeom prst="ellipse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6864" y="3172968"/>
            <a:ext cx="2971800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8232B"/>
                </a:solidFill>
                <a:latin typeface="Arial"/>
              </a:rPr>
              <a:t>Independently match positions, settlements and collateral; track unresolved breaks daily.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26864" y="4224528"/>
            <a:ext cx="299923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26864" y="4407408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C49500"/>
                </a:solidFill>
                <a:latin typeface="Arial"/>
              </a:rPr>
              <a:t>Benefit  ·  Reduce uncertainty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4983480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68747B"/>
                </a:solidFill>
                <a:latin typeface="Arial"/>
              </a:rPr>
              <a:t>Fallback · retain a conservative overlay until breaks close.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1481328"/>
            <a:ext cx="331012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C82036"/>
                </a:solidFill>
                <a:latin typeface="Arial"/>
              </a:rPr>
              <a:t>PREVENTION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9567" y="1481328"/>
            <a:ext cx="106984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68747B"/>
                </a:solidFill>
                <a:latin typeface="Arial"/>
              </a:rPr>
              <a:t>3 MONTHS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19288" y="1773936"/>
            <a:ext cx="3310128" cy="0"/>
          </a:xfrm>
          <a:prstGeom prst="line">
            <a:avLst/>
          </a:prstGeom>
          <a:ln w="2540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019288" y="2011680"/>
            <a:ext cx="3310128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232B"/>
                </a:solidFill>
                <a:latin typeface="Arial"/>
              </a:rPr>
              <a:t>GOVERNANCE UPGRADE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9288" y="2670048"/>
            <a:ext cx="3310128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C82036"/>
                </a:solidFill>
                <a:latin typeface="Arial"/>
              </a:rPr>
              <a:t>Owner  ·  CRO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10727" y="3246120"/>
            <a:ext cx="0" cy="1920240"/>
          </a:xfrm>
          <a:prstGeom prst="line">
            <a:avLst/>
          </a:prstGeom>
          <a:ln w="2540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037575" y="3310128"/>
            <a:ext cx="155448" cy="155448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0183" y="3172968"/>
            <a:ext cx="2971800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8232B"/>
                </a:solidFill>
                <a:latin typeface="Arial"/>
              </a:rPr>
              <a:t>Strengthen independent verification, exception escalation and control ownership.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330183" y="4224528"/>
            <a:ext cx="2999233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330183" y="4407408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C82036"/>
                </a:solidFill>
                <a:latin typeface="Arial"/>
              </a:rPr>
              <a:t>Benefit  ·  Prevent recurrence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0183" y="4983480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68747B"/>
                </a:solidFill>
                <a:latin typeface="Arial"/>
              </a:rPr>
              <a:t>Fallback · manual dual sign-off until controls are live.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5705856"/>
            <a:ext cx="10716768" cy="566928"/>
          </a:xfrm>
          <a:prstGeom prst="rect">
            <a:avLst/>
          </a:prstGeom>
          <a:solidFill>
            <a:srgbClr val="E8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" y="5843016"/>
            <a:ext cx="1078992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C82036"/>
                </a:solidFill>
                <a:latin typeface="Arial"/>
              </a:rPr>
              <a:t>OBJECTIVE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75104" y="5797296"/>
            <a:ext cx="908913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232B"/>
                </a:solidFill>
                <a:latin typeface="Arial"/>
              </a:rPr>
              <a:t>Maintain liquidity above the minimum buffer throughout the Treasury horizon.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6336792"/>
            <a:ext cx="1097280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68747B"/>
                </a:solidFill>
                <a:latin typeface="Arial"/>
              </a:rPr>
              <a:t>Count funding only when availability, collateral and arrival time are verified.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UBS 2011 Rogue Trading · Treasury Response</dc:title>
  <dc:subject>Eight-slide Treasury presentation with analytical Excel/Python visuals</dc:subject>
  <dc:creator>Corporate Treasury Management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