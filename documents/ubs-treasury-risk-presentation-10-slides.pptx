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incident</c:v>
                </c:pt>
              </c:strCache>
            </c:strRef>
          </c:tx>
          <c:spPr>
            <a:ln w="25400">
              <a:solidFill>
                <a:srgbClr val="008F72"/>
              </a:solidFill>
            </a:ln>
          </c:spPr>
          <c:marker>
            <c:symbol val="diamond"/>
            <c:size val="4"/>
            <c:spPr>
              <a:solidFill>
                <a:srgbClr val="008F72"/>
              </a:solidFill>
              <a:ln>
                <a:solidFill>
                  <a:srgbClr val="008F7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</c:v>
                </c:pt>
                <c:pt idx="1">
                  <c:v>990</c:v>
                </c:pt>
                <c:pt idx="2">
                  <c:v>985</c:v>
                </c:pt>
                <c:pt idx="3">
                  <c:v>990</c:v>
                </c:pt>
                <c:pt idx="4">
                  <c:v>985</c:v>
                </c:pt>
                <c:pt idx="5">
                  <c:v>987</c:v>
                </c:pt>
                <c:pt idx="6">
                  <c:v>984</c:v>
                </c:pt>
                <c:pt idx="7">
                  <c:v>1004</c:v>
                </c:pt>
                <c:pt idx="8">
                  <c:v>1104</c:v>
                </c:pt>
                <c:pt idx="9">
                  <c:v>1054</c:v>
                </c:pt>
                <c:pt idx="10">
                  <c:v>1024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 base</c:v>
                </c:pt>
              </c:strCache>
            </c:strRef>
          </c:tx>
          <c:spPr>
            <a:ln w="25400">
              <a:solidFill>
                <a:srgbClr val="287FA8"/>
              </a:solidFill>
            </a:ln>
          </c:spPr>
          <c:marker>
            <c:symbol val="diamond"/>
            <c:size val="4"/>
            <c:spPr>
              <a:solidFill>
                <a:srgbClr val="287FA8"/>
              </a:solidFill>
              <a:ln>
                <a:solidFill>
                  <a:srgbClr val="287FA8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915</c:v>
                </c:pt>
                <c:pt idx="2">
                  <c:v>805</c:v>
                </c:pt>
                <c:pt idx="3">
                  <c:v>775</c:v>
                </c:pt>
                <c:pt idx="4">
                  <c:v>765</c:v>
                </c:pt>
                <c:pt idx="5">
                  <c:v>772</c:v>
                </c:pt>
                <c:pt idx="6">
                  <c:v>774</c:v>
                </c:pt>
                <c:pt idx="7">
                  <c:v>769</c:v>
                </c:pt>
                <c:pt idx="8">
                  <c:v>909</c:v>
                </c:pt>
                <c:pt idx="9">
                  <c:v>849</c:v>
                </c:pt>
                <c:pt idx="10">
                  <c:v>824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 stress</c:v>
                </c:pt>
              </c:strCache>
            </c:strRef>
          </c:tx>
          <c:spPr>
            <a:ln w="25400">
              <a:solidFill>
                <a:srgbClr val="C82036"/>
              </a:solidFill>
            </a:ln>
          </c:spPr>
          <c:marker>
            <c:symbol val="diamond"/>
            <c:size val="4"/>
            <c:spPr>
              <a:solidFill>
                <a:srgbClr val="C82036"/>
              </a:solidFill>
              <a:ln>
                <a:solidFill>
                  <a:srgbClr val="C82036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1000</c:v>
                </c:pt>
                <c:pt idx="1">
                  <c:v>915</c:v>
                </c:pt>
                <c:pt idx="2">
                  <c:v>805</c:v>
                </c:pt>
                <c:pt idx="3">
                  <c:v>775</c:v>
                </c:pt>
                <c:pt idx="4">
                  <c:v>765</c:v>
                </c:pt>
                <c:pt idx="5">
                  <c:v>772</c:v>
                </c:pt>
                <c:pt idx="6">
                  <c:v>774</c:v>
                </c:pt>
                <c:pt idx="7">
                  <c:v>769</c:v>
                </c:pt>
                <c:pt idx="8">
                  <c:v>909</c:v>
                </c:pt>
                <c:pt idx="9">
                  <c:v>549</c:v>
                </c:pt>
                <c:pt idx="10">
                  <c:v>524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Minimum buffer</c:v>
                </c:pt>
              </c:strCache>
            </c:strRef>
          </c:tx>
          <c:spPr>
            <a:ln w="16510">
              <a:solidFill>
                <a:srgbClr val="C49500"/>
              </a:solidFill>
              <a:prstDash val="dash"/>
            </a:ln>
          </c:spPr>
          <c:marker>
            <c:symbol val="square"/>
          </c:marker>
          <c:cat>
            <c:strRef>
              <c:f>Sheet1!$A$2:$A$12</c:f>
              <c:strCache>
                <c:ptCount val="11"/>
                <c:pt idx="0">
                  <c:v>14 Sep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30 Sep</c:v>
                </c:pt>
                <c:pt idx="8">
                  <c:v>Oct</c:v>
                </c:pt>
                <c:pt idx="9">
                  <c:v>Nov</c:v>
                </c:pt>
                <c:pt idx="10">
                  <c:v>14 Dec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700</c:v>
                </c:pt>
                <c:pt idx="1">
                  <c:v>700</c:v>
                </c:pt>
                <c:pt idx="2">
                  <c:v>700</c:v>
                </c:pt>
                <c:pt idx="3">
                  <c:v>700</c:v>
                </c:pt>
                <c:pt idx="4">
                  <c:v>700</c:v>
                </c:pt>
                <c:pt idx="5">
                  <c:v>700</c:v>
                </c:pt>
                <c:pt idx="6">
                  <c:v>700</c:v>
                </c:pt>
                <c:pt idx="7">
                  <c:v>700</c:v>
                </c:pt>
                <c:pt idx="8">
                  <c:v>700</c:v>
                </c:pt>
                <c:pt idx="9">
                  <c:v>700</c:v>
                </c:pt>
                <c:pt idx="10">
                  <c:v>700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8747B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00.0"/>
          <c:min val="5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8747B"/>
                </a:solidFill>
                <a:latin typeface="Arial"/>
              </a:defRPr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0"/>
            <a:ext cx="59436" cy="859536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232B"/>
                </a:solidFill>
                <a:latin typeface="Arial"/>
              </a:rPr>
              <a:t>UBS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1078992"/>
            <a:ext cx="10680192" cy="5138928"/>
          </a:xfrm>
          <a:prstGeom prst="rect">
            <a:avLst/>
          </a:prstGeom>
          <a:solidFill>
            <a:srgbClr val="C9C9C0"/>
          </a:solidFill>
          <a:ln w="1270">
            <a:solidFill>
              <a:srgbClr val="C9C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bs-key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554480"/>
            <a:ext cx="237744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" y="4370832"/>
            <a:ext cx="7955279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232B"/>
                </a:solidFill>
                <a:latin typeface="Arial"/>
              </a:rPr>
              <a:t>UBS 2011 Rogue Trading Scandal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4828032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8232B"/>
                </a:solidFill>
                <a:latin typeface="Arial"/>
              </a:rPr>
              <a:t>Treasury Risk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394960"/>
            <a:ext cx="78181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232B"/>
                </a:solidFill>
                <a:latin typeface="Arial"/>
              </a:rPr>
              <a:t>Paul Alain Diouf  ·  Calvin Minang  ·  Jules Métayer  ·  Elias Abou-Tayeh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7424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8232B"/>
                </a:solidFill>
                <a:latin typeface="Arial"/>
              </a:rPr>
              <a:t>Professor Jamil Chaftar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2872" y="5532120"/>
            <a:ext cx="2185416" cy="685800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bs-logo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596128"/>
            <a:ext cx="1682496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roved-map-slide-report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4" y="0"/>
            <a:ext cx="121491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HOW HIDDEN POSITIONS ESCAPED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1.2  ·  CONCEALMENT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REAL FUTURES EXPOSURE VS THE APPARENT INTERNAL RISK VIEW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44752"/>
            <a:ext cx="475488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8747B"/>
                </a:solidFill>
                <a:latin typeface="Arial"/>
              </a:rPr>
              <a:t>RELATIVE EXPOSURE  ·  SCHEMATIC, NOT TO SCALE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97864" y="2029967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97864" y="3017520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97864" y="4005071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97864" y="4992623"/>
            <a:ext cx="6894576" cy="0"/>
          </a:xfrm>
          <a:prstGeom prst="line">
            <a:avLst/>
          </a:prstGeom>
          <a:ln w="6985">
            <a:solidFill>
              <a:srgbClr val="E4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97864" y="4553711"/>
            <a:ext cx="1143000" cy="274320"/>
          </a:xfrm>
          <a:prstGeom prst="rect">
            <a:avLst/>
          </a:prstGeom>
          <a:solidFill>
            <a:srgbClr val="F8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40864" y="4142231"/>
            <a:ext cx="1143000" cy="621791"/>
          </a:xfrm>
          <a:prstGeom prst="rect">
            <a:avLst/>
          </a:prstGeom>
          <a:solidFill>
            <a:srgbClr val="F6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3864" y="3639311"/>
            <a:ext cx="1143000" cy="1060703"/>
          </a:xfrm>
          <a:prstGeom prst="rect">
            <a:avLst/>
          </a:prstGeom>
          <a:solidFill>
            <a:srgbClr val="F4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26864" y="2980943"/>
            <a:ext cx="1188719" cy="1673352"/>
          </a:xfrm>
          <a:prstGeom prst="rect">
            <a:avLst/>
          </a:prstGeom>
          <a:solidFill>
            <a:srgbClr val="F1C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5583" y="2231136"/>
            <a:ext cx="1188720" cy="2368295"/>
          </a:xfrm>
          <a:prstGeom prst="rect">
            <a:avLst/>
          </a:prstGeom>
          <a:solidFill>
            <a:srgbClr val="EF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197864" y="4553711"/>
            <a:ext cx="1143000" cy="27432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40864" y="4142231"/>
            <a:ext cx="1143000" cy="41148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483864" y="3639311"/>
            <a:ext cx="1143000" cy="502920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26864" y="2980943"/>
            <a:ext cx="1188719" cy="658368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15583" y="2231136"/>
            <a:ext cx="1188721" cy="749807"/>
          </a:xfrm>
          <a:prstGeom prst="line">
            <a:avLst/>
          </a:prstGeom>
          <a:ln w="3175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147572" y="4777740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90572" y="450341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33572" y="409193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76572" y="3589019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65292" y="2930651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54012" y="2180844"/>
            <a:ext cx="100584" cy="100584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197864" y="4764023"/>
            <a:ext cx="1143000" cy="64008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40864" y="4700015"/>
            <a:ext cx="1143000" cy="64008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83864" y="4654295"/>
            <a:ext cx="1143000" cy="45720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626864" y="4599431"/>
            <a:ext cx="1188719" cy="54864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815583" y="4544567"/>
            <a:ext cx="1188721" cy="54864"/>
          </a:xfrm>
          <a:prstGeom prst="line">
            <a:avLst/>
          </a:prstGeom>
          <a:ln w="2794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47572" y="4777740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90572" y="4713731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33572" y="4649723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6572" y="4604003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65292" y="4549140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54012" y="4494275"/>
            <a:ext cx="100584" cy="100584"/>
          </a:xfrm>
          <a:prstGeom prst="ellipse">
            <a:avLst/>
          </a:prstGeom>
          <a:solidFill>
            <a:srgbClr val="287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0744" y="2066543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82036"/>
                </a:solidFill>
                <a:latin typeface="Arial"/>
              </a:rPr>
              <a:t>REAL LONG INDEX FUTURES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1183" y="4379975"/>
            <a:ext cx="28346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87FA8"/>
                </a:solidFill>
                <a:latin typeface="Arial"/>
              </a:rPr>
              <a:t>Reported risk appears limited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3" y="2980944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Unseen exposure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97864" y="5138927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68747B"/>
                </a:solidFill>
                <a:latin typeface="Arial"/>
              </a:rPr>
              <a:t>Positions build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59" y="5138927"/>
            <a:ext cx="2240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8232B"/>
                </a:solidFill>
                <a:latin typeface="Arial"/>
              </a:rPr>
              <a:t>14 SEP 2011 · DISCOVERY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1417320"/>
            <a:ext cx="292608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18232B"/>
                </a:solidFill>
                <a:latin typeface="Arial"/>
              </a:rPr>
              <a:t>WHAT HAPPENED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05088" y="1719072"/>
            <a:ext cx="2935224" cy="0"/>
          </a:xfrm>
          <a:prstGeom prst="line">
            <a:avLst/>
          </a:prstGeom>
          <a:ln w="2286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05088" y="1892807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82036"/>
                </a:solidFill>
                <a:latin typeface="Arial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4856" y="1892807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REAL POSITION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856" y="2148839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Long index futures remained open in the market.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34856" y="2697479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705088" y="2825496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49500"/>
                </a:solidFill>
                <a:latin typeface="Arial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34856" y="2825496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FALSE HEDGE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3081528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Fictitious deferred-settlement ETF entries were booked internally as offsets.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134856" y="3630168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705088" y="3758183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87FA8"/>
                </a:solidFill>
                <a:latin typeface="Arial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4856" y="3758183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APPARENT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4856" y="4014215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Risk reports appeared limited while real exposure kept growing.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34856" y="4562855"/>
            <a:ext cx="2505456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705088" y="4690872"/>
            <a:ext cx="34747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82036"/>
                </a:solidFill>
                <a:latin typeface="Arial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690872"/>
            <a:ext cx="2487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DISCOVERY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4856" y="4946904"/>
            <a:ext cx="248716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14 September 2011 · reported loss USD 2.3bn.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" y="6108192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Sources: FINMA 2012 §§11–18; FSA 2012 §§23–25. The chart is conceptual; it is not a historical exposure series.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FROM CONTROL FAILURE TO TREASURY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1.3  ·  OPERATIONAL RISK → CASH →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THE CASH CONSEQUENCE DEPENDS ON DUE DATES, COLLATERAL AND HEADROOM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1947672"/>
            <a:ext cx="1783080" cy="0"/>
          </a:xfrm>
          <a:prstGeom prst="line">
            <a:avLst/>
          </a:prstGeom>
          <a:ln w="2540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4297680" y="1856231"/>
            <a:ext cx="164592" cy="164592"/>
          </a:xfrm>
          <a:prstGeom prst="chevron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355080" y="2011680"/>
            <a:ext cx="1709928" cy="411480"/>
          </a:xfrm>
          <a:prstGeom prst="line">
            <a:avLst/>
          </a:prstGeom>
          <a:ln w="2540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 rot="1200000">
            <a:off x="7333488" y="2121408"/>
            <a:ext cx="164592" cy="164592"/>
          </a:xfrm>
          <a:prstGeom prst="chevron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778240" y="2907792"/>
            <a:ext cx="0" cy="1042416"/>
          </a:xfrm>
          <a:prstGeom prst="line">
            <a:avLst/>
          </a:prstGeom>
          <a:ln w="2540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 rot="5400000">
            <a:off x="8695944" y="3429000"/>
            <a:ext cx="164592" cy="164592"/>
          </a:xfrm>
          <a:prstGeom prst="chevron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6364224" y="4507992"/>
            <a:ext cx="1453896" cy="557784"/>
          </a:xfrm>
          <a:prstGeom prst="line">
            <a:avLst/>
          </a:prstGeom>
          <a:ln w="2540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 rot="9600000">
            <a:off x="6821424" y="4754880"/>
            <a:ext cx="164592" cy="164592"/>
          </a:xfrm>
          <a:prstGeom prst="chevron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788920" y="4544568"/>
            <a:ext cx="1783080" cy="621792"/>
          </a:xfrm>
          <a:prstGeom prst="line">
            <a:avLst/>
          </a:prstGeom>
          <a:ln w="2540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 rot="12000000">
            <a:off x="3602736" y="4782312"/>
            <a:ext cx="164592" cy="164592"/>
          </a:xfrm>
          <a:prstGeom prst="chevron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2331720" y="2414016"/>
            <a:ext cx="0" cy="1609344"/>
          </a:xfrm>
          <a:prstGeom prst="line">
            <a:avLst/>
          </a:prstGeom>
          <a:ln w="2540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 rot="16200000">
            <a:off x="2249424" y="2770632"/>
            <a:ext cx="164592" cy="164592"/>
          </a:xfrm>
          <a:prstGeom prst="chevron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81528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08F72"/>
                </a:solidFill>
                <a:latin typeface="Arial"/>
              </a:rPr>
              <a:t>ENHANCED CONTROLS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" y="1618488"/>
            <a:ext cx="1847088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72768" y="1700784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CONTROL 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2048256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C82036"/>
                </a:solidFill>
                <a:latin typeface="Arial"/>
              </a:rPr>
              <a:t>Operational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36592" y="1618488"/>
            <a:ext cx="1847088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3440" y="1700784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HIDDEN POSITIONS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048256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C82036"/>
                </a:solidFill>
                <a:latin typeface="Arial"/>
              </a:rPr>
              <a:t>Concealed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82712" y="2157984"/>
            <a:ext cx="1847088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09560" y="2240279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MARKET LOSSES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587752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C82036"/>
                </a:solidFill>
                <a:latin typeface="Arial"/>
              </a:rPr>
              <a:t>Trading P&amp;L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82712" y="4087368"/>
            <a:ext cx="1847088" cy="0"/>
          </a:xfrm>
          <a:prstGeom prst="line">
            <a:avLst/>
          </a:prstGeom>
          <a:ln w="2159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09560" y="4169663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COLLATERAL &amp;
SETTLEMENT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517136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C49500"/>
                </a:solidFill>
                <a:latin typeface="Arial"/>
              </a:rPr>
              <a:t>Cash due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36592" y="4818888"/>
            <a:ext cx="1847088" cy="0"/>
          </a:xfrm>
          <a:prstGeom prst="line">
            <a:avLst/>
          </a:prstGeom>
          <a:ln w="2159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63440" y="4901184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LIQUIDITY PRESSURE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248656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C49500"/>
                </a:solidFill>
                <a:latin typeface="Arial"/>
              </a:rPr>
              <a:t>Buffer at risk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45920" y="4087368"/>
            <a:ext cx="1847088" cy="0"/>
          </a:xfrm>
          <a:prstGeom prst="line">
            <a:avLst/>
          </a:prstGeom>
          <a:ln w="2159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72768" y="4169663"/>
            <a:ext cx="1993392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TREASURY FUNDING
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4517136"/>
            <a:ext cx="1993392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8F72"/>
                </a:solidFill>
                <a:latin typeface="Arial"/>
              </a:rPr>
              <a:t>Cash 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0712" y="2944368"/>
            <a:ext cx="5010912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8232B"/>
                </a:solidFill>
                <a:latin typeface="Arial"/>
              </a:rPr>
              <a:t>A trading loss becomes a Treasury issue only when it generates cash obligations through settlements, collateral requirements or funding constraints.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3639312"/>
            <a:ext cx="479145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8747B"/>
                </a:solidFill>
                <a:latin typeface="Arial"/>
              </a:rPr>
              <a:t>Settlement cash · collateral calls · delayed receipts · accessible funding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5742432"/>
            <a:ext cx="10936224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2960" y="5833872"/>
            <a:ext cx="105338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Central question: preserve liquidity and meet payments throughout the three-month response horizon.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INCIDENT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1.2  ·  DISCOVERY, DISCLOSURE &amp;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THE POSITIONS ACCUMULATED BEFORE THE SEPTEMBER DISCOVERY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1847088"/>
            <a:ext cx="7680960" cy="0"/>
          </a:xfrm>
          <a:prstGeom prst="line">
            <a:avLst/>
          </a:prstGeom>
          <a:ln w="2667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80744" y="1746504"/>
            <a:ext cx="201168" cy="20116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14 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Unauthorised positions identified.</a:t>
            </a:r>
          </a:p>
        </p:txBody>
      </p:sp>
      <p:sp>
        <p:nvSpPr>
          <p:cNvPr id="15" name="Oval 14"/>
          <p:cNvSpPr/>
          <p:nvPr/>
        </p:nvSpPr>
        <p:spPr>
          <a:xfrm>
            <a:off x="3355848" y="1746504"/>
            <a:ext cx="201168" cy="20116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15 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PUBLIC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UBS announces an initial loss estimate.</a:t>
            </a:r>
          </a:p>
        </p:txBody>
      </p:sp>
      <p:sp>
        <p:nvSpPr>
          <p:cNvPr id="19" name="Oval 18"/>
          <p:cNvSpPr/>
          <p:nvPr/>
        </p:nvSpPr>
        <p:spPr>
          <a:xfrm>
            <a:off x="5330951" y="1746504"/>
            <a:ext cx="201168" cy="201168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49500"/>
                </a:solidFill>
                <a:latin typeface="Arial"/>
              </a:rPr>
              <a:t>FOLLOWING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Positions reviewed; hedging and risk reduction actions.</a:t>
            </a:r>
          </a:p>
        </p:txBody>
      </p:sp>
      <p:sp>
        <p:nvSpPr>
          <p:cNvPr id="23" name="Oval 22"/>
          <p:cNvSpPr/>
          <p:nvPr/>
        </p:nvSpPr>
        <p:spPr>
          <a:xfrm>
            <a:off x="7306055" y="1746504"/>
            <a:ext cx="201168" cy="201168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057400"/>
            <a:ext cx="17007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8F72"/>
                </a:solidFill>
                <a:latin typeface="Arial"/>
              </a:rPr>
              <a:t>FOLLOWING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350008"/>
            <a:ext cx="1700784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779776"/>
            <a:ext cx="170078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8747B"/>
                </a:solidFill>
                <a:latin typeface="Arial"/>
              </a:rPr>
              <a:t>Control failures analysed; remediation launched.</a:t>
            </a:r>
          </a:p>
        </p:txBody>
      </p:sp>
      <p:pic>
        <p:nvPicPr>
          <p:cNvPr id="27" name="Picture 26" descr="daltons-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484" y="1435608"/>
            <a:ext cx="2568448" cy="1444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51392" y="2926080"/>
            <a:ext cx="2761488" cy="1280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8747B"/>
                </a:solidFill>
                <a:latin typeface="Arial"/>
              </a:rPr>
              <a:t>ILLUSTRATIVE CARTOON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3273552"/>
            <a:ext cx="294436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8232B"/>
                </a:solidFill>
                <a:latin typeface="Arial"/>
              </a:rPr>
              <a:t>Hidden positions accumulated before being uncovered in September 2011.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785615"/>
            <a:ext cx="11045952" cy="0"/>
          </a:xfrm>
          <a:prstGeom prst="line">
            <a:avLst/>
          </a:prstGeom>
          <a:ln w="1016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041648"/>
            <a:ext cx="157276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C82036"/>
                </a:solidFill>
                <a:latin typeface="Arial"/>
              </a:rPr>
              <a:t>TREASURY 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995928"/>
            <a:ext cx="5989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The discovery date starts the response horizon; it does not make prior losses a same-day cash payment.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846320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9500"/>
                </a:solidFill>
                <a:latin typeface="Arial"/>
              </a:rPr>
              <a:t>14 Sep 2011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828032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18232B"/>
                </a:solidFill>
                <a:latin typeface="Arial"/>
              </a:rPr>
              <a:t>Three-month Treasury response horizon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989320"/>
            <a:ext cx="109545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FINMA 2012; FSA 2012; UBS disclosures. The Dalton image is illustrative, not an incident photograph.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TREASURY LIQUIDITY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2.2  ·  CASH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ILLUSTRATIVE USDm SCENARIOS · NOT HISTORICAL UBS TREASURY CASH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66928" y="1188720"/>
          <a:ext cx="11018520" cy="345643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8F72"/>
                </a:solidFill>
                <a:latin typeface="Arial"/>
              </a:rPr>
              <a:t>NO INCIDENT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029200"/>
            <a:ext cx="3419856" cy="0"/>
          </a:xfrm>
          <a:prstGeom prst="line">
            <a:avLst/>
          </a:prstGeom>
          <a:ln w="1778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Normal receipts and payments keep modeled cash above the assumed $700m buffer; minimum $984m.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87FA8"/>
                </a:solidFill>
                <a:latin typeface="Arial"/>
              </a:rPr>
              <a:t>INCIDENT 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5968" y="5029200"/>
            <a:ext cx="3419856" cy="0"/>
          </a:xfrm>
          <a:prstGeom prst="line">
            <a:avLst/>
          </a:prstGeom>
          <a:ln w="17780">
            <a:solidFill>
              <a:srgbClr val="287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15968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Additional settlement and collateral needs reduce headroom; minimum $765m, no modeled breach.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4782312"/>
            <a:ext cx="3456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82036"/>
                </a:solidFill>
                <a:latin typeface="Arial"/>
              </a:rPr>
              <a:t>COMBINED STRESS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10144" y="5029200"/>
            <a:ext cx="3419856" cy="0"/>
          </a:xfrm>
          <a:prstGeom prst="line">
            <a:avLst/>
          </a:prstGeom>
          <a:ln w="1778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10144" y="5148072"/>
            <a:ext cx="345643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232B"/>
                </a:solidFill>
                <a:latin typeface="Arial"/>
              </a:rPr>
              <a:t>Withdrawals and delayed collateral returns push cash below buffer on 30 Nov; peak gap $176m by 14 Dec.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6247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Cash bridge formula: opening accessible cash + receipts − payments − settlement outflow + signed collateral movement − costs. Funding gap = max(0, buffer − cash before funding).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WHAT IF THE SITUATION WORSENS?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2.3  · 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COMBINED SCENARIO INPUTS ARE ASSUMPTIONS, NOT HISTORICAL OUTCOMES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143000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30 NOVEMBER CASH BRIDGE  ·  USDm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232B"/>
                </a:solidFill>
                <a:latin typeface="Arial"/>
              </a:rPr>
              <a:t>$849m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19" y="2048256"/>
            <a:ext cx="1362457" cy="0"/>
          </a:xfrm>
          <a:prstGeom prst="line">
            <a:avLst/>
          </a:prstGeom>
          <a:ln w="21590">
            <a:solidFill>
              <a:srgbClr val="1823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Incident-base
November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1636776"/>
            <a:ext cx="219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B0B2"/>
                </a:solidFill>
                <a:latin typeface="Arial"/>
              </a:rPr>
              <a:t>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9500"/>
                </a:solidFill>
                <a:latin typeface="Arial"/>
              </a:rPr>
              <a:t>−$50m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2048256"/>
            <a:ext cx="1362456" cy="0"/>
          </a:xfrm>
          <a:prstGeom prst="line">
            <a:avLst/>
          </a:prstGeom>
          <a:ln w="2159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14600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Settlement
accelerated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1636776"/>
            <a:ext cx="219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B0B2"/>
                </a:solidFill>
                <a:latin typeface="Arial"/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9500"/>
                </a:solidFill>
                <a:latin typeface="Arial"/>
              </a:rPr>
              <a:t>−$100m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70832" y="2048256"/>
            <a:ext cx="1362456" cy="0"/>
          </a:xfrm>
          <a:prstGeom prst="line">
            <a:avLst/>
          </a:prstGeom>
          <a:ln w="2159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0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Collateral
return delayed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1636776"/>
            <a:ext cx="219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B0B2"/>
                </a:solidFill>
                <a:latin typeface="Arial"/>
              </a:rPr>
              <a:t>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2036"/>
                </a:solidFill>
                <a:latin typeface="Arial"/>
              </a:rPr>
              <a:t>−$100m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048256"/>
            <a:ext cx="1362455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44768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Additional
withdrawals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1636776"/>
            <a:ext cx="219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B0B2"/>
                </a:solidFill>
                <a:latin typeface="Arial"/>
              </a:rPr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2036"/>
                </a:solidFill>
                <a:latin typeface="Arial"/>
              </a:rPr>
              <a:t>−$50m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46720" y="2048256"/>
            <a:ext cx="1362456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73568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Rollover not
renewed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1636776"/>
            <a:ext cx="21945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B0B2"/>
                </a:solidFill>
                <a:latin typeface="Arial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1572768"/>
            <a:ext cx="15087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2036"/>
                </a:solidFill>
                <a:latin typeface="Arial"/>
              </a:rPr>
              <a:t>$549m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02952" y="2048256"/>
            <a:ext cx="1362456" cy="0"/>
          </a:xfrm>
          <a:prstGeom prst="line">
            <a:avLst/>
          </a:prstGeom>
          <a:ln w="2159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29800" y="2148840"/>
            <a:ext cx="15087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Stress cash
30 November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88720" y="4598416"/>
            <a:ext cx="6080760" cy="0"/>
          </a:xfrm>
          <a:prstGeom prst="line">
            <a:avLst/>
          </a:prstGeom>
          <a:ln w="6350">
            <a:solidFill>
              <a:srgbClr val="E6E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8720" y="4248912"/>
            <a:ext cx="6080760" cy="0"/>
          </a:xfrm>
          <a:prstGeom prst="line">
            <a:avLst/>
          </a:prstGeom>
          <a:ln w="6350">
            <a:solidFill>
              <a:srgbClr val="E6E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" y="3899408"/>
            <a:ext cx="6080760" cy="0"/>
          </a:xfrm>
          <a:prstGeom prst="line">
            <a:avLst/>
          </a:prstGeom>
          <a:ln w="1397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88720" y="3549904"/>
            <a:ext cx="6080760" cy="0"/>
          </a:xfrm>
          <a:prstGeom prst="line">
            <a:avLst/>
          </a:prstGeom>
          <a:ln w="6350">
            <a:solidFill>
              <a:srgbClr val="E6E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88720" y="3200400"/>
            <a:ext cx="6080760" cy="0"/>
          </a:xfrm>
          <a:prstGeom prst="line">
            <a:avLst/>
          </a:prstGeom>
          <a:ln w="6350">
            <a:solidFill>
              <a:srgbClr val="E6E9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28232" y="3716528"/>
            <a:ext cx="77724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C49500"/>
                </a:solidFill>
                <a:latin typeface="Arial"/>
              </a:rPr>
              <a:t>700 buffer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53312" y="3378647"/>
            <a:ext cx="493776" cy="1394520"/>
          </a:xfrm>
          <a:prstGeom prst="rect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" y="488289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8232B"/>
                </a:solidFill>
                <a:latin typeface="Arial"/>
              </a:rPr>
              <a:t>BASE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856232" y="3378647"/>
            <a:ext cx="630936" cy="0"/>
          </a:xfrm>
          <a:prstGeom prst="line">
            <a:avLst/>
          </a:prstGeom>
          <a:ln w="889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487168" y="3378647"/>
            <a:ext cx="493776" cy="174752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58568" y="488289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8232B"/>
                </a:solidFill>
                <a:latin typeface="Arial"/>
              </a:rPr>
              <a:t>SETTLEMENT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990088" y="3553399"/>
            <a:ext cx="621792" cy="0"/>
          </a:xfrm>
          <a:prstGeom prst="line">
            <a:avLst/>
          </a:prstGeom>
          <a:ln w="889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611880" y="3553399"/>
            <a:ext cx="493776" cy="349504"/>
          </a:xfrm>
          <a:prstGeom prst="rect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488289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8232B"/>
                </a:solidFill>
                <a:latin typeface="Arial"/>
              </a:rPr>
              <a:t>COLLATERAL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14800" y="3902903"/>
            <a:ext cx="621792" cy="0"/>
          </a:xfrm>
          <a:prstGeom prst="line">
            <a:avLst/>
          </a:prstGeom>
          <a:ln w="889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736592" y="3902903"/>
            <a:ext cx="493776" cy="349503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488289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8232B"/>
                </a:solidFill>
                <a:latin typeface="Arial"/>
              </a:rPr>
              <a:t>WITHDRAWALS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39512" y="4252407"/>
            <a:ext cx="612648" cy="0"/>
          </a:xfrm>
          <a:prstGeom prst="line">
            <a:avLst/>
          </a:prstGeom>
          <a:ln w="8890">
            <a:solidFill>
              <a:srgbClr val="687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852160" y="4252407"/>
            <a:ext cx="493776" cy="174752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4882896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18232B"/>
                </a:solidFill>
                <a:latin typeface="Arial"/>
              </a:rPr>
              <a:t>ROLLOVER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3136392"/>
            <a:ext cx="3383280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232B"/>
                </a:solidFill>
                <a:latin typeface="Arial"/>
              </a:rPr>
              <a:t>BUFFER / FUNDING TEST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936992" y="3383280"/>
            <a:ext cx="3392424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936992" y="3538728"/>
            <a:ext cx="107899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49500"/>
                </a:solidFill>
                <a:latin typeface="Arial"/>
              </a:rPr>
              <a:t>$700m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3584448"/>
            <a:ext cx="12070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8747B"/>
                </a:solidFill>
                <a:latin typeface="Arial"/>
              </a:rPr>
              <a:t>minimum buffer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05288" y="3538728"/>
            <a:ext cx="98755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2036"/>
                </a:solidFill>
                <a:latin typeface="Arial"/>
              </a:rPr>
              <a:t>$151m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0696" y="3840480"/>
            <a:ext cx="11704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68747B"/>
                </a:solidFill>
                <a:latin typeface="Arial"/>
              </a:rPr>
              <a:t>30 Nov shortfall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936992" y="4142232"/>
            <a:ext cx="3392424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936992" y="4315968"/>
            <a:ext cx="340156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82036"/>
                </a:solidFill>
                <a:latin typeface="Arial"/>
              </a:rPr>
              <a:t>$524m on 14 Dec  →  $176m peak funding need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5559552"/>
            <a:ext cx="1097280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T+2 liquidity source: trigger 25 Nov → arrival 29 Nov → first breach 30 Nov. If late, it cannot prevent the breach.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035040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Assumed $200m line and timing; verify availability, eligible collateral and actual settlement dates. Stress inputs are scenario shocks, not actual UBS cash 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3.1  ·  LIKELIHOOD AND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RESIDUAL RATINGS ARE ANALYST JUDGEMENTS FOR THE THREE-MONTH HORIZON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2860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8747B"/>
                </a:solidFill>
                <a:latin typeface="Arial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0020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8747B"/>
                </a:solidFill>
                <a:latin typeface="Arial"/>
              </a:rPr>
              <a:t>LIKELIHOOD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8747B"/>
                </a:solidFill>
                <a:latin typeface="Arial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600200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68747B"/>
                </a:solidFill>
                <a:latin typeface="Arial"/>
              </a:rPr>
              <a:t>SCORE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1901952"/>
            <a:ext cx="5925312" cy="0"/>
          </a:xfrm>
          <a:prstGeom prst="line">
            <a:avLst/>
          </a:prstGeom>
          <a:ln w="1651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2048256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Operational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4825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04825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04825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82036"/>
                </a:solidFill>
                <a:latin typeface="Arial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2359152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2514600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Liquidity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51460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514600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514600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82036"/>
                </a:solidFill>
                <a:latin typeface="Arial"/>
              </a:rPr>
              <a:t>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2825496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2980944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Funding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980944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980944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980944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82036"/>
                </a:solidFill>
                <a:latin typeface="Arial"/>
              </a:rPr>
              <a:t>6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291840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3447288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447288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44728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44728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49500"/>
                </a:solidFill>
                <a:latin typeface="Arial"/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3758184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3913632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Counterparty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91363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391363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391363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49500"/>
                </a:solidFill>
                <a:latin typeface="Arial"/>
              </a:rPr>
              <a:t>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" y="4224528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1520" y="4379976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Legal / regulatory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437997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Possible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37997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379976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49500"/>
                </a:solidFill>
                <a:latin typeface="Arial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1520" y="4690872"/>
            <a:ext cx="5925312" cy="0"/>
          </a:xfrm>
          <a:prstGeom prst="line">
            <a:avLst/>
          </a:prstGeom>
          <a:ln w="6985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4846320"/>
            <a:ext cx="22860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8232B"/>
                </a:solidFill>
                <a:latin typeface="Arial"/>
              </a:rPr>
              <a:t>Reputational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484632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Unlikely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4846320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8232B"/>
                </a:solidFill>
                <a:latin typeface="Arial"/>
              </a:rP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4846320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4F8A64"/>
                </a:solidFill>
                <a:latin typeface="Arial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1627632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18232B"/>
                </a:solidFill>
                <a:latin typeface="Arial"/>
              </a:rPr>
              <a:t>PRIORITY RISKS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24927" y="1929384"/>
            <a:ext cx="4215385" cy="0"/>
          </a:xfrm>
          <a:prstGeom prst="line">
            <a:avLst/>
          </a:prstGeom>
          <a:ln w="2032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24927" y="2157984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0415" y="2157984"/>
            <a:ext cx="35478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Operational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0415" y="2432303"/>
            <a:ext cx="35478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47B"/>
                </a:solidFill>
                <a:latin typeface="Arial"/>
              </a:rPr>
              <a:t>Unreconciled breaks may hide open positions.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900415" y="2907791"/>
            <a:ext cx="3666745" cy="0"/>
          </a:xfrm>
          <a:prstGeom prst="line">
            <a:avLst/>
          </a:prstGeom>
          <a:ln w="762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424927" y="3108960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0415" y="3108960"/>
            <a:ext cx="35478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Liquidity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0415" y="3383279"/>
            <a:ext cx="35478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47B"/>
                </a:solidFill>
                <a:latin typeface="Arial"/>
              </a:rPr>
              <a:t>Dated settlement / collateral needs can breach buffer.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900415" y="3858768"/>
            <a:ext cx="3666745" cy="0"/>
          </a:xfrm>
          <a:prstGeom prst="line">
            <a:avLst/>
          </a:prstGeom>
          <a:ln w="762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24927" y="4059935"/>
            <a:ext cx="38404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82036"/>
                </a:solidFill>
                <a:latin typeface="Arial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0415" y="4059935"/>
            <a:ext cx="354787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8232B"/>
                </a:solidFill>
                <a:latin typeface="Arial"/>
              </a:rPr>
              <a:t>Funding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0415" y="4334255"/>
            <a:ext cx="354787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747B"/>
                </a:solidFill>
                <a:latin typeface="Arial"/>
              </a:rPr>
              <a:t>Maturing sources may not roll before cash is due.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4927" y="5138928"/>
            <a:ext cx="41605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8232B"/>
                </a:solidFill>
                <a:latin typeface="Arial"/>
              </a:rPr>
              <a:t>Other exposures: market · counterparty · reputational · legal / regulatory.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044184"/>
            <a:ext cx="1097280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8747B"/>
                </a:solidFill>
                <a:latin typeface="Arial"/>
              </a:rPr>
              <a:t>Score = likelihood × impact (1–3). Illustrative analyst ratings, not UBS / regulator scores; calibrate impact to the approved buffer and re-score after containment.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"/>
            <a:ext cx="1261872" cy="4480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47088" y="109728"/>
            <a:ext cx="88239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8232B"/>
                </a:solidFill>
                <a:latin typeface="Arial"/>
              </a:rPr>
              <a:t>CFO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7088" y="466344"/>
            <a:ext cx="8823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C82036"/>
                </a:solidFill>
                <a:latin typeface="Arial"/>
              </a:rPr>
              <a:t>SECTION 3.2  ·  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667512"/>
            <a:ext cx="882396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68747B"/>
                </a:solidFill>
                <a:latin typeface="Arial"/>
              </a:rPr>
              <a:t>SEQUENCE ACTIONS FROM CASH VISIBILITY TO LASTING CONTROL</a:t>
            </a:r>
          </a:p>
        </p:txBody>
      </p:sp>
      <p:pic>
        <p:nvPicPr>
          <p:cNvPr id="6" name="Picture 5" descr="skem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09728"/>
            <a:ext cx="475488" cy="50292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84048" y="886968"/>
            <a:ext cx="11411712" cy="0"/>
          </a:xfrm>
          <a:prstGeom prst="line">
            <a:avLst/>
          </a:prstGeom>
          <a:ln w="1143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" y="6556248"/>
            <a:ext cx="1141171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424160" y="6601968"/>
            <a:ext cx="1325880" cy="1097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68747B"/>
                </a:solidFill>
                <a:latin typeface="Arial"/>
              </a:rPr>
              <a:t>UBS  ×  SKEMA   /  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8F72"/>
                </a:solidFill>
                <a:latin typeface="Arial"/>
              </a:rPr>
              <a:t>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WITHIN 24h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773936"/>
            <a:ext cx="3310128" cy="0"/>
          </a:xfrm>
          <a:prstGeom prst="line">
            <a:avLst/>
          </a:prstGeom>
          <a:ln w="25400">
            <a:solidFill>
              <a:srgbClr val="008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LIQUIDITY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8F72"/>
                </a:solidFill>
                <a:latin typeface="Arial"/>
              </a:rPr>
              <a:t>Owner  ·  Group Treasurer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" y="3310128"/>
            <a:ext cx="155448" cy="155448"/>
          </a:xfrm>
          <a:prstGeom prst="ellipse">
            <a:avLst/>
          </a:prstGeom>
          <a:solidFill>
            <a:srgbClr val="008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Build a dated cash view; confirm accessible liquidity and funding arrival.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" y="4224528"/>
            <a:ext cx="299923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3544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08F72"/>
                </a:solidFill>
                <a:latin typeface="Arial"/>
              </a:rPr>
              <a:t>Benefit  ·  No unexpected cash breach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use only confirmed, accessible funding.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49500"/>
                </a:solidFill>
                <a:latin typeface="Arial"/>
              </a:rPr>
              <a:t>CONTAINMENT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DAYS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15968" y="1773936"/>
            <a:ext cx="3310128" cy="0"/>
          </a:xfrm>
          <a:prstGeom prst="line">
            <a:avLst/>
          </a:prstGeom>
          <a:ln w="25400">
            <a:solidFill>
              <a:srgbClr val="C4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1596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POSITION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49500"/>
                </a:solidFill>
                <a:latin typeface="Arial"/>
              </a:rPr>
              <a:t>Owner  ·  COO + Risk + Treasury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07407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334255" y="3310128"/>
            <a:ext cx="155448" cy="155448"/>
          </a:xfrm>
          <a:prstGeom prst="ellipse">
            <a:avLst/>
          </a:prstGeom>
          <a:solidFill>
            <a:srgbClr val="C4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Independently match positions, settlements and collateral; track unresolved breaks daily.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26864" y="4224528"/>
            <a:ext cx="2999232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6864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C49500"/>
                </a:solidFill>
                <a:latin typeface="Arial"/>
              </a:rPr>
              <a:t>Benefit  ·  Reduce uncertainty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retain a conservative overlay until breaks close.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1481328"/>
            <a:ext cx="331012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82036"/>
                </a:solidFill>
                <a:latin typeface="Arial"/>
              </a:rPr>
              <a:t>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7" y="1481328"/>
            <a:ext cx="106984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68747B"/>
                </a:solidFill>
                <a:latin typeface="Arial"/>
              </a:rPr>
              <a:t>3 MONTHS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19288" y="1773936"/>
            <a:ext cx="3310128" cy="0"/>
          </a:xfrm>
          <a:prstGeom prst="line">
            <a:avLst/>
          </a:prstGeom>
          <a:ln w="25400">
            <a:solidFill>
              <a:srgbClr val="C82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19288" y="2011680"/>
            <a:ext cx="3310128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GOVERNANCE UPGRADE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2670048"/>
            <a:ext cx="3310128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C82036"/>
                </a:solidFill>
                <a:latin typeface="Arial"/>
              </a:rPr>
              <a:t>Owner  ·  CRO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10727" y="3246120"/>
            <a:ext cx="0" cy="1920240"/>
          </a:xfrm>
          <a:prstGeom prst="line">
            <a:avLst/>
          </a:prstGeom>
          <a:ln w="2540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037575" y="3310128"/>
            <a:ext cx="155448" cy="155448"/>
          </a:xfrm>
          <a:prstGeom prst="ellipse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3" y="3172968"/>
            <a:ext cx="2971800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8232B"/>
                </a:solidFill>
                <a:latin typeface="Arial"/>
              </a:rPr>
              <a:t>Strengthen independent verification, exception escalation and control ownership.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30183" y="4224528"/>
            <a:ext cx="2999233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30183" y="440740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C82036"/>
                </a:solidFill>
                <a:latin typeface="Arial"/>
              </a:rPr>
              <a:t>Benefit  ·  Prevent recurrence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0183" y="498348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8747B"/>
                </a:solidFill>
                <a:latin typeface="Arial"/>
              </a:rPr>
              <a:t>Fallback · manual dual sign-off until controls are live.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5705856"/>
            <a:ext cx="10716768" cy="566928"/>
          </a:xfrm>
          <a:prstGeom prst="rect">
            <a:avLst/>
          </a:prstGeom>
          <a:solidFill>
            <a:srgbClr val="E8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5843016"/>
            <a:ext cx="1078992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C82036"/>
                </a:solidFill>
                <a:latin typeface="Arial"/>
              </a:rPr>
              <a:t>OBJECTIVE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75104" y="5797296"/>
            <a:ext cx="90891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32B"/>
                </a:solidFill>
                <a:latin typeface="Arial"/>
              </a:rPr>
              <a:t>Maintain liquidity above the minimum buffer throughout the Treasury horizon.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336792"/>
            <a:ext cx="1097280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68747B"/>
                </a:solidFill>
                <a:latin typeface="Arial"/>
              </a:rPr>
              <a:t>Count funding only when availability, collateral and arrival time are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0"/>
            <a:ext cx="59436" cy="859536"/>
          </a:xfrm>
          <a:prstGeom prst="rect">
            <a:avLst/>
          </a:prstGeom>
          <a:solidFill>
            <a:srgbClr val="C8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83464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8232B"/>
                </a:solidFill>
                <a:latin typeface="Arial"/>
              </a:rPr>
              <a:t>UBS Group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832104"/>
            <a:ext cx="10844784" cy="0"/>
          </a:xfrm>
          <a:prstGeom prst="line">
            <a:avLst/>
          </a:prstGeom>
          <a:ln w="8890">
            <a:solidFill>
              <a:srgbClr val="C9C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9808" y="141732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8232B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48716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2036"/>
                </a:solidFill>
                <a:latin typeface="Arial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889504"/>
            <a:ext cx="10561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FINMA, Summary Report: Investigation into UBS London Trading Losses, 21 November 2012.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01568"/>
            <a:ext cx="10561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FSA, Final Notice to UBS AG, 25 November 2012.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913632"/>
            <a:ext cx="10561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UBS, Supplement No. 2, 11 October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25696"/>
            <a:ext cx="105613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UBS, Third-quarter 2011 results and presentation materials, 25 October 2011.</a:t>
            </a:r>
          </a:p>
        </p:txBody>
      </p:sp>
      <p:pic>
        <p:nvPicPr>
          <p:cNvPr id="11" name="Picture 10" descr="ubs-logo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769864"/>
            <a:ext cx="1426464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UBS 2011 Rogue Trading Scandal · Treasury Response</dc:title>
  <dc:subject>Treasury risk analysis of the 2011 UBS trading incident</dc:subject>
  <dc:creator>Paul Alain Diouf; Calvin Minang; Jules Métayer; Elias Abou-Tayeh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