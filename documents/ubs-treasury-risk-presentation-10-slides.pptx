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UBS 2011 ROGUE TRADING SCANDAL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FROM OPERATIONAL FAILURE TO TREASURY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CORPORATE TREASURY MANAGEMENT  ·  14 SEP–14 DEC 2011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188720"/>
            <a:ext cx="544068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A985"/>
                </a:solidFill>
                <a:latin typeface="Arial"/>
              </a:rPr>
              <a:t>CENTRAL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481328"/>
            <a:ext cx="5468112" cy="112471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F8F6"/>
                </a:solidFill>
                <a:latin typeface="Arial"/>
              </a:rPr>
              <a:t>How should Treasury protect due payments after concealed trading losses are discovered?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188720"/>
            <a:ext cx="5468112" cy="307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ltons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088" y="1280160"/>
            <a:ext cx="4958079" cy="2788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272016" y="4041648"/>
            <a:ext cx="22677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737B80"/>
                </a:solidFill>
                <a:latin typeface="Arial"/>
              </a:rPr>
              <a:t>ILLUSTRATIVE CARTOON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816352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37B80"/>
                </a:solidFill>
                <a:latin typeface="Arial"/>
              </a:rPr>
              <a:t>DECISION WINDOW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328416"/>
            <a:ext cx="4718304" cy="0"/>
          </a:xfrm>
          <a:prstGeom prst="line">
            <a:avLst/>
          </a:prstGeom>
          <a:ln w="381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4088" y="3246120"/>
            <a:ext cx="164592" cy="164592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493008"/>
            <a:ext cx="1024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14 SEP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12463"/>
            <a:ext cx="15727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Discovery</a:t>
            </a:r>
          </a:p>
        </p:txBody>
      </p:sp>
      <p:sp>
        <p:nvSpPr>
          <p:cNvPr id="21" name="Oval 20"/>
          <p:cNvSpPr/>
          <p:nvPr/>
        </p:nvSpPr>
        <p:spPr>
          <a:xfrm>
            <a:off x="5276088" y="3246120"/>
            <a:ext cx="164592" cy="164592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493008"/>
            <a:ext cx="1024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14 DEC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712463"/>
            <a:ext cx="15727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Treasury horizon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61104"/>
            <a:ext cx="1920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37B80"/>
                </a:solidFill>
                <a:latin typeface="Arial"/>
              </a:rPr>
              <a:t>EVIDENCE RULE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1517904" cy="667512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526280"/>
            <a:ext cx="50292" cy="66751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4617720"/>
            <a:ext cx="130759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PUBLISHED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855464"/>
            <a:ext cx="1307592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Incident facts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59152" y="4526280"/>
            <a:ext cx="1517904" cy="667512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59152" y="4526280"/>
            <a:ext cx="50292" cy="667512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05456" y="4617720"/>
            <a:ext cx="130759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DERIVED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4855464"/>
            <a:ext cx="1307592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Accounting bridge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4526280"/>
            <a:ext cx="1819656" cy="667512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69663" y="4526280"/>
            <a:ext cx="50292" cy="667512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5968" y="4617720"/>
            <a:ext cx="16093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ASSUMED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4855464"/>
            <a:ext cx="1609344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Cash scenarios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4599432"/>
            <a:ext cx="517550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37B80"/>
                </a:solidFill>
                <a:latin typeface="Arial"/>
              </a:rPr>
              <a:t>TREASURY RESPONSE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37376" y="4919472"/>
            <a:ext cx="1481328" cy="7772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37376" y="4919472"/>
            <a:ext cx="1481328" cy="41148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5074920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VERIFY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349240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Positions</a:t>
            </a:r>
          </a:p>
        </p:txBody>
      </p:sp>
      <p:sp>
        <p:nvSpPr>
          <p:cNvPr id="42" name="Chevron 41"/>
          <p:cNvSpPr/>
          <p:nvPr/>
        </p:nvSpPr>
        <p:spPr>
          <a:xfrm>
            <a:off x="7973568" y="5212080"/>
            <a:ext cx="146304" cy="146304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56448" y="4919472"/>
            <a:ext cx="1481328" cy="7772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6448" y="4919472"/>
            <a:ext cx="1481328" cy="41148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5074920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PROTECT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7031" y="5349240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Headroom</a:t>
            </a:r>
          </a:p>
        </p:txBody>
      </p:sp>
      <p:sp>
        <p:nvSpPr>
          <p:cNvPr id="47" name="Chevron 46"/>
          <p:cNvSpPr/>
          <p:nvPr/>
        </p:nvSpPr>
        <p:spPr>
          <a:xfrm>
            <a:off x="9692640" y="5212080"/>
            <a:ext cx="146304" cy="146304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75520" y="4919472"/>
            <a:ext cx="1481328" cy="7772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0" y="4919472"/>
            <a:ext cx="1481328" cy="4114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76104" y="5074920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STAGE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76104" y="5349240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Funding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5916168"/>
            <a:ext cx="1083564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Research lens: maturity-based liquidity headroom, not a corporate working-capital proxy.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UBS CASH CYCLE MEETS HIDDEN TRADING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PART I  ·  COMPANY &amp;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UBS INVESTMENT BANK  /  LONDON ETF DESK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088136"/>
            <a:ext cx="1106424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737B80"/>
                </a:solidFill>
                <a:latin typeface="Arial"/>
              </a:rPr>
              <a:t>A BANK MUST HAVE CASH IN THE RIGHT ENTITY, CURRENCY AND PLACE — WHEN DUE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527048"/>
            <a:ext cx="1975104" cy="84124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527048"/>
            <a:ext cx="1975104" cy="45720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709928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975104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Deposits · fees</a:t>
            </a:r>
          </a:p>
        </p:txBody>
      </p:sp>
      <p:sp>
        <p:nvSpPr>
          <p:cNvPr id="15" name="Chevron 14"/>
          <p:cNvSpPr/>
          <p:nvPr/>
        </p:nvSpPr>
        <p:spPr>
          <a:xfrm>
            <a:off x="2596896" y="1856231"/>
            <a:ext cx="182880" cy="146304"/>
          </a:xfrm>
          <a:prstGeom prst="chevron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1527048"/>
            <a:ext cx="1975104" cy="84124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1527048"/>
            <a:ext cx="1975104" cy="45720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1709928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UBS TREASURY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1975104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Accessible liquidity</a:t>
            </a:r>
          </a:p>
        </p:txBody>
      </p:sp>
      <p:sp>
        <p:nvSpPr>
          <p:cNvPr id="20" name="Chevron 19"/>
          <p:cNvSpPr/>
          <p:nvPr/>
        </p:nvSpPr>
        <p:spPr>
          <a:xfrm>
            <a:off x="4864608" y="1856231"/>
            <a:ext cx="182880" cy="146304"/>
          </a:xfrm>
          <a:prstGeom prst="chevron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02352" y="1527048"/>
            <a:ext cx="1975104" cy="84124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02352" y="1527048"/>
            <a:ext cx="1975104" cy="4572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1709928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MARKETS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975104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Futures · CCPs</a:t>
            </a:r>
          </a:p>
        </p:txBody>
      </p:sp>
      <p:sp>
        <p:nvSpPr>
          <p:cNvPr id="25" name="Chevron 24"/>
          <p:cNvSpPr/>
          <p:nvPr/>
        </p:nvSpPr>
        <p:spPr>
          <a:xfrm>
            <a:off x="7132320" y="1856231"/>
            <a:ext cx="182880" cy="146304"/>
          </a:xfrm>
          <a:prstGeom prst="chevron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70064" y="1527048"/>
            <a:ext cx="1975104" cy="84124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70064" y="1527048"/>
            <a:ext cx="1975104" cy="4572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1709928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SETTLEMENT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1975104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Cash · collateral</a:t>
            </a:r>
          </a:p>
        </p:txBody>
      </p:sp>
      <p:sp>
        <p:nvSpPr>
          <p:cNvPr id="30" name="Chevron 29"/>
          <p:cNvSpPr/>
          <p:nvPr/>
        </p:nvSpPr>
        <p:spPr>
          <a:xfrm>
            <a:off x="9400032" y="1856231"/>
            <a:ext cx="182880" cy="146304"/>
          </a:xfrm>
          <a:prstGeom prst="chevron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37776" y="1527048"/>
            <a:ext cx="1975104" cy="84124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37776" y="1527048"/>
            <a:ext cx="1975104" cy="45720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7503" y="1709928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PAYMENTS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3" y="1975104"/>
            <a:ext cx="17556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Withdrawals · debt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70048"/>
            <a:ext cx="2834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1">
                <a:solidFill>
                  <a:srgbClr val="C82036"/>
                </a:solidFill>
                <a:latin typeface="Arial"/>
              </a:rPr>
              <a:t>CONCEALMENT MECHANISM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990088"/>
            <a:ext cx="3063240" cy="758952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2990088"/>
            <a:ext cx="54864" cy="758952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108960"/>
            <a:ext cx="27249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REAL POSITIONS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364992"/>
            <a:ext cx="272491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Long / short index futures</a:t>
            </a:r>
          </a:p>
        </p:txBody>
      </p:sp>
      <p:sp>
        <p:nvSpPr>
          <p:cNvPr id="40" name="Chevron 39"/>
          <p:cNvSpPr/>
          <p:nvPr/>
        </p:nvSpPr>
        <p:spPr>
          <a:xfrm>
            <a:off x="3803904" y="3282696"/>
            <a:ext cx="292608" cy="164592"/>
          </a:xfrm>
          <a:prstGeom prst="chevron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51960" y="2990088"/>
            <a:ext cx="3063240" cy="758952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51960" y="2990088"/>
            <a:ext cx="54864" cy="758952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16552" y="3108960"/>
            <a:ext cx="27249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FALSE OFFSETS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6552" y="3364992"/>
            <a:ext cx="272491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Fictitious internal entries</a:t>
            </a:r>
          </a:p>
        </p:txBody>
      </p:sp>
      <p:sp>
        <p:nvSpPr>
          <p:cNvPr id="45" name="Chevron 44"/>
          <p:cNvSpPr/>
          <p:nvPr/>
        </p:nvSpPr>
        <p:spPr>
          <a:xfrm>
            <a:off x="7488936" y="3282696"/>
            <a:ext cx="292608" cy="164592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36992" y="2990088"/>
            <a:ext cx="3063240" cy="758952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36992" y="2990088"/>
            <a:ext cx="54864" cy="75895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01583" y="3108960"/>
            <a:ext cx="27249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RISK 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01583" y="3364992"/>
            <a:ext cx="272491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Exposure appeared covered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041648"/>
            <a:ext cx="52120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1">
                <a:solidFill>
                  <a:srgbClr val="737B80"/>
                </a:solidFill>
                <a:latin typeface="Arial"/>
              </a:rPr>
              <a:t>FOUR DATES THAT CHANGED THE TREASURY VIEW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59536" y="4608576"/>
            <a:ext cx="10094976" cy="0"/>
          </a:xfrm>
          <a:prstGeom prst="line">
            <a:avLst/>
          </a:prstGeom>
          <a:ln w="25400">
            <a:solidFill>
              <a:srgbClr val="CF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03504" y="4517136"/>
            <a:ext cx="182880" cy="18288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6344" y="4791456"/>
            <a:ext cx="1143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14 SEP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" y="5047488"/>
            <a:ext cx="24231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Positions discovered</a:t>
            </a:r>
          </a:p>
        </p:txBody>
      </p:sp>
      <p:sp>
        <p:nvSpPr>
          <p:cNvPr id="55" name="Oval 54"/>
          <p:cNvSpPr/>
          <p:nvPr/>
        </p:nvSpPr>
        <p:spPr>
          <a:xfrm>
            <a:off x="3456432" y="4517136"/>
            <a:ext cx="182880" cy="182880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19272" y="4791456"/>
            <a:ext cx="1143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15 SEP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19272" y="5047488"/>
            <a:ext cx="24231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Initial estimate ~USD 2.0bn</a:t>
            </a:r>
          </a:p>
        </p:txBody>
      </p:sp>
      <p:sp>
        <p:nvSpPr>
          <p:cNvPr id="58" name="Oval 57"/>
          <p:cNvSpPr/>
          <p:nvPr/>
        </p:nvSpPr>
        <p:spPr>
          <a:xfrm>
            <a:off x="6309360" y="4517136"/>
            <a:ext cx="182880" cy="182880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72200" y="4791456"/>
            <a:ext cx="1143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18 SEP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5047488"/>
            <a:ext cx="24231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Risk described as covered</a:t>
            </a:r>
          </a:p>
        </p:txBody>
      </p:sp>
      <p:sp>
        <p:nvSpPr>
          <p:cNvPr id="61" name="Oval 60"/>
          <p:cNvSpPr/>
          <p:nvPr/>
        </p:nvSpPr>
        <p:spPr>
          <a:xfrm>
            <a:off x="9162288" y="4517136"/>
            <a:ext cx="182880" cy="18288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25128" y="4791456"/>
            <a:ext cx="1143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04 OCT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5128" y="5047488"/>
            <a:ext cx="24231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Revised loss USD 2.3bn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5833872"/>
            <a:ext cx="1088136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737B80"/>
                </a:solidFill>
                <a:latin typeface="Arial"/>
              </a:rPr>
              <a:t>Adoboli was a trader on UBS Investment Bank’s London ETF Desk. Sources: FINMA §§11–18; FSA §§23–25; UBS disclosures.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three-panel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72"/>
            <a:ext cx="12191999" cy="6832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A TRADING LOSS IS NOT A DAY-ONE CASH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PART II  ·  TRANSMISSION INTO CASH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SEPARATE PERMANENT LOSS FROM TIMING-DRIVEN LIQUIDITY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2331720" cy="10058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2331720" cy="4572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645920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MARKET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975104"/>
            <a:ext cx="20574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Realised / booked</a:t>
            </a:r>
          </a:p>
        </p:txBody>
      </p:sp>
      <p:sp>
        <p:nvSpPr>
          <p:cNvPr id="14" name="Chevron 13"/>
          <p:cNvSpPr/>
          <p:nvPr/>
        </p:nvSpPr>
        <p:spPr>
          <a:xfrm>
            <a:off x="2990088" y="1801368"/>
            <a:ext cx="30175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417320"/>
            <a:ext cx="2331720" cy="10058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1417320"/>
            <a:ext cx="2331720" cy="4572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1" y="1645920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SETTLEMENT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1975104"/>
            <a:ext cx="20574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Cash due by value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5879592" y="1801368"/>
            <a:ext cx="301752" cy="164592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45936" y="1417320"/>
            <a:ext cx="2331720" cy="10058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45936" y="1417320"/>
            <a:ext cx="2331720" cy="45720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1645920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COLLATERAL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1975104"/>
            <a:ext cx="20574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Call or return timing</a:t>
            </a:r>
          </a:p>
        </p:txBody>
      </p:sp>
      <p:sp>
        <p:nvSpPr>
          <p:cNvPr id="24" name="Chevron 23"/>
          <p:cNvSpPr/>
          <p:nvPr/>
        </p:nvSpPr>
        <p:spPr>
          <a:xfrm>
            <a:off x="8769096" y="1801368"/>
            <a:ext cx="301752" cy="164592"/>
          </a:xfrm>
          <a:prstGeom prst="chevron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35440" y="1417320"/>
            <a:ext cx="2331720" cy="100584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0" y="1417320"/>
            <a:ext cx="2331720" cy="45720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1645920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HEADROOM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1975104"/>
            <a:ext cx="20574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Cash available when due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71800"/>
            <a:ext cx="3429000" cy="1463040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2971800"/>
            <a:ext cx="3429000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182112"/>
            <a:ext cx="306324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2036"/>
                </a:solidFill>
                <a:latin typeface="Arial"/>
              </a:rPr>
              <a:t>PERMANENT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493008"/>
            <a:ext cx="30632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8232B"/>
                </a:solidFill>
                <a:latin typeface="Arial"/>
              </a:rPr>
              <a:t>Trading loss; remediation expense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014215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P&amp;L / capital impact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1104" y="2971800"/>
            <a:ext cx="3429000" cy="1463040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1104" y="2971800"/>
            <a:ext cx="3429000" cy="50292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25696" y="3182112"/>
            <a:ext cx="306324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91C1"/>
                </a:solidFill>
                <a:latin typeface="Arial"/>
              </a:rPr>
              <a:t>TEMPORARY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5696" y="3493008"/>
            <a:ext cx="30632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8232B"/>
                </a:solidFill>
                <a:latin typeface="Arial"/>
              </a:rPr>
              <a:t>Settlement cash; recoverable collateral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4014215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Timing / liquidity impact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2971800"/>
            <a:ext cx="3429000" cy="1463040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55279" y="2971800"/>
            <a:ext cx="3429000" cy="50292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9871" y="3182112"/>
            <a:ext cx="306324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6A600"/>
                </a:solidFill>
                <a:latin typeface="Arial"/>
              </a:rPr>
              <a:t>CONTINGENT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9871" y="3493008"/>
            <a:ext cx="30632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8232B"/>
                </a:solidFill>
                <a:latin typeface="Arial"/>
              </a:rPr>
              <a:t>Withdrawals; tighter terms; rollover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9871" y="4014215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37B80"/>
                </a:solidFill>
                <a:latin typeface="Arial"/>
              </a:rPr>
              <a:t>Stress-only until evidenced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4736592"/>
            <a:ext cx="10972800" cy="67665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919472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0A985"/>
                </a:solidFill>
                <a:latin typeface="Arial"/>
              </a:rPr>
              <a:t>CASH FORECAST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12848" y="4882896"/>
            <a:ext cx="900684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7F8F6"/>
                </a:solidFill>
                <a:latin typeface="Arial"/>
              </a:rPr>
              <a:t>Opening accessible cash  +  dated receipts  −  payments  +  confirmed funding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" y="5660136"/>
            <a:ext cx="20574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37B80"/>
                </a:solidFill>
                <a:latin typeface="Arial"/>
              </a:rPr>
              <a:t>OBLIGATIONS CONTINUE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87168" y="5596128"/>
            <a:ext cx="2011680" cy="393192"/>
          </a:xfrm>
          <a:prstGeom prst="rect">
            <a:avLst/>
          </a:prstGeom>
          <a:solidFill>
            <a:srgbClr val="E9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0" y="5678424"/>
            <a:ext cx="1865376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Settlements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5596128"/>
            <a:ext cx="2011680" cy="393192"/>
          </a:xfrm>
          <a:prstGeom prst="rect">
            <a:avLst/>
          </a:prstGeom>
          <a:solidFill>
            <a:srgbClr val="E9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28032" y="5678424"/>
            <a:ext cx="1865376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Withdrawals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22592" y="5596128"/>
            <a:ext cx="2011680" cy="393192"/>
          </a:xfrm>
          <a:prstGeom prst="rect">
            <a:avLst/>
          </a:prstGeom>
          <a:solidFill>
            <a:srgbClr val="E9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95744" y="5678424"/>
            <a:ext cx="1865376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Debt maturities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90304" y="5596128"/>
            <a:ext cx="2011680" cy="393192"/>
          </a:xfrm>
          <a:prstGeom prst="rect">
            <a:avLst/>
          </a:prstGeom>
          <a:solidFill>
            <a:srgbClr val="E9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63456" y="5678424"/>
            <a:ext cx="1865376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Payroll &amp; suppliers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5216" y="6135624"/>
            <a:ext cx="109270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737B80"/>
                </a:solidFill>
                <a:latin typeface="Arial"/>
              </a:rPr>
              <a:t>Do not equate the published USD 2.3bn loss with same-day cash need. Potential channels are not asserted historical cash movements.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CASH BRIDGE: BASE CASE HOLDS ABOVE THE BUFFER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PART III  ·  QUANTITATIVE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CLASSROOM MODEL OUTPUTS · USD MILLIONS · NOT HISTORICAL UBS CASH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197864"/>
            <a:ext cx="38404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37B80"/>
                </a:solidFill>
                <a:latin typeface="Arial"/>
              </a:rPr>
              <a:t>LOW POINT BY SCENARIO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572768"/>
            <a:ext cx="6967728" cy="4078224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335024" y="5056631"/>
            <a:ext cx="6163055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59" y="4974336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500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35024" y="4544568"/>
            <a:ext cx="6163055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59" y="4462272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600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35024" y="4032504"/>
            <a:ext cx="6163055" cy="0"/>
          </a:xfrm>
          <a:prstGeom prst="line">
            <a:avLst/>
          </a:prstGeom>
          <a:ln w="1524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59" y="3950208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C82036"/>
                </a:solidFill>
                <a:latin typeface="Arial"/>
              </a:rPr>
              <a:t>700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35024" y="3520439"/>
            <a:ext cx="6163055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59" y="3438144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800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5024" y="3008376"/>
            <a:ext cx="6163055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59" y="2926080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900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35024" y="2496311"/>
            <a:ext cx="6163055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59" y="2414015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1000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35024" y="1984248"/>
            <a:ext cx="6163055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59" y="1901952"/>
            <a:ext cx="4114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1100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803904"/>
            <a:ext cx="11430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C82036"/>
                </a:solidFill>
                <a:latin typeface="Arial"/>
              </a:rPr>
              <a:t>$700m BUFFER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56816" y="2578242"/>
            <a:ext cx="1024128" cy="2478389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37944" y="2258202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A985"/>
                </a:solidFill>
                <a:latin typeface="Arial"/>
              </a:rPr>
              <a:t>$984m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3896" y="5157216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8232B"/>
                </a:solidFill>
                <a:latin typeface="Arial"/>
              </a:rPr>
              <a:t>NO INCIDENT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5648" y="5367527"/>
            <a:ext cx="146304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86784" y="3699662"/>
            <a:ext cx="1024128" cy="1356969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67912" y="3379622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91C1"/>
                </a:solidFill>
                <a:latin typeface="Arial"/>
              </a:rPr>
              <a:t>$765m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83864" y="5157216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8232B"/>
                </a:solidFill>
                <a:latin typeface="Arial"/>
              </a:rPr>
              <a:t>INCIDENT 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85616" y="5367527"/>
            <a:ext cx="146304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16752" y="4805720"/>
            <a:ext cx="1024128" cy="250911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4485680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2036"/>
                </a:solidFill>
                <a:latin typeface="Arial"/>
              </a:rPr>
              <a:t>$549m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5157216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8232B"/>
                </a:solidFill>
                <a:latin typeface="Arial"/>
              </a:rPr>
              <a:t>COMBINED STRESS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5367527"/>
            <a:ext cx="146304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30 Nov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28431" y="1572768"/>
            <a:ext cx="3749039" cy="4078224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28431" y="1572768"/>
            <a:ext cx="3749039" cy="50292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93023" y="1691640"/>
            <a:ext cx="3419856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7F8F6"/>
                </a:solidFill>
                <a:latin typeface="Arial"/>
              </a:rPr>
              <a:t>MODEL ASSUMPTIONS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3" y="1965960"/>
            <a:ext cx="3419856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Replace with Treasury ledger and approved buffer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2267712"/>
            <a:ext cx="141732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985"/>
                </a:solidFill>
                <a:latin typeface="Arial"/>
              </a:rPr>
              <a:t>$1,000m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10928" y="2304288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F7F8F6"/>
                </a:solidFill>
                <a:latin typeface="Arial"/>
              </a:rPr>
              <a:t>assumed opening cash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2816352"/>
            <a:ext cx="3310128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229600" y="3063240"/>
            <a:ext cx="141732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6A600"/>
                </a:solidFill>
                <a:latin typeface="Arial"/>
              </a:rPr>
              <a:t>$700m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10928" y="3099816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F7F8F6"/>
                </a:solidFill>
                <a:latin typeface="Arial"/>
              </a:rPr>
              <a:t>assumed minimum buffer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229600" y="3611880"/>
            <a:ext cx="3310128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29600" y="3858768"/>
            <a:ext cx="141732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91C1"/>
                </a:solidFill>
                <a:latin typeface="Arial"/>
              </a:rPr>
              <a:t>$765m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0928" y="3895344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F7F8F6"/>
                </a:solidFill>
                <a:latin typeface="Arial"/>
              </a:rPr>
              <a:t>incident-base minimum · $0 gap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727448"/>
            <a:ext cx="33375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F7F8F6"/>
                </a:solidFill>
                <a:latin typeface="Arial"/>
              </a:rPr>
              <a:t>No incident low point: $984m.
Combined stress: buffer breached on 30 Nov.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980176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737B80"/>
                </a:solidFill>
                <a:latin typeface="Arial"/>
              </a:rPr>
              <a:t>Every cash input is a labelled classroom assumption. Public USD 2.3bn loss is not deducted again from opening cash.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STRESS FIRST BREACH: 30 NOVEMBER · FUND BEFORE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PART III  ·  STRESS &amp; FUNDING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SENSITIVITY OUTPUTS ARE ASSUMPTION-DRIVEN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38404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37B80"/>
                </a:solidFill>
                <a:latin typeface="Arial"/>
              </a:rPr>
              <a:t>COMBINED STRESS SHOCKS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6112" y="4767681"/>
            <a:ext cx="6949440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94529"/>
            <a:ext cx="27432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500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6112" y="4098340"/>
            <a:ext cx="6949440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4025188"/>
            <a:ext cx="27432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600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6112" y="3429000"/>
            <a:ext cx="6949440" cy="0"/>
          </a:xfrm>
          <a:prstGeom prst="line">
            <a:avLst/>
          </a:prstGeom>
          <a:ln w="14604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3355848"/>
            <a:ext cx="27432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82036"/>
                </a:solidFill>
                <a:latin typeface="Arial"/>
              </a:rPr>
              <a:t>700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96112" y="2759659"/>
            <a:ext cx="6949440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2686507"/>
            <a:ext cx="27432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800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" y="2090318"/>
            <a:ext cx="6949440" cy="0"/>
          </a:xfrm>
          <a:prstGeom prst="line">
            <a:avLst/>
          </a:prstGeom>
          <a:ln w="6985">
            <a:solidFill>
              <a:srgbClr val="E3E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2017166"/>
            <a:ext cx="27432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3218688"/>
            <a:ext cx="123444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C82036"/>
                </a:solidFill>
                <a:latin typeface="Arial"/>
              </a:rPr>
              <a:t>$700m buffer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2431682"/>
            <a:ext cx="658368" cy="2670669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2431682"/>
            <a:ext cx="658368" cy="2670669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175650"/>
            <a:ext cx="100584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0A985"/>
                </a:solidFill>
                <a:latin typeface="Arial"/>
              </a:rPr>
              <a:t>$849m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" y="5239512"/>
            <a:ext cx="117043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BASE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719072" y="2431682"/>
            <a:ext cx="612648" cy="0"/>
          </a:xfrm>
          <a:prstGeom prst="line">
            <a:avLst/>
          </a:prstGeom>
          <a:ln w="10160">
            <a:solidFill>
              <a:srgbClr val="737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331720" y="2431682"/>
            <a:ext cx="658368" cy="33467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7" y="2175650"/>
            <a:ext cx="100584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6A600"/>
                </a:solidFill>
                <a:latin typeface="Arial"/>
              </a:rPr>
              <a:t>−$50m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5687" y="5239512"/>
            <a:ext cx="117043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SETTLEMENT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999232" y="2766352"/>
            <a:ext cx="612648" cy="0"/>
          </a:xfrm>
          <a:prstGeom prst="line">
            <a:avLst/>
          </a:prstGeom>
          <a:ln w="10160">
            <a:solidFill>
              <a:srgbClr val="737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611880" y="2766352"/>
            <a:ext cx="658368" cy="669340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2510320"/>
            <a:ext cx="100584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E91C1"/>
                </a:solidFill>
                <a:latin typeface="Arial"/>
              </a:rPr>
              <a:t>−$100m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5848" y="5239512"/>
            <a:ext cx="117043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COLLATERAL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79392" y="3435693"/>
            <a:ext cx="612648" cy="0"/>
          </a:xfrm>
          <a:prstGeom prst="line">
            <a:avLst/>
          </a:prstGeom>
          <a:ln w="10160">
            <a:solidFill>
              <a:srgbClr val="737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892040" y="3435693"/>
            <a:ext cx="658368" cy="66934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27448" y="3179661"/>
            <a:ext cx="100584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−$100m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6007" y="5239512"/>
            <a:ext cx="117043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WITHDRAWALS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59552" y="4105034"/>
            <a:ext cx="612648" cy="0"/>
          </a:xfrm>
          <a:prstGeom prst="line">
            <a:avLst/>
          </a:prstGeom>
          <a:ln w="10160">
            <a:solidFill>
              <a:srgbClr val="737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172200" y="4105034"/>
            <a:ext cx="658368" cy="33467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07608" y="3849002"/>
            <a:ext cx="100584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6A600"/>
                </a:solidFill>
                <a:latin typeface="Arial"/>
              </a:rPr>
              <a:t>−$50m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8" y="5239512"/>
            <a:ext cx="117043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ROLLOVER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399032"/>
            <a:ext cx="3639312" cy="2084831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0" y="1399032"/>
            <a:ext cx="3639312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1517904"/>
            <a:ext cx="331012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7F8F6"/>
                </a:solidFill>
                <a:latin typeface="Arial"/>
              </a:rPr>
              <a:t>LIQUIDITY RESULT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57616" y="2103120"/>
            <a:ext cx="15087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82036"/>
                </a:solidFill>
                <a:latin typeface="Arial"/>
              </a:rPr>
              <a:t>$549m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11512" y="2157984"/>
            <a:ext cx="17830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30 Nov · $151m below buffer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57616" y="2788920"/>
            <a:ext cx="318211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7F8F6"/>
                </a:solidFill>
                <a:latin typeface="Arial"/>
              </a:rPr>
              <a:t>$524m at 14 Dec  ·  $176m peak funding need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3675887"/>
            <a:ext cx="3639312" cy="1975104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57616" y="3877056"/>
            <a:ext cx="32004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18232B"/>
                </a:solidFill>
                <a:latin typeface="Arial"/>
              </a:rPr>
              <a:t>ASSUMED T+2 FUNDING PLAN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595360" y="4663440"/>
            <a:ext cx="2724912" cy="0"/>
          </a:xfrm>
          <a:prstGeom prst="line">
            <a:avLst/>
          </a:prstGeom>
          <a:ln w="3048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668512" y="4581144"/>
            <a:ext cx="164592" cy="164592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6" y="4846320"/>
            <a:ext cx="822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8232B"/>
                </a:solidFill>
                <a:latin typeface="Arial"/>
              </a:rPr>
              <a:t>25 NOV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57616" y="5084064"/>
            <a:ext cx="822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Trigger</a:t>
            </a:r>
          </a:p>
        </p:txBody>
      </p:sp>
      <p:sp>
        <p:nvSpPr>
          <p:cNvPr id="54" name="Oval 53"/>
          <p:cNvSpPr/>
          <p:nvPr/>
        </p:nvSpPr>
        <p:spPr>
          <a:xfrm>
            <a:off x="9912096" y="4581144"/>
            <a:ext cx="164592" cy="164592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0" y="4846320"/>
            <a:ext cx="822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8232B"/>
                </a:solidFill>
                <a:latin typeface="Arial"/>
              </a:rPr>
              <a:t>29 NOV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5084064"/>
            <a:ext cx="822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Arrives</a:t>
            </a:r>
          </a:p>
        </p:txBody>
      </p:sp>
      <p:sp>
        <p:nvSpPr>
          <p:cNvPr id="57" name="Oval 56"/>
          <p:cNvSpPr/>
          <p:nvPr/>
        </p:nvSpPr>
        <p:spPr>
          <a:xfrm>
            <a:off x="11100816" y="4581144"/>
            <a:ext cx="164592" cy="164592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0" y="4846320"/>
            <a:ext cx="822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8232B"/>
                </a:solidFill>
                <a:latin typeface="Arial"/>
              </a:rPr>
              <a:t>30 NOV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0" y="5084064"/>
            <a:ext cx="822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Breach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5216" y="5980176"/>
            <a:ext cx="1097280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737B80"/>
                </a:solidFill>
                <a:latin typeface="Arial"/>
              </a:rPr>
              <a:t>Assumed $200m committed line; availability and T+2 timing must be verified. Stress inputs: settlement −50, collateral delay −100, withdrawals −100, non-renewal −50 (USDm).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map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32" y="0"/>
            <a:ext cx="1207213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PRIORITISE RESIDUAL EXPOSURE AFTER CONTAINMENT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PART IV  · 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ANALYST SCORES FOR THE 14 SEP–14 DEC HORIZON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16152"/>
            <a:ext cx="118872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737B80"/>
                </a:solidFill>
                <a:latin typeface="Arial"/>
              </a:rPr>
              <a:t>LIKELIHOOD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673352"/>
            <a:ext cx="1115568" cy="1115568"/>
          </a:xfrm>
          <a:prstGeom prst="rect">
            <a:avLst/>
          </a:prstGeom>
          <a:solidFill>
            <a:srgbClr val="DCECE4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1709928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3704" y="1673352"/>
            <a:ext cx="1115568" cy="1115568"/>
          </a:xfrm>
          <a:prstGeom prst="rect">
            <a:avLst/>
          </a:prstGeom>
          <a:solidFill>
            <a:srgbClr val="F5EDC8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8568" y="1709928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673352"/>
            <a:ext cx="1115568" cy="1115568"/>
          </a:xfrm>
          <a:prstGeom prst="rect">
            <a:avLst/>
          </a:prstGeom>
          <a:solidFill>
            <a:srgbClr val="F0D5D7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2" y="1709928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2825496"/>
            <a:ext cx="1115568" cy="1115568"/>
          </a:xfrm>
          <a:prstGeom prst="rect">
            <a:avLst/>
          </a:prstGeom>
          <a:solidFill>
            <a:srgbClr val="E6EED5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2862072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03704" y="2825496"/>
            <a:ext cx="1115568" cy="1115568"/>
          </a:xfrm>
          <a:prstGeom prst="rect">
            <a:avLst/>
          </a:prstGeom>
          <a:solidFill>
            <a:srgbClr val="F0E2B2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2862072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55848" y="2825496"/>
            <a:ext cx="1115568" cy="1115568"/>
          </a:xfrm>
          <a:prstGeom prst="rect">
            <a:avLst/>
          </a:prstGeom>
          <a:solidFill>
            <a:srgbClr val="E8C6C8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2862072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3977639"/>
            <a:ext cx="1115568" cy="1115568"/>
          </a:xfrm>
          <a:prstGeom prst="rect">
            <a:avLst/>
          </a:prstGeom>
          <a:solidFill>
            <a:srgbClr val="F1E8D0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4014215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3704" y="3977639"/>
            <a:ext cx="1115568" cy="1115568"/>
          </a:xfrm>
          <a:prstGeom prst="rect">
            <a:avLst/>
          </a:prstGeom>
          <a:solidFill>
            <a:srgbClr val="E8CFB3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58568" y="4014215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3977639"/>
            <a:ext cx="1115568" cy="1115568"/>
          </a:xfrm>
          <a:prstGeom prst="rect">
            <a:avLst/>
          </a:prstGeom>
          <a:solidFill>
            <a:srgbClr val="E2B7BB"/>
          </a:solidFill>
          <a:ln w="1397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0712" y="4014215"/>
            <a:ext cx="2011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" y="2057400"/>
            <a:ext cx="69494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UNLIKELY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" y="3209544"/>
            <a:ext cx="69494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" y="4361688"/>
            <a:ext cx="69494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LIKELY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166360"/>
            <a:ext cx="111556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03704" y="5166360"/>
            <a:ext cx="111556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166360"/>
            <a:ext cx="111556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09928" y="5440680"/>
            <a:ext cx="19659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737B80"/>
                </a:solidFill>
                <a:latin typeface="Arial"/>
              </a:rPr>
              <a:t>IMPACT</a:t>
            </a:r>
          </a:p>
        </p:txBody>
      </p:sp>
      <p:sp>
        <p:nvSpPr>
          <p:cNvPr id="36" name="Oval 35"/>
          <p:cNvSpPr/>
          <p:nvPr/>
        </p:nvSpPr>
        <p:spPr>
          <a:xfrm>
            <a:off x="3474720" y="3017520"/>
            <a:ext cx="274320" cy="23774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3863" y="3063239"/>
            <a:ext cx="256032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7F8F6"/>
                </a:solidFill>
                <a:latin typeface="Arial"/>
              </a:rPr>
              <a:t>P1</a:t>
            </a:r>
          </a:p>
        </p:txBody>
      </p:sp>
      <p:sp>
        <p:nvSpPr>
          <p:cNvPr id="38" name="Oval 37"/>
          <p:cNvSpPr/>
          <p:nvPr/>
        </p:nvSpPr>
        <p:spPr>
          <a:xfrm>
            <a:off x="3840479" y="3017520"/>
            <a:ext cx="274320" cy="237744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49624" y="3063239"/>
            <a:ext cx="256032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7F8F6"/>
                </a:solidFill>
                <a:latin typeface="Arial"/>
              </a:rPr>
              <a:t>P2</a:t>
            </a:r>
          </a:p>
        </p:txBody>
      </p:sp>
      <p:sp>
        <p:nvSpPr>
          <p:cNvPr id="40" name="Oval 39"/>
          <p:cNvSpPr/>
          <p:nvPr/>
        </p:nvSpPr>
        <p:spPr>
          <a:xfrm>
            <a:off x="3657600" y="3328416"/>
            <a:ext cx="274320" cy="237744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3374136"/>
            <a:ext cx="256032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F7F8F6"/>
                </a:solidFill>
                <a:latin typeface="Arial"/>
              </a:rPr>
              <a:t>P3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83480" y="1426464"/>
            <a:ext cx="6784848" cy="425196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83480" y="1426464"/>
            <a:ext cx="6784848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48072" y="1545336"/>
            <a:ext cx="6455664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7F8F6"/>
                </a:solidFill>
                <a:latin typeface="Arial"/>
              </a:rPr>
              <a:t>TOP RESIDUAL RISKS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8072" y="1819656"/>
            <a:ext cx="645566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B0B2"/>
                </a:solidFill>
                <a:latin typeface="Arial"/>
              </a:rPr>
              <a:t>Likelihood × impact = score · proposed analyst ratings</a:t>
            </a:r>
          </a:p>
        </p:txBody>
      </p:sp>
      <p:sp>
        <p:nvSpPr>
          <p:cNvPr id="46" name="Oval 45"/>
          <p:cNvSpPr/>
          <p:nvPr/>
        </p:nvSpPr>
        <p:spPr>
          <a:xfrm>
            <a:off x="5212080" y="2212848"/>
            <a:ext cx="502920" cy="50292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12080" y="2313432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P1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79592" y="2203704"/>
            <a:ext cx="20116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OPERATIONAL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9592" y="2432304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A9B0B2"/>
                </a:solidFill>
                <a:latin typeface="Arial"/>
              </a:rPr>
              <a:t>Unreconciled breaks may hide open positions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228600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2036"/>
                </a:solidFill>
                <a:latin typeface="Arial"/>
              </a:rPr>
              <a:t>2 × 3 = 6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212080" y="2852928"/>
            <a:ext cx="6309360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212080" y="2980944"/>
            <a:ext cx="502920" cy="502920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0" y="3081527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P2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79592" y="2971800"/>
            <a:ext cx="20116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LIQUIDITY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79592" y="320040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A9B0B2"/>
                </a:solidFill>
                <a:latin typeface="Arial"/>
              </a:rPr>
              <a:t>Settlement / collateral peak versus buffer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3054096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91C1"/>
                </a:solidFill>
                <a:latin typeface="Arial"/>
              </a:rPr>
              <a:t>2 × 3 = 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212080" y="3621024"/>
            <a:ext cx="6309360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212080" y="3749039"/>
            <a:ext cx="502920" cy="502920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0" y="3849624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P3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9592" y="3739896"/>
            <a:ext cx="20116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FUNDING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9592" y="3968496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A9B0B2"/>
                </a:solidFill>
                <a:latin typeface="Arial"/>
              </a:rPr>
              <a:t>Maturity inside horizon may not roll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3822191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6A600"/>
                </a:solidFill>
                <a:latin typeface="Arial"/>
              </a:rPr>
              <a:t>2 × 3 = 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30368" y="4709160"/>
            <a:ext cx="14630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0A985"/>
                </a:solidFill>
                <a:latin typeface="Arial"/>
              </a:rPr>
              <a:t>OTHER WATCHLIST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48272" y="4700016"/>
            <a:ext cx="46634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F7F8F6"/>
                </a:solidFill>
                <a:latin typeface="Arial"/>
              </a:rPr>
              <a:t>Market  ·  counterparty  ·  legal / regulatory  ·  reputational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025896"/>
            <a:ext cx="10972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737B80"/>
                </a:solidFill>
                <a:latin typeface="Arial"/>
              </a:rPr>
              <a:t>Scores are assumptions, not UBS / regulator ratings. Re-score after close-out; define impact using approved internal buffer.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THREE CFO ACTIONS LINK CONTROL, CASH AND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PART V  ·  CFO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OWNERS · DEADLINES · BENEFITS · CONSTRAINTS · FALLBACKS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3429000" cy="4416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3429000" cy="50292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808" y="1664208"/>
            <a:ext cx="493776" cy="49377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792224"/>
            <a:ext cx="493776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30632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7F8F6"/>
                </a:solidFill>
                <a:latin typeface="Arial"/>
              </a:rPr>
              <a:t>PROTECT LIQUIDITY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907792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A985"/>
                </a:solidFill>
                <a:latin typeface="Arial"/>
              </a:rPr>
              <a:t>GROUP TREASURER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163824"/>
            <a:ext cx="306324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A9B0B2"/>
                </a:solidFill>
                <a:latin typeface="Arial"/>
              </a:rPr>
              <a:t>24h initial view · daily to 14 Dec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3816" y="3675887"/>
            <a:ext cx="0" cy="1170433"/>
          </a:xfrm>
          <a:prstGeom prst="line">
            <a:avLst/>
          </a:prstGeom>
          <a:ln w="2794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31520" y="3703320"/>
            <a:ext cx="164592" cy="164592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639312"/>
            <a:ext cx="2724912" cy="7589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13-week cash forecast; confirm accessible facilities before any modeled breach.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9808" y="4572000"/>
            <a:ext cx="3054096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4718304"/>
            <a:ext cx="306324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A985"/>
                </a:solidFill>
                <a:latin typeface="Arial"/>
              </a:rPr>
              <a:t>Benefit: verified headroom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074920"/>
            <a:ext cx="30632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A9B0B2"/>
                </a:solidFill>
                <a:latin typeface="Arial"/>
              </a:rPr>
              <a:t>Constraint: eligibility · lead time ·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1104" y="1417320"/>
            <a:ext cx="3429000" cy="4416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61104" y="1417320"/>
            <a:ext cx="3429000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43984" y="1664208"/>
            <a:ext cx="493776" cy="49377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4" y="1792224"/>
            <a:ext cx="493776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2331720"/>
            <a:ext cx="30632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7F8F6"/>
                </a:solidFill>
                <a:latin typeface="Arial"/>
              </a:rPr>
              <a:t>CONTAIN EXPOSURE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2907792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IB COO + MARKET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3163824"/>
            <a:ext cx="306324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A9B0B2"/>
                </a:solidFill>
                <a:latin typeface="Arial"/>
              </a:rPr>
              <a:t>Immediate · daily until reconciled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07992" y="3675887"/>
            <a:ext cx="0" cy="1170433"/>
          </a:xfrm>
          <a:prstGeom prst="line">
            <a:avLst/>
          </a:prstGeom>
          <a:ln w="2794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25696" y="3703320"/>
            <a:ext cx="164592" cy="164592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36592" y="3639312"/>
            <a:ext cx="2724912" cy="7589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Independently reconcile positions and settle / collateral breaks; close exposure under control.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43984" y="4572000"/>
            <a:ext cx="3054095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443984" y="4718304"/>
            <a:ext cx="306324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A985"/>
                </a:solidFill>
                <a:latin typeface="Arial"/>
              </a:rPr>
              <a:t>Benefit: uncertainty reduced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3984" y="5074920"/>
            <a:ext cx="30632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A9B0B2"/>
                </a:solidFill>
                <a:latin typeface="Arial"/>
              </a:rPr>
              <a:t>Fallback: conservative overlay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1417320"/>
            <a:ext cx="3429000" cy="4416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79" y="1417320"/>
            <a:ext cx="3429000" cy="50292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38159" y="1664208"/>
            <a:ext cx="493776" cy="493776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59" y="1792224"/>
            <a:ext cx="493776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331720"/>
            <a:ext cx="30632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7F8F6"/>
                </a:solidFill>
                <a:latin typeface="Arial"/>
              </a:rPr>
              <a:t>REBUILD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2907792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6A600"/>
                </a:solidFill>
                <a:latin typeface="Arial"/>
              </a:rPr>
              <a:t>CRO + IB COO · IA VALIDATES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9" y="3163824"/>
            <a:ext cx="306324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A9B0B2"/>
                </a:solidFill>
                <a:latin typeface="Arial"/>
              </a:rPr>
              <a:t>Interim now · programme by 14 Dec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02167" y="3675887"/>
            <a:ext cx="0" cy="1170433"/>
          </a:xfrm>
          <a:prstGeom prst="line">
            <a:avLst/>
          </a:prstGeom>
          <a:ln w="27940">
            <a:solidFill>
              <a:srgbClr val="D6A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19871" y="3703320"/>
            <a:ext cx="164592" cy="164592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7" y="3639312"/>
            <a:ext cx="2724912" cy="7589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7F8F6"/>
                </a:solidFill>
                <a:latin typeface="Arial"/>
              </a:rPr>
              <a:t>Dual verification, exception escalation and ownership of trade breaks.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138159" y="4572000"/>
            <a:ext cx="3054096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38159" y="4718304"/>
            <a:ext cx="306324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A985"/>
                </a:solidFill>
                <a:latin typeface="Arial"/>
              </a:rPr>
              <a:t>Benefit: recurrence risk down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59" y="5074920"/>
            <a:ext cx="30632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A9B0B2"/>
                </a:solidFill>
                <a:latin typeface="Arial"/>
              </a:rPr>
              <a:t>Constraint: systems · staffing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" y="6053328"/>
            <a:ext cx="109728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8232B"/>
                </a:solidFill>
                <a:latin typeface="Arial"/>
              </a:rPr>
              <a:t>FUNDING FALLBACK: separately verify availability, eligible collateral and arrival time; do not count an unconfirmed facility as cash.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PROTECT PAYMENT CAPACITY — ACT ON VERIFIED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CONCLUSION  ·  THE TREASURY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A TIMING-LED LIQUIDITY PLAN, NOT A CLAIM ABOUT UBS’S ACTUAL CASH GAP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281635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A985"/>
                </a:solidFill>
                <a:latin typeface="Arial"/>
              </a:rPr>
              <a:t>RECONCILE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1417320"/>
            <a:ext cx="281635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91C1"/>
                </a:solidFill>
                <a:latin typeface="Arial"/>
              </a:rPr>
              <a:t>FORECAST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1417320"/>
            <a:ext cx="281635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2036"/>
                </a:solidFill>
                <a:latin typeface="Arial"/>
              </a:rPr>
              <a:t>STAGE FUNDING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874519"/>
            <a:ext cx="3145536" cy="158191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1874519"/>
            <a:ext cx="3145536" cy="50292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7" y="2139696"/>
            <a:ext cx="502920" cy="502920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276856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139696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7F8F6"/>
                </a:solidFill>
                <a:latin typeface="Arial"/>
              </a:rPr>
              <a:t>Verify positions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2788920"/>
            <a:ext cx="27432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A9B0B2"/>
                </a:solidFill>
                <a:latin typeface="Arial"/>
              </a:rPr>
              <a:t>Independent trade and collateral reconciliation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7992" y="1874519"/>
            <a:ext cx="3145536" cy="158191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07992" y="1874519"/>
            <a:ext cx="3145536" cy="50292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90872" y="2139696"/>
            <a:ext cx="502920" cy="502920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276856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2139696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7F8F6"/>
                </a:solidFill>
                <a:latin typeface="Arial"/>
              </a:rPr>
              <a:t>Map dated cash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2788920"/>
            <a:ext cx="27432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A9B0B2"/>
                </a:solidFill>
                <a:latin typeface="Arial"/>
              </a:rPr>
              <a:t>By entity · currency · value date · buffer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6" y="1874519"/>
            <a:ext cx="3145536" cy="158191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57616" y="1874519"/>
            <a:ext cx="3145536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40496" y="2139696"/>
            <a:ext cx="502920" cy="50292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276856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2139696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7F8F6"/>
                </a:solidFill>
                <a:latin typeface="Arial"/>
              </a:rPr>
              <a:t>Fund before breach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58784" y="2788920"/>
            <a:ext cx="27432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A9B0B2"/>
                </a:solidFill>
                <a:latin typeface="Arial"/>
              </a:rPr>
              <a:t>Confirm source, conditions and T+2 arrival</a:t>
            </a:r>
          </a:p>
        </p:txBody>
      </p:sp>
      <p:sp>
        <p:nvSpPr>
          <p:cNvPr id="31" name="Chevron 30"/>
          <p:cNvSpPr/>
          <p:nvPr/>
        </p:nvSpPr>
        <p:spPr>
          <a:xfrm>
            <a:off x="3931920" y="2542032"/>
            <a:ext cx="310896" cy="182880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7790688" y="2542032"/>
            <a:ext cx="310896" cy="182880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858768"/>
            <a:ext cx="10881360" cy="969264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3858768"/>
            <a:ext cx="54864" cy="969264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4041648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TREASURY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87752" y="3986784"/>
            <a:ext cx="8558784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Preserve headroom and activate funding only when verified forecasts show a buffer breach before the funding source can arrive.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3456432" cy="65836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50292" cy="658368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5340096"/>
            <a:ext cx="312724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A985"/>
                </a:solidFill>
                <a:latin typeface="Arial"/>
              </a:rPr>
              <a:t>HEADROOM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5577840"/>
            <a:ext cx="31272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F7F8F6"/>
                </a:solidFill>
                <a:latin typeface="Arial"/>
              </a:rPr>
              <a:t>Cash vs approved buffer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34255" y="5230368"/>
            <a:ext cx="3456432" cy="65836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34255" y="5230368"/>
            <a:ext cx="50292" cy="658368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9703" y="5340096"/>
            <a:ext cx="312724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6A600"/>
                </a:solidFill>
                <a:latin typeface="Arial"/>
              </a:rPr>
              <a:t>OPEN ITEMS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9703" y="5577840"/>
            <a:ext cx="31272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F7F8F6"/>
                </a:solidFill>
                <a:latin typeface="Arial"/>
              </a:rPr>
              <a:t>Unmatched trades / collateral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10144" y="5230368"/>
            <a:ext cx="3456432" cy="65836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10144" y="5230368"/>
            <a:ext cx="50292" cy="65836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65592" y="5340096"/>
            <a:ext cx="312724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FUNDING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5592" y="5577840"/>
            <a:ext cx="31272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F7F8F6"/>
                </a:solidFill>
                <a:latin typeface="Arial"/>
              </a:rPr>
              <a:t>Confirmed source arrival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" y="6080760"/>
            <a:ext cx="10881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737B80"/>
                </a:solidFill>
                <a:latin typeface="Arial"/>
              </a:rPr>
              <a:t>Public information confirms the loss and control failures, not UBS’s actual daily accessible cash or peak funding need. Load internal Treasury records before quantifying a real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Scandal — Treasury Risk Briefing</dc:title>
  <dc:subject>Ten-slide visual briefing following the agreed plan</dc:subject>
  <dc:creator>Corporate Treasury Management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