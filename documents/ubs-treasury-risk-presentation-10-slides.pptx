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incident</c:v>
                </c:pt>
              </c:strCache>
            </c:strRef>
          </c:tx>
          <c:spPr>
            <a:ln w="25400">
              <a:solidFill>
                <a:srgbClr val="008F72"/>
              </a:solidFill>
            </a:ln>
          </c:spPr>
          <c:marker>
            <c:symbol val="diamond"/>
            <c:size val="4"/>
            <c:spPr>
              <a:solidFill>
                <a:srgbClr val="008F72"/>
              </a:solidFill>
              <a:ln>
                <a:solidFill>
                  <a:srgbClr val="008F72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990</c:v>
                </c:pt>
                <c:pt idx="2">
                  <c:v>985</c:v>
                </c:pt>
                <c:pt idx="3">
                  <c:v>990</c:v>
                </c:pt>
                <c:pt idx="4">
                  <c:v>985</c:v>
                </c:pt>
                <c:pt idx="5">
                  <c:v>987</c:v>
                </c:pt>
                <c:pt idx="6">
                  <c:v>984</c:v>
                </c:pt>
                <c:pt idx="7">
                  <c:v>1004</c:v>
                </c:pt>
                <c:pt idx="8">
                  <c:v>1104</c:v>
                </c:pt>
                <c:pt idx="9">
                  <c:v>1054</c:v>
                </c:pt>
                <c:pt idx="10">
                  <c:v>1024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Incident base</c:v>
                </c:pt>
              </c:strCache>
            </c:strRef>
          </c:tx>
          <c:spPr>
            <a:ln w="25400">
              <a:solidFill>
                <a:srgbClr val="287FA8"/>
              </a:solidFill>
            </a:ln>
          </c:spPr>
          <c:marker>
            <c:symbol val="diamond"/>
            <c:size val="4"/>
            <c:spPr>
              <a:solidFill>
                <a:srgbClr val="287FA8"/>
              </a:solidFill>
              <a:ln>
                <a:solidFill>
                  <a:srgbClr val="287FA8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849</c:v>
                </c:pt>
                <c:pt idx="10">
                  <c:v>824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Combined stress</c:v>
                </c:pt>
              </c:strCache>
            </c:strRef>
          </c:tx>
          <c:spPr>
            <a:ln w="25400">
              <a:solidFill>
                <a:srgbClr val="C82036"/>
              </a:solidFill>
            </a:ln>
          </c:spPr>
          <c:marker>
            <c:symbol val="diamond"/>
            <c:size val="4"/>
            <c:spPr>
              <a:solidFill>
                <a:srgbClr val="C82036"/>
              </a:solidFill>
              <a:ln>
                <a:solidFill>
                  <a:srgbClr val="C82036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1000</c:v>
                </c:pt>
                <c:pt idx="1">
                  <c:v>915</c:v>
                </c:pt>
                <c:pt idx="2">
                  <c:v>805</c:v>
                </c:pt>
                <c:pt idx="3">
                  <c:v>775</c:v>
                </c:pt>
                <c:pt idx="4">
                  <c:v>765</c:v>
                </c:pt>
                <c:pt idx="5">
                  <c:v>772</c:v>
                </c:pt>
                <c:pt idx="6">
                  <c:v>774</c:v>
                </c:pt>
                <c:pt idx="7">
                  <c:v>769</c:v>
                </c:pt>
                <c:pt idx="8">
                  <c:v>909</c:v>
                </c:pt>
                <c:pt idx="9">
                  <c:v>549</c:v>
                </c:pt>
                <c:pt idx="10">
                  <c:v>524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Minimum buffer</c:v>
                </c:pt>
              </c:strCache>
            </c:strRef>
          </c:tx>
          <c:spPr>
            <a:ln w="16510">
              <a:solidFill>
                <a:srgbClr val="C49500"/>
              </a:solidFill>
              <a:prstDash val="dash"/>
            </a:ln>
          </c:spPr>
          <c:marker>
            <c:symbol val="square"/>
          </c:marker>
          <c:cat>
            <c:strRef>
              <c:f>Sheet1!$A$2:$A$12</c:f>
              <c:strCache>
                <c:ptCount val="11"/>
                <c:pt idx="0">
                  <c:v>14 Sep</c:v>
                </c:pt>
                <c:pt idx="1">
                  <c:v>15</c:v>
                </c:pt>
                <c:pt idx="2">
                  <c:v>16</c:v>
                </c:pt>
                <c:pt idx="3">
                  <c:v>17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30 Sep</c:v>
                </c:pt>
                <c:pt idx="8">
                  <c:v>Oct</c:v>
                </c:pt>
                <c:pt idx="9">
                  <c:v>Nov</c:v>
                </c:pt>
                <c:pt idx="10">
                  <c:v>14 Dec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700</c:v>
                </c:pt>
                <c:pt idx="1">
                  <c:v>700</c:v>
                </c:pt>
                <c:pt idx="2">
                  <c:v>700</c:v>
                </c:pt>
                <c:pt idx="3">
                  <c:v>700</c:v>
                </c:pt>
                <c:pt idx="4">
                  <c:v>700</c:v>
                </c:pt>
                <c:pt idx="5">
                  <c:v>700</c:v>
                </c:pt>
                <c:pt idx="6">
                  <c:v>700</c:v>
                </c:pt>
                <c:pt idx="7">
                  <c:v>700</c:v>
                </c:pt>
                <c:pt idx="8">
                  <c:v>700</c:v>
                </c:pt>
                <c:pt idx="9">
                  <c:v>700</c:v>
                </c:pt>
                <c:pt idx="10">
                  <c:v>700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00.0"/>
          <c:min val="5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68747B"/>
                </a:solidFill>
                <a:latin typeface="Arial"/>
              </a:defRPr>
            </a:pPr>
          </a:p>
        </c:txPr>
        <c:crossAx val="2118791784"/>
        <c:crosses val="autoZero"/>
        <c:majorUnit val="100.0"/>
      </c:valAx>
    </c:plotArea>
    <c:legend>
      <c:legendPos val="b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83464"/>
            <a:ext cx="1444752" cy="512064"/>
          </a:xfrm>
          <a:prstGeom prst="rect">
            <a:avLst/>
          </a:prstGeom>
        </p:spPr>
      </p:pic>
      <p:pic>
        <p:nvPicPr>
          <p:cNvPr id="3" name="Picture 2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237744"/>
            <a:ext cx="548640" cy="576072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493776" y="941832"/>
            <a:ext cx="11228832" cy="0"/>
          </a:xfrm>
          <a:prstGeom prst="line">
            <a:avLst/>
          </a:prstGeom>
          <a:ln w="127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139696" y="347472"/>
            <a:ext cx="804672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68747B"/>
                </a:solidFill>
                <a:latin typeface="Arial"/>
              </a:rPr>
              <a:t>CORPORATE TREASURY MANAGEMENT  ·  2011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6675120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8232B"/>
                </a:solidFill>
                <a:latin typeface="Arial"/>
              </a:rPr>
              <a:t>UBS 2011 ROGUE TRADING
SCANDAL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5376"/>
            <a:ext cx="66751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82036"/>
                </a:solidFill>
                <a:latin typeface="Arial"/>
              </a:rPr>
              <a:t>FROM OPERATIONAL FAILURE TO TREASURY DECISIONS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487168"/>
            <a:ext cx="6583680" cy="1353312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2487168"/>
            <a:ext cx="59436" cy="1353312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51760"/>
            <a:ext cx="60350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008F72"/>
                </a:solidFill>
                <a:latin typeface="Arial"/>
              </a:rPr>
              <a:t>CENTRAL TREASURY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07792"/>
            <a:ext cx="5998464" cy="7223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Arial"/>
              </a:rPr>
              <a:t>How should UBS Treasury preserve liquidity and meet payment obligations over the following three months?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197864"/>
            <a:ext cx="4178808" cy="2642616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16368" y="1197864"/>
            <a:ext cx="4178808" cy="5029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1444752"/>
            <a:ext cx="3675887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THE TREASURY RESPONSE</a:t>
            </a:r>
          </a:p>
        </p:txBody>
      </p:sp>
      <p:sp>
        <p:nvSpPr>
          <p:cNvPr id="15" name="Oval 14"/>
          <p:cNvSpPr/>
          <p:nvPr/>
        </p:nvSpPr>
        <p:spPr>
          <a:xfrm>
            <a:off x="7763256" y="1828800"/>
            <a:ext cx="384048" cy="38404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63256" y="1920240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37943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82036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1837943"/>
            <a:ext cx="161848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Positions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79" y="2221992"/>
            <a:ext cx="0" cy="182880"/>
          </a:xfrm>
          <a:prstGeom prst="line">
            <a:avLst/>
          </a:prstGeom>
          <a:ln w="1524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7763256" y="2432304"/>
            <a:ext cx="384048" cy="38404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63256" y="2523744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41448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49500"/>
                </a:solidFill>
                <a:latin typeface="Arial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441448"/>
            <a:ext cx="161848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Headroom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55279" y="2825496"/>
            <a:ext cx="0" cy="182880"/>
          </a:xfrm>
          <a:prstGeom prst="line">
            <a:avLst/>
          </a:prstGeom>
          <a:ln w="1524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763256" y="3035808"/>
            <a:ext cx="384048" cy="38404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63256" y="3127248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044952"/>
            <a:ext cx="13258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8F72"/>
                </a:solidFill>
                <a:latin typeface="Arial"/>
              </a:rPr>
              <a:t>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044952"/>
            <a:ext cx="161848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Funding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1792" y="4251960"/>
            <a:ext cx="11064240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8368" y="4489704"/>
            <a:ext cx="12801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C82036"/>
                </a:solidFill>
                <a:latin typeface="Arial"/>
              </a:rPr>
              <a:t>PRESENTERS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93392" y="4453128"/>
            <a:ext cx="941832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18232B"/>
                </a:solidFill>
                <a:latin typeface="Arial"/>
              </a:rPr>
              <a:t>Paul Alain Diouf  ·  Calvin Minang  ·  Jules Métayer  ·  Elias Abou-Tayeh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965192"/>
            <a:ext cx="171907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C82036"/>
                </a:solidFill>
                <a:latin typeface="Arial"/>
              </a:rPr>
              <a:t>ACADEMIC SUPERVISOR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6" y="4928616"/>
            <a:ext cx="29260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Jamil Chaftar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13832"/>
            <a:ext cx="11036808" cy="640080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" y="5623560"/>
            <a:ext cx="1490472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8747B"/>
                </a:solidFill>
                <a:latin typeface="Arial"/>
              </a:rPr>
              <a:t>DECISION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80" y="5605272"/>
            <a:ext cx="242316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14 SEP 2011  ·  DISCOVERY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56048" y="5715000"/>
            <a:ext cx="3858768" cy="0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901184" y="5641848"/>
            <a:ext cx="146304" cy="146304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741664" y="5641848"/>
            <a:ext cx="146304" cy="14630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8552" y="5605272"/>
            <a:ext cx="243230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14 DEC 2011  ·  END OF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proved-map-slide-report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4" y="0"/>
            <a:ext cx="121491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HOW HIDDEN POSITIONS ESCAPED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CONCEALMENT 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REAL FUTURES EXPOSURE VS THE APPARENT INTERNAL RISK VIEW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316736"/>
            <a:ext cx="7818120" cy="453542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44752"/>
            <a:ext cx="475488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8747B"/>
                </a:solidFill>
                <a:latin typeface="Arial"/>
              </a:rPr>
              <a:t>RELATIVE EXPOSURE  ·  SCHEMATIC, NOT TO SCALE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97864" y="2029967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97864" y="3017520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97864" y="4005071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197864" y="4992623"/>
            <a:ext cx="6894576" cy="0"/>
          </a:xfrm>
          <a:prstGeom prst="line">
            <a:avLst/>
          </a:prstGeom>
          <a:ln w="6985">
            <a:solidFill>
              <a:srgbClr val="E4E8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197864" y="4553711"/>
            <a:ext cx="1143000" cy="274320"/>
          </a:xfrm>
          <a:prstGeom prst="rect">
            <a:avLst/>
          </a:prstGeom>
          <a:solidFill>
            <a:srgbClr val="F8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40864" y="4142231"/>
            <a:ext cx="1143000" cy="621791"/>
          </a:xfrm>
          <a:prstGeom prst="rect">
            <a:avLst/>
          </a:prstGeom>
          <a:solidFill>
            <a:srgbClr val="F6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83864" y="3639311"/>
            <a:ext cx="1143000" cy="1060703"/>
          </a:xfrm>
          <a:prstGeom prst="rect">
            <a:avLst/>
          </a:prstGeom>
          <a:solidFill>
            <a:srgbClr val="F4DA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26864" y="2980943"/>
            <a:ext cx="1188719" cy="1673352"/>
          </a:xfrm>
          <a:prstGeom prst="rect">
            <a:avLst/>
          </a:prstGeom>
          <a:solidFill>
            <a:srgbClr val="F1CD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15583" y="2231136"/>
            <a:ext cx="1188720" cy="2368295"/>
          </a:xfrm>
          <a:prstGeom prst="rect">
            <a:avLst/>
          </a:prstGeom>
          <a:solidFill>
            <a:srgbClr val="EF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197864" y="4553711"/>
            <a:ext cx="1143000" cy="2743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340864" y="4142231"/>
            <a:ext cx="1143000" cy="41148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483864" y="3639311"/>
            <a:ext cx="1143000" cy="502920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626864" y="2980943"/>
            <a:ext cx="1188719" cy="658368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815583" y="2231136"/>
            <a:ext cx="1188721" cy="749807"/>
          </a:xfrm>
          <a:prstGeom prst="line">
            <a:avLst/>
          </a:prstGeom>
          <a:ln w="3175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90572" y="45034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33572" y="409193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6572" y="3589019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65292" y="2930651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54012" y="2180844"/>
            <a:ext cx="100584" cy="100584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V="1">
            <a:off x="1197864" y="4764023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40864" y="4700015"/>
            <a:ext cx="1143000" cy="64008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483864" y="4654295"/>
            <a:ext cx="1143000" cy="45720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626864" y="4599431"/>
            <a:ext cx="1188719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815583" y="4544567"/>
            <a:ext cx="1188721" cy="54864"/>
          </a:xfrm>
          <a:prstGeom prst="line">
            <a:avLst/>
          </a:prstGeom>
          <a:ln w="2794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147572" y="47777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290572" y="4713731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433572" y="464972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6572" y="4604003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765292" y="4549140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54012" y="4494275"/>
            <a:ext cx="100584" cy="100584"/>
          </a:xfrm>
          <a:prstGeom prst="ellipse">
            <a:avLst/>
          </a:prstGeom>
          <a:solidFill>
            <a:srgbClr val="287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0744" y="2066543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REAL LONG INDEX FUTURES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183" y="4379975"/>
            <a:ext cx="2834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87FA8"/>
                </a:solidFill>
                <a:latin typeface="Arial"/>
              </a:rPr>
              <a:t>Reported risk appears limited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43983" y="2980944"/>
            <a:ext cx="169164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Unseen exposure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7864" y="5138927"/>
            <a:ext cx="15544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0">
                <a:solidFill>
                  <a:srgbClr val="68747B"/>
                </a:solidFill>
                <a:latin typeface="Arial"/>
              </a:rPr>
              <a:t>Positions build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59" y="5138927"/>
            <a:ext cx="224028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14 SEP 2011 · DISCOVERY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05088" y="1417320"/>
            <a:ext cx="2926080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18232B"/>
                </a:solidFill>
                <a:latin typeface="Arial"/>
              </a:rPr>
              <a:t>WHAT HAPPENED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705088" y="1719072"/>
            <a:ext cx="2935224" cy="0"/>
          </a:xfrm>
          <a:prstGeom prst="line">
            <a:avLst/>
          </a:prstGeom>
          <a:ln w="2286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705088" y="1892807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856" y="1892807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REAL POSITION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6" y="2148839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Long index futures remained open in the market.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134856" y="2697479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705088" y="2825496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49500"/>
                </a:solidFill>
                <a:latin typeface="Arial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2825496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FALSE HEDGE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34856" y="3081528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Fictitious deferred-settlement ETF entries were booked internally as offsets.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34856" y="3630168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705088" y="3758183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87FA8"/>
                </a:solidFill>
                <a:latin typeface="Arial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34856" y="3758183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APPARENT RISK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34856" y="4014215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Risk reports appeared limited while real exposure kept growing.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34856" y="4562855"/>
            <a:ext cx="2505456" cy="0"/>
          </a:xfrm>
          <a:prstGeom prst="line">
            <a:avLst/>
          </a:prstGeom>
          <a:ln w="6985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705088" y="4690872"/>
            <a:ext cx="34747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34856" y="4690872"/>
            <a:ext cx="248716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4946904"/>
            <a:ext cx="248716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14 September 2011 · reported loss USD 2.3bn.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108192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Sources: FINMA 2012 §§11–18; FSA 2012 §§23–25. The chart is conceptual; it is not a historical exposure series.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FROM CONTROL FAILURE TO TREASURY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1.3  ·  OPERATIONAL RISK → CASH →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CASH CONSEQUENCE DEPENDS ON DUE DATES, COLLATERAL AND HEADROOM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04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88920" y="1947672"/>
            <a:ext cx="1783080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evron 10"/>
          <p:cNvSpPr/>
          <p:nvPr/>
        </p:nvSpPr>
        <p:spPr>
          <a:xfrm>
            <a:off x="4297680" y="1856231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355080" y="2011680"/>
            <a:ext cx="1709928" cy="41148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hevron 12"/>
          <p:cNvSpPr/>
          <p:nvPr/>
        </p:nvSpPr>
        <p:spPr>
          <a:xfrm rot="1200000">
            <a:off x="7333488" y="2121408"/>
            <a:ext cx="164592" cy="164592"/>
          </a:xfrm>
          <a:prstGeom prst="chevron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907792"/>
            <a:ext cx="0" cy="1042416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evron 14"/>
          <p:cNvSpPr/>
          <p:nvPr/>
        </p:nvSpPr>
        <p:spPr>
          <a:xfrm rot="5400000">
            <a:off x="8695944" y="342900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6364224" y="4507992"/>
            <a:ext cx="1453896" cy="557784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hevron 16"/>
          <p:cNvSpPr/>
          <p:nvPr/>
        </p:nvSpPr>
        <p:spPr>
          <a:xfrm rot="9600000">
            <a:off x="6821424" y="4754880"/>
            <a:ext cx="164592" cy="164592"/>
          </a:xfrm>
          <a:prstGeom prst="chevron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2788920" y="4544568"/>
            <a:ext cx="1783080" cy="621792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evron 18"/>
          <p:cNvSpPr/>
          <p:nvPr/>
        </p:nvSpPr>
        <p:spPr>
          <a:xfrm rot="12000000">
            <a:off x="3602736" y="478231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2331720" y="2414016"/>
            <a:ext cx="0" cy="1609344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6200000">
            <a:off x="2249424" y="2770632"/>
            <a:ext cx="164592" cy="164592"/>
          </a:xfrm>
          <a:prstGeom prst="chevron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081528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08F72"/>
                </a:solidFill>
                <a:latin typeface="Arial"/>
              </a:rPr>
              <a:t>ENHANCED CONTROLS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81328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81328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18488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CONTROL FAILURES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Operational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5819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1581912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09160" y="16824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HIDDEN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60" y="20574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Concealed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121408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2121408"/>
            <a:ext cx="50292" cy="74980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0" y="2221991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MARKET LOSSES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2596896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82036"/>
                </a:solidFill>
                <a:latin typeface="Arial"/>
              </a:rPr>
              <a:t>Trading P&amp;L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18120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050791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80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COLLATERAL &amp;
SETTLEMENT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80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Cash due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4782312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0" y="4782312"/>
            <a:ext cx="50292" cy="749808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488289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LIQUIDITY PRESSURE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5257800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C49500"/>
                </a:solidFill>
                <a:latin typeface="Arial"/>
              </a:rPr>
              <a:t>Buffer at risk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81328" y="4050791"/>
            <a:ext cx="2176272" cy="749808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81328" y="4050791"/>
            <a:ext cx="50292" cy="74980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18488" y="4151376"/>
            <a:ext cx="1901952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TREASURY FUNDING
RESPONSE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18488" y="4526279"/>
            <a:ext cx="1901952" cy="1554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008F72"/>
                </a:solidFill>
                <a:latin typeface="Arial"/>
              </a:rPr>
              <a:t>Cash sources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10712" y="2944368"/>
            <a:ext cx="5010912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8232B"/>
                </a:solidFill>
                <a:latin typeface="Arial"/>
              </a:rPr>
              <a:t>A trading loss becomes a Treasury issue only when it generates cash obligations through settlements, collateral requirements or funding constraints.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3639312"/>
            <a:ext cx="4791456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8747B"/>
                </a:solidFill>
                <a:latin typeface="Arial"/>
              </a:rPr>
              <a:t>Settlement cash · collateral calls · delayed receipts · accessible funding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" y="5742432"/>
            <a:ext cx="10936224" cy="438912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833872"/>
            <a:ext cx="10533888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Central question: preserve liquidity and meet payments throughout the three-month response horizon.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INCIDENT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1.2  ·  DISCOVERY, DISCLOSURE &amp;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POSITIONS ACCUMULATED BEFORE THE SEPTEMBER DISCOVERY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4944" y="1847088"/>
            <a:ext cx="7680960" cy="0"/>
          </a:xfrm>
          <a:prstGeom prst="line">
            <a:avLst/>
          </a:prstGeom>
          <a:ln w="2667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380744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14 SEP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Unauthorised positions identified.</a:t>
            </a:r>
          </a:p>
        </p:txBody>
      </p:sp>
      <p:sp>
        <p:nvSpPr>
          <p:cNvPr id="15" name="Oval 14"/>
          <p:cNvSpPr/>
          <p:nvPr/>
        </p:nvSpPr>
        <p:spPr>
          <a:xfrm>
            <a:off x="3355848" y="1746504"/>
            <a:ext cx="201168" cy="20116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5184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15 SEP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15184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PUBLIC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UBS announces an initial loss estimate.</a:t>
            </a:r>
          </a:p>
        </p:txBody>
      </p:sp>
      <p:sp>
        <p:nvSpPr>
          <p:cNvPr id="19" name="Oval 18"/>
          <p:cNvSpPr/>
          <p:nvPr/>
        </p:nvSpPr>
        <p:spPr>
          <a:xfrm>
            <a:off x="5330951" y="1746504"/>
            <a:ext cx="201168" cy="20116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49500"/>
                </a:solidFill>
                <a:latin typeface="Arial"/>
              </a:rPr>
              <a:t>FOLLOWING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Positions reviewed; hedging and risk reduction actions.</a:t>
            </a:r>
          </a:p>
        </p:txBody>
      </p:sp>
      <p:sp>
        <p:nvSpPr>
          <p:cNvPr id="23" name="Oval 22"/>
          <p:cNvSpPr/>
          <p:nvPr/>
        </p:nvSpPr>
        <p:spPr>
          <a:xfrm>
            <a:off x="7306055" y="1746504"/>
            <a:ext cx="201168" cy="20116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057400"/>
            <a:ext cx="1700784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FOLLOWING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350008"/>
            <a:ext cx="170078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18232B"/>
                </a:solidFill>
                <a:latin typeface="Arial"/>
              </a:rPr>
              <a:t>INVESTIGATION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5392" y="2779776"/>
            <a:ext cx="1700784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68747B"/>
                </a:solidFill>
                <a:latin typeface="Arial"/>
              </a:rPr>
              <a:t>Control failures analysed; remediation launched.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50808" y="1353312"/>
            <a:ext cx="2971800" cy="1746504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altons-illust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2484" y="1435608"/>
            <a:ext cx="2568448" cy="144475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51392" y="2926080"/>
            <a:ext cx="2761488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ILLUSTRATIVE CARTOON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9952" y="3273552"/>
            <a:ext cx="2944368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8232B"/>
                </a:solidFill>
                <a:latin typeface="Arial"/>
              </a:rPr>
              <a:t>Hidden positions accumulated before being uncovered in September 2011.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97112" y="4709160"/>
            <a:ext cx="438912" cy="201168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9760" y="4544568"/>
            <a:ext cx="438912" cy="365760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22408" y="4343400"/>
            <a:ext cx="438912" cy="566928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735056" y="4105656"/>
            <a:ext cx="438912" cy="80467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87968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SMALL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0616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GROWING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3264" y="5020056"/>
            <a:ext cx="438912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68747B"/>
                </a:solidFill>
                <a:latin typeface="Arial"/>
              </a:rPr>
              <a:t>LARGER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5020056"/>
            <a:ext cx="603504" cy="1280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82036"/>
                </a:solidFill>
                <a:latin typeface="Arial"/>
              </a:rPr>
              <a:t>DISCOVERY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785615"/>
            <a:ext cx="11045952" cy="0"/>
          </a:xfrm>
          <a:prstGeom prst="line">
            <a:avLst/>
          </a:prstGeom>
          <a:ln w="1016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4041648"/>
            <a:ext cx="1572768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1">
                <a:solidFill>
                  <a:srgbClr val="C82036"/>
                </a:solidFill>
                <a:latin typeface="Arial"/>
              </a:rPr>
              <a:t>TREASURY TAKEAWAY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3995928"/>
            <a:ext cx="5989320" cy="32918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The discovery date starts the response horizon; it does not make prior losses a same-day cash payment.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709160"/>
            <a:ext cx="7680960" cy="722376"/>
          </a:xfrm>
          <a:prstGeom prst="rect">
            <a:avLst/>
          </a:prstGeom>
          <a:solidFill>
            <a:srgbClr val="F8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" y="4846320"/>
            <a:ext cx="1207008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14 Sep 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828032"/>
            <a:ext cx="43891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1">
                <a:solidFill>
                  <a:srgbClr val="18232B"/>
                </a:solidFill>
                <a:latin typeface="Arial"/>
              </a:rPr>
              <a:t>Three-month Treasury response horizon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989320"/>
            <a:ext cx="1095451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FINMA 2012; FSA 2012; UBS disclosures. The Dalton image is illustrative, not an incident photograph.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TREASURY LIQUIDITY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2.2  ·  CASH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ILLUSTRATIVE USDm SCENARIOS · NOT HISTORICAL UBS TREASURY CASH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66928" y="1188720"/>
          <a:ext cx="11018520" cy="3456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NO INCIDENT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" y="5029200"/>
            <a:ext cx="3419856" cy="0"/>
          </a:xfrm>
          <a:prstGeom prst="line">
            <a:avLst/>
          </a:prstGeom>
          <a:ln w="1778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1792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Normal receipts and payments keep modeled cash above the assumed $700m buffer; minimum $984m.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287FA8"/>
                </a:solidFill>
                <a:latin typeface="Arial"/>
              </a:rPr>
              <a:t>INCIDENT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15968" y="5029200"/>
            <a:ext cx="3419856" cy="0"/>
          </a:xfrm>
          <a:prstGeom prst="line">
            <a:avLst/>
          </a:prstGeom>
          <a:ln w="17780">
            <a:solidFill>
              <a:srgbClr val="287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15968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Additional settlement and collateral needs reduce headroom; minimum $765m, no modeled breach.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4782312"/>
            <a:ext cx="3456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COMBINED STRESS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10144" y="5029200"/>
            <a:ext cx="3419856" cy="0"/>
          </a:xfrm>
          <a:prstGeom prst="line">
            <a:avLst/>
          </a:prstGeom>
          <a:ln w="1778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010144" y="5148072"/>
            <a:ext cx="3456432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Withdrawals and delayed collateral returns push cash below buffer on 30 Nov; peak gap $176m by 14 Dec.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6062472"/>
            <a:ext cx="10972800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Cash bridge formula: opening accessible cash + receipts − payments − settlement outflow + signed collateral movement − costs. Funding gap = max(0, buffer − cash before funding).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WHAT IF THE SITUATION WORSENS?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2.3  · 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COMBINED SCENARIO INPUTS ARE ASSUMPTIONS, NOT HISTORICAL OUTCOMES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143000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30 NOVEMBER CASH BRIDGE  ·  USDm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232B"/>
                </a:solidFill>
                <a:latin typeface="Arial"/>
              </a:rPr>
              <a:t>$849m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19" y="2048256"/>
            <a:ext cx="1362457" cy="0"/>
          </a:xfrm>
          <a:prstGeom prst="line">
            <a:avLst/>
          </a:prstGeom>
          <a:ln w="21590">
            <a:solidFill>
              <a:srgbClr val="1823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Incident-base
November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−$50m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8775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146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Settlement
accelerated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3250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49500"/>
                </a:solidFill>
                <a:latin typeface="Arial"/>
              </a:rPr>
              <a:t>−$100m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70832" y="2048256"/>
            <a:ext cx="1362456" cy="0"/>
          </a:xfrm>
          <a:prstGeom prst="line">
            <a:avLst/>
          </a:prstGeom>
          <a:ln w="2159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Collateral
return delayed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−$100m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17920" y="2048256"/>
            <a:ext cx="1362455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1447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Additional
withdrawals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−$50m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46720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73568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Rollover not
renewed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91472" y="1636776"/>
            <a:ext cx="21945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B0B2"/>
                </a:solidFill>
                <a:latin typeface="Arial"/>
              </a:rPr>
              <a:t>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1572768"/>
            <a:ext cx="15087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2036"/>
                </a:solidFill>
                <a:latin typeface="Arial"/>
              </a:rPr>
              <a:t>$549m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02952" y="2048256"/>
            <a:ext cx="1362456" cy="0"/>
          </a:xfrm>
          <a:prstGeom prst="line">
            <a:avLst/>
          </a:prstGeom>
          <a:ln w="2159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829800" y="2148840"/>
            <a:ext cx="150876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Stress cash
30 November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2944368"/>
            <a:ext cx="6766560" cy="228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9CE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598416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88720" y="4248912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88720" y="3899408"/>
            <a:ext cx="6080760" cy="0"/>
          </a:xfrm>
          <a:prstGeom prst="line">
            <a:avLst/>
          </a:prstGeom>
          <a:ln w="1397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88720" y="3549904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8720" y="3200400"/>
            <a:ext cx="6080760" cy="0"/>
          </a:xfrm>
          <a:prstGeom prst="line">
            <a:avLst/>
          </a:prstGeom>
          <a:ln w="6350">
            <a:solidFill>
              <a:srgbClr val="E6E9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28232" y="3716528"/>
            <a:ext cx="77724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C49500"/>
                </a:solidFill>
                <a:latin typeface="Arial"/>
              </a:rPr>
              <a:t>700 buffer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53312" y="3378647"/>
            <a:ext cx="493776" cy="1394520"/>
          </a:xfrm>
          <a:prstGeom prst="rect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471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BASE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856232" y="3378647"/>
            <a:ext cx="630936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487168" y="3378647"/>
            <a:ext cx="493776" cy="174752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SETTLEMENT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90088" y="3553399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611880" y="3553399"/>
            <a:ext cx="493776" cy="349504"/>
          </a:xfrm>
          <a:prstGeom prst="rect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8328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COLLATERAL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114800" y="3902903"/>
            <a:ext cx="621792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736592" y="3902903"/>
            <a:ext cx="493776" cy="349503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07992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WITHDRAWALS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239512" y="4252407"/>
            <a:ext cx="612648" cy="0"/>
          </a:xfrm>
          <a:prstGeom prst="line">
            <a:avLst/>
          </a:prstGeom>
          <a:ln w="8890">
            <a:solidFill>
              <a:srgbClr val="6874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5852160" y="4252407"/>
            <a:ext cx="493776" cy="174752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4882896"/>
            <a:ext cx="987552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8232B"/>
                </a:solidFill>
                <a:latin typeface="Arial"/>
              </a:rPr>
              <a:t>ROLLOVER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08392" y="2944368"/>
            <a:ext cx="3840480" cy="2286000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36992" y="3136392"/>
            <a:ext cx="338328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9" b="1">
                <a:solidFill>
                  <a:srgbClr val="18232B"/>
                </a:solidFill>
                <a:latin typeface="Arial"/>
              </a:rPr>
              <a:t>BUFFER / FUNDING TEST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36992" y="3538728"/>
            <a:ext cx="10789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9500"/>
                </a:solidFill>
                <a:latin typeface="Arial"/>
              </a:rPr>
              <a:t>$700m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4272" y="3584448"/>
            <a:ext cx="120700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8747B"/>
                </a:solidFill>
                <a:latin typeface="Arial"/>
              </a:rPr>
              <a:t>minimum buffer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05288" y="3538728"/>
            <a:ext cx="98755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82036"/>
                </a:solidFill>
                <a:latin typeface="Arial"/>
              </a:rPr>
              <a:t>$151m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0696" y="3840480"/>
            <a:ext cx="1170432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30 Nov shortfall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936992" y="4142232"/>
            <a:ext cx="3392424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36992" y="4315968"/>
            <a:ext cx="340156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82036"/>
                </a:solidFill>
                <a:latin typeface="Arial"/>
              </a:rPr>
              <a:t>$524m on 14 Dec  →  $176m peak funding need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559552"/>
            <a:ext cx="1097280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T+2 liquidity source: trigger 25 Nov → arrival 29 Nov → first breach 30 Nov. If late, it cannot prevent the breach.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6035040"/>
            <a:ext cx="1097280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Assumed $200m line and timing; verify availability, eligible collateral and actual settlement dates. Stress inputs are scenario shocks, not actual UBS cash flows.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3.1  ·  LIKELIHOOD ×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RESIDUAL RATINGS ARE ANALYST JUDGEMENTS FOR THE THREE-MONTH HORIZON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1527048"/>
            <a:ext cx="1965960" cy="1124712"/>
          </a:xfrm>
          <a:prstGeom prst="rect">
            <a:avLst/>
          </a:prstGeom>
          <a:solidFill>
            <a:srgbClr val="F5DC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1527048"/>
            <a:ext cx="1965960" cy="1124712"/>
          </a:xfrm>
          <a:prstGeom prst="rect">
            <a:avLst/>
          </a:prstGeom>
          <a:solidFill>
            <a:srgbClr val="EFC9C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522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73752" y="1527048"/>
            <a:ext cx="1965960" cy="1124712"/>
          </a:xfrm>
          <a:prstGeom prst="rect">
            <a:avLst/>
          </a:prstGeom>
          <a:solidFill>
            <a:srgbClr val="E5B3B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6904" y="1572768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2697480"/>
            <a:ext cx="1965960" cy="1124712"/>
          </a:xfrm>
          <a:prstGeom prst="rect">
            <a:avLst/>
          </a:prstGeom>
          <a:solidFill>
            <a:srgbClr val="F4E8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2697480"/>
            <a:ext cx="1965960" cy="1124712"/>
          </a:xfrm>
          <a:prstGeom prst="rect">
            <a:avLst/>
          </a:prstGeom>
          <a:solidFill>
            <a:srgbClr val="EFDBA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Market (4)
Counterparty (4)
Legal / regulatory (4)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3752" y="2697480"/>
            <a:ext cx="1965960" cy="1124712"/>
          </a:xfrm>
          <a:prstGeom prst="rect">
            <a:avLst/>
          </a:prstGeom>
          <a:solidFill>
            <a:srgbClr val="EACB9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743200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8344" y="2926080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Operational (6)
Liquidity (6)
Funding (6)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867912"/>
            <a:ext cx="1965960" cy="1124712"/>
          </a:xfrm>
          <a:prstGeom prst="rect">
            <a:avLst/>
          </a:prstGeom>
          <a:solidFill>
            <a:srgbClr val="E4EEE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62072" y="3867912"/>
            <a:ext cx="1965960" cy="1124712"/>
          </a:xfrm>
          <a:prstGeom prst="rect">
            <a:avLst/>
          </a:prstGeom>
          <a:solidFill>
            <a:srgbClr val="E8EDD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3522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096512"/>
            <a:ext cx="1645920" cy="8046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49500"/>
                </a:solidFill>
                <a:latin typeface="Arial"/>
              </a:rPr>
              <a:t>Reputational (2)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73752" y="3867912"/>
            <a:ext cx="1965960" cy="1124712"/>
          </a:xfrm>
          <a:prstGeom prst="rect">
            <a:avLst/>
          </a:prstGeom>
          <a:solidFill>
            <a:srgbClr val="F1E6C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46904" y="3913632"/>
            <a:ext cx="201168" cy="1463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68747B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1965960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LIKELY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" y="3136392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POSSIBLE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" y="4306824"/>
            <a:ext cx="694944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8232B"/>
                </a:solidFill>
                <a:latin typeface="Arial"/>
              </a:rPr>
              <a:t>UNLIKELY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6207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2" y="5065776"/>
            <a:ext cx="196596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30" b="1">
                <a:solidFill>
                  <a:srgbClr val="18232B"/>
                </a:solidFill>
                <a:latin typeface="Arial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" y="1280160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68747B"/>
                </a:solidFill>
                <a:latin typeface="Arial"/>
              </a:rPr>
              <a:t>LIKELIHOOD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33472" y="5321807"/>
            <a:ext cx="91440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68747B"/>
                </a:solidFill>
                <a:latin typeface="Arial"/>
              </a:rPr>
              <a:t>IMPACT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4927" y="1627632"/>
            <a:ext cx="416052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1">
                <a:solidFill>
                  <a:srgbClr val="18232B"/>
                </a:solidFill>
                <a:latin typeface="Arial"/>
              </a:rPr>
              <a:t>PRIORITY RISKS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424927" y="1929384"/>
            <a:ext cx="4215385" cy="0"/>
          </a:xfrm>
          <a:prstGeom prst="line">
            <a:avLst/>
          </a:prstGeom>
          <a:ln w="2032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424927" y="2157984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0415" y="2157984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Operational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0415" y="2432303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Unreconciled breaks may hide open positions.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900415" y="2907791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24927" y="3108960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00415" y="3108960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Liquidity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0415" y="3383279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Dated settlement / collateral needs can breach buffer.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00415" y="3858768"/>
            <a:ext cx="3666745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424927" y="4059935"/>
            <a:ext cx="384048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82036"/>
                </a:solidFill>
                <a:latin typeface="Arial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00415" y="4059935"/>
            <a:ext cx="3547872" cy="2103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8232B"/>
                </a:solidFill>
                <a:latin typeface="Arial"/>
              </a:rPr>
              <a:t>Funding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00415" y="4334255"/>
            <a:ext cx="3547872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68747B"/>
                </a:solidFill>
                <a:latin typeface="Arial"/>
              </a:rPr>
              <a:t>Maturing sources may not roll before cash is due.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24927" y="5138928"/>
            <a:ext cx="41605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8232B"/>
                </a:solidFill>
                <a:latin typeface="Arial"/>
              </a:rPr>
              <a:t>Other exposures: market · counterparty · reputational · legal / regulatory.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6044184"/>
            <a:ext cx="10972800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8747B"/>
                </a:solidFill>
                <a:latin typeface="Arial"/>
              </a:rPr>
              <a:t>Score = likelihood × impact (1–3). Illustrative analyst ratings, not UBS / regulator scores; calibrate impact to the approved buffer and re-score after containment.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CFO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SECTION 3.2  ·  THREE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SEQUENCE ACTIONS FROM CASH VISIBILITY TO LASTING CONTROL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008F72"/>
                </a:solidFill>
                <a:latin typeface="Arial"/>
              </a:rPr>
              <a:t>IMMEDIATE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WITHIN 24h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773936"/>
            <a:ext cx="3310128" cy="0"/>
          </a:xfrm>
          <a:prstGeom prst="line">
            <a:avLst/>
          </a:prstGeom>
          <a:ln w="25400">
            <a:solidFill>
              <a:srgbClr val="008F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LIQUIDITY ASSESSMENT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8F72"/>
                </a:solidFill>
                <a:latin typeface="Arial"/>
              </a:rPr>
              <a:t>Owner  ·  Group Treasurer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088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0936" y="3310128"/>
            <a:ext cx="155448" cy="155448"/>
          </a:xfrm>
          <a:prstGeom prst="ellipse">
            <a:avLst/>
          </a:prstGeom>
          <a:solidFill>
            <a:srgbClr val="008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Build a dated cash view; confirm accessible liquidity and funding arrival.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2354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008F72"/>
                </a:solidFill>
                <a:latin typeface="Arial"/>
              </a:rPr>
              <a:t>Benefit  ·  No unexpected cash breach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use only confirmed, accessible funding.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49500"/>
                </a:solidFill>
                <a:latin typeface="Arial"/>
              </a:rPr>
              <a:t>CONTAINMENT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DAYS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773936"/>
            <a:ext cx="3310128" cy="0"/>
          </a:xfrm>
          <a:prstGeom prst="line">
            <a:avLst/>
          </a:prstGeom>
          <a:ln w="25400">
            <a:solidFill>
              <a:srgbClr val="C495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1596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POSITION RECONCILIATION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49500"/>
                </a:solidFill>
                <a:latin typeface="Arial"/>
              </a:rPr>
              <a:t>Owner  ·  COO + Risk + Treasury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0740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334255" y="3310128"/>
            <a:ext cx="155448" cy="155448"/>
          </a:xfrm>
          <a:prstGeom prst="ellipse">
            <a:avLst/>
          </a:prstGeom>
          <a:solidFill>
            <a:srgbClr val="C49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6864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Independently match positions, settlements and collateral; track unresolved breaks daily.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26864" y="4224528"/>
            <a:ext cx="299923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626864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49500"/>
                </a:solidFill>
                <a:latin typeface="Arial"/>
              </a:rPr>
              <a:t>Benefit  ·  Reduce uncertainty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6864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retain a conservative overlay until breaks close.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1481328"/>
            <a:ext cx="331012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30" b="1">
                <a:solidFill>
                  <a:srgbClr val="C82036"/>
                </a:solidFill>
                <a:latin typeface="Arial"/>
              </a:rPr>
              <a:t>PREVENTION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567" y="1481328"/>
            <a:ext cx="1069848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68747B"/>
                </a:solidFill>
                <a:latin typeface="Arial"/>
              </a:rPr>
              <a:t>3 MONTHS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19288" y="1773936"/>
            <a:ext cx="3310128" cy="0"/>
          </a:xfrm>
          <a:prstGeom prst="line">
            <a:avLst/>
          </a:prstGeom>
          <a:ln w="2540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19288" y="2011680"/>
            <a:ext cx="3310128" cy="4480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8232B"/>
                </a:solidFill>
                <a:latin typeface="Arial"/>
              </a:rPr>
              <a:t>GOVERNANCE UPGRADE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9288" y="2670048"/>
            <a:ext cx="3310128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C82036"/>
                </a:solidFill>
                <a:latin typeface="Arial"/>
              </a:rPr>
              <a:t>Owner  ·  CRO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10727" y="3246120"/>
            <a:ext cx="0" cy="1920240"/>
          </a:xfrm>
          <a:prstGeom prst="line">
            <a:avLst/>
          </a:prstGeom>
          <a:ln w="2540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37575" y="3310128"/>
            <a:ext cx="155448" cy="155448"/>
          </a:xfrm>
          <a:prstGeom prst="ellipse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0183" y="3172968"/>
            <a:ext cx="2971800" cy="8595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8232B"/>
                </a:solidFill>
                <a:latin typeface="Arial"/>
              </a:rPr>
              <a:t>Strengthen independent verification, exception escalation and control ownership.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330183" y="4224528"/>
            <a:ext cx="2999233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330183" y="4407408"/>
            <a:ext cx="29718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1">
                <a:solidFill>
                  <a:srgbClr val="C82036"/>
                </a:solidFill>
                <a:latin typeface="Arial"/>
              </a:rPr>
              <a:t>Benefit  ·  Prevent recurrence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0183" y="4983480"/>
            <a:ext cx="2971800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68747B"/>
                </a:solidFill>
                <a:latin typeface="Arial"/>
              </a:rPr>
              <a:t>Fallback · manual dual sign-off until controls are live.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" y="5705856"/>
            <a:ext cx="10716768" cy="566928"/>
          </a:xfrm>
          <a:prstGeom prst="rect">
            <a:avLst/>
          </a:prstGeom>
          <a:solidFill>
            <a:srgbClr val="E8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5843016"/>
            <a:ext cx="1078992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C82036"/>
                </a:solidFill>
                <a:latin typeface="Arial"/>
              </a:rPr>
              <a:t>OBJECTIVE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75104" y="5797296"/>
            <a:ext cx="908913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8232B"/>
                </a:solidFill>
                <a:latin typeface="Arial"/>
              </a:rPr>
              <a:t>Maintain liquidity above the minimum buffer throughout the Treasury horizon.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" y="6336792"/>
            <a:ext cx="1097280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8747B"/>
                </a:solidFill>
                <a:latin typeface="Arial"/>
              </a:rPr>
              <a:t>Count funding only when availability, collateral and arrival time are verified.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bs-logo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18872"/>
            <a:ext cx="1261872" cy="4480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47088" y="109728"/>
            <a:ext cx="8823960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8232B"/>
                </a:solidFill>
                <a:latin typeface="Arial"/>
              </a:rPr>
              <a:t>CONCLUSION &amp;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47088" y="466344"/>
            <a:ext cx="88239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>
                <a:solidFill>
                  <a:srgbClr val="C82036"/>
                </a:solidFill>
                <a:latin typeface="Arial"/>
              </a:rPr>
              <a:t>THE TREASURY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667512"/>
            <a:ext cx="8823960" cy="1371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PROTECT PAYMENT CAPACITY · VERIFY POSITIONS · GATE FUNDING</a:t>
            </a:r>
          </a:p>
        </p:txBody>
      </p:sp>
      <p:pic>
        <p:nvPicPr>
          <p:cNvPr id="6" name="Picture 5" descr="skem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0" y="109728"/>
            <a:ext cx="475488" cy="50292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384048" y="886968"/>
            <a:ext cx="11411712" cy="0"/>
          </a:xfrm>
          <a:prstGeom prst="line">
            <a:avLst/>
          </a:prstGeom>
          <a:ln w="1143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4048" y="6556248"/>
            <a:ext cx="11411712" cy="0"/>
          </a:xfrm>
          <a:prstGeom prst="line">
            <a:avLst/>
          </a:prstGeom>
          <a:ln w="889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424160" y="6601968"/>
            <a:ext cx="1325880" cy="1097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68747B"/>
                </a:solidFill>
                <a:latin typeface="Arial"/>
              </a:rPr>
              <a:t>UBS  ×  SKEMA   /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1252728"/>
            <a:ext cx="10954512" cy="1243584"/>
          </a:xfrm>
          <a:prstGeom prst="rect">
            <a:avLst/>
          </a:prstGeom>
          <a:solidFill>
            <a:srgbClr val="101315"/>
          </a:solidFill>
          <a:ln w="10160">
            <a:solidFill>
              <a:srgbClr val="1013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252728"/>
            <a:ext cx="59436" cy="1243584"/>
          </a:xfrm>
          <a:prstGeom prst="rect">
            <a:avLst/>
          </a:prstGeom>
          <a:solidFill>
            <a:srgbClr val="C82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444752"/>
            <a:ext cx="1828800" cy="182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008F72"/>
                </a:solidFill>
                <a:latin typeface="Arial"/>
              </a:rPr>
              <a:t>CENTRAL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1719072"/>
            <a:ext cx="1033272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Preserve headroom: reconcile positions, forecast accessible cash by entity, currency and value date, then stage only verified funding before a projected buffer breach.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2743200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8232B"/>
                </a:solidFill>
                <a:latin typeface="Arial"/>
              </a:rPr>
              <a:t>PRIMARY SOURCES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3054096"/>
            <a:ext cx="10881360" cy="0"/>
          </a:xfrm>
          <a:prstGeom prst="line">
            <a:avLst/>
          </a:prstGeom>
          <a:ln w="20320">
            <a:solidFill>
              <a:srgbClr val="C820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264408"/>
            <a:ext cx="507492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82036"/>
                </a:solidFill>
                <a:latin typeface="Arial"/>
              </a:rPr>
              <a:t>01  FINMA · 21 NOV 2012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511296"/>
            <a:ext cx="5074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Summary Report: investigation into UBS London trading losses.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232" y="3977639"/>
            <a:ext cx="507492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36208" y="3264408"/>
            <a:ext cx="507492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C49500"/>
                </a:solidFill>
                <a:latin typeface="Arial"/>
              </a:rPr>
              <a:t>02  FSA · 25 NOV 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511296"/>
            <a:ext cx="5074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Final Notice to UBS AG: unauthorised trading and control failures.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36208" y="3977639"/>
            <a:ext cx="507492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232" y="4169663"/>
            <a:ext cx="507492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287FA8"/>
                </a:solidFill>
                <a:latin typeface="Arial"/>
              </a:rPr>
              <a:t>03  UBS · 11 OCT 2011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416552"/>
            <a:ext cx="5074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Supplement No. 2: incident disclosures and loss estimate updates.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3232" y="4882896"/>
            <a:ext cx="507492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36208" y="4169663"/>
            <a:ext cx="5074920" cy="1920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08F72"/>
                </a:solidFill>
                <a:latin typeface="Arial"/>
              </a:rPr>
              <a:t>04  UBS · 25 OCT 2011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4416552"/>
            <a:ext cx="507492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8232B"/>
                </a:solidFill>
                <a:latin typeface="Arial"/>
              </a:rPr>
              <a:t>Third-quarter 2011 results and presentation materials.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36208" y="4882896"/>
            <a:ext cx="5074920" cy="0"/>
          </a:xfrm>
          <a:prstGeom prst="line">
            <a:avLst/>
          </a:prstGeom>
          <a:ln w="7620">
            <a:solidFill>
              <a:srgbClr val="C9CE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58368" y="5175504"/>
            <a:ext cx="10881360" cy="713232"/>
          </a:xfrm>
          <a:prstGeom prst="rect">
            <a:avLst/>
          </a:prstGeom>
          <a:solidFill>
            <a:srgbClr val="F8F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330952"/>
            <a:ext cx="1051560" cy="1645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C49500"/>
                </a:solidFill>
                <a:latin typeface="Arial"/>
              </a:rPr>
              <a:t>MODEL LIMIT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4248" y="5285232"/>
            <a:ext cx="9281160" cy="3840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1">
                <a:solidFill>
                  <a:srgbClr val="18232B"/>
                </a:solidFill>
                <a:latin typeface="Arial"/>
              </a:rPr>
              <a:t>Opening cash, minimum buffer, receipts, payments, collateral, stress shocks and facility timing are illustrative assumptions—not UBS historical Treasury records.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" y="6053328"/>
            <a:ext cx="109270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8747B"/>
                </a:solidFill>
                <a:latin typeface="Arial"/>
              </a:rPr>
              <a:t>The cash bridge is a decision aid; populate it with internal Treasury data before asserting an actual funding gap.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UBS 2011 Rogue Trading Scandal · Treasury Response</dc:title>
  <dc:subject>Ten-slide Treasury presentation aligned to the report</dc:subject>
  <dc:creator>Paul Alain Diouf; Calvin Minang; Jules Métayer; Elias Abou-Tayeh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