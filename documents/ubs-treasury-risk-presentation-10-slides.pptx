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incident</c:v>
                </c:pt>
              </c:strCache>
            </c:strRef>
          </c:tx>
          <c:spPr>
            <a:ln w="25400">
              <a:solidFill>
                <a:srgbClr val="008F72"/>
              </a:solidFill>
            </a:ln>
          </c:spPr>
          <c:marker>
            <c:symbol val="diamond"/>
            <c:size val="4"/>
            <c:spPr>
              <a:solidFill>
                <a:srgbClr val="008F72"/>
              </a:solidFill>
              <a:ln>
                <a:solidFill>
                  <a:srgbClr val="008F72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990</c:v>
                </c:pt>
                <c:pt idx="2">
                  <c:v>985</c:v>
                </c:pt>
                <c:pt idx="3">
                  <c:v>990</c:v>
                </c:pt>
                <c:pt idx="4">
                  <c:v>985</c:v>
                </c:pt>
                <c:pt idx="5">
                  <c:v>987</c:v>
                </c:pt>
                <c:pt idx="6">
                  <c:v>984</c:v>
                </c:pt>
                <c:pt idx="7">
                  <c:v>1004</c:v>
                </c:pt>
                <c:pt idx="8">
                  <c:v>1104</c:v>
                </c:pt>
                <c:pt idx="9">
                  <c:v>1054</c:v>
                </c:pt>
                <c:pt idx="10">
                  <c:v>1024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 base</c:v>
                </c:pt>
              </c:strCache>
            </c:strRef>
          </c:tx>
          <c:spPr>
            <a:ln w="25400">
              <a:solidFill>
                <a:srgbClr val="287FA8"/>
              </a:solidFill>
            </a:ln>
          </c:spPr>
          <c:marker>
            <c:symbol val="diamond"/>
            <c:size val="4"/>
            <c:spPr>
              <a:solidFill>
                <a:srgbClr val="287FA8"/>
              </a:solidFill>
              <a:ln>
                <a:solidFill>
                  <a:srgbClr val="287FA8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849</c:v>
                </c:pt>
                <c:pt idx="10">
                  <c:v>824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stress</c:v>
                </c:pt>
              </c:strCache>
            </c:strRef>
          </c:tx>
          <c:spPr>
            <a:ln w="25400">
              <a:solidFill>
                <a:srgbClr val="C82036"/>
              </a:solidFill>
            </a:ln>
          </c:spPr>
          <c:marker>
            <c:symbol val="diamond"/>
            <c:size val="4"/>
            <c:spPr>
              <a:solidFill>
                <a:srgbClr val="C82036"/>
              </a:solidFill>
              <a:ln>
                <a:solidFill>
                  <a:srgbClr val="C82036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549</c:v>
                </c:pt>
                <c:pt idx="10">
                  <c:v>524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Minimum buffer</c:v>
                </c:pt>
              </c:strCache>
            </c:strRef>
          </c:tx>
          <c:spPr>
            <a:ln w="16510">
              <a:solidFill>
                <a:srgbClr val="C49500"/>
              </a:solidFill>
              <a:prstDash val="dash"/>
            </a:ln>
          </c:spPr>
          <c:marker>
            <c:symbol val="square"/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0.0"/>
          <c:min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18791784"/>
        <c:crosses val="autoZero"/>
        <c:majorUnit val="100.0"/>
      </c:valAx>
    </c:plotArea>
    <c:legend>
      <c:legendPos val="b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83464"/>
            <a:ext cx="1444752" cy="512064"/>
          </a:xfrm>
          <a:prstGeom prst="rect">
            <a:avLst/>
          </a:prstGeom>
        </p:spPr>
      </p:pic>
      <p:pic>
        <p:nvPicPr>
          <p:cNvPr id="3" name="Picture 2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237744"/>
            <a:ext cx="548640" cy="576072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493776" y="941832"/>
            <a:ext cx="11228832" cy="0"/>
          </a:xfrm>
          <a:prstGeom prst="line">
            <a:avLst/>
          </a:prstGeom>
          <a:ln w="127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1920240"/>
            <a:ext cx="10744200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8232B"/>
                </a:solidFill>
                <a:latin typeface="Arial"/>
              </a:rPr>
              <a:t>UBS 2011 ROGUE TRADING SCANDAL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86868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2036"/>
                </a:solidFill>
                <a:latin typeface="Arial"/>
              </a:rPr>
              <a:t>Treasury Risk Analysis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246120"/>
            <a:ext cx="1325880" cy="0"/>
          </a:xfrm>
          <a:prstGeom prst="line">
            <a:avLst/>
          </a:prstGeom>
          <a:ln w="2794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60520"/>
            <a:ext cx="18288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8747B"/>
                </a:solidFill>
                <a:latin typeface="Arial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25696"/>
            <a:ext cx="106527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Paul Alain Diouf  ·  Calvin Minang  ·  Jules Métayer  ·  Elias Abou-Tayeh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8288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8747B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85232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Jamil Chaftar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-report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4" y="0"/>
            <a:ext cx="121491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HOW HIDDEN POSITIONS ESCAPED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CONCEALMENT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REAL FUTURES EXPOSURE VS THE APPARENT INTERNAL RISK VIEW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316736"/>
            <a:ext cx="7818120" cy="453542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44752"/>
            <a:ext cx="47548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8747B"/>
                </a:solidFill>
                <a:latin typeface="Arial"/>
              </a:rPr>
              <a:t>RELATIVE EXPOSURE  ·  SCHEMATIC, NOT TO SCALE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97864" y="2029967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7864" y="3017520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97864" y="4005071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97864" y="4992623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97864" y="4553711"/>
            <a:ext cx="1143000" cy="274320"/>
          </a:xfrm>
          <a:prstGeom prst="rect">
            <a:avLst/>
          </a:prstGeom>
          <a:solidFill>
            <a:srgbClr val="F8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40864" y="4142231"/>
            <a:ext cx="1143000" cy="621791"/>
          </a:xfrm>
          <a:prstGeom prst="rect">
            <a:avLst/>
          </a:prstGeom>
          <a:solidFill>
            <a:srgbClr val="F6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83864" y="3639311"/>
            <a:ext cx="1143000" cy="1060703"/>
          </a:xfrm>
          <a:prstGeom prst="rect">
            <a:avLst/>
          </a:prstGeom>
          <a:solidFill>
            <a:srgbClr val="F4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26864" y="2980943"/>
            <a:ext cx="1188719" cy="1673352"/>
          </a:xfrm>
          <a:prstGeom prst="rect">
            <a:avLst/>
          </a:prstGeom>
          <a:solidFill>
            <a:srgbClr val="F1C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15583" y="2231136"/>
            <a:ext cx="1188720" cy="2368295"/>
          </a:xfrm>
          <a:prstGeom prst="rect">
            <a:avLst/>
          </a:prstGeom>
          <a:solidFill>
            <a:srgbClr val="EF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197864" y="4553711"/>
            <a:ext cx="1143000" cy="2743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340864" y="4142231"/>
            <a:ext cx="1143000" cy="41148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483864" y="3639311"/>
            <a:ext cx="1143000" cy="5029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626864" y="2980943"/>
            <a:ext cx="1188719" cy="658368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815583" y="2231136"/>
            <a:ext cx="1188721" cy="749807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90572" y="45034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33572" y="409193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6572" y="35890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65292" y="2930651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54012" y="2180844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1197864" y="4764023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40864" y="4700015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483864" y="4654295"/>
            <a:ext cx="1143000" cy="45720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26864" y="4599431"/>
            <a:ext cx="1188719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15583" y="4544567"/>
            <a:ext cx="1188721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90572" y="4713731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33572" y="464972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6572" y="460400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65292" y="45491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54012" y="4494275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0744" y="2066543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REAL LONG INDEX FUTURES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3" y="4379975"/>
            <a:ext cx="2834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Reported risk appears limited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43983" y="2980944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Unseen exposure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7864" y="5138927"/>
            <a:ext cx="15544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Positions build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59" y="5138927"/>
            <a:ext cx="22402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14 SEP 2011 · DISCOVERY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1417320"/>
            <a:ext cx="292608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18232B"/>
                </a:solidFill>
                <a:latin typeface="Arial"/>
              </a:rPr>
              <a:t>WHAT HAPPENED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705088" y="1719072"/>
            <a:ext cx="2935224" cy="0"/>
          </a:xfrm>
          <a:prstGeom prst="line">
            <a:avLst/>
          </a:prstGeom>
          <a:ln w="2286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705088" y="1892807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856" y="1892807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REAL POSITION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2148839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Long index futures remained open in the market.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134856" y="2697479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705088" y="2825496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49500"/>
                </a:solidFill>
                <a:latin typeface="Arial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2825496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FALSE HEDGE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4856" y="3081528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Fictitious deferred-settlement ETF entries were booked internally as offsets.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34856" y="3630168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705088" y="3758183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87FA8"/>
                </a:solidFill>
                <a:latin typeface="Arial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34856" y="3758183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APPARENT RISK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34856" y="4014215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Risk reports appeared limited while real exposure kept growing.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34856" y="4562855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705088" y="4690872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4856" y="4690872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4946904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14 September 2011 · reported loss USD 2.3bn.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108192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Sources: FINMA 2012 §§11–18; FSA 2012 §§23–25. The chart is conceptual; it is not a historical exposure series.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FROM CONTROL FAILURE TO TREASURY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1.3  ·  OPERATIONAL RISK → CASH →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CASH CONSEQUENCE DEPENDS ON DUE DATES, COLLATERAL AND HEADROOM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88920" y="1947672"/>
            <a:ext cx="1783080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evron 10"/>
          <p:cNvSpPr/>
          <p:nvPr/>
        </p:nvSpPr>
        <p:spPr>
          <a:xfrm>
            <a:off x="4297680" y="1856231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355080" y="2011680"/>
            <a:ext cx="1709928" cy="41148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 rot="1200000">
            <a:off x="7333488" y="2121408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907792"/>
            <a:ext cx="0" cy="1042416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evron 14"/>
          <p:cNvSpPr/>
          <p:nvPr/>
        </p:nvSpPr>
        <p:spPr>
          <a:xfrm rot="5400000">
            <a:off x="8695944" y="342900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6364224" y="4507992"/>
            <a:ext cx="1453896" cy="557784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hevron 16"/>
          <p:cNvSpPr/>
          <p:nvPr/>
        </p:nvSpPr>
        <p:spPr>
          <a:xfrm rot="9600000">
            <a:off x="6821424" y="475488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788920" y="4544568"/>
            <a:ext cx="1783080" cy="621792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 rot="12000000">
            <a:off x="3602736" y="478231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2331720" y="2414016"/>
            <a:ext cx="0" cy="1609344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6200000">
            <a:off x="2249424" y="277063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081528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08F72"/>
                </a:solidFill>
                <a:latin typeface="Arial"/>
              </a:rPr>
              <a:t>ENHANCED CONTROLS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81328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81328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8488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CONTROL FAILURES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Operational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HIDDEN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Concealed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121408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2121408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2221991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MARKET LOSSES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2596896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Trading P&amp;L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050791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0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COLLATERAL &amp;
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Cash due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7823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4782312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48828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LIQUIDITY PRESSURE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52578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Buffer at risk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1328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1328" y="4050791"/>
            <a:ext cx="50292" cy="74980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8488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TREASURY FUNDING
RESPONSE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18488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08F72"/>
                </a:solidFill>
                <a:latin typeface="Arial"/>
              </a:rPr>
              <a:t>Cash sources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2944368"/>
            <a:ext cx="5010912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A trading loss becomes a Treasury issue only when it generates cash obligations through settlements, collateral requirements or funding constraints.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639312"/>
            <a:ext cx="4791456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8747B"/>
                </a:solidFill>
                <a:latin typeface="Arial"/>
              </a:rPr>
              <a:t>Settlement cash · collateral calls · delayed receipts · accessible funding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5742432"/>
            <a:ext cx="10936224" cy="438912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833872"/>
            <a:ext cx="1053388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Central question: preserve liquidity and meet payments throughout the three-month response horizon.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INCIDENT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DISCOVERY, DISCLOSURE &amp;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POSITIONS ACCUMULATED BEFORE THE SEPTEMBER DISCOVERY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1847088"/>
            <a:ext cx="7680960" cy="0"/>
          </a:xfrm>
          <a:prstGeom prst="line">
            <a:avLst/>
          </a:prstGeom>
          <a:ln w="2667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380744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14 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Unauthorised positions identified.</a:t>
            </a:r>
          </a:p>
        </p:txBody>
      </p:sp>
      <p:sp>
        <p:nvSpPr>
          <p:cNvPr id="15" name="Oval 14"/>
          <p:cNvSpPr/>
          <p:nvPr/>
        </p:nvSpPr>
        <p:spPr>
          <a:xfrm>
            <a:off x="3355848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15 SEP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5184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PUBLIC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UBS announces an initial loss estimate.</a:t>
            </a:r>
          </a:p>
        </p:txBody>
      </p:sp>
      <p:sp>
        <p:nvSpPr>
          <p:cNvPr id="19" name="Oval 18"/>
          <p:cNvSpPr/>
          <p:nvPr/>
        </p:nvSpPr>
        <p:spPr>
          <a:xfrm>
            <a:off x="5330951" y="1746504"/>
            <a:ext cx="201168" cy="20116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49500"/>
                </a:solidFill>
                <a:latin typeface="Arial"/>
              </a:rPr>
              <a:t>FOLLOWING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Positions reviewed; hedging and risk reduction actions.</a:t>
            </a:r>
          </a:p>
        </p:txBody>
      </p:sp>
      <p:sp>
        <p:nvSpPr>
          <p:cNvPr id="23" name="Oval 22"/>
          <p:cNvSpPr/>
          <p:nvPr/>
        </p:nvSpPr>
        <p:spPr>
          <a:xfrm>
            <a:off x="7306055" y="1746504"/>
            <a:ext cx="201168" cy="20116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FOLLOWING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INVESTIGATION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Control failures analysed; remediation launched.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50808" y="1353312"/>
            <a:ext cx="2971800" cy="174650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484" y="1435608"/>
            <a:ext cx="2568448" cy="14447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51392" y="2926080"/>
            <a:ext cx="2761488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ILLUSTRATIVE CARTOON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9952" y="3273552"/>
            <a:ext cx="2944368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Hidden positions accumulated before being uncovered in September 2011.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97112" y="4709160"/>
            <a:ext cx="438912" cy="20116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9760" y="4544568"/>
            <a:ext cx="438912" cy="365760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2408" y="4343400"/>
            <a:ext cx="438912" cy="56692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35056" y="4105656"/>
            <a:ext cx="438912" cy="80467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87968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SMALL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0616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GROWING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3264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LARGER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5020056"/>
            <a:ext cx="603504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82036"/>
                </a:solidFill>
                <a:latin typeface="Arial"/>
              </a:rPr>
              <a:t>DISCOVERY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785615"/>
            <a:ext cx="11045952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4041648"/>
            <a:ext cx="157276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C82036"/>
                </a:solidFill>
                <a:latin typeface="Arial"/>
              </a:rPr>
              <a:t>TREASURY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3995928"/>
            <a:ext cx="59893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The discovery date starts the response horizon; it does not make prior losses a same-day cash payment.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709160"/>
            <a:ext cx="7680960" cy="722376"/>
          </a:xfrm>
          <a:prstGeom prst="rect">
            <a:avLst/>
          </a:prstGeom>
          <a:solidFill>
            <a:srgbClr val="F8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" y="4846320"/>
            <a:ext cx="120700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14 Sep 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828032"/>
            <a:ext cx="4389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18232B"/>
                </a:solidFill>
                <a:latin typeface="Arial"/>
              </a:rPr>
              <a:t>Three-month Treasury response horizon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989320"/>
            <a:ext cx="10954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FINMA 2012; FSA 2012; UBS disclosures. The Dalton image is illustrative, not an incident photograph.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TREASURY LIQUIDITY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2.2  ·  CASH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ILLUSTRATIVE USDm SCENARIOS · NOT HISTORICAL UBS TREASURY CASH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66928" y="1188720"/>
          <a:ext cx="11018520" cy="3456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NO INCIDENT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" y="5029200"/>
            <a:ext cx="3419856" cy="0"/>
          </a:xfrm>
          <a:prstGeom prst="line">
            <a:avLst/>
          </a:prstGeom>
          <a:ln w="1778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1792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Normal receipts and payments keep modeled cash above the assumed $700m buffer; minimum $984m.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287FA8"/>
                </a:solidFill>
                <a:latin typeface="Arial"/>
              </a:rPr>
              <a:t>INCIDENT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5029200"/>
            <a:ext cx="3419856" cy="0"/>
          </a:xfrm>
          <a:prstGeom prst="line">
            <a:avLst/>
          </a:prstGeom>
          <a:ln w="1778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15968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Additional settlement and collateral needs reduce headroom; minimum $765m, no modeled breach.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COMBINED STRESS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0144" y="5029200"/>
            <a:ext cx="3419856" cy="0"/>
          </a:xfrm>
          <a:prstGeom prst="line">
            <a:avLst/>
          </a:prstGeom>
          <a:ln w="1778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0144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Withdrawals and delayed collateral returns push cash below buffer on 30 Nov; peak gap $176m by 14 Dec.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Cash bridge formula: opening accessible cash + receipts − payments − settlement outflow + signed collateral movement − costs. Funding gap = max(0, buffer − cash before funding).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WHAT IF THE SITUATION WORSENS?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2.3  · 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COMBINED SCENARIO INPUTS ARE ASSUMPTIONS, NOT HISTORICAL OUTCOMES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143000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30 NOVEMBER CASH BRIDGE  ·  USDm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232B"/>
                </a:solidFill>
                <a:latin typeface="Arial"/>
              </a:rPr>
              <a:t>$849m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19" y="2048256"/>
            <a:ext cx="1362457" cy="0"/>
          </a:xfrm>
          <a:prstGeom prst="line">
            <a:avLst/>
          </a:prstGeom>
          <a:ln w="21590">
            <a:solidFill>
              <a:srgbClr val="1823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Incident-base
November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−$50m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146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Settlement
accelerated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250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−$100m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7083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Collateral
return delayed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−$100m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17920" y="2048256"/>
            <a:ext cx="1362455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447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Additional
withdrawals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−$50m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46720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735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Rollover not
renewed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$549m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02952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298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Stress cash
30 November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2944368"/>
            <a:ext cx="676656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598416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88720" y="4248912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88720" y="3899408"/>
            <a:ext cx="6080760" cy="0"/>
          </a:xfrm>
          <a:prstGeom prst="line">
            <a:avLst/>
          </a:prstGeom>
          <a:ln w="1397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8720" y="3549904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20" y="3200400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28232" y="3716528"/>
            <a:ext cx="77724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C49500"/>
                </a:solidFill>
                <a:latin typeface="Arial"/>
              </a:rPr>
              <a:t>700 buffer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53312" y="3378647"/>
            <a:ext cx="493776" cy="1394520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471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BASE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856232" y="3378647"/>
            <a:ext cx="630936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487168" y="3378647"/>
            <a:ext cx="493776" cy="174752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SETTLEMENT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90088" y="3553399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11880" y="3553399"/>
            <a:ext cx="493776" cy="349504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COLLATERAL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114800" y="3902903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736592" y="3902903"/>
            <a:ext cx="493776" cy="349503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0799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WITHDRAWALS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239512" y="4252407"/>
            <a:ext cx="612648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4252407"/>
            <a:ext cx="493776" cy="17475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ROLLOVER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08392" y="2944368"/>
            <a:ext cx="3840480" cy="2286000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36992" y="3136392"/>
            <a:ext cx="338328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1">
                <a:solidFill>
                  <a:srgbClr val="18232B"/>
                </a:solidFill>
                <a:latin typeface="Arial"/>
              </a:rPr>
              <a:t>BUFFER / FUNDING TEST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36992" y="3538728"/>
            <a:ext cx="10789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9500"/>
                </a:solidFill>
                <a:latin typeface="Arial"/>
              </a:rPr>
              <a:t>$700m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4272" y="3584448"/>
            <a:ext cx="120700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8747B"/>
                </a:solidFill>
                <a:latin typeface="Arial"/>
              </a:rPr>
              <a:t>minimum buffer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05288" y="3538728"/>
            <a:ext cx="9875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82036"/>
                </a:solidFill>
                <a:latin typeface="Arial"/>
              </a:rPr>
              <a:t>$151m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0696" y="3840480"/>
            <a:ext cx="1170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30 Nov shortfall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936992" y="4142232"/>
            <a:ext cx="3392424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36992" y="4315968"/>
            <a:ext cx="340156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$524m on 14 Dec  →  $176m peak funding need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559552"/>
            <a:ext cx="1097280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T+2 liquidity source: trigger 25 Nov → arrival 29 Nov → first breach 30 Nov. If late, it cannot prevent the breach.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6035040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Assumed $200m line and timing; verify availability, eligible collateral and actual settlement dates. Stress inputs are scenario shocks, not actual UBS cash flows.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3.1  ·  LIKELIHOOD ×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RESIDUAL RATINGS ARE ANALYST JUDGEMENTS FOR THE THREE-MONTH HORIZON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1527048"/>
            <a:ext cx="1965960" cy="1124712"/>
          </a:xfrm>
          <a:prstGeom prst="rect">
            <a:avLst/>
          </a:prstGeom>
          <a:solidFill>
            <a:srgbClr val="F5DC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1527048"/>
            <a:ext cx="1965960" cy="1124712"/>
          </a:xfrm>
          <a:prstGeom prst="rect">
            <a:avLst/>
          </a:prstGeom>
          <a:solidFill>
            <a:srgbClr val="EFC9C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522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3752" y="1527048"/>
            <a:ext cx="1965960" cy="1124712"/>
          </a:xfrm>
          <a:prstGeom prst="rect">
            <a:avLst/>
          </a:prstGeom>
          <a:solidFill>
            <a:srgbClr val="E5B3B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690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2697480"/>
            <a:ext cx="1965960" cy="1124712"/>
          </a:xfrm>
          <a:prstGeom prst="rect">
            <a:avLst/>
          </a:prstGeom>
          <a:solidFill>
            <a:srgbClr val="F4E8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2697480"/>
            <a:ext cx="1965960" cy="1124712"/>
          </a:xfrm>
          <a:prstGeom prst="rect">
            <a:avLst/>
          </a:prstGeom>
          <a:solidFill>
            <a:srgbClr val="EFDBA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Market (4)
Counterparty (4)
Legal / regulatory (4)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3752" y="2697480"/>
            <a:ext cx="1965960" cy="1124712"/>
          </a:xfrm>
          <a:prstGeom prst="rect">
            <a:avLst/>
          </a:prstGeom>
          <a:solidFill>
            <a:srgbClr val="EAC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Operational (6)
Liquidity (6)
Funding (6)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867912"/>
            <a:ext cx="1965960" cy="1124712"/>
          </a:xfrm>
          <a:prstGeom prst="rect">
            <a:avLst/>
          </a:prstGeom>
          <a:solidFill>
            <a:srgbClr val="E4EEE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62072" y="3867912"/>
            <a:ext cx="1965960" cy="1124712"/>
          </a:xfrm>
          <a:prstGeom prst="rect">
            <a:avLst/>
          </a:prstGeom>
          <a:solidFill>
            <a:srgbClr val="E8ED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3522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96512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Reputational (2)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3752" y="3867912"/>
            <a:ext cx="1965960" cy="1124712"/>
          </a:xfrm>
          <a:prstGeom prst="rect">
            <a:avLst/>
          </a:prstGeom>
          <a:solidFill>
            <a:srgbClr val="F1E6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4690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1965960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" y="3136392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" y="4306824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6207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" y="1280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LIKELIHOOD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33472" y="5321807"/>
            <a:ext cx="9144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8747B"/>
                </a:solidFill>
                <a:latin typeface="Arial"/>
              </a:rPr>
              <a:t>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1627632"/>
            <a:ext cx="416052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18232B"/>
                </a:solidFill>
                <a:latin typeface="Arial"/>
              </a:rPr>
              <a:t>PRIORITY RISKS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24927" y="1929384"/>
            <a:ext cx="4215385" cy="0"/>
          </a:xfrm>
          <a:prstGeom prst="line">
            <a:avLst/>
          </a:prstGeom>
          <a:ln w="2032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424927" y="2157984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0415" y="2157984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Operational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0415" y="2432303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Unreconciled breaks may hide open positions.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900415" y="2907791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24927" y="3108960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0415" y="3108960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Liquidity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0415" y="3383279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Dated settlement / collateral needs can breach buffer.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0415" y="3858768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424927" y="4059935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0415" y="4059935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Funding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0415" y="4334255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Maturing sources may not roll before cash is due.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24927" y="5138928"/>
            <a:ext cx="41605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Other exposures: market · counterparty · reputational · legal / regulatory.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044184"/>
            <a:ext cx="1097280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Score = likelihood × impact (1–3). Illustrative analyst ratings, not UBS / regulator scores; calibrate impact to the approved buffer and re-score after containment.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CFO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3.2  ·  THREE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SEQUENCE ACTIONS FROM CASH VISIBILITY TO LASTING CONTROL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008F72"/>
                </a:solidFill>
                <a:latin typeface="Arial"/>
              </a:rPr>
              <a:t>IMMEDIATE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WITHIN 24h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773936"/>
            <a:ext cx="3310128" cy="0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LIQUIDITY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8F72"/>
                </a:solidFill>
                <a:latin typeface="Arial"/>
              </a:rPr>
              <a:t>Owner  ·  Group Treasurer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0936" y="3310128"/>
            <a:ext cx="155448" cy="15544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Build a dated cash view; confirm accessible liquidity and funding arrival.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2354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08F72"/>
                </a:solidFill>
                <a:latin typeface="Arial"/>
              </a:rPr>
              <a:t>Benefit  ·  No unexpected cash breach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use only confirmed, accessible funding.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49500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DAYS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773936"/>
            <a:ext cx="3310128" cy="0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1596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POSITION RECONCILIATION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Owner  ·  COO + Risk + Treasury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0740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334255" y="3310128"/>
            <a:ext cx="155448" cy="15544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Independently match positions, settlements and collateral; track unresolved breaks daily.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2686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2686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49500"/>
                </a:solidFill>
                <a:latin typeface="Arial"/>
              </a:rPr>
              <a:t>Benefit  ·  Reduce uncertainty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retain a conservative overlay until breaks close.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82036"/>
                </a:solidFill>
                <a:latin typeface="Arial"/>
              </a:rPr>
              <a:t>PREVENTION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7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3 MONTHS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19288" y="1773936"/>
            <a:ext cx="3310128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1928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GOVERNANCE UPGRADE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Owner  ·  CRO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1072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37575" y="3310128"/>
            <a:ext cx="155448" cy="15544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0183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Strengthen independent verification, exception escalation and control ownership.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330183" y="4224528"/>
            <a:ext cx="2999233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330183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82036"/>
                </a:solidFill>
                <a:latin typeface="Arial"/>
              </a:rPr>
              <a:t>Benefit  ·  Prevent recurrence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0183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manual dual sign-off until controls are live.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" y="5705856"/>
            <a:ext cx="10716768" cy="566928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5843016"/>
            <a:ext cx="1078992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C82036"/>
                </a:solidFill>
                <a:latin typeface="Arial"/>
              </a:rPr>
              <a:t>OBJECTIVE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75104" y="5797296"/>
            <a:ext cx="908913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Maintain liquidity above the minimum buffer throughout the Treasury horizon.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336792"/>
            <a:ext cx="1097280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8747B"/>
                </a:solidFill>
                <a:latin typeface="Arial"/>
              </a:rPr>
              <a:t>Count funding only when availability, collateral and arrival time are verified.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/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35331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8232B"/>
                </a:solidFill>
                <a:latin typeface="Arial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68880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82036"/>
                </a:solidFill>
                <a:latin typeface="Arial"/>
              </a:rPr>
              <a:t>SOURCES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70632"/>
            <a:ext cx="10789920" cy="0"/>
          </a:xfrm>
          <a:prstGeom prst="line">
            <a:avLst/>
          </a:prstGeom>
          <a:ln w="127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27248"/>
            <a:ext cx="106527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8232B"/>
                </a:solidFill>
                <a:latin typeface="Arial"/>
              </a:rPr>
              <a:t>FINMA, Summary Report: Investigation into UBS London Trading Losses, 21 November 2012.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520440"/>
            <a:ext cx="10652760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703320"/>
            <a:ext cx="106527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8232B"/>
                </a:solidFill>
                <a:latin typeface="Arial"/>
              </a:rPr>
              <a:t>FSA, Final Notice to UBS AG, 25 November 2012.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096511"/>
            <a:ext cx="10652760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279392"/>
            <a:ext cx="106527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8232B"/>
                </a:solidFill>
                <a:latin typeface="Arial"/>
              </a:rPr>
              <a:t>UBS, Supplement No. 2, 11 October 2011.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72583"/>
            <a:ext cx="10652760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55464"/>
            <a:ext cx="106527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8232B"/>
                </a:solidFill>
                <a:latin typeface="Arial"/>
              </a:rPr>
              <a:t>UBS, Third-quarter 2011 results and presentation materials, 25 October 2011.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Scandal · Treasury Response</dc:title>
  <dc:subject>Ten-slide Treasury presentation aligned to the report</dc:subject>
  <dc:creator>Paul Alain Diouf; Calvin Minang; Jules Métayer; Elias Abou-Tayeh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