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www.finma.ch/en/~/media/finma/dokumente/dokumentencenter/8news/medienmitteilungen/2012/11/20121121-ubs-summary-report.pdf?sc_lang=en&amp;hash=D26DD4BBF243411F07C72BCA738FF40A" TargetMode="External"/><Relationship Id="rId5" Type="http://schemas.openxmlformats.org/officeDocument/2006/relationships/hyperlink" Target="https://www.fca.org.uk/publication/final-notices/ubs-ag.pdf" TargetMode="External"/><Relationship Id="rId6" Type="http://schemas.openxmlformats.org/officeDocument/2006/relationships/hyperlink" Target="https://keyinvest-it.ubs.com/filedb/deliver/xuuid/l00170bd9263aa8642128581708268d60e04/name/2.2_UBS_SNP_11Oct2011.pdf" TargetMode="External"/><Relationship Id="rId7" Type="http://schemas.openxmlformats.org/officeDocument/2006/relationships/hyperlink" Target="https://www.ubs.com/global/en/investor-relations/financial-information/quarterly-reporting/qr-archive/qr-archive11-15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E3000B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" y="228687"/>
            <a:ext cx="1428750" cy="504650"/>
          </a:xfrm>
          <a:prstGeom prst="rect">
            <a:avLst/>
          </a:prstGeom>
        </p:spPr>
      </p:pic>
      <p:pic>
        <p:nvPicPr>
          <p:cNvPr id="5" name="Picture 4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0717" y="171450"/>
            <a:ext cx="454765" cy="4762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66750" y="1619250"/>
            <a:ext cx="47625" cy="3810000"/>
          </a:xfrm>
          <a:prstGeom prst="rect">
            <a:avLst/>
          </a:prstGeom>
          <a:solidFill>
            <a:srgbClr val="E3000B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125" y="1657350"/>
            <a:ext cx="66675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25" b="0">
                <a:solidFill>
                  <a:srgbClr val="171717"/>
                </a:solidFill>
                <a:latin typeface="Aptos"/>
              </a:rPr>
              <a:t>UBS 2011 Rogue Trading Scandal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125" y="2619375"/>
            <a:ext cx="6667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E3000B"/>
                </a:solidFill>
                <a:latin typeface="Aptos"/>
              </a:rPr>
              <a:t>From Operational Failure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E3000B"/>
                </a:solidFill>
                <a:latin typeface="Aptos"/>
              </a:rPr>
              <a:t>to Treasury Decisions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0125" y="3571875"/>
            <a:ext cx="64770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5C5C58"/>
                </a:solidFill>
                <a:latin typeface="Aptos"/>
              </a:rPr>
              <a:t>EXECUTIVE BRIEFING TO THE GROUP CEO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5C5C58"/>
                </a:solidFill>
                <a:latin typeface="Aptos"/>
              </a:rPr>
              <a:t>AND UBS GROUP EXECUTIVE BOARD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00125" y="4305300"/>
            <a:ext cx="5572125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00125" y="4505325"/>
            <a:ext cx="6191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71717"/>
                </a:solidFill>
                <a:latin typeface="Aptos"/>
              </a:rPr>
              <a:t>Corporate Treasury Management  ·  14 Sep–14 Dec 2011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0125" y="4943475"/>
            <a:ext cx="6191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C5C58"/>
                </a:solidFill>
                <a:latin typeface="Aptos"/>
              </a:rPr>
              <a:t>Academic supervisor  Jamil Chaftar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0125" y="5276850"/>
            <a:ext cx="61912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5C5C58"/>
                </a:solidFill>
                <a:latin typeface="Aptos"/>
              </a:rPr>
              <a:t>Paul Alain Diouf  ·  Calvin Minang  ·  Jules Métayer  ·  Elias Abou-Tayeh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3374" y="1619250"/>
            <a:ext cx="3619500" cy="3857625"/>
          </a:xfrm>
          <a:prstGeom prst="rect">
            <a:avLst/>
          </a:prstGeom>
          <a:solidFill>
            <a:srgbClr val="F5F4F0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9124" y="1857375"/>
            <a:ext cx="300037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3000B"/>
                </a:solidFill>
                <a:latin typeface="Aptos"/>
              </a:rPr>
              <a:t>TREASURY DECISION WINDOW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9124" y="2171700"/>
            <a:ext cx="3000375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71717"/>
                </a:solidFill>
                <a:latin typeface="Aptos"/>
              </a:rPr>
              <a:t>14 September → 14 December 2011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9124" y="2686050"/>
            <a:ext cx="300037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5C5C58"/>
                </a:solidFill>
                <a:latin typeface="Aptos"/>
              </a:rPr>
              <a:t>LIQUIDITY HEADROOM · CONCEPT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6750" y="4038600"/>
            <a:ext cx="209550" cy="619125"/>
          </a:xfrm>
          <a:prstGeom prst="rect">
            <a:avLst/>
          </a:prstGeom>
          <a:solidFill>
            <a:srgbClr val="C8C7C0"/>
          </a:solidFill>
          <a:ln>
            <a:solidFill>
              <a:srgbClr val="C8C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3950" y="3743325"/>
            <a:ext cx="209550" cy="914400"/>
          </a:xfrm>
          <a:prstGeom prst="rect">
            <a:avLst/>
          </a:prstGeom>
          <a:solidFill>
            <a:srgbClr val="C8C7C0"/>
          </a:solidFill>
          <a:ln>
            <a:solidFill>
              <a:srgbClr val="C8C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01150" y="3924300"/>
            <a:ext cx="209550" cy="733425"/>
          </a:xfrm>
          <a:prstGeom prst="rect">
            <a:avLst/>
          </a:prstGeom>
          <a:solidFill>
            <a:srgbClr val="C8C7C0"/>
          </a:solidFill>
          <a:ln>
            <a:solidFill>
              <a:srgbClr val="C8C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58350" y="3400425"/>
            <a:ext cx="209550" cy="1257300"/>
          </a:xfrm>
          <a:prstGeom prst="rect">
            <a:avLst/>
          </a:prstGeom>
          <a:solidFill>
            <a:srgbClr val="B9B8B1"/>
          </a:solidFill>
          <a:ln>
            <a:solidFill>
              <a:srgbClr val="B9B8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115550" y="3657600"/>
            <a:ext cx="209550" cy="1000125"/>
          </a:xfrm>
          <a:prstGeom prst="rect">
            <a:avLst/>
          </a:prstGeom>
          <a:solidFill>
            <a:srgbClr val="C8C7C0"/>
          </a:solidFill>
          <a:ln>
            <a:solidFill>
              <a:srgbClr val="C8C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72750" y="3038475"/>
            <a:ext cx="209550" cy="1619250"/>
          </a:xfrm>
          <a:prstGeom prst="rect">
            <a:avLst/>
          </a:prstGeom>
          <a:solidFill>
            <a:srgbClr val="E3000B"/>
          </a:solidFill>
          <a:ln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8191500" y="4667250"/>
            <a:ext cx="3095625" cy="0"/>
          </a:xfrm>
          <a:prstGeom prst="line">
            <a:avLst/>
          </a:prstGeom>
          <a:ln w="12700">
            <a:solidFill>
              <a:srgbClr val="B8B7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8191500" y="3943350"/>
            <a:ext cx="476250" cy="152400"/>
          </a:xfrm>
          <a:prstGeom prst="line">
            <a:avLst/>
          </a:prstGeom>
          <a:ln w="38100">
            <a:solidFill>
              <a:srgbClr val="E3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667750" y="3943350"/>
            <a:ext cx="428625" cy="85725"/>
          </a:xfrm>
          <a:prstGeom prst="line">
            <a:avLst/>
          </a:prstGeom>
          <a:ln w="38100">
            <a:solidFill>
              <a:srgbClr val="E3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9096375" y="3590925"/>
            <a:ext cx="466725" cy="438150"/>
          </a:xfrm>
          <a:prstGeom prst="line">
            <a:avLst/>
          </a:prstGeom>
          <a:ln w="38100">
            <a:solidFill>
              <a:srgbClr val="E3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9563100" y="3429000"/>
            <a:ext cx="457200" cy="161925"/>
          </a:xfrm>
          <a:prstGeom prst="line">
            <a:avLst/>
          </a:prstGeom>
          <a:ln w="38100">
            <a:solidFill>
              <a:srgbClr val="E3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10020300" y="3238500"/>
            <a:ext cx="457200" cy="190500"/>
          </a:xfrm>
          <a:prstGeom prst="line">
            <a:avLst/>
          </a:prstGeom>
          <a:ln w="38100">
            <a:solidFill>
              <a:srgbClr val="E3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477500" y="3238500"/>
            <a:ext cx="438150" cy="381000"/>
          </a:xfrm>
          <a:prstGeom prst="line">
            <a:avLst/>
          </a:prstGeom>
          <a:ln w="38100">
            <a:solidFill>
              <a:srgbClr val="E3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915650" y="3619500"/>
            <a:ext cx="371475" cy="200024"/>
          </a:xfrm>
          <a:prstGeom prst="line">
            <a:avLst/>
          </a:prstGeom>
          <a:ln w="38100">
            <a:solidFill>
              <a:srgbClr val="E3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239124" y="4953000"/>
            <a:ext cx="3000375" cy="40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71717"/>
                </a:solidFill>
                <a:latin typeface="Aptos"/>
              </a:rPr>
              <a:t>Protect cash capacity.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71717"/>
                </a:solidFill>
                <a:latin typeface="Aptos"/>
              </a:rPr>
              <a:t>Verify exposure. Gate funding.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2450" y="62103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5C5C58"/>
                </a:solidFill>
                <a:latin typeface="Aptos"/>
              </a:rPr>
              <a:t>Source-led case analysis · proposed Treasury response, not a reconstruction of UBS daily cash flows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E3000B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61" y="123824"/>
            <a:ext cx="1240476" cy="438150"/>
          </a:xfrm>
          <a:prstGeom prst="rect">
            <a:avLst/>
          </a:prstGeom>
        </p:spPr>
      </p:pic>
      <p:pic>
        <p:nvPicPr>
          <p:cNvPr id="5" name="Picture 4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4275" y="114375"/>
            <a:ext cx="400050" cy="4189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52624" y="247649"/>
            <a:ext cx="809624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51E2B"/>
                </a:solidFill>
                <a:latin typeface="Aptos"/>
              </a:rPr>
              <a:t>CEO BRIEFING · DECISION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742950"/>
            <a:ext cx="113538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25" b="1">
                <a:solidFill>
                  <a:srgbClr val="171717"/>
                </a:solidFill>
                <a:latin typeface="Aptos"/>
              </a:rPr>
              <a:t>Executive decision: protect headroom, verify exposure, gate funding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9100" y="1247775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9100" y="6457950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9100" y="6534150"/>
            <a:ext cx="7715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C5C58"/>
                </a:solidFill>
                <a:latin typeface="Aptos"/>
              </a:rPr>
              <a:t>Sources: [1] FINMA Summary Report; [2] FSA Final Notice. Funding triggers are proposed management actions.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0" y="6515100"/>
            <a:ext cx="290512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B51E2B"/>
                </a:solidFill>
                <a:latin typeface="Aptos"/>
              </a:rPr>
              <a:t>PAUL ALAIN  /  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2450" y="1352550"/>
            <a:ext cx="11049000" cy="1219200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" y="1552575"/>
            <a:ext cx="2381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DECISION QUESTION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" y="1857375"/>
            <a:ext cx="10382250" cy="552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75" b="1">
                <a:solidFill>
                  <a:srgbClr val="171717"/>
                </a:solidFill>
                <a:latin typeface="Aptos"/>
              </a:rPr>
              <a:t>How should Treasury meet UBS payment obligations over the three months after discovery?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2450" y="2876550"/>
            <a:ext cx="3476625" cy="1714500"/>
          </a:xfrm>
          <a:prstGeom prst="rect">
            <a:avLst/>
          </a:prstGeom>
          <a:solidFill>
            <a:srgbClr val="F2F1ED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950" y="3057525"/>
            <a:ext cx="309562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01  FORECAST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" y="3362325"/>
            <a:ext cx="3095625" cy="295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25" b="1">
                <a:solidFill>
                  <a:srgbClr val="171717"/>
                </a:solidFill>
                <a:latin typeface="Aptos"/>
              </a:rPr>
              <a:t>13-week cash 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" y="3810000"/>
            <a:ext cx="3095625" cy="628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C5C58"/>
                </a:solidFill>
                <a:latin typeface="Aptos"/>
              </a:rPr>
              <a:t>Daily in week one; then weekly. Scope by legal entity, currency and accessible buffer.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67200" y="2876550"/>
            <a:ext cx="3476625" cy="1714500"/>
          </a:xfrm>
          <a:prstGeom prst="rect">
            <a:avLst/>
          </a:prstGeom>
          <a:solidFill>
            <a:srgbClr val="F2F1ED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7700" y="3057525"/>
            <a:ext cx="309562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02  VERIFY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7700" y="3362325"/>
            <a:ext cx="3095625" cy="295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25" b="1">
                <a:solidFill>
                  <a:srgbClr val="171717"/>
                </a:solidFill>
                <a:latin typeface="Aptos"/>
              </a:rPr>
              <a:t>Positions &amp; collateral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7700" y="3810000"/>
            <a:ext cx="3095625" cy="628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C5C58"/>
                </a:solidFill>
                <a:latin typeface="Aptos"/>
              </a:rPr>
              <a:t>Reconcile external trades, settlement dates, collateral calls / releases and open breaks.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81949" y="2876550"/>
            <a:ext cx="3476625" cy="1714500"/>
          </a:xfrm>
          <a:prstGeom prst="rect">
            <a:avLst/>
          </a:prstGeom>
          <a:solidFill>
            <a:srgbClr val="F2F1ED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72450" y="3057525"/>
            <a:ext cx="309562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03  PREPARE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72450" y="3362325"/>
            <a:ext cx="3095625" cy="295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25" b="1">
                <a:solidFill>
                  <a:srgbClr val="171717"/>
                </a:solidFill>
                <a:latin typeface="Aptos"/>
              </a:rPr>
              <a:t>Conditional backstop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72450" y="3810000"/>
            <a:ext cx="3095625" cy="628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C5C58"/>
                </a:solidFill>
                <a:latin typeface="Aptos"/>
              </a:rPr>
              <a:t>Stage confirmed funding sources; draw only if forecast headroom breaches policy buffer.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2450" y="5048250"/>
            <a:ext cx="1104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71717"/>
                </a:solidFill>
                <a:latin typeface="Aptos"/>
              </a:rPr>
              <a:t>Request today: authorise the verified cash forecast and contingency readiness. The reported USD 2.3bn loss does not, by itself, establish a same-day funding gap.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450" y="5695950"/>
            <a:ext cx="11049000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C5C58"/>
                </a:solidFill>
                <a:latin typeface="Aptos"/>
              </a:rPr>
              <a:t>Presenters: Introduction — Paul Alain  ·  Company / incident — Calvin  ·  Cash — Jules  ·  Quant — Elias  ·  Risk — Paul Alain  ·  CFO actions — Jules  ·  Conclusion — Calvin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E3000B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61" y="123824"/>
            <a:ext cx="1240476" cy="438150"/>
          </a:xfrm>
          <a:prstGeom prst="rect">
            <a:avLst/>
          </a:prstGeom>
        </p:spPr>
      </p:pic>
      <p:pic>
        <p:nvPicPr>
          <p:cNvPr id="5" name="Picture 4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4275" y="114375"/>
            <a:ext cx="400050" cy="4189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52624" y="247649"/>
            <a:ext cx="809624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51E2B"/>
                </a:solidFill>
                <a:latin typeface="Aptos"/>
              </a:rPr>
              <a:t>PART I · UBS AND THE INCIDENT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742950"/>
            <a:ext cx="113538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25" b="1">
                <a:solidFill>
                  <a:srgbClr val="171717"/>
                </a:solidFill>
                <a:latin typeface="Aptos"/>
              </a:rPr>
              <a:t>Liquidity is a timing problem—not a synonym for profit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9100" y="1247775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9100" y="6457950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9100" y="6534150"/>
            <a:ext cx="7715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C5C58"/>
                </a:solidFill>
                <a:latin typeface="Aptos"/>
              </a:rPr>
              <a:t>Source: [1] FINMA report §§6–10; simplified Treasury cash-cycle diagram (not a UBS ledger).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0" y="6515100"/>
            <a:ext cx="290512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B51E2B"/>
                </a:solidFill>
                <a:latin typeface="Aptos"/>
              </a:rPr>
              <a:t>CALVIN  /  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590675"/>
            <a:ext cx="2571750" cy="1143000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0075" y="1743075"/>
            <a:ext cx="2286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CLIENTS &amp; MARKETS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075" y="2066924"/>
            <a:ext cx="2286000" cy="447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717"/>
                </a:solidFill>
                <a:latin typeface="Aptos"/>
              </a:rPr>
              <a:t>Fees · settlement receipts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28950" y="2143125"/>
            <a:ext cx="266700" cy="0"/>
          </a:xfrm>
          <a:prstGeom prst="line">
            <a:avLst/>
          </a:prstGeom>
          <a:ln w="25400">
            <a:solidFill>
              <a:srgbClr val="9898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257550" y="2095499"/>
            <a:ext cx="57150" cy="47626"/>
          </a:xfrm>
          <a:prstGeom prst="line">
            <a:avLst/>
          </a:prstGeom>
          <a:ln w="25400">
            <a:solidFill>
              <a:srgbClr val="9898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3257550" y="2143125"/>
            <a:ext cx="57150" cy="47625"/>
          </a:xfrm>
          <a:prstGeom prst="line">
            <a:avLst/>
          </a:prstGeom>
          <a:ln w="25400">
            <a:solidFill>
              <a:srgbClr val="9898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62325" y="1590675"/>
            <a:ext cx="2571750" cy="1143000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05200" y="1743075"/>
            <a:ext cx="2286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UBS BUSINESSES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5200" y="2066924"/>
            <a:ext cx="2286000" cy="447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717"/>
                </a:solidFill>
                <a:latin typeface="Aptos"/>
              </a:rPr>
              <a:t>Investment Bank + other divisions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34075" y="2143125"/>
            <a:ext cx="266700" cy="0"/>
          </a:xfrm>
          <a:prstGeom prst="line">
            <a:avLst/>
          </a:prstGeom>
          <a:ln w="25400">
            <a:solidFill>
              <a:srgbClr val="9898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162675" y="2095499"/>
            <a:ext cx="57150" cy="47626"/>
          </a:xfrm>
          <a:prstGeom prst="line">
            <a:avLst/>
          </a:prstGeom>
          <a:ln w="25400">
            <a:solidFill>
              <a:srgbClr val="9898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6162675" y="2143125"/>
            <a:ext cx="57150" cy="47625"/>
          </a:xfrm>
          <a:prstGeom prst="line">
            <a:avLst/>
          </a:prstGeom>
          <a:ln w="25400">
            <a:solidFill>
              <a:srgbClr val="9898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267450" y="1590675"/>
            <a:ext cx="2571750" cy="1143000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0325" y="1743075"/>
            <a:ext cx="2286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PAYMENT RAILS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0325" y="2066924"/>
            <a:ext cx="2286000" cy="447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717"/>
                </a:solidFill>
                <a:latin typeface="Aptos"/>
              </a:rPr>
              <a:t>Settlement · collateral · maturities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39200" y="2143125"/>
            <a:ext cx="266700" cy="0"/>
          </a:xfrm>
          <a:prstGeom prst="line">
            <a:avLst/>
          </a:prstGeom>
          <a:ln w="25400">
            <a:solidFill>
              <a:srgbClr val="9898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067800" y="2095499"/>
            <a:ext cx="57150" cy="47626"/>
          </a:xfrm>
          <a:prstGeom prst="line">
            <a:avLst/>
          </a:prstGeom>
          <a:ln w="25400">
            <a:solidFill>
              <a:srgbClr val="9898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9067800" y="2143125"/>
            <a:ext cx="57150" cy="47625"/>
          </a:xfrm>
          <a:prstGeom prst="line">
            <a:avLst/>
          </a:prstGeom>
          <a:ln w="25400">
            <a:solidFill>
              <a:srgbClr val="9898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9172575" y="1590675"/>
            <a:ext cx="2571750" cy="1143000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15450" y="1743075"/>
            <a:ext cx="2286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TREASURY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5450" y="2066924"/>
            <a:ext cx="2286000" cy="447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717"/>
                </a:solidFill>
                <a:latin typeface="Aptos"/>
              </a:rPr>
              <a:t>Cash by entity, currency &amp; 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0550" y="3171825"/>
            <a:ext cx="4762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C826C"/>
                </a:solidFill>
                <a:latin typeface="Aptos"/>
              </a:rPr>
              <a:t>CASH 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0550" y="3524250"/>
            <a:ext cx="4905375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171717"/>
                </a:solidFill>
                <a:latin typeface="Aptos"/>
              </a:rPr>
              <a:t>• Client and market receipts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171717"/>
                </a:solidFill>
                <a:latin typeface="Aptos"/>
              </a:rPr>
              <a:t>• Trading settlements due to UBS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171717"/>
                </a:solidFill>
                <a:latin typeface="Aptos"/>
              </a:rPr>
              <a:t>• Funding proceeds and asset maturities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43650" y="3171825"/>
            <a:ext cx="4762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3000B"/>
                </a:solidFill>
                <a:latin typeface="Aptos"/>
              </a:rPr>
              <a:t>CASH OUT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3650" y="3524250"/>
            <a:ext cx="4905375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171717"/>
                </a:solidFill>
                <a:latin typeface="Aptos"/>
              </a:rPr>
              <a:t>• Withdrawals and lending commitments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171717"/>
                </a:solidFill>
                <a:latin typeface="Aptos"/>
              </a:rPr>
              <a:t>• Trade settlement and collateral calls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171717"/>
                </a:solidFill>
                <a:latin typeface="Aptos"/>
              </a:rPr>
              <a:t>• Debt maturities and operating payments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0550" y="4857750"/>
            <a:ext cx="10477500" cy="628650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0575" y="5029200"/>
            <a:ext cx="1009650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1717"/>
                </a:solidFill>
                <a:latin typeface="Aptos"/>
              </a:rPr>
              <a:t>Only cash that is accessible in the right entity, currency and time can meet an obligation.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E3000B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61" y="123824"/>
            <a:ext cx="1240476" cy="438150"/>
          </a:xfrm>
          <a:prstGeom prst="rect">
            <a:avLst/>
          </a:prstGeom>
        </p:spPr>
      </p:pic>
      <p:pic>
        <p:nvPicPr>
          <p:cNvPr id="5" name="Picture 4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4275" y="114375"/>
            <a:ext cx="400050" cy="4189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52624" y="247649"/>
            <a:ext cx="809624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51E2B"/>
                </a:solidFill>
                <a:latin typeface="Aptos"/>
              </a:rPr>
              <a:t>PART I · INCIDENT CHRONOLOGY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742950"/>
            <a:ext cx="113538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25" b="1">
                <a:solidFill>
                  <a:srgbClr val="171717"/>
                </a:solidFill>
                <a:latin typeface="Aptos"/>
              </a:rPr>
              <a:t>Discovery, disclosure and containment were different moments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9100" y="1247775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9100" y="6457950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9100" y="6534150"/>
            <a:ext cx="7715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C5C58"/>
                </a:solidFill>
                <a:latin typeface="Aptos"/>
              </a:rPr>
              <a:t>Sources: [1] FINMA; [2] FSA; [3] UBS 2011 announcement record. Press image supplied by user; attribution / reuse rights to verify.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0" y="6515100"/>
            <a:ext cx="290512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B51E2B"/>
                </a:solidFill>
                <a:latin typeface="Aptos"/>
              </a:rPr>
              <a:t>CALVIN  /  04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66750" y="1952624"/>
            <a:ext cx="7143749" cy="0"/>
          </a:xfrm>
          <a:prstGeom prst="line">
            <a:avLst/>
          </a:prstGeom>
          <a:ln w="25400">
            <a:solidFill>
              <a:srgbClr val="C9C8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90575" y="1885950"/>
            <a:ext cx="133350" cy="133350"/>
          </a:xfrm>
          <a:prstGeom prst="ellipse">
            <a:avLst/>
          </a:prstGeom>
          <a:solidFill>
            <a:srgbClr val="E3000B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0075" y="1524000"/>
            <a:ext cx="1524000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14 SEP 2011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125" y="2200275"/>
            <a:ext cx="1619250" cy="895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71717"/>
                </a:solidFill>
                <a:latin typeface="Aptos"/>
              </a:rPr>
              <a:t>UBS identifies unauthorised positions; Adoboli arrested.</a:t>
            </a:r>
          </a:p>
        </p:txBody>
      </p:sp>
      <p:sp>
        <p:nvSpPr>
          <p:cNvPr id="16" name="Oval 15"/>
          <p:cNvSpPr/>
          <p:nvPr/>
        </p:nvSpPr>
        <p:spPr>
          <a:xfrm>
            <a:off x="2790825" y="1885950"/>
            <a:ext cx="133350" cy="133350"/>
          </a:xfrm>
          <a:prstGeom prst="ellipse">
            <a:avLst/>
          </a:prstGeom>
          <a:solidFill>
            <a:srgbClr val="E3000B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0325" y="1524000"/>
            <a:ext cx="1524000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15 SEP 2011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19375" y="2200275"/>
            <a:ext cx="1619250" cy="895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71717"/>
                </a:solidFill>
                <a:latin typeface="Aptos"/>
              </a:rPr>
              <a:t>UBS publicly estimates ~USD 2bn; says no client positions affected.</a:t>
            </a:r>
          </a:p>
        </p:txBody>
      </p:sp>
      <p:sp>
        <p:nvSpPr>
          <p:cNvPr id="19" name="Oval 18"/>
          <p:cNvSpPr/>
          <p:nvPr/>
        </p:nvSpPr>
        <p:spPr>
          <a:xfrm>
            <a:off x="4886325" y="1885950"/>
            <a:ext cx="133350" cy="133350"/>
          </a:xfrm>
          <a:prstGeom prst="ellipse">
            <a:avLst/>
          </a:prstGeom>
          <a:solidFill>
            <a:srgbClr val="E3000B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5825" y="1524000"/>
            <a:ext cx="1524000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18 SEP 2011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14875" y="2200275"/>
            <a:ext cx="1619250" cy="895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71717"/>
                </a:solidFill>
                <a:latin typeface="Aptos"/>
              </a:rPr>
              <a:t>UBS states the positions are covered; equities business within limits.</a:t>
            </a:r>
          </a:p>
        </p:txBody>
      </p:sp>
      <p:sp>
        <p:nvSpPr>
          <p:cNvPr id="22" name="Oval 21"/>
          <p:cNvSpPr/>
          <p:nvPr/>
        </p:nvSpPr>
        <p:spPr>
          <a:xfrm>
            <a:off x="6981825" y="1885950"/>
            <a:ext cx="133350" cy="133350"/>
          </a:xfrm>
          <a:prstGeom prst="ellipse">
            <a:avLst/>
          </a:prstGeom>
          <a:solidFill>
            <a:srgbClr val="E3000B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1325" y="1524000"/>
            <a:ext cx="1524000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25 OCT 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0375" y="2200275"/>
            <a:ext cx="1619250" cy="895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71717"/>
                </a:solidFill>
                <a:latin typeface="Aptos"/>
              </a:rPr>
              <a:t>CHF 1.849bn P&amp;L + CHF 102m FX translation; CHF 1.951bn total (~USD 2.229bn).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72500" y="1381125"/>
            <a:ext cx="2809875" cy="3143250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doboli-press-pho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3950" y="1695927"/>
            <a:ext cx="2466975" cy="185641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743950" y="3848099"/>
            <a:ext cx="246697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C5C58"/>
                </a:solidFill>
                <a:latin typeface="Aptos"/>
              </a:rPr>
              <a:t>Kweku Adoboli · press image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C5C58"/>
                </a:solidFill>
                <a:latin typeface="Aptos"/>
              </a:rPr>
              <a:t>User-supplied classroom material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750" y="3676649"/>
            <a:ext cx="6810375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171717"/>
                </a:solidFill>
                <a:latin typeface="Aptos"/>
              </a:rPr>
              <a:t>Later hindsight: regulators published detailed findings in 2012; keep these separate from the information available to Treasury at discovery.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6750" y="4295775"/>
            <a:ext cx="6810375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51E2B"/>
                </a:solidFill>
                <a:latin typeface="Aptos"/>
              </a:rPr>
              <a:t>The reported USD 2.3bn loss is not the same thing as a same-day cash funding gap.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E3000B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61" y="123824"/>
            <a:ext cx="1240476" cy="438150"/>
          </a:xfrm>
          <a:prstGeom prst="rect">
            <a:avLst/>
          </a:prstGeom>
        </p:spPr>
      </p:pic>
      <p:pic>
        <p:nvPicPr>
          <p:cNvPr id="5" name="Picture 4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4275" y="114375"/>
            <a:ext cx="400050" cy="4189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52624" y="247649"/>
            <a:ext cx="809624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51E2B"/>
                </a:solidFill>
                <a:latin typeface="Aptos"/>
              </a:rPr>
              <a:t>PART I · CONCEALMENT MECHANISM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742950"/>
            <a:ext cx="113538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25" b="1">
                <a:solidFill>
                  <a:srgbClr val="171717"/>
                </a:solidFill>
                <a:latin typeface="Aptos"/>
              </a:rPr>
              <a:t>Fictitious offsets hid real market exposure in the control systems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9100" y="1247775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9100" y="6457950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9100" y="6534150"/>
            <a:ext cx="7715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C5C58"/>
                </a:solidFill>
                <a:latin typeface="Aptos"/>
              </a:rPr>
              <a:t>Sources: [1] FINMA §§11–18; [2] FSA §§23–25.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0" y="6515100"/>
            <a:ext cx="290512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B51E2B"/>
                </a:solidFill>
                <a:latin typeface="Aptos"/>
              </a:rPr>
              <a:t>CALVIN  /  05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50" y="1857375"/>
            <a:ext cx="3143250" cy="2143125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4350" y="1857375"/>
            <a:ext cx="3143250" cy="38100"/>
          </a:xfrm>
          <a:prstGeom prst="rect">
            <a:avLst/>
          </a:prstGeom>
          <a:solidFill>
            <a:srgbClr val="E3000B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50" y="2095499"/>
            <a:ext cx="2762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3000B"/>
                </a:solidFill>
                <a:latin typeface="Aptos"/>
              </a:rPr>
              <a:t>REAL POSITIONS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850" y="2600325"/>
            <a:ext cx="276225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71717"/>
                </a:solidFill>
                <a:latin typeface="Aptos"/>
              </a:rPr>
              <a:t>Large index futures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71717"/>
                </a:solidFill>
                <a:latin typeface="Aptos"/>
              </a:rPr>
              <a:t>Real market exposure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71717"/>
                </a:solidFill>
                <a:latin typeface="Aptos"/>
              </a:rPr>
              <a:t>Real gains / losses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86250" y="1857375"/>
            <a:ext cx="3143250" cy="2143125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86250" y="1857375"/>
            <a:ext cx="3143250" cy="38100"/>
          </a:xfrm>
          <a:prstGeom prst="rect">
            <a:avLst/>
          </a:prstGeom>
          <a:solidFill>
            <a:srgbClr val="B51E2B"/>
          </a:solidFill>
          <a:ln w="12700">
            <a:solidFill>
              <a:srgbClr val="B51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76750" y="2095499"/>
            <a:ext cx="2762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51E2B"/>
                </a:solidFill>
                <a:latin typeface="Aptos"/>
              </a:rPr>
              <a:t>FALSE OFFSETTING ENTRIES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6750" y="2600325"/>
            <a:ext cx="276225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71717"/>
                </a:solidFill>
                <a:latin typeface="Aptos"/>
              </a:rPr>
              <a:t>One-sided internal futures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71717"/>
                </a:solidFill>
                <a:latin typeface="Aptos"/>
              </a:rPr>
              <a:t>Late booking of real trades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71717"/>
                </a:solidFill>
                <a:latin typeface="Aptos"/>
              </a:rPr>
              <a:t>Fictitious deferred-settlement ETFs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58150" y="1857375"/>
            <a:ext cx="3143250" cy="2143125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8150" y="1857375"/>
            <a:ext cx="3143250" cy="38100"/>
          </a:xfrm>
          <a:prstGeom prst="rect">
            <a:avLst/>
          </a:prstGeom>
          <a:solidFill>
            <a:srgbClr val="617C8A"/>
          </a:solidFill>
          <a:ln w="12700">
            <a:solidFill>
              <a:srgbClr val="617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8650" y="2095499"/>
            <a:ext cx="2762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17C8A"/>
                </a:solidFill>
                <a:latin typeface="Aptos"/>
              </a:rPr>
              <a:t>APPARENT CONTROL 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8650" y="2600325"/>
            <a:ext cx="276225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71717"/>
                </a:solidFill>
                <a:latin typeface="Aptos"/>
              </a:rPr>
              <a:t>Reported risk looked offset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71717"/>
                </a:solidFill>
                <a:latin typeface="Aptos"/>
              </a:rPr>
              <a:t>Reported P&amp;L could be smoothed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71717"/>
                </a:solidFill>
                <a:latin typeface="Aptos"/>
              </a:rPr>
              <a:t>Breaks and alerts were not escalated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76649" y="2886075"/>
            <a:ext cx="514350" cy="0"/>
          </a:xfrm>
          <a:prstGeom prst="line">
            <a:avLst/>
          </a:prstGeom>
          <a:ln w="25400">
            <a:solidFill>
              <a:srgbClr val="9898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133849" y="2828925"/>
            <a:ext cx="76201" cy="57150"/>
          </a:xfrm>
          <a:prstGeom prst="line">
            <a:avLst/>
          </a:prstGeom>
          <a:ln w="25400">
            <a:solidFill>
              <a:srgbClr val="9898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4133849" y="2886075"/>
            <a:ext cx="76201" cy="57150"/>
          </a:xfrm>
          <a:prstGeom prst="line">
            <a:avLst/>
          </a:prstGeom>
          <a:ln w="25400">
            <a:solidFill>
              <a:srgbClr val="9898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448550" y="2886075"/>
            <a:ext cx="514350" cy="0"/>
          </a:xfrm>
          <a:prstGeom prst="line">
            <a:avLst/>
          </a:prstGeom>
          <a:ln w="25400">
            <a:solidFill>
              <a:srgbClr val="9898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905750" y="2828925"/>
            <a:ext cx="76199" cy="57150"/>
          </a:xfrm>
          <a:prstGeom prst="line">
            <a:avLst/>
          </a:prstGeom>
          <a:ln w="25400">
            <a:solidFill>
              <a:srgbClr val="9898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7905750" y="2886075"/>
            <a:ext cx="76199" cy="57150"/>
          </a:xfrm>
          <a:prstGeom prst="line">
            <a:avLst/>
          </a:prstGeom>
          <a:ln w="25400">
            <a:solidFill>
              <a:srgbClr val="9898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14350" y="4476750"/>
            <a:ext cx="10687050" cy="685800"/>
          </a:xfrm>
          <a:prstGeom prst="rect">
            <a:avLst/>
          </a:prstGeom>
          <a:solidFill>
            <a:srgbClr val="FAEEEE"/>
          </a:solidFill>
          <a:ln w="12700">
            <a:solidFill>
              <a:srgbClr val="D7A7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3900" y="4629150"/>
            <a:ext cx="10287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71717"/>
                </a:solidFill>
                <a:latin typeface="Aptos"/>
              </a:rPr>
              <a:t>The “hedges” had no economic reality and no external risk position: they changed the system picture, not the underlying market exposure.</a:t>
            </a:r>
          </a:p>
        </p:txBody>
      </p:sp>
      <p:sp>
        <p:nvSpPr>
          <p:cNvPr id="32" name="Oval 31"/>
          <p:cNvSpPr/>
          <p:nvPr/>
        </p:nvSpPr>
        <p:spPr>
          <a:xfrm>
            <a:off x="10248900" y="5495925"/>
            <a:ext cx="209550" cy="209550"/>
          </a:xfrm>
          <a:prstGeom prst="ellipse">
            <a:avLst/>
          </a:prstGeom>
          <a:solidFill>
            <a:srgbClr val="C69C7A"/>
          </a:solidFill>
          <a:ln w="12700">
            <a:solidFill>
              <a:srgbClr val="C69C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39375" y="5724525"/>
            <a:ext cx="228600" cy="323850"/>
          </a:xfrm>
          <a:prstGeom prst="rect">
            <a:avLst/>
          </a:prstGeom>
          <a:solidFill>
            <a:srgbClr val="D7D6D0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H="1">
            <a:off x="10096500" y="5791200"/>
            <a:ext cx="161925" cy="114300"/>
          </a:xfrm>
          <a:prstGeom prst="line">
            <a:avLst/>
          </a:prstGeom>
          <a:ln w="50800">
            <a:solidFill>
              <a:srgbClr val="C69C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448925" y="5791200"/>
            <a:ext cx="123825" cy="114300"/>
          </a:xfrm>
          <a:prstGeom prst="line">
            <a:avLst/>
          </a:prstGeom>
          <a:ln w="50800">
            <a:solidFill>
              <a:srgbClr val="C69C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01250" y="6019800"/>
            <a:ext cx="790575" cy="0"/>
          </a:xfrm>
          <a:prstGeom prst="line">
            <a:avLst/>
          </a:prstGeom>
          <a:ln w="38100">
            <a:solidFill>
              <a:srgbClr val="8584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0220325" y="6048375"/>
            <a:ext cx="66675" cy="161925"/>
          </a:xfrm>
          <a:prstGeom prst="line">
            <a:avLst/>
          </a:prstGeom>
          <a:ln w="25400">
            <a:solidFill>
              <a:srgbClr val="8584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420350" y="6048375"/>
            <a:ext cx="66675" cy="161925"/>
          </a:xfrm>
          <a:prstGeom prst="line">
            <a:avLst/>
          </a:prstGeom>
          <a:ln w="25400">
            <a:solidFill>
              <a:srgbClr val="8584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10572750" y="5448300"/>
            <a:ext cx="552450" cy="400050"/>
          </a:xfrm>
          <a:prstGeom prst="rect">
            <a:avLst/>
          </a:prstGeom>
          <a:solidFill>
            <a:srgbClr val="F0F0EC"/>
          </a:solidFill>
          <a:ln w="12700">
            <a:solidFill>
              <a:srgbClr val="8989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0639425" y="5753100"/>
            <a:ext cx="419100" cy="0"/>
          </a:xfrm>
          <a:prstGeom prst="line">
            <a:avLst/>
          </a:prstGeom>
          <a:ln w="25400">
            <a:solidFill>
              <a:srgbClr val="E3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848975" y="5848350"/>
            <a:ext cx="0" cy="123825"/>
          </a:xfrm>
          <a:prstGeom prst="line">
            <a:avLst/>
          </a:prstGeom>
          <a:ln w="25400">
            <a:solidFill>
              <a:srgbClr val="8989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381999" y="5857875"/>
            <a:ext cx="1447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5C5C58"/>
                </a:solidFill>
                <a:latin typeface="Aptos"/>
              </a:rPr>
              <a:t>ILLUSTRATIVE</a:t>
            </a:r>
          </a:p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5C5C58"/>
                </a:solidFill>
                <a:latin typeface="Aptos"/>
              </a:rPr>
              <a:t>TRADER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E3000B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61" y="123824"/>
            <a:ext cx="1240476" cy="438150"/>
          </a:xfrm>
          <a:prstGeom prst="rect">
            <a:avLst/>
          </a:prstGeom>
        </p:spPr>
      </p:pic>
      <p:pic>
        <p:nvPicPr>
          <p:cNvPr id="5" name="Picture 4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4275" y="114375"/>
            <a:ext cx="400050" cy="4189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52624" y="247649"/>
            <a:ext cx="809624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51E2B"/>
                </a:solidFill>
                <a:latin typeface="Aptos"/>
              </a:rPr>
              <a:t>PART I · CONTROL 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742950"/>
            <a:ext cx="113538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25" b="1">
                <a:solidFill>
                  <a:srgbClr val="171717"/>
                </a:solidFill>
                <a:latin typeface="Aptos"/>
              </a:rPr>
              <a:t>The failure was a chain across supervision, systems and escalation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9100" y="1247775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9100" y="6457950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9100" y="6534150"/>
            <a:ext cx="7715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C5C58"/>
                </a:solidFill>
                <a:latin typeface="Aptos"/>
              </a:rPr>
              <a:t>Sources: [1] FINMA §§23–41; [2] FSA §§26–42.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0" y="6515100"/>
            <a:ext cx="290512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B51E2B"/>
                </a:solidFill>
                <a:latin typeface="Aptos"/>
              </a:rPr>
              <a:t>CALVIN  /  06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2925" y="1381125"/>
            <a:ext cx="2095499" cy="742950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900" y="1619250"/>
            <a:ext cx="1762125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51E2B"/>
                </a:solidFill>
                <a:latin typeface="Aptos"/>
              </a:rPr>
              <a:t>SUPERVISION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90825" y="1381125"/>
            <a:ext cx="8372475" cy="742950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09900" y="1524000"/>
            <a:ext cx="7905750" cy="4952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71717"/>
                </a:solidFill>
                <a:latin typeface="Aptos"/>
              </a:rPr>
              <a:t>Desk transfer to GSE was not matched by a clear local handover; the new supervisor was in New York.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2925" y="2409825"/>
            <a:ext cx="2095499" cy="742950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3900" y="2647950"/>
            <a:ext cx="1762125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51E2B"/>
                </a:solidFill>
                <a:latin typeface="Aptos"/>
              </a:rPr>
              <a:t>SYSTEMS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0825" y="2409825"/>
            <a:ext cx="8372475" cy="742950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09900" y="2552700"/>
            <a:ext cx="7905750" cy="4952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71717"/>
                </a:solidFill>
                <a:latin typeface="Aptos"/>
              </a:rPr>
              <a:t>Futures data / cancelled-amended-late trade alerts were incomplete or routed incorrectly.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2925" y="3438525"/>
            <a:ext cx="2095499" cy="742950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3900" y="3676649"/>
            <a:ext cx="1762125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51E2B"/>
                </a:solidFill>
                <a:latin typeface="Aptos"/>
              </a:rPr>
              <a:t>OPERATIONS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90825" y="3438525"/>
            <a:ext cx="8372475" cy="742950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09900" y="3581400"/>
            <a:ext cx="7905750" cy="4952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71717"/>
                </a:solidFill>
                <a:latin typeface="Aptos"/>
              </a:rPr>
              <a:t>Large reconciliation breaks and explanations were accepted without timely challenge or escalation.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2925" y="4467225"/>
            <a:ext cx="2095499" cy="742950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3900" y="4705350"/>
            <a:ext cx="1762125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51E2B"/>
                </a:solidFill>
                <a:latin typeface="Aptos"/>
              </a:rPr>
              <a:t>P&amp;L CONTROL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90825" y="4467225"/>
            <a:ext cx="8372475" cy="742950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09900" y="4610100"/>
            <a:ext cx="7905750" cy="4952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71717"/>
                </a:solidFill>
                <a:latin typeface="Aptos"/>
              </a:rPr>
              <a:t>Material P&amp;L adjustments and fictitious trades were processed without adequate independent scrutiny.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" y="5648325"/>
            <a:ext cx="105727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3000B"/>
                </a:solidFill>
                <a:latin typeface="Aptos"/>
              </a:rPr>
              <a:t>Regulatory conclusion: warning signs existed; control functions did not assemble them into a timely challenge.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E3000B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61" y="123824"/>
            <a:ext cx="1240476" cy="438150"/>
          </a:xfrm>
          <a:prstGeom prst="rect">
            <a:avLst/>
          </a:prstGeom>
        </p:spPr>
      </p:pic>
      <p:pic>
        <p:nvPicPr>
          <p:cNvPr id="5" name="Picture 4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4275" y="114375"/>
            <a:ext cx="400050" cy="4189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52624" y="247649"/>
            <a:ext cx="809624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51E2B"/>
                </a:solidFill>
                <a:latin typeface="Aptos"/>
              </a:rPr>
              <a:t>PART I · VERIFIED EXPOSURE FACTS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742950"/>
            <a:ext cx="113538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25" b="1">
                <a:solidFill>
                  <a:srgbClr val="171717"/>
                </a:solidFill>
                <a:latin typeface="Aptos"/>
              </a:rPr>
              <a:t>FINMA reported two large gross-notional peaks—and a USD 2.3bn loss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9100" y="1247775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9100" y="6457950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9100" y="6534150"/>
            <a:ext cx="7715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C5C58"/>
                </a:solidFill>
                <a:latin typeface="Aptos"/>
              </a:rPr>
              <a:t>Source: [1] FINMA Summary Report §11. Bars show reported gross notional peaks—not P&amp;L or net-delta risk.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0" y="6515100"/>
            <a:ext cx="290512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B51E2B"/>
                </a:solidFill>
                <a:latin typeface="Aptos"/>
              </a:rPr>
              <a:t>JULES  /  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1295400"/>
            <a:ext cx="8572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5C5C58"/>
                </a:solidFill>
                <a:latin typeface="Aptos"/>
              </a:rPr>
              <a:t>Reported futures position peaks (USD billions notional)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76375" y="4333875"/>
            <a:ext cx="714375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47749" y="4248150"/>
            <a:ext cx="33337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C5C58"/>
                </a:solidFill>
                <a:latin typeface="Aptos"/>
              </a:rPr>
              <a:t>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76375" y="3601182"/>
            <a:ext cx="714375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47749" y="3515457"/>
            <a:ext cx="33337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C5C58"/>
                </a:solidFill>
                <a:latin typeface="Aptos"/>
              </a:rPr>
              <a:t>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76375" y="2868490"/>
            <a:ext cx="714375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47749" y="2782765"/>
            <a:ext cx="33337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C5C58"/>
                </a:solidFill>
                <a:latin typeface="Aptos"/>
              </a:rPr>
              <a:t>8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476375" y="2135798"/>
            <a:ext cx="714375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47749" y="2050073"/>
            <a:ext cx="33337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C5C58"/>
                </a:solidFill>
                <a:latin typeface="Aptos"/>
              </a:rPr>
              <a:t>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81250" y="2117480"/>
            <a:ext cx="1619250" cy="2216394"/>
          </a:xfrm>
          <a:prstGeom prst="rect">
            <a:avLst/>
          </a:prstGeom>
          <a:solidFill>
            <a:srgbClr val="E3000B"/>
          </a:solidFill>
          <a:ln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81250" y="1841255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71717"/>
                </a:solidFill>
                <a:latin typeface="Aptos"/>
              </a:rPr>
              <a:t>12.1bn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1199" y="4486275"/>
            <a:ext cx="242887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71717"/>
                </a:solidFill>
                <a:latin typeface="Aptos"/>
              </a:rPr>
              <a:t>LONG · EURO STOXX 50 / S&amp;P 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81199" y="4829175"/>
            <a:ext cx="242887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5C5C58"/>
                </a:solidFill>
                <a:latin typeface="Aptos"/>
              </a:rPr>
              <a:t>08 AUG 2011 · PEAK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0250" y="2776903"/>
            <a:ext cx="1619250" cy="1556971"/>
          </a:xfrm>
          <a:prstGeom prst="rect">
            <a:avLst/>
          </a:prstGeom>
          <a:solidFill>
            <a:srgbClr val="B51E2B"/>
          </a:solidFill>
          <a:ln>
            <a:solidFill>
              <a:srgbClr val="B51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10250" y="2500678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71717"/>
                </a:solidFill>
                <a:latin typeface="Aptos"/>
              </a:rPr>
              <a:t>8.5bn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0200" y="4486275"/>
            <a:ext cx="242887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71717"/>
                </a:solidFill>
                <a:latin typeface="Aptos"/>
              </a:rPr>
              <a:t>SHORT · S&amp;P 500 / DAX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10200" y="4829175"/>
            <a:ext cx="242887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5C5C58"/>
                </a:solidFill>
                <a:latin typeface="Aptos"/>
              </a:rPr>
              <a:t>15 SEP 2011 · PEAK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6750" y="5076825"/>
            <a:ext cx="790575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71717"/>
                </a:solidFill>
                <a:latin typeface="Aptos"/>
              </a:rPr>
              <a:t>USD 2.1bn of the final loss arose from the long positions; the short positions were closed after discovery.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72575" y="1885950"/>
            <a:ext cx="2324100" cy="2857500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2133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51E2B"/>
                </a:solidFill>
                <a:latin typeface="Aptos"/>
              </a:rPr>
              <a:t>FINAL REPORTED LOSS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2533650"/>
            <a:ext cx="2000250" cy="552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171717"/>
                </a:solidFill>
                <a:latin typeface="Aptos"/>
              </a:rPr>
              <a:t>USD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171717"/>
                </a:solidFill>
                <a:latin typeface="Aptos"/>
              </a:rPr>
              <a:t>2.3bn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600" y="3457575"/>
            <a:ext cx="1924049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C5C58"/>
                </a:solidFill>
                <a:latin typeface="Aptos"/>
              </a:rPr>
              <a:t>Gross notional is not the same measure as P&amp;L, net delta or liquidity need.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E3000B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61" y="123824"/>
            <a:ext cx="1240476" cy="438150"/>
          </a:xfrm>
          <a:prstGeom prst="rect">
            <a:avLst/>
          </a:prstGeom>
        </p:spPr>
      </p:pic>
      <p:pic>
        <p:nvPicPr>
          <p:cNvPr id="5" name="Picture 4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4275" y="114375"/>
            <a:ext cx="400050" cy="4189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52624" y="247649"/>
            <a:ext cx="809624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51E2B"/>
                </a:solidFill>
                <a:latin typeface="Aptos"/>
              </a:rPr>
              <a:t>PART II · TRANSMISSION INTO CASH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742950"/>
            <a:ext cx="113538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25" b="1">
                <a:solidFill>
                  <a:srgbClr val="171717"/>
                </a:solidFill>
                <a:latin typeface="Aptos"/>
              </a:rPr>
              <a:t>A trading loss can transmit to cash—but not dollar for dollar on day one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9100" y="1247775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9100" y="6457950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9100" y="6534150"/>
            <a:ext cx="7715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C5C58"/>
                </a:solidFill>
                <a:latin typeface="Aptos"/>
              </a:rPr>
              <a:t>Sources: [1] FINMA position close-out; [3] UBS states risk was covered. Potential cash channels are scenarios unless verified.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0" y="6515100"/>
            <a:ext cx="290512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B51E2B"/>
                </a:solidFill>
                <a:latin typeface="Aptos"/>
              </a:rPr>
              <a:t>JULES  /  08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299" y="1724025"/>
            <a:ext cx="3476625" cy="2457450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299" y="1724025"/>
            <a:ext cx="3476625" cy="47625"/>
          </a:xfrm>
          <a:prstGeom prst="rect">
            <a:avLst/>
          </a:prstGeom>
          <a:solidFill>
            <a:srgbClr val="E3000B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943100"/>
            <a:ext cx="3095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E3000B"/>
                </a:solidFill>
                <a:latin typeface="Aptos"/>
              </a:rPr>
              <a:t>1  PERMANENT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447925"/>
            <a:ext cx="3095625" cy="1133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71717"/>
                </a:solidFill>
                <a:latin typeface="Aptos"/>
              </a:rPr>
              <a:t>Realised trading loss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71717"/>
                </a:solidFill>
                <a:latin typeface="Aptos"/>
              </a:rPr>
              <a:t>Investigation / remediation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71717"/>
                </a:solidFill>
                <a:latin typeface="Aptos"/>
              </a:rPr>
              <a:t>Reported USD 2.3bn total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676649"/>
            <a:ext cx="3095625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829050"/>
            <a:ext cx="309562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C5C58"/>
                </a:solidFill>
                <a:latin typeface="Aptos"/>
              </a:rPr>
              <a:t>ECONOMIC LOSS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76725" y="1724025"/>
            <a:ext cx="3476625" cy="2457450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76725" y="1724025"/>
            <a:ext cx="3476625" cy="47625"/>
          </a:xfrm>
          <a:prstGeom prst="rect">
            <a:avLst/>
          </a:prstGeom>
          <a:solidFill>
            <a:srgbClr val="B51E2B"/>
          </a:solidFill>
          <a:ln w="12700">
            <a:solidFill>
              <a:srgbClr val="B51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7225" y="1943100"/>
            <a:ext cx="3095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B51E2B"/>
                </a:solidFill>
                <a:latin typeface="Aptos"/>
              </a:rPr>
              <a:t>2  TEMPORARY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7225" y="2447925"/>
            <a:ext cx="3095625" cy="1133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71717"/>
                </a:solidFill>
                <a:latin typeface="Aptos"/>
              </a:rPr>
              <a:t>Settlement timing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71717"/>
                </a:solidFill>
                <a:latin typeface="Aptos"/>
              </a:rPr>
              <a:t>Collateral posted then returned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71717"/>
                </a:solidFill>
                <a:latin typeface="Aptos"/>
              </a:rPr>
              <a:t>Funding cash tied up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467225" y="3676649"/>
            <a:ext cx="3095625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467225" y="3829050"/>
            <a:ext cx="309562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C5C58"/>
                </a:solidFill>
                <a:latin typeface="Aptos"/>
              </a:rPr>
              <a:t>CASH TIMING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58150" y="1724025"/>
            <a:ext cx="3476625" cy="2457450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58150" y="1724025"/>
            <a:ext cx="3476625" cy="47625"/>
          </a:xfrm>
          <a:prstGeom prst="rect">
            <a:avLst/>
          </a:prstGeom>
          <a:solidFill>
            <a:srgbClr val="617C8A"/>
          </a:solidFill>
          <a:ln w="12700">
            <a:solidFill>
              <a:srgbClr val="617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48650" y="1943100"/>
            <a:ext cx="3095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617C8A"/>
                </a:solidFill>
                <a:latin typeface="Aptos"/>
              </a:rPr>
              <a:t>3  CONTINGENT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8650" y="2447925"/>
            <a:ext cx="3095625" cy="1133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71717"/>
                </a:solidFill>
                <a:latin typeface="Aptos"/>
              </a:rPr>
              <a:t>Withdrawal / confidence pressure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71717"/>
                </a:solidFill>
                <a:latin typeface="Aptos"/>
              </a:rPr>
              <a:t>Funding rollover repricing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71717"/>
                </a:solidFill>
                <a:latin typeface="Aptos"/>
              </a:rPr>
              <a:t>Counterparty terms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248650" y="3676649"/>
            <a:ext cx="3095625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248650" y="3829050"/>
            <a:ext cx="309562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C5C58"/>
                </a:solidFill>
                <a:latin typeface="Aptos"/>
              </a:rPr>
              <a:t>STRESS SCENARIO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" y="4838700"/>
            <a:ext cx="10668000" cy="581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71717"/>
                </a:solidFill>
                <a:latin typeface="Aptos"/>
              </a:rPr>
              <a:t>Treasury implication: model the timing and recoverability of each cash item. Do not deduct the USD 2.3bn headline again if the same close-out settlement is already included.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E3000B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61" y="123824"/>
            <a:ext cx="1240476" cy="438150"/>
          </a:xfrm>
          <a:prstGeom prst="rect">
            <a:avLst/>
          </a:prstGeom>
        </p:spPr>
      </p:pic>
      <p:pic>
        <p:nvPicPr>
          <p:cNvPr id="5" name="Picture 4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4275" y="114375"/>
            <a:ext cx="400050" cy="4189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52624" y="247649"/>
            <a:ext cx="809624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51E2B"/>
                </a:solidFill>
                <a:latin typeface="Aptos"/>
              </a:rPr>
              <a:t>PART III · QUANTITATIVE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742950"/>
            <a:ext cx="113538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25" b="1">
                <a:solidFill>
                  <a:srgbClr val="171717"/>
                </a:solidFill>
                <a:latin typeface="Aptos"/>
              </a:rPr>
              <a:t>Build a 13-week cash view from accessible—not total—cash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9100" y="1247775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9100" y="6457950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9100" y="6534150"/>
            <a:ext cx="7715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C5C58"/>
                </a:solidFill>
                <a:latin typeface="Aptos"/>
              </a:rPr>
              <a:t>Model design; actual UBS daily cash ledger and entity-level liquidity inputs are not public in the sources reviewed.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0" y="6515100"/>
            <a:ext cx="290512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B51E2B"/>
                </a:solidFill>
                <a:latin typeface="Aptos"/>
              </a:rPr>
              <a:t>ELIAS  /  09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2450" y="1333500"/>
            <a:ext cx="11049000" cy="1028700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0575" y="1533525"/>
            <a:ext cx="10572750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B51E2B"/>
                </a:solidFill>
                <a:latin typeface="Aptos"/>
              </a:rPr>
              <a:t>CLOSING CASH  =  OPENING ACCESSIBLE CASH  +  RECEIPTS  −  PAYMENTS  +  CONFIRMED FUNDING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575" y="1952624"/>
            <a:ext cx="10572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71717"/>
                </a:solidFill>
                <a:latin typeface="Aptos"/>
              </a:rPr>
              <a:t>Funding gap = max(0, minimum buffer − pre-funding cash)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4350" y="2867025"/>
            <a:ext cx="2038349" cy="1428750"/>
          </a:xfrm>
          <a:prstGeom prst="rect">
            <a:avLst/>
          </a:prstGeom>
          <a:solidFill>
            <a:srgbClr val="F2F1ED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700" y="3057525"/>
            <a:ext cx="17621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OPENING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3419475"/>
            <a:ext cx="1762125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71717"/>
                </a:solidFill>
                <a:latin typeface="Aptos"/>
              </a:rPr>
              <a:t>Accessible cash by entity / currency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71775" y="2867025"/>
            <a:ext cx="2038349" cy="1428750"/>
          </a:xfrm>
          <a:prstGeom prst="rect">
            <a:avLst/>
          </a:prstGeom>
          <a:solidFill>
            <a:srgbClr val="F2F1ED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05125" y="3057525"/>
            <a:ext cx="17621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BASELINE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5125" y="3419475"/>
            <a:ext cx="1762125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71717"/>
                </a:solidFill>
                <a:latin typeface="Aptos"/>
              </a:rPr>
              <a:t>Receipts, contractual payments, maturities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0" y="2867025"/>
            <a:ext cx="2038349" cy="1428750"/>
          </a:xfrm>
          <a:prstGeom prst="rect">
            <a:avLst/>
          </a:prstGeom>
          <a:solidFill>
            <a:srgbClr val="F2F1ED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62550" y="3057525"/>
            <a:ext cx="17621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INCIDENT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2550" y="3419475"/>
            <a:ext cx="1762125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71717"/>
                </a:solidFill>
                <a:latin typeface="Aptos"/>
              </a:rPr>
              <a:t>Trade settlements, collateral posted / returned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86625" y="2867025"/>
            <a:ext cx="2038349" cy="1428750"/>
          </a:xfrm>
          <a:prstGeom prst="rect">
            <a:avLst/>
          </a:prstGeom>
          <a:solidFill>
            <a:srgbClr val="F2F1ED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19975" y="3057525"/>
            <a:ext cx="17621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BUFFER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19975" y="3419475"/>
            <a:ext cx="1762125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71717"/>
                </a:solidFill>
                <a:latin typeface="Aptos"/>
              </a:rPr>
              <a:t>Minimum liquidity buffer and policy rationale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44050" y="2867025"/>
            <a:ext cx="2038349" cy="1428750"/>
          </a:xfrm>
          <a:prstGeom prst="rect">
            <a:avLst/>
          </a:prstGeom>
          <a:solidFill>
            <a:srgbClr val="F2F1ED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7400" y="3057525"/>
            <a:ext cx="17621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FUNDING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7400" y="3419475"/>
            <a:ext cx="1762125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71717"/>
                </a:solidFill>
                <a:latin typeface="Aptos"/>
              </a:rPr>
              <a:t>Confirmed source, amount, timing, conditions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2450" y="4791075"/>
            <a:ext cx="10858500" cy="504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717"/>
                </a:solidFill>
                <a:latin typeface="Aptos"/>
              </a:rPr>
              <a:t>Perimeter discipline: cash trapped in another legal entity, currency or settlement window is not immediately available headroom.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2450" y="5543550"/>
            <a:ext cx="1771650" cy="228600"/>
          </a:xfrm>
          <a:prstGeom prst="rect">
            <a:avLst/>
          </a:prstGeom>
          <a:solidFill>
            <a:srgbClr val="F2F1ED"/>
          </a:solidFill>
          <a:ln w="12700">
            <a:solidFill>
              <a:srgbClr val="4C82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8650" y="5572125"/>
            <a:ext cx="1619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C826C"/>
                </a:solidFill>
                <a:latin typeface="Aptos"/>
              </a:rPr>
              <a:t>PUBLISHED FACTS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57450" y="5543550"/>
            <a:ext cx="1695450" cy="228600"/>
          </a:xfrm>
          <a:prstGeom prst="rect">
            <a:avLst/>
          </a:prstGeom>
          <a:solidFill>
            <a:srgbClr val="F2F1ED"/>
          </a:solidFill>
          <a:ln w="12700">
            <a:solidFill>
              <a:srgbClr val="617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33650" y="5572125"/>
            <a:ext cx="15430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17C8A"/>
                </a:solidFill>
                <a:latin typeface="Aptos"/>
              </a:rPr>
              <a:t>DERIVED CALCULATIONS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86250" y="5543550"/>
            <a:ext cx="1676400" cy="228600"/>
          </a:xfrm>
          <a:prstGeom prst="rect">
            <a:avLst/>
          </a:prstGeom>
          <a:solidFill>
            <a:srgbClr val="F2F1ED"/>
          </a:solidFill>
          <a:ln w="12700">
            <a:solidFill>
              <a:srgbClr val="B51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62450" y="5572125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51E2B"/>
                </a:solidFill>
                <a:latin typeface="Aptos"/>
              </a:rPr>
              <a:t>MODEL ASSUMPTIONS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E3000B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61" y="123824"/>
            <a:ext cx="1240476" cy="438150"/>
          </a:xfrm>
          <a:prstGeom prst="rect">
            <a:avLst/>
          </a:prstGeom>
        </p:spPr>
      </p:pic>
      <p:pic>
        <p:nvPicPr>
          <p:cNvPr id="5" name="Picture 4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4275" y="114375"/>
            <a:ext cx="400050" cy="4189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52624" y="247649"/>
            <a:ext cx="809624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51E2B"/>
                </a:solidFill>
                <a:latin typeface="Aptos"/>
              </a:rPr>
              <a:t>PART III · CASH BRIDGE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742950"/>
            <a:ext cx="113538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25" b="1">
                <a:solidFill>
                  <a:srgbClr val="171717"/>
                </a:solidFill>
                <a:latin typeface="Aptos"/>
              </a:rPr>
              <a:t>Use the cash bridge; UBS’s daily funding gap is not public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9100" y="1247775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9100" y="6457950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9100" y="6534150"/>
            <a:ext cx="7715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C5C58"/>
                </a:solidFill>
                <a:latin typeface="Aptos"/>
              </a:rPr>
              <a:t>Evidence note: public reports establish the loss and close-out, not the Treasury’s daily accessible-cash ledger.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0" y="6515100"/>
            <a:ext cx="290512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B51E2B"/>
                </a:solidFill>
                <a:latin typeface="Aptos"/>
              </a:rPr>
              <a:t>ELIAS  / 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1409700"/>
            <a:ext cx="3333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MODEL 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750" y="1409700"/>
            <a:ext cx="4238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WHAT TO 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0" y="1409700"/>
            <a:ext cx="285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CONTROL AGAINST DOUBLE COUNT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52450" y="2333625"/>
            <a:ext cx="1095375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2450" y="1743075"/>
            <a:ext cx="3333750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71717"/>
                </a:solidFill>
                <a:latin typeface="Aptos"/>
              </a:rPr>
              <a:t>Opening accessible liquidity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95750" y="1743075"/>
            <a:ext cx="41909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C5C58"/>
                </a:solidFill>
                <a:latin typeface="Aptos"/>
              </a:rPr>
              <a:t>Cash by entity, currency and 14 Sep cut-off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0" y="1743075"/>
            <a:ext cx="28575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71717"/>
                </a:solidFill>
                <a:latin typeface="Aptos"/>
              </a:rPr>
              <a:t>Do not use consolidated cash as a proxy.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2450" y="3048000"/>
            <a:ext cx="1095375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52450" y="2457450"/>
            <a:ext cx="3333750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71717"/>
                </a:solidFill>
                <a:latin typeface="Aptos"/>
              </a:rPr>
              <a:t>Scheduled receipts / payments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95750" y="2457450"/>
            <a:ext cx="41909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C5C58"/>
                </a:solidFill>
                <a:latin typeface="Aptos"/>
              </a:rPr>
              <a:t>Settlement calendar, maturities, operating obligations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72500" y="2457450"/>
            <a:ext cx="28575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71717"/>
                </a:solidFill>
                <a:latin typeface="Aptos"/>
              </a:rPr>
              <a:t>Carry forward prior-period closing cash.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52450" y="3762374"/>
            <a:ext cx="1095375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52450" y="3171825"/>
            <a:ext cx="3333750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71717"/>
                </a:solidFill>
                <a:latin typeface="Aptos"/>
              </a:rPr>
              <a:t>Incident settlement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95750" y="3171825"/>
            <a:ext cx="41909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C5C58"/>
                </a:solidFill>
                <a:latin typeface="Aptos"/>
              </a:rPr>
              <a:t>Trade-level close-out and settlement cash dates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0" y="3171825"/>
            <a:ext cx="28575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71717"/>
                </a:solidFill>
                <a:latin typeface="Aptos"/>
              </a:rPr>
              <a:t>Do not subtract the headline loss twice.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52450" y="4476750"/>
            <a:ext cx="1095375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52450" y="3886200"/>
            <a:ext cx="3333750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71717"/>
                </a:solidFill>
                <a:latin typeface="Aptos"/>
              </a:rPr>
              <a:t>Collateral movements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95750" y="3886200"/>
            <a:ext cx="41909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C5C58"/>
                </a:solidFill>
                <a:latin typeface="Aptos"/>
              </a:rPr>
              <a:t>Calls, releases, haircut and return dates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72500" y="3886200"/>
            <a:ext cx="28575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71717"/>
                </a:solidFill>
                <a:latin typeface="Aptos"/>
              </a:rPr>
              <a:t>Separate posted cash from recoverable collateral.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52450" y="5191125"/>
            <a:ext cx="1095375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52450" y="4600575"/>
            <a:ext cx="3333750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71717"/>
                </a:solidFill>
                <a:latin typeface="Aptos"/>
              </a:rPr>
              <a:t>Funding and buffer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95750" y="4600575"/>
            <a:ext cx="41909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C5C58"/>
                </a:solidFill>
                <a:latin typeface="Aptos"/>
              </a:rPr>
              <a:t>Committed sources, execution time, policy minimum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72500" y="4600575"/>
            <a:ext cx="28575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71717"/>
                </a:solidFill>
                <a:latin typeface="Aptos"/>
              </a:rPr>
              <a:t>Count only sources accessible before the breach.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1500" y="5572125"/>
            <a:ext cx="1095375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51E2B"/>
                </a:solidFill>
                <a:latin typeface="Aptos"/>
              </a:rPr>
              <a:t>Deliverable from the model: lowest cash, first buffer-breach date, peak funding gap, and whether funding can arrive in time.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E3000B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61" y="123824"/>
            <a:ext cx="1240476" cy="438150"/>
          </a:xfrm>
          <a:prstGeom prst="rect">
            <a:avLst/>
          </a:prstGeom>
        </p:spPr>
      </p:pic>
      <p:pic>
        <p:nvPicPr>
          <p:cNvPr id="5" name="Picture 4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4275" y="114375"/>
            <a:ext cx="400050" cy="4189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52624" y="247649"/>
            <a:ext cx="809624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51E2B"/>
                </a:solidFill>
                <a:latin typeface="Aptos"/>
              </a:rPr>
              <a:t>PART III · STRESS SCENARIOS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742950"/>
            <a:ext cx="113538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25" b="1">
                <a:solidFill>
                  <a:srgbClr val="171717"/>
                </a:solidFill>
                <a:latin typeface="Aptos"/>
              </a:rPr>
              <a:t>Stress timing and access—not just the size of the loss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9100" y="1247775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9100" y="6457950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9100" y="6534150"/>
            <a:ext cx="7715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C5C58"/>
                </a:solidFill>
                <a:latin typeface="Aptos"/>
              </a:rPr>
              <a:t>Stress cases are analytical assumptions; calibrate with Treasury data before presenting numeric outputs.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0" y="6515100"/>
            <a:ext cx="290512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B51E2B"/>
                </a:solidFill>
                <a:latin typeface="Aptos"/>
              </a:rPr>
              <a:t>ELIAS  / 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1390650"/>
            <a:ext cx="1524000" cy="628650"/>
          </a:xfrm>
          <a:prstGeom prst="rect">
            <a:avLst/>
          </a:prstGeom>
          <a:solidFill>
            <a:srgbClr val="F2F1ED"/>
          </a:solidFill>
          <a:ln w="12700">
            <a:solidFill>
              <a:srgbClr val="4C82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900" y="1600200"/>
            <a:ext cx="1238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C826C"/>
                </a:solidFill>
                <a:latin typeface="Aptos"/>
              </a:rPr>
              <a:t>BASE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76475" y="1390650"/>
            <a:ext cx="8858250" cy="628650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76500" y="1533525"/>
            <a:ext cx="8429625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171717"/>
                </a:solidFill>
                <a:latin typeface="Aptos"/>
              </a:rPr>
              <a:t>Normal settlement timing; collateral returned as scheduled; funding rolls as contracted.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" y="2266950"/>
            <a:ext cx="1524000" cy="628650"/>
          </a:xfrm>
          <a:prstGeom prst="rect">
            <a:avLst/>
          </a:prstGeom>
          <a:solidFill>
            <a:srgbClr val="F2F1ED"/>
          </a:solidFill>
          <a:ln w="12700">
            <a:solidFill>
              <a:srgbClr val="B51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3900" y="2476500"/>
            <a:ext cx="1238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51E2B"/>
                </a:solidFill>
                <a:latin typeface="Aptos"/>
              </a:rPr>
              <a:t>SETTLEMENT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76475" y="2266950"/>
            <a:ext cx="8858250" cy="628650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6500" y="2409825"/>
            <a:ext cx="8429625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171717"/>
                </a:solidFill>
                <a:latin typeface="Aptos"/>
              </a:rPr>
              <a:t>Close-out cash need arrives earlier or is larger than the base schedule.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500" y="3143250"/>
            <a:ext cx="1524000" cy="628650"/>
          </a:xfrm>
          <a:prstGeom prst="rect">
            <a:avLst/>
          </a:prstGeom>
          <a:solidFill>
            <a:srgbClr val="F2F1ED"/>
          </a:solidFill>
          <a:ln w="12700">
            <a:solidFill>
              <a:srgbClr val="B51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3900" y="3352800"/>
            <a:ext cx="1238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51E2B"/>
                </a:solidFill>
                <a:latin typeface="Aptos"/>
              </a:rPr>
              <a:t>COLLATERAL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475" y="3143250"/>
            <a:ext cx="8858250" cy="628650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76500" y="3286125"/>
            <a:ext cx="8429625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171717"/>
                </a:solidFill>
                <a:latin typeface="Aptos"/>
              </a:rPr>
              <a:t>Return of posted collateral is delayed; haircut or dispute reduces near-term availability.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1500" y="4019549"/>
            <a:ext cx="1524000" cy="628650"/>
          </a:xfrm>
          <a:prstGeom prst="rect">
            <a:avLst/>
          </a:prstGeom>
          <a:solidFill>
            <a:srgbClr val="F2F1ED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3900" y="4229100"/>
            <a:ext cx="1238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3000B"/>
                </a:solidFill>
                <a:latin typeface="Aptos"/>
              </a:rPr>
              <a:t>CONFIDENCE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76475" y="4019549"/>
            <a:ext cx="8858250" cy="628650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76500" y="4162424"/>
            <a:ext cx="8429625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171717"/>
                </a:solidFill>
                <a:latin typeface="Aptos"/>
              </a:rPr>
              <a:t>Partial funding non-renewal plus faster client cash outflows.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1500" y="5143500"/>
            <a:ext cx="10563225" cy="685800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1050" y="5267325"/>
            <a:ext cx="10144125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51E2B"/>
                </a:solidFill>
                <a:latin typeface="Aptos"/>
              </a:rPr>
              <a:t>REPORT THE SAME FOUR OUTPUTS IN EVERY CASE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050" y="5495925"/>
            <a:ext cx="10144125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717"/>
                </a:solidFill>
                <a:latin typeface="Aptos"/>
              </a:rPr>
              <a:t>Minimum cash  ·  Buffer breach date  ·  Peak funding gap  ·  Funding lead-time shortfall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E3000B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61" y="123824"/>
            <a:ext cx="1240476" cy="438150"/>
          </a:xfrm>
          <a:prstGeom prst="rect">
            <a:avLst/>
          </a:prstGeom>
        </p:spPr>
      </p:pic>
      <p:pic>
        <p:nvPicPr>
          <p:cNvPr id="5" name="Picture 4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4275" y="114375"/>
            <a:ext cx="400050" cy="4189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52624" y="247649"/>
            <a:ext cx="809624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51E2B"/>
                </a:solidFill>
                <a:latin typeface="Aptos"/>
              </a:rPr>
              <a:t>PART IV · RISK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742950"/>
            <a:ext cx="113538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25" b="1">
                <a:solidFill>
                  <a:srgbClr val="171717"/>
                </a:solidFill>
                <a:latin typeface="Aptos"/>
              </a:rPr>
              <a:t>Prioritise the residual risks that could breach the buffer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9100" y="1247775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9100" y="6457950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9100" y="6534150"/>
            <a:ext cx="7715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C5C58"/>
                </a:solidFill>
                <a:latin typeface="Aptos"/>
              </a:rPr>
              <a:t>Illustrative management scoring (1–3), not UBS or regulator ratings; recalibrate with the cash model and post-close-out facts.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0" y="6515100"/>
            <a:ext cx="290512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B51E2B"/>
                </a:solidFill>
                <a:latin typeface="Aptos"/>
              </a:rPr>
              <a:t>PAUL ALAIN  / 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8750" y="1495425"/>
            <a:ext cx="37719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5C5C58"/>
                </a:solidFill>
                <a:latin typeface="Aptos"/>
              </a:rPr>
              <a:t>LIKELIHOOD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750" y="1857375"/>
            <a:ext cx="1219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171717"/>
                </a:solidFill>
                <a:latin typeface="Aptos"/>
              </a:rPr>
              <a:t>UNLIKELY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6050" y="1857375"/>
            <a:ext cx="1219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171717"/>
                </a:solidFill>
                <a:latin typeface="Aptos"/>
              </a:rPr>
              <a:t>POSSIBLE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3350" y="1857375"/>
            <a:ext cx="1219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171717"/>
                </a:solidFill>
                <a:latin typeface="Aptos"/>
              </a:rPr>
              <a:t>LIKELY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" y="2457450"/>
            <a:ext cx="6477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171717"/>
                </a:solidFill>
                <a:latin typeface="Aptos"/>
              </a:rPr>
              <a:t>HIGH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750" y="3371850"/>
            <a:ext cx="6477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171717"/>
                </a:solidFill>
                <a:latin typeface="Aptos"/>
              </a:rPr>
              <a:t>MEDIUM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4286250"/>
            <a:ext cx="6477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171717"/>
                </a:solidFill>
                <a:latin typeface="Aptos"/>
              </a:rPr>
              <a:t>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28750" y="2095499"/>
            <a:ext cx="1209675" cy="866775"/>
          </a:xfrm>
          <a:prstGeom prst="rect">
            <a:avLst/>
          </a:prstGeom>
          <a:solidFill>
            <a:srgbClr val="FFFFFF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04950" y="2219325"/>
            <a:ext cx="1047749" cy="676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3000B"/>
                </a:solidFill>
                <a:latin typeface="Aptos"/>
              </a:rPr>
              <a:t>LOW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86050" y="2095499"/>
            <a:ext cx="1209675" cy="866775"/>
          </a:xfrm>
          <a:prstGeom prst="rect">
            <a:avLst/>
          </a:prstGeom>
          <a:solidFill>
            <a:srgbClr val="FFFFFF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2250" y="2219325"/>
            <a:ext cx="1047749" cy="676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3000B"/>
                </a:solidFill>
                <a:latin typeface="Aptos"/>
              </a:rPr>
              <a:t>LOW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43350" y="2095499"/>
            <a:ext cx="1209675" cy="866775"/>
          </a:xfrm>
          <a:prstGeom prst="rect">
            <a:avLst/>
          </a:prstGeom>
          <a:solidFill>
            <a:srgbClr val="FFFFFF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19549" y="2219325"/>
            <a:ext cx="1047749" cy="676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3000B"/>
                </a:solidFill>
                <a:latin typeface="Aptos"/>
              </a:rPr>
              <a:t>LOW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28750" y="3009900"/>
            <a:ext cx="1209675" cy="866775"/>
          </a:xfrm>
          <a:prstGeom prst="rect">
            <a:avLst/>
          </a:prstGeom>
          <a:solidFill>
            <a:srgbClr val="FFFFFF"/>
          </a:solidFill>
          <a:ln w="12700">
            <a:solidFill>
              <a:srgbClr val="AD7F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04950" y="3133725"/>
            <a:ext cx="1047749" cy="676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AD7F28"/>
                </a:solidFill>
                <a:latin typeface="Aptos"/>
              </a:rPr>
              <a:t>MED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86050" y="3009900"/>
            <a:ext cx="1209675" cy="866775"/>
          </a:xfrm>
          <a:prstGeom prst="rect">
            <a:avLst/>
          </a:prstGeom>
          <a:solidFill>
            <a:srgbClr val="FFFFFF"/>
          </a:solidFill>
          <a:ln w="12700">
            <a:solidFill>
              <a:srgbClr val="AD7F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62250" y="3133725"/>
            <a:ext cx="1047749" cy="676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AD7F28"/>
                </a:solidFill>
                <a:latin typeface="Aptos"/>
              </a:rPr>
              <a:t>MED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43350" y="3009900"/>
            <a:ext cx="1209675" cy="866775"/>
          </a:xfrm>
          <a:prstGeom prst="rect">
            <a:avLst/>
          </a:prstGeom>
          <a:solidFill>
            <a:srgbClr val="FFFFFF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19549" y="3133725"/>
            <a:ext cx="1047749" cy="676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3000B"/>
                </a:solidFill>
                <a:latin typeface="Aptos"/>
              </a:rPr>
              <a:t>MED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28750" y="3924300"/>
            <a:ext cx="1209675" cy="866775"/>
          </a:xfrm>
          <a:prstGeom prst="rect">
            <a:avLst/>
          </a:prstGeom>
          <a:solidFill>
            <a:srgbClr val="FFFFFF"/>
          </a:solidFill>
          <a:ln w="12700">
            <a:solidFill>
              <a:srgbClr val="4C82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504950" y="4048124"/>
            <a:ext cx="1047749" cy="676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4C826C"/>
                </a:solidFill>
                <a:latin typeface="Aptos"/>
              </a:rPr>
              <a:t>HIGH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86050" y="3924300"/>
            <a:ext cx="1209675" cy="866775"/>
          </a:xfrm>
          <a:prstGeom prst="rect">
            <a:avLst/>
          </a:prstGeom>
          <a:solidFill>
            <a:srgbClr val="FFFFFF"/>
          </a:solidFill>
          <a:ln w="12700">
            <a:solidFill>
              <a:srgbClr val="AD7F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62250" y="4048124"/>
            <a:ext cx="1047749" cy="676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AD7F28"/>
                </a:solidFill>
                <a:latin typeface="Aptos"/>
              </a:rPr>
              <a:t>HIGH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943350" y="3924300"/>
            <a:ext cx="1209675" cy="866775"/>
          </a:xfrm>
          <a:prstGeom prst="rect">
            <a:avLst/>
          </a:prstGeom>
          <a:solidFill>
            <a:srgbClr val="FFFFFF"/>
          </a:solidFill>
          <a:ln w="12700">
            <a:solidFill>
              <a:srgbClr val="AD7F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19549" y="4048124"/>
            <a:ext cx="1047749" cy="676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AD7F28"/>
                </a:solidFill>
                <a:latin typeface="Aptos"/>
              </a:rPr>
              <a:t>HIGH</a:t>
            </a:r>
          </a:p>
        </p:txBody>
      </p:sp>
      <p:sp>
        <p:nvSpPr>
          <p:cNvPr id="37" name="Oval 36"/>
          <p:cNvSpPr/>
          <p:nvPr/>
        </p:nvSpPr>
        <p:spPr>
          <a:xfrm>
            <a:off x="2790825" y="2238375"/>
            <a:ext cx="247649" cy="247649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28925" y="2286000"/>
            <a:ext cx="1714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39" name="Oval 38"/>
          <p:cNvSpPr/>
          <p:nvPr/>
        </p:nvSpPr>
        <p:spPr>
          <a:xfrm>
            <a:off x="3019425" y="2495550"/>
            <a:ext cx="247649" cy="247649"/>
          </a:xfrm>
          <a:prstGeom prst="ellipse">
            <a:avLst/>
          </a:prstGeom>
          <a:solidFill>
            <a:srgbClr val="B51E2B"/>
          </a:solidFill>
          <a:ln w="12700">
            <a:solidFill>
              <a:srgbClr val="B51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057525" y="2543175"/>
            <a:ext cx="1714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41" name="Oval 40"/>
          <p:cNvSpPr/>
          <p:nvPr/>
        </p:nvSpPr>
        <p:spPr>
          <a:xfrm>
            <a:off x="4010025" y="3124200"/>
            <a:ext cx="247649" cy="247649"/>
          </a:xfrm>
          <a:prstGeom prst="ellipse">
            <a:avLst/>
          </a:prstGeom>
          <a:solidFill>
            <a:srgbClr val="617C8A"/>
          </a:solidFill>
          <a:ln w="12700">
            <a:solidFill>
              <a:srgbClr val="617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048124" y="3171825"/>
            <a:ext cx="1714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19750" y="2247900"/>
            <a:ext cx="6191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3000B"/>
                </a:solidFill>
                <a:latin typeface="Aptos"/>
              </a:rPr>
              <a:t>P1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7925" y="2247900"/>
            <a:ext cx="5048250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71717"/>
                </a:solidFill>
                <a:latin typeface="Aptos"/>
              </a:rPr>
              <a:t>Residual hidden / unreconciled positions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57925" y="2543175"/>
            <a:ext cx="5048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C5C58"/>
                </a:solidFill>
                <a:latin typeface="Aptos"/>
              </a:rPr>
              <a:t>High impact · possible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19750" y="3143250"/>
            <a:ext cx="6191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51E2B"/>
                </a:solidFill>
                <a:latin typeface="Aptos"/>
              </a:rPr>
              <a:t>P2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57925" y="3143250"/>
            <a:ext cx="5048250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71717"/>
                </a:solidFill>
                <a:latin typeface="Aptos"/>
              </a:rPr>
              <a:t>Settlement or collateral shortfall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57925" y="3438525"/>
            <a:ext cx="5048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C5C58"/>
                </a:solidFill>
                <a:latin typeface="Aptos"/>
              </a:rPr>
              <a:t>High impact · possible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19750" y="4038600"/>
            <a:ext cx="6191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17C8A"/>
                </a:solidFill>
                <a:latin typeface="Aptos"/>
              </a:rPr>
              <a:t>P3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57925" y="4038600"/>
            <a:ext cx="5048250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71717"/>
                </a:solidFill>
                <a:latin typeface="Aptos"/>
              </a:rPr>
              <a:t>Funding rollover / confidence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57925" y="4333875"/>
            <a:ext cx="5048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C5C58"/>
                </a:solidFill>
                <a:latin typeface="Aptos"/>
              </a:rPr>
              <a:t>Medium impact · likely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500" y="5353050"/>
            <a:ext cx="10477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C5C58"/>
                </a:solidFill>
                <a:latin typeface="Aptos"/>
              </a:rPr>
              <a:t>Scoring basis: likelihood over the 3-month horizon × impact on liquidity headroom; the incident itself is known, future residual exposure is what is scored.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E3000B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61" y="123824"/>
            <a:ext cx="1240476" cy="438150"/>
          </a:xfrm>
          <a:prstGeom prst="rect">
            <a:avLst/>
          </a:prstGeom>
        </p:spPr>
      </p:pic>
      <p:pic>
        <p:nvPicPr>
          <p:cNvPr id="5" name="Picture 4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4275" y="114375"/>
            <a:ext cx="400050" cy="4189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52624" y="247649"/>
            <a:ext cx="809624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51E2B"/>
                </a:solidFill>
                <a:latin typeface="Aptos"/>
              </a:rPr>
              <a:t>PART V · CFO RECOMMENDATIONS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742950"/>
            <a:ext cx="113538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25" b="1">
                <a:solidFill>
                  <a:srgbClr val="171717"/>
                </a:solidFill>
                <a:latin typeface="Aptos"/>
              </a:rPr>
              <a:t>Action 1 · Secure verified liquidity before any modelled breach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9100" y="1247775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9100" y="6457950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9100" y="6534150"/>
            <a:ext cx="7715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C5C58"/>
                </a:solidFill>
                <a:latin typeface="Aptos"/>
              </a:rPr>
              <a:t>Owner, deadlines, benefits and fallback are proposed actions—not historical UBS facts.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0" y="6515100"/>
            <a:ext cx="290512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B51E2B"/>
                </a:solidFill>
                <a:latin typeface="Aptos"/>
              </a:rPr>
              <a:t>JULES  /  13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2450" y="1381125"/>
            <a:ext cx="10953750" cy="676275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050" y="1552575"/>
            <a:ext cx="10287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B51E2B"/>
                </a:solidFill>
                <a:latin typeface="Aptos"/>
              </a:rPr>
              <a:t>GROUP TREASURER  ·  24-hour initial cash verification  ·  Daily 13-week forecast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2450" y="2524125"/>
            <a:ext cx="3429000" cy="1647825"/>
          </a:xfrm>
          <a:prstGeom prst="rect">
            <a:avLst/>
          </a:prstGeom>
          <a:solidFill>
            <a:srgbClr val="F2F1ED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900" y="2724150"/>
            <a:ext cx="30861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4C826C"/>
                </a:solidFill>
                <a:latin typeface="Aptos"/>
              </a:rPr>
              <a:t>BENEFIT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" y="3143250"/>
            <a:ext cx="30861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71717"/>
                </a:solidFill>
                <a:latin typeface="Aptos"/>
              </a:rPr>
              <a:t>Know the lowest cash point and exact timing of any buffer breach.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67200" y="2524125"/>
            <a:ext cx="3429000" cy="1647825"/>
          </a:xfrm>
          <a:prstGeom prst="rect">
            <a:avLst/>
          </a:prstGeom>
          <a:solidFill>
            <a:srgbClr val="F2F1ED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8650" y="2724150"/>
            <a:ext cx="30861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CONSTRAINT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8650" y="3143250"/>
            <a:ext cx="30861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71717"/>
                </a:solidFill>
                <a:latin typeface="Aptos"/>
              </a:rPr>
              <a:t>Entity / currency accessibility, collateral eligibility, execution lead time.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81949" y="2524125"/>
            <a:ext cx="3429000" cy="1647825"/>
          </a:xfrm>
          <a:prstGeom prst="rect">
            <a:avLst/>
          </a:prstGeom>
          <a:solidFill>
            <a:srgbClr val="F2F1ED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53399" y="2724150"/>
            <a:ext cx="30861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E3000B"/>
                </a:solidFill>
                <a:latin typeface="Aptos"/>
              </a:rPr>
              <a:t>FALLBACK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3399" y="3143250"/>
            <a:ext cx="30861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71717"/>
                </a:solidFill>
                <a:latin typeface="Aptos"/>
              </a:rPr>
              <a:t>Pre-approved secured funding or other confirmed source—only if available in time.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" y="4772025"/>
            <a:ext cx="10715625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71717"/>
                </a:solidFill>
                <a:latin typeface="Aptos"/>
              </a:rPr>
              <a:t>Trigger: pre-funding cash forecast falls below the policy buffer before a committed source can settle.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E3000B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61" y="123824"/>
            <a:ext cx="1240476" cy="438150"/>
          </a:xfrm>
          <a:prstGeom prst="rect">
            <a:avLst/>
          </a:prstGeom>
        </p:spPr>
      </p:pic>
      <p:pic>
        <p:nvPicPr>
          <p:cNvPr id="5" name="Picture 4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4275" y="114375"/>
            <a:ext cx="400050" cy="4189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52624" y="247649"/>
            <a:ext cx="809624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51E2B"/>
                </a:solidFill>
                <a:latin typeface="Aptos"/>
              </a:rPr>
              <a:t>PART V · CFO RECOMMENDATIONS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742950"/>
            <a:ext cx="113538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25" b="1">
                <a:solidFill>
                  <a:srgbClr val="171717"/>
                </a:solidFill>
                <a:latin typeface="Aptos"/>
              </a:rPr>
              <a:t>Actions 2–3 · contain the position risk, then make concealment harder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9100" y="1247775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9100" y="6457950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9100" y="6534150"/>
            <a:ext cx="7715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C5C58"/>
                </a:solidFill>
                <a:latin typeface="Aptos"/>
              </a:rPr>
              <a:t>Proposed actions aligned to regulator findings [1]–[2].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0" y="6515100"/>
            <a:ext cx="290512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B51E2B"/>
                </a:solidFill>
                <a:latin typeface="Aptos"/>
              </a:rPr>
              <a:t>JULES  /  14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2450" y="1476375"/>
            <a:ext cx="5334000" cy="3962399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2450" y="1476375"/>
            <a:ext cx="5334000" cy="38100"/>
          </a:xfrm>
          <a:prstGeom prst="rect">
            <a:avLst/>
          </a:prstGeom>
          <a:solidFill>
            <a:srgbClr val="E3000B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1704975"/>
            <a:ext cx="4905375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717"/>
                </a:solidFill>
                <a:latin typeface="Aptos"/>
              </a:rPr>
              <a:t>02  CONTAIN &amp; RECONCILE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2076450"/>
            <a:ext cx="490537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Owner: Investment Bank COO + Market Risk + Treasury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2571750"/>
            <a:ext cx="4905375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71717"/>
                </a:solidFill>
                <a:latin typeface="Aptos"/>
              </a:rPr>
              <a:t>Immediately reconcile external positions, unmatched trades, breaks and collateral.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71717"/>
                </a:solidFill>
                <a:latin typeface="Aptos"/>
              </a:rPr>
              <a:t>Benefit: reduce uncertainty in cash obligations.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71717"/>
                </a:solidFill>
                <a:latin typeface="Aptos"/>
              </a:rPr>
              <a:t>Constraint: close-out liquidity and settlement timing.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71717"/>
                </a:solidFill>
                <a:latin typeface="Aptos"/>
              </a:rPr>
              <a:t>Fallback: conservative liquidity overlay until reconciled.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1476375"/>
            <a:ext cx="5334000" cy="3962399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476375"/>
            <a:ext cx="5334000" cy="38100"/>
          </a:xfrm>
          <a:prstGeom prst="rect">
            <a:avLst/>
          </a:prstGeom>
          <a:solidFill>
            <a:srgbClr val="B51E2B"/>
          </a:solidFill>
          <a:ln w="12700">
            <a:solidFill>
              <a:srgbClr val="B51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1750" y="1704975"/>
            <a:ext cx="4905375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717"/>
                </a:solidFill>
                <a:latin typeface="Aptos"/>
              </a:rPr>
              <a:t>03  REBUILD CONTROL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1750" y="2076450"/>
            <a:ext cx="490537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Owner: CRO + COO; Internal Audit validates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1750" y="2571750"/>
            <a:ext cx="4905375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71717"/>
                </a:solidFill>
                <a:latin typeface="Aptos"/>
              </a:rPr>
              <a:t>Independent trade confirmation; C/A/L exception escalation; limit-breach challenge; clear desk supervision.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71717"/>
                </a:solidFill>
                <a:latin typeface="Aptos"/>
              </a:rPr>
              <a:t>Benefit: detect and stop concealed exposure earlier.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71717"/>
                </a:solidFill>
                <a:latin typeface="Aptos"/>
              </a:rPr>
              <a:t>Constraint: systems, staffing and change time.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71717"/>
                </a:solidFill>
                <a:latin typeface="Aptos"/>
              </a:rPr>
              <a:t>Fallback: dual sign-off, manual reconciliation and tighter limits.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E3000B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61" y="123824"/>
            <a:ext cx="1240476" cy="438150"/>
          </a:xfrm>
          <a:prstGeom prst="rect">
            <a:avLst/>
          </a:prstGeom>
        </p:spPr>
      </p:pic>
      <p:pic>
        <p:nvPicPr>
          <p:cNvPr id="5" name="Picture 4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4275" y="114375"/>
            <a:ext cx="400050" cy="4189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52624" y="247649"/>
            <a:ext cx="809624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51E2B"/>
                </a:solidFill>
                <a:latin typeface="Aptos"/>
              </a:rPr>
              <a:t>CONCLUSION · CALVIN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742950"/>
            <a:ext cx="113538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25" b="1">
                <a:solidFill>
                  <a:srgbClr val="171717"/>
                </a:solidFill>
                <a:latin typeface="Aptos"/>
              </a:rPr>
              <a:t>CFO decision: protect headroom, but do not confuse loss with cash need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9100" y="1247775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9100" y="6457950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9100" y="6534150"/>
            <a:ext cx="7715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C5C58"/>
                </a:solidFill>
                <a:latin typeface="Aptos"/>
              </a:rPr>
              <a:t>Conclusion is based on disclosed loss and controls; actual daily Treasury cash position remains unpublished.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0" y="6515100"/>
            <a:ext cx="290512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B51E2B"/>
                </a:solidFill>
                <a:latin typeface="Aptos"/>
              </a:rPr>
              <a:t>CALVIN  / 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1025" y="1362075"/>
            <a:ext cx="10668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71717"/>
                </a:solidFill>
                <a:latin typeface="Aptos"/>
              </a:rPr>
              <a:t>The USD 2.3bn trading loss is established. A breach of payment capacity is not established by that figure alone.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125" y="2533650"/>
            <a:ext cx="2190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DAILY · FIRST WEEK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4650" y="2533650"/>
            <a:ext cx="8096249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71717"/>
                </a:solidFill>
                <a:latin typeface="Aptos"/>
              </a:rPr>
              <a:t>Accessible cash · settlement queue · collateral due / returned · unresolved trades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125" y="3352800"/>
            <a:ext cx="2190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WEEKLY · TO 14 DEC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4650" y="3352800"/>
            <a:ext cx="8096249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71717"/>
                </a:solidFill>
                <a:latin typeface="Aptos"/>
              </a:rPr>
              <a:t>Buffer headroom · funding maturities · forecast variance · stress funding lead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125" y="4171950"/>
            <a:ext cx="2190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51E2B"/>
                </a:solidFill>
                <a:latin typeface="Aptos"/>
              </a:rPr>
              <a:t>ESCALATE WHEN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4650" y="4171950"/>
            <a:ext cx="8096249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71717"/>
                </a:solidFill>
                <a:latin typeface="Aptos"/>
              </a:rPr>
              <a:t>Forecast cash &lt; buffer; unresolved material break; exposure / settlement is not reconciled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5219700"/>
            <a:ext cx="10572750" cy="638175"/>
          </a:xfrm>
          <a:prstGeom prst="rect">
            <a:avLst/>
          </a:prstGeom>
          <a:solidFill>
            <a:srgbClr val="F8F8F6"/>
          </a:solidFill>
          <a:ln w="12700">
            <a:solidFill>
              <a:srgbClr val="D8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050" y="5391150"/>
            <a:ext cx="10172700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B51E2B"/>
                </a:solidFill>
                <a:latin typeface="Aptos"/>
              </a:rPr>
              <a:t>Decision rule: act on the timing of the forecast funding gap; preserve a verified backstop and close the control loop.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E3000B"/>
          </a:solidFill>
          <a:ln w="12700">
            <a:solidFill>
              <a:srgbClr val="E3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61" y="123824"/>
            <a:ext cx="1240476" cy="438150"/>
          </a:xfrm>
          <a:prstGeom prst="rect">
            <a:avLst/>
          </a:prstGeom>
        </p:spPr>
      </p:pic>
      <p:pic>
        <p:nvPicPr>
          <p:cNvPr id="5" name="Picture 4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4275" y="114375"/>
            <a:ext cx="400050" cy="4189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52624" y="247649"/>
            <a:ext cx="809624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51E2B"/>
                </a:solidFill>
                <a:latin typeface="Aptos"/>
              </a:rPr>
              <a:t>SOURCES &amp;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742950"/>
            <a:ext cx="113538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25" b="1">
                <a:solidFill>
                  <a:srgbClr val="171717"/>
                </a:solidFill>
                <a:latin typeface="Aptos"/>
              </a:rPr>
              <a:t>Evidence register · what is known, what is modelled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9100" y="1247775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9100" y="6457950"/>
            <a:ext cx="1135380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9100" y="6534150"/>
            <a:ext cx="7715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C5C58"/>
                </a:solidFill>
                <a:latin typeface="Aptos"/>
              </a:rPr>
              <a:t>Primary sources prioritised; case facts separated from scenario assumptions.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0" y="6515100"/>
            <a:ext cx="290512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B51E2B"/>
                </a:solidFill>
                <a:latin typeface="Aptos"/>
              </a:rPr>
              <a:t>ALL PRESENTERS  /  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1323975"/>
            <a:ext cx="1238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51E2B"/>
                </a:solidFill>
                <a:latin typeface="Aptos"/>
              </a:rPr>
              <a:t>[1] FINMA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2624" y="1323975"/>
            <a:ext cx="77628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71717"/>
                </a:solidFill>
                <a:latin typeface="Aptos"/>
              </a:rPr>
              <a:t>Summary Report: UBS London trading losses, 21 Nov 2012. Position peaks, concealment methods, risk-control findings.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63125" y="1343025"/>
            <a:ext cx="176212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617C8A"/>
                </a:solidFill>
                <a:latin typeface="Aptos"/>
                <a:hlinkClick r:id="rId4"/>
              </a:rPr>
              <a:t>OPEN SOURCE ↗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1500" y="1943100"/>
            <a:ext cx="1095375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71500" y="2190750"/>
            <a:ext cx="1238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51E2B"/>
                </a:solidFill>
                <a:latin typeface="Aptos"/>
              </a:rPr>
              <a:t>[2] FSA / FCA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52624" y="2190750"/>
            <a:ext cx="77628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71717"/>
                </a:solidFill>
                <a:latin typeface="Aptos"/>
              </a:rPr>
              <a:t>Final Notice: UBS AG, 25 Nov 2012. USD 2.3bn loss, desk limits, and control failings.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63125" y="2209800"/>
            <a:ext cx="176212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617C8A"/>
                </a:solidFill>
                <a:latin typeface="Aptos"/>
                <a:hlinkClick r:id="rId5"/>
              </a:rPr>
              <a:t>OPEN SOURCE ↗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71500" y="2809875"/>
            <a:ext cx="1095375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71500" y="3057525"/>
            <a:ext cx="1238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51E2B"/>
                </a:solidFill>
                <a:latin typeface="Aptos"/>
              </a:rPr>
              <a:t>[3] UBS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52624" y="3057525"/>
            <a:ext cx="77628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71717"/>
                </a:solidFill>
                <a:latin typeface="Aptos"/>
              </a:rPr>
              <a:t>Supplement No. 2, 11 Oct 2011. Initial estimate, later USD 2.3bn update; risk covered by 18 Sep.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63125" y="3076575"/>
            <a:ext cx="176212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617C8A"/>
                </a:solidFill>
                <a:latin typeface="Aptos"/>
                <a:hlinkClick r:id="rId6"/>
              </a:rPr>
              <a:t>OPEN SOURCE 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71500" y="3676649"/>
            <a:ext cx="1095375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71500" y="3924300"/>
            <a:ext cx="1238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51E2B"/>
                </a:solidFill>
                <a:latin typeface="Aptos"/>
              </a:rPr>
              <a:t>[4] UBS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52624" y="3924300"/>
            <a:ext cx="77628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71717"/>
                </a:solidFill>
                <a:latin typeface="Aptos"/>
              </a:rPr>
              <a:t>Third Quarter 2011 results / presentation materials, 25 Oct 2011. CHF / USD reported loss components.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63125" y="3943350"/>
            <a:ext cx="176212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617C8A"/>
                </a:solidFill>
                <a:latin typeface="Aptos"/>
                <a:hlinkClick r:id="rId7"/>
              </a:rPr>
              <a:t>OPEN SOURCE ↗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71500" y="4543425"/>
            <a:ext cx="10953750" cy="0"/>
          </a:xfrm>
          <a:prstGeom prst="line">
            <a:avLst/>
          </a:prstGeom>
          <a:ln w="12700">
            <a:solidFill>
              <a:srgbClr val="D8D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71500" y="5000625"/>
            <a:ext cx="10953750" cy="63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5C5C58"/>
                </a:solidFill>
                <a:latin typeface="Aptos"/>
              </a:rPr>
              <a:t>Data integrity: reported facts are cited; model equations are derived; cash balances, daily flows, and any normalised exposure path must be supplied or labelled as assumptions. The user-supplied press image’s reuse rights should be checked before publication.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UBS 2011 Rogue Trading Scandal — Treasury Risk</dc:title>
  <dc:subject>Source-led Treasury response and operational risk case study</dc:subject>
  <dc:creator>SKEMA Corporate Treasury Management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