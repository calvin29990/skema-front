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www.finma.ch/en/~/media/finma/dokumente/dokumentencenter/8news/medienmitteilungen/2012/11/20121121-ubs-summary-report.pdf?sc_lang=en&amp;hash=D26DD4BBF243411F07C72BCA738FF40A" TargetMode="External"/><Relationship Id="rId5" Type="http://schemas.openxmlformats.org/officeDocument/2006/relationships/hyperlink" Target="https://www.fca.org.uk/publication/final-notices/ubs-ag.pdf" TargetMode="External"/><Relationship Id="rId6" Type="http://schemas.openxmlformats.org/officeDocument/2006/relationships/hyperlink" Target="https://keyinvest-it.ubs.com/filedb/deliver/xuuid/l00170bd9263aa8642128581708268d60e04/name/2.2_UBS_SNP_11Oct2011.pdf" TargetMode="External"/><Relationship Id="rId7" Type="http://schemas.openxmlformats.org/officeDocument/2006/relationships/hyperlink" Target="https://www.ubs.com/global/en/investor-relations/financial-information/sec-filings/archive-sec/_jcr_content/root/contentarea/mainpar/toplevelgrid/col_1/accordionbox/accordionsplit_5f56/table_377890747.1522585917.file/dGFibGVUZXh0PS9jb250ZW50L2RhbS9hc3NldHMvY2MvaW52ZXN0b3ItcmVsYXRpb25zL3F1YXJ0ZXJsaWVzLzIwMTEvM3ExMS8zUTExX1ByZXNlbnRhdGlvbk1hdGVyaWFscy5wZGY=/3Q11_PresentationMaterials.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552450" y="228687"/>
            <a:ext cx="1428750" cy="504650"/>
          </a:xfrm>
          <a:prstGeom prst="rect">
            <a:avLst/>
          </a:prstGeom>
        </p:spPr>
      </p:pic>
      <p:pic>
        <p:nvPicPr>
          <p:cNvPr id="5" name="Picture 4" descr="skema-logo.png"/>
          <p:cNvPicPr>
            <a:picLocks noChangeAspect="1"/>
          </p:cNvPicPr>
          <p:nvPr/>
        </p:nvPicPr>
        <p:blipFill>
          <a:blip r:embed="rId3"/>
          <a:stretch>
            <a:fillRect/>
          </a:stretch>
        </p:blipFill>
        <p:spPr>
          <a:xfrm>
            <a:off x="11240717" y="171450"/>
            <a:ext cx="454765" cy="476250"/>
          </a:xfrm>
          <a:prstGeom prst="rect">
            <a:avLst/>
          </a:prstGeom>
        </p:spPr>
      </p:pic>
      <p:sp>
        <p:nvSpPr>
          <p:cNvPr id="6" name="Rectangle 5"/>
          <p:cNvSpPr/>
          <p:nvPr/>
        </p:nvSpPr>
        <p:spPr>
          <a:xfrm>
            <a:off x="666750" y="1619250"/>
            <a:ext cx="47625" cy="38100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0125" y="1657350"/>
            <a:ext cx="6667500" cy="914400"/>
          </a:xfrm>
          <a:prstGeom prst="rect">
            <a:avLst/>
          </a:prstGeom>
          <a:noFill/>
        </p:spPr>
        <p:txBody>
          <a:bodyPr wrap="square" lIns="0" rIns="0" tIns="0" bIns="0" anchor="t">
            <a:spAutoFit/>
          </a:bodyPr>
          <a:lstStyle/>
          <a:p>
            <a:pPr algn="l">
              <a:lnSpc>
                <a:spcPct val="108000"/>
              </a:lnSpc>
              <a:spcBef>
                <a:spcPts val="0"/>
              </a:spcBef>
              <a:spcAft>
                <a:spcPts val="0"/>
              </a:spcAft>
            </a:pPr>
            <a:r>
              <a:rPr sz="2925" b="0">
                <a:solidFill>
                  <a:srgbClr val="171717"/>
                </a:solidFill>
                <a:latin typeface="Aptos"/>
              </a:rPr>
              <a:t>UBS 2011 Rogue Trading Scandal</a:t>
            </a:r>
          </a:p>
        </p:txBody>
      </p:sp>
      <p:sp>
        <p:nvSpPr>
          <p:cNvPr id="8" name="TextBox 7"/>
          <p:cNvSpPr txBox="1"/>
          <p:nvPr/>
        </p:nvSpPr>
        <p:spPr>
          <a:xfrm>
            <a:off x="1000125" y="2619375"/>
            <a:ext cx="6667500" cy="666750"/>
          </a:xfrm>
          <a:prstGeom prst="rect">
            <a:avLst/>
          </a:prstGeom>
          <a:noFill/>
        </p:spPr>
        <p:txBody>
          <a:bodyPr wrap="square" lIns="0" rIns="0" tIns="0" bIns="0" anchor="t">
            <a:spAutoFit/>
          </a:bodyPr>
          <a:lstStyle/>
          <a:p>
            <a:pPr algn="l">
              <a:lnSpc>
                <a:spcPct val="118000"/>
              </a:lnSpc>
              <a:spcBef>
                <a:spcPts val="0"/>
              </a:spcBef>
              <a:spcAft>
                <a:spcPts val="0"/>
              </a:spcAft>
            </a:pPr>
            <a:r>
              <a:rPr sz="1950" b="0">
                <a:solidFill>
                  <a:srgbClr val="E3000B"/>
                </a:solidFill>
                <a:latin typeface="Aptos"/>
              </a:rPr>
              <a:t>From Operational Failure</a:t>
            </a:r>
          </a:p>
          <a:p>
            <a:pPr algn="l">
              <a:lnSpc>
                <a:spcPct val="118000"/>
              </a:lnSpc>
              <a:spcBef>
                <a:spcPts val="0"/>
              </a:spcBef>
              <a:spcAft>
                <a:spcPts val="0"/>
              </a:spcAft>
            </a:pPr>
            <a:r>
              <a:rPr sz="1950" b="0">
                <a:solidFill>
                  <a:srgbClr val="E3000B"/>
                </a:solidFill>
                <a:latin typeface="Aptos"/>
              </a:rPr>
              <a:t>to Treasury Decisions</a:t>
            </a:r>
          </a:p>
        </p:txBody>
      </p:sp>
      <p:sp>
        <p:nvSpPr>
          <p:cNvPr id="9" name="TextBox 8"/>
          <p:cNvSpPr txBox="1"/>
          <p:nvPr/>
        </p:nvSpPr>
        <p:spPr>
          <a:xfrm>
            <a:off x="1000125" y="3571875"/>
            <a:ext cx="6477000" cy="428625"/>
          </a:xfrm>
          <a:prstGeom prst="rect">
            <a:avLst/>
          </a:prstGeom>
          <a:noFill/>
        </p:spPr>
        <p:txBody>
          <a:bodyPr wrap="square" lIns="0" rIns="0" tIns="0" bIns="0" anchor="t">
            <a:spAutoFit/>
          </a:bodyPr>
          <a:lstStyle/>
          <a:p>
            <a:pPr algn="l">
              <a:lnSpc>
                <a:spcPct val="135000"/>
              </a:lnSpc>
              <a:spcBef>
                <a:spcPts val="0"/>
              </a:spcBef>
              <a:spcAft>
                <a:spcPts val="0"/>
              </a:spcAft>
            </a:pPr>
            <a:r>
              <a:rPr sz="900" b="1">
                <a:solidFill>
                  <a:srgbClr val="5C5C58"/>
                </a:solidFill>
                <a:latin typeface="Aptos"/>
              </a:rPr>
              <a:t>EXECUTIVE BRIEFING TO THE GROUP CEO</a:t>
            </a:r>
          </a:p>
          <a:p>
            <a:pPr algn="l">
              <a:lnSpc>
                <a:spcPct val="135000"/>
              </a:lnSpc>
              <a:spcBef>
                <a:spcPts val="0"/>
              </a:spcBef>
              <a:spcAft>
                <a:spcPts val="0"/>
              </a:spcAft>
            </a:pPr>
            <a:r>
              <a:rPr sz="900" b="1">
                <a:solidFill>
                  <a:srgbClr val="5C5C58"/>
                </a:solidFill>
                <a:latin typeface="Aptos"/>
              </a:rPr>
              <a:t>AND UBS GROUP EXECUTIVE BOARD</a:t>
            </a:r>
          </a:p>
        </p:txBody>
      </p:sp>
      <p:cxnSp>
        <p:nvCxnSpPr>
          <p:cNvPr id="10" name="Connector 9"/>
          <p:cNvCxnSpPr/>
          <p:nvPr/>
        </p:nvCxnSpPr>
        <p:spPr>
          <a:xfrm>
            <a:off x="1000125" y="4305300"/>
            <a:ext cx="55721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00125" y="4505325"/>
            <a:ext cx="6191250" cy="228600"/>
          </a:xfrm>
          <a:prstGeom prst="rect">
            <a:avLst/>
          </a:prstGeom>
          <a:noFill/>
        </p:spPr>
        <p:txBody>
          <a:bodyPr wrap="square" lIns="0" rIns="0" tIns="0" bIns="0" anchor="t">
            <a:spAutoFit/>
          </a:bodyPr>
          <a:lstStyle/>
          <a:p>
            <a:pPr algn="l">
              <a:lnSpc>
                <a:spcPct val="118000"/>
              </a:lnSpc>
              <a:spcBef>
                <a:spcPts val="0"/>
              </a:spcBef>
              <a:spcAft>
                <a:spcPts val="0"/>
              </a:spcAft>
            </a:pPr>
            <a:r>
              <a:rPr sz="975" b="1">
                <a:solidFill>
                  <a:srgbClr val="171717"/>
                </a:solidFill>
                <a:latin typeface="Aptos"/>
              </a:rPr>
              <a:t>Corporate Treasury Management  ·  14 Sep–14 Dec 2011</a:t>
            </a:r>
          </a:p>
        </p:txBody>
      </p:sp>
      <p:sp>
        <p:nvSpPr>
          <p:cNvPr id="12" name="TextBox 11"/>
          <p:cNvSpPr txBox="1"/>
          <p:nvPr/>
        </p:nvSpPr>
        <p:spPr>
          <a:xfrm>
            <a:off x="1000125" y="4943475"/>
            <a:ext cx="6191250" cy="228600"/>
          </a:xfrm>
          <a:prstGeom prst="rect">
            <a:avLst/>
          </a:prstGeom>
          <a:noFill/>
        </p:spPr>
        <p:txBody>
          <a:bodyPr wrap="square" lIns="0" rIns="0" tIns="0" bIns="0" anchor="t">
            <a:spAutoFit/>
          </a:bodyPr>
          <a:lstStyle/>
          <a:p>
            <a:pPr algn="l">
              <a:lnSpc>
                <a:spcPct val="118000"/>
              </a:lnSpc>
              <a:spcBef>
                <a:spcPts val="0"/>
              </a:spcBef>
              <a:spcAft>
                <a:spcPts val="0"/>
              </a:spcAft>
            </a:pPr>
            <a:r>
              <a:rPr sz="900" b="0">
                <a:solidFill>
                  <a:srgbClr val="5C5C58"/>
                </a:solidFill>
                <a:latin typeface="Aptos"/>
              </a:rPr>
              <a:t>Academic supervisor  Jamil Chaftar</a:t>
            </a:r>
          </a:p>
        </p:txBody>
      </p:sp>
      <p:sp>
        <p:nvSpPr>
          <p:cNvPr id="13" name="TextBox 12"/>
          <p:cNvSpPr txBox="1"/>
          <p:nvPr/>
        </p:nvSpPr>
        <p:spPr>
          <a:xfrm>
            <a:off x="1000125" y="5276850"/>
            <a:ext cx="6191250" cy="457200"/>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5C5C58"/>
                </a:solidFill>
                <a:latin typeface="Aptos"/>
              </a:rPr>
              <a:t>Paul Alain Diouf  ·  Calvin Minang  ·  Jules Métayer  ·  Elias Abou-Tayeh</a:t>
            </a:r>
          </a:p>
        </p:txBody>
      </p:sp>
      <p:sp>
        <p:nvSpPr>
          <p:cNvPr id="14" name="Rectangle 13"/>
          <p:cNvSpPr/>
          <p:nvPr/>
        </p:nvSpPr>
        <p:spPr>
          <a:xfrm>
            <a:off x="7953374" y="1619250"/>
            <a:ext cx="3619500" cy="3857625"/>
          </a:xfrm>
          <a:prstGeom prst="rect">
            <a:avLst/>
          </a:prstGeom>
          <a:solidFill>
            <a:srgbClr val="F5F4F0"/>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39124" y="1857375"/>
            <a:ext cx="3000375"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E3000B"/>
                </a:solidFill>
                <a:latin typeface="Aptos"/>
              </a:rPr>
              <a:t>TREASURY DECISION WINDOW</a:t>
            </a:r>
          </a:p>
        </p:txBody>
      </p:sp>
      <p:sp>
        <p:nvSpPr>
          <p:cNvPr id="16" name="TextBox 15"/>
          <p:cNvSpPr txBox="1"/>
          <p:nvPr/>
        </p:nvSpPr>
        <p:spPr>
          <a:xfrm>
            <a:off x="8239124" y="2171700"/>
            <a:ext cx="3000375" cy="361950"/>
          </a:xfrm>
          <a:prstGeom prst="rect">
            <a:avLst/>
          </a:prstGeom>
          <a:noFill/>
        </p:spPr>
        <p:txBody>
          <a:bodyPr wrap="square" lIns="0" rIns="0" tIns="0" bIns="0" anchor="t">
            <a:spAutoFit/>
          </a:bodyPr>
          <a:lstStyle/>
          <a:p>
            <a:pPr algn="l">
              <a:lnSpc>
                <a:spcPct val="118000"/>
              </a:lnSpc>
              <a:spcBef>
                <a:spcPts val="0"/>
              </a:spcBef>
              <a:spcAft>
                <a:spcPts val="0"/>
              </a:spcAft>
            </a:pPr>
            <a:r>
              <a:rPr sz="1275" b="1">
                <a:solidFill>
                  <a:srgbClr val="171717"/>
                </a:solidFill>
                <a:latin typeface="Aptos"/>
              </a:rPr>
              <a:t>14 September → 14 December 2011</a:t>
            </a:r>
          </a:p>
        </p:txBody>
      </p:sp>
      <p:sp>
        <p:nvSpPr>
          <p:cNvPr id="17" name="TextBox 16"/>
          <p:cNvSpPr txBox="1"/>
          <p:nvPr/>
        </p:nvSpPr>
        <p:spPr>
          <a:xfrm>
            <a:off x="8239124" y="2686050"/>
            <a:ext cx="3000375" cy="190500"/>
          </a:xfrm>
          <a:prstGeom prst="rect">
            <a:avLst/>
          </a:prstGeom>
          <a:noFill/>
        </p:spPr>
        <p:txBody>
          <a:bodyPr wrap="square" lIns="0" rIns="0" tIns="0" bIns="0" anchor="t">
            <a:spAutoFit/>
          </a:bodyPr>
          <a:lstStyle/>
          <a:p>
            <a:pPr algn="l">
              <a:lnSpc>
                <a:spcPct val="118000"/>
              </a:lnSpc>
              <a:spcBef>
                <a:spcPts val="0"/>
              </a:spcBef>
              <a:spcAft>
                <a:spcPts val="0"/>
              </a:spcAft>
            </a:pPr>
            <a:r>
              <a:rPr sz="675" b="1">
                <a:solidFill>
                  <a:srgbClr val="5C5C58"/>
                </a:solidFill>
                <a:latin typeface="Aptos"/>
              </a:rPr>
              <a:t>LIQUIDITY HEADROOM · CONCEPT</a:t>
            </a:r>
          </a:p>
        </p:txBody>
      </p:sp>
      <p:sp>
        <p:nvSpPr>
          <p:cNvPr id="18" name="Rectangle 17"/>
          <p:cNvSpPr/>
          <p:nvPr/>
        </p:nvSpPr>
        <p:spPr>
          <a:xfrm>
            <a:off x="8286750" y="4038600"/>
            <a:ext cx="209550" cy="619125"/>
          </a:xfrm>
          <a:prstGeom prst="rect">
            <a:avLst/>
          </a:prstGeom>
          <a:solidFill>
            <a:srgbClr val="C8C7C0"/>
          </a:solidFill>
          <a:ln>
            <a:solidFill>
              <a:srgbClr val="C8C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43950" y="3743325"/>
            <a:ext cx="209550" cy="914400"/>
          </a:xfrm>
          <a:prstGeom prst="rect">
            <a:avLst/>
          </a:prstGeom>
          <a:solidFill>
            <a:srgbClr val="C8C7C0"/>
          </a:solidFill>
          <a:ln>
            <a:solidFill>
              <a:srgbClr val="C8C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01150" y="3924300"/>
            <a:ext cx="209550" cy="733425"/>
          </a:xfrm>
          <a:prstGeom prst="rect">
            <a:avLst/>
          </a:prstGeom>
          <a:solidFill>
            <a:srgbClr val="C8C7C0"/>
          </a:solidFill>
          <a:ln>
            <a:solidFill>
              <a:srgbClr val="C8C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58350" y="3400425"/>
            <a:ext cx="209550" cy="1257300"/>
          </a:xfrm>
          <a:prstGeom prst="rect">
            <a:avLst/>
          </a:prstGeom>
          <a:solidFill>
            <a:srgbClr val="B9B8B1"/>
          </a:solidFill>
          <a:ln>
            <a:solidFill>
              <a:srgbClr val="B9B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115550" y="3657600"/>
            <a:ext cx="209550" cy="1000125"/>
          </a:xfrm>
          <a:prstGeom prst="rect">
            <a:avLst/>
          </a:prstGeom>
          <a:solidFill>
            <a:srgbClr val="C8C7C0"/>
          </a:solidFill>
          <a:ln>
            <a:solidFill>
              <a:srgbClr val="C8C7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572750" y="3038475"/>
            <a:ext cx="209550" cy="1619250"/>
          </a:xfrm>
          <a:prstGeom prst="rect">
            <a:avLst/>
          </a:prstGeom>
          <a:solidFill>
            <a:srgbClr val="E3000B"/>
          </a:solidFill>
          <a:ln>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8191500" y="4667250"/>
            <a:ext cx="3095625" cy="0"/>
          </a:xfrm>
          <a:prstGeom prst="line">
            <a:avLst/>
          </a:prstGeom>
          <a:ln w="12700">
            <a:solidFill>
              <a:srgbClr val="B8B7B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191500" y="3943350"/>
            <a:ext cx="476250" cy="152400"/>
          </a:xfrm>
          <a:prstGeom prst="line">
            <a:avLst/>
          </a:prstGeom>
          <a:ln w="38100">
            <a:solidFill>
              <a:srgbClr val="E3000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67750" y="3943350"/>
            <a:ext cx="428625" cy="85725"/>
          </a:xfrm>
          <a:prstGeom prst="line">
            <a:avLst/>
          </a:prstGeom>
          <a:ln w="38100">
            <a:solidFill>
              <a:srgbClr val="E3000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9096375" y="3590925"/>
            <a:ext cx="466725" cy="438150"/>
          </a:xfrm>
          <a:prstGeom prst="line">
            <a:avLst/>
          </a:prstGeom>
          <a:ln w="38100">
            <a:solidFill>
              <a:srgbClr val="E3000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563100" y="3429000"/>
            <a:ext cx="457200" cy="161925"/>
          </a:xfrm>
          <a:prstGeom prst="line">
            <a:avLst/>
          </a:prstGeom>
          <a:ln w="38100">
            <a:solidFill>
              <a:srgbClr val="E3000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020300" y="3238500"/>
            <a:ext cx="457200" cy="190500"/>
          </a:xfrm>
          <a:prstGeom prst="line">
            <a:avLst/>
          </a:prstGeom>
          <a:ln w="38100">
            <a:solidFill>
              <a:srgbClr val="E3000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77500" y="3238500"/>
            <a:ext cx="438150" cy="381000"/>
          </a:xfrm>
          <a:prstGeom prst="line">
            <a:avLst/>
          </a:prstGeom>
          <a:ln w="38100">
            <a:solidFill>
              <a:srgbClr val="E3000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915650" y="3619500"/>
            <a:ext cx="371475" cy="200024"/>
          </a:xfrm>
          <a:prstGeom prst="line">
            <a:avLst/>
          </a:prstGeom>
          <a:ln w="38100">
            <a:solidFill>
              <a:srgbClr val="E3000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39124" y="4953000"/>
            <a:ext cx="3000375" cy="409575"/>
          </a:xfrm>
          <a:prstGeom prst="rect">
            <a:avLst/>
          </a:prstGeom>
          <a:noFill/>
        </p:spPr>
        <p:txBody>
          <a:bodyPr wrap="square" lIns="0" rIns="0" tIns="0" bIns="0" anchor="t">
            <a:spAutoFit/>
          </a:bodyPr>
          <a:lstStyle/>
          <a:p>
            <a:pPr algn="l">
              <a:lnSpc>
                <a:spcPct val="130000"/>
              </a:lnSpc>
              <a:spcBef>
                <a:spcPts val="0"/>
              </a:spcBef>
              <a:spcAft>
                <a:spcPts val="0"/>
              </a:spcAft>
            </a:pPr>
            <a:r>
              <a:rPr sz="975" b="1">
                <a:solidFill>
                  <a:srgbClr val="171717"/>
                </a:solidFill>
                <a:latin typeface="Aptos"/>
              </a:rPr>
              <a:t>Protect cash capacity.</a:t>
            </a:r>
          </a:p>
          <a:p>
            <a:pPr algn="l">
              <a:lnSpc>
                <a:spcPct val="130000"/>
              </a:lnSpc>
              <a:spcBef>
                <a:spcPts val="0"/>
              </a:spcBef>
              <a:spcAft>
                <a:spcPts val="0"/>
              </a:spcAft>
            </a:pPr>
            <a:r>
              <a:rPr sz="975" b="1">
                <a:solidFill>
                  <a:srgbClr val="171717"/>
                </a:solidFill>
                <a:latin typeface="Aptos"/>
              </a:rPr>
              <a:t>Verify exposure. Gate funding.</a:t>
            </a:r>
          </a:p>
        </p:txBody>
      </p:sp>
      <p:sp>
        <p:nvSpPr>
          <p:cNvPr id="33" name="TextBox 32"/>
          <p:cNvSpPr txBox="1"/>
          <p:nvPr/>
        </p:nvSpPr>
        <p:spPr>
          <a:xfrm>
            <a:off x="552450" y="6210300"/>
            <a:ext cx="6191250" cy="190500"/>
          </a:xfrm>
          <a:prstGeom prst="rect">
            <a:avLst/>
          </a:prstGeom>
          <a:noFill/>
        </p:spPr>
        <p:txBody>
          <a:bodyPr wrap="square" lIns="0" rIns="0" tIns="0" bIns="0" anchor="t">
            <a:spAutoFit/>
          </a:bodyPr>
          <a:lstStyle/>
          <a:p>
            <a:pPr algn="l">
              <a:lnSpc>
                <a:spcPct val="118000"/>
              </a:lnSpc>
              <a:spcBef>
                <a:spcPts val="0"/>
              </a:spcBef>
              <a:spcAft>
                <a:spcPts val="0"/>
              </a:spcAft>
            </a:pPr>
            <a:r>
              <a:rPr sz="675" b="0">
                <a:solidFill>
                  <a:srgbClr val="5C5C58"/>
                </a:solidFill>
                <a:latin typeface="Aptos"/>
              </a:rPr>
              <a:t>Source-led case analysis · all modelled cash paths are explicitly labelled, not historical UBS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INTRODUCTION · ¾ PAGE</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Research question, scope and method</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Sources: [1] FINMA; [2] FSA. Method separates discovery-date information from later findings.</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PAUL ALAIN  /  02</a:t>
            </a:r>
          </a:p>
        </p:txBody>
      </p:sp>
      <p:sp>
        <p:nvSpPr>
          <p:cNvPr id="12" name="Rectangle 11"/>
          <p:cNvSpPr/>
          <p:nvPr/>
        </p:nvSpPr>
        <p:spPr>
          <a:xfrm>
            <a:off x="552450" y="1400175"/>
            <a:ext cx="11049000" cy="89535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1533525"/>
            <a:ext cx="23812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CENTRAL QUESTION</a:t>
            </a:r>
          </a:p>
        </p:txBody>
      </p:sp>
      <p:sp>
        <p:nvSpPr>
          <p:cNvPr id="14" name="TextBox 13"/>
          <p:cNvSpPr txBox="1"/>
          <p:nvPr/>
        </p:nvSpPr>
        <p:spPr>
          <a:xfrm>
            <a:off x="762000" y="1762125"/>
            <a:ext cx="10572750" cy="428625"/>
          </a:xfrm>
          <a:prstGeom prst="rect">
            <a:avLst/>
          </a:prstGeom>
          <a:noFill/>
        </p:spPr>
        <p:txBody>
          <a:bodyPr wrap="square" lIns="0" rIns="0" tIns="0" bIns="0" anchor="t">
            <a:spAutoFit/>
          </a:bodyPr>
          <a:lstStyle/>
          <a:p>
            <a:pPr algn="l">
              <a:lnSpc>
                <a:spcPct val="118000"/>
              </a:lnSpc>
              <a:spcBef>
                <a:spcPts val="0"/>
              </a:spcBef>
              <a:spcAft>
                <a:spcPts val="0"/>
              </a:spcAft>
            </a:pPr>
            <a:r>
              <a:rPr sz="1575" b="1">
                <a:solidFill>
                  <a:srgbClr val="171717"/>
                </a:solidFill>
                <a:latin typeface="Aptos"/>
              </a:rPr>
              <a:t>How should UBS Treasury meet payment obligations over the three months after concealed trading losses are discovered?</a:t>
            </a:r>
          </a:p>
        </p:txBody>
      </p:sp>
      <p:sp>
        <p:nvSpPr>
          <p:cNvPr id="15" name="Rectangle 14"/>
          <p:cNvSpPr/>
          <p:nvPr/>
        </p:nvSpPr>
        <p:spPr>
          <a:xfrm>
            <a:off x="552450" y="2495550"/>
            <a:ext cx="3476625" cy="1066800"/>
          </a:xfrm>
          <a:prstGeom prst="rect">
            <a:avLst/>
          </a:prstGeom>
          <a:solidFill>
            <a:srgbClr val="F2F1ED"/>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850" y="2647950"/>
            <a:ext cx="31432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INCIDENT</a:t>
            </a:r>
          </a:p>
        </p:txBody>
      </p:sp>
      <p:sp>
        <p:nvSpPr>
          <p:cNvPr id="17" name="TextBox 16"/>
          <p:cNvSpPr txBox="1"/>
          <p:nvPr/>
        </p:nvSpPr>
        <p:spPr>
          <a:xfrm>
            <a:off x="704850" y="2895600"/>
            <a:ext cx="3143250" cy="542925"/>
          </a:xfrm>
          <a:prstGeom prst="rect">
            <a:avLst/>
          </a:prstGeom>
          <a:noFill/>
        </p:spPr>
        <p:txBody>
          <a:bodyPr wrap="square" lIns="0" rIns="0" tIns="0" bIns="0" anchor="t">
            <a:spAutoFit/>
          </a:bodyPr>
          <a:lstStyle/>
          <a:p>
            <a:pPr algn="l">
              <a:lnSpc>
                <a:spcPct val="120000"/>
              </a:lnSpc>
              <a:spcBef>
                <a:spcPts val="0"/>
              </a:spcBef>
              <a:spcAft>
                <a:spcPts val="0"/>
              </a:spcAft>
            </a:pPr>
            <a:r>
              <a:rPr sz="900" b="0">
                <a:solidFill>
                  <a:srgbClr val="171717"/>
                </a:solidFill>
                <a:latin typeface="Aptos"/>
              </a:rPr>
              <a:t>Unauthorised trading in UBS Investment Bank, London; operational-risk case with immediate Treasury implications.</a:t>
            </a:r>
          </a:p>
        </p:txBody>
      </p:sp>
      <p:sp>
        <p:nvSpPr>
          <p:cNvPr id="18" name="Rectangle 17"/>
          <p:cNvSpPr/>
          <p:nvPr/>
        </p:nvSpPr>
        <p:spPr>
          <a:xfrm>
            <a:off x="4267200" y="2495550"/>
            <a:ext cx="3476625" cy="1066800"/>
          </a:xfrm>
          <a:prstGeom prst="rect">
            <a:avLst/>
          </a:prstGeom>
          <a:solidFill>
            <a:srgbClr val="F2F1ED"/>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19600" y="2647950"/>
            <a:ext cx="31432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PERSPECTIVE</a:t>
            </a:r>
          </a:p>
        </p:txBody>
      </p:sp>
      <p:sp>
        <p:nvSpPr>
          <p:cNvPr id="20" name="TextBox 19"/>
          <p:cNvSpPr txBox="1"/>
          <p:nvPr/>
        </p:nvSpPr>
        <p:spPr>
          <a:xfrm>
            <a:off x="4419600" y="2895600"/>
            <a:ext cx="3143250" cy="542925"/>
          </a:xfrm>
          <a:prstGeom prst="rect">
            <a:avLst/>
          </a:prstGeom>
          <a:noFill/>
        </p:spPr>
        <p:txBody>
          <a:bodyPr wrap="square" lIns="0" rIns="0" tIns="0" bIns="0" anchor="t">
            <a:spAutoFit/>
          </a:bodyPr>
          <a:lstStyle/>
          <a:p>
            <a:pPr algn="l">
              <a:lnSpc>
                <a:spcPct val="120000"/>
              </a:lnSpc>
              <a:spcBef>
                <a:spcPts val="0"/>
              </a:spcBef>
              <a:spcAft>
                <a:spcPts val="0"/>
              </a:spcAft>
            </a:pPr>
            <a:r>
              <a:rPr sz="900" b="0">
                <a:solidFill>
                  <a:srgbClr val="171717"/>
                </a:solidFill>
                <a:latin typeface="Aptos"/>
              </a:rPr>
              <a:t>Treasury team advising the CFO at discovery—not regulators looking back.</a:t>
            </a:r>
          </a:p>
        </p:txBody>
      </p:sp>
      <p:sp>
        <p:nvSpPr>
          <p:cNvPr id="21" name="Rectangle 20"/>
          <p:cNvSpPr/>
          <p:nvPr/>
        </p:nvSpPr>
        <p:spPr>
          <a:xfrm>
            <a:off x="7981949" y="2495550"/>
            <a:ext cx="3476625" cy="1066800"/>
          </a:xfrm>
          <a:prstGeom prst="rect">
            <a:avLst/>
          </a:prstGeom>
          <a:solidFill>
            <a:srgbClr val="F2F1ED"/>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4350" y="2647950"/>
            <a:ext cx="31432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HORIZON</a:t>
            </a:r>
          </a:p>
        </p:txBody>
      </p:sp>
      <p:sp>
        <p:nvSpPr>
          <p:cNvPr id="23" name="TextBox 22"/>
          <p:cNvSpPr txBox="1"/>
          <p:nvPr/>
        </p:nvSpPr>
        <p:spPr>
          <a:xfrm>
            <a:off x="8134350" y="2895600"/>
            <a:ext cx="3143250" cy="542925"/>
          </a:xfrm>
          <a:prstGeom prst="rect">
            <a:avLst/>
          </a:prstGeom>
          <a:noFill/>
        </p:spPr>
        <p:txBody>
          <a:bodyPr wrap="square" lIns="0" rIns="0" tIns="0" bIns="0" anchor="t">
            <a:spAutoFit/>
          </a:bodyPr>
          <a:lstStyle/>
          <a:p>
            <a:pPr algn="l">
              <a:lnSpc>
                <a:spcPct val="120000"/>
              </a:lnSpc>
              <a:spcBef>
                <a:spcPts val="0"/>
              </a:spcBef>
              <a:spcAft>
                <a:spcPts val="0"/>
              </a:spcAft>
            </a:pPr>
            <a:r>
              <a:rPr sz="900" b="0">
                <a:solidFill>
                  <a:srgbClr val="171717"/>
                </a:solidFill>
                <a:latin typeface="Aptos"/>
              </a:rPr>
              <a:t>14 Sep–14 Dec 2011; greatest forecast detail in the first days.</a:t>
            </a:r>
          </a:p>
        </p:txBody>
      </p:sp>
      <p:sp>
        <p:nvSpPr>
          <p:cNvPr id="24" name="TextBox 23"/>
          <p:cNvSpPr txBox="1"/>
          <p:nvPr/>
        </p:nvSpPr>
        <p:spPr>
          <a:xfrm>
            <a:off x="590550" y="3800475"/>
            <a:ext cx="10858500" cy="304800"/>
          </a:xfrm>
          <a:prstGeom prst="rect">
            <a:avLst/>
          </a:prstGeom>
          <a:noFill/>
        </p:spPr>
        <p:txBody>
          <a:bodyPr wrap="square" lIns="0" rIns="0" tIns="0" bIns="0" anchor="t">
            <a:spAutoFit/>
          </a:bodyPr>
          <a:lstStyle/>
          <a:p>
            <a:pPr algn="l">
              <a:lnSpc>
                <a:spcPct val="118000"/>
              </a:lnSpc>
              <a:spcBef>
                <a:spcPts val="0"/>
              </a:spcBef>
              <a:spcAft>
                <a:spcPts val="0"/>
              </a:spcAft>
            </a:pPr>
            <a:r>
              <a:rPr sz="1050" b="1">
                <a:solidFill>
                  <a:srgbClr val="171717"/>
                </a:solidFill>
                <a:latin typeface="Aptos"/>
              </a:rPr>
              <a:t>Instructor-approved adaptation: use maturity-based bank cash flows and liquidity headroom—not corporate WCR / CCC.</a:t>
            </a:r>
          </a:p>
        </p:txBody>
      </p:sp>
      <p:sp>
        <p:nvSpPr>
          <p:cNvPr id="25" name="Rectangle 24"/>
          <p:cNvSpPr/>
          <p:nvPr/>
        </p:nvSpPr>
        <p:spPr>
          <a:xfrm>
            <a:off x="590550" y="4324350"/>
            <a:ext cx="3314700" cy="504825"/>
          </a:xfrm>
          <a:prstGeom prst="rect">
            <a:avLst/>
          </a:prstGeom>
          <a:solidFill>
            <a:srgbClr val="FFFFFF"/>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850" y="4410075"/>
            <a:ext cx="952500" cy="161925"/>
          </a:xfrm>
          <a:prstGeom prst="rect">
            <a:avLst/>
          </a:prstGeom>
          <a:noFill/>
        </p:spPr>
        <p:txBody>
          <a:bodyPr wrap="square" lIns="0" rIns="0" tIns="0" bIns="0" anchor="t">
            <a:spAutoFit/>
          </a:bodyPr>
          <a:lstStyle/>
          <a:p>
            <a:pPr algn="l">
              <a:lnSpc>
                <a:spcPct val="118000"/>
              </a:lnSpc>
              <a:spcBef>
                <a:spcPts val="0"/>
              </a:spcBef>
              <a:spcAft>
                <a:spcPts val="0"/>
              </a:spcAft>
            </a:pPr>
            <a:r>
              <a:rPr sz="675" b="1">
                <a:solidFill>
                  <a:srgbClr val="B51E2B"/>
                </a:solidFill>
                <a:latin typeface="Aptos"/>
              </a:rPr>
              <a:t>PUBLISHED</a:t>
            </a:r>
          </a:p>
        </p:txBody>
      </p:sp>
      <p:sp>
        <p:nvSpPr>
          <p:cNvPr id="27" name="TextBox 26"/>
          <p:cNvSpPr txBox="1"/>
          <p:nvPr/>
        </p:nvSpPr>
        <p:spPr>
          <a:xfrm>
            <a:off x="1657350" y="4391025"/>
            <a:ext cx="2114550" cy="323850"/>
          </a:xfrm>
          <a:prstGeom prst="rect">
            <a:avLst/>
          </a:prstGeom>
          <a:noFill/>
        </p:spPr>
        <p:txBody>
          <a:bodyPr wrap="square" lIns="0" rIns="0" tIns="0" bIns="0" anchor="t">
            <a:spAutoFit/>
          </a:bodyPr>
          <a:lstStyle/>
          <a:p>
            <a:pPr algn="l">
              <a:lnSpc>
                <a:spcPct val="115000"/>
              </a:lnSpc>
              <a:spcBef>
                <a:spcPts val="0"/>
              </a:spcBef>
              <a:spcAft>
                <a:spcPts val="0"/>
              </a:spcAft>
            </a:pPr>
            <a:r>
              <a:rPr sz="750" b="0">
                <a:solidFill>
                  <a:srgbClr val="5C5C58"/>
                </a:solidFill>
                <a:latin typeface="Aptos"/>
              </a:rPr>
              <a:t>UBS disclosures + regulator findings</a:t>
            </a:r>
          </a:p>
        </p:txBody>
      </p:sp>
      <p:sp>
        <p:nvSpPr>
          <p:cNvPr id="28" name="Rectangle 27"/>
          <p:cNvSpPr/>
          <p:nvPr/>
        </p:nvSpPr>
        <p:spPr>
          <a:xfrm>
            <a:off x="4229100" y="4324350"/>
            <a:ext cx="3314700" cy="504825"/>
          </a:xfrm>
          <a:prstGeom prst="rect">
            <a:avLst/>
          </a:prstGeom>
          <a:solidFill>
            <a:srgbClr val="FFFFFF"/>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43400" y="4410075"/>
            <a:ext cx="952500" cy="161925"/>
          </a:xfrm>
          <a:prstGeom prst="rect">
            <a:avLst/>
          </a:prstGeom>
          <a:noFill/>
        </p:spPr>
        <p:txBody>
          <a:bodyPr wrap="square" lIns="0" rIns="0" tIns="0" bIns="0" anchor="t">
            <a:spAutoFit/>
          </a:bodyPr>
          <a:lstStyle/>
          <a:p>
            <a:pPr algn="l">
              <a:lnSpc>
                <a:spcPct val="118000"/>
              </a:lnSpc>
              <a:spcBef>
                <a:spcPts val="0"/>
              </a:spcBef>
              <a:spcAft>
                <a:spcPts val="0"/>
              </a:spcAft>
            </a:pPr>
            <a:r>
              <a:rPr sz="675" b="1">
                <a:solidFill>
                  <a:srgbClr val="B51E2B"/>
                </a:solidFill>
                <a:latin typeface="Aptos"/>
              </a:rPr>
              <a:t>ASSUMED</a:t>
            </a:r>
          </a:p>
        </p:txBody>
      </p:sp>
      <p:sp>
        <p:nvSpPr>
          <p:cNvPr id="30" name="TextBox 29"/>
          <p:cNvSpPr txBox="1"/>
          <p:nvPr/>
        </p:nvSpPr>
        <p:spPr>
          <a:xfrm>
            <a:off x="5295900" y="4391025"/>
            <a:ext cx="2114550" cy="323850"/>
          </a:xfrm>
          <a:prstGeom prst="rect">
            <a:avLst/>
          </a:prstGeom>
          <a:noFill/>
        </p:spPr>
        <p:txBody>
          <a:bodyPr wrap="square" lIns="0" rIns="0" tIns="0" bIns="0" anchor="t">
            <a:spAutoFit/>
          </a:bodyPr>
          <a:lstStyle/>
          <a:p>
            <a:pPr algn="l">
              <a:lnSpc>
                <a:spcPct val="115000"/>
              </a:lnSpc>
              <a:spcBef>
                <a:spcPts val="0"/>
              </a:spcBef>
              <a:spcAft>
                <a:spcPts val="0"/>
              </a:spcAft>
            </a:pPr>
            <a:r>
              <a:rPr sz="750" b="0">
                <a:solidFill>
                  <a:srgbClr val="5C5C58"/>
                </a:solidFill>
                <a:latin typeface="Aptos"/>
              </a:rPr>
              <a:t>Inputs explicitly labelled in the cash model</a:t>
            </a:r>
          </a:p>
        </p:txBody>
      </p:sp>
      <p:sp>
        <p:nvSpPr>
          <p:cNvPr id="31" name="Rectangle 30"/>
          <p:cNvSpPr/>
          <p:nvPr/>
        </p:nvSpPr>
        <p:spPr>
          <a:xfrm>
            <a:off x="7867649" y="4324350"/>
            <a:ext cx="3314700" cy="504825"/>
          </a:xfrm>
          <a:prstGeom prst="rect">
            <a:avLst/>
          </a:prstGeom>
          <a:solidFill>
            <a:srgbClr val="FFFFFF"/>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81949" y="4410075"/>
            <a:ext cx="952500" cy="161925"/>
          </a:xfrm>
          <a:prstGeom prst="rect">
            <a:avLst/>
          </a:prstGeom>
          <a:noFill/>
        </p:spPr>
        <p:txBody>
          <a:bodyPr wrap="square" lIns="0" rIns="0" tIns="0" bIns="0" anchor="t">
            <a:spAutoFit/>
          </a:bodyPr>
          <a:lstStyle/>
          <a:p>
            <a:pPr algn="l">
              <a:lnSpc>
                <a:spcPct val="118000"/>
              </a:lnSpc>
              <a:spcBef>
                <a:spcPts val="0"/>
              </a:spcBef>
              <a:spcAft>
                <a:spcPts val="0"/>
              </a:spcAft>
            </a:pPr>
            <a:r>
              <a:rPr sz="675" b="1">
                <a:solidFill>
                  <a:srgbClr val="B51E2B"/>
                </a:solidFill>
                <a:latin typeface="Aptos"/>
              </a:rPr>
              <a:t>STRESSED</a:t>
            </a:r>
          </a:p>
        </p:txBody>
      </p:sp>
      <p:sp>
        <p:nvSpPr>
          <p:cNvPr id="33" name="TextBox 32"/>
          <p:cNvSpPr txBox="1"/>
          <p:nvPr/>
        </p:nvSpPr>
        <p:spPr>
          <a:xfrm>
            <a:off x="8934450" y="4391025"/>
            <a:ext cx="2114550" cy="323850"/>
          </a:xfrm>
          <a:prstGeom prst="rect">
            <a:avLst/>
          </a:prstGeom>
          <a:noFill/>
        </p:spPr>
        <p:txBody>
          <a:bodyPr wrap="square" lIns="0" rIns="0" tIns="0" bIns="0" anchor="t">
            <a:spAutoFit/>
          </a:bodyPr>
          <a:lstStyle/>
          <a:p>
            <a:pPr algn="l">
              <a:lnSpc>
                <a:spcPct val="115000"/>
              </a:lnSpc>
              <a:spcBef>
                <a:spcPts val="0"/>
              </a:spcBef>
              <a:spcAft>
                <a:spcPts val="0"/>
              </a:spcAft>
            </a:pPr>
            <a:r>
              <a:rPr sz="750" b="0">
                <a:solidFill>
                  <a:srgbClr val="5C5C58"/>
                </a:solidFill>
                <a:latin typeface="Aptos"/>
              </a:rPr>
              <a:t>Sensitivity cases, never presented as historical outcomes</a:t>
            </a:r>
          </a:p>
        </p:txBody>
      </p:sp>
      <p:sp>
        <p:nvSpPr>
          <p:cNvPr id="34" name="TextBox 33"/>
          <p:cNvSpPr txBox="1"/>
          <p:nvPr/>
        </p:nvSpPr>
        <p:spPr>
          <a:xfrm>
            <a:off x="590550" y="5095875"/>
            <a:ext cx="10715625" cy="409575"/>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171717"/>
                </a:solidFill>
                <a:latin typeface="Aptos"/>
              </a:rPr>
              <a:t>Three parts: (I) incident and cash transmission  ·  (II) cash bridge and funding need  ·  (III) residual risks and CFO actions.</a:t>
            </a:r>
          </a:p>
        </p:txBody>
      </p:sp>
      <p:sp>
        <p:nvSpPr>
          <p:cNvPr id="35" name="TextBox 34"/>
          <p:cNvSpPr txBox="1"/>
          <p:nvPr/>
        </p:nvSpPr>
        <p:spPr>
          <a:xfrm>
            <a:off x="590550" y="5695950"/>
            <a:ext cx="10715625" cy="333375"/>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5C5C58"/>
                </a:solidFill>
                <a:latin typeface="Aptos"/>
              </a:rPr>
              <a:t>Subsequent disclosures explain the outcome; they are not treated as information Treasury had on 14 September.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PART I · 1.1 BUSINESS MODEL &amp; CASH CYCLE</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UBS’s bank cash cycle is governed by timing, currency and location</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Simplified 2011 bank cash-cycle exhibit. Liquidity resources must be available when and where due.</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CALVIN  /  03</a:t>
            </a:r>
          </a:p>
        </p:txBody>
      </p:sp>
      <p:sp>
        <p:nvSpPr>
          <p:cNvPr id="12" name="TextBox 11"/>
          <p:cNvSpPr txBox="1"/>
          <p:nvPr/>
        </p:nvSpPr>
        <p:spPr>
          <a:xfrm>
            <a:off x="552450" y="1381125"/>
            <a:ext cx="10477500" cy="219075"/>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B51E2B"/>
                </a:solidFill>
                <a:latin typeface="Aptos"/>
              </a:rPr>
              <a:t>2011 GROUP CONTEXT  Wealth management  ·  Swiss banking  ·  Asset management  ·  Investment Bank</a:t>
            </a:r>
          </a:p>
        </p:txBody>
      </p:sp>
      <p:sp>
        <p:nvSpPr>
          <p:cNvPr id="13" name="Rectangle 12"/>
          <p:cNvSpPr/>
          <p:nvPr/>
        </p:nvSpPr>
        <p:spPr>
          <a:xfrm>
            <a:off x="552450" y="1714500"/>
            <a:ext cx="11049000" cy="78105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950" y="1847850"/>
            <a:ext cx="247650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CASE PERIMETER</a:t>
            </a:r>
          </a:p>
        </p:txBody>
      </p:sp>
      <p:sp>
        <p:nvSpPr>
          <p:cNvPr id="15" name="TextBox 14"/>
          <p:cNvSpPr txBox="1"/>
          <p:nvPr/>
        </p:nvSpPr>
        <p:spPr>
          <a:xfrm>
            <a:off x="742950" y="2085975"/>
            <a:ext cx="10572750" cy="266700"/>
          </a:xfrm>
          <a:prstGeom prst="rect">
            <a:avLst/>
          </a:prstGeom>
          <a:noFill/>
        </p:spPr>
        <p:txBody>
          <a:bodyPr wrap="square" lIns="0" rIns="0" tIns="0" bIns="0" anchor="t">
            <a:spAutoFit/>
          </a:bodyPr>
          <a:lstStyle/>
          <a:p>
            <a:pPr algn="l">
              <a:lnSpc>
                <a:spcPct val="118000"/>
              </a:lnSpc>
              <a:spcBef>
                <a:spcPts val="0"/>
              </a:spcBef>
              <a:spcAft>
                <a:spcPts val="0"/>
              </a:spcAft>
            </a:pPr>
            <a:r>
              <a:rPr sz="1200" b="1">
                <a:solidFill>
                  <a:srgbClr val="171717"/>
                </a:solidFill>
                <a:latin typeface="Aptos"/>
              </a:rPr>
              <a:t>Kweku Adoboli traded on UBS Investment Bank’s London ETF desk in Global Synthetic Equities.</a:t>
            </a:r>
          </a:p>
        </p:txBody>
      </p:sp>
      <p:sp>
        <p:nvSpPr>
          <p:cNvPr id="16" name="Rectangle 15"/>
          <p:cNvSpPr/>
          <p:nvPr/>
        </p:nvSpPr>
        <p:spPr>
          <a:xfrm>
            <a:off x="552450" y="2752725"/>
            <a:ext cx="5219700" cy="1400175"/>
          </a:xfrm>
          <a:prstGeom prst="rect">
            <a:avLst/>
          </a:prstGeom>
          <a:solidFill>
            <a:srgbClr val="F6F8F5"/>
          </a:solidFill>
          <a:ln w="12700">
            <a:solidFill>
              <a:srgbClr val="CC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2950" y="2905125"/>
            <a:ext cx="4667250" cy="190500"/>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4C826C"/>
                </a:solidFill>
                <a:latin typeface="Aptos"/>
              </a:rPr>
              <a:t>RECEIPTS  /  CASH IN</a:t>
            </a:r>
          </a:p>
        </p:txBody>
      </p:sp>
      <p:sp>
        <p:nvSpPr>
          <p:cNvPr id="18" name="TextBox 17"/>
          <p:cNvSpPr txBox="1"/>
          <p:nvPr/>
        </p:nvSpPr>
        <p:spPr>
          <a:xfrm>
            <a:off x="742950" y="3219450"/>
            <a:ext cx="4714875" cy="752475"/>
          </a:xfrm>
          <a:prstGeom prst="rect">
            <a:avLst/>
          </a:prstGeom>
          <a:noFill/>
        </p:spPr>
        <p:txBody>
          <a:bodyPr wrap="square" lIns="0" rIns="0" tIns="0" bIns="0" anchor="t">
            <a:spAutoFit/>
          </a:bodyPr>
          <a:lstStyle/>
          <a:p>
            <a:pPr algn="l">
              <a:lnSpc>
                <a:spcPct val="140000"/>
              </a:lnSpc>
              <a:spcBef>
                <a:spcPts val="0"/>
              </a:spcBef>
              <a:spcAft>
                <a:spcPts val="0"/>
              </a:spcAft>
            </a:pPr>
            <a:r>
              <a:rPr sz="975" b="0">
                <a:solidFill>
                  <a:srgbClr val="171717"/>
                </a:solidFill>
                <a:latin typeface="Aptos"/>
              </a:rPr>
              <a:t>Customer deposits · loan repayments · fees</a:t>
            </a:r>
          </a:p>
          <a:p>
            <a:pPr algn="l">
              <a:lnSpc>
                <a:spcPct val="140000"/>
              </a:lnSpc>
              <a:spcBef>
                <a:spcPts val="0"/>
              </a:spcBef>
              <a:spcAft>
                <a:spcPts val="0"/>
              </a:spcAft>
            </a:pPr>
            <a:r>
              <a:rPr sz="975" b="0">
                <a:solidFill>
                  <a:srgbClr val="171717"/>
                </a:solidFill>
                <a:latin typeface="Aptos"/>
              </a:rPr>
              <a:t>Trading settlements due to UBS · funding proceeds</a:t>
            </a:r>
          </a:p>
        </p:txBody>
      </p:sp>
      <p:sp>
        <p:nvSpPr>
          <p:cNvPr id="19" name="Rectangle 18"/>
          <p:cNvSpPr/>
          <p:nvPr/>
        </p:nvSpPr>
        <p:spPr>
          <a:xfrm>
            <a:off x="6057900" y="2752725"/>
            <a:ext cx="5543550" cy="1400175"/>
          </a:xfrm>
          <a:prstGeom prst="rect">
            <a:avLst/>
          </a:prstGeom>
          <a:solidFill>
            <a:srgbClr val="FAF4F4"/>
          </a:solidFill>
          <a:ln w="12700">
            <a:solidFill>
              <a:srgbClr val="E5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8400" y="2905125"/>
            <a:ext cx="4953000" cy="190500"/>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E3000B"/>
                </a:solidFill>
                <a:latin typeface="Aptos"/>
              </a:rPr>
              <a:t>PAYMENTS  /  CASH OUT</a:t>
            </a:r>
          </a:p>
        </p:txBody>
      </p:sp>
      <p:sp>
        <p:nvSpPr>
          <p:cNvPr id="21" name="TextBox 20"/>
          <p:cNvSpPr txBox="1"/>
          <p:nvPr/>
        </p:nvSpPr>
        <p:spPr>
          <a:xfrm>
            <a:off x="6248400" y="3219450"/>
            <a:ext cx="4953000" cy="752475"/>
          </a:xfrm>
          <a:prstGeom prst="rect">
            <a:avLst/>
          </a:prstGeom>
          <a:noFill/>
        </p:spPr>
        <p:txBody>
          <a:bodyPr wrap="square" lIns="0" rIns="0" tIns="0" bIns="0" anchor="t">
            <a:spAutoFit/>
          </a:bodyPr>
          <a:lstStyle/>
          <a:p>
            <a:pPr algn="l">
              <a:lnSpc>
                <a:spcPct val="140000"/>
              </a:lnSpc>
              <a:spcBef>
                <a:spcPts val="0"/>
              </a:spcBef>
              <a:spcAft>
                <a:spcPts val="0"/>
              </a:spcAft>
            </a:pPr>
            <a:r>
              <a:rPr sz="975" b="0">
                <a:solidFill>
                  <a:srgbClr val="171717"/>
                </a:solidFill>
                <a:latin typeface="Aptos"/>
              </a:rPr>
              <a:t>Withdrawals · lending commitments · trade settlements</a:t>
            </a:r>
          </a:p>
          <a:p>
            <a:pPr algn="l">
              <a:lnSpc>
                <a:spcPct val="140000"/>
              </a:lnSpc>
              <a:spcBef>
                <a:spcPts val="0"/>
              </a:spcBef>
              <a:spcAft>
                <a:spcPts val="0"/>
              </a:spcAft>
            </a:pPr>
            <a:r>
              <a:rPr sz="975" b="0">
                <a:solidFill>
                  <a:srgbClr val="171717"/>
                </a:solidFill>
                <a:latin typeface="Aptos"/>
              </a:rPr>
              <a:t>Collateral · debt maturities · payroll and suppliers</a:t>
            </a:r>
          </a:p>
        </p:txBody>
      </p:sp>
      <p:sp>
        <p:nvSpPr>
          <p:cNvPr id="22" name="Rectangle 21"/>
          <p:cNvSpPr/>
          <p:nvPr/>
        </p:nvSpPr>
        <p:spPr>
          <a:xfrm>
            <a:off x="552450" y="4467225"/>
            <a:ext cx="11049000" cy="981075"/>
          </a:xfrm>
          <a:prstGeom prst="rect">
            <a:avLst/>
          </a:prstGeom>
          <a:solidFill>
            <a:srgbClr val="F2F1ED"/>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2950" y="4629150"/>
            <a:ext cx="23812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LIQUIDITY ≠ PROFITABILITY ≠ CAPITAL</a:t>
            </a:r>
          </a:p>
        </p:txBody>
      </p:sp>
      <p:sp>
        <p:nvSpPr>
          <p:cNvPr id="24" name="TextBox 23"/>
          <p:cNvSpPr txBox="1"/>
          <p:nvPr/>
        </p:nvSpPr>
        <p:spPr>
          <a:xfrm>
            <a:off x="742950" y="4895850"/>
            <a:ext cx="10572750" cy="409575"/>
          </a:xfrm>
          <a:prstGeom prst="rect">
            <a:avLst/>
          </a:prstGeom>
          <a:noFill/>
        </p:spPr>
        <p:txBody>
          <a:bodyPr wrap="square" lIns="0" rIns="0" tIns="0" bIns="0" anchor="t">
            <a:spAutoFit/>
          </a:bodyPr>
          <a:lstStyle/>
          <a:p>
            <a:pPr algn="l">
              <a:lnSpc>
                <a:spcPct val="125000"/>
              </a:lnSpc>
              <a:spcBef>
                <a:spcPts val="0"/>
              </a:spcBef>
              <a:spcAft>
                <a:spcPts val="0"/>
              </a:spcAft>
            </a:pPr>
            <a:r>
              <a:rPr sz="975" b="0">
                <a:solidFill>
                  <a:srgbClr val="171717"/>
                </a:solidFill>
                <a:latin typeface="Aptos"/>
              </a:rPr>
              <a:t>Liquidity is cash and assets realistically monetisable within the required time. Group cash may be trapped by legal entity, currency, collateral eligibility or transfer delay.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PART I · 1.2 CHRONOLOGY &amp; CONCEALMENT</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Real futures exposure was hidden by fictitious offsetting records</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Sources: [1] FINMA §§11–18; [2] FSA §§23–25; [3] UBS Supplement No. 2; [4] UBS Q3 2011.</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CALVIN  /  04</a:t>
            </a:r>
          </a:p>
        </p:txBody>
      </p:sp>
      <p:cxnSp>
        <p:nvCxnSpPr>
          <p:cNvPr id="12" name="Connector 11"/>
          <p:cNvCxnSpPr/>
          <p:nvPr/>
        </p:nvCxnSpPr>
        <p:spPr>
          <a:xfrm>
            <a:off x="809625" y="1752600"/>
            <a:ext cx="7429499" cy="0"/>
          </a:xfrm>
          <a:prstGeom prst="line">
            <a:avLst/>
          </a:prstGeom>
          <a:ln w="25400">
            <a:solidFill>
              <a:srgbClr val="D8D7D2"/>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38200" y="1685925"/>
            <a:ext cx="133350" cy="133350"/>
          </a:xfrm>
          <a:prstGeom prst="ellipse">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4375" y="1438275"/>
            <a:ext cx="14287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14 SEP</a:t>
            </a:r>
          </a:p>
        </p:txBody>
      </p:sp>
      <p:sp>
        <p:nvSpPr>
          <p:cNvPr id="15" name="TextBox 14"/>
          <p:cNvSpPr txBox="1"/>
          <p:nvPr/>
        </p:nvSpPr>
        <p:spPr>
          <a:xfrm>
            <a:off x="714375" y="1943100"/>
            <a:ext cx="1619250" cy="447675"/>
          </a:xfrm>
          <a:prstGeom prst="rect">
            <a:avLst/>
          </a:prstGeom>
          <a:noFill/>
        </p:spPr>
        <p:txBody>
          <a:bodyPr wrap="square" lIns="0" rIns="0" tIns="0" bIns="0" anchor="t">
            <a:spAutoFit/>
          </a:bodyPr>
          <a:lstStyle/>
          <a:p>
            <a:pPr algn="l">
              <a:lnSpc>
                <a:spcPct val="120000"/>
              </a:lnSpc>
              <a:spcBef>
                <a:spcPts val="0"/>
              </a:spcBef>
              <a:spcAft>
                <a:spcPts val="0"/>
              </a:spcAft>
            </a:pPr>
            <a:r>
              <a:rPr sz="825" b="0">
                <a:solidFill>
                  <a:srgbClr val="171717"/>
                </a:solidFill>
                <a:latin typeface="Aptos"/>
              </a:rPr>
              <a:t>UBS discovers Adoboli’s</a:t>
            </a:r>
          </a:p>
          <a:p>
            <a:pPr algn="l">
              <a:lnSpc>
                <a:spcPct val="120000"/>
              </a:lnSpc>
              <a:spcBef>
                <a:spcPts val="0"/>
              </a:spcBef>
              <a:spcAft>
                <a:spcPts val="0"/>
              </a:spcAft>
            </a:pPr>
            <a:r>
              <a:rPr sz="825" b="0">
                <a:solidFill>
                  <a:srgbClr val="171717"/>
                </a:solidFill>
                <a:latin typeface="Aptos"/>
              </a:rPr>
              <a:t>unauthorised futures positions</a:t>
            </a:r>
          </a:p>
        </p:txBody>
      </p:sp>
      <p:sp>
        <p:nvSpPr>
          <p:cNvPr id="16" name="Oval 15"/>
          <p:cNvSpPr/>
          <p:nvPr/>
        </p:nvSpPr>
        <p:spPr>
          <a:xfrm>
            <a:off x="2695575" y="1685925"/>
            <a:ext cx="133350" cy="133350"/>
          </a:xfrm>
          <a:prstGeom prst="ellipse">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71750" y="1438275"/>
            <a:ext cx="14287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15 SEP</a:t>
            </a:r>
          </a:p>
        </p:txBody>
      </p:sp>
      <p:sp>
        <p:nvSpPr>
          <p:cNvPr id="18" name="TextBox 17"/>
          <p:cNvSpPr txBox="1"/>
          <p:nvPr/>
        </p:nvSpPr>
        <p:spPr>
          <a:xfrm>
            <a:off x="2571750" y="1943100"/>
            <a:ext cx="1619250" cy="447675"/>
          </a:xfrm>
          <a:prstGeom prst="rect">
            <a:avLst/>
          </a:prstGeom>
          <a:noFill/>
        </p:spPr>
        <p:txBody>
          <a:bodyPr wrap="square" lIns="0" rIns="0" tIns="0" bIns="0" anchor="t">
            <a:spAutoFit/>
          </a:bodyPr>
          <a:lstStyle/>
          <a:p>
            <a:pPr algn="l">
              <a:lnSpc>
                <a:spcPct val="120000"/>
              </a:lnSpc>
              <a:spcBef>
                <a:spcPts val="0"/>
              </a:spcBef>
              <a:spcAft>
                <a:spcPts val="0"/>
              </a:spcAft>
            </a:pPr>
            <a:r>
              <a:rPr sz="825" b="0">
                <a:solidFill>
                  <a:srgbClr val="171717"/>
                </a:solidFill>
                <a:latin typeface="Aptos"/>
              </a:rPr>
              <a:t>Initial loss estimate</a:t>
            </a:r>
          </a:p>
          <a:p>
            <a:pPr algn="l">
              <a:lnSpc>
                <a:spcPct val="120000"/>
              </a:lnSpc>
              <a:spcBef>
                <a:spcPts val="0"/>
              </a:spcBef>
              <a:spcAft>
                <a:spcPts val="0"/>
              </a:spcAft>
            </a:pPr>
            <a:r>
              <a:rPr sz="825" b="0">
                <a:solidFill>
                  <a:srgbClr val="171717"/>
                </a:solidFill>
                <a:latin typeface="Aptos"/>
              </a:rPr>
              <a:t>~USD 2.0bn</a:t>
            </a:r>
          </a:p>
        </p:txBody>
      </p:sp>
      <p:sp>
        <p:nvSpPr>
          <p:cNvPr id="19" name="Oval 18"/>
          <p:cNvSpPr/>
          <p:nvPr/>
        </p:nvSpPr>
        <p:spPr>
          <a:xfrm>
            <a:off x="4552950" y="1685925"/>
            <a:ext cx="133350" cy="133350"/>
          </a:xfrm>
          <a:prstGeom prst="ellipse">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29125" y="1438275"/>
            <a:ext cx="14287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18 SEP</a:t>
            </a:r>
          </a:p>
        </p:txBody>
      </p:sp>
      <p:sp>
        <p:nvSpPr>
          <p:cNvPr id="21" name="TextBox 20"/>
          <p:cNvSpPr txBox="1"/>
          <p:nvPr/>
        </p:nvSpPr>
        <p:spPr>
          <a:xfrm>
            <a:off x="4429125" y="1943100"/>
            <a:ext cx="1619250" cy="447675"/>
          </a:xfrm>
          <a:prstGeom prst="rect">
            <a:avLst/>
          </a:prstGeom>
          <a:noFill/>
        </p:spPr>
        <p:txBody>
          <a:bodyPr wrap="square" lIns="0" rIns="0" tIns="0" bIns="0" anchor="t">
            <a:spAutoFit/>
          </a:bodyPr>
          <a:lstStyle/>
          <a:p>
            <a:pPr algn="l">
              <a:lnSpc>
                <a:spcPct val="120000"/>
              </a:lnSpc>
              <a:spcBef>
                <a:spcPts val="0"/>
              </a:spcBef>
              <a:spcAft>
                <a:spcPts val="0"/>
              </a:spcAft>
            </a:pPr>
            <a:r>
              <a:rPr sz="825" b="0">
                <a:solidFill>
                  <a:srgbClr val="171717"/>
                </a:solidFill>
                <a:latin typeface="Aptos"/>
              </a:rPr>
              <a:t>UBS says risk covered;</a:t>
            </a:r>
          </a:p>
          <a:p>
            <a:pPr algn="l">
              <a:lnSpc>
                <a:spcPct val="120000"/>
              </a:lnSpc>
              <a:spcBef>
                <a:spcPts val="0"/>
              </a:spcBef>
              <a:spcAft>
                <a:spcPts val="0"/>
              </a:spcAft>
            </a:pPr>
            <a:r>
              <a:rPr sz="825" b="0">
                <a:solidFill>
                  <a:srgbClr val="171717"/>
                </a:solidFill>
                <a:latin typeface="Aptos"/>
              </a:rPr>
              <a:t>equities within limits</a:t>
            </a:r>
          </a:p>
        </p:txBody>
      </p:sp>
      <p:sp>
        <p:nvSpPr>
          <p:cNvPr id="22" name="Oval 21"/>
          <p:cNvSpPr/>
          <p:nvPr/>
        </p:nvSpPr>
        <p:spPr>
          <a:xfrm>
            <a:off x="6410325" y="1685925"/>
            <a:ext cx="133350" cy="133350"/>
          </a:xfrm>
          <a:prstGeom prst="ellipse">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86500" y="1438275"/>
            <a:ext cx="14287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04 OCT</a:t>
            </a:r>
          </a:p>
        </p:txBody>
      </p:sp>
      <p:sp>
        <p:nvSpPr>
          <p:cNvPr id="24" name="TextBox 23"/>
          <p:cNvSpPr txBox="1"/>
          <p:nvPr/>
        </p:nvSpPr>
        <p:spPr>
          <a:xfrm>
            <a:off x="6286500" y="1943100"/>
            <a:ext cx="1619250" cy="447675"/>
          </a:xfrm>
          <a:prstGeom prst="rect">
            <a:avLst/>
          </a:prstGeom>
          <a:noFill/>
        </p:spPr>
        <p:txBody>
          <a:bodyPr wrap="square" lIns="0" rIns="0" tIns="0" bIns="0" anchor="t">
            <a:spAutoFit/>
          </a:bodyPr>
          <a:lstStyle/>
          <a:p>
            <a:pPr algn="l">
              <a:lnSpc>
                <a:spcPct val="120000"/>
              </a:lnSpc>
              <a:spcBef>
                <a:spcPts val="0"/>
              </a:spcBef>
              <a:spcAft>
                <a:spcPts val="0"/>
              </a:spcAft>
            </a:pPr>
            <a:r>
              <a:rPr sz="825" b="0">
                <a:solidFill>
                  <a:srgbClr val="171717"/>
                </a:solidFill>
                <a:latin typeface="Aptos"/>
              </a:rPr>
              <a:t>Revised estimate</a:t>
            </a:r>
          </a:p>
          <a:p>
            <a:pPr algn="l">
              <a:lnSpc>
                <a:spcPct val="120000"/>
              </a:lnSpc>
              <a:spcBef>
                <a:spcPts val="0"/>
              </a:spcBef>
              <a:spcAft>
                <a:spcPts val="0"/>
              </a:spcAft>
            </a:pPr>
            <a:r>
              <a:rPr sz="825" b="0">
                <a:solidFill>
                  <a:srgbClr val="171717"/>
                </a:solidFill>
                <a:latin typeface="Aptos"/>
              </a:rPr>
              <a:t>USD 2.3bn</a:t>
            </a:r>
          </a:p>
        </p:txBody>
      </p:sp>
      <p:sp>
        <p:nvSpPr>
          <p:cNvPr id="25" name="Rectangle 24"/>
          <p:cNvSpPr/>
          <p:nvPr/>
        </p:nvSpPr>
        <p:spPr>
          <a:xfrm>
            <a:off x="571500" y="2686050"/>
            <a:ext cx="2762250" cy="110490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2950" y="2828925"/>
            <a:ext cx="23812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E3000B"/>
                </a:solidFill>
                <a:latin typeface="Aptos"/>
              </a:rPr>
              <a:t>REAL MARKET POSITION</a:t>
            </a:r>
          </a:p>
        </p:txBody>
      </p:sp>
      <p:sp>
        <p:nvSpPr>
          <p:cNvPr id="27" name="TextBox 26"/>
          <p:cNvSpPr txBox="1"/>
          <p:nvPr/>
        </p:nvSpPr>
        <p:spPr>
          <a:xfrm>
            <a:off x="742950" y="3105150"/>
            <a:ext cx="2381250" cy="514350"/>
          </a:xfrm>
          <a:prstGeom prst="rect">
            <a:avLst/>
          </a:prstGeom>
          <a:noFill/>
        </p:spPr>
        <p:txBody>
          <a:bodyPr wrap="square" lIns="0" rIns="0" tIns="0" bIns="0" anchor="t">
            <a:spAutoFit/>
          </a:bodyPr>
          <a:lstStyle/>
          <a:p>
            <a:pPr algn="l">
              <a:lnSpc>
                <a:spcPct val="125000"/>
              </a:lnSpc>
              <a:spcBef>
                <a:spcPts val="0"/>
              </a:spcBef>
              <a:spcAft>
                <a:spcPts val="0"/>
              </a:spcAft>
            </a:pPr>
            <a:r>
              <a:rPr sz="975" b="1">
                <a:solidFill>
                  <a:srgbClr val="171717"/>
                </a:solidFill>
                <a:latin typeface="Aptos"/>
              </a:rPr>
              <a:t>Long / short index futures</a:t>
            </a:r>
          </a:p>
          <a:p>
            <a:pPr algn="l">
              <a:lnSpc>
                <a:spcPct val="125000"/>
              </a:lnSpc>
              <a:spcBef>
                <a:spcPts val="0"/>
              </a:spcBef>
              <a:spcAft>
                <a:spcPts val="0"/>
              </a:spcAft>
            </a:pPr>
            <a:r>
              <a:rPr sz="975" b="1">
                <a:solidFill>
                  <a:srgbClr val="171717"/>
                </a:solidFill>
                <a:latin typeface="Aptos"/>
              </a:rPr>
              <a:t>with genuine external risk</a:t>
            </a:r>
          </a:p>
        </p:txBody>
      </p:sp>
      <p:cxnSp>
        <p:nvCxnSpPr>
          <p:cNvPr id="28" name="Connector 27"/>
          <p:cNvCxnSpPr/>
          <p:nvPr/>
        </p:nvCxnSpPr>
        <p:spPr>
          <a:xfrm>
            <a:off x="3333750" y="3238500"/>
            <a:ext cx="381000" cy="0"/>
          </a:xfrm>
          <a:prstGeom prst="line">
            <a:avLst/>
          </a:prstGeom>
          <a:ln w="25400">
            <a:solidFill>
              <a:srgbClr val="98989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57600" y="3181350"/>
            <a:ext cx="76199" cy="57150"/>
          </a:xfrm>
          <a:prstGeom prst="line">
            <a:avLst/>
          </a:prstGeom>
          <a:ln w="25400">
            <a:solidFill>
              <a:srgbClr val="98989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3657600" y="3238500"/>
            <a:ext cx="76199" cy="57150"/>
          </a:xfrm>
          <a:prstGeom prst="line">
            <a:avLst/>
          </a:prstGeom>
          <a:ln w="25400">
            <a:solidFill>
              <a:srgbClr val="989892"/>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800475" y="2686050"/>
            <a:ext cx="3286125" cy="110490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71925" y="2828925"/>
            <a:ext cx="29527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FALSE BOOK ENTRIES</a:t>
            </a:r>
          </a:p>
        </p:txBody>
      </p:sp>
      <p:sp>
        <p:nvSpPr>
          <p:cNvPr id="33" name="TextBox 32"/>
          <p:cNvSpPr txBox="1"/>
          <p:nvPr/>
        </p:nvSpPr>
        <p:spPr>
          <a:xfrm>
            <a:off x="3971925" y="3105150"/>
            <a:ext cx="2952750" cy="571500"/>
          </a:xfrm>
          <a:prstGeom prst="rect">
            <a:avLst/>
          </a:prstGeom>
          <a:noFill/>
        </p:spPr>
        <p:txBody>
          <a:bodyPr wrap="square" lIns="0" rIns="0" tIns="0" bIns="0" anchor="t">
            <a:spAutoFit/>
          </a:bodyPr>
          <a:lstStyle/>
          <a:p>
            <a:pPr algn="l">
              <a:lnSpc>
                <a:spcPct val="115000"/>
              </a:lnSpc>
              <a:spcBef>
                <a:spcPts val="0"/>
              </a:spcBef>
              <a:spcAft>
                <a:spcPts val="0"/>
              </a:spcAft>
            </a:pPr>
            <a:r>
              <a:rPr sz="825" b="1">
                <a:solidFill>
                  <a:srgbClr val="171717"/>
                </a:solidFill>
                <a:latin typeface="Aptos"/>
              </a:rPr>
              <a:t>One-sided internal futures · late bookings</a:t>
            </a:r>
          </a:p>
          <a:p>
            <a:pPr algn="l">
              <a:lnSpc>
                <a:spcPct val="115000"/>
              </a:lnSpc>
              <a:spcBef>
                <a:spcPts val="0"/>
              </a:spcBef>
              <a:spcAft>
                <a:spcPts val="0"/>
              </a:spcAft>
            </a:pPr>
            <a:r>
              <a:rPr sz="825" b="1">
                <a:solidFill>
                  <a:srgbClr val="171717"/>
                </a:solidFill>
                <a:latin typeface="Aptos"/>
              </a:rPr>
              <a:t>Fictitious deferred-settlement ETFs;</a:t>
            </a:r>
          </a:p>
          <a:p>
            <a:pPr algn="l">
              <a:lnSpc>
                <a:spcPct val="115000"/>
              </a:lnSpc>
              <a:spcBef>
                <a:spcPts val="0"/>
              </a:spcBef>
              <a:spcAft>
                <a:spcPts val="0"/>
              </a:spcAft>
            </a:pPr>
            <a:r>
              <a:rPr sz="825" b="1">
                <a:solidFill>
                  <a:srgbClr val="171717"/>
                </a:solidFill>
                <a:latin typeface="Aptos"/>
              </a:rPr>
              <a:t>no external risk position</a:t>
            </a:r>
          </a:p>
        </p:txBody>
      </p:sp>
      <p:cxnSp>
        <p:nvCxnSpPr>
          <p:cNvPr id="34" name="Connector 33"/>
          <p:cNvCxnSpPr/>
          <p:nvPr/>
        </p:nvCxnSpPr>
        <p:spPr>
          <a:xfrm>
            <a:off x="7086600" y="3238500"/>
            <a:ext cx="361950" cy="0"/>
          </a:xfrm>
          <a:prstGeom prst="line">
            <a:avLst/>
          </a:prstGeom>
          <a:ln w="25400">
            <a:solidFill>
              <a:srgbClr val="98989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391400" y="3181350"/>
            <a:ext cx="76199" cy="57150"/>
          </a:xfrm>
          <a:prstGeom prst="line">
            <a:avLst/>
          </a:prstGeom>
          <a:ln w="25400">
            <a:solidFill>
              <a:srgbClr val="989892"/>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7391400" y="3238500"/>
            <a:ext cx="76199" cy="57150"/>
          </a:xfrm>
          <a:prstGeom prst="line">
            <a:avLst/>
          </a:prstGeom>
          <a:ln w="25400">
            <a:solidFill>
              <a:srgbClr val="989892"/>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534275" y="2686050"/>
            <a:ext cx="3524250" cy="110490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05725" y="2828925"/>
            <a:ext cx="3190875"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617C8A"/>
                </a:solidFill>
                <a:latin typeface="Aptos"/>
              </a:rPr>
              <a:t>APPARENT CONTROL VIEW</a:t>
            </a:r>
          </a:p>
        </p:txBody>
      </p:sp>
      <p:sp>
        <p:nvSpPr>
          <p:cNvPr id="39" name="TextBox 38"/>
          <p:cNvSpPr txBox="1"/>
          <p:nvPr/>
        </p:nvSpPr>
        <p:spPr>
          <a:xfrm>
            <a:off x="7705725" y="3105150"/>
            <a:ext cx="3190875" cy="523874"/>
          </a:xfrm>
          <a:prstGeom prst="rect">
            <a:avLst/>
          </a:prstGeom>
          <a:noFill/>
        </p:spPr>
        <p:txBody>
          <a:bodyPr wrap="square" lIns="0" rIns="0" tIns="0" bIns="0" anchor="t">
            <a:spAutoFit/>
          </a:bodyPr>
          <a:lstStyle/>
          <a:p>
            <a:pPr algn="l">
              <a:lnSpc>
                <a:spcPct val="125000"/>
              </a:lnSpc>
              <a:spcBef>
                <a:spcPts val="0"/>
              </a:spcBef>
              <a:spcAft>
                <a:spcPts val="0"/>
              </a:spcAft>
            </a:pPr>
            <a:r>
              <a:rPr sz="900" b="1">
                <a:solidFill>
                  <a:srgbClr val="171717"/>
                </a:solidFill>
                <a:latin typeface="Aptos"/>
              </a:rPr>
              <a:t>Offsets looked real; reported risk / P&amp;L</a:t>
            </a:r>
          </a:p>
          <a:p>
            <a:pPr algn="l">
              <a:lnSpc>
                <a:spcPct val="125000"/>
              </a:lnSpc>
              <a:spcBef>
                <a:spcPts val="0"/>
              </a:spcBef>
              <a:spcAft>
                <a:spcPts val="0"/>
              </a:spcAft>
            </a:pPr>
            <a:r>
              <a:rPr sz="900" b="1">
                <a:solidFill>
                  <a:srgbClr val="171717"/>
                </a:solidFill>
                <a:latin typeface="Aptos"/>
              </a:rPr>
              <a:t>concealed the true exposure</a:t>
            </a:r>
          </a:p>
        </p:txBody>
      </p:sp>
      <p:pic>
        <p:nvPicPr>
          <p:cNvPr id="40" name="Picture 39" descr="adoboli-press-photo.png"/>
          <p:cNvPicPr>
            <a:picLocks noChangeAspect="1"/>
          </p:cNvPicPr>
          <p:nvPr/>
        </p:nvPicPr>
        <p:blipFill>
          <a:blip r:embed="rId4"/>
          <a:stretch>
            <a:fillRect/>
          </a:stretch>
        </p:blipFill>
        <p:spPr>
          <a:xfrm>
            <a:off x="590401" y="4048124"/>
            <a:ext cx="1810046" cy="1362075"/>
          </a:xfrm>
          <a:prstGeom prst="rect">
            <a:avLst/>
          </a:prstGeom>
        </p:spPr>
      </p:pic>
      <p:sp>
        <p:nvSpPr>
          <p:cNvPr id="41" name="TextBox 40"/>
          <p:cNvSpPr txBox="1"/>
          <p:nvPr/>
        </p:nvSpPr>
        <p:spPr>
          <a:xfrm>
            <a:off x="571500" y="5457825"/>
            <a:ext cx="2000250" cy="22860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Adoboli · user-supplied image; rights unverified</a:t>
            </a:r>
          </a:p>
        </p:txBody>
      </p:sp>
      <p:sp>
        <p:nvSpPr>
          <p:cNvPr id="42" name="TextBox 41"/>
          <p:cNvSpPr txBox="1"/>
          <p:nvPr/>
        </p:nvSpPr>
        <p:spPr>
          <a:xfrm>
            <a:off x="2724150" y="4143375"/>
            <a:ext cx="781049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5C5C58"/>
                </a:solidFill>
                <a:latin typeface="Aptos"/>
              </a:rPr>
              <a:t>FINMA-reported gross notional peaks (USD bn; not P&amp;L or net-delta risk)</a:t>
            </a:r>
          </a:p>
        </p:txBody>
      </p:sp>
      <p:sp>
        <p:nvSpPr>
          <p:cNvPr id="43" name="TextBox 42"/>
          <p:cNvSpPr txBox="1"/>
          <p:nvPr/>
        </p:nvSpPr>
        <p:spPr>
          <a:xfrm>
            <a:off x="2762250" y="4467225"/>
            <a:ext cx="1666875"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171717"/>
                </a:solidFill>
                <a:latin typeface="Aptos"/>
              </a:rPr>
              <a:t>LONG index futures</a:t>
            </a:r>
          </a:p>
        </p:txBody>
      </p:sp>
      <p:sp>
        <p:nvSpPr>
          <p:cNvPr id="44" name="Rectangle 43"/>
          <p:cNvSpPr/>
          <p:nvPr/>
        </p:nvSpPr>
        <p:spPr>
          <a:xfrm>
            <a:off x="2762250" y="4695825"/>
            <a:ext cx="2381250" cy="152400"/>
          </a:xfrm>
          <a:prstGeom prst="rect">
            <a:avLst/>
          </a:prstGeom>
          <a:solidFill>
            <a:srgbClr val="EEEDEA"/>
          </a:solidFill>
          <a:ln>
            <a:solidFill>
              <a:srgbClr val="EEE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762250" y="4695825"/>
            <a:ext cx="2216394" cy="152400"/>
          </a:xfrm>
          <a:prstGeom prst="rect">
            <a:avLst/>
          </a:prstGeom>
          <a:solidFill>
            <a:srgbClr val="E3000B"/>
          </a:solidFill>
          <a:ln>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238750" y="4676775"/>
            <a:ext cx="666750" cy="190500"/>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E3000B"/>
                </a:solidFill>
                <a:latin typeface="Aptos"/>
              </a:rPr>
              <a:t>12.1bn</a:t>
            </a:r>
          </a:p>
        </p:txBody>
      </p:sp>
      <p:sp>
        <p:nvSpPr>
          <p:cNvPr id="47" name="TextBox 46"/>
          <p:cNvSpPr txBox="1"/>
          <p:nvPr/>
        </p:nvSpPr>
        <p:spPr>
          <a:xfrm>
            <a:off x="2762250" y="4962525"/>
            <a:ext cx="3048000" cy="171450"/>
          </a:xfrm>
          <a:prstGeom prst="rect">
            <a:avLst/>
          </a:prstGeom>
          <a:noFill/>
        </p:spPr>
        <p:txBody>
          <a:bodyPr wrap="square" lIns="0" rIns="0" tIns="0" bIns="0" anchor="t">
            <a:spAutoFit/>
          </a:bodyPr>
          <a:lstStyle/>
          <a:p>
            <a:pPr algn="l">
              <a:lnSpc>
                <a:spcPct val="118000"/>
              </a:lnSpc>
              <a:spcBef>
                <a:spcPts val="0"/>
              </a:spcBef>
              <a:spcAft>
                <a:spcPts val="0"/>
              </a:spcAft>
            </a:pPr>
            <a:r>
              <a:rPr sz="675" b="0">
                <a:solidFill>
                  <a:srgbClr val="5C5C58"/>
                </a:solidFill>
                <a:latin typeface="Aptos"/>
              </a:rPr>
              <a:t>8 Aug · peak</a:t>
            </a:r>
          </a:p>
        </p:txBody>
      </p:sp>
      <p:sp>
        <p:nvSpPr>
          <p:cNvPr id="48" name="TextBox 47"/>
          <p:cNvSpPr txBox="1"/>
          <p:nvPr/>
        </p:nvSpPr>
        <p:spPr>
          <a:xfrm>
            <a:off x="6762750" y="4467225"/>
            <a:ext cx="1666875"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171717"/>
                </a:solidFill>
                <a:latin typeface="Aptos"/>
              </a:rPr>
              <a:t>SHORT index futures</a:t>
            </a:r>
          </a:p>
        </p:txBody>
      </p:sp>
      <p:sp>
        <p:nvSpPr>
          <p:cNvPr id="49" name="Rectangle 48"/>
          <p:cNvSpPr/>
          <p:nvPr/>
        </p:nvSpPr>
        <p:spPr>
          <a:xfrm>
            <a:off x="6762750" y="4695825"/>
            <a:ext cx="2381250" cy="152400"/>
          </a:xfrm>
          <a:prstGeom prst="rect">
            <a:avLst/>
          </a:prstGeom>
          <a:solidFill>
            <a:srgbClr val="EEEDEA"/>
          </a:solidFill>
          <a:ln>
            <a:solidFill>
              <a:srgbClr val="EEED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62750" y="4695825"/>
            <a:ext cx="1556971" cy="152400"/>
          </a:xfrm>
          <a:prstGeom prst="rect">
            <a:avLst/>
          </a:prstGeom>
          <a:solidFill>
            <a:srgbClr val="B51E2B"/>
          </a:solidFill>
          <a:ln>
            <a:solidFill>
              <a:srgbClr val="B51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39250" y="4676775"/>
            <a:ext cx="666750" cy="190500"/>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E3000B"/>
                </a:solidFill>
                <a:latin typeface="Aptos"/>
              </a:rPr>
              <a:t>8.5bn</a:t>
            </a:r>
          </a:p>
        </p:txBody>
      </p:sp>
      <p:sp>
        <p:nvSpPr>
          <p:cNvPr id="52" name="TextBox 51"/>
          <p:cNvSpPr txBox="1"/>
          <p:nvPr/>
        </p:nvSpPr>
        <p:spPr>
          <a:xfrm>
            <a:off x="6762750" y="4962525"/>
            <a:ext cx="3048000" cy="171450"/>
          </a:xfrm>
          <a:prstGeom prst="rect">
            <a:avLst/>
          </a:prstGeom>
          <a:noFill/>
        </p:spPr>
        <p:txBody>
          <a:bodyPr wrap="square" lIns="0" rIns="0" tIns="0" bIns="0" anchor="t">
            <a:spAutoFit/>
          </a:bodyPr>
          <a:lstStyle/>
          <a:p>
            <a:pPr algn="l">
              <a:lnSpc>
                <a:spcPct val="118000"/>
              </a:lnSpc>
              <a:spcBef>
                <a:spcPts val="0"/>
              </a:spcBef>
              <a:spcAft>
                <a:spcPts val="0"/>
              </a:spcAft>
            </a:pPr>
            <a:r>
              <a:rPr sz="675" b="0">
                <a:solidFill>
                  <a:srgbClr val="5C5C58"/>
                </a:solidFill>
                <a:latin typeface="Aptos"/>
              </a:rPr>
              <a:t>15 Sep · peak</a:t>
            </a:r>
          </a:p>
        </p:txBody>
      </p:sp>
      <p:sp>
        <p:nvSpPr>
          <p:cNvPr id="53" name="TextBox 52"/>
          <p:cNvSpPr txBox="1"/>
          <p:nvPr/>
        </p:nvSpPr>
        <p:spPr>
          <a:xfrm>
            <a:off x="2724150" y="5219700"/>
            <a:ext cx="7810499" cy="247649"/>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171717"/>
                </a:solidFill>
                <a:latin typeface="Aptos"/>
              </a:rPr>
              <a:t>About USD 2.1bn of the final USD 2.3bn loss came from the long positions.</a:t>
            </a:r>
          </a:p>
        </p:txBody>
      </p:sp>
      <p:sp>
        <p:nvSpPr>
          <p:cNvPr id="54" name="TextBox 53"/>
          <p:cNvSpPr txBox="1"/>
          <p:nvPr/>
        </p:nvSpPr>
        <p:spPr>
          <a:xfrm>
            <a:off x="2724150" y="5543550"/>
            <a:ext cx="7905750" cy="304800"/>
          </a:xfrm>
          <a:prstGeom prst="rect">
            <a:avLst/>
          </a:prstGeom>
          <a:noFill/>
        </p:spPr>
        <p:txBody>
          <a:bodyPr wrap="square" lIns="0" rIns="0" tIns="0" bIns="0" anchor="t">
            <a:spAutoFit/>
          </a:bodyPr>
          <a:lstStyle/>
          <a:p>
            <a:pPr algn="l">
              <a:lnSpc>
                <a:spcPct val="118000"/>
              </a:lnSpc>
              <a:spcBef>
                <a:spcPts val="0"/>
              </a:spcBef>
              <a:spcAft>
                <a:spcPts val="0"/>
              </a:spcAft>
            </a:pPr>
            <a:r>
              <a:rPr sz="675" b="0">
                <a:solidFill>
                  <a:srgbClr val="5C5C58"/>
                </a:solidFill>
                <a:latin typeface="Aptos"/>
              </a:rPr>
              <a:t>25 Oct UBS Q3 accounting: CHF 1.951bn total = CHF 1.849bn P&amp;L + CHF 102m translation (~USD 2.229bn).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PART I · 1.3 CONTROLS &amp; CASH TRANSMISSION</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Control failures amplified exposure and liquidity pressure</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Sources: [1] FINMA §§23–41; [2] FSA §§26–42. Potential channels are not asserted historical cash movements.</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JULES  /  05</a:t>
            </a:r>
          </a:p>
        </p:txBody>
      </p:sp>
      <p:sp>
        <p:nvSpPr>
          <p:cNvPr id="12" name="Rectangle 11"/>
          <p:cNvSpPr/>
          <p:nvPr/>
        </p:nvSpPr>
        <p:spPr>
          <a:xfrm>
            <a:off x="552450" y="1381125"/>
            <a:ext cx="3476625" cy="1076325"/>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5325" y="1524000"/>
            <a:ext cx="3143250" cy="171450"/>
          </a:xfrm>
          <a:prstGeom prst="rect">
            <a:avLst/>
          </a:prstGeom>
          <a:noFill/>
        </p:spPr>
        <p:txBody>
          <a:bodyPr wrap="square" lIns="0" rIns="0" tIns="0" bIns="0" anchor="t">
            <a:spAutoFit/>
          </a:bodyPr>
          <a:lstStyle/>
          <a:p>
            <a:pPr algn="l">
              <a:lnSpc>
                <a:spcPct val="118000"/>
              </a:lnSpc>
              <a:spcBef>
                <a:spcPts val="0"/>
              </a:spcBef>
              <a:spcAft>
                <a:spcPts val="0"/>
              </a:spcAft>
            </a:pPr>
            <a:r>
              <a:rPr sz="675" b="1">
                <a:solidFill>
                  <a:srgbClr val="B51E2B"/>
                </a:solidFill>
                <a:latin typeface="Aptos"/>
              </a:rPr>
              <a:t>TRADE VERIFICATION</a:t>
            </a:r>
          </a:p>
        </p:txBody>
      </p:sp>
      <p:sp>
        <p:nvSpPr>
          <p:cNvPr id="14" name="TextBox 13"/>
          <p:cNvSpPr txBox="1"/>
          <p:nvPr/>
        </p:nvSpPr>
        <p:spPr>
          <a:xfrm>
            <a:off x="695325" y="1790700"/>
            <a:ext cx="3143250" cy="523874"/>
          </a:xfrm>
          <a:prstGeom prst="rect">
            <a:avLst/>
          </a:prstGeom>
          <a:noFill/>
        </p:spPr>
        <p:txBody>
          <a:bodyPr wrap="square" lIns="0" rIns="0" tIns="0" bIns="0" anchor="t">
            <a:spAutoFit/>
          </a:bodyPr>
          <a:lstStyle/>
          <a:p>
            <a:pPr algn="l">
              <a:lnSpc>
                <a:spcPct val="120000"/>
              </a:lnSpc>
              <a:spcBef>
                <a:spcPts val="0"/>
              </a:spcBef>
              <a:spcAft>
                <a:spcPts val="0"/>
              </a:spcAft>
            </a:pPr>
            <a:r>
              <a:rPr sz="825" b="0">
                <a:solidFill>
                  <a:srgbClr val="171717"/>
                </a:solidFill>
                <a:latin typeface="Aptos"/>
              </a:rPr>
              <a:t>Unmatched / fictitious entries and late bookings were not independently confirmed.</a:t>
            </a:r>
          </a:p>
        </p:txBody>
      </p:sp>
      <p:sp>
        <p:nvSpPr>
          <p:cNvPr id="15" name="Rectangle 14"/>
          <p:cNvSpPr/>
          <p:nvPr/>
        </p:nvSpPr>
        <p:spPr>
          <a:xfrm>
            <a:off x="4267200" y="1381125"/>
            <a:ext cx="3476625" cy="1076325"/>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10075" y="1524000"/>
            <a:ext cx="3143250" cy="171450"/>
          </a:xfrm>
          <a:prstGeom prst="rect">
            <a:avLst/>
          </a:prstGeom>
          <a:noFill/>
        </p:spPr>
        <p:txBody>
          <a:bodyPr wrap="square" lIns="0" rIns="0" tIns="0" bIns="0" anchor="t">
            <a:spAutoFit/>
          </a:bodyPr>
          <a:lstStyle/>
          <a:p>
            <a:pPr algn="l">
              <a:lnSpc>
                <a:spcPct val="118000"/>
              </a:lnSpc>
              <a:spcBef>
                <a:spcPts val="0"/>
              </a:spcBef>
              <a:spcAft>
                <a:spcPts val="0"/>
              </a:spcAft>
            </a:pPr>
            <a:r>
              <a:rPr sz="675" b="1">
                <a:solidFill>
                  <a:srgbClr val="B51E2B"/>
                </a:solidFill>
                <a:latin typeface="Aptos"/>
              </a:rPr>
              <a:t>EXCEPTION REVIEW</a:t>
            </a:r>
          </a:p>
        </p:txBody>
      </p:sp>
      <p:sp>
        <p:nvSpPr>
          <p:cNvPr id="17" name="TextBox 16"/>
          <p:cNvSpPr txBox="1"/>
          <p:nvPr/>
        </p:nvSpPr>
        <p:spPr>
          <a:xfrm>
            <a:off x="4410075" y="1790700"/>
            <a:ext cx="3143250" cy="523874"/>
          </a:xfrm>
          <a:prstGeom prst="rect">
            <a:avLst/>
          </a:prstGeom>
          <a:noFill/>
        </p:spPr>
        <p:txBody>
          <a:bodyPr wrap="square" lIns="0" rIns="0" tIns="0" bIns="0" anchor="t">
            <a:spAutoFit/>
          </a:bodyPr>
          <a:lstStyle/>
          <a:p>
            <a:pPr algn="l">
              <a:lnSpc>
                <a:spcPct val="120000"/>
              </a:lnSpc>
              <a:spcBef>
                <a:spcPts val="0"/>
              </a:spcBef>
              <a:spcAft>
                <a:spcPts val="0"/>
              </a:spcAft>
            </a:pPr>
            <a:r>
              <a:rPr sz="825" b="0">
                <a:solidFill>
                  <a:srgbClr val="171717"/>
                </a:solidFill>
                <a:latin typeface="Aptos"/>
              </a:rPr>
              <a:t>Material breaks and cancelled / amended / late trades were not investigated promptly.</a:t>
            </a:r>
          </a:p>
        </p:txBody>
      </p:sp>
      <p:sp>
        <p:nvSpPr>
          <p:cNvPr id="18" name="Rectangle 17"/>
          <p:cNvSpPr/>
          <p:nvPr/>
        </p:nvSpPr>
        <p:spPr>
          <a:xfrm>
            <a:off x="7981949" y="1381125"/>
            <a:ext cx="3476625" cy="1076325"/>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4824" y="1524000"/>
            <a:ext cx="3143250" cy="171450"/>
          </a:xfrm>
          <a:prstGeom prst="rect">
            <a:avLst/>
          </a:prstGeom>
          <a:noFill/>
        </p:spPr>
        <p:txBody>
          <a:bodyPr wrap="square" lIns="0" rIns="0" tIns="0" bIns="0" anchor="t">
            <a:spAutoFit/>
          </a:bodyPr>
          <a:lstStyle/>
          <a:p>
            <a:pPr algn="l">
              <a:lnSpc>
                <a:spcPct val="118000"/>
              </a:lnSpc>
              <a:spcBef>
                <a:spcPts val="0"/>
              </a:spcBef>
              <a:spcAft>
                <a:spcPts val="0"/>
              </a:spcAft>
            </a:pPr>
            <a:r>
              <a:rPr sz="675" b="1">
                <a:solidFill>
                  <a:srgbClr val="B51E2B"/>
                </a:solidFill>
                <a:latin typeface="Aptos"/>
              </a:rPr>
              <a:t>SUPERVISION &amp; ESCALATION</a:t>
            </a:r>
          </a:p>
        </p:txBody>
      </p:sp>
      <p:sp>
        <p:nvSpPr>
          <p:cNvPr id="20" name="TextBox 19"/>
          <p:cNvSpPr txBox="1"/>
          <p:nvPr/>
        </p:nvSpPr>
        <p:spPr>
          <a:xfrm>
            <a:off x="8124824" y="1790700"/>
            <a:ext cx="3143250" cy="523874"/>
          </a:xfrm>
          <a:prstGeom prst="rect">
            <a:avLst/>
          </a:prstGeom>
          <a:noFill/>
        </p:spPr>
        <p:txBody>
          <a:bodyPr wrap="square" lIns="0" rIns="0" tIns="0" bIns="0" anchor="t">
            <a:spAutoFit/>
          </a:bodyPr>
          <a:lstStyle/>
          <a:p>
            <a:pPr algn="l">
              <a:lnSpc>
                <a:spcPct val="120000"/>
              </a:lnSpc>
              <a:spcBef>
                <a:spcPts val="0"/>
              </a:spcBef>
              <a:spcAft>
                <a:spcPts val="0"/>
              </a:spcAft>
            </a:pPr>
            <a:r>
              <a:rPr sz="825" b="0">
                <a:solidFill>
                  <a:srgbClr val="171717"/>
                </a:solidFill>
                <a:latin typeface="Aptos"/>
              </a:rPr>
              <a:t>Desk transfer, limit breaches and fragmented control ownership weakened challenge.</a:t>
            </a:r>
          </a:p>
        </p:txBody>
      </p:sp>
      <p:sp>
        <p:nvSpPr>
          <p:cNvPr id="21" name="Rectangle 20"/>
          <p:cNvSpPr/>
          <p:nvPr/>
        </p:nvSpPr>
        <p:spPr>
          <a:xfrm>
            <a:off x="552450" y="2657475"/>
            <a:ext cx="1952624" cy="581025"/>
          </a:xfrm>
          <a:prstGeom prst="rect">
            <a:avLst/>
          </a:prstGeom>
          <a:solidFill>
            <a:srgbClr val="FFFFFF"/>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8650" y="2800350"/>
            <a:ext cx="1800225" cy="323850"/>
          </a:xfrm>
          <a:prstGeom prst="rect">
            <a:avLst/>
          </a:prstGeom>
          <a:noFill/>
        </p:spPr>
        <p:txBody>
          <a:bodyPr wrap="square" lIns="0" rIns="0" tIns="0" bIns="0" anchor="t">
            <a:spAutoFit/>
          </a:bodyPr>
          <a:lstStyle/>
          <a:p>
            <a:pPr algn="ctr">
              <a:lnSpc>
                <a:spcPct val="118000"/>
              </a:lnSpc>
              <a:spcBef>
                <a:spcPts val="0"/>
              </a:spcBef>
              <a:spcAft>
                <a:spcPts val="0"/>
              </a:spcAft>
            </a:pPr>
            <a:r>
              <a:rPr sz="750" b="1">
                <a:solidFill>
                  <a:srgbClr val="171717"/>
                </a:solidFill>
                <a:latin typeface="Aptos"/>
              </a:rPr>
              <a:t>Concealed exposure</a:t>
            </a:r>
          </a:p>
        </p:txBody>
      </p:sp>
      <p:cxnSp>
        <p:nvCxnSpPr>
          <p:cNvPr id="23" name="Connector 22"/>
          <p:cNvCxnSpPr/>
          <p:nvPr/>
        </p:nvCxnSpPr>
        <p:spPr>
          <a:xfrm>
            <a:off x="2505075" y="2943225"/>
            <a:ext cx="219075" cy="0"/>
          </a:xfrm>
          <a:prstGeom prst="line">
            <a:avLst/>
          </a:prstGeom>
          <a:ln w="25400">
            <a:solidFill>
              <a:srgbClr val="989892"/>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2762250" y="2657475"/>
            <a:ext cx="1952624" cy="581025"/>
          </a:xfrm>
          <a:prstGeom prst="rect">
            <a:avLst/>
          </a:prstGeom>
          <a:solidFill>
            <a:srgbClr val="FFFFFF"/>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38450" y="2800350"/>
            <a:ext cx="1800225" cy="323850"/>
          </a:xfrm>
          <a:prstGeom prst="rect">
            <a:avLst/>
          </a:prstGeom>
          <a:noFill/>
        </p:spPr>
        <p:txBody>
          <a:bodyPr wrap="square" lIns="0" rIns="0" tIns="0" bIns="0" anchor="t">
            <a:spAutoFit/>
          </a:bodyPr>
          <a:lstStyle/>
          <a:p>
            <a:pPr algn="ctr">
              <a:lnSpc>
                <a:spcPct val="118000"/>
              </a:lnSpc>
              <a:spcBef>
                <a:spcPts val="0"/>
              </a:spcBef>
              <a:spcAft>
                <a:spcPts val="0"/>
              </a:spcAft>
            </a:pPr>
            <a:r>
              <a:rPr sz="750" b="1">
                <a:solidFill>
                  <a:srgbClr val="171717"/>
                </a:solidFill>
                <a:latin typeface="Aptos"/>
              </a:rPr>
              <a:t>Adverse market moves</a:t>
            </a:r>
          </a:p>
        </p:txBody>
      </p:sp>
      <p:cxnSp>
        <p:nvCxnSpPr>
          <p:cNvPr id="26" name="Connector 25"/>
          <p:cNvCxnSpPr/>
          <p:nvPr/>
        </p:nvCxnSpPr>
        <p:spPr>
          <a:xfrm>
            <a:off x="4714875" y="2943225"/>
            <a:ext cx="219075" cy="0"/>
          </a:xfrm>
          <a:prstGeom prst="line">
            <a:avLst/>
          </a:prstGeom>
          <a:ln w="25400">
            <a:solidFill>
              <a:srgbClr val="989892"/>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972050" y="2657475"/>
            <a:ext cx="1952624" cy="581025"/>
          </a:xfrm>
          <a:prstGeom prst="rect">
            <a:avLst/>
          </a:prstGeom>
          <a:solidFill>
            <a:srgbClr val="FFFFFF"/>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48250" y="2800350"/>
            <a:ext cx="1800225" cy="323850"/>
          </a:xfrm>
          <a:prstGeom prst="rect">
            <a:avLst/>
          </a:prstGeom>
          <a:noFill/>
        </p:spPr>
        <p:txBody>
          <a:bodyPr wrap="square" lIns="0" rIns="0" tIns="0" bIns="0" anchor="t">
            <a:spAutoFit/>
          </a:bodyPr>
          <a:lstStyle/>
          <a:p>
            <a:pPr algn="ctr">
              <a:lnSpc>
                <a:spcPct val="118000"/>
              </a:lnSpc>
              <a:spcBef>
                <a:spcPts val="0"/>
              </a:spcBef>
              <a:spcAft>
                <a:spcPts val="0"/>
              </a:spcAft>
            </a:pPr>
            <a:r>
              <a:rPr sz="750" b="1">
                <a:solidFill>
                  <a:srgbClr val="171717"/>
                </a:solidFill>
                <a:latin typeface="Aptos"/>
              </a:rPr>
              <a:t>Settlement / collateral</a:t>
            </a:r>
          </a:p>
        </p:txBody>
      </p:sp>
      <p:cxnSp>
        <p:nvCxnSpPr>
          <p:cNvPr id="29" name="Connector 28"/>
          <p:cNvCxnSpPr/>
          <p:nvPr/>
        </p:nvCxnSpPr>
        <p:spPr>
          <a:xfrm>
            <a:off x="6924675" y="2943225"/>
            <a:ext cx="219075" cy="0"/>
          </a:xfrm>
          <a:prstGeom prst="line">
            <a:avLst/>
          </a:prstGeom>
          <a:ln w="25400">
            <a:solidFill>
              <a:srgbClr val="989892"/>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7181850" y="2657475"/>
            <a:ext cx="1952624" cy="581025"/>
          </a:xfrm>
          <a:prstGeom prst="rect">
            <a:avLst/>
          </a:prstGeom>
          <a:solidFill>
            <a:srgbClr val="FFFFFF"/>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58050" y="2800350"/>
            <a:ext cx="1800225" cy="323850"/>
          </a:xfrm>
          <a:prstGeom prst="rect">
            <a:avLst/>
          </a:prstGeom>
          <a:noFill/>
        </p:spPr>
        <p:txBody>
          <a:bodyPr wrap="square" lIns="0" rIns="0" tIns="0" bIns="0" anchor="t">
            <a:spAutoFit/>
          </a:bodyPr>
          <a:lstStyle/>
          <a:p>
            <a:pPr algn="ctr">
              <a:lnSpc>
                <a:spcPct val="118000"/>
              </a:lnSpc>
              <a:spcBef>
                <a:spcPts val="0"/>
              </a:spcBef>
              <a:spcAft>
                <a:spcPts val="0"/>
              </a:spcAft>
            </a:pPr>
            <a:r>
              <a:rPr sz="750" b="1">
                <a:solidFill>
                  <a:srgbClr val="171717"/>
                </a:solidFill>
                <a:latin typeface="Aptos"/>
              </a:rPr>
              <a:t>Lower liquidity headroom</a:t>
            </a:r>
          </a:p>
        </p:txBody>
      </p:sp>
      <p:cxnSp>
        <p:nvCxnSpPr>
          <p:cNvPr id="32" name="Connector 31"/>
          <p:cNvCxnSpPr/>
          <p:nvPr/>
        </p:nvCxnSpPr>
        <p:spPr>
          <a:xfrm>
            <a:off x="9134475" y="2943225"/>
            <a:ext cx="219075" cy="0"/>
          </a:xfrm>
          <a:prstGeom prst="line">
            <a:avLst/>
          </a:prstGeom>
          <a:ln w="25400">
            <a:solidFill>
              <a:srgbClr val="989892"/>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9391650" y="2657475"/>
            <a:ext cx="1952624" cy="581025"/>
          </a:xfrm>
          <a:prstGeom prst="rect">
            <a:avLst/>
          </a:prstGeom>
          <a:solidFill>
            <a:srgbClr val="FFFFFF"/>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67850" y="2800350"/>
            <a:ext cx="1800225" cy="323850"/>
          </a:xfrm>
          <a:prstGeom prst="rect">
            <a:avLst/>
          </a:prstGeom>
          <a:noFill/>
        </p:spPr>
        <p:txBody>
          <a:bodyPr wrap="square" lIns="0" rIns="0" tIns="0" bIns="0" anchor="t">
            <a:spAutoFit/>
          </a:bodyPr>
          <a:lstStyle/>
          <a:p>
            <a:pPr algn="ctr">
              <a:lnSpc>
                <a:spcPct val="118000"/>
              </a:lnSpc>
              <a:spcBef>
                <a:spcPts val="0"/>
              </a:spcBef>
              <a:spcAft>
                <a:spcPts val="0"/>
              </a:spcAft>
            </a:pPr>
            <a:r>
              <a:rPr sz="750" b="1">
                <a:solidFill>
                  <a:srgbClr val="171717"/>
                </a:solidFill>
                <a:latin typeface="Aptos"/>
              </a:rPr>
              <a:t>Funding / confidence stress</a:t>
            </a:r>
          </a:p>
        </p:txBody>
      </p:sp>
      <p:sp>
        <p:nvSpPr>
          <p:cNvPr id="35" name="TextBox 34"/>
          <p:cNvSpPr txBox="1"/>
          <p:nvPr/>
        </p:nvSpPr>
        <p:spPr>
          <a:xfrm>
            <a:off x="571500" y="3467100"/>
            <a:ext cx="10668000" cy="1905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CASH EFFECTS TO TRACK</a:t>
            </a:r>
          </a:p>
        </p:txBody>
      </p:sp>
      <p:sp>
        <p:nvSpPr>
          <p:cNvPr id="36" name="TextBox 35"/>
          <p:cNvSpPr txBox="1"/>
          <p:nvPr/>
        </p:nvSpPr>
        <p:spPr>
          <a:xfrm>
            <a:off x="609600" y="3705224"/>
            <a:ext cx="1571625" cy="1905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E3000B"/>
                </a:solidFill>
                <a:latin typeface="Aptos"/>
              </a:rPr>
              <a:t>PERMANENT</a:t>
            </a:r>
          </a:p>
        </p:txBody>
      </p:sp>
      <p:sp>
        <p:nvSpPr>
          <p:cNvPr id="37" name="TextBox 36"/>
          <p:cNvSpPr txBox="1"/>
          <p:nvPr/>
        </p:nvSpPr>
        <p:spPr>
          <a:xfrm>
            <a:off x="2238375" y="3705224"/>
            <a:ext cx="8953500" cy="295275"/>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Realised trading losses; investigation / remediation expense.</a:t>
            </a:r>
          </a:p>
        </p:txBody>
      </p:sp>
      <p:sp>
        <p:nvSpPr>
          <p:cNvPr id="38" name="TextBox 37"/>
          <p:cNvSpPr txBox="1"/>
          <p:nvPr/>
        </p:nvSpPr>
        <p:spPr>
          <a:xfrm>
            <a:off x="609600" y="4181475"/>
            <a:ext cx="1571625" cy="1905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TEMPORARY</a:t>
            </a:r>
          </a:p>
        </p:txBody>
      </p:sp>
      <p:sp>
        <p:nvSpPr>
          <p:cNvPr id="39" name="TextBox 38"/>
          <p:cNvSpPr txBox="1"/>
          <p:nvPr/>
        </p:nvSpPr>
        <p:spPr>
          <a:xfrm>
            <a:off x="2238375" y="4181475"/>
            <a:ext cx="8953500" cy="295275"/>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Cash settlement and recoverable collateral / delayed receipts, if evidenced.</a:t>
            </a:r>
          </a:p>
        </p:txBody>
      </p:sp>
      <p:sp>
        <p:nvSpPr>
          <p:cNvPr id="40" name="TextBox 39"/>
          <p:cNvSpPr txBox="1"/>
          <p:nvPr/>
        </p:nvSpPr>
        <p:spPr>
          <a:xfrm>
            <a:off x="609600" y="4657725"/>
            <a:ext cx="1571625" cy="1905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CONTINGENT</a:t>
            </a:r>
          </a:p>
        </p:txBody>
      </p:sp>
      <p:sp>
        <p:nvSpPr>
          <p:cNvPr id="41" name="TextBox 40"/>
          <p:cNvSpPr txBox="1"/>
          <p:nvPr/>
        </p:nvSpPr>
        <p:spPr>
          <a:xfrm>
            <a:off x="2238375" y="4657725"/>
            <a:ext cx="8953500" cy="295275"/>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Withdrawals, tighter counterparty terms, funding access; stress scenarios only.</a:t>
            </a:r>
          </a:p>
        </p:txBody>
      </p:sp>
      <p:sp>
        <p:nvSpPr>
          <p:cNvPr id="42" name="Rectangle 41"/>
          <p:cNvSpPr/>
          <p:nvPr/>
        </p:nvSpPr>
        <p:spPr>
          <a:xfrm>
            <a:off x="571500" y="5305425"/>
            <a:ext cx="10668000" cy="552450"/>
          </a:xfrm>
          <a:prstGeom prst="rect">
            <a:avLst/>
          </a:prstGeom>
          <a:solidFill>
            <a:srgbClr val="FAF4F4"/>
          </a:solidFill>
          <a:ln w="12700">
            <a:solidFill>
              <a:srgbClr val="E5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2950" y="5429250"/>
            <a:ext cx="10287000" cy="314325"/>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171717"/>
                </a:solidFill>
                <a:latin typeface="Aptos"/>
              </a:rPr>
              <a:t>Obligations continue: settlements · withdrawals · debt repayments · payroll · supplier payments. Do not equate the USD 2.3bn loss with day-one cash need.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PART II · 2.1 MODEL SCOPE &amp; ASSUMPTIONS</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Set one consistent perimeter before calculating the funding requirement</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Published sources do not disclose UBS’s entity-level daily Treasury cash ledger or minimum buffer.</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ELIAS  /  06</a:t>
            </a:r>
          </a:p>
        </p:txBody>
      </p:sp>
      <p:sp>
        <p:nvSpPr>
          <p:cNvPr id="12" name="Rectangle 11"/>
          <p:cNvSpPr/>
          <p:nvPr/>
        </p:nvSpPr>
        <p:spPr>
          <a:xfrm>
            <a:off x="552450" y="1381125"/>
            <a:ext cx="5295900" cy="100965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950" y="1533525"/>
            <a:ext cx="4810125"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PERIMETER &amp; REPORTING CURRENCY</a:t>
            </a:r>
          </a:p>
        </p:txBody>
      </p:sp>
      <p:sp>
        <p:nvSpPr>
          <p:cNvPr id="14" name="TextBox 13"/>
          <p:cNvSpPr txBox="1"/>
          <p:nvPr/>
        </p:nvSpPr>
        <p:spPr>
          <a:xfrm>
            <a:off x="742950" y="1790700"/>
            <a:ext cx="4857750" cy="485775"/>
          </a:xfrm>
          <a:prstGeom prst="rect">
            <a:avLst/>
          </a:prstGeom>
          <a:noFill/>
        </p:spPr>
        <p:txBody>
          <a:bodyPr wrap="square" lIns="0" rIns="0" tIns="0" bIns="0" anchor="t">
            <a:spAutoFit/>
          </a:bodyPr>
          <a:lstStyle/>
          <a:p>
            <a:pPr algn="l">
              <a:lnSpc>
                <a:spcPct val="120000"/>
              </a:lnSpc>
              <a:spcBef>
                <a:spcPts val="0"/>
              </a:spcBef>
              <a:spcAft>
                <a:spcPts val="0"/>
              </a:spcAft>
            </a:pPr>
            <a:r>
              <a:rPr sz="900" b="0">
                <a:solidFill>
                  <a:srgbClr val="171717"/>
                </a:solidFill>
                <a:latin typeface="Aptos"/>
              </a:rPr>
              <a:t>Group cash calendar, with London Investment Bank exposure ring-fenced. Model in USD; convert any CHF cash flows at a stated date-specific Treasury rate.</a:t>
            </a:r>
          </a:p>
        </p:txBody>
      </p:sp>
      <p:sp>
        <p:nvSpPr>
          <p:cNvPr id="15" name="Rectangle 14"/>
          <p:cNvSpPr/>
          <p:nvPr/>
        </p:nvSpPr>
        <p:spPr>
          <a:xfrm>
            <a:off x="6096000" y="1381125"/>
            <a:ext cx="5505450" cy="100965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6500" y="1533525"/>
            <a:ext cx="504825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ACCESSIBILITY TEST</a:t>
            </a:r>
          </a:p>
        </p:txBody>
      </p:sp>
      <p:sp>
        <p:nvSpPr>
          <p:cNvPr id="17" name="TextBox 16"/>
          <p:cNvSpPr txBox="1"/>
          <p:nvPr/>
        </p:nvSpPr>
        <p:spPr>
          <a:xfrm>
            <a:off x="6286500" y="1790700"/>
            <a:ext cx="5048250" cy="485775"/>
          </a:xfrm>
          <a:prstGeom prst="rect">
            <a:avLst/>
          </a:prstGeom>
          <a:noFill/>
        </p:spPr>
        <p:txBody>
          <a:bodyPr wrap="square" lIns="0" rIns="0" tIns="0" bIns="0" anchor="t">
            <a:spAutoFit/>
          </a:bodyPr>
          <a:lstStyle/>
          <a:p>
            <a:pPr algn="l">
              <a:lnSpc>
                <a:spcPct val="120000"/>
              </a:lnSpc>
              <a:spcBef>
                <a:spcPts val="0"/>
              </a:spcBef>
              <a:spcAft>
                <a:spcPts val="0"/>
              </a:spcAft>
            </a:pPr>
            <a:r>
              <a:rPr sz="900" b="0">
                <a:solidFill>
                  <a:srgbClr val="171717"/>
                </a:solidFill>
                <a:latin typeface="Aptos"/>
              </a:rPr>
              <a:t>Exclude trapped, ineligible or late-transfer assets unless available in the right entity, currency and settlement window.</a:t>
            </a:r>
          </a:p>
        </p:txBody>
      </p:sp>
      <p:sp>
        <p:nvSpPr>
          <p:cNvPr id="18" name="Rectangle 17"/>
          <p:cNvSpPr/>
          <p:nvPr/>
        </p:nvSpPr>
        <p:spPr>
          <a:xfrm>
            <a:off x="552450" y="2590800"/>
            <a:ext cx="3476625" cy="1066800"/>
          </a:xfrm>
          <a:prstGeom prst="rect">
            <a:avLst/>
          </a:prstGeom>
          <a:solidFill>
            <a:srgbClr val="FFFFFF"/>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5325" y="2733675"/>
            <a:ext cx="3143250" cy="180975"/>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PUBLISHED</a:t>
            </a:r>
          </a:p>
        </p:txBody>
      </p:sp>
      <p:sp>
        <p:nvSpPr>
          <p:cNvPr id="20" name="TextBox 19"/>
          <p:cNvSpPr txBox="1"/>
          <p:nvPr/>
        </p:nvSpPr>
        <p:spPr>
          <a:xfrm>
            <a:off x="695325" y="3028950"/>
            <a:ext cx="3143250" cy="495299"/>
          </a:xfrm>
          <a:prstGeom prst="rect">
            <a:avLst/>
          </a:prstGeom>
          <a:noFill/>
        </p:spPr>
        <p:txBody>
          <a:bodyPr wrap="square" lIns="0" rIns="0" tIns="0" bIns="0" anchor="t">
            <a:spAutoFit/>
          </a:bodyPr>
          <a:lstStyle/>
          <a:p>
            <a:pPr algn="l">
              <a:lnSpc>
                <a:spcPct val="122000"/>
              </a:lnSpc>
              <a:spcBef>
                <a:spcPts val="0"/>
              </a:spcBef>
              <a:spcAft>
                <a:spcPts val="0"/>
              </a:spcAft>
            </a:pPr>
            <a:r>
              <a:rPr sz="825" b="0">
                <a:solidFill>
                  <a:srgbClr val="171717"/>
                </a:solidFill>
                <a:latin typeface="Aptos"/>
              </a:rPr>
              <a:t>Loss announcements, position chronology, regulatory findings</a:t>
            </a:r>
          </a:p>
        </p:txBody>
      </p:sp>
      <p:sp>
        <p:nvSpPr>
          <p:cNvPr id="21" name="Rectangle 20"/>
          <p:cNvSpPr/>
          <p:nvPr/>
        </p:nvSpPr>
        <p:spPr>
          <a:xfrm>
            <a:off x="4267200" y="2590800"/>
            <a:ext cx="3476625" cy="1066800"/>
          </a:xfrm>
          <a:prstGeom prst="rect">
            <a:avLst/>
          </a:prstGeom>
          <a:solidFill>
            <a:srgbClr val="FFFFFF"/>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10075" y="2733675"/>
            <a:ext cx="3143250" cy="180975"/>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DERIVED</a:t>
            </a:r>
          </a:p>
        </p:txBody>
      </p:sp>
      <p:sp>
        <p:nvSpPr>
          <p:cNvPr id="23" name="TextBox 22"/>
          <p:cNvSpPr txBox="1"/>
          <p:nvPr/>
        </p:nvSpPr>
        <p:spPr>
          <a:xfrm>
            <a:off x="4410075" y="3028950"/>
            <a:ext cx="3143250" cy="495299"/>
          </a:xfrm>
          <a:prstGeom prst="rect">
            <a:avLst/>
          </a:prstGeom>
          <a:noFill/>
        </p:spPr>
        <p:txBody>
          <a:bodyPr wrap="square" lIns="0" rIns="0" tIns="0" bIns="0" anchor="t">
            <a:spAutoFit/>
          </a:bodyPr>
          <a:lstStyle/>
          <a:p>
            <a:pPr algn="l">
              <a:lnSpc>
                <a:spcPct val="122000"/>
              </a:lnSpc>
              <a:spcBef>
                <a:spcPts val="0"/>
              </a:spcBef>
              <a:spcAft>
                <a:spcPts val="0"/>
              </a:spcAft>
            </a:pPr>
            <a:r>
              <a:rPr sz="825" b="0">
                <a:solidFill>
                  <a:srgbClr val="171717"/>
                </a:solidFill>
                <a:latin typeface="Aptos"/>
              </a:rPr>
              <a:t>Accounting reconciliation and model arithmetic from cited inputs</a:t>
            </a:r>
          </a:p>
        </p:txBody>
      </p:sp>
      <p:sp>
        <p:nvSpPr>
          <p:cNvPr id="24" name="Rectangle 23"/>
          <p:cNvSpPr/>
          <p:nvPr/>
        </p:nvSpPr>
        <p:spPr>
          <a:xfrm>
            <a:off x="7981949" y="2590800"/>
            <a:ext cx="3476625" cy="1066800"/>
          </a:xfrm>
          <a:prstGeom prst="rect">
            <a:avLst/>
          </a:prstGeom>
          <a:solidFill>
            <a:srgbClr val="FFFFFF"/>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4" y="2733675"/>
            <a:ext cx="3143250" cy="180975"/>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E3000B"/>
                </a:solidFill>
                <a:latin typeface="Aptos"/>
              </a:rPr>
              <a:t>ASSUMED</a:t>
            </a:r>
          </a:p>
        </p:txBody>
      </p:sp>
      <p:sp>
        <p:nvSpPr>
          <p:cNvPr id="26" name="TextBox 25"/>
          <p:cNvSpPr txBox="1"/>
          <p:nvPr/>
        </p:nvSpPr>
        <p:spPr>
          <a:xfrm>
            <a:off x="8124824" y="3028950"/>
            <a:ext cx="3143250" cy="495299"/>
          </a:xfrm>
          <a:prstGeom prst="rect">
            <a:avLst/>
          </a:prstGeom>
          <a:noFill/>
        </p:spPr>
        <p:txBody>
          <a:bodyPr wrap="square" lIns="0" rIns="0" tIns="0" bIns="0" anchor="t">
            <a:spAutoFit/>
          </a:bodyPr>
          <a:lstStyle/>
          <a:p>
            <a:pPr algn="l">
              <a:lnSpc>
                <a:spcPct val="122000"/>
              </a:lnSpc>
              <a:spcBef>
                <a:spcPts val="0"/>
              </a:spcBef>
              <a:spcAft>
                <a:spcPts val="0"/>
              </a:spcAft>
            </a:pPr>
            <a:r>
              <a:rPr sz="825" b="0">
                <a:solidFill>
                  <a:srgbClr val="171717"/>
                </a:solidFill>
                <a:latin typeface="Aptos"/>
              </a:rPr>
              <a:t>Opening cash, receipts / payments, buffer, FX, settlement timing</a:t>
            </a:r>
          </a:p>
        </p:txBody>
      </p:sp>
      <p:sp>
        <p:nvSpPr>
          <p:cNvPr id="27" name="TextBox 26"/>
          <p:cNvSpPr txBox="1"/>
          <p:nvPr/>
        </p:nvSpPr>
        <p:spPr>
          <a:xfrm>
            <a:off x="571500" y="3943350"/>
            <a:ext cx="10858500" cy="247649"/>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171717"/>
                </a:solidFill>
                <a:latin typeface="Aptos"/>
              </a:rPr>
              <a:t>Use maturity-based cash flows and liquidity headroom—not WCR / CCC, which are not fit for a bank’s deposit, settlement and collateral profile.</a:t>
            </a:r>
          </a:p>
        </p:txBody>
      </p:sp>
      <p:sp>
        <p:nvSpPr>
          <p:cNvPr id="28" name="TextBox 27"/>
          <p:cNvSpPr txBox="1"/>
          <p:nvPr/>
        </p:nvSpPr>
        <p:spPr>
          <a:xfrm>
            <a:off x="571500" y="4438650"/>
            <a:ext cx="10858500" cy="514350"/>
          </a:xfrm>
          <a:prstGeom prst="rect">
            <a:avLst/>
          </a:prstGeom>
          <a:noFill/>
        </p:spPr>
        <p:txBody>
          <a:bodyPr wrap="square" lIns="0" rIns="0" tIns="0" bIns="0" anchor="t">
            <a:spAutoFit/>
          </a:bodyPr>
          <a:lstStyle/>
          <a:p>
            <a:pPr algn="l">
              <a:lnSpc>
                <a:spcPct val="125000"/>
              </a:lnSpc>
              <a:spcBef>
                <a:spcPts val="0"/>
              </a:spcBef>
              <a:spcAft>
                <a:spcPts val="0"/>
              </a:spcAft>
            </a:pPr>
            <a:r>
              <a:rPr sz="900" b="0">
                <a:solidFill>
                  <a:srgbClr val="5C5C58"/>
                </a:solidFill>
                <a:latin typeface="Aptos"/>
              </a:rPr>
              <a:t>Opening accessible cash and the policy minimum buffer must come from internal Treasury records. Use the Board-approved buffer; test sensitivity around it rather than inventing a threshold.</a:t>
            </a:r>
          </a:p>
        </p:txBody>
      </p:sp>
      <p:sp>
        <p:nvSpPr>
          <p:cNvPr id="29" name="Rectangle 28"/>
          <p:cNvSpPr/>
          <p:nvPr/>
        </p:nvSpPr>
        <p:spPr>
          <a:xfrm>
            <a:off x="571500" y="5219700"/>
            <a:ext cx="10668000" cy="59055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2950" y="5353050"/>
            <a:ext cx="10287000" cy="314325"/>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B51E2B"/>
                </a:solidFill>
                <a:latin typeface="Aptos"/>
              </a:rPr>
              <a:t>Forecast frequency: daily for 14–20 Sep; weekly thereafter, with monthly roll-up through 14 Dec 2011.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PART II · 2.2 CASH BRIDGE</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Compare the same opening position with and without incident cash flows</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Template only: actual UBS cash values, buffer and peak funding date are not public; no historical cash gap is claimed.</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ELIAS  /  07</a:t>
            </a:r>
          </a:p>
        </p:txBody>
      </p:sp>
      <p:sp>
        <p:nvSpPr>
          <p:cNvPr id="12" name="TextBox 11"/>
          <p:cNvSpPr txBox="1"/>
          <p:nvPr/>
        </p:nvSpPr>
        <p:spPr>
          <a:xfrm>
            <a:off x="552450" y="1381125"/>
            <a:ext cx="3981450" cy="171450"/>
          </a:xfrm>
          <a:prstGeom prst="rect">
            <a:avLst/>
          </a:prstGeom>
          <a:noFill/>
        </p:spPr>
        <p:txBody>
          <a:bodyPr wrap="square" lIns="0" rIns="0" tIns="0" bIns="0" anchor="t">
            <a:spAutoFit/>
          </a:bodyPr>
          <a:lstStyle/>
          <a:p>
            <a:pPr algn="l">
              <a:lnSpc>
                <a:spcPct val="118000"/>
              </a:lnSpc>
              <a:spcBef>
                <a:spcPts val="0"/>
              </a:spcBef>
              <a:spcAft>
                <a:spcPts val="0"/>
              </a:spcAft>
            </a:pPr>
            <a:r>
              <a:rPr sz="675" b="1">
                <a:solidFill>
                  <a:srgbClr val="B51E2B"/>
                </a:solidFill>
                <a:latin typeface="Aptos"/>
              </a:rPr>
              <a:t>CASH BRIDGE ITEM</a:t>
            </a:r>
          </a:p>
        </p:txBody>
      </p:sp>
      <p:sp>
        <p:nvSpPr>
          <p:cNvPr id="13" name="TextBox 12"/>
          <p:cNvSpPr txBox="1"/>
          <p:nvPr/>
        </p:nvSpPr>
        <p:spPr>
          <a:xfrm>
            <a:off x="4667250" y="1381125"/>
            <a:ext cx="2647950" cy="171450"/>
          </a:xfrm>
          <a:prstGeom prst="rect">
            <a:avLst/>
          </a:prstGeom>
          <a:noFill/>
        </p:spPr>
        <p:txBody>
          <a:bodyPr wrap="square" lIns="0" rIns="0" tIns="0" bIns="0" anchor="t">
            <a:spAutoFit/>
          </a:bodyPr>
          <a:lstStyle/>
          <a:p>
            <a:pPr algn="ctr">
              <a:lnSpc>
                <a:spcPct val="118000"/>
              </a:lnSpc>
              <a:spcBef>
                <a:spcPts val="0"/>
              </a:spcBef>
              <a:spcAft>
                <a:spcPts val="0"/>
              </a:spcAft>
            </a:pPr>
            <a:r>
              <a:rPr sz="675" b="1">
                <a:solidFill>
                  <a:srgbClr val="B51E2B"/>
                </a:solidFill>
                <a:latin typeface="Aptos"/>
              </a:rPr>
              <a:t>NO-INCIDENT BASELINE</a:t>
            </a:r>
          </a:p>
        </p:txBody>
      </p:sp>
      <p:sp>
        <p:nvSpPr>
          <p:cNvPr id="14" name="TextBox 13"/>
          <p:cNvSpPr txBox="1"/>
          <p:nvPr/>
        </p:nvSpPr>
        <p:spPr>
          <a:xfrm>
            <a:off x="7572375" y="1381125"/>
            <a:ext cx="3810000" cy="171450"/>
          </a:xfrm>
          <a:prstGeom prst="rect">
            <a:avLst/>
          </a:prstGeom>
          <a:noFill/>
        </p:spPr>
        <p:txBody>
          <a:bodyPr wrap="square" lIns="0" rIns="0" tIns="0" bIns="0" anchor="t">
            <a:spAutoFit/>
          </a:bodyPr>
          <a:lstStyle/>
          <a:p>
            <a:pPr algn="ctr">
              <a:lnSpc>
                <a:spcPct val="118000"/>
              </a:lnSpc>
              <a:spcBef>
                <a:spcPts val="0"/>
              </a:spcBef>
              <a:spcAft>
                <a:spcPts val="0"/>
              </a:spcAft>
            </a:pPr>
            <a:r>
              <a:rPr sz="675" b="1">
                <a:solidFill>
                  <a:srgbClr val="B51E2B"/>
                </a:solidFill>
                <a:latin typeface="Aptos"/>
              </a:rPr>
              <a:t>INCIDENT SCENARIO</a:t>
            </a:r>
          </a:p>
        </p:txBody>
      </p:sp>
      <p:cxnSp>
        <p:nvCxnSpPr>
          <p:cNvPr id="15" name="Connector 14"/>
          <p:cNvCxnSpPr/>
          <p:nvPr/>
        </p:nvCxnSpPr>
        <p:spPr>
          <a:xfrm>
            <a:off x="552450" y="1895474"/>
            <a:ext cx="110204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52450" y="1628775"/>
            <a:ext cx="3981450" cy="219075"/>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Opening accessible cash</a:t>
            </a:r>
          </a:p>
        </p:txBody>
      </p:sp>
      <p:sp>
        <p:nvSpPr>
          <p:cNvPr id="17" name="TextBox 16"/>
          <p:cNvSpPr txBox="1"/>
          <p:nvPr/>
        </p:nvSpPr>
        <p:spPr>
          <a:xfrm>
            <a:off x="4667250" y="1628775"/>
            <a:ext cx="264795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C₀</a:t>
            </a:r>
          </a:p>
        </p:txBody>
      </p:sp>
      <p:sp>
        <p:nvSpPr>
          <p:cNvPr id="18" name="TextBox 17"/>
          <p:cNvSpPr txBox="1"/>
          <p:nvPr/>
        </p:nvSpPr>
        <p:spPr>
          <a:xfrm>
            <a:off x="7572375" y="1628775"/>
            <a:ext cx="381000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C₀</a:t>
            </a:r>
          </a:p>
        </p:txBody>
      </p:sp>
      <p:cxnSp>
        <p:nvCxnSpPr>
          <p:cNvPr id="19" name="Connector 18"/>
          <p:cNvCxnSpPr/>
          <p:nvPr/>
        </p:nvCxnSpPr>
        <p:spPr>
          <a:xfrm>
            <a:off x="552450" y="2219325"/>
            <a:ext cx="110204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52450" y="1952624"/>
            <a:ext cx="3981450" cy="219075"/>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Operating / contractual receipts</a:t>
            </a:r>
          </a:p>
        </p:txBody>
      </p:sp>
      <p:sp>
        <p:nvSpPr>
          <p:cNvPr id="21" name="TextBox 20"/>
          <p:cNvSpPr txBox="1"/>
          <p:nvPr/>
        </p:nvSpPr>
        <p:spPr>
          <a:xfrm>
            <a:off x="4667250" y="1952624"/>
            <a:ext cx="264795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 Rₜ</a:t>
            </a:r>
          </a:p>
        </p:txBody>
      </p:sp>
      <p:sp>
        <p:nvSpPr>
          <p:cNvPr id="22" name="TextBox 21"/>
          <p:cNvSpPr txBox="1"/>
          <p:nvPr/>
        </p:nvSpPr>
        <p:spPr>
          <a:xfrm>
            <a:off x="7572375" y="1952624"/>
            <a:ext cx="381000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 Rₜ</a:t>
            </a:r>
          </a:p>
        </p:txBody>
      </p:sp>
      <p:cxnSp>
        <p:nvCxnSpPr>
          <p:cNvPr id="23" name="Connector 22"/>
          <p:cNvCxnSpPr/>
          <p:nvPr/>
        </p:nvCxnSpPr>
        <p:spPr>
          <a:xfrm>
            <a:off x="552450" y="2543175"/>
            <a:ext cx="110204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52450" y="2276475"/>
            <a:ext cx="3981450" cy="219075"/>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Operating / contractual payments</a:t>
            </a:r>
          </a:p>
        </p:txBody>
      </p:sp>
      <p:sp>
        <p:nvSpPr>
          <p:cNvPr id="25" name="TextBox 24"/>
          <p:cNvSpPr txBox="1"/>
          <p:nvPr/>
        </p:nvSpPr>
        <p:spPr>
          <a:xfrm>
            <a:off x="4667250" y="2276475"/>
            <a:ext cx="264795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 Pₜ</a:t>
            </a:r>
          </a:p>
        </p:txBody>
      </p:sp>
      <p:sp>
        <p:nvSpPr>
          <p:cNvPr id="26" name="TextBox 25"/>
          <p:cNvSpPr txBox="1"/>
          <p:nvPr/>
        </p:nvSpPr>
        <p:spPr>
          <a:xfrm>
            <a:off x="7572375" y="2276475"/>
            <a:ext cx="381000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 Pₜ</a:t>
            </a:r>
          </a:p>
        </p:txBody>
      </p:sp>
      <p:cxnSp>
        <p:nvCxnSpPr>
          <p:cNvPr id="27" name="Connector 26"/>
          <p:cNvCxnSpPr/>
          <p:nvPr/>
        </p:nvCxnSpPr>
        <p:spPr>
          <a:xfrm>
            <a:off x="552450" y="2867025"/>
            <a:ext cx="110204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52450" y="2600325"/>
            <a:ext cx="3981450" cy="219075"/>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Incident net settlement payments (incremental)</a:t>
            </a:r>
          </a:p>
        </p:txBody>
      </p:sp>
      <p:sp>
        <p:nvSpPr>
          <p:cNvPr id="29" name="TextBox 28"/>
          <p:cNvSpPr txBox="1"/>
          <p:nvPr/>
        </p:nvSpPr>
        <p:spPr>
          <a:xfrm>
            <a:off x="4667250" y="2600325"/>
            <a:ext cx="264795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a:t>
            </a:r>
          </a:p>
        </p:txBody>
      </p:sp>
      <p:sp>
        <p:nvSpPr>
          <p:cNvPr id="30" name="TextBox 29"/>
          <p:cNvSpPr txBox="1"/>
          <p:nvPr/>
        </p:nvSpPr>
        <p:spPr>
          <a:xfrm>
            <a:off x="7572375" y="2600325"/>
            <a:ext cx="381000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 Sₜ</a:t>
            </a:r>
          </a:p>
        </p:txBody>
      </p:sp>
      <p:cxnSp>
        <p:nvCxnSpPr>
          <p:cNvPr id="31" name="Connector 30"/>
          <p:cNvCxnSpPr/>
          <p:nvPr/>
        </p:nvCxnSpPr>
        <p:spPr>
          <a:xfrm>
            <a:off x="552450" y="3190875"/>
            <a:ext cx="110204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52450" y="2924175"/>
            <a:ext cx="3981450" cy="219075"/>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Incident net collateral¹ (incremental)</a:t>
            </a:r>
          </a:p>
        </p:txBody>
      </p:sp>
      <p:sp>
        <p:nvSpPr>
          <p:cNvPr id="33" name="TextBox 32"/>
          <p:cNvSpPr txBox="1"/>
          <p:nvPr/>
        </p:nvSpPr>
        <p:spPr>
          <a:xfrm>
            <a:off x="4667250" y="2924175"/>
            <a:ext cx="264795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a:t>
            </a:r>
          </a:p>
        </p:txBody>
      </p:sp>
      <p:sp>
        <p:nvSpPr>
          <p:cNvPr id="34" name="TextBox 33"/>
          <p:cNvSpPr txBox="1"/>
          <p:nvPr/>
        </p:nvSpPr>
        <p:spPr>
          <a:xfrm>
            <a:off x="7572375" y="2924175"/>
            <a:ext cx="381000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 Kₜ</a:t>
            </a:r>
          </a:p>
        </p:txBody>
      </p:sp>
      <p:cxnSp>
        <p:nvCxnSpPr>
          <p:cNvPr id="35" name="Connector 34"/>
          <p:cNvCxnSpPr/>
          <p:nvPr/>
        </p:nvCxnSpPr>
        <p:spPr>
          <a:xfrm>
            <a:off x="552450" y="3514725"/>
            <a:ext cx="110204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52450" y="3248025"/>
            <a:ext cx="3981450" cy="219075"/>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Investigation / remediation</a:t>
            </a:r>
          </a:p>
        </p:txBody>
      </p:sp>
      <p:sp>
        <p:nvSpPr>
          <p:cNvPr id="37" name="TextBox 36"/>
          <p:cNvSpPr txBox="1"/>
          <p:nvPr/>
        </p:nvSpPr>
        <p:spPr>
          <a:xfrm>
            <a:off x="4667250" y="3248025"/>
            <a:ext cx="264795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a:t>
            </a:r>
          </a:p>
        </p:txBody>
      </p:sp>
      <p:sp>
        <p:nvSpPr>
          <p:cNvPr id="38" name="TextBox 37"/>
          <p:cNvSpPr txBox="1"/>
          <p:nvPr/>
        </p:nvSpPr>
        <p:spPr>
          <a:xfrm>
            <a:off x="7572375" y="3248025"/>
            <a:ext cx="381000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0">
                <a:solidFill>
                  <a:srgbClr val="171717"/>
                </a:solidFill>
                <a:latin typeface="Aptos"/>
              </a:rPr>
              <a:t>− Iₜ</a:t>
            </a:r>
          </a:p>
        </p:txBody>
      </p:sp>
      <p:cxnSp>
        <p:nvCxnSpPr>
          <p:cNvPr id="39" name="Connector 38"/>
          <p:cNvCxnSpPr/>
          <p:nvPr/>
        </p:nvCxnSpPr>
        <p:spPr>
          <a:xfrm>
            <a:off x="552450" y="3838575"/>
            <a:ext cx="110204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52450" y="3571875"/>
            <a:ext cx="3981450" cy="219075"/>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171717"/>
                </a:solidFill>
                <a:latin typeface="Aptos"/>
              </a:rPr>
              <a:t>Closing cash before funding</a:t>
            </a:r>
          </a:p>
        </p:txBody>
      </p:sp>
      <p:sp>
        <p:nvSpPr>
          <p:cNvPr id="41" name="TextBox 40"/>
          <p:cNvSpPr txBox="1"/>
          <p:nvPr/>
        </p:nvSpPr>
        <p:spPr>
          <a:xfrm>
            <a:off x="4667250" y="3571875"/>
            <a:ext cx="264795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1">
                <a:solidFill>
                  <a:srgbClr val="171717"/>
                </a:solidFill>
                <a:latin typeface="Aptos"/>
              </a:rPr>
              <a:t>C₀ + Rₜ − Pₜ</a:t>
            </a:r>
          </a:p>
        </p:txBody>
      </p:sp>
      <p:sp>
        <p:nvSpPr>
          <p:cNvPr id="42" name="TextBox 41"/>
          <p:cNvSpPr txBox="1"/>
          <p:nvPr/>
        </p:nvSpPr>
        <p:spPr>
          <a:xfrm>
            <a:off x="7572375" y="3571875"/>
            <a:ext cx="381000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1">
                <a:solidFill>
                  <a:srgbClr val="171717"/>
                </a:solidFill>
                <a:latin typeface="Aptos"/>
              </a:rPr>
              <a:t>C₀ + Rₜ − Pₜ − Sₜ + Kₜ − Iₜ</a:t>
            </a:r>
          </a:p>
        </p:txBody>
      </p:sp>
      <p:cxnSp>
        <p:nvCxnSpPr>
          <p:cNvPr id="43" name="Connector 42"/>
          <p:cNvCxnSpPr/>
          <p:nvPr/>
        </p:nvCxnSpPr>
        <p:spPr>
          <a:xfrm>
            <a:off x="552450" y="4162424"/>
            <a:ext cx="110204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52450" y="3895725"/>
            <a:ext cx="3981450" cy="219075"/>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171717"/>
                </a:solidFill>
                <a:latin typeface="Aptos"/>
              </a:rPr>
              <a:t>Minimum cash buffer</a:t>
            </a:r>
          </a:p>
        </p:txBody>
      </p:sp>
      <p:sp>
        <p:nvSpPr>
          <p:cNvPr id="45" name="TextBox 44"/>
          <p:cNvSpPr txBox="1"/>
          <p:nvPr/>
        </p:nvSpPr>
        <p:spPr>
          <a:xfrm>
            <a:off x="4667250" y="3895725"/>
            <a:ext cx="264795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1">
                <a:solidFill>
                  <a:srgbClr val="171717"/>
                </a:solidFill>
                <a:latin typeface="Aptos"/>
              </a:rPr>
              <a:t>Bₜ</a:t>
            </a:r>
          </a:p>
        </p:txBody>
      </p:sp>
      <p:sp>
        <p:nvSpPr>
          <p:cNvPr id="46" name="TextBox 45"/>
          <p:cNvSpPr txBox="1"/>
          <p:nvPr/>
        </p:nvSpPr>
        <p:spPr>
          <a:xfrm>
            <a:off x="7572375" y="3895725"/>
            <a:ext cx="381000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1">
                <a:solidFill>
                  <a:srgbClr val="171717"/>
                </a:solidFill>
                <a:latin typeface="Aptos"/>
              </a:rPr>
              <a:t>Bₜ</a:t>
            </a:r>
          </a:p>
        </p:txBody>
      </p:sp>
      <p:cxnSp>
        <p:nvCxnSpPr>
          <p:cNvPr id="47" name="Connector 46"/>
          <p:cNvCxnSpPr/>
          <p:nvPr/>
        </p:nvCxnSpPr>
        <p:spPr>
          <a:xfrm>
            <a:off x="552450" y="4486275"/>
            <a:ext cx="110204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52450" y="4219575"/>
            <a:ext cx="3981450" cy="219075"/>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171717"/>
                </a:solidFill>
                <a:latin typeface="Aptos"/>
              </a:rPr>
              <a:t>Funding gap</a:t>
            </a:r>
          </a:p>
        </p:txBody>
      </p:sp>
      <p:sp>
        <p:nvSpPr>
          <p:cNvPr id="49" name="TextBox 48"/>
          <p:cNvSpPr txBox="1"/>
          <p:nvPr/>
        </p:nvSpPr>
        <p:spPr>
          <a:xfrm>
            <a:off x="4667250" y="4219575"/>
            <a:ext cx="264795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1">
                <a:solidFill>
                  <a:srgbClr val="171717"/>
                </a:solidFill>
                <a:latin typeface="Aptos"/>
              </a:rPr>
              <a:t>max(0, Bₜ − Cpre)</a:t>
            </a:r>
          </a:p>
        </p:txBody>
      </p:sp>
      <p:sp>
        <p:nvSpPr>
          <p:cNvPr id="50" name="TextBox 49"/>
          <p:cNvSpPr txBox="1"/>
          <p:nvPr/>
        </p:nvSpPr>
        <p:spPr>
          <a:xfrm>
            <a:off x="7572375" y="4219575"/>
            <a:ext cx="381000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1">
                <a:solidFill>
                  <a:srgbClr val="171717"/>
                </a:solidFill>
                <a:latin typeface="Aptos"/>
              </a:rPr>
              <a:t>max(0, Bₜ − Cpre)</a:t>
            </a:r>
          </a:p>
        </p:txBody>
      </p:sp>
      <p:cxnSp>
        <p:nvCxnSpPr>
          <p:cNvPr id="51" name="Connector 50"/>
          <p:cNvCxnSpPr/>
          <p:nvPr/>
        </p:nvCxnSpPr>
        <p:spPr>
          <a:xfrm>
            <a:off x="552450" y="4810125"/>
            <a:ext cx="110204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52450" y="4543425"/>
            <a:ext cx="3981450" cy="219075"/>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171717"/>
                </a:solidFill>
                <a:latin typeface="Aptos"/>
              </a:rPr>
              <a:t>Additional funding received</a:t>
            </a:r>
          </a:p>
        </p:txBody>
      </p:sp>
      <p:sp>
        <p:nvSpPr>
          <p:cNvPr id="53" name="TextBox 52"/>
          <p:cNvSpPr txBox="1"/>
          <p:nvPr/>
        </p:nvSpPr>
        <p:spPr>
          <a:xfrm>
            <a:off x="4667250" y="4543425"/>
            <a:ext cx="264795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1">
                <a:solidFill>
                  <a:srgbClr val="171717"/>
                </a:solidFill>
                <a:latin typeface="Aptos"/>
              </a:rPr>
              <a:t>Fₜ</a:t>
            </a:r>
          </a:p>
        </p:txBody>
      </p:sp>
      <p:sp>
        <p:nvSpPr>
          <p:cNvPr id="54" name="TextBox 53"/>
          <p:cNvSpPr txBox="1"/>
          <p:nvPr/>
        </p:nvSpPr>
        <p:spPr>
          <a:xfrm>
            <a:off x="7572375" y="4543425"/>
            <a:ext cx="381000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1">
                <a:solidFill>
                  <a:srgbClr val="171717"/>
                </a:solidFill>
                <a:latin typeface="Aptos"/>
              </a:rPr>
              <a:t>Fₜ</a:t>
            </a:r>
          </a:p>
        </p:txBody>
      </p:sp>
      <p:cxnSp>
        <p:nvCxnSpPr>
          <p:cNvPr id="55" name="Connector 54"/>
          <p:cNvCxnSpPr/>
          <p:nvPr/>
        </p:nvCxnSpPr>
        <p:spPr>
          <a:xfrm>
            <a:off x="552450" y="5133975"/>
            <a:ext cx="11020425"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52450" y="4867275"/>
            <a:ext cx="3981450" cy="219075"/>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171717"/>
                </a:solidFill>
                <a:latin typeface="Aptos"/>
              </a:rPr>
              <a:t>Closing cash after funding</a:t>
            </a:r>
          </a:p>
        </p:txBody>
      </p:sp>
      <p:sp>
        <p:nvSpPr>
          <p:cNvPr id="57" name="TextBox 56"/>
          <p:cNvSpPr txBox="1"/>
          <p:nvPr/>
        </p:nvSpPr>
        <p:spPr>
          <a:xfrm>
            <a:off x="4667250" y="4867275"/>
            <a:ext cx="264795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1">
                <a:solidFill>
                  <a:srgbClr val="171717"/>
                </a:solidFill>
                <a:latin typeface="Aptos"/>
              </a:rPr>
              <a:t>Cpre + Fₜ</a:t>
            </a:r>
          </a:p>
        </p:txBody>
      </p:sp>
      <p:sp>
        <p:nvSpPr>
          <p:cNvPr id="58" name="TextBox 57"/>
          <p:cNvSpPr txBox="1"/>
          <p:nvPr/>
        </p:nvSpPr>
        <p:spPr>
          <a:xfrm>
            <a:off x="7572375" y="4867275"/>
            <a:ext cx="3810000" cy="219075"/>
          </a:xfrm>
          <a:prstGeom prst="rect">
            <a:avLst/>
          </a:prstGeom>
          <a:noFill/>
        </p:spPr>
        <p:txBody>
          <a:bodyPr wrap="square" lIns="0" rIns="0" tIns="0" bIns="0" anchor="t">
            <a:spAutoFit/>
          </a:bodyPr>
          <a:lstStyle/>
          <a:p>
            <a:pPr algn="ctr">
              <a:lnSpc>
                <a:spcPct val="118000"/>
              </a:lnSpc>
              <a:spcBef>
                <a:spcPts val="0"/>
              </a:spcBef>
              <a:spcAft>
                <a:spcPts val="0"/>
              </a:spcAft>
            </a:pPr>
            <a:r>
              <a:rPr sz="825" b="1">
                <a:solidFill>
                  <a:srgbClr val="171717"/>
                </a:solidFill>
                <a:latin typeface="Aptos"/>
              </a:rPr>
              <a:t>Cpre + Fₜ</a:t>
            </a:r>
          </a:p>
        </p:txBody>
      </p:sp>
      <p:sp>
        <p:nvSpPr>
          <p:cNvPr id="59" name="TextBox 58"/>
          <p:cNvSpPr txBox="1"/>
          <p:nvPr/>
        </p:nvSpPr>
        <p:spPr>
          <a:xfrm>
            <a:off x="571500" y="5286375"/>
            <a:ext cx="10839450" cy="409575"/>
          </a:xfrm>
          <a:prstGeom prst="rect">
            <a:avLst/>
          </a:prstGeom>
          <a:noFill/>
        </p:spPr>
        <p:txBody>
          <a:bodyPr wrap="square" lIns="0" rIns="0" tIns="0" bIns="0" anchor="t">
            <a:spAutoFit/>
          </a:bodyPr>
          <a:lstStyle/>
          <a:p>
            <a:pPr algn="l">
              <a:lnSpc>
                <a:spcPct val="120000"/>
              </a:lnSpc>
              <a:spcBef>
                <a:spcPts val="0"/>
              </a:spcBef>
              <a:spcAft>
                <a:spcPts val="0"/>
              </a:spcAft>
            </a:pPr>
            <a:r>
              <a:rPr sz="750" b="0">
                <a:solidFill>
                  <a:srgbClr val="5C5C58"/>
                </a:solidFill>
                <a:latin typeface="Aptos"/>
              </a:rPr>
              <a:t>Cpre = opening + receipts − payments + incident flows.  ¹Kₜ is incremental: release positive, call negative; routine collateral sits in Pₜ. Carry each closing balance forward.</a:t>
            </a:r>
          </a:p>
        </p:txBody>
      </p:sp>
      <p:sp>
        <p:nvSpPr>
          <p:cNvPr id="60" name="TextBox 59"/>
          <p:cNvSpPr txBox="1"/>
          <p:nvPr/>
        </p:nvSpPr>
        <p:spPr>
          <a:xfrm>
            <a:off x="571500" y="5791200"/>
            <a:ext cx="10839450" cy="2667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E3000B"/>
                </a:solidFill>
                <a:latin typeface="Aptos"/>
              </a:rPr>
              <a:t>No double count: cash paid before discovery is in C₀; settlement flows are not deducted again as the headline P&amp;L loss.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PART II · 2.3 STRESS &amp; FUNDING TIMING</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Stress the timing and accessibility of cash—not a second version of P&amp;L</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Stress inputs are assumptions; calculate outputs only after loading internal Treasury and settlement records.</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ELIAS  /  08</a:t>
            </a:r>
          </a:p>
        </p:txBody>
      </p:sp>
      <p:sp>
        <p:nvSpPr>
          <p:cNvPr id="12" name="Rectangle 11"/>
          <p:cNvSpPr/>
          <p:nvPr/>
        </p:nvSpPr>
        <p:spPr>
          <a:xfrm>
            <a:off x="552450" y="1381125"/>
            <a:ext cx="2619375" cy="495299"/>
          </a:xfrm>
          <a:prstGeom prst="rect">
            <a:avLst/>
          </a:prstGeom>
          <a:solidFill>
            <a:srgbClr val="F2F1ED"/>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504950"/>
            <a:ext cx="2362200" cy="2667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EARLIER / LARGER SETTLEMENT</a:t>
            </a:r>
          </a:p>
        </p:txBody>
      </p:sp>
      <p:sp>
        <p:nvSpPr>
          <p:cNvPr id="14" name="Rectangle 13"/>
          <p:cNvSpPr/>
          <p:nvPr/>
        </p:nvSpPr>
        <p:spPr>
          <a:xfrm>
            <a:off x="3286125" y="1381125"/>
            <a:ext cx="7839074" cy="495299"/>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8050" y="1495425"/>
            <a:ext cx="7477125" cy="276225"/>
          </a:xfrm>
          <a:prstGeom prst="rect">
            <a:avLst/>
          </a:prstGeom>
          <a:noFill/>
        </p:spPr>
        <p:txBody>
          <a:bodyPr wrap="square" lIns="0" rIns="0" tIns="0" bIns="0" anchor="t">
            <a:spAutoFit/>
          </a:bodyPr>
          <a:lstStyle/>
          <a:p>
            <a:pPr algn="l">
              <a:lnSpc>
                <a:spcPct val="118000"/>
              </a:lnSpc>
              <a:spcBef>
                <a:spcPts val="0"/>
              </a:spcBef>
              <a:spcAft>
                <a:spcPts val="0"/>
              </a:spcAft>
            </a:pPr>
            <a:r>
              <a:rPr sz="900" b="0">
                <a:solidFill>
                  <a:srgbClr val="171717"/>
                </a:solidFill>
                <a:latin typeface="Aptos"/>
              </a:rPr>
              <a:t>Accelerate Sₜ or increase it within approved stress bounds.</a:t>
            </a:r>
          </a:p>
        </p:txBody>
      </p:sp>
      <p:sp>
        <p:nvSpPr>
          <p:cNvPr id="16" name="Rectangle 15"/>
          <p:cNvSpPr/>
          <p:nvPr/>
        </p:nvSpPr>
        <p:spPr>
          <a:xfrm>
            <a:off x="552450" y="2038349"/>
            <a:ext cx="2619375" cy="495299"/>
          </a:xfrm>
          <a:prstGeom prst="rect">
            <a:avLst/>
          </a:prstGeom>
          <a:solidFill>
            <a:srgbClr val="F2F1ED"/>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162175"/>
            <a:ext cx="2362200" cy="2667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SLOWER COLLATERAL RELEASE</a:t>
            </a:r>
          </a:p>
        </p:txBody>
      </p:sp>
      <p:sp>
        <p:nvSpPr>
          <p:cNvPr id="18" name="Rectangle 17"/>
          <p:cNvSpPr/>
          <p:nvPr/>
        </p:nvSpPr>
        <p:spPr>
          <a:xfrm>
            <a:off x="3286125" y="2038349"/>
            <a:ext cx="7839074" cy="495299"/>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48050" y="2152650"/>
            <a:ext cx="7477125" cy="276225"/>
          </a:xfrm>
          <a:prstGeom prst="rect">
            <a:avLst/>
          </a:prstGeom>
          <a:noFill/>
        </p:spPr>
        <p:txBody>
          <a:bodyPr wrap="square" lIns="0" rIns="0" tIns="0" bIns="0" anchor="t">
            <a:spAutoFit/>
          </a:bodyPr>
          <a:lstStyle/>
          <a:p>
            <a:pPr algn="l">
              <a:lnSpc>
                <a:spcPct val="118000"/>
              </a:lnSpc>
              <a:spcBef>
                <a:spcPts val="0"/>
              </a:spcBef>
              <a:spcAft>
                <a:spcPts val="0"/>
              </a:spcAft>
            </a:pPr>
            <a:r>
              <a:rPr sz="900" b="0">
                <a:solidFill>
                  <a:srgbClr val="171717"/>
                </a:solidFill>
                <a:latin typeface="Aptos"/>
              </a:rPr>
              <a:t>Delay Kₜ; haircut or dispute the return until confirmed.</a:t>
            </a:r>
          </a:p>
        </p:txBody>
      </p:sp>
      <p:sp>
        <p:nvSpPr>
          <p:cNvPr id="20" name="Rectangle 19"/>
          <p:cNvSpPr/>
          <p:nvPr/>
        </p:nvSpPr>
        <p:spPr>
          <a:xfrm>
            <a:off x="552450" y="2695575"/>
            <a:ext cx="2619375" cy="495299"/>
          </a:xfrm>
          <a:prstGeom prst="rect">
            <a:avLst/>
          </a:prstGeom>
          <a:solidFill>
            <a:srgbClr val="F2F1ED"/>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819400"/>
            <a:ext cx="2362200" cy="2667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FUNDING ROLLOVER REDUCED</a:t>
            </a:r>
          </a:p>
        </p:txBody>
      </p:sp>
      <p:sp>
        <p:nvSpPr>
          <p:cNvPr id="22" name="Rectangle 21"/>
          <p:cNvSpPr/>
          <p:nvPr/>
        </p:nvSpPr>
        <p:spPr>
          <a:xfrm>
            <a:off x="3286125" y="2695575"/>
            <a:ext cx="7839074" cy="495299"/>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48050" y="2809875"/>
            <a:ext cx="7477125" cy="276225"/>
          </a:xfrm>
          <a:prstGeom prst="rect">
            <a:avLst/>
          </a:prstGeom>
          <a:noFill/>
        </p:spPr>
        <p:txBody>
          <a:bodyPr wrap="square" lIns="0" rIns="0" tIns="0" bIns="0" anchor="t">
            <a:spAutoFit/>
          </a:bodyPr>
          <a:lstStyle/>
          <a:p>
            <a:pPr algn="l">
              <a:lnSpc>
                <a:spcPct val="118000"/>
              </a:lnSpc>
              <a:spcBef>
                <a:spcPts val="0"/>
              </a:spcBef>
              <a:spcAft>
                <a:spcPts val="0"/>
              </a:spcAft>
            </a:pPr>
            <a:r>
              <a:rPr sz="900" b="0">
                <a:solidFill>
                  <a:srgbClr val="171717"/>
                </a:solidFill>
                <a:latin typeface="Aptos"/>
              </a:rPr>
              <a:t>Assume a portion of maturing funding is not renewed.</a:t>
            </a:r>
          </a:p>
        </p:txBody>
      </p:sp>
      <p:sp>
        <p:nvSpPr>
          <p:cNvPr id="24" name="Rectangle 23"/>
          <p:cNvSpPr/>
          <p:nvPr/>
        </p:nvSpPr>
        <p:spPr>
          <a:xfrm>
            <a:off x="552450" y="3352800"/>
            <a:ext cx="2619375" cy="495299"/>
          </a:xfrm>
          <a:prstGeom prst="rect">
            <a:avLst/>
          </a:prstGeom>
          <a:solidFill>
            <a:srgbClr val="F2F1ED"/>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476625"/>
            <a:ext cx="2362200" cy="2667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ADDITIONAL WITHDRAWALS</a:t>
            </a:r>
          </a:p>
        </p:txBody>
      </p:sp>
      <p:sp>
        <p:nvSpPr>
          <p:cNvPr id="26" name="Rectangle 25"/>
          <p:cNvSpPr/>
          <p:nvPr/>
        </p:nvSpPr>
        <p:spPr>
          <a:xfrm>
            <a:off x="3286125" y="3352800"/>
            <a:ext cx="7839074" cy="495299"/>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48050" y="3467100"/>
            <a:ext cx="7477125" cy="276225"/>
          </a:xfrm>
          <a:prstGeom prst="rect">
            <a:avLst/>
          </a:prstGeom>
          <a:noFill/>
        </p:spPr>
        <p:txBody>
          <a:bodyPr wrap="square" lIns="0" rIns="0" tIns="0" bIns="0" anchor="t">
            <a:spAutoFit/>
          </a:bodyPr>
          <a:lstStyle/>
          <a:p>
            <a:pPr algn="l">
              <a:lnSpc>
                <a:spcPct val="118000"/>
              </a:lnSpc>
              <a:spcBef>
                <a:spcPts val="0"/>
              </a:spcBef>
              <a:spcAft>
                <a:spcPts val="0"/>
              </a:spcAft>
            </a:pPr>
            <a:r>
              <a:rPr sz="900" b="0">
                <a:solidFill>
                  <a:srgbClr val="171717"/>
                </a:solidFill>
                <a:latin typeface="Aptos"/>
              </a:rPr>
              <a:t>Accelerate cash outflows; do not count as historical incident fact.</a:t>
            </a:r>
          </a:p>
        </p:txBody>
      </p:sp>
      <p:sp>
        <p:nvSpPr>
          <p:cNvPr id="28" name="Rectangle 27"/>
          <p:cNvSpPr/>
          <p:nvPr/>
        </p:nvSpPr>
        <p:spPr>
          <a:xfrm>
            <a:off x="552450" y="4010025"/>
            <a:ext cx="2619375" cy="495299"/>
          </a:xfrm>
          <a:prstGeom prst="rect">
            <a:avLst/>
          </a:prstGeom>
          <a:solidFill>
            <a:srgbClr val="F2F1ED"/>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133849"/>
            <a:ext cx="2362200" cy="2667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LIQUIDITY SOURCE DELAYED</a:t>
            </a:r>
          </a:p>
        </p:txBody>
      </p:sp>
      <p:sp>
        <p:nvSpPr>
          <p:cNvPr id="30" name="Rectangle 29"/>
          <p:cNvSpPr/>
          <p:nvPr/>
        </p:nvSpPr>
        <p:spPr>
          <a:xfrm>
            <a:off x="3286125" y="4010025"/>
            <a:ext cx="7839074" cy="495299"/>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48050" y="4124325"/>
            <a:ext cx="7477125" cy="276225"/>
          </a:xfrm>
          <a:prstGeom prst="rect">
            <a:avLst/>
          </a:prstGeom>
          <a:noFill/>
        </p:spPr>
        <p:txBody>
          <a:bodyPr wrap="square" lIns="0" rIns="0" tIns="0" bIns="0" anchor="t">
            <a:spAutoFit/>
          </a:bodyPr>
          <a:lstStyle/>
          <a:p>
            <a:pPr algn="l">
              <a:lnSpc>
                <a:spcPct val="118000"/>
              </a:lnSpc>
              <a:spcBef>
                <a:spcPts val="0"/>
              </a:spcBef>
              <a:spcAft>
                <a:spcPts val="0"/>
              </a:spcAft>
            </a:pPr>
            <a:r>
              <a:rPr sz="900" b="0">
                <a:solidFill>
                  <a:srgbClr val="171717"/>
                </a:solidFill>
                <a:latin typeface="Aptos"/>
              </a:rPr>
              <a:t>Move the value date beyond the forecast need.</a:t>
            </a:r>
          </a:p>
        </p:txBody>
      </p:sp>
      <p:sp>
        <p:nvSpPr>
          <p:cNvPr id="32" name="Rectangle 31"/>
          <p:cNvSpPr/>
          <p:nvPr/>
        </p:nvSpPr>
        <p:spPr>
          <a:xfrm>
            <a:off x="552450" y="4848225"/>
            <a:ext cx="10572750" cy="1000125"/>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2000" y="4981575"/>
            <a:ext cx="10144125"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E3000B"/>
                </a:solidFill>
                <a:latin typeface="Aptos"/>
              </a:rPr>
              <a:t>REPORT FOUR OUTPUTS IN BASE + STRESS CASES</a:t>
            </a:r>
          </a:p>
        </p:txBody>
      </p:sp>
      <p:sp>
        <p:nvSpPr>
          <p:cNvPr id="34" name="Oval 33"/>
          <p:cNvSpPr/>
          <p:nvPr/>
        </p:nvSpPr>
        <p:spPr>
          <a:xfrm>
            <a:off x="781050" y="5362575"/>
            <a:ext cx="95250" cy="95250"/>
          </a:xfrm>
          <a:prstGeom prst="ellipse">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2500" y="5334000"/>
            <a:ext cx="2238375" cy="2667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171717"/>
                </a:solidFill>
                <a:latin typeface="Aptos"/>
              </a:rPr>
              <a:t>Lowest cash</a:t>
            </a:r>
          </a:p>
        </p:txBody>
      </p:sp>
      <p:sp>
        <p:nvSpPr>
          <p:cNvPr id="36" name="Oval 35"/>
          <p:cNvSpPr/>
          <p:nvPr/>
        </p:nvSpPr>
        <p:spPr>
          <a:xfrm>
            <a:off x="3305175" y="5362575"/>
            <a:ext cx="95250" cy="95250"/>
          </a:xfrm>
          <a:prstGeom prst="ellipse">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76625" y="5334000"/>
            <a:ext cx="2238375" cy="2667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171717"/>
                </a:solidFill>
                <a:latin typeface="Aptos"/>
              </a:rPr>
              <a:t>First buffer-breach date</a:t>
            </a:r>
          </a:p>
        </p:txBody>
      </p:sp>
      <p:sp>
        <p:nvSpPr>
          <p:cNvPr id="38" name="Oval 37"/>
          <p:cNvSpPr/>
          <p:nvPr/>
        </p:nvSpPr>
        <p:spPr>
          <a:xfrm>
            <a:off x="5829300" y="5362575"/>
            <a:ext cx="95250" cy="95250"/>
          </a:xfrm>
          <a:prstGeom prst="ellipse">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00750" y="5334000"/>
            <a:ext cx="2238375" cy="2667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171717"/>
                </a:solidFill>
                <a:latin typeface="Aptos"/>
              </a:rPr>
              <a:t>Peak funding requirement</a:t>
            </a:r>
          </a:p>
        </p:txBody>
      </p:sp>
      <p:sp>
        <p:nvSpPr>
          <p:cNvPr id="40" name="Oval 39"/>
          <p:cNvSpPr/>
          <p:nvPr/>
        </p:nvSpPr>
        <p:spPr>
          <a:xfrm>
            <a:off x="8353424" y="5362575"/>
            <a:ext cx="95250" cy="95250"/>
          </a:xfrm>
          <a:prstGeom prst="ellipse">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24875" y="5334000"/>
            <a:ext cx="2238375" cy="2667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171717"/>
                </a:solidFill>
                <a:latin typeface="Aptos"/>
              </a:rPr>
              <a:t>Can funding arrive in time?</a:t>
            </a:r>
          </a:p>
        </p:txBody>
      </p:sp>
      <p:sp>
        <p:nvSpPr>
          <p:cNvPr id="42" name="TextBox 41"/>
          <p:cNvSpPr txBox="1"/>
          <p:nvPr/>
        </p:nvSpPr>
        <p:spPr>
          <a:xfrm>
            <a:off x="571500" y="6019800"/>
            <a:ext cx="10810875" cy="247649"/>
          </a:xfrm>
          <a:prstGeom prst="rect">
            <a:avLst/>
          </a:prstGeom>
          <a:noFill/>
        </p:spPr>
        <p:txBody>
          <a:bodyPr wrap="square" lIns="0" rIns="0" tIns="0" bIns="0" anchor="t">
            <a:spAutoFit/>
          </a:bodyPr>
          <a:lstStyle/>
          <a:p>
            <a:pPr algn="l">
              <a:lnSpc>
                <a:spcPct val="118000"/>
              </a:lnSpc>
              <a:spcBef>
                <a:spcPts val="0"/>
              </a:spcBef>
              <a:spcAft>
                <a:spcPts val="0"/>
              </a:spcAft>
            </a:pPr>
            <a:r>
              <a:rPr sz="750" b="0">
                <a:solidFill>
                  <a:srgbClr val="5C5C58"/>
                </a:solidFill>
                <a:latin typeface="Aptos"/>
              </a:rPr>
              <a:t>If the loaded base case has no gap, report zero funding required; show which stress assumptions change that result.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PART III · 3.1 RISK ASSESSMENT</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Risk register: score residual exposure after containment</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Illustrative analyst scores for the 14 Sep–14 Dec horizon; validate against reconciled positions and cash headroom.</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PAUL ALAIN  /  09</a:t>
            </a:r>
          </a:p>
        </p:txBody>
      </p:sp>
      <p:sp>
        <p:nvSpPr>
          <p:cNvPr id="12" name="TextBox 11"/>
          <p:cNvSpPr txBox="1"/>
          <p:nvPr/>
        </p:nvSpPr>
        <p:spPr>
          <a:xfrm>
            <a:off x="552450" y="1381125"/>
            <a:ext cx="6286500" cy="171450"/>
          </a:xfrm>
          <a:prstGeom prst="rect">
            <a:avLst/>
          </a:prstGeom>
          <a:noFill/>
        </p:spPr>
        <p:txBody>
          <a:bodyPr wrap="square" lIns="0" rIns="0" tIns="0" bIns="0" anchor="t">
            <a:spAutoFit/>
          </a:bodyPr>
          <a:lstStyle/>
          <a:p>
            <a:pPr algn="l">
              <a:lnSpc>
                <a:spcPct val="118000"/>
              </a:lnSpc>
              <a:spcBef>
                <a:spcPts val="0"/>
              </a:spcBef>
              <a:spcAft>
                <a:spcPts val="0"/>
              </a:spcAft>
            </a:pPr>
            <a:r>
              <a:rPr sz="675" b="1">
                <a:solidFill>
                  <a:srgbClr val="B51E2B"/>
                </a:solidFill>
                <a:latin typeface="Aptos"/>
              </a:rPr>
              <a:t>RISK REGISTER · LIKELIHOOD × IMPACT = SCORE</a:t>
            </a:r>
          </a:p>
        </p:txBody>
      </p:sp>
      <p:cxnSp>
        <p:nvCxnSpPr>
          <p:cNvPr id="13" name="Connector 12"/>
          <p:cNvCxnSpPr/>
          <p:nvPr/>
        </p:nvCxnSpPr>
        <p:spPr>
          <a:xfrm>
            <a:off x="552450" y="2028825"/>
            <a:ext cx="630555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52450" y="1657350"/>
            <a:ext cx="1381125" cy="1905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E3000B"/>
                </a:solidFill>
                <a:latin typeface="Aptos"/>
              </a:rPr>
              <a:t>P1 Operational</a:t>
            </a:r>
          </a:p>
        </p:txBody>
      </p:sp>
      <p:sp>
        <p:nvSpPr>
          <p:cNvPr id="15" name="TextBox 14"/>
          <p:cNvSpPr txBox="1"/>
          <p:nvPr/>
        </p:nvSpPr>
        <p:spPr>
          <a:xfrm>
            <a:off x="1971675" y="1657350"/>
            <a:ext cx="3714750" cy="266700"/>
          </a:xfrm>
          <a:prstGeom prst="rect">
            <a:avLst/>
          </a:prstGeom>
          <a:noFill/>
        </p:spPr>
        <p:txBody>
          <a:bodyPr wrap="square" lIns="0" rIns="0" tIns="0" bIns="0" anchor="t">
            <a:spAutoFit/>
          </a:bodyPr>
          <a:lstStyle/>
          <a:p>
            <a:pPr algn="l">
              <a:lnSpc>
                <a:spcPct val="118000"/>
              </a:lnSpc>
              <a:spcBef>
                <a:spcPts val="0"/>
              </a:spcBef>
              <a:spcAft>
                <a:spcPts val="0"/>
              </a:spcAft>
            </a:pPr>
            <a:r>
              <a:rPr sz="750" b="0">
                <a:solidFill>
                  <a:srgbClr val="171717"/>
                </a:solidFill>
                <a:latin typeface="Aptos"/>
              </a:rPr>
              <a:t>Unreconciled breaks could hide open positions</a:t>
            </a:r>
          </a:p>
        </p:txBody>
      </p:sp>
      <p:sp>
        <p:nvSpPr>
          <p:cNvPr id="16" name="TextBox 15"/>
          <p:cNvSpPr txBox="1"/>
          <p:nvPr/>
        </p:nvSpPr>
        <p:spPr>
          <a:xfrm>
            <a:off x="5867400" y="1657350"/>
            <a:ext cx="876300" cy="190500"/>
          </a:xfrm>
          <a:prstGeom prst="rect">
            <a:avLst/>
          </a:prstGeom>
          <a:noFill/>
        </p:spPr>
        <p:txBody>
          <a:bodyPr wrap="square" lIns="0" rIns="0" tIns="0" bIns="0" anchor="t">
            <a:spAutoFit/>
          </a:bodyPr>
          <a:lstStyle/>
          <a:p>
            <a:pPr algn="r">
              <a:lnSpc>
                <a:spcPct val="118000"/>
              </a:lnSpc>
              <a:spcBef>
                <a:spcPts val="0"/>
              </a:spcBef>
              <a:spcAft>
                <a:spcPts val="0"/>
              </a:spcAft>
            </a:pPr>
            <a:r>
              <a:rPr sz="750" b="1">
                <a:solidFill>
                  <a:srgbClr val="B51E2B"/>
                </a:solidFill>
                <a:latin typeface="Aptos"/>
              </a:rPr>
              <a:t>2×3=6</a:t>
            </a:r>
          </a:p>
        </p:txBody>
      </p:sp>
      <p:cxnSp>
        <p:nvCxnSpPr>
          <p:cNvPr id="17" name="Connector 16"/>
          <p:cNvCxnSpPr/>
          <p:nvPr/>
        </p:nvCxnSpPr>
        <p:spPr>
          <a:xfrm>
            <a:off x="552450" y="2486025"/>
            <a:ext cx="630555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52450" y="2114550"/>
            <a:ext cx="1381125" cy="1905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E3000B"/>
                </a:solidFill>
                <a:latin typeface="Aptos"/>
              </a:rPr>
              <a:t>P2 Liquidity</a:t>
            </a:r>
          </a:p>
        </p:txBody>
      </p:sp>
      <p:sp>
        <p:nvSpPr>
          <p:cNvPr id="19" name="TextBox 18"/>
          <p:cNvSpPr txBox="1"/>
          <p:nvPr/>
        </p:nvSpPr>
        <p:spPr>
          <a:xfrm>
            <a:off x="1971675" y="2114550"/>
            <a:ext cx="3714750" cy="266700"/>
          </a:xfrm>
          <a:prstGeom prst="rect">
            <a:avLst/>
          </a:prstGeom>
          <a:noFill/>
        </p:spPr>
        <p:txBody>
          <a:bodyPr wrap="square" lIns="0" rIns="0" tIns="0" bIns="0" anchor="t">
            <a:spAutoFit/>
          </a:bodyPr>
          <a:lstStyle/>
          <a:p>
            <a:pPr algn="l">
              <a:lnSpc>
                <a:spcPct val="118000"/>
              </a:lnSpc>
              <a:spcBef>
                <a:spcPts val="0"/>
              </a:spcBef>
              <a:spcAft>
                <a:spcPts val="0"/>
              </a:spcAft>
            </a:pPr>
            <a:r>
              <a:rPr sz="750" b="0">
                <a:solidFill>
                  <a:srgbClr val="171717"/>
                </a:solidFill>
                <a:latin typeface="Aptos"/>
              </a:rPr>
              <a:t>Settlement / collateral peak versus buffer</a:t>
            </a:r>
          </a:p>
        </p:txBody>
      </p:sp>
      <p:sp>
        <p:nvSpPr>
          <p:cNvPr id="20" name="TextBox 19"/>
          <p:cNvSpPr txBox="1"/>
          <p:nvPr/>
        </p:nvSpPr>
        <p:spPr>
          <a:xfrm>
            <a:off x="5867400" y="2114550"/>
            <a:ext cx="876300" cy="190500"/>
          </a:xfrm>
          <a:prstGeom prst="rect">
            <a:avLst/>
          </a:prstGeom>
          <a:noFill/>
        </p:spPr>
        <p:txBody>
          <a:bodyPr wrap="square" lIns="0" rIns="0" tIns="0" bIns="0" anchor="t">
            <a:spAutoFit/>
          </a:bodyPr>
          <a:lstStyle/>
          <a:p>
            <a:pPr algn="r">
              <a:lnSpc>
                <a:spcPct val="118000"/>
              </a:lnSpc>
              <a:spcBef>
                <a:spcPts val="0"/>
              </a:spcBef>
              <a:spcAft>
                <a:spcPts val="0"/>
              </a:spcAft>
            </a:pPr>
            <a:r>
              <a:rPr sz="750" b="1">
                <a:solidFill>
                  <a:srgbClr val="B51E2B"/>
                </a:solidFill>
                <a:latin typeface="Aptos"/>
              </a:rPr>
              <a:t>2×3=6</a:t>
            </a:r>
          </a:p>
        </p:txBody>
      </p:sp>
      <p:cxnSp>
        <p:nvCxnSpPr>
          <p:cNvPr id="21" name="Connector 20"/>
          <p:cNvCxnSpPr/>
          <p:nvPr/>
        </p:nvCxnSpPr>
        <p:spPr>
          <a:xfrm>
            <a:off x="552450" y="2943225"/>
            <a:ext cx="630555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52450" y="2571750"/>
            <a:ext cx="1381125" cy="1905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171717"/>
                </a:solidFill>
                <a:latin typeface="Aptos"/>
              </a:rPr>
              <a:t>Market</a:t>
            </a:r>
          </a:p>
        </p:txBody>
      </p:sp>
      <p:sp>
        <p:nvSpPr>
          <p:cNvPr id="23" name="TextBox 22"/>
          <p:cNvSpPr txBox="1"/>
          <p:nvPr/>
        </p:nvSpPr>
        <p:spPr>
          <a:xfrm>
            <a:off x="1971675" y="2571750"/>
            <a:ext cx="3714750" cy="266700"/>
          </a:xfrm>
          <a:prstGeom prst="rect">
            <a:avLst/>
          </a:prstGeom>
          <a:noFill/>
        </p:spPr>
        <p:txBody>
          <a:bodyPr wrap="square" lIns="0" rIns="0" tIns="0" bIns="0" anchor="t">
            <a:spAutoFit/>
          </a:bodyPr>
          <a:lstStyle/>
          <a:p>
            <a:pPr algn="l">
              <a:lnSpc>
                <a:spcPct val="118000"/>
              </a:lnSpc>
              <a:spcBef>
                <a:spcPts val="0"/>
              </a:spcBef>
              <a:spcAft>
                <a:spcPts val="0"/>
              </a:spcAft>
            </a:pPr>
            <a:r>
              <a:rPr sz="750" b="0">
                <a:solidFill>
                  <a:srgbClr val="171717"/>
                </a:solidFill>
                <a:latin typeface="Aptos"/>
              </a:rPr>
              <a:t>Price move before remaining positions close</a:t>
            </a:r>
          </a:p>
        </p:txBody>
      </p:sp>
      <p:sp>
        <p:nvSpPr>
          <p:cNvPr id="24" name="TextBox 23"/>
          <p:cNvSpPr txBox="1"/>
          <p:nvPr/>
        </p:nvSpPr>
        <p:spPr>
          <a:xfrm>
            <a:off x="5867400" y="2571750"/>
            <a:ext cx="876300" cy="190500"/>
          </a:xfrm>
          <a:prstGeom prst="rect">
            <a:avLst/>
          </a:prstGeom>
          <a:noFill/>
        </p:spPr>
        <p:txBody>
          <a:bodyPr wrap="square" lIns="0" rIns="0" tIns="0" bIns="0" anchor="t">
            <a:spAutoFit/>
          </a:bodyPr>
          <a:lstStyle/>
          <a:p>
            <a:pPr algn="r">
              <a:lnSpc>
                <a:spcPct val="118000"/>
              </a:lnSpc>
              <a:spcBef>
                <a:spcPts val="0"/>
              </a:spcBef>
              <a:spcAft>
                <a:spcPts val="0"/>
              </a:spcAft>
            </a:pPr>
            <a:r>
              <a:rPr sz="750" b="1">
                <a:solidFill>
                  <a:srgbClr val="B51E2B"/>
                </a:solidFill>
                <a:latin typeface="Aptos"/>
              </a:rPr>
              <a:t>2×2=4</a:t>
            </a:r>
          </a:p>
        </p:txBody>
      </p:sp>
      <p:cxnSp>
        <p:nvCxnSpPr>
          <p:cNvPr id="25" name="Connector 24"/>
          <p:cNvCxnSpPr/>
          <p:nvPr/>
        </p:nvCxnSpPr>
        <p:spPr>
          <a:xfrm>
            <a:off x="552450" y="3400425"/>
            <a:ext cx="630555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52450" y="3028950"/>
            <a:ext cx="1381125" cy="1905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171717"/>
                </a:solidFill>
                <a:latin typeface="Aptos"/>
              </a:rPr>
              <a:t>Counterparty</a:t>
            </a:r>
          </a:p>
        </p:txBody>
      </p:sp>
      <p:sp>
        <p:nvSpPr>
          <p:cNvPr id="27" name="TextBox 26"/>
          <p:cNvSpPr txBox="1"/>
          <p:nvPr/>
        </p:nvSpPr>
        <p:spPr>
          <a:xfrm>
            <a:off x="1971675" y="3028950"/>
            <a:ext cx="3714750" cy="266700"/>
          </a:xfrm>
          <a:prstGeom prst="rect">
            <a:avLst/>
          </a:prstGeom>
          <a:noFill/>
        </p:spPr>
        <p:txBody>
          <a:bodyPr wrap="square" lIns="0" rIns="0" tIns="0" bIns="0" anchor="t">
            <a:spAutoFit/>
          </a:bodyPr>
          <a:lstStyle/>
          <a:p>
            <a:pPr algn="l">
              <a:lnSpc>
                <a:spcPct val="118000"/>
              </a:lnSpc>
              <a:spcBef>
                <a:spcPts val="0"/>
              </a:spcBef>
              <a:spcAft>
                <a:spcPts val="0"/>
              </a:spcAft>
            </a:pPr>
            <a:r>
              <a:rPr sz="750" b="0">
                <a:solidFill>
                  <a:srgbClr val="171717"/>
                </a:solidFill>
                <a:latin typeface="Aptos"/>
              </a:rPr>
              <a:t>Collateral return / receivable delayed</a:t>
            </a:r>
          </a:p>
        </p:txBody>
      </p:sp>
      <p:sp>
        <p:nvSpPr>
          <p:cNvPr id="28" name="TextBox 27"/>
          <p:cNvSpPr txBox="1"/>
          <p:nvPr/>
        </p:nvSpPr>
        <p:spPr>
          <a:xfrm>
            <a:off x="5867400" y="3028950"/>
            <a:ext cx="876300" cy="190500"/>
          </a:xfrm>
          <a:prstGeom prst="rect">
            <a:avLst/>
          </a:prstGeom>
          <a:noFill/>
        </p:spPr>
        <p:txBody>
          <a:bodyPr wrap="square" lIns="0" rIns="0" tIns="0" bIns="0" anchor="t">
            <a:spAutoFit/>
          </a:bodyPr>
          <a:lstStyle/>
          <a:p>
            <a:pPr algn="r">
              <a:lnSpc>
                <a:spcPct val="118000"/>
              </a:lnSpc>
              <a:spcBef>
                <a:spcPts val="0"/>
              </a:spcBef>
              <a:spcAft>
                <a:spcPts val="0"/>
              </a:spcAft>
            </a:pPr>
            <a:r>
              <a:rPr sz="750" b="1">
                <a:solidFill>
                  <a:srgbClr val="B51E2B"/>
                </a:solidFill>
                <a:latin typeface="Aptos"/>
              </a:rPr>
              <a:t>2×2=4</a:t>
            </a:r>
          </a:p>
        </p:txBody>
      </p:sp>
      <p:cxnSp>
        <p:nvCxnSpPr>
          <p:cNvPr id="29" name="Connector 28"/>
          <p:cNvCxnSpPr/>
          <p:nvPr/>
        </p:nvCxnSpPr>
        <p:spPr>
          <a:xfrm>
            <a:off x="552450" y="3857625"/>
            <a:ext cx="630555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52450" y="3486150"/>
            <a:ext cx="1381125" cy="1905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E3000B"/>
                </a:solidFill>
                <a:latin typeface="Aptos"/>
              </a:rPr>
              <a:t>P3 Funding</a:t>
            </a:r>
          </a:p>
        </p:txBody>
      </p:sp>
      <p:sp>
        <p:nvSpPr>
          <p:cNvPr id="31" name="TextBox 30"/>
          <p:cNvSpPr txBox="1"/>
          <p:nvPr/>
        </p:nvSpPr>
        <p:spPr>
          <a:xfrm>
            <a:off x="1971675" y="3486150"/>
            <a:ext cx="3714750" cy="266700"/>
          </a:xfrm>
          <a:prstGeom prst="rect">
            <a:avLst/>
          </a:prstGeom>
          <a:noFill/>
        </p:spPr>
        <p:txBody>
          <a:bodyPr wrap="square" lIns="0" rIns="0" tIns="0" bIns="0" anchor="t">
            <a:spAutoFit/>
          </a:bodyPr>
          <a:lstStyle/>
          <a:p>
            <a:pPr algn="l">
              <a:lnSpc>
                <a:spcPct val="118000"/>
              </a:lnSpc>
              <a:spcBef>
                <a:spcPts val="0"/>
              </a:spcBef>
              <a:spcAft>
                <a:spcPts val="0"/>
              </a:spcAft>
            </a:pPr>
            <a:r>
              <a:rPr sz="750" b="0">
                <a:solidFill>
                  <a:srgbClr val="171717"/>
                </a:solidFill>
                <a:latin typeface="Aptos"/>
              </a:rPr>
              <a:t>Maturity in horizon may not roll</a:t>
            </a:r>
          </a:p>
        </p:txBody>
      </p:sp>
      <p:sp>
        <p:nvSpPr>
          <p:cNvPr id="32" name="TextBox 31"/>
          <p:cNvSpPr txBox="1"/>
          <p:nvPr/>
        </p:nvSpPr>
        <p:spPr>
          <a:xfrm>
            <a:off x="5867400" y="3486150"/>
            <a:ext cx="876300" cy="190500"/>
          </a:xfrm>
          <a:prstGeom prst="rect">
            <a:avLst/>
          </a:prstGeom>
          <a:noFill/>
        </p:spPr>
        <p:txBody>
          <a:bodyPr wrap="square" lIns="0" rIns="0" tIns="0" bIns="0" anchor="t">
            <a:spAutoFit/>
          </a:bodyPr>
          <a:lstStyle/>
          <a:p>
            <a:pPr algn="r">
              <a:lnSpc>
                <a:spcPct val="118000"/>
              </a:lnSpc>
              <a:spcBef>
                <a:spcPts val="0"/>
              </a:spcBef>
              <a:spcAft>
                <a:spcPts val="0"/>
              </a:spcAft>
            </a:pPr>
            <a:r>
              <a:rPr sz="750" b="1">
                <a:solidFill>
                  <a:srgbClr val="B51E2B"/>
                </a:solidFill>
                <a:latin typeface="Aptos"/>
              </a:rPr>
              <a:t>2×3=6</a:t>
            </a:r>
          </a:p>
        </p:txBody>
      </p:sp>
      <p:cxnSp>
        <p:nvCxnSpPr>
          <p:cNvPr id="33" name="Connector 32"/>
          <p:cNvCxnSpPr/>
          <p:nvPr/>
        </p:nvCxnSpPr>
        <p:spPr>
          <a:xfrm>
            <a:off x="552450" y="4314825"/>
            <a:ext cx="630555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52450" y="3943350"/>
            <a:ext cx="1381125" cy="1905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171717"/>
                </a:solidFill>
                <a:latin typeface="Aptos"/>
              </a:rPr>
              <a:t>Reputational</a:t>
            </a:r>
          </a:p>
        </p:txBody>
      </p:sp>
      <p:sp>
        <p:nvSpPr>
          <p:cNvPr id="35" name="TextBox 34"/>
          <p:cNvSpPr txBox="1"/>
          <p:nvPr/>
        </p:nvSpPr>
        <p:spPr>
          <a:xfrm>
            <a:off x="1971675" y="3943350"/>
            <a:ext cx="3714750" cy="266700"/>
          </a:xfrm>
          <a:prstGeom prst="rect">
            <a:avLst/>
          </a:prstGeom>
          <a:noFill/>
        </p:spPr>
        <p:txBody>
          <a:bodyPr wrap="square" lIns="0" rIns="0" tIns="0" bIns="0" anchor="t">
            <a:spAutoFit/>
          </a:bodyPr>
          <a:lstStyle/>
          <a:p>
            <a:pPr algn="l">
              <a:lnSpc>
                <a:spcPct val="118000"/>
              </a:lnSpc>
              <a:spcBef>
                <a:spcPts val="0"/>
              </a:spcBef>
              <a:spcAft>
                <a:spcPts val="0"/>
              </a:spcAft>
            </a:pPr>
            <a:r>
              <a:rPr sz="750" b="0">
                <a:solidFill>
                  <a:srgbClr val="171717"/>
                </a:solidFill>
                <a:latin typeface="Aptos"/>
              </a:rPr>
              <a:t>Outflows / tighter terms in confidence stress</a:t>
            </a:r>
          </a:p>
        </p:txBody>
      </p:sp>
      <p:sp>
        <p:nvSpPr>
          <p:cNvPr id="36" name="TextBox 35"/>
          <p:cNvSpPr txBox="1"/>
          <p:nvPr/>
        </p:nvSpPr>
        <p:spPr>
          <a:xfrm>
            <a:off x="5867400" y="3943350"/>
            <a:ext cx="876300" cy="190500"/>
          </a:xfrm>
          <a:prstGeom prst="rect">
            <a:avLst/>
          </a:prstGeom>
          <a:noFill/>
        </p:spPr>
        <p:txBody>
          <a:bodyPr wrap="square" lIns="0" rIns="0" tIns="0" bIns="0" anchor="t">
            <a:spAutoFit/>
          </a:bodyPr>
          <a:lstStyle/>
          <a:p>
            <a:pPr algn="r">
              <a:lnSpc>
                <a:spcPct val="118000"/>
              </a:lnSpc>
              <a:spcBef>
                <a:spcPts val="0"/>
              </a:spcBef>
              <a:spcAft>
                <a:spcPts val="0"/>
              </a:spcAft>
            </a:pPr>
            <a:r>
              <a:rPr sz="750" b="1">
                <a:solidFill>
                  <a:srgbClr val="B51E2B"/>
                </a:solidFill>
                <a:latin typeface="Aptos"/>
              </a:rPr>
              <a:t>1×2=2</a:t>
            </a:r>
          </a:p>
        </p:txBody>
      </p:sp>
      <p:cxnSp>
        <p:nvCxnSpPr>
          <p:cNvPr id="37" name="Connector 36"/>
          <p:cNvCxnSpPr/>
          <p:nvPr/>
        </p:nvCxnSpPr>
        <p:spPr>
          <a:xfrm>
            <a:off x="552450" y="4772025"/>
            <a:ext cx="630555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52450" y="4400550"/>
            <a:ext cx="1381125" cy="19050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171717"/>
                </a:solidFill>
                <a:latin typeface="Aptos"/>
              </a:rPr>
              <a:t>Legal / regulatory</a:t>
            </a:r>
          </a:p>
        </p:txBody>
      </p:sp>
      <p:sp>
        <p:nvSpPr>
          <p:cNvPr id="39" name="TextBox 38"/>
          <p:cNvSpPr txBox="1"/>
          <p:nvPr/>
        </p:nvSpPr>
        <p:spPr>
          <a:xfrm>
            <a:off x="1971675" y="4400550"/>
            <a:ext cx="3714750" cy="266700"/>
          </a:xfrm>
          <a:prstGeom prst="rect">
            <a:avLst/>
          </a:prstGeom>
          <a:noFill/>
        </p:spPr>
        <p:txBody>
          <a:bodyPr wrap="square" lIns="0" rIns="0" tIns="0" bIns="0" anchor="t">
            <a:spAutoFit/>
          </a:bodyPr>
          <a:lstStyle/>
          <a:p>
            <a:pPr algn="l">
              <a:lnSpc>
                <a:spcPct val="118000"/>
              </a:lnSpc>
              <a:spcBef>
                <a:spcPts val="0"/>
              </a:spcBef>
              <a:spcAft>
                <a:spcPts val="0"/>
              </a:spcAft>
            </a:pPr>
            <a:r>
              <a:rPr sz="750" b="0">
                <a:solidFill>
                  <a:srgbClr val="171717"/>
                </a:solidFill>
                <a:latin typeface="Aptos"/>
              </a:rPr>
              <a:t>Investigation + remediation cash timing</a:t>
            </a:r>
          </a:p>
        </p:txBody>
      </p:sp>
      <p:sp>
        <p:nvSpPr>
          <p:cNvPr id="40" name="TextBox 39"/>
          <p:cNvSpPr txBox="1"/>
          <p:nvPr/>
        </p:nvSpPr>
        <p:spPr>
          <a:xfrm>
            <a:off x="5867400" y="4400550"/>
            <a:ext cx="876300" cy="190500"/>
          </a:xfrm>
          <a:prstGeom prst="rect">
            <a:avLst/>
          </a:prstGeom>
          <a:noFill/>
        </p:spPr>
        <p:txBody>
          <a:bodyPr wrap="square" lIns="0" rIns="0" tIns="0" bIns="0" anchor="t">
            <a:spAutoFit/>
          </a:bodyPr>
          <a:lstStyle/>
          <a:p>
            <a:pPr algn="r">
              <a:lnSpc>
                <a:spcPct val="118000"/>
              </a:lnSpc>
              <a:spcBef>
                <a:spcPts val="0"/>
              </a:spcBef>
              <a:spcAft>
                <a:spcPts val="0"/>
              </a:spcAft>
            </a:pPr>
            <a:r>
              <a:rPr sz="750" b="1">
                <a:solidFill>
                  <a:srgbClr val="B51E2B"/>
                </a:solidFill>
                <a:latin typeface="Aptos"/>
              </a:rPr>
              <a:t>2×2=4</a:t>
            </a:r>
          </a:p>
        </p:txBody>
      </p:sp>
      <p:sp>
        <p:nvSpPr>
          <p:cNvPr id="41" name="TextBox 40"/>
          <p:cNvSpPr txBox="1"/>
          <p:nvPr/>
        </p:nvSpPr>
        <p:spPr>
          <a:xfrm>
            <a:off x="7943850" y="1438275"/>
            <a:ext cx="2857500" cy="171450"/>
          </a:xfrm>
          <a:prstGeom prst="rect">
            <a:avLst/>
          </a:prstGeom>
          <a:noFill/>
        </p:spPr>
        <p:txBody>
          <a:bodyPr wrap="square" lIns="0" rIns="0" tIns="0" bIns="0" anchor="t">
            <a:spAutoFit/>
          </a:bodyPr>
          <a:lstStyle/>
          <a:p>
            <a:pPr algn="ctr">
              <a:lnSpc>
                <a:spcPct val="118000"/>
              </a:lnSpc>
              <a:spcBef>
                <a:spcPts val="0"/>
              </a:spcBef>
              <a:spcAft>
                <a:spcPts val="0"/>
              </a:spcAft>
            </a:pPr>
            <a:r>
              <a:rPr sz="675" b="1">
                <a:solidFill>
                  <a:srgbClr val="B51E2B"/>
                </a:solidFill>
                <a:latin typeface="Aptos"/>
              </a:rPr>
              <a:t>3 × 3 PRIORITY MATRIX</a:t>
            </a:r>
          </a:p>
        </p:txBody>
      </p:sp>
      <p:sp>
        <p:nvSpPr>
          <p:cNvPr id="42" name="TextBox 41"/>
          <p:cNvSpPr txBox="1"/>
          <p:nvPr/>
        </p:nvSpPr>
        <p:spPr>
          <a:xfrm>
            <a:off x="7972425" y="1981199"/>
            <a:ext cx="904875" cy="142875"/>
          </a:xfrm>
          <a:prstGeom prst="rect">
            <a:avLst/>
          </a:prstGeom>
          <a:noFill/>
        </p:spPr>
        <p:txBody>
          <a:bodyPr wrap="square" lIns="0" rIns="0" tIns="0" bIns="0" anchor="t">
            <a:spAutoFit/>
          </a:bodyPr>
          <a:lstStyle/>
          <a:p>
            <a:pPr algn="ctr">
              <a:lnSpc>
                <a:spcPct val="118000"/>
              </a:lnSpc>
              <a:spcBef>
                <a:spcPts val="0"/>
              </a:spcBef>
              <a:spcAft>
                <a:spcPts val="0"/>
              </a:spcAft>
            </a:pPr>
            <a:r>
              <a:rPr sz="525" b="1">
                <a:solidFill>
                  <a:srgbClr val="5C5C58"/>
                </a:solidFill>
                <a:latin typeface="Aptos"/>
              </a:rPr>
              <a:t>UNLIKELY</a:t>
            </a:r>
          </a:p>
        </p:txBody>
      </p:sp>
      <p:sp>
        <p:nvSpPr>
          <p:cNvPr id="43" name="TextBox 42"/>
          <p:cNvSpPr txBox="1"/>
          <p:nvPr/>
        </p:nvSpPr>
        <p:spPr>
          <a:xfrm>
            <a:off x="8905875" y="1981199"/>
            <a:ext cx="904875" cy="142875"/>
          </a:xfrm>
          <a:prstGeom prst="rect">
            <a:avLst/>
          </a:prstGeom>
          <a:noFill/>
        </p:spPr>
        <p:txBody>
          <a:bodyPr wrap="square" lIns="0" rIns="0" tIns="0" bIns="0" anchor="t">
            <a:spAutoFit/>
          </a:bodyPr>
          <a:lstStyle/>
          <a:p>
            <a:pPr algn="ctr">
              <a:lnSpc>
                <a:spcPct val="118000"/>
              </a:lnSpc>
              <a:spcBef>
                <a:spcPts val="0"/>
              </a:spcBef>
              <a:spcAft>
                <a:spcPts val="0"/>
              </a:spcAft>
            </a:pPr>
            <a:r>
              <a:rPr sz="525" b="1">
                <a:solidFill>
                  <a:srgbClr val="5C5C58"/>
                </a:solidFill>
                <a:latin typeface="Aptos"/>
              </a:rPr>
              <a:t>POSSIBLE</a:t>
            </a:r>
          </a:p>
        </p:txBody>
      </p:sp>
      <p:sp>
        <p:nvSpPr>
          <p:cNvPr id="44" name="TextBox 43"/>
          <p:cNvSpPr txBox="1"/>
          <p:nvPr/>
        </p:nvSpPr>
        <p:spPr>
          <a:xfrm>
            <a:off x="9839325" y="1981199"/>
            <a:ext cx="904875" cy="142875"/>
          </a:xfrm>
          <a:prstGeom prst="rect">
            <a:avLst/>
          </a:prstGeom>
          <a:noFill/>
        </p:spPr>
        <p:txBody>
          <a:bodyPr wrap="square" lIns="0" rIns="0" tIns="0" bIns="0" anchor="t">
            <a:spAutoFit/>
          </a:bodyPr>
          <a:lstStyle/>
          <a:p>
            <a:pPr algn="ctr">
              <a:lnSpc>
                <a:spcPct val="118000"/>
              </a:lnSpc>
              <a:spcBef>
                <a:spcPts val="0"/>
              </a:spcBef>
              <a:spcAft>
                <a:spcPts val="0"/>
              </a:spcAft>
            </a:pPr>
            <a:r>
              <a:rPr sz="525" b="1">
                <a:solidFill>
                  <a:srgbClr val="5C5C58"/>
                </a:solidFill>
                <a:latin typeface="Aptos"/>
              </a:rPr>
              <a:t>LIKELY</a:t>
            </a:r>
          </a:p>
        </p:txBody>
      </p:sp>
      <p:sp>
        <p:nvSpPr>
          <p:cNvPr id="45" name="TextBox 44"/>
          <p:cNvSpPr txBox="1"/>
          <p:nvPr/>
        </p:nvSpPr>
        <p:spPr>
          <a:xfrm>
            <a:off x="7334250" y="2524125"/>
            <a:ext cx="542925" cy="142875"/>
          </a:xfrm>
          <a:prstGeom prst="rect">
            <a:avLst/>
          </a:prstGeom>
          <a:noFill/>
        </p:spPr>
        <p:txBody>
          <a:bodyPr wrap="square" lIns="0" rIns="0" tIns="0" bIns="0" anchor="t">
            <a:spAutoFit/>
          </a:bodyPr>
          <a:lstStyle/>
          <a:p>
            <a:pPr algn="r">
              <a:lnSpc>
                <a:spcPct val="118000"/>
              </a:lnSpc>
              <a:spcBef>
                <a:spcPts val="0"/>
              </a:spcBef>
              <a:spcAft>
                <a:spcPts val="0"/>
              </a:spcAft>
            </a:pPr>
            <a:r>
              <a:rPr sz="525" b="1">
                <a:solidFill>
                  <a:srgbClr val="5C5C58"/>
                </a:solidFill>
                <a:latin typeface="Aptos"/>
              </a:rPr>
              <a:t>HIGH</a:t>
            </a:r>
          </a:p>
        </p:txBody>
      </p:sp>
      <p:sp>
        <p:nvSpPr>
          <p:cNvPr id="46" name="TextBox 45"/>
          <p:cNvSpPr txBox="1"/>
          <p:nvPr/>
        </p:nvSpPr>
        <p:spPr>
          <a:xfrm>
            <a:off x="7334250" y="3305175"/>
            <a:ext cx="542925" cy="142875"/>
          </a:xfrm>
          <a:prstGeom prst="rect">
            <a:avLst/>
          </a:prstGeom>
          <a:noFill/>
        </p:spPr>
        <p:txBody>
          <a:bodyPr wrap="square" lIns="0" rIns="0" tIns="0" bIns="0" anchor="t">
            <a:spAutoFit/>
          </a:bodyPr>
          <a:lstStyle/>
          <a:p>
            <a:pPr algn="r">
              <a:lnSpc>
                <a:spcPct val="118000"/>
              </a:lnSpc>
              <a:spcBef>
                <a:spcPts val="0"/>
              </a:spcBef>
              <a:spcAft>
                <a:spcPts val="0"/>
              </a:spcAft>
            </a:pPr>
            <a:r>
              <a:rPr sz="525" b="1">
                <a:solidFill>
                  <a:srgbClr val="5C5C58"/>
                </a:solidFill>
                <a:latin typeface="Aptos"/>
              </a:rPr>
              <a:t>MED</a:t>
            </a:r>
          </a:p>
        </p:txBody>
      </p:sp>
      <p:sp>
        <p:nvSpPr>
          <p:cNvPr id="47" name="TextBox 46"/>
          <p:cNvSpPr txBox="1"/>
          <p:nvPr/>
        </p:nvSpPr>
        <p:spPr>
          <a:xfrm>
            <a:off x="7334250" y="4086225"/>
            <a:ext cx="542925" cy="142875"/>
          </a:xfrm>
          <a:prstGeom prst="rect">
            <a:avLst/>
          </a:prstGeom>
          <a:noFill/>
        </p:spPr>
        <p:txBody>
          <a:bodyPr wrap="square" lIns="0" rIns="0" tIns="0" bIns="0" anchor="t">
            <a:spAutoFit/>
          </a:bodyPr>
          <a:lstStyle/>
          <a:p>
            <a:pPr algn="r">
              <a:lnSpc>
                <a:spcPct val="118000"/>
              </a:lnSpc>
              <a:spcBef>
                <a:spcPts val="0"/>
              </a:spcBef>
              <a:spcAft>
                <a:spcPts val="0"/>
              </a:spcAft>
            </a:pPr>
            <a:r>
              <a:rPr sz="525" b="1">
                <a:solidFill>
                  <a:srgbClr val="5C5C58"/>
                </a:solidFill>
                <a:latin typeface="Aptos"/>
              </a:rPr>
              <a:t>LOW</a:t>
            </a:r>
          </a:p>
        </p:txBody>
      </p:sp>
      <p:sp>
        <p:nvSpPr>
          <p:cNvPr id="48" name="Rectangle 47"/>
          <p:cNvSpPr/>
          <p:nvPr/>
        </p:nvSpPr>
        <p:spPr>
          <a:xfrm>
            <a:off x="7972425" y="2200275"/>
            <a:ext cx="895350" cy="742950"/>
          </a:xfrm>
          <a:prstGeom prst="rect">
            <a:avLst/>
          </a:prstGeom>
          <a:solidFill>
            <a:srgbClr val="FFFFFF"/>
          </a:solidFill>
          <a:ln w="12700">
            <a:solidFill>
              <a:srgbClr val="AD7F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05875" y="2200275"/>
            <a:ext cx="895350" cy="742950"/>
          </a:xfrm>
          <a:prstGeom prst="rect">
            <a:avLst/>
          </a:prstGeom>
          <a:solidFill>
            <a:srgbClr val="FFFFFF"/>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839325" y="2200275"/>
            <a:ext cx="895350" cy="742950"/>
          </a:xfrm>
          <a:prstGeom prst="rect">
            <a:avLst/>
          </a:prstGeom>
          <a:solidFill>
            <a:srgbClr val="FFFFFF"/>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972425" y="2981325"/>
            <a:ext cx="895350" cy="742950"/>
          </a:xfrm>
          <a:prstGeom prst="rect">
            <a:avLst/>
          </a:prstGeom>
          <a:solidFill>
            <a:srgbClr val="FFFFFF"/>
          </a:solidFill>
          <a:ln w="12700">
            <a:solidFill>
              <a:srgbClr val="4C82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905875" y="2981325"/>
            <a:ext cx="895350" cy="742950"/>
          </a:xfrm>
          <a:prstGeom prst="rect">
            <a:avLst/>
          </a:prstGeom>
          <a:solidFill>
            <a:srgbClr val="FFFFFF"/>
          </a:solidFill>
          <a:ln w="12700">
            <a:solidFill>
              <a:srgbClr val="AD7F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839325" y="2981325"/>
            <a:ext cx="895350" cy="742950"/>
          </a:xfrm>
          <a:prstGeom prst="rect">
            <a:avLst/>
          </a:prstGeom>
          <a:solidFill>
            <a:srgbClr val="FFFFFF"/>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972425" y="3762374"/>
            <a:ext cx="895350" cy="742950"/>
          </a:xfrm>
          <a:prstGeom prst="rect">
            <a:avLst/>
          </a:prstGeom>
          <a:solidFill>
            <a:srgbClr val="FFFFFF"/>
          </a:solidFill>
          <a:ln w="12700">
            <a:solidFill>
              <a:srgbClr val="4C82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05875" y="3762374"/>
            <a:ext cx="895350" cy="742950"/>
          </a:xfrm>
          <a:prstGeom prst="rect">
            <a:avLst/>
          </a:prstGeom>
          <a:solidFill>
            <a:srgbClr val="FFFFFF"/>
          </a:solidFill>
          <a:ln w="12700">
            <a:solidFill>
              <a:srgbClr val="4C82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839325" y="3762374"/>
            <a:ext cx="895350" cy="742950"/>
          </a:xfrm>
          <a:prstGeom prst="rect">
            <a:avLst/>
          </a:prstGeom>
          <a:solidFill>
            <a:srgbClr val="FFFFFF"/>
          </a:solidFill>
          <a:ln w="12700">
            <a:solidFill>
              <a:srgbClr val="AD7F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067800" y="2305050"/>
            <a:ext cx="190500" cy="190500"/>
          </a:xfrm>
          <a:prstGeom prst="ellipse">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96375" y="2343150"/>
            <a:ext cx="133350" cy="133350"/>
          </a:xfrm>
          <a:prstGeom prst="rect">
            <a:avLst/>
          </a:prstGeom>
          <a:noFill/>
        </p:spPr>
        <p:txBody>
          <a:bodyPr wrap="square" lIns="0" rIns="0" tIns="0" bIns="0" anchor="t">
            <a:spAutoFit/>
          </a:bodyPr>
          <a:lstStyle/>
          <a:p>
            <a:pPr algn="ctr">
              <a:lnSpc>
                <a:spcPct val="118000"/>
              </a:lnSpc>
              <a:spcBef>
                <a:spcPts val="0"/>
              </a:spcBef>
              <a:spcAft>
                <a:spcPts val="0"/>
              </a:spcAft>
            </a:pPr>
            <a:r>
              <a:rPr sz="675" b="1">
                <a:solidFill>
                  <a:srgbClr val="FFFFFF"/>
                </a:solidFill>
                <a:latin typeface="Aptos"/>
              </a:rPr>
              <a:t>1</a:t>
            </a:r>
          </a:p>
        </p:txBody>
      </p:sp>
      <p:sp>
        <p:nvSpPr>
          <p:cNvPr id="59" name="Oval 58"/>
          <p:cNvSpPr/>
          <p:nvPr/>
        </p:nvSpPr>
        <p:spPr>
          <a:xfrm>
            <a:off x="9344025" y="2552700"/>
            <a:ext cx="190500" cy="190500"/>
          </a:xfrm>
          <a:prstGeom prst="ellipse">
            <a:avLst/>
          </a:prstGeom>
          <a:solidFill>
            <a:srgbClr val="B51E2B"/>
          </a:solidFill>
          <a:ln w="12700">
            <a:solidFill>
              <a:srgbClr val="B51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372600" y="2590800"/>
            <a:ext cx="133350" cy="133350"/>
          </a:xfrm>
          <a:prstGeom prst="rect">
            <a:avLst/>
          </a:prstGeom>
          <a:noFill/>
        </p:spPr>
        <p:txBody>
          <a:bodyPr wrap="square" lIns="0" rIns="0" tIns="0" bIns="0" anchor="t">
            <a:spAutoFit/>
          </a:bodyPr>
          <a:lstStyle/>
          <a:p>
            <a:pPr algn="ctr">
              <a:lnSpc>
                <a:spcPct val="118000"/>
              </a:lnSpc>
              <a:spcBef>
                <a:spcPts val="0"/>
              </a:spcBef>
              <a:spcAft>
                <a:spcPts val="0"/>
              </a:spcAft>
            </a:pPr>
            <a:r>
              <a:rPr sz="675" b="1">
                <a:solidFill>
                  <a:srgbClr val="FFFFFF"/>
                </a:solidFill>
                <a:latin typeface="Aptos"/>
              </a:rPr>
              <a:t>2</a:t>
            </a:r>
          </a:p>
        </p:txBody>
      </p:sp>
      <p:sp>
        <p:nvSpPr>
          <p:cNvPr id="61" name="Oval 60"/>
          <p:cNvSpPr/>
          <p:nvPr/>
        </p:nvSpPr>
        <p:spPr>
          <a:xfrm>
            <a:off x="9477375" y="2324100"/>
            <a:ext cx="190500" cy="190500"/>
          </a:xfrm>
          <a:prstGeom prst="ellipse">
            <a:avLst/>
          </a:prstGeom>
          <a:solidFill>
            <a:srgbClr val="617C8A"/>
          </a:solidFill>
          <a:ln w="12700">
            <a:solidFill>
              <a:srgbClr val="617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505950" y="2362200"/>
            <a:ext cx="133350" cy="133350"/>
          </a:xfrm>
          <a:prstGeom prst="rect">
            <a:avLst/>
          </a:prstGeom>
          <a:noFill/>
        </p:spPr>
        <p:txBody>
          <a:bodyPr wrap="square" lIns="0" rIns="0" tIns="0" bIns="0" anchor="t">
            <a:spAutoFit/>
          </a:bodyPr>
          <a:lstStyle/>
          <a:p>
            <a:pPr algn="ctr">
              <a:lnSpc>
                <a:spcPct val="118000"/>
              </a:lnSpc>
              <a:spcBef>
                <a:spcPts val="0"/>
              </a:spcBef>
              <a:spcAft>
                <a:spcPts val="0"/>
              </a:spcAft>
            </a:pPr>
            <a:r>
              <a:rPr sz="675" b="1">
                <a:solidFill>
                  <a:srgbClr val="FFFFFF"/>
                </a:solidFill>
                <a:latin typeface="Aptos"/>
              </a:rPr>
              <a:t>3</a:t>
            </a:r>
          </a:p>
        </p:txBody>
      </p:sp>
      <p:sp>
        <p:nvSpPr>
          <p:cNvPr id="63" name="TextBox 62"/>
          <p:cNvSpPr txBox="1"/>
          <p:nvPr/>
        </p:nvSpPr>
        <p:spPr>
          <a:xfrm>
            <a:off x="7315200" y="4714875"/>
            <a:ext cx="4095750" cy="2857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Impact: 1 headroom erosion &lt;25% of approved buffer; 2 ≥25%, no breach; 3 cash below buffer</a:t>
            </a:r>
          </a:p>
        </p:txBody>
      </p:sp>
      <p:sp>
        <p:nvSpPr>
          <p:cNvPr id="64" name="TextBox 63"/>
          <p:cNvSpPr txBox="1"/>
          <p:nvPr/>
        </p:nvSpPr>
        <p:spPr>
          <a:xfrm>
            <a:off x="571500" y="5105400"/>
            <a:ext cx="10668000" cy="495299"/>
          </a:xfrm>
          <a:prstGeom prst="rect">
            <a:avLst/>
          </a:prstGeom>
          <a:noFill/>
        </p:spPr>
        <p:txBody>
          <a:bodyPr wrap="square" lIns="0" rIns="0" tIns="0" bIns="0" anchor="t">
            <a:spAutoFit/>
          </a:bodyPr>
          <a:lstStyle/>
          <a:p>
            <a:pPr algn="l">
              <a:lnSpc>
                <a:spcPct val="120000"/>
              </a:lnSpc>
              <a:spcBef>
                <a:spcPts val="0"/>
              </a:spcBef>
              <a:spcAft>
                <a:spcPts val="0"/>
              </a:spcAft>
            </a:pPr>
            <a:r>
              <a:rPr sz="750" b="1">
                <a:solidFill>
                  <a:srgbClr val="171717"/>
                </a:solidFill>
                <a:latin typeface="Aptos"/>
              </a:rPr>
              <a:t>Likelihood 1–3 = unlikely / possible / likely within horizon; 25% is a proposed scoring cutoff, not UBS policy. Priorities: residual exposure, settlement / collateral breach, funding rollover.</a:t>
            </a:r>
          </a:p>
        </p:txBody>
      </p:sp>
      <p:sp>
        <p:nvSpPr>
          <p:cNvPr id="65" name="TextBox 64"/>
          <p:cNvSpPr txBox="1"/>
          <p:nvPr/>
        </p:nvSpPr>
        <p:spPr>
          <a:xfrm>
            <a:off x="571500" y="5791200"/>
            <a:ext cx="10668000" cy="228600"/>
          </a:xfrm>
          <a:prstGeom prst="rect">
            <a:avLst/>
          </a:prstGeom>
          <a:noFill/>
        </p:spPr>
        <p:txBody>
          <a:bodyPr wrap="square" lIns="0" rIns="0" tIns="0" bIns="0" anchor="t">
            <a:spAutoFit/>
          </a:bodyPr>
          <a:lstStyle/>
          <a:p>
            <a:pPr algn="l">
              <a:lnSpc>
                <a:spcPct val="118000"/>
              </a:lnSpc>
              <a:spcBef>
                <a:spcPts val="0"/>
              </a:spcBef>
              <a:spcAft>
                <a:spcPts val="0"/>
              </a:spcAft>
            </a:pPr>
            <a:r>
              <a:rPr sz="675" b="0">
                <a:solidFill>
                  <a:srgbClr val="5C5C58"/>
                </a:solidFill>
                <a:latin typeface="Aptos"/>
              </a:rPr>
              <a:t>Scores are analyst assumptions—not UBS / regulator ratings. Re-score after close-out; judge residual exposure only.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PART III · 3.2 CFO RECOMMENDATIONS</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Three CFO actions link control, liquidity and execution</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Proposed actions; quantify cash benefit from internal data, do not invent amounts.</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JULES  /  10</a:t>
            </a:r>
          </a:p>
        </p:txBody>
      </p:sp>
      <p:sp>
        <p:nvSpPr>
          <p:cNvPr id="12" name="Rectangle 11"/>
          <p:cNvSpPr/>
          <p:nvPr/>
        </p:nvSpPr>
        <p:spPr>
          <a:xfrm>
            <a:off x="552450" y="1381125"/>
            <a:ext cx="11049000" cy="129540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1381125"/>
            <a:ext cx="66675" cy="1295400"/>
          </a:xfrm>
          <a:prstGeom prst="rect">
            <a:avLst/>
          </a:prstGeom>
          <a:solidFill>
            <a:srgbClr val="E3000B"/>
          </a:solidFill>
          <a:ln>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1476375"/>
            <a:ext cx="10620375" cy="190500"/>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E3000B"/>
                </a:solidFill>
                <a:latin typeface="Aptos"/>
              </a:rPr>
              <a:t>1 · IMMEDIATE LIQUIDITY PROTECTION</a:t>
            </a:r>
          </a:p>
        </p:txBody>
      </p:sp>
      <p:sp>
        <p:nvSpPr>
          <p:cNvPr id="15" name="TextBox 14"/>
          <p:cNvSpPr txBox="1"/>
          <p:nvPr/>
        </p:nvSpPr>
        <p:spPr>
          <a:xfrm>
            <a:off x="762000" y="1724025"/>
            <a:ext cx="10620375" cy="180975"/>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171717"/>
                </a:solidFill>
                <a:latin typeface="Aptos"/>
              </a:rPr>
              <a:t>Owner: Group Treasurer  |  Deadline: initial view in 24h; funding before first modeled breach.</a:t>
            </a:r>
          </a:p>
        </p:txBody>
      </p:sp>
      <p:sp>
        <p:nvSpPr>
          <p:cNvPr id="16" name="TextBox 15"/>
          <p:cNvSpPr txBox="1"/>
          <p:nvPr/>
        </p:nvSpPr>
        <p:spPr>
          <a:xfrm>
            <a:off x="762000" y="1952624"/>
            <a:ext cx="10620375" cy="171450"/>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Benefit: measured headroom uplift = confirmed accessible funding less fees / haircuts.</a:t>
            </a:r>
          </a:p>
        </p:txBody>
      </p:sp>
      <p:sp>
        <p:nvSpPr>
          <p:cNvPr id="17" name="TextBox 16"/>
          <p:cNvSpPr txBox="1"/>
          <p:nvPr/>
        </p:nvSpPr>
        <p:spPr>
          <a:xfrm>
            <a:off x="762000" y="2162175"/>
            <a:ext cx="10620375" cy="171450"/>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5C5C58"/>
                </a:solidFill>
                <a:latin typeface="Aptos"/>
              </a:rPr>
              <a:t>Constraint: availability, collateral eligibility, execution time and cost.</a:t>
            </a:r>
          </a:p>
        </p:txBody>
      </p:sp>
      <p:sp>
        <p:nvSpPr>
          <p:cNvPr id="18" name="TextBox 17"/>
          <p:cNvSpPr txBox="1"/>
          <p:nvPr/>
        </p:nvSpPr>
        <p:spPr>
          <a:xfrm>
            <a:off x="762000" y="2371725"/>
            <a:ext cx="10620375" cy="171450"/>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5C5C58"/>
                </a:solidFill>
                <a:latin typeface="Aptos"/>
              </a:rPr>
              <a:t>Fallback: separately assessed resource available within the required window.</a:t>
            </a:r>
          </a:p>
        </p:txBody>
      </p:sp>
      <p:sp>
        <p:nvSpPr>
          <p:cNvPr id="19" name="Rectangle 18"/>
          <p:cNvSpPr/>
          <p:nvPr/>
        </p:nvSpPr>
        <p:spPr>
          <a:xfrm>
            <a:off x="552450" y="2819400"/>
            <a:ext cx="11049000" cy="129540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52450" y="2819400"/>
            <a:ext cx="66675" cy="1295400"/>
          </a:xfrm>
          <a:prstGeom prst="rect">
            <a:avLst/>
          </a:prstGeom>
          <a:solidFill>
            <a:srgbClr val="B51E2B"/>
          </a:solidFill>
          <a:ln>
            <a:solidFill>
              <a:srgbClr val="B51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2000" y="2914650"/>
            <a:ext cx="10620375" cy="190500"/>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B51E2B"/>
                </a:solidFill>
                <a:latin typeface="Aptos"/>
              </a:rPr>
              <a:t>2 · CONTAIN CASH EXPOSURE</a:t>
            </a:r>
          </a:p>
        </p:txBody>
      </p:sp>
      <p:sp>
        <p:nvSpPr>
          <p:cNvPr id="22" name="TextBox 21"/>
          <p:cNvSpPr txBox="1"/>
          <p:nvPr/>
        </p:nvSpPr>
        <p:spPr>
          <a:xfrm>
            <a:off x="762000" y="3162300"/>
            <a:ext cx="10620375" cy="180975"/>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171717"/>
                </a:solidFill>
                <a:latin typeface="Aptos"/>
              </a:rPr>
              <a:t>Owner: IB COO + Market Risk + Treasury  |  Deadline: immediate; daily until reconciled / closed.</a:t>
            </a:r>
          </a:p>
        </p:txBody>
      </p:sp>
      <p:sp>
        <p:nvSpPr>
          <p:cNvPr id="23" name="TextBox 22"/>
          <p:cNvSpPr txBox="1"/>
          <p:nvPr/>
        </p:nvSpPr>
        <p:spPr>
          <a:xfrm>
            <a:off x="762000" y="3390900"/>
            <a:ext cx="10620375" cy="171450"/>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Benefit: reduce uncertainty; count collateral release only when confirmed.</a:t>
            </a:r>
          </a:p>
        </p:txBody>
      </p:sp>
      <p:sp>
        <p:nvSpPr>
          <p:cNvPr id="24" name="TextBox 23"/>
          <p:cNvSpPr txBox="1"/>
          <p:nvPr/>
        </p:nvSpPr>
        <p:spPr>
          <a:xfrm>
            <a:off x="762000" y="3600450"/>
            <a:ext cx="10620375" cy="171450"/>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5C5C58"/>
                </a:solidFill>
                <a:latin typeface="Aptos"/>
              </a:rPr>
              <a:t>Constraint: market liquidity, close-out cost and settlement delays.</a:t>
            </a:r>
          </a:p>
        </p:txBody>
      </p:sp>
      <p:sp>
        <p:nvSpPr>
          <p:cNvPr id="25" name="TextBox 24"/>
          <p:cNvSpPr txBox="1"/>
          <p:nvPr/>
        </p:nvSpPr>
        <p:spPr>
          <a:xfrm>
            <a:off x="762000" y="3810000"/>
            <a:ext cx="10620375" cy="171450"/>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5C5C58"/>
                </a:solidFill>
                <a:latin typeface="Aptos"/>
              </a:rPr>
              <a:t>Fallback: retain a conservative liquidity overlay against unresolved items.</a:t>
            </a:r>
          </a:p>
        </p:txBody>
      </p:sp>
      <p:sp>
        <p:nvSpPr>
          <p:cNvPr id="26" name="Rectangle 25"/>
          <p:cNvSpPr/>
          <p:nvPr/>
        </p:nvSpPr>
        <p:spPr>
          <a:xfrm>
            <a:off x="552450" y="4257675"/>
            <a:ext cx="11049000" cy="129540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2450" y="4257675"/>
            <a:ext cx="66675" cy="1295400"/>
          </a:xfrm>
          <a:prstGeom prst="rect">
            <a:avLst/>
          </a:prstGeom>
          <a:solidFill>
            <a:srgbClr val="B51E2B"/>
          </a:solidFill>
          <a:ln>
            <a:solidFill>
              <a:srgbClr val="B51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2000" y="4352925"/>
            <a:ext cx="10620375" cy="190500"/>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B51E2B"/>
                </a:solidFill>
                <a:latin typeface="Aptos"/>
              </a:rPr>
              <a:t>3 · REBUILD CONTROLS &amp; GOVERNANCE</a:t>
            </a:r>
          </a:p>
        </p:txBody>
      </p:sp>
      <p:sp>
        <p:nvSpPr>
          <p:cNvPr id="29" name="TextBox 28"/>
          <p:cNvSpPr txBox="1"/>
          <p:nvPr/>
        </p:nvSpPr>
        <p:spPr>
          <a:xfrm>
            <a:off x="762000" y="4600575"/>
            <a:ext cx="10620375" cy="180975"/>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171717"/>
                </a:solidFill>
                <a:latin typeface="Aptos"/>
              </a:rPr>
              <a:t>Owner: CRO + IB COO; Internal Audit validates  |  Interim days; programme by 14 Dec.</a:t>
            </a:r>
          </a:p>
        </p:txBody>
      </p:sp>
      <p:sp>
        <p:nvSpPr>
          <p:cNvPr id="30" name="TextBox 29"/>
          <p:cNvSpPr txBox="1"/>
          <p:nvPr/>
        </p:nvSpPr>
        <p:spPr>
          <a:xfrm>
            <a:off x="762000" y="4829175"/>
            <a:ext cx="10620375" cy="171450"/>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171717"/>
                </a:solidFill>
                <a:latin typeface="Aptos"/>
              </a:rPr>
              <a:t>Benefit: reduce recurrence; no unsupported cash-saving estimate.</a:t>
            </a:r>
          </a:p>
        </p:txBody>
      </p:sp>
      <p:sp>
        <p:nvSpPr>
          <p:cNvPr id="31" name="TextBox 30"/>
          <p:cNvSpPr txBox="1"/>
          <p:nvPr/>
        </p:nvSpPr>
        <p:spPr>
          <a:xfrm>
            <a:off x="762000" y="5038725"/>
            <a:ext cx="10620375" cy="171450"/>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5C5C58"/>
                </a:solidFill>
                <a:latin typeface="Aptos"/>
              </a:rPr>
              <a:t>Constraint: systems, staffing, implementation and ownership.</a:t>
            </a:r>
          </a:p>
        </p:txBody>
      </p:sp>
      <p:sp>
        <p:nvSpPr>
          <p:cNvPr id="32" name="TextBox 31"/>
          <p:cNvSpPr txBox="1"/>
          <p:nvPr/>
        </p:nvSpPr>
        <p:spPr>
          <a:xfrm>
            <a:off x="762000" y="5248275"/>
            <a:ext cx="10620375" cy="171450"/>
          </a:xfrm>
          <a:prstGeom prst="rect">
            <a:avLst/>
          </a:prstGeom>
          <a:noFill/>
        </p:spPr>
        <p:txBody>
          <a:bodyPr wrap="square" lIns="0" rIns="0" tIns="0" bIns="0" anchor="t">
            <a:spAutoFit/>
          </a:bodyPr>
          <a:lstStyle/>
          <a:p>
            <a:pPr algn="l">
              <a:lnSpc>
                <a:spcPct val="118000"/>
              </a:lnSpc>
              <a:spcBef>
                <a:spcPts val="0"/>
              </a:spcBef>
              <a:spcAft>
                <a:spcPts val="0"/>
              </a:spcAft>
            </a:pPr>
            <a:r>
              <a:rPr sz="825" b="0">
                <a:solidFill>
                  <a:srgbClr val="5C5C58"/>
                </a:solidFill>
                <a:latin typeface="Aptos"/>
              </a:rPr>
              <a:t>Fallback: manual independent verification, dual sign-off and tighter limits.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MONITORING &amp; CONCLUSION · CALVIN</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Board decision: protect payment capacity; activate funding only on evidence</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Conclusion: the cash bridge is an analytical model; public information does not establish UBS’s actual daily funding gap.</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CALVIN  /  11</a:t>
            </a:r>
          </a:p>
        </p:txBody>
      </p:sp>
      <p:sp>
        <p:nvSpPr>
          <p:cNvPr id="12" name="Rectangle 11"/>
          <p:cNvSpPr/>
          <p:nvPr/>
        </p:nvSpPr>
        <p:spPr>
          <a:xfrm>
            <a:off x="552450" y="1381125"/>
            <a:ext cx="11049000" cy="771525"/>
          </a:xfrm>
          <a:prstGeom prst="rect">
            <a:avLst/>
          </a:prstGeom>
          <a:solidFill>
            <a:srgbClr val="FAF4F4"/>
          </a:solidFill>
          <a:ln w="12700">
            <a:solidFill>
              <a:srgbClr val="E5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050" y="1543050"/>
            <a:ext cx="10572750" cy="466724"/>
          </a:xfrm>
          <a:prstGeom prst="rect">
            <a:avLst/>
          </a:prstGeom>
          <a:noFill/>
        </p:spPr>
        <p:txBody>
          <a:bodyPr wrap="square" lIns="0" rIns="0" tIns="0" bIns="0" anchor="t">
            <a:spAutoFit/>
          </a:bodyPr>
          <a:lstStyle/>
          <a:p>
            <a:pPr algn="l">
              <a:lnSpc>
                <a:spcPct val="120000"/>
              </a:lnSpc>
              <a:spcBef>
                <a:spcPts val="0"/>
              </a:spcBef>
              <a:spcAft>
                <a:spcPts val="0"/>
              </a:spcAft>
            </a:pPr>
            <a:r>
              <a:rPr sz="1050" b="1">
                <a:solidFill>
                  <a:srgbClr val="171717"/>
                </a:solidFill>
                <a:latin typeface="Aptos"/>
              </a:rPr>
              <a:t>Authorize a verified 13-week cash forecast, independent position reconciliation and a pre-arranged funding fallback. Do not equate the USD 2.3bn accounting / trading loss with a same-day cash requirement.</a:t>
            </a:r>
          </a:p>
        </p:txBody>
      </p:sp>
      <p:sp>
        <p:nvSpPr>
          <p:cNvPr id="14" name="TextBox 13"/>
          <p:cNvSpPr txBox="1"/>
          <p:nvPr/>
        </p:nvSpPr>
        <p:spPr>
          <a:xfrm>
            <a:off x="609600" y="2409825"/>
            <a:ext cx="2238375"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DAILY · FIRST WEEK</a:t>
            </a:r>
          </a:p>
        </p:txBody>
      </p:sp>
      <p:sp>
        <p:nvSpPr>
          <p:cNvPr id="15" name="TextBox 14"/>
          <p:cNvSpPr txBox="1"/>
          <p:nvPr/>
        </p:nvSpPr>
        <p:spPr>
          <a:xfrm>
            <a:off x="2857500" y="2409825"/>
            <a:ext cx="8191500" cy="352425"/>
          </a:xfrm>
          <a:prstGeom prst="rect">
            <a:avLst/>
          </a:prstGeom>
          <a:noFill/>
        </p:spPr>
        <p:txBody>
          <a:bodyPr wrap="square" lIns="0" rIns="0" tIns="0" bIns="0" anchor="t">
            <a:spAutoFit/>
          </a:bodyPr>
          <a:lstStyle/>
          <a:p>
            <a:pPr algn="l">
              <a:lnSpc>
                <a:spcPct val="120000"/>
              </a:lnSpc>
              <a:spcBef>
                <a:spcPts val="0"/>
              </a:spcBef>
              <a:spcAft>
                <a:spcPts val="0"/>
              </a:spcAft>
            </a:pPr>
            <a:r>
              <a:rPr sz="825" b="0">
                <a:solidFill>
                  <a:srgbClr val="171717"/>
                </a:solidFill>
                <a:latin typeface="Aptos"/>
              </a:rPr>
              <a:t>Accessible cash and buffer · settlement / collateral due · open breaks</a:t>
            </a:r>
          </a:p>
        </p:txBody>
      </p:sp>
      <p:sp>
        <p:nvSpPr>
          <p:cNvPr id="16" name="TextBox 15"/>
          <p:cNvSpPr txBox="1"/>
          <p:nvPr/>
        </p:nvSpPr>
        <p:spPr>
          <a:xfrm>
            <a:off x="609600" y="3028950"/>
            <a:ext cx="2238375"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WEEKLY · TO 14 DEC</a:t>
            </a:r>
          </a:p>
        </p:txBody>
      </p:sp>
      <p:sp>
        <p:nvSpPr>
          <p:cNvPr id="17" name="TextBox 16"/>
          <p:cNvSpPr txBox="1"/>
          <p:nvPr/>
        </p:nvSpPr>
        <p:spPr>
          <a:xfrm>
            <a:off x="2857500" y="3028950"/>
            <a:ext cx="8191500" cy="352425"/>
          </a:xfrm>
          <a:prstGeom prst="rect">
            <a:avLst/>
          </a:prstGeom>
          <a:noFill/>
        </p:spPr>
        <p:txBody>
          <a:bodyPr wrap="square" lIns="0" rIns="0" tIns="0" bIns="0" anchor="t">
            <a:spAutoFit/>
          </a:bodyPr>
          <a:lstStyle/>
          <a:p>
            <a:pPr algn="l">
              <a:lnSpc>
                <a:spcPct val="120000"/>
              </a:lnSpc>
              <a:spcBef>
                <a:spcPts val="0"/>
              </a:spcBef>
              <a:spcAft>
                <a:spcPts val="0"/>
              </a:spcAft>
            </a:pPr>
            <a:r>
              <a:rPr sz="825" b="0">
                <a:solidFill>
                  <a:srgbClr val="171717"/>
                </a:solidFill>
                <a:latin typeface="Aptos"/>
              </a:rPr>
              <a:t>Funding maturities · forecast variance · withdrawals / counterparties</a:t>
            </a:r>
          </a:p>
        </p:txBody>
      </p:sp>
      <p:sp>
        <p:nvSpPr>
          <p:cNvPr id="18" name="TextBox 17"/>
          <p:cNvSpPr txBox="1"/>
          <p:nvPr/>
        </p:nvSpPr>
        <p:spPr>
          <a:xfrm>
            <a:off x="609600" y="3648075"/>
            <a:ext cx="2238375"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ESCALATE IF</a:t>
            </a:r>
          </a:p>
        </p:txBody>
      </p:sp>
      <p:sp>
        <p:nvSpPr>
          <p:cNvPr id="19" name="TextBox 18"/>
          <p:cNvSpPr txBox="1"/>
          <p:nvPr/>
        </p:nvSpPr>
        <p:spPr>
          <a:xfrm>
            <a:off x="2857500" y="3648075"/>
            <a:ext cx="8191500" cy="352425"/>
          </a:xfrm>
          <a:prstGeom prst="rect">
            <a:avLst/>
          </a:prstGeom>
          <a:noFill/>
        </p:spPr>
        <p:txBody>
          <a:bodyPr wrap="square" lIns="0" rIns="0" tIns="0" bIns="0" anchor="t">
            <a:spAutoFit/>
          </a:bodyPr>
          <a:lstStyle/>
          <a:p>
            <a:pPr algn="l">
              <a:lnSpc>
                <a:spcPct val="120000"/>
              </a:lnSpc>
              <a:spcBef>
                <a:spcPts val="0"/>
              </a:spcBef>
              <a:spcAft>
                <a:spcPts val="0"/>
              </a:spcAft>
            </a:pPr>
            <a:r>
              <a:rPr sz="825" b="0">
                <a:solidFill>
                  <a:srgbClr val="171717"/>
                </a:solidFill>
                <a:latin typeface="Aptos"/>
              </a:rPr>
              <a:t>Forecast cash below buffer before funding arrives; unresolved material trade; missed collateral return or rollover</a:t>
            </a:r>
          </a:p>
        </p:txBody>
      </p:sp>
      <p:sp>
        <p:nvSpPr>
          <p:cNvPr id="20" name="Rectangle 19"/>
          <p:cNvSpPr/>
          <p:nvPr/>
        </p:nvSpPr>
        <p:spPr>
          <a:xfrm>
            <a:off x="552450" y="4448175"/>
            <a:ext cx="11049000" cy="1057275"/>
          </a:xfrm>
          <a:prstGeom prst="rect">
            <a:avLst/>
          </a:prstGeom>
          <a:solidFill>
            <a:srgbClr val="F2F1ED"/>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2000" y="4600575"/>
            <a:ext cx="10477500" cy="1714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E3000B"/>
                </a:solidFill>
                <a:latin typeface="Aptos"/>
              </a:rPr>
              <a:t>DIRECT ANSWER &amp; MODEL LIMITATION</a:t>
            </a:r>
          </a:p>
        </p:txBody>
      </p:sp>
      <p:sp>
        <p:nvSpPr>
          <p:cNvPr id="22" name="TextBox 21"/>
          <p:cNvSpPr txBox="1"/>
          <p:nvPr/>
        </p:nvSpPr>
        <p:spPr>
          <a:xfrm>
            <a:off x="762000" y="4876800"/>
            <a:ext cx="10477500" cy="476250"/>
          </a:xfrm>
          <a:prstGeom prst="rect">
            <a:avLst/>
          </a:prstGeom>
          <a:noFill/>
        </p:spPr>
        <p:txBody>
          <a:bodyPr wrap="square" lIns="0" rIns="0" tIns="0" bIns="0" anchor="t">
            <a:spAutoFit/>
          </a:bodyPr>
          <a:lstStyle/>
          <a:p>
            <a:pPr algn="l">
              <a:lnSpc>
                <a:spcPct val="125000"/>
              </a:lnSpc>
              <a:spcBef>
                <a:spcPts val="0"/>
              </a:spcBef>
              <a:spcAft>
                <a:spcPts val="0"/>
              </a:spcAft>
            </a:pPr>
            <a:r>
              <a:rPr sz="825" b="0">
                <a:solidFill>
                  <a:srgbClr val="171717"/>
                </a:solidFill>
                <a:latin typeface="Aptos"/>
              </a:rPr>
              <a:t>The response is a timing-led liquidity plan: preserve headroom, contain and reconcile positions, and stage funding before any modeled breach. Public sources confirm the incident, but not opening accessible cash, daily flows, the minimum buffer or the actual peak funding requirement/date; those require UBS Treasury records.</a:t>
            </a:r>
          </a:p>
        </p:txBody>
      </p:sp>
      <p:sp>
        <p:nvSpPr>
          <p:cNvPr id="23" name="TextBox 22"/>
          <p:cNvSpPr txBox="1"/>
          <p:nvPr/>
        </p:nvSpPr>
        <p:spPr>
          <a:xfrm>
            <a:off x="571500" y="5829300"/>
            <a:ext cx="10668000" cy="219075"/>
          </a:xfrm>
          <a:prstGeom prst="rect">
            <a:avLst/>
          </a:prstGeom>
          <a:noFill/>
        </p:spPr>
        <p:txBody>
          <a:bodyPr wrap="square" lIns="0" rIns="0" tIns="0" bIns="0" anchor="t">
            <a:spAutoFit/>
          </a:bodyPr>
          <a:lstStyle/>
          <a:p>
            <a:pPr algn="l">
              <a:lnSpc>
                <a:spcPct val="118000"/>
              </a:lnSpc>
              <a:spcBef>
                <a:spcPts val="0"/>
              </a:spcBef>
              <a:spcAft>
                <a:spcPts val="0"/>
              </a:spcAft>
            </a:pPr>
            <a:r>
              <a:rPr sz="675" b="0">
                <a:solidFill>
                  <a:srgbClr val="5C5C58"/>
                </a:solidFill>
                <a:latin typeface="Aptos"/>
              </a:rPr>
              <a:t>If the internal base case shows no funding gap, report zero; disclose the stress assumptions that would create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REFERENCES · PRIMARY SOURCES</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References · source register</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Source notes are keyed in the core slides. Click the source links in the PowerPoint.</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ALL PRESENTERS  /  12</a:t>
            </a:r>
          </a:p>
        </p:txBody>
      </p:sp>
      <p:sp>
        <p:nvSpPr>
          <p:cNvPr id="12" name="TextBox 11"/>
          <p:cNvSpPr txBox="1"/>
          <p:nvPr/>
        </p:nvSpPr>
        <p:spPr>
          <a:xfrm>
            <a:off x="571500" y="1400175"/>
            <a:ext cx="1238250" cy="190500"/>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B51E2B"/>
                </a:solidFill>
                <a:latin typeface="Aptos"/>
              </a:rPr>
              <a:t>[1] FINMA</a:t>
            </a:r>
          </a:p>
        </p:txBody>
      </p:sp>
      <p:sp>
        <p:nvSpPr>
          <p:cNvPr id="13" name="TextBox 12"/>
          <p:cNvSpPr txBox="1"/>
          <p:nvPr/>
        </p:nvSpPr>
        <p:spPr>
          <a:xfrm>
            <a:off x="1952624" y="1400175"/>
            <a:ext cx="7620000" cy="476250"/>
          </a:xfrm>
          <a:prstGeom prst="rect">
            <a:avLst/>
          </a:prstGeom>
          <a:noFill/>
        </p:spPr>
        <p:txBody>
          <a:bodyPr wrap="square" lIns="0" rIns="0" tIns="0" bIns="0" anchor="t">
            <a:spAutoFit/>
          </a:bodyPr>
          <a:lstStyle/>
          <a:p>
            <a:pPr algn="l">
              <a:lnSpc>
                <a:spcPct val="125000"/>
              </a:lnSpc>
              <a:spcBef>
                <a:spcPts val="0"/>
              </a:spcBef>
              <a:spcAft>
                <a:spcPts val="0"/>
              </a:spcAft>
            </a:pPr>
            <a:r>
              <a:rPr sz="825" b="0">
                <a:solidFill>
                  <a:srgbClr val="171717"/>
                </a:solidFill>
                <a:latin typeface="Aptos"/>
              </a:rPr>
              <a:t>Summary Report: investigation into UBS London trading losses, 21 Nov 2012. Positions, concealment, controls.</a:t>
            </a:r>
          </a:p>
        </p:txBody>
      </p:sp>
      <p:sp>
        <p:nvSpPr>
          <p:cNvPr id="14" name="TextBox 13"/>
          <p:cNvSpPr txBox="1"/>
          <p:nvPr/>
        </p:nvSpPr>
        <p:spPr>
          <a:xfrm>
            <a:off x="9658350" y="1419225"/>
            <a:ext cx="1809750" cy="3429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617C8A"/>
                </a:solidFill>
                <a:latin typeface="Aptos"/>
                <a:hlinkClick r:id="rId4"/>
              </a:rPr>
              <a:t>OPEN SOURCE ↗</a:t>
            </a:r>
          </a:p>
        </p:txBody>
      </p:sp>
      <p:cxnSp>
        <p:nvCxnSpPr>
          <p:cNvPr id="15" name="Connector 14"/>
          <p:cNvCxnSpPr/>
          <p:nvPr/>
        </p:nvCxnSpPr>
        <p:spPr>
          <a:xfrm>
            <a:off x="571500" y="2047875"/>
            <a:ext cx="1095375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71500" y="2295525"/>
            <a:ext cx="1238250" cy="190500"/>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B51E2B"/>
                </a:solidFill>
                <a:latin typeface="Aptos"/>
              </a:rPr>
              <a:t>[2] FSA / FCA</a:t>
            </a:r>
          </a:p>
        </p:txBody>
      </p:sp>
      <p:sp>
        <p:nvSpPr>
          <p:cNvPr id="17" name="TextBox 16"/>
          <p:cNvSpPr txBox="1"/>
          <p:nvPr/>
        </p:nvSpPr>
        <p:spPr>
          <a:xfrm>
            <a:off x="1952624" y="2295525"/>
            <a:ext cx="7620000" cy="476250"/>
          </a:xfrm>
          <a:prstGeom prst="rect">
            <a:avLst/>
          </a:prstGeom>
          <a:noFill/>
        </p:spPr>
        <p:txBody>
          <a:bodyPr wrap="square" lIns="0" rIns="0" tIns="0" bIns="0" anchor="t">
            <a:spAutoFit/>
          </a:bodyPr>
          <a:lstStyle/>
          <a:p>
            <a:pPr algn="l">
              <a:lnSpc>
                <a:spcPct val="125000"/>
              </a:lnSpc>
              <a:spcBef>
                <a:spcPts val="0"/>
              </a:spcBef>
              <a:spcAft>
                <a:spcPts val="0"/>
              </a:spcAft>
            </a:pPr>
            <a:r>
              <a:rPr sz="825" b="0">
                <a:solidFill>
                  <a:srgbClr val="171717"/>
                </a:solidFill>
                <a:latin typeface="Aptos"/>
              </a:rPr>
              <a:t>Final Notice: UBS AG, 25 Nov 2012. USD 2.3bn loss, limits and control failings.</a:t>
            </a:r>
          </a:p>
        </p:txBody>
      </p:sp>
      <p:sp>
        <p:nvSpPr>
          <p:cNvPr id="18" name="TextBox 17"/>
          <p:cNvSpPr txBox="1"/>
          <p:nvPr/>
        </p:nvSpPr>
        <p:spPr>
          <a:xfrm>
            <a:off x="9658350" y="2314575"/>
            <a:ext cx="1809750" cy="3429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617C8A"/>
                </a:solidFill>
                <a:latin typeface="Aptos"/>
                <a:hlinkClick r:id="rId5"/>
              </a:rPr>
              <a:t>OPEN SOURCE ↗</a:t>
            </a:r>
          </a:p>
        </p:txBody>
      </p:sp>
      <p:cxnSp>
        <p:nvCxnSpPr>
          <p:cNvPr id="19" name="Connector 18"/>
          <p:cNvCxnSpPr/>
          <p:nvPr/>
        </p:nvCxnSpPr>
        <p:spPr>
          <a:xfrm>
            <a:off x="571500" y="2943225"/>
            <a:ext cx="1095375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71500" y="3190875"/>
            <a:ext cx="1238250" cy="190500"/>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B51E2B"/>
                </a:solidFill>
                <a:latin typeface="Aptos"/>
              </a:rPr>
              <a:t>[3] UBS</a:t>
            </a:r>
          </a:p>
        </p:txBody>
      </p:sp>
      <p:sp>
        <p:nvSpPr>
          <p:cNvPr id="21" name="TextBox 20"/>
          <p:cNvSpPr txBox="1"/>
          <p:nvPr/>
        </p:nvSpPr>
        <p:spPr>
          <a:xfrm>
            <a:off x="1952624" y="3190875"/>
            <a:ext cx="7620000" cy="476250"/>
          </a:xfrm>
          <a:prstGeom prst="rect">
            <a:avLst/>
          </a:prstGeom>
          <a:noFill/>
        </p:spPr>
        <p:txBody>
          <a:bodyPr wrap="square" lIns="0" rIns="0" tIns="0" bIns="0" anchor="t">
            <a:spAutoFit/>
          </a:bodyPr>
          <a:lstStyle/>
          <a:p>
            <a:pPr algn="l">
              <a:lnSpc>
                <a:spcPct val="125000"/>
              </a:lnSpc>
              <a:spcBef>
                <a:spcPts val="0"/>
              </a:spcBef>
              <a:spcAft>
                <a:spcPts val="0"/>
              </a:spcAft>
            </a:pPr>
            <a:r>
              <a:rPr sz="825" b="0">
                <a:solidFill>
                  <a:srgbClr val="171717"/>
                </a:solidFill>
                <a:latin typeface="Aptos"/>
              </a:rPr>
              <a:t>Supplement No. 2, 11 Oct 2011. Initial estimate, revision to USD 2.3bn; risk covered by 18 Sep.</a:t>
            </a:r>
          </a:p>
        </p:txBody>
      </p:sp>
      <p:sp>
        <p:nvSpPr>
          <p:cNvPr id="22" name="TextBox 21"/>
          <p:cNvSpPr txBox="1"/>
          <p:nvPr/>
        </p:nvSpPr>
        <p:spPr>
          <a:xfrm>
            <a:off x="9658350" y="3209925"/>
            <a:ext cx="1809750" cy="3429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617C8A"/>
                </a:solidFill>
                <a:latin typeface="Aptos"/>
                <a:hlinkClick r:id="rId6"/>
              </a:rPr>
              <a:t>OPEN SOURCE ↗</a:t>
            </a:r>
          </a:p>
        </p:txBody>
      </p:sp>
      <p:cxnSp>
        <p:nvCxnSpPr>
          <p:cNvPr id="23" name="Connector 22"/>
          <p:cNvCxnSpPr/>
          <p:nvPr/>
        </p:nvCxnSpPr>
        <p:spPr>
          <a:xfrm>
            <a:off x="571500" y="3838575"/>
            <a:ext cx="1095375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71500" y="4086225"/>
            <a:ext cx="1238250" cy="190500"/>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B51E2B"/>
                </a:solidFill>
                <a:latin typeface="Aptos"/>
              </a:rPr>
              <a:t>[4] UBS</a:t>
            </a:r>
          </a:p>
        </p:txBody>
      </p:sp>
      <p:sp>
        <p:nvSpPr>
          <p:cNvPr id="25" name="TextBox 24"/>
          <p:cNvSpPr txBox="1"/>
          <p:nvPr/>
        </p:nvSpPr>
        <p:spPr>
          <a:xfrm>
            <a:off x="1952624" y="4086225"/>
            <a:ext cx="7620000" cy="476250"/>
          </a:xfrm>
          <a:prstGeom prst="rect">
            <a:avLst/>
          </a:prstGeom>
          <a:noFill/>
        </p:spPr>
        <p:txBody>
          <a:bodyPr wrap="square" lIns="0" rIns="0" tIns="0" bIns="0" anchor="t">
            <a:spAutoFit/>
          </a:bodyPr>
          <a:lstStyle/>
          <a:p>
            <a:pPr algn="l">
              <a:lnSpc>
                <a:spcPct val="125000"/>
              </a:lnSpc>
              <a:spcBef>
                <a:spcPts val="0"/>
              </a:spcBef>
              <a:spcAft>
                <a:spcPts val="0"/>
              </a:spcAft>
            </a:pPr>
            <a:r>
              <a:rPr sz="825" b="0">
                <a:solidFill>
                  <a:srgbClr val="171717"/>
                </a:solidFill>
                <a:latin typeface="Aptos"/>
              </a:rPr>
              <a:t>Third Quarter 2011 results / presentation materials, 25 Oct 2011. CHF / USD accounting reconciliation.</a:t>
            </a:r>
          </a:p>
        </p:txBody>
      </p:sp>
      <p:sp>
        <p:nvSpPr>
          <p:cNvPr id="26" name="TextBox 25"/>
          <p:cNvSpPr txBox="1"/>
          <p:nvPr/>
        </p:nvSpPr>
        <p:spPr>
          <a:xfrm>
            <a:off x="9658350" y="4105274"/>
            <a:ext cx="1809750" cy="3429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617C8A"/>
                </a:solidFill>
                <a:latin typeface="Aptos"/>
                <a:hlinkClick r:id="rId7"/>
              </a:rPr>
              <a:t>OPEN SOURCE ↗</a:t>
            </a:r>
          </a:p>
        </p:txBody>
      </p:sp>
      <p:cxnSp>
        <p:nvCxnSpPr>
          <p:cNvPr id="27" name="Connector 26"/>
          <p:cNvCxnSpPr/>
          <p:nvPr/>
        </p:nvCxnSpPr>
        <p:spPr>
          <a:xfrm>
            <a:off x="571500" y="4733925"/>
            <a:ext cx="1095375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71500" y="5286375"/>
            <a:ext cx="10858500" cy="495299"/>
          </a:xfrm>
          <a:prstGeom prst="rect">
            <a:avLst/>
          </a:prstGeom>
          <a:noFill/>
        </p:spPr>
        <p:txBody>
          <a:bodyPr wrap="square" lIns="0" rIns="0" tIns="0" bIns="0" anchor="t">
            <a:spAutoFit/>
          </a:bodyPr>
          <a:lstStyle/>
          <a:p>
            <a:pPr algn="l">
              <a:lnSpc>
                <a:spcPct val="125000"/>
              </a:lnSpc>
              <a:spcBef>
                <a:spcPts val="0"/>
              </a:spcBef>
              <a:spcAft>
                <a:spcPts val="0"/>
              </a:spcAft>
            </a:pPr>
            <a:r>
              <a:rPr sz="750" b="0">
                <a:solidFill>
                  <a:srgbClr val="5C5C58"/>
                </a:solidFill>
                <a:latin typeface="Aptos"/>
              </a:rPr>
              <a:t>Photo: user-supplied press image; attribution / reuse rights must be confirmed before external publication. The 2025 Annual Report images were used as visual guidance only, not as evidence for the 2011 incident.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38100"/>
          </a:xfrm>
          <a:prstGeom prst="rect">
            <a:avLst/>
          </a:prstGeom>
          <a:solidFill>
            <a:srgbClr val="E3000B"/>
          </a:solidFill>
          <a:ln w="12700">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bs-logo.png"/>
          <p:cNvPicPr>
            <a:picLocks noChangeAspect="1"/>
          </p:cNvPicPr>
          <p:nvPr/>
        </p:nvPicPr>
        <p:blipFill>
          <a:blip r:embed="rId2"/>
          <a:stretch>
            <a:fillRect/>
          </a:stretch>
        </p:blipFill>
        <p:spPr>
          <a:xfrm>
            <a:off x="408461" y="123824"/>
            <a:ext cx="1240476" cy="438150"/>
          </a:xfrm>
          <a:prstGeom prst="rect">
            <a:avLst/>
          </a:prstGeom>
        </p:spPr>
      </p:pic>
      <p:pic>
        <p:nvPicPr>
          <p:cNvPr id="5" name="Picture 4" descr="skema-logo.png"/>
          <p:cNvPicPr>
            <a:picLocks noChangeAspect="1"/>
          </p:cNvPicPr>
          <p:nvPr/>
        </p:nvPicPr>
        <p:blipFill>
          <a:blip r:embed="rId3"/>
          <a:stretch>
            <a:fillRect/>
          </a:stretch>
        </p:blipFill>
        <p:spPr>
          <a:xfrm>
            <a:off x="11344275" y="114375"/>
            <a:ext cx="400050" cy="418949"/>
          </a:xfrm>
          <a:prstGeom prst="rect">
            <a:avLst/>
          </a:prstGeom>
        </p:spPr>
      </p:pic>
      <p:sp>
        <p:nvSpPr>
          <p:cNvPr id="6" name="TextBox 5"/>
          <p:cNvSpPr txBox="1"/>
          <p:nvPr/>
        </p:nvSpPr>
        <p:spPr>
          <a:xfrm>
            <a:off x="1952624" y="247649"/>
            <a:ext cx="8096249" cy="209550"/>
          </a:xfrm>
          <a:prstGeom prst="rect">
            <a:avLst/>
          </a:prstGeom>
          <a:noFill/>
        </p:spPr>
        <p:txBody>
          <a:bodyPr wrap="square" lIns="0" rIns="0" tIns="0" bIns="0" anchor="t">
            <a:spAutoFit/>
          </a:bodyPr>
          <a:lstStyle/>
          <a:p>
            <a:pPr algn="l">
              <a:lnSpc>
                <a:spcPct val="118000"/>
              </a:lnSpc>
              <a:spcBef>
                <a:spcPts val="0"/>
              </a:spcBef>
              <a:spcAft>
                <a:spcPts val="0"/>
              </a:spcAft>
            </a:pPr>
            <a:r>
              <a:rPr sz="750" b="1">
                <a:solidFill>
                  <a:srgbClr val="B51E2B"/>
                </a:solidFill>
                <a:latin typeface="Aptos"/>
              </a:rPr>
              <a:t>APPENDIX · MODEL SPECIFICATION</a:t>
            </a:r>
          </a:p>
        </p:txBody>
      </p:sp>
      <p:sp>
        <p:nvSpPr>
          <p:cNvPr id="7" name="TextBox 6"/>
          <p:cNvSpPr txBox="1"/>
          <p:nvPr/>
        </p:nvSpPr>
        <p:spPr>
          <a:xfrm>
            <a:off x="419100" y="742950"/>
            <a:ext cx="11353800" cy="400050"/>
          </a:xfrm>
          <a:prstGeom prst="rect">
            <a:avLst/>
          </a:prstGeom>
          <a:noFill/>
        </p:spPr>
        <p:txBody>
          <a:bodyPr wrap="square" lIns="0" rIns="0" tIns="0" bIns="0" anchor="t">
            <a:spAutoFit/>
          </a:bodyPr>
          <a:lstStyle/>
          <a:p>
            <a:pPr algn="l">
              <a:lnSpc>
                <a:spcPct val="118000"/>
              </a:lnSpc>
              <a:spcBef>
                <a:spcPts val="0"/>
              </a:spcBef>
              <a:spcAft>
                <a:spcPts val="0"/>
              </a:spcAft>
            </a:pPr>
            <a:r>
              <a:rPr sz="2025" b="1">
                <a:solidFill>
                  <a:srgbClr val="171717"/>
                </a:solidFill>
                <a:latin typeface="Aptos"/>
              </a:rPr>
              <a:t>Appendix · model inputs, calculation rules and data gaps</a:t>
            </a:r>
          </a:p>
        </p:txBody>
      </p:sp>
      <p:cxnSp>
        <p:nvCxnSpPr>
          <p:cNvPr id="8" name="Connector 7"/>
          <p:cNvCxnSpPr/>
          <p:nvPr/>
        </p:nvCxnSpPr>
        <p:spPr>
          <a:xfrm>
            <a:off x="419100" y="1247775"/>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9100" y="6457950"/>
            <a:ext cx="11353800" cy="0"/>
          </a:xfrm>
          <a:prstGeom prst="line">
            <a:avLst/>
          </a:prstGeom>
          <a:ln w="12700">
            <a:solidFill>
              <a:srgbClr val="D8D7D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9100" y="6534150"/>
            <a:ext cx="7715250" cy="171450"/>
          </a:xfrm>
          <a:prstGeom prst="rect">
            <a:avLst/>
          </a:prstGeom>
          <a:noFill/>
        </p:spPr>
        <p:txBody>
          <a:bodyPr wrap="square" lIns="0" rIns="0" tIns="0" bIns="0" anchor="t">
            <a:spAutoFit/>
          </a:bodyPr>
          <a:lstStyle/>
          <a:p>
            <a:pPr algn="l">
              <a:lnSpc>
                <a:spcPct val="118000"/>
              </a:lnSpc>
              <a:spcBef>
                <a:spcPts val="0"/>
              </a:spcBef>
              <a:spcAft>
                <a:spcPts val="0"/>
              </a:spcAft>
            </a:pPr>
            <a:r>
              <a:rPr sz="600" b="0">
                <a:solidFill>
                  <a:srgbClr val="5C5C58"/>
                </a:solidFill>
                <a:latin typeface="Aptos"/>
              </a:rPr>
              <a:t>Use internal Treasury, settlement, collateral and risk records to populate this template; retain source / timestamp for every input.</a:t>
            </a:r>
          </a:p>
        </p:txBody>
      </p:sp>
      <p:sp>
        <p:nvSpPr>
          <p:cNvPr id="11" name="TextBox 10"/>
          <p:cNvSpPr txBox="1"/>
          <p:nvPr/>
        </p:nvSpPr>
        <p:spPr>
          <a:xfrm>
            <a:off x="8858250" y="6515100"/>
            <a:ext cx="2905125" cy="190500"/>
          </a:xfrm>
          <a:prstGeom prst="rect">
            <a:avLst/>
          </a:prstGeom>
          <a:noFill/>
        </p:spPr>
        <p:txBody>
          <a:bodyPr wrap="square" lIns="0" rIns="0" tIns="0" bIns="0" anchor="t">
            <a:spAutoFit/>
          </a:bodyPr>
          <a:lstStyle/>
          <a:p>
            <a:pPr algn="r">
              <a:lnSpc>
                <a:spcPct val="118000"/>
              </a:lnSpc>
              <a:spcBef>
                <a:spcPts val="0"/>
              </a:spcBef>
              <a:spcAft>
                <a:spcPts val="0"/>
              </a:spcAft>
            </a:pPr>
            <a:r>
              <a:rPr sz="675" b="1">
                <a:solidFill>
                  <a:srgbClr val="B51E2B"/>
                </a:solidFill>
                <a:latin typeface="Aptos"/>
              </a:rPr>
              <a:t>ELIAS  /  13</a:t>
            </a:r>
          </a:p>
        </p:txBody>
      </p:sp>
      <p:sp>
        <p:nvSpPr>
          <p:cNvPr id="12" name="Rectangle 11"/>
          <p:cNvSpPr/>
          <p:nvPr/>
        </p:nvSpPr>
        <p:spPr>
          <a:xfrm>
            <a:off x="552450" y="1476375"/>
            <a:ext cx="3476625" cy="381000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1476375"/>
            <a:ext cx="3476625" cy="38100"/>
          </a:xfrm>
          <a:prstGeom prst="rect">
            <a:avLst/>
          </a:prstGeom>
          <a:solidFill>
            <a:srgbClr val="E3000B"/>
          </a:solidFill>
          <a:ln>
            <a:solidFill>
              <a:srgbClr val="E300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50" y="1695450"/>
            <a:ext cx="3143250" cy="209550"/>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B51E2B"/>
                </a:solidFill>
                <a:latin typeface="Aptos"/>
              </a:rPr>
              <a:t>INPUT REGISTER</a:t>
            </a:r>
          </a:p>
        </p:txBody>
      </p:sp>
      <p:sp>
        <p:nvSpPr>
          <p:cNvPr id="15" name="TextBox 14"/>
          <p:cNvSpPr txBox="1"/>
          <p:nvPr/>
        </p:nvSpPr>
        <p:spPr>
          <a:xfrm>
            <a:off x="704850" y="2085975"/>
            <a:ext cx="3143250" cy="2857500"/>
          </a:xfrm>
          <a:prstGeom prst="rect">
            <a:avLst/>
          </a:prstGeom>
          <a:noFill/>
        </p:spPr>
        <p:txBody>
          <a:bodyPr wrap="square" lIns="0" rIns="0" tIns="0" bIns="0" anchor="t">
            <a:spAutoFit/>
          </a:bodyPr>
          <a:lstStyle/>
          <a:p>
            <a:pPr algn="l">
              <a:lnSpc>
                <a:spcPct val="155000"/>
              </a:lnSpc>
              <a:spcBef>
                <a:spcPts val="0"/>
              </a:spcBef>
              <a:spcAft>
                <a:spcPts val="0"/>
              </a:spcAft>
            </a:pPr>
            <a:r>
              <a:rPr sz="825" b="0">
                <a:solidFill>
                  <a:srgbClr val="171717"/>
                </a:solidFill>
                <a:latin typeface="Aptos"/>
              </a:rPr>
              <a:t>Opening accessible cash by entity / currency</a:t>
            </a:r>
          </a:p>
          <a:p>
            <a:pPr algn="l">
              <a:lnSpc>
                <a:spcPct val="155000"/>
              </a:lnSpc>
              <a:spcBef>
                <a:spcPts val="0"/>
              </a:spcBef>
              <a:spcAft>
                <a:spcPts val="0"/>
              </a:spcAft>
            </a:pPr>
            <a:r>
              <a:rPr sz="825" b="0">
                <a:solidFill>
                  <a:srgbClr val="171717"/>
                </a:solidFill>
                <a:latin typeface="Aptos"/>
              </a:rPr>
              <a:t>Maturity-date receipts and payments</a:t>
            </a:r>
          </a:p>
          <a:p>
            <a:pPr algn="l">
              <a:lnSpc>
                <a:spcPct val="155000"/>
              </a:lnSpc>
              <a:spcBef>
                <a:spcPts val="0"/>
              </a:spcBef>
              <a:spcAft>
                <a:spcPts val="0"/>
              </a:spcAft>
            </a:pPr>
            <a:r>
              <a:rPr sz="825" b="0">
                <a:solidFill>
                  <a:srgbClr val="171717"/>
                </a:solidFill>
                <a:latin typeface="Aptos"/>
              </a:rPr>
              <a:t>Incident settlements by value date</a:t>
            </a:r>
          </a:p>
          <a:p>
            <a:pPr algn="l">
              <a:lnSpc>
                <a:spcPct val="155000"/>
              </a:lnSpc>
              <a:spcBef>
                <a:spcPts val="0"/>
              </a:spcBef>
              <a:spcAft>
                <a:spcPts val="0"/>
              </a:spcAft>
            </a:pPr>
            <a:r>
              <a:rPr sz="825" b="0">
                <a:solidFill>
                  <a:srgbClr val="171717"/>
                </a:solidFill>
                <a:latin typeface="Aptos"/>
              </a:rPr>
              <a:t>Collateral calls / returns, net of duplicates</a:t>
            </a:r>
          </a:p>
          <a:p>
            <a:pPr algn="l">
              <a:lnSpc>
                <a:spcPct val="155000"/>
              </a:lnSpc>
              <a:spcBef>
                <a:spcPts val="0"/>
              </a:spcBef>
              <a:spcAft>
                <a:spcPts val="0"/>
              </a:spcAft>
            </a:pPr>
            <a:r>
              <a:rPr sz="825" b="0">
                <a:solidFill>
                  <a:srgbClr val="171717"/>
                </a:solidFill>
                <a:latin typeface="Aptos"/>
              </a:rPr>
              <a:t>Remediation invoices; policy buffer</a:t>
            </a:r>
          </a:p>
          <a:p>
            <a:pPr algn="l">
              <a:lnSpc>
                <a:spcPct val="155000"/>
              </a:lnSpc>
              <a:spcBef>
                <a:spcPts val="0"/>
              </a:spcBef>
              <a:spcAft>
                <a:spcPts val="0"/>
              </a:spcAft>
            </a:pPr>
            <a:r>
              <a:rPr sz="825" b="0">
                <a:solidFill>
                  <a:srgbClr val="171717"/>
                </a:solidFill>
                <a:latin typeface="Aptos"/>
              </a:rPr>
              <a:t>Committed funding, lead time and conditions</a:t>
            </a:r>
          </a:p>
        </p:txBody>
      </p:sp>
      <p:sp>
        <p:nvSpPr>
          <p:cNvPr id="16" name="Rectangle 15"/>
          <p:cNvSpPr/>
          <p:nvPr/>
        </p:nvSpPr>
        <p:spPr>
          <a:xfrm>
            <a:off x="4267200" y="1476375"/>
            <a:ext cx="3476625" cy="381000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67200" y="1476375"/>
            <a:ext cx="3476625" cy="38100"/>
          </a:xfrm>
          <a:prstGeom prst="rect">
            <a:avLst/>
          </a:prstGeom>
          <a:solidFill>
            <a:srgbClr val="B51E2B"/>
          </a:solidFill>
          <a:ln>
            <a:solidFill>
              <a:srgbClr val="B51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19600" y="1695450"/>
            <a:ext cx="3143250" cy="209550"/>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B51E2B"/>
                </a:solidFill>
                <a:latin typeface="Aptos"/>
              </a:rPr>
              <a:t>CALCULATION RULES</a:t>
            </a:r>
          </a:p>
        </p:txBody>
      </p:sp>
      <p:sp>
        <p:nvSpPr>
          <p:cNvPr id="19" name="TextBox 18"/>
          <p:cNvSpPr txBox="1"/>
          <p:nvPr/>
        </p:nvSpPr>
        <p:spPr>
          <a:xfrm>
            <a:off x="4419600" y="2085975"/>
            <a:ext cx="3143250" cy="2857500"/>
          </a:xfrm>
          <a:prstGeom prst="rect">
            <a:avLst/>
          </a:prstGeom>
          <a:noFill/>
        </p:spPr>
        <p:txBody>
          <a:bodyPr wrap="square" lIns="0" rIns="0" tIns="0" bIns="0" anchor="t">
            <a:spAutoFit/>
          </a:bodyPr>
          <a:lstStyle/>
          <a:p>
            <a:pPr algn="l">
              <a:lnSpc>
                <a:spcPct val="155000"/>
              </a:lnSpc>
              <a:spcBef>
                <a:spcPts val="0"/>
              </a:spcBef>
              <a:spcAft>
                <a:spcPts val="0"/>
              </a:spcAft>
            </a:pPr>
            <a:r>
              <a:rPr sz="825" b="0">
                <a:solidFill>
                  <a:srgbClr val="171717"/>
                </a:solidFill>
                <a:latin typeface="Aptos"/>
              </a:rPr>
              <a:t>Closing cash before funding = opening + receipts − payments</a:t>
            </a:r>
          </a:p>
          <a:p>
            <a:pPr algn="l">
              <a:lnSpc>
                <a:spcPct val="155000"/>
              </a:lnSpc>
              <a:spcBef>
                <a:spcPts val="0"/>
              </a:spcBef>
              <a:spcAft>
                <a:spcPts val="0"/>
              </a:spcAft>
            </a:pPr>
            <a:r>
              <a:rPr sz="825" b="0">
                <a:solidFill>
                  <a:srgbClr val="171717"/>
                </a:solidFill>
                <a:latin typeface="Aptos"/>
              </a:rPr>
              <a:t>Incident case adds −Sₜ + Kₜ − Iₜ</a:t>
            </a:r>
          </a:p>
          <a:p>
            <a:pPr algn="l">
              <a:lnSpc>
                <a:spcPct val="155000"/>
              </a:lnSpc>
              <a:spcBef>
                <a:spcPts val="0"/>
              </a:spcBef>
              <a:spcAft>
                <a:spcPts val="0"/>
              </a:spcAft>
            </a:pPr>
            <a:r>
              <a:rPr sz="825" b="0">
                <a:solidFill>
                  <a:srgbClr val="171717"/>
                </a:solidFill>
                <a:latin typeface="Aptos"/>
              </a:rPr>
              <a:t>Funding gap = max(0, buffer − closing before funding)</a:t>
            </a:r>
          </a:p>
          <a:p>
            <a:pPr algn="l">
              <a:lnSpc>
                <a:spcPct val="155000"/>
              </a:lnSpc>
              <a:spcBef>
                <a:spcPts val="0"/>
              </a:spcBef>
              <a:spcAft>
                <a:spcPts val="0"/>
              </a:spcAft>
            </a:pPr>
            <a:r>
              <a:rPr sz="825" b="0">
                <a:solidFill>
                  <a:srgbClr val="171717"/>
                </a:solidFill>
                <a:latin typeface="Aptos"/>
              </a:rPr>
              <a:t>Closing after funding = closing before + confirmed funding</a:t>
            </a:r>
          </a:p>
          <a:p>
            <a:pPr algn="l">
              <a:lnSpc>
                <a:spcPct val="155000"/>
              </a:lnSpc>
              <a:spcBef>
                <a:spcPts val="0"/>
              </a:spcBef>
              <a:spcAft>
                <a:spcPts val="0"/>
              </a:spcAft>
            </a:pPr>
            <a:r>
              <a:rPr sz="825" b="0">
                <a:solidFill>
                  <a:srgbClr val="171717"/>
                </a:solidFill>
                <a:latin typeface="Aptos"/>
              </a:rPr>
              <a:t>Carry each period close into next period</a:t>
            </a:r>
          </a:p>
          <a:p>
            <a:pPr algn="l">
              <a:lnSpc>
                <a:spcPct val="155000"/>
              </a:lnSpc>
              <a:spcBef>
                <a:spcPts val="0"/>
              </a:spcBef>
              <a:spcAft>
                <a:spcPts val="0"/>
              </a:spcAft>
            </a:pPr>
            <a:r>
              <a:rPr sz="825" b="0">
                <a:solidFill>
                  <a:srgbClr val="171717"/>
                </a:solidFill>
                <a:latin typeface="Aptos"/>
              </a:rPr>
              <a:t>Report lowest cash, breach date and peak gap</a:t>
            </a:r>
          </a:p>
        </p:txBody>
      </p:sp>
      <p:sp>
        <p:nvSpPr>
          <p:cNvPr id="20" name="Rectangle 19"/>
          <p:cNvSpPr/>
          <p:nvPr/>
        </p:nvSpPr>
        <p:spPr>
          <a:xfrm>
            <a:off x="7981949" y="1476375"/>
            <a:ext cx="3476625" cy="3810000"/>
          </a:xfrm>
          <a:prstGeom prst="rect">
            <a:avLst/>
          </a:prstGeom>
          <a:solidFill>
            <a:srgbClr val="F8F8F6"/>
          </a:solidFill>
          <a:ln w="12700">
            <a:solidFill>
              <a:srgbClr val="D8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81949" y="1476375"/>
            <a:ext cx="3476625" cy="38100"/>
          </a:xfrm>
          <a:prstGeom prst="rect">
            <a:avLst/>
          </a:prstGeom>
          <a:solidFill>
            <a:srgbClr val="B51E2B"/>
          </a:solidFill>
          <a:ln>
            <a:solidFill>
              <a:srgbClr val="B51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4350" y="1695450"/>
            <a:ext cx="3143250" cy="209550"/>
          </a:xfrm>
          <a:prstGeom prst="rect">
            <a:avLst/>
          </a:prstGeom>
          <a:noFill/>
        </p:spPr>
        <p:txBody>
          <a:bodyPr wrap="square" lIns="0" rIns="0" tIns="0" bIns="0" anchor="t">
            <a:spAutoFit/>
          </a:bodyPr>
          <a:lstStyle/>
          <a:p>
            <a:pPr algn="l">
              <a:lnSpc>
                <a:spcPct val="118000"/>
              </a:lnSpc>
              <a:spcBef>
                <a:spcPts val="0"/>
              </a:spcBef>
              <a:spcAft>
                <a:spcPts val="0"/>
              </a:spcAft>
            </a:pPr>
            <a:r>
              <a:rPr sz="825" b="1">
                <a:solidFill>
                  <a:srgbClr val="B51E2B"/>
                </a:solidFill>
                <a:latin typeface="Aptos"/>
              </a:rPr>
              <a:t>EVIDENCE &amp; LIMITS</a:t>
            </a:r>
          </a:p>
        </p:txBody>
      </p:sp>
      <p:sp>
        <p:nvSpPr>
          <p:cNvPr id="23" name="TextBox 22"/>
          <p:cNvSpPr txBox="1"/>
          <p:nvPr/>
        </p:nvSpPr>
        <p:spPr>
          <a:xfrm>
            <a:off x="8134350" y="2085975"/>
            <a:ext cx="3143250" cy="2857500"/>
          </a:xfrm>
          <a:prstGeom prst="rect">
            <a:avLst/>
          </a:prstGeom>
          <a:noFill/>
        </p:spPr>
        <p:txBody>
          <a:bodyPr wrap="square" lIns="0" rIns="0" tIns="0" bIns="0" anchor="t">
            <a:spAutoFit/>
          </a:bodyPr>
          <a:lstStyle/>
          <a:p>
            <a:pPr algn="l">
              <a:lnSpc>
                <a:spcPct val="155000"/>
              </a:lnSpc>
              <a:spcBef>
                <a:spcPts val="0"/>
              </a:spcBef>
              <a:spcAft>
                <a:spcPts val="0"/>
              </a:spcAft>
            </a:pPr>
            <a:r>
              <a:rPr sz="825" b="0">
                <a:solidFill>
                  <a:srgbClr val="171717"/>
                </a:solidFill>
                <a:latin typeface="Aptos"/>
              </a:rPr>
              <a:t>Published: loss / dates / positions / control findings</a:t>
            </a:r>
          </a:p>
          <a:p>
            <a:pPr algn="l">
              <a:lnSpc>
                <a:spcPct val="155000"/>
              </a:lnSpc>
              <a:spcBef>
                <a:spcPts val="0"/>
              </a:spcBef>
              <a:spcAft>
                <a:spcPts val="0"/>
              </a:spcAft>
            </a:pPr>
            <a:r>
              <a:rPr sz="825" b="0">
                <a:solidFill>
                  <a:srgbClr val="171717"/>
                </a:solidFill>
                <a:latin typeface="Aptos"/>
              </a:rPr>
              <a:t>Derived: disclosed CHF / USD accounting reconciliation</a:t>
            </a:r>
          </a:p>
          <a:p>
            <a:pPr algn="l">
              <a:lnSpc>
                <a:spcPct val="155000"/>
              </a:lnSpc>
              <a:spcBef>
                <a:spcPts val="0"/>
              </a:spcBef>
              <a:spcAft>
                <a:spcPts val="0"/>
              </a:spcAft>
            </a:pPr>
            <a:r>
              <a:rPr sz="825" b="0">
                <a:solidFill>
                  <a:srgbClr val="171717"/>
                </a:solidFill>
                <a:latin typeface="Aptos"/>
              </a:rPr>
              <a:t>Assumed: cash opening, flows, buffer, FX and stress timing</a:t>
            </a:r>
          </a:p>
          <a:p>
            <a:pPr algn="l">
              <a:lnSpc>
                <a:spcPct val="155000"/>
              </a:lnSpc>
              <a:spcBef>
                <a:spcPts val="0"/>
              </a:spcBef>
              <a:spcAft>
                <a:spcPts val="0"/>
              </a:spcAft>
            </a:pPr>
            <a:r>
              <a:rPr sz="825" b="0">
                <a:solidFill>
                  <a:srgbClr val="171717"/>
                </a:solidFill>
                <a:latin typeface="Aptos"/>
              </a:rPr>
              <a:t>No WCR / CCC proxy for bank liquidity</a:t>
            </a:r>
          </a:p>
          <a:p>
            <a:pPr algn="l">
              <a:lnSpc>
                <a:spcPct val="155000"/>
              </a:lnSpc>
              <a:spcBef>
                <a:spcPts val="0"/>
              </a:spcBef>
              <a:spcAft>
                <a:spcPts val="0"/>
              </a:spcAft>
            </a:pPr>
            <a:r>
              <a:rPr sz="825" b="0">
                <a:solidFill>
                  <a:srgbClr val="171717"/>
                </a:solidFill>
                <a:latin typeface="Aptos"/>
              </a:rPr>
              <a:t>No actual gap until internal ledger is loaded</a:t>
            </a:r>
          </a:p>
          <a:p>
            <a:pPr algn="l">
              <a:lnSpc>
                <a:spcPct val="155000"/>
              </a:lnSpc>
              <a:spcBef>
                <a:spcPts val="0"/>
              </a:spcBef>
              <a:spcAft>
                <a:spcPts val="0"/>
              </a:spcAft>
            </a:pPr>
            <a:r>
              <a:rPr sz="825" b="0">
                <a:solidFill>
                  <a:srgbClr val="171717"/>
                </a:solidFill>
                <a:latin typeface="Aptos"/>
              </a:rPr>
              <a:t>Use explicit FX source and date for each translation</a:t>
            </a:r>
          </a:p>
        </p:txBody>
      </p:sp>
      <p:sp>
        <p:nvSpPr>
          <p:cNvPr id="24" name="TextBox 23"/>
          <p:cNvSpPr txBox="1"/>
          <p:nvPr/>
        </p:nvSpPr>
        <p:spPr>
          <a:xfrm>
            <a:off x="571500" y="5619750"/>
            <a:ext cx="10668000" cy="285750"/>
          </a:xfrm>
          <a:prstGeom prst="rect">
            <a:avLst/>
          </a:prstGeom>
          <a:noFill/>
        </p:spPr>
        <p:txBody>
          <a:bodyPr wrap="square" lIns="0" rIns="0" tIns="0" bIns="0" anchor="t">
            <a:spAutoFit/>
          </a:bodyPr>
          <a:lstStyle/>
          <a:p>
            <a:pPr algn="l">
              <a:lnSpc>
                <a:spcPct val="118000"/>
              </a:lnSpc>
              <a:spcBef>
                <a:spcPts val="0"/>
              </a:spcBef>
              <a:spcAft>
                <a:spcPts val="0"/>
              </a:spcAft>
            </a:pPr>
            <a:r>
              <a:rPr sz="750" b="0">
                <a:solidFill>
                  <a:srgbClr val="5C5C58"/>
                </a:solidFill>
                <a:latin typeface="Aptos"/>
              </a:rPr>
              <a:t>Supporting calculations should report the model version, as-of time, owner, data source and scenario label.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UBS 2011 Rogue Trading Scandal — Treasury Risk</dc:title>
  <dc:subject>Source-led Treasury response and operational risk case study</dc:subject>
  <dc:creator>SKEMA Corporate Treasury Management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