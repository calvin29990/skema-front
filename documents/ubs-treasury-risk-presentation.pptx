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2"/>
          </a:solidFill>
          <a:ln w="12700">
            <a:solidFill>
              <a:srgbClr val="0A0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6184"/>
            <a:ext cx="1200150" cy="423906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9440" y="114300"/>
            <a:ext cx="400193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9750" y="238125"/>
            <a:ext cx="885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EUROPE · LOSS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23900"/>
            <a:ext cx="11287125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E9EEF2"/>
                </a:solidFill>
                <a:latin typeface="Aptos"/>
              </a:rPr>
              <a:t>A map of four defining trading-loss events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10953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Sources: [1]–[4]. Bubble area uses approximate nominal USD equivalents at event dates; not inflation-adjusted.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150" y="1409700"/>
            <a:ext cx="8048625" cy="4724400"/>
          </a:xfrm>
          <a:prstGeom prst="rect">
            <a:avLst/>
          </a:prstGeom>
          <a:solidFill>
            <a:srgbClr val="0D1217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1771650" y="1924049"/>
            <a:ext cx="371475" cy="238126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143125" y="1885950"/>
            <a:ext cx="447675" cy="38099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90800" y="1724025"/>
            <a:ext cx="304800" cy="1619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895600" y="1724025"/>
            <a:ext cx="333375" cy="571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28975" y="1781175"/>
            <a:ext cx="238125" cy="1619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467100" y="1866899"/>
            <a:ext cx="323849" cy="76201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790949" y="1866899"/>
            <a:ext cx="257175" cy="1428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048124" y="1924049"/>
            <a:ext cx="295276" cy="857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343400" y="1924049"/>
            <a:ext cx="342900" cy="152401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686300" y="2009774"/>
            <a:ext cx="314325" cy="66676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00625" y="2009774"/>
            <a:ext cx="276225" cy="123826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276850" y="2076450"/>
            <a:ext cx="314325" cy="571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591175" y="2076450"/>
            <a:ext cx="295275" cy="1619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886450" y="2181225"/>
            <a:ext cx="285750" cy="571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72200" y="2181225"/>
            <a:ext cx="295275" cy="1524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67475" y="2333625"/>
            <a:ext cx="285750" cy="666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753225" y="2400300"/>
            <a:ext cx="314325" cy="1714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067550" y="2571750"/>
            <a:ext cx="247650" cy="2000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296150" y="2771775"/>
            <a:ext cx="19050" cy="2190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7058025" y="2990850"/>
            <a:ext cx="238125" cy="857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6886575" y="3076575"/>
            <a:ext cx="171450" cy="1619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886575" y="3238500"/>
            <a:ext cx="95250" cy="2000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6791325" y="3438525"/>
            <a:ext cx="190500" cy="2000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6619875" y="3638550"/>
            <a:ext cx="171450" cy="857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6496050" y="3724275"/>
            <a:ext cx="123825" cy="2286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6229350" y="3952875"/>
            <a:ext cx="26670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6019800" y="3876674"/>
            <a:ext cx="209550" cy="123826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5838825" y="3686175"/>
            <a:ext cx="180975" cy="190499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5638800" y="3686175"/>
            <a:ext cx="200025" cy="47624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5448300" y="3638550"/>
            <a:ext cx="190500" cy="95249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5257800" y="3638550"/>
            <a:ext cx="190500" cy="152399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5057775" y="3714750"/>
            <a:ext cx="200025" cy="76199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4867275" y="3581400"/>
            <a:ext cx="190500" cy="1333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4667250" y="3581400"/>
            <a:ext cx="200025" cy="762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 flipV="1">
            <a:off x="4476750" y="3514725"/>
            <a:ext cx="190500" cy="1428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4286250" y="3486150"/>
            <a:ext cx="190500" cy="285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4114800" y="3486150"/>
            <a:ext cx="171450" cy="1047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3886200" y="3514725"/>
            <a:ext cx="228600" cy="762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3714750" y="3362325"/>
            <a:ext cx="171450" cy="1524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3524250" y="3324225"/>
            <a:ext cx="190500" cy="381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3371850" y="3171825"/>
            <a:ext cx="152400" cy="1524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162300" y="3114675"/>
            <a:ext cx="209550" cy="571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3000375" y="2962275"/>
            <a:ext cx="161925" cy="1524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800350" y="2933700"/>
            <a:ext cx="200025" cy="285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647950" y="2781300"/>
            <a:ext cx="152400" cy="1524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2476500" y="2714625"/>
            <a:ext cx="171450" cy="666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371725" y="2543175"/>
            <a:ext cx="104775" cy="1714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371725" y="2409825"/>
            <a:ext cx="133350" cy="1333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505075" y="2333625"/>
            <a:ext cx="161925" cy="762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667000" y="2181225"/>
            <a:ext cx="123825" cy="1524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2657475" y="2057400"/>
            <a:ext cx="133350" cy="1238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657475" y="1933575"/>
            <a:ext cx="190500" cy="1238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771650" y="1933575"/>
            <a:ext cx="1076325" cy="2286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324475" y="1800225"/>
            <a:ext cx="104775" cy="2762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5429250" y="1543050"/>
            <a:ext cx="152400" cy="2571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581650" y="1419225"/>
            <a:ext cx="190500" cy="1238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772150" y="1419225"/>
            <a:ext cx="133350" cy="1047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5886450" y="1524000"/>
            <a:ext cx="19050" cy="2381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5781675" y="1762125"/>
            <a:ext cx="104775" cy="2571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5724525" y="2019300"/>
            <a:ext cx="57150" cy="2762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5619750" y="2295525"/>
            <a:ext cx="104775" cy="2190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 flipV="1">
            <a:off x="5495925" y="2390775"/>
            <a:ext cx="123825" cy="1238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495925" y="2181225"/>
            <a:ext cx="38100" cy="2095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 flipV="1">
            <a:off x="5429250" y="2076450"/>
            <a:ext cx="104775" cy="1047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5324475" y="2076450"/>
            <a:ext cx="10477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324475" y="2076450"/>
            <a:ext cx="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590925" y="2200275"/>
            <a:ext cx="114299" cy="1238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05224" y="2200275"/>
            <a:ext cx="114300" cy="285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819524" y="2228850"/>
            <a:ext cx="38101" cy="1143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3810000" y="2343150"/>
            <a:ext cx="47625" cy="1143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810000" y="2457450"/>
            <a:ext cx="57150" cy="1143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3800475" y="2571750"/>
            <a:ext cx="66675" cy="1238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800475" y="2695575"/>
            <a:ext cx="38100" cy="1047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3762374" y="2800350"/>
            <a:ext cx="76201" cy="952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 flipV="1">
            <a:off x="3695700" y="2790825"/>
            <a:ext cx="66674" cy="1047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 flipV="1">
            <a:off x="3657600" y="2676525"/>
            <a:ext cx="38100" cy="1143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3590925" y="2581275"/>
            <a:ext cx="66675" cy="952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590925" y="2457450"/>
            <a:ext cx="47625" cy="1238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 flipV="1">
            <a:off x="3590925" y="2324100"/>
            <a:ext cx="47625" cy="1333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590925" y="2324100"/>
            <a:ext cx="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438525" y="2400300"/>
            <a:ext cx="85725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524250" y="2400300"/>
            <a:ext cx="38100" cy="666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3524250" y="2466975"/>
            <a:ext cx="38100" cy="1047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3457575" y="2571750"/>
            <a:ext cx="66675" cy="95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 flipV="1">
            <a:off x="3419475" y="2524125"/>
            <a:ext cx="38100" cy="571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419475" y="2447925"/>
            <a:ext cx="19050" cy="762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438525" y="2447925"/>
            <a:ext cx="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914525" y="1952624"/>
            <a:ext cx="133350" cy="571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047875" y="1952624"/>
            <a:ext cx="104775" cy="38101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2114550" y="1990725"/>
            <a:ext cx="38100" cy="857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981199" y="2076450"/>
            <a:ext cx="133351" cy="19049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 flipV="1">
            <a:off x="1914525" y="2009774"/>
            <a:ext cx="66674" cy="857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914525" y="2009774"/>
            <a:ext cx="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457700" y="3438525"/>
            <a:ext cx="133350" cy="571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591050" y="3495675"/>
            <a:ext cx="142875" cy="381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733925" y="3533775"/>
            <a:ext cx="104775" cy="1143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4810125" y="3648075"/>
            <a:ext cx="28575" cy="1809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4752975" y="3829050"/>
            <a:ext cx="57150" cy="219074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4657725" y="4048124"/>
            <a:ext cx="95250" cy="123826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4581525" y="3990974"/>
            <a:ext cx="76200" cy="180976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 flipV="1">
            <a:off x="4552950" y="3800475"/>
            <a:ext cx="28575" cy="190499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 flipV="1">
            <a:off x="4467225" y="3676649"/>
            <a:ext cx="85725" cy="123826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 flipV="1">
            <a:off x="4457700" y="3438525"/>
            <a:ext cx="9525" cy="238124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457700" y="3438525"/>
            <a:ext cx="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943350" y="3524250"/>
            <a:ext cx="161924" cy="857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105274" y="3609975"/>
            <a:ext cx="152401" cy="95249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4210050" y="3705224"/>
            <a:ext cx="47625" cy="1428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4038600" y="3848099"/>
            <a:ext cx="171450" cy="285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H="1" flipV="1">
            <a:off x="3886200" y="3790949"/>
            <a:ext cx="152400" cy="857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H="1" flipV="1">
            <a:off x="3790949" y="3676649"/>
            <a:ext cx="95251" cy="1143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790949" y="3581400"/>
            <a:ext cx="38101" cy="95249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829050" y="3524250"/>
            <a:ext cx="114300" cy="5715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943350" y="3524250"/>
            <a:ext cx="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3762374" y="2628900"/>
            <a:ext cx="38100" cy="38100"/>
          </a:xfrm>
          <a:prstGeom prst="ellipse">
            <a:avLst/>
          </a:prstGeom>
          <a:solidFill>
            <a:srgbClr val="E9EEF2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505200" y="2914650"/>
            <a:ext cx="666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93A0AB"/>
                </a:solidFill>
                <a:latin typeface="Aptos"/>
              </a:rPr>
              <a:t>LONDON</a:t>
            </a:r>
          </a:p>
        </p:txBody>
      </p:sp>
      <p:sp>
        <p:nvSpPr>
          <p:cNvPr id="127" name="Oval 126"/>
          <p:cNvSpPr/>
          <p:nvPr/>
        </p:nvSpPr>
        <p:spPr>
          <a:xfrm>
            <a:off x="4419600" y="3314700"/>
            <a:ext cx="38100" cy="38100"/>
          </a:xfrm>
          <a:prstGeom prst="ellipse">
            <a:avLst/>
          </a:prstGeom>
          <a:solidFill>
            <a:srgbClr val="E9EEF2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000500" y="3705224"/>
            <a:ext cx="523874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93A0AB"/>
                </a:solidFill>
                <a:latin typeface="Aptos"/>
              </a:rPr>
              <a:t>PARIS</a:t>
            </a:r>
          </a:p>
        </p:txBody>
      </p:sp>
      <p:sp>
        <p:nvSpPr>
          <p:cNvPr id="129" name="Oval 128"/>
          <p:cNvSpPr/>
          <p:nvPr/>
        </p:nvSpPr>
        <p:spPr>
          <a:xfrm>
            <a:off x="5181600" y="3257550"/>
            <a:ext cx="38100" cy="38100"/>
          </a:xfrm>
          <a:prstGeom prst="ellipse">
            <a:avLst/>
          </a:prstGeom>
          <a:solidFill>
            <a:srgbClr val="E9EEF2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924425" y="4010025"/>
            <a:ext cx="61912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93A0AB"/>
                </a:solidFill>
                <a:latin typeface="Aptos"/>
              </a:rPr>
              <a:t>ZURICH</a:t>
            </a:r>
          </a:p>
        </p:txBody>
      </p:sp>
      <p:sp>
        <p:nvSpPr>
          <p:cNvPr id="131" name="Oval 130"/>
          <p:cNvSpPr/>
          <p:nvPr/>
        </p:nvSpPr>
        <p:spPr>
          <a:xfrm>
            <a:off x="3543300" y="2400300"/>
            <a:ext cx="323850" cy="323850"/>
          </a:xfrm>
          <a:prstGeom prst="ellipse">
            <a:avLst/>
          </a:prstGeom>
          <a:solidFill>
            <a:srgbClr val="5B6670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4133849" y="2857500"/>
            <a:ext cx="762000" cy="762000"/>
          </a:xfrm>
          <a:prstGeom prst="ellipse">
            <a:avLst/>
          </a:prstGeom>
          <a:solidFill>
            <a:srgbClr val="5B6670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200650" y="2924175"/>
            <a:ext cx="666750" cy="666750"/>
          </a:xfrm>
          <a:prstGeom prst="ellipse">
            <a:avLst/>
          </a:prstGeom>
          <a:solidFill>
            <a:srgbClr val="5B6670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5676900" y="3505200"/>
            <a:ext cx="438150" cy="438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5" name="Connector 134"/>
          <p:cNvCxnSpPr/>
          <p:nvPr/>
        </p:nvCxnSpPr>
        <p:spPr>
          <a:xfrm flipH="1" flipV="1">
            <a:off x="3238500" y="2076450"/>
            <a:ext cx="466724" cy="323850"/>
          </a:xfrm>
          <a:prstGeom prst="line">
            <a:avLst/>
          </a:prstGeom>
          <a:ln w="12700">
            <a:solidFill>
              <a:srgbClr val="93A0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/>
          <p:cNvSpPr txBox="1"/>
          <p:nvPr/>
        </p:nvSpPr>
        <p:spPr>
          <a:xfrm>
            <a:off x="904875" y="1657350"/>
            <a:ext cx="24765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BARINGS · LONDON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GBP 827m unreported by 27 Feb</a:t>
            </a:r>
          </a:p>
        </p:txBody>
      </p:sp>
      <p:cxnSp>
        <p:nvCxnSpPr>
          <p:cNvPr id="137" name="Connector 136"/>
          <p:cNvCxnSpPr/>
          <p:nvPr/>
        </p:nvCxnSpPr>
        <p:spPr>
          <a:xfrm flipV="1">
            <a:off x="4638675" y="2419350"/>
            <a:ext cx="371475" cy="533400"/>
          </a:xfrm>
          <a:prstGeom prst="line">
            <a:avLst/>
          </a:prstGeom>
          <a:ln w="12700">
            <a:solidFill>
              <a:srgbClr val="93A0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4819650" y="1685925"/>
            <a:ext cx="2857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SOCIÉTÉ GÉNÉRALE · PARIS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EUR 4.9bn net loss ≈ USD 7.2bn</a:t>
            </a:r>
          </a:p>
        </p:txBody>
      </p:sp>
      <p:cxnSp>
        <p:nvCxnSpPr>
          <p:cNvPr id="139" name="Connector 138"/>
          <p:cNvCxnSpPr/>
          <p:nvPr/>
        </p:nvCxnSpPr>
        <p:spPr>
          <a:xfrm flipV="1">
            <a:off x="5715000" y="2638425"/>
            <a:ext cx="409575" cy="371475"/>
          </a:xfrm>
          <a:prstGeom prst="line">
            <a:avLst/>
          </a:prstGeom>
          <a:ln w="12700">
            <a:solidFill>
              <a:srgbClr val="93A0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6162675" y="2324100"/>
            <a:ext cx="217170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CREDIT SUISSE · ZURICH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USD 5.5bn Archegos loss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5981700" y="3914775"/>
            <a:ext cx="409575" cy="428625"/>
          </a:xfrm>
          <a:prstGeom prst="line">
            <a:avLst/>
          </a:prstGeom>
          <a:ln w="12700">
            <a:solidFill>
              <a:srgbClr val="93A0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057900" y="4419600"/>
            <a:ext cx="21145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UBS · ZURICH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USD 2.3bn final trading loss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6750" y="5734050"/>
            <a:ext cx="7524749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Barings close-out loss: GBP 927m incl. closure costs. Archegos was counterparty default—not rogue trading.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724900" y="1409700"/>
            <a:ext cx="3028950" cy="4724400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877300" y="1524000"/>
            <a:ext cx="272415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EXECUTIVE TAKEAWAY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963025" y="1819275"/>
            <a:ext cx="2505075" cy="1343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E9EEF2"/>
                </a:solidFill>
                <a:latin typeface="Aptos"/>
              </a:rPr>
              <a:t>UBS 2011 became one of the largest unauthorized trading losses in European banking.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8963025" y="3409950"/>
            <a:ext cx="254317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8963025" y="3609975"/>
            <a:ext cx="2476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APPROXIMATE USD LOSS SCALE · USD bn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963025" y="3952875"/>
            <a:ext cx="104774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SocGen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0001250" y="3971925"/>
            <a:ext cx="1143000" cy="104775"/>
          </a:xfrm>
          <a:prstGeom prst="rect">
            <a:avLst/>
          </a:prstGeom>
          <a:solidFill>
            <a:srgbClr val="5B6670"/>
          </a:solidFill>
          <a:ln>
            <a:solidFill>
              <a:srgbClr val="5B66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1191875" y="39433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$7.2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963025" y="4295775"/>
            <a:ext cx="104774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Credit Suisse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001250" y="4314825"/>
            <a:ext cx="873125" cy="104775"/>
          </a:xfrm>
          <a:prstGeom prst="rect">
            <a:avLst/>
          </a:prstGeom>
          <a:solidFill>
            <a:srgbClr val="5B6670"/>
          </a:solidFill>
          <a:ln>
            <a:solidFill>
              <a:srgbClr val="5B66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1191875" y="42862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$5.5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963025" y="4638675"/>
            <a:ext cx="104774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UBS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001250" y="4657725"/>
            <a:ext cx="365125" cy="104775"/>
          </a:xfrm>
          <a:prstGeom prst="rect">
            <a:avLst/>
          </a:prstGeom>
          <a:solidFill>
            <a:srgbClr val="E31B34"/>
          </a:solidFill>
          <a:ln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1191875" y="46291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$2.3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963025" y="4981575"/>
            <a:ext cx="104774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Barings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0001250" y="5000625"/>
            <a:ext cx="206375" cy="104775"/>
          </a:xfrm>
          <a:prstGeom prst="rect">
            <a:avLst/>
          </a:prstGeom>
          <a:solidFill>
            <a:srgbClr val="5B6670"/>
          </a:solidFill>
          <a:ln>
            <a:solidFill>
              <a:srgbClr val="5B66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1191875" y="49720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$1.3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963025" y="5467350"/>
            <a:ext cx="25146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Approximate historical FX conversions; nominal amounts only.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38150" y="6191250"/>
            <a:ext cx="80581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Group CEO briefing · Supervisor Jamil Chaftar · Diouf · Minang · Métayer · Abou-Tayeh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2"/>
          </a:solidFill>
          <a:ln w="12700">
            <a:solidFill>
              <a:srgbClr val="0A0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6184"/>
            <a:ext cx="1200150" cy="423906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9440" y="114300"/>
            <a:ext cx="400193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9750" y="238125"/>
            <a:ext cx="885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CONTROL DASHBOARD · SIGNALS, NOT FALSE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23900"/>
            <a:ext cx="11287125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E9EEF2"/>
                </a:solidFill>
                <a:latin typeface="Aptos"/>
              </a:rPr>
              <a:t>Control dashboard: activity, hidden exposure and UBS facts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10953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UBS facts: [4] FINMA / [5] FCA. Panels 1–2 are illustrative normalized profiles, not historical UBS time series.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150" y="1438275"/>
            <a:ext cx="3638550" cy="4648200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1552575"/>
            <a:ext cx="333375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01  CONTROLLED 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704975"/>
            <a:ext cx="3295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Illustrative normalized risk index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6725" y="1438275"/>
            <a:ext cx="3638550" cy="4648200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125" y="1552575"/>
            <a:ext cx="333375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02  EXPOSURE BUILDS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8175" y="1704975"/>
            <a:ext cx="3295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Illustrative hidden exposure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5300" y="1438275"/>
            <a:ext cx="3638550" cy="4648200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699" y="1552575"/>
            <a:ext cx="333375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03  UBS · SOURCED FACTS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0" y="1704975"/>
            <a:ext cx="32956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Peak futures notionals / final loss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6775" y="2190750"/>
            <a:ext cx="285750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1500" y="2124075"/>
            <a:ext cx="23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100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66775" y="2797968"/>
            <a:ext cx="285750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71500" y="2731293"/>
            <a:ext cx="23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75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6775" y="3405187"/>
            <a:ext cx="285750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71500" y="3338512"/>
            <a:ext cx="23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50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6775" y="4012406"/>
            <a:ext cx="285750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71500" y="3945731"/>
            <a:ext cx="23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25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66775" y="4619625"/>
            <a:ext cx="285750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71500" y="4552950"/>
            <a:ext cx="23812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66775" y="4619625"/>
            <a:ext cx="28575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66775" y="2870834"/>
            <a:ext cx="2857500" cy="0"/>
          </a:xfrm>
          <a:prstGeom prst="line">
            <a:avLst/>
          </a:prstGeom>
          <a:ln w="12700">
            <a:solidFill>
              <a:srgbClr val="F0A23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66775" y="3818096"/>
            <a:ext cx="259772" cy="121444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126547" y="3720941"/>
            <a:ext cx="259773" cy="97155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386320" y="3526631"/>
            <a:ext cx="259773" cy="194310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646093" y="3453765"/>
            <a:ext cx="259772" cy="72866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905865" y="3453765"/>
            <a:ext cx="259773" cy="121443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65638" y="3405187"/>
            <a:ext cx="259773" cy="170021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425411" y="3308032"/>
            <a:ext cx="259773" cy="97155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85184" y="3210877"/>
            <a:ext cx="259772" cy="97155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44956" y="3210877"/>
            <a:ext cx="259773" cy="145732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04729" y="3356609"/>
            <a:ext cx="259773" cy="121444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464502" y="3478053"/>
            <a:ext cx="259773" cy="170022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4400" y="2689860"/>
            <a:ext cx="142875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0A23A"/>
                </a:solidFill>
                <a:latin typeface="Aptos"/>
              </a:rPr>
              <a:t>CONTROL LIMIT</a:t>
            </a:r>
          </a:p>
        </p:txBody>
      </p:sp>
      <p:sp>
        <p:nvSpPr>
          <p:cNvPr id="44" name="Oval 43"/>
          <p:cNvSpPr/>
          <p:nvPr/>
        </p:nvSpPr>
        <p:spPr>
          <a:xfrm>
            <a:off x="3676649" y="3600450"/>
            <a:ext cx="95250" cy="952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8650" y="4791075"/>
            <a:ext cx="323850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E9EEF2"/>
                </a:solidFill>
                <a:latin typeface="Aptos"/>
              </a:rPr>
              <a:t>Normal controls keep activity below limit; exceptions trigger review.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8650" y="5381625"/>
            <a:ext cx="914400" cy="228600"/>
          </a:xfrm>
          <a:prstGeom prst="rect">
            <a:avLst/>
          </a:prstGeom>
          <a:solidFill>
            <a:srgbClr val="113126"/>
          </a:solidFill>
          <a:ln w="12700">
            <a:solidFill>
              <a:srgbClr val="32C4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700" y="5410200"/>
            <a:ext cx="87630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32C48D"/>
                </a:solidFill>
                <a:latin typeface="Aptos"/>
              </a:rPr>
              <a:t>GREEN · NORMAL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38300" y="5381625"/>
            <a:ext cx="990599" cy="228600"/>
          </a:xfrm>
          <a:prstGeom prst="rect">
            <a:avLst/>
          </a:prstGeom>
          <a:solidFill>
            <a:srgbClr val="302719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57350" y="5410200"/>
            <a:ext cx="95250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0A23A"/>
                </a:solidFill>
                <a:latin typeface="Aptos"/>
              </a:rPr>
              <a:t>AMBER · WATCH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24150" y="5381625"/>
            <a:ext cx="1123950" cy="228600"/>
          </a:xfrm>
          <a:prstGeom prst="rect">
            <a:avLst/>
          </a:prstGeom>
          <a:solidFill>
            <a:srgbClr val="32191E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0" y="5410200"/>
            <a:ext cx="10858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31B34"/>
                </a:solidFill>
                <a:latin typeface="Aptos"/>
              </a:rPr>
              <a:t>RED · CRITICAL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705350" y="2190750"/>
            <a:ext cx="285750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705350" y="2797968"/>
            <a:ext cx="285750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705350" y="3405187"/>
            <a:ext cx="285750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705350" y="4012406"/>
            <a:ext cx="285750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705350" y="4619625"/>
            <a:ext cx="285750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705350" y="4619625"/>
            <a:ext cx="28575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05350" y="2797968"/>
            <a:ext cx="2857500" cy="0"/>
          </a:xfrm>
          <a:prstGeom prst="line">
            <a:avLst/>
          </a:prstGeom>
          <a:ln w="12700">
            <a:solidFill>
              <a:srgbClr val="F0A23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705350" y="3842385"/>
            <a:ext cx="259772" cy="48577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4965122" y="3769518"/>
            <a:ext cx="259773" cy="72867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224895" y="3769518"/>
            <a:ext cx="259773" cy="24289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5484668" y="3672363"/>
            <a:ext cx="259772" cy="121444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5744440" y="3599497"/>
            <a:ext cx="259773" cy="72866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004213" y="3550920"/>
            <a:ext cx="259773" cy="48577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6263986" y="3502342"/>
            <a:ext cx="259773" cy="48578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523759" y="3502342"/>
            <a:ext cx="259772" cy="24289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6783531" y="3453765"/>
            <a:ext cx="259773" cy="72866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043304" y="3429476"/>
            <a:ext cx="259773" cy="24289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303077" y="3429476"/>
            <a:ext cx="259773" cy="48577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705350" y="4231005"/>
            <a:ext cx="259772" cy="97155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965122" y="4158138"/>
            <a:ext cx="259773" cy="72867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224895" y="4036695"/>
            <a:ext cx="259773" cy="121443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5484668" y="3890962"/>
            <a:ext cx="259772" cy="145733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744440" y="3745230"/>
            <a:ext cx="259773" cy="145732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6004213" y="3599497"/>
            <a:ext cx="259773" cy="145733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6263986" y="3405187"/>
            <a:ext cx="259773" cy="194310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6523759" y="3210877"/>
            <a:ext cx="259772" cy="194310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783531" y="2943701"/>
            <a:ext cx="259773" cy="267176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7043304" y="2579370"/>
            <a:ext cx="259773" cy="364331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7303077" y="2263616"/>
            <a:ext cx="259773" cy="315754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4743450" y="2616993"/>
            <a:ext cx="17145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0A23A"/>
                </a:solidFill>
                <a:latin typeface="Aptos"/>
              </a:rPr>
              <a:t>ESCALATION TRIGGER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67225" y="4791075"/>
            <a:ext cx="325755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E9EEF2"/>
                </a:solidFill>
                <a:latin typeface="Aptos"/>
              </a:rPr>
              <a:t>When hidden exposure diverges from reported activity, controls are already late.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505325" y="5400675"/>
            <a:ext cx="314325" cy="0"/>
          </a:xfrm>
          <a:prstGeom prst="line">
            <a:avLst/>
          </a:prstGeom>
          <a:ln w="38100">
            <a:solidFill>
              <a:srgbClr val="32C4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4886325" y="5324475"/>
            <a:ext cx="9810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Reported activity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048375" y="5400675"/>
            <a:ext cx="314325" cy="0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429375" y="5324475"/>
            <a:ext cx="124777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Hidden exposure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4849" y="2085975"/>
            <a:ext cx="323850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PEAK GROSS FUTURES POSITIONS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229725" y="2793968"/>
            <a:ext cx="704850" cy="1463706"/>
          </a:xfrm>
          <a:prstGeom prst="rect">
            <a:avLst/>
          </a:prstGeom>
          <a:solidFill>
            <a:srgbClr val="4AA3DF"/>
          </a:solidFill>
          <a:ln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82100" y="2555843"/>
            <a:ext cx="8001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E9EEF2"/>
                </a:solidFill>
                <a:latin typeface="Aptos"/>
              </a:rPr>
              <a:t>$12.1bn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10675" y="4362450"/>
            <a:ext cx="7429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LONG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10675" y="4533900"/>
            <a:ext cx="7429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8 AUG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458450" y="3229451"/>
            <a:ext cx="704850" cy="1028223"/>
          </a:xfrm>
          <a:prstGeom prst="rect">
            <a:avLst/>
          </a:prstGeom>
          <a:solidFill>
            <a:srgbClr val="F0A23A"/>
          </a:solidFill>
          <a:ln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10825" y="2991326"/>
            <a:ext cx="8001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E9EEF2"/>
                </a:solidFill>
                <a:latin typeface="Aptos"/>
              </a:rPr>
              <a:t>$8.5bn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439400" y="4362450"/>
            <a:ext cx="7429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SHORT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439400" y="4533900"/>
            <a:ext cx="7429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15 SEP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8372475" y="4257675"/>
            <a:ext cx="311467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8324849" y="4857750"/>
            <a:ext cx="3219450" cy="638175"/>
          </a:xfrm>
          <a:prstGeom prst="rect">
            <a:avLst/>
          </a:prstGeom>
          <a:solidFill>
            <a:srgbClr val="32191E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486775" y="4962525"/>
            <a:ext cx="2790825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1B34"/>
                </a:solidFill>
                <a:latin typeface="Aptos"/>
              </a:rPr>
              <a:t>FINAL TRADING LOSS · USD 2.3bn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86775" y="5191125"/>
            <a:ext cx="280987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E9EEF2"/>
                </a:solidFill>
                <a:latin typeface="Aptos"/>
              </a:rPr>
              <a:t>Positions shown are gross notional, not P&amp;L.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24849" y="56197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No synthetic UBS time series shown.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2"/>
          </a:solidFill>
          <a:ln w="12700">
            <a:solidFill>
              <a:srgbClr val="0A0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6184"/>
            <a:ext cx="1200150" cy="423906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9440" y="114300"/>
            <a:ext cx="400193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9750" y="238125"/>
            <a:ext cx="885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CASH TRANSMISSION · BUY SIDE TO SELL 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23900"/>
            <a:ext cx="11287125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E9EEF2"/>
                </a:solidFill>
                <a:latin typeface="Aptos"/>
              </a:rPr>
              <a:t>How a trading position becomes a Treasury cash problem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10953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Simplified process based on [4]–[5]. Funding needs depend on settlement timing, margin and collateral—not P&amp;L alone.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3874" y="1495425"/>
            <a:ext cx="3048000" cy="819150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275" y="1609725"/>
            <a:ext cx="27432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AA3DF"/>
                </a:solidFill>
                <a:latin typeface="Aptos"/>
              </a:rPr>
              <a:t>BUY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850" y="1809750"/>
            <a:ext cx="266700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E9EEF2"/>
                </a:solidFill>
                <a:latin typeface="Aptos"/>
              </a:rPr>
              <a:t>Asset managers · funds · institutional clients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8600" y="1495425"/>
            <a:ext cx="3752850" cy="819150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0999" y="1609725"/>
            <a:ext cx="344805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SELL SIDE · UBS INVESTMENT BANK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9100" y="1809750"/>
            <a:ext cx="331470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E9EEF2"/>
                </a:solidFill>
                <a:latin typeface="Aptos"/>
              </a:rPr>
              <a:t>Client facilitation · ETF / Delta One desk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71875" y="1914525"/>
            <a:ext cx="466725" cy="0"/>
          </a:xfrm>
          <a:prstGeom prst="line">
            <a:avLst/>
          </a:prstGeom>
          <a:ln w="25400">
            <a:solidFill>
              <a:srgbClr val="E9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3943350" y="1857375"/>
            <a:ext cx="95250" cy="57150"/>
          </a:xfrm>
          <a:prstGeom prst="line">
            <a:avLst/>
          </a:prstGeom>
          <a:ln w="25400">
            <a:solidFill>
              <a:srgbClr val="E9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943350" y="1857375"/>
            <a:ext cx="0" cy="114300"/>
          </a:xfrm>
          <a:prstGeom prst="line">
            <a:avLst/>
          </a:prstGeom>
          <a:ln w="25400">
            <a:solidFill>
              <a:srgbClr val="E9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943350" y="1914525"/>
            <a:ext cx="95250" cy="57150"/>
          </a:xfrm>
          <a:prstGeom prst="line">
            <a:avLst/>
          </a:prstGeom>
          <a:ln w="25400">
            <a:solidFill>
              <a:srgbClr val="E9EE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23874" y="2876550"/>
            <a:ext cx="1943100" cy="105727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275" y="2990850"/>
            <a:ext cx="16383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AA3DF"/>
                </a:solidFill>
                <a:latin typeface="Aptos"/>
              </a:rPr>
              <a:t>CLIENT ORDER</a:t>
            </a:r>
          </a:p>
        </p:txBody>
      </p:sp>
      <p:sp>
        <p:nvSpPr>
          <p:cNvPr id="23" name="Oval 22"/>
          <p:cNvSpPr/>
          <p:nvPr/>
        </p:nvSpPr>
        <p:spPr>
          <a:xfrm>
            <a:off x="628650" y="3095625"/>
            <a:ext cx="247649" cy="247649"/>
          </a:xfrm>
          <a:prstGeom prst="ellipse">
            <a:avLst/>
          </a:prstGeom>
          <a:solidFill>
            <a:srgbClr val="202932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275" y="3152775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325" y="3419475"/>
            <a:ext cx="1600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Buy / sell request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66975" y="3390900"/>
            <a:ext cx="304800" cy="0"/>
          </a:xfrm>
          <a:prstGeom prst="line">
            <a:avLst/>
          </a:prstGeom>
          <a:ln w="25400">
            <a:solidFill>
              <a:srgbClr val="93A0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2686050" y="3333750"/>
            <a:ext cx="85725" cy="57150"/>
          </a:xfrm>
          <a:prstGeom prst="line">
            <a:avLst/>
          </a:prstGeom>
          <a:ln w="25400">
            <a:solidFill>
              <a:srgbClr val="93A0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86050" y="3333750"/>
            <a:ext cx="0" cy="114300"/>
          </a:xfrm>
          <a:prstGeom prst="line">
            <a:avLst/>
          </a:prstGeom>
          <a:ln w="25400">
            <a:solidFill>
              <a:srgbClr val="93A0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686050" y="3390900"/>
            <a:ext cx="85725" cy="57150"/>
          </a:xfrm>
          <a:prstGeom prst="line">
            <a:avLst/>
          </a:prstGeom>
          <a:ln w="25400">
            <a:solidFill>
              <a:srgbClr val="93A0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771775" y="2876550"/>
            <a:ext cx="1943100" cy="105727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4175" y="2990850"/>
            <a:ext cx="16383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ETF / DELTA ONE</a:t>
            </a:r>
          </a:p>
        </p:txBody>
      </p:sp>
      <p:sp>
        <p:nvSpPr>
          <p:cNvPr id="32" name="Oval 31"/>
          <p:cNvSpPr/>
          <p:nvPr/>
        </p:nvSpPr>
        <p:spPr>
          <a:xfrm>
            <a:off x="2876550" y="3095625"/>
            <a:ext cx="247649" cy="247649"/>
          </a:xfrm>
          <a:prstGeom prst="ellipse">
            <a:avLst/>
          </a:prstGeom>
          <a:solidFill>
            <a:srgbClr val="202932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4175" y="3152775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43225" y="3419475"/>
            <a:ext cx="1600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Position built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714875" y="3390900"/>
            <a:ext cx="304800" cy="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4933950" y="333375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933950" y="3333750"/>
            <a:ext cx="0" cy="11430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933950" y="339090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019675" y="2876550"/>
            <a:ext cx="1943100" cy="105727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2075" y="2990850"/>
            <a:ext cx="16383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TRADING BOOK</a:t>
            </a:r>
          </a:p>
        </p:txBody>
      </p:sp>
      <p:sp>
        <p:nvSpPr>
          <p:cNvPr id="41" name="Oval 40"/>
          <p:cNvSpPr/>
          <p:nvPr/>
        </p:nvSpPr>
        <p:spPr>
          <a:xfrm>
            <a:off x="5124450" y="3095625"/>
            <a:ext cx="247649" cy="247649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72075" y="3152775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1125" y="3419475"/>
            <a:ext cx="1600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Hedge / futures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962775" y="3390900"/>
            <a:ext cx="304800" cy="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7181850" y="333375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81850" y="3333750"/>
            <a:ext cx="0" cy="11430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181850" y="339090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267575" y="2876550"/>
            <a:ext cx="1943100" cy="105727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19975" y="2990850"/>
            <a:ext cx="16383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SETTLEMENT</a:t>
            </a:r>
          </a:p>
        </p:txBody>
      </p:sp>
      <p:sp>
        <p:nvSpPr>
          <p:cNvPr id="50" name="Oval 49"/>
          <p:cNvSpPr/>
          <p:nvPr/>
        </p:nvSpPr>
        <p:spPr>
          <a:xfrm>
            <a:off x="7372350" y="3095625"/>
            <a:ext cx="247649" cy="247649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19975" y="3152775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39024" y="3419475"/>
            <a:ext cx="1600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Margin / collateral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210675" y="3390900"/>
            <a:ext cx="304800" cy="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9429750" y="333375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429750" y="3333750"/>
            <a:ext cx="0" cy="11430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429750" y="339090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9515475" y="2876550"/>
            <a:ext cx="1943100" cy="105727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67875" y="2990850"/>
            <a:ext cx="16383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TREASURY</a:t>
            </a:r>
          </a:p>
        </p:txBody>
      </p:sp>
      <p:sp>
        <p:nvSpPr>
          <p:cNvPr id="59" name="Oval 58"/>
          <p:cNvSpPr/>
          <p:nvPr/>
        </p:nvSpPr>
        <p:spPr>
          <a:xfrm>
            <a:off x="9620250" y="3095625"/>
            <a:ext cx="247649" cy="247649"/>
          </a:xfrm>
          <a:prstGeom prst="ellipse">
            <a:avLst/>
          </a:prstGeom>
          <a:solidFill>
            <a:srgbClr val="202932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67875" y="3152775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86925" y="3419475"/>
            <a:ext cx="1600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Cash by entity / currency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2925" y="4219575"/>
            <a:ext cx="1085850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1B34"/>
                </a:solidFill>
                <a:latin typeface="Aptos"/>
              </a:rPr>
              <a:t>FAILURE TRANSMISSION · ONE HIDDEN POSITION CAN CREATE MULTIPLE CASH CALLS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3874" y="4533900"/>
            <a:ext cx="1943100" cy="98107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7225" y="4676775"/>
            <a:ext cx="16764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HIDDEN POSITION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7225" y="4962525"/>
            <a:ext cx="167640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9EEF2"/>
                </a:solidFill>
                <a:latin typeface="Aptos"/>
              </a:rPr>
              <a:t>Exposure not visible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466975" y="5029200"/>
            <a:ext cx="304800" cy="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 flipV="1">
            <a:off x="2686050" y="497205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686050" y="4972050"/>
            <a:ext cx="0" cy="11430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686050" y="502920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771775" y="4533900"/>
            <a:ext cx="1943100" cy="981075"/>
          </a:xfrm>
          <a:prstGeom prst="rect">
            <a:avLst/>
          </a:prstGeom>
          <a:solidFill>
            <a:srgbClr val="25171C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05125" y="4676775"/>
            <a:ext cx="16764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1B34"/>
                </a:solidFill>
                <a:latin typeface="Aptos"/>
              </a:rPr>
              <a:t>MARK-TO-MARKET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05125" y="4962525"/>
            <a:ext cx="167640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9EEF2"/>
                </a:solidFill>
                <a:latin typeface="Aptos"/>
              </a:rPr>
              <a:t>Loss recognized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714875" y="5029200"/>
            <a:ext cx="304800" cy="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 flipV="1">
            <a:off x="4933950" y="497205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933950" y="4972050"/>
            <a:ext cx="0" cy="11430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933950" y="502920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5019675" y="4533900"/>
            <a:ext cx="1943100" cy="981075"/>
          </a:xfrm>
          <a:prstGeom prst="rect">
            <a:avLst/>
          </a:prstGeom>
          <a:solidFill>
            <a:srgbClr val="25171C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53025" y="4676775"/>
            <a:ext cx="16764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1B34"/>
                </a:solidFill>
                <a:latin typeface="Aptos"/>
              </a:rPr>
              <a:t>MARGIN / SETTLEMENT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153025" y="4962525"/>
            <a:ext cx="167640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9EEF2"/>
                </a:solidFill>
                <a:latin typeface="Aptos"/>
              </a:rPr>
              <a:t>Cash due by cutoff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962775" y="5029200"/>
            <a:ext cx="304800" cy="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 flipV="1">
            <a:off x="7181850" y="497205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181850" y="4972050"/>
            <a:ext cx="0" cy="11430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7181850" y="502920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7267575" y="4533900"/>
            <a:ext cx="1943100" cy="981075"/>
          </a:xfrm>
          <a:prstGeom prst="rect">
            <a:avLst/>
          </a:prstGeom>
          <a:solidFill>
            <a:srgbClr val="25171C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400925" y="4676775"/>
            <a:ext cx="16764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1B34"/>
                </a:solidFill>
                <a:latin typeface="Aptos"/>
              </a:rPr>
              <a:t>COLLATERAL LOCK-UP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00925" y="4962525"/>
            <a:ext cx="167640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9EEF2"/>
                </a:solidFill>
                <a:latin typeface="Aptos"/>
              </a:rPr>
              <a:t>Liquidity unavailable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210675" y="5029200"/>
            <a:ext cx="304800" cy="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9429750" y="497205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429750" y="4972050"/>
            <a:ext cx="0" cy="11430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429750" y="5029200"/>
            <a:ext cx="85725" cy="57150"/>
          </a:xfrm>
          <a:prstGeom prst="line">
            <a:avLst/>
          </a:prstGeom>
          <a:ln w="254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9515475" y="4533900"/>
            <a:ext cx="1943100" cy="981075"/>
          </a:xfrm>
          <a:prstGeom prst="rect">
            <a:avLst/>
          </a:prstGeom>
          <a:solidFill>
            <a:srgbClr val="25171C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648825" y="4676775"/>
            <a:ext cx="16764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1B34"/>
                </a:solidFill>
                <a:latin typeface="Aptos"/>
              </a:rPr>
              <a:t>FUNDING GAP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48825" y="4962525"/>
            <a:ext cx="167640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9EEF2"/>
                </a:solidFill>
                <a:latin typeface="Aptos"/>
              </a:rPr>
              <a:t>Treasury action required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2450" y="5753100"/>
            <a:ext cx="109537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E9EEF2"/>
                </a:solidFill>
                <a:latin typeface="Aptos"/>
              </a:rPr>
              <a:t>P&amp;L is an accounting outcome; liquidity is cash available at the right entity, currency and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2"/>
          </a:solidFill>
          <a:ln w="12700">
            <a:solidFill>
              <a:srgbClr val="0A0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6184"/>
            <a:ext cx="1200150" cy="423906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9440" y="114300"/>
            <a:ext cx="400193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9750" y="238125"/>
            <a:ext cx="885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EXECUTIVE TIMELINE · 2010–SEPTEMBER 2011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23900"/>
            <a:ext cx="11287125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E9EEF2"/>
                </a:solidFill>
                <a:latin typeface="Aptos"/>
              </a:rPr>
              <a:t>Discovery was sudden; the exposure had accumulated over years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10953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Sources: [4] FINMA; [5] FCA; [6] UBS 2011 disclosures. Notional positions are not losses.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5350" y="3267075"/>
            <a:ext cx="10344150" cy="0"/>
          </a:xfrm>
          <a:prstGeom prst="line">
            <a:avLst/>
          </a:prstGeom>
          <a:ln w="381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942975" y="3181350"/>
            <a:ext cx="171450" cy="1714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028700" y="2409825"/>
            <a:ext cx="0" cy="9429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95299" y="1609725"/>
            <a:ext cx="2047875" cy="111442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1704975"/>
            <a:ext cx="18192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4AA3DF"/>
                </a:solidFill>
                <a:latin typeface="Aptos"/>
              </a:rPr>
              <a:t>2010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924049"/>
            <a:ext cx="181927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E9EEF2"/>
                </a:solidFill>
                <a:latin typeface="Aptos"/>
              </a:rPr>
              <a:t>CONCEALMENT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171700"/>
            <a:ext cx="1819275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Fictitious / offsetting entries obscure positions; controls fail to reconcile.</a:t>
            </a:r>
          </a:p>
        </p:txBody>
      </p:sp>
      <p:sp>
        <p:nvSpPr>
          <p:cNvPr id="18" name="Oval 17"/>
          <p:cNvSpPr/>
          <p:nvPr/>
        </p:nvSpPr>
        <p:spPr>
          <a:xfrm>
            <a:off x="3390900" y="3181350"/>
            <a:ext cx="171450" cy="1714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3476625" y="3352800"/>
            <a:ext cx="0" cy="2667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452687" y="3619500"/>
            <a:ext cx="2047875" cy="111442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6987" y="3714750"/>
            <a:ext cx="18192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4AA3DF"/>
                </a:solidFill>
                <a:latin typeface="Aptos"/>
              </a:rPr>
              <a:t>8 AUG 2011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6987" y="3933824"/>
            <a:ext cx="181927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E9EEF2"/>
                </a:solidFill>
                <a:latin typeface="Aptos"/>
              </a:rPr>
              <a:t>LONG PEAK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6987" y="4181475"/>
            <a:ext cx="1819275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Long futures peak at USD 12.1bn; gross notional, not P&amp;L.</a:t>
            </a:r>
          </a:p>
        </p:txBody>
      </p:sp>
      <p:sp>
        <p:nvSpPr>
          <p:cNvPr id="24" name="Oval 23"/>
          <p:cNvSpPr/>
          <p:nvPr/>
        </p:nvSpPr>
        <p:spPr>
          <a:xfrm>
            <a:off x="6200775" y="3181350"/>
            <a:ext cx="171450" cy="1714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6286500" y="2409825"/>
            <a:ext cx="0" cy="9429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262562" y="1609725"/>
            <a:ext cx="2047875" cy="111442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6862" y="1704975"/>
            <a:ext cx="18192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F0A23A"/>
                </a:solidFill>
                <a:latin typeface="Aptos"/>
              </a:rPr>
              <a:t>15 SEP 2011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862" y="1924049"/>
            <a:ext cx="181927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E9EEF2"/>
                </a:solidFill>
                <a:latin typeface="Aptos"/>
              </a:rPr>
              <a:t>SHORT PEAK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76862" y="2171700"/>
            <a:ext cx="1819275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Short futures reach USD 8.5bn; gross notional, not P&amp;L.</a:t>
            </a:r>
          </a:p>
        </p:txBody>
      </p:sp>
      <p:sp>
        <p:nvSpPr>
          <p:cNvPr id="30" name="Oval 29"/>
          <p:cNvSpPr/>
          <p:nvPr/>
        </p:nvSpPr>
        <p:spPr>
          <a:xfrm>
            <a:off x="8753475" y="3181350"/>
            <a:ext cx="171450" cy="1714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839200" y="3352800"/>
            <a:ext cx="0" cy="26670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815262" y="3619500"/>
            <a:ext cx="2047875" cy="111442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9562" y="3714750"/>
            <a:ext cx="18192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1B34"/>
                </a:solidFill>
                <a:latin typeface="Aptos"/>
              </a:rPr>
              <a:t>14 SEP 2011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9562" y="3933824"/>
            <a:ext cx="181927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E9EEF2"/>
                </a:solidFill>
                <a:latin typeface="Aptos"/>
              </a:rPr>
              <a:t>DISCOVERY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9562" y="4181475"/>
            <a:ext cx="1819275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Trading loss found; initial estimate about USD 2bn.</a:t>
            </a:r>
          </a:p>
        </p:txBody>
      </p:sp>
      <p:sp>
        <p:nvSpPr>
          <p:cNvPr id="36" name="Oval 35"/>
          <p:cNvSpPr/>
          <p:nvPr/>
        </p:nvSpPr>
        <p:spPr>
          <a:xfrm>
            <a:off x="10915650" y="3181350"/>
            <a:ext cx="171450" cy="1714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1001375" y="2409825"/>
            <a:ext cx="0" cy="94297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9715500" y="1609725"/>
            <a:ext cx="1809750" cy="111442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29800" y="1704975"/>
            <a:ext cx="15811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1B34"/>
                </a:solidFill>
                <a:latin typeface="Aptos"/>
              </a:rPr>
              <a:t>18 SEP 2011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1924049"/>
            <a:ext cx="15811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E9EEF2"/>
                </a:solidFill>
                <a:latin typeface="Aptos"/>
              </a:rPr>
              <a:t>RISK COVERED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29800" y="2171700"/>
            <a:ext cx="1581150" cy="495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Risk covered by 18 Sep; exposure no longer open.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" y="5381625"/>
            <a:ext cx="11087100" cy="628650"/>
          </a:xfrm>
          <a:prstGeom prst="rect">
            <a:avLst/>
          </a:prstGeom>
          <a:solidFill>
            <a:srgbClr val="10161B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900" y="5486400"/>
            <a:ext cx="1047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1B34"/>
                </a:solidFill>
                <a:latin typeface="Aptos"/>
              </a:rPr>
              <a:t>WHAT TREASURY KNEW AT DISCOVERY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3900" y="5705475"/>
            <a:ext cx="10572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E9EEF2"/>
                </a:solidFill>
                <a:latin typeface="Aptos"/>
              </a:rPr>
              <a:t>Initial estimate: ~USD 2bn. UBS revised the final estimate to USD 2.3bn on 4 October.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2"/>
          </a:solidFill>
          <a:ln w="12700">
            <a:solidFill>
              <a:srgbClr val="0A0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6184"/>
            <a:ext cx="1200150" cy="423906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9440" y="114300"/>
            <a:ext cx="400193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9750" y="238125"/>
            <a:ext cx="885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CASH FORECAST · BASE, INCIDENT AND STRESS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23900"/>
            <a:ext cx="11287125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E9EEF2"/>
                </a:solidFill>
                <a:latin typeface="Aptos"/>
              </a:rPr>
              <a:t>Liquidity headroom becomes the decisive control metric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10953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Illustrative scenario only—not UBS historical daily cash data. Assumptions and values are teaching inputs (USDm).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0575" y="5229225"/>
            <a:ext cx="77819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47675" y="5162550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400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0575" y="4779645"/>
            <a:ext cx="77819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7675" y="4712970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500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0575" y="4330065"/>
            <a:ext cx="77819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7675" y="4263390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600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0575" y="3880484"/>
            <a:ext cx="77819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7675" y="3813810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700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0575" y="3430905"/>
            <a:ext cx="77819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7675" y="3364230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800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0575" y="2981325"/>
            <a:ext cx="77819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7675" y="2914650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900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0575" y="2531745"/>
            <a:ext cx="77819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7675" y="2465070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1000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90575" y="2082164"/>
            <a:ext cx="77819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7675" y="2015490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1100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575" y="5229225"/>
            <a:ext cx="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1975" y="5334000"/>
            <a:ext cx="457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25" b="0">
                <a:solidFill>
                  <a:srgbClr val="93A0AB"/>
                </a:solidFill>
                <a:latin typeface="Aptos"/>
              </a:rPr>
              <a:t>14 Sep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568767" y="5229225"/>
            <a:ext cx="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40167" y="5334000"/>
            <a:ext cx="457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25" b="0">
                <a:solidFill>
                  <a:srgbClr val="93A0AB"/>
                </a:solidFill>
                <a:latin typeface="Aptos"/>
              </a:rPr>
              <a:t>20 Sep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346960" y="5229225"/>
            <a:ext cx="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118360" y="5334000"/>
            <a:ext cx="457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25" b="0">
                <a:solidFill>
                  <a:srgbClr val="93A0AB"/>
                </a:solidFill>
                <a:latin typeface="Aptos"/>
              </a:rPr>
              <a:t>30 Sep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125152" y="5229225"/>
            <a:ext cx="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896552" y="5334000"/>
            <a:ext cx="457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25" b="0">
                <a:solidFill>
                  <a:srgbClr val="93A0AB"/>
                </a:solidFill>
                <a:latin typeface="Aptos"/>
              </a:rPr>
              <a:t>7 Oct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903345" y="5229225"/>
            <a:ext cx="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674745" y="5334000"/>
            <a:ext cx="457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25" b="0">
                <a:solidFill>
                  <a:srgbClr val="93A0AB"/>
                </a:solidFill>
                <a:latin typeface="Aptos"/>
              </a:rPr>
              <a:t>14 Oct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681537" y="5229225"/>
            <a:ext cx="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452937" y="5334000"/>
            <a:ext cx="457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25" b="0">
                <a:solidFill>
                  <a:srgbClr val="93A0AB"/>
                </a:solidFill>
                <a:latin typeface="Aptos"/>
              </a:rPr>
              <a:t>31 Oct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59730" y="5229225"/>
            <a:ext cx="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231130" y="5334000"/>
            <a:ext cx="457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25" b="0">
                <a:solidFill>
                  <a:srgbClr val="93A0AB"/>
                </a:solidFill>
                <a:latin typeface="Aptos"/>
              </a:rPr>
              <a:t>14 Nov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237922" y="5229225"/>
            <a:ext cx="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09322" y="5334000"/>
            <a:ext cx="457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25" b="0">
                <a:solidFill>
                  <a:srgbClr val="93A0AB"/>
                </a:solidFill>
                <a:latin typeface="Aptos"/>
              </a:rPr>
              <a:t>25 Nov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16115" y="5229225"/>
            <a:ext cx="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787515" y="5334000"/>
            <a:ext cx="457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25" b="0">
                <a:solidFill>
                  <a:srgbClr val="93A0AB"/>
                </a:solidFill>
                <a:latin typeface="Aptos"/>
              </a:rPr>
              <a:t>29 Nov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794307" y="5229225"/>
            <a:ext cx="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565707" y="5334000"/>
            <a:ext cx="457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25" b="0">
                <a:solidFill>
                  <a:srgbClr val="93A0AB"/>
                </a:solidFill>
                <a:latin typeface="Aptos"/>
              </a:rPr>
              <a:t>30 Nov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572500" y="5229225"/>
            <a:ext cx="0" cy="47625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343900" y="5334000"/>
            <a:ext cx="457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25" b="0">
                <a:solidFill>
                  <a:srgbClr val="93A0AB"/>
                </a:solidFill>
                <a:latin typeface="Aptos"/>
              </a:rPr>
              <a:t>14 Dec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0575" y="3880484"/>
            <a:ext cx="7781925" cy="0"/>
          </a:xfrm>
          <a:prstGeom prst="line">
            <a:avLst/>
          </a:prstGeom>
          <a:ln w="12700">
            <a:solidFill>
              <a:srgbClr val="E9EEF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28675" y="3689985"/>
            <a:ext cx="15240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MINIMUM BUFFER · 700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90575" y="2531745"/>
            <a:ext cx="778192" cy="44958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68767" y="2576703"/>
            <a:ext cx="778193" cy="22479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346960" y="2576703"/>
            <a:ext cx="778192" cy="22479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125152" y="2576703"/>
            <a:ext cx="778193" cy="22479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903345" y="2590190"/>
            <a:ext cx="778192" cy="8992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681537" y="2590190"/>
            <a:ext cx="778193" cy="13487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459730" y="2513761"/>
            <a:ext cx="778192" cy="89916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237922" y="2064181"/>
            <a:ext cx="778193" cy="449580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016115" y="2064181"/>
            <a:ext cx="778192" cy="224790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794307" y="2288971"/>
            <a:ext cx="778193" cy="134874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62000" y="2503170"/>
            <a:ext cx="57150" cy="571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540192" y="2548128"/>
            <a:ext cx="57150" cy="571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18385" y="2570607"/>
            <a:ext cx="57150" cy="571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096577" y="2548128"/>
            <a:ext cx="57150" cy="571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874770" y="2570607"/>
            <a:ext cx="57150" cy="571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652962" y="2561615"/>
            <a:ext cx="57150" cy="571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431155" y="2575102"/>
            <a:ext cx="57150" cy="571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209347" y="2485186"/>
            <a:ext cx="57150" cy="571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987540" y="2035606"/>
            <a:ext cx="57150" cy="571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765732" y="2260396"/>
            <a:ext cx="57150" cy="571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543925" y="2395270"/>
            <a:ext cx="57150" cy="57150"/>
          </a:xfrm>
          <a:prstGeom prst="ellipse">
            <a:avLst/>
          </a:prstGeom>
          <a:solidFill>
            <a:srgbClr val="4AA3DF"/>
          </a:solidFill>
          <a:ln w="12700"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790575" y="2531745"/>
            <a:ext cx="778192" cy="382143"/>
          </a:xfrm>
          <a:prstGeom prst="line">
            <a:avLst/>
          </a:prstGeom>
          <a:ln w="38100">
            <a:solidFill>
              <a:srgbClr val="F0A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568767" y="2913888"/>
            <a:ext cx="778193" cy="494538"/>
          </a:xfrm>
          <a:prstGeom prst="line">
            <a:avLst/>
          </a:prstGeom>
          <a:ln w="38100">
            <a:solidFill>
              <a:srgbClr val="F0A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346960" y="3408426"/>
            <a:ext cx="778192" cy="134874"/>
          </a:xfrm>
          <a:prstGeom prst="line">
            <a:avLst/>
          </a:prstGeom>
          <a:ln w="38100">
            <a:solidFill>
              <a:srgbClr val="F0A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125152" y="3543300"/>
            <a:ext cx="778193" cy="44958"/>
          </a:xfrm>
          <a:prstGeom prst="line">
            <a:avLst/>
          </a:prstGeom>
          <a:ln w="38100">
            <a:solidFill>
              <a:srgbClr val="F0A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903345" y="3556787"/>
            <a:ext cx="778192" cy="31471"/>
          </a:xfrm>
          <a:prstGeom prst="line">
            <a:avLst/>
          </a:prstGeom>
          <a:ln w="38100">
            <a:solidFill>
              <a:srgbClr val="F0A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681537" y="3556787"/>
            <a:ext cx="778193" cy="215798"/>
          </a:xfrm>
          <a:prstGeom prst="line">
            <a:avLst/>
          </a:prstGeom>
          <a:ln w="38100">
            <a:solidFill>
              <a:srgbClr val="F0A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5459730" y="3772585"/>
            <a:ext cx="778192" cy="22479"/>
          </a:xfrm>
          <a:prstGeom prst="line">
            <a:avLst/>
          </a:prstGeom>
          <a:ln w="38100">
            <a:solidFill>
              <a:srgbClr val="F0A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237922" y="3165652"/>
            <a:ext cx="778193" cy="629412"/>
          </a:xfrm>
          <a:prstGeom prst="line">
            <a:avLst/>
          </a:prstGeom>
          <a:ln w="38100">
            <a:solidFill>
              <a:srgbClr val="F0A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016115" y="3165652"/>
            <a:ext cx="778192" cy="269748"/>
          </a:xfrm>
          <a:prstGeom prst="line">
            <a:avLst/>
          </a:prstGeom>
          <a:ln w="38100">
            <a:solidFill>
              <a:srgbClr val="F0A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794307" y="3435400"/>
            <a:ext cx="778193" cy="112395"/>
          </a:xfrm>
          <a:prstGeom prst="line">
            <a:avLst/>
          </a:prstGeom>
          <a:ln w="38100">
            <a:solidFill>
              <a:srgbClr val="F0A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62000" y="2503170"/>
            <a:ext cx="57150" cy="571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40192" y="2885313"/>
            <a:ext cx="57150" cy="571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18385" y="3379851"/>
            <a:ext cx="57150" cy="571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096577" y="3514725"/>
            <a:ext cx="57150" cy="571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874770" y="3559683"/>
            <a:ext cx="57150" cy="571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652962" y="3528212"/>
            <a:ext cx="57150" cy="571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431155" y="3744010"/>
            <a:ext cx="57150" cy="571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209347" y="3766489"/>
            <a:ext cx="57150" cy="571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987540" y="3137077"/>
            <a:ext cx="57150" cy="571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765732" y="3406825"/>
            <a:ext cx="57150" cy="571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543925" y="3519220"/>
            <a:ext cx="57150" cy="57150"/>
          </a:xfrm>
          <a:prstGeom prst="ellipse">
            <a:avLst/>
          </a:prstGeom>
          <a:solidFill>
            <a:srgbClr val="F0A23A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790575" y="2531745"/>
            <a:ext cx="778192" cy="382143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568767" y="2913888"/>
            <a:ext cx="778193" cy="494538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346960" y="3408426"/>
            <a:ext cx="778192" cy="134874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125152" y="3543300"/>
            <a:ext cx="778193" cy="44958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903345" y="3556787"/>
            <a:ext cx="778192" cy="31471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681537" y="3556787"/>
            <a:ext cx="778193" cy="215798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459730" y="3772585"/>
            <a:ext cx="778192" cy="22479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6237922" y="3615232"/>
            <a:ext cx="778193" cy="179832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7016115" y="3615232"/>
            <a:ext cx="778192" cy="1168908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7794307" y="4784140"/>
            <a:ext cx="778193" cy="112395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762000" y="2503170"/>
            <a:ext cx="57150" cy="57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540192" y="2885313"/>
            <a:ext cx="57150" cy="57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318385" y="3379851"/>
            <a:ext cx="57150" cy="57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096577" y="3514725"/>
            <a:ext cx="57150" cy="57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874770" y="3559683"/>
            <a:ext cx="57150" cy="57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652962" y="3528212"/>
            <a:ext cx="57150" cy="57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5431155" y="3744010"/>
            <a:ext cx="57150" cy="57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209347" y="3766489"/>
            <a:ext cx="57150" cy="57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987540" y="3586657"/>
            <a:ext cx="57150" cy="57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765732" y="4755565"/>
            <a:ext cx="57150" cy="57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543925" y="4867960"/>
            <a:ext cx="57150" cy="571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727632" y="4717465"/>
            <a:ext cx="133350" cy="133350"/>
          </a:xfrm>
          <a:prstGeom prst="ellipse">
            <a:avLst/>
          </a:prstGeom>
          <a:solidFill>
            <a:srgbClr val="E31B34"/>
          </a:solidFill>
          <a:ln w="12700">
            <a:solidFill>
              <a:srgbClr val="E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 flipV="1">
            <a:off x="7794307" y="4193590"/>
            <a:ext cx="0" cy="542925"/>
          </a:xfrm>
          <a:prstGeom prst="line">
            <a:avLst/>
          </a:prstGeom>
          <a:ln w="127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7022782" y="3860215"/>
            <a:ext cx="1581150" cy="333375"/>
          </a:xfrm>
          <a:prstGeom prst="rect">
            <a:avLst/>
          </a:prstGeom>
          <a:solidFill>
            <a:srgbClr val="32191E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098982" y="3926890"/>
            <a:ext cx="143827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30 NOV · $499m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904875" y="5734050"/>
            <a:ext cx="285750" cy="0"/>
          </a:xfrm>
          <a:prstGeom prst="line">
            <a:avLst/>
          </a:prstGeom>
          <a:ln w="38100">
            <a:solidFill>
              <a:srgbClr val="4AA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1266825" y="5657850"/>
            <a:ext cx="1695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Base case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3048000" y="5734050"/>
            <a:ext cx="285750" cy="0"/>
          </a:xfrm>
          <a:prstGeom prst="line">
            <a:avLst/>
          </a:prstGeom>
          <a:ln w="38100">
            <a:solidFill>
              <a:srgbClr val="F0A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3409950" y="5657850"/>
            <a:ext cx="1695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UBS incident case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191125" y="5734050"/>
            <a:ext cx="285750" cy="0"/>
          </a:xfrm>
          <a:prstGeom prst="line">
            <a:avLst/>
          </a:prstGeom>
          <a:ln w="38100">
            <a:solidFill>
              <a:srgbClr val="E31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5553075" y="5657850"/>
            <a:ext cx="16954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Stress case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896350" y="1495425"/>
            <a:ext cx="2857500" cy="4591050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48750" y="1609725"/>
            <a:ext cx="25527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STRESS DECISION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05900" y="1857375"/>
            <a:ext cx="239077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FIRST BUFFER BREACH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05900" y="2095499"/>
            <a:ext cx="24003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75" b="1">
                <a:solidFill>
                  <a:srgbClr val="E31B34"/>
                </a:solidFill>
                <a:latin typeface="Aptos"/>
              </a:rPr>
              <a:t>30 Nov · USD 499m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05900" y="2628900"/>
            <a:ext cx="24003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9EEF2"/>
                </a:solidFill>
                <a:latin typeface="Aptos"/>
              </a:rPr>
              <a:t>USD 201m below buffer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9105900" y="2943225"/>
            <a:ext cx="241935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9105900" y="3105150"/>
            <a:ext cx="2400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MINIMUM STRESS CASH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05900" y="3333750"/>
            <a:ext cx="24003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9EEF2"/>
                </a:solidFill>
                <a:latin typeface="Aptos"/>
              </a:rPr>
              <a:t>USD 474m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105900" y="3781425"/>
            <a:ext cx="2400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PEAK FUNDING NEED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105900" y="4010025"/>
            <a:ext cx="24003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31B34"/>
                </a:solidFill>
                <a:latin typeface="Aptos"/>
              </a:rPr>
              <a:t>USD 226m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105900" y="4486275"/>
            <a:ext cx="2400300" cy="657225"/>
          </a:xfrm>
          <a:prstGeom prst="rect">
            <a:avLst/>
          </a:prstGeom>
          <a:solidFill>
            <a:srgbClr val="10251D"/>
          </a:solidFill>
          <a:ln w="12700">
            <a:solidFill>
              <a:srgbClr val="32C4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248775" y="4581525"/>
            <a:ext cx="21145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32C48D"/>
                </a:solidFill>
                <a:latin typeface="Aptos"/>
              </a:rPr>
              <a:t>USD 250m FACILITY · T+2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248775" y="4810125"/>
            <a:ext cx="2114550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E9EEF2"/>
                </a:solidFill>
                <a:latin typeface="Aptos"/>
              </a:rPr>
              <a:t>Draw ≥ USD 226m by 25 Nov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E9EEF2"/>
                </a:solidFill>
                <a:latin typeface="Aptos"/>
              </a:rPr>
              <a:t>for 29 Nov cash.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05900" y="5391150"/>
            <a:ext cx="24003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Incident path stays above buffer; stress path breaches.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2"/>
          </a:solidFill>
          <a:ln w="12700">
            <a:solidFill>
              <a:srgbClr val="0A0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6184"/>
            <a:ext cx="1200150" cy="423906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9440" y="114300"/>
            <a:ext cx="400193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9750" y="238125"/>
            <a:ext cx="885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ILLUSTRATIVE CASH BRIDGE · USDM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23900"/>
            <a:ext cx="11287125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E9EEF2"/>
                </a:solidFill>
                <a:latin typeface="Aptos"/>
              </a:rPr>
              <a:t>Cash waterfall: distinguish loss from cash settlement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10953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Teaching scenario, not historical UBS cash flows. Net loss is not added to settlement or collateral payments.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2000" y="5267325"/>
            <a:ext cx="767715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09575" y="5200650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2000" y="4596245"/>
            <a:ext cx="767715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575" y="4529570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500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2000" y="3925165"/>
            <a:ext cx="767715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9575" y="3858490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1000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2000" y="3254086"/>
            <a:ext cx="767715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09575" y="3187411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1500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2000" y="2583006"/>
            <a:ext cx="7677150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9575" y="2516331"/>
            <a:ext cx="2952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2000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2000" y="5267325"/>
            <a:ext cx="767715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90599" y="3925165"/>
            <a:ext cx="666750" cy="1342159"/>
          </a:xfrm>
          <a:prstGeom prst="rect">
            <a:avLst/>
          </a:prstGeom>
          <a:solidFill>
            <a:srgbClr val="4AA3DF"/>
          </a:solidFill>
          <a:ln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2975" y="3725140"/>
            <a:ext cx="76200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1,000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372100"/>
            <a:ext cx="9334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Opening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cash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657350" y="3925165"/>
            <a:ext cx="3905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047875" y="2442080"/>
            <a:ext cx="666750" cy="1483085"/>
          </a:xfrm>
          <a:prstGeom prst="rect">
            <a:avLst/>
          </a:prstGeom>
          <a:solidFill>
            <a:srgbClr val="32C48D"/>
          </a:solidFill>
          <a:ln>
            <a:solidFill>
              <a:srgbClr val="32C4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71675" y="2251580"/>
            <a:ext cx="8191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+1,105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14525" y="5372100"/>
            <a:ext cx="9334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Cash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inflows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714625" y="2442080"/>
            <a:ext cx="3905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105150" y="2442080"/>
            <a:ext cx="666750" cy="1477717"/>
          </a:xfrm>
          <a:prstGeom prst="rect">
            <a:avLst/>
          </a:prstGeom>
          <a:solidFill>
            <a:srgbClr val="F0A23A"/>
          </a:solidFill>
          <a:ln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28950" y="2251580"/>
            <a:ext cx="8191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-1,101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5372100"/>
            <a:ext cx="9334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Operating /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contractual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771900" y="3919797"/>
            <a:ext cx="390524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4162424" y="3919797"/>
            <a:ext cx="666750" cy="362382"/>
          </a:xfrm>
          <a:prstGeom prst="rect">
            <a:avLst/>
          </a:prstGeom>
          <a:solidFill>
            <a:srgbClr val="E31B34"/>
          </a:solidFill>
          <a:ln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86225" y="3729297"/>
            <a:ext cx="8191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-270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9075" y="5372100"/>
            <a:ext cx="9334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Incident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settlements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829175" y="4282180"/>
            <a:ext cx="3905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5219700" y="4282180"/>
            <a:ext cx="666750" cy="19050"/>
          </a:xfrm>
          <a:prstGeom prst="rect">
            <a:avLst/>
          </a:prstGeom>
          <a:solidFill>
            <a:srgbClr val="E31B34"/>
          </a:solidFill>
          <a:ln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3500" y="4091680"/>
            <a:ext cx="8191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-10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86350" y="5372100"/>
            <a:ext cx="9334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Net collateral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use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86450" y="4295601"/>
            <a:ext cx="3905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276975" y="4295601"/>
            <a:ext cx="666750" cy="19050"/>
          </a:xfrm>
          <a:prstGeom prst="rect">
            <a:avLst/>
          </a:prstGeom>
          <a:solidFill>
            <a:srgbClr val="F0A23A"/>
          </a:solidFill>
          <a:ln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00775" y="4105101"/>
            <a:ext cx="8191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-5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3625" y="5372100"/>
            <a:ext cx="9334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Operating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costs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943725" y="4302312"/>
            <a:ext cx="390525" cy="0"/>
          </a:xfrm>
          <a:prstGeom prst="line">
            <a:avLst/>
          </a:prstGeom>
          <a:ln w="12700">
            <a:solidFill>
              <a:srgbClr val="303A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7334250" y="4302312"/>
            <a:ext cx="666750" cy="965012"/>
          </a:xfrm>
          <a:prstGeom prst="rect">
            <a:avLst/>
          </a:prstGeom>
          <a:solidFill>
            <a:srgbClr val="4AA3DF"/>
          </a:solidFill>
          <a:ln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00900" y="5372100"/>
            <a:ext cx="93344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Closing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cash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62000" y="4327813"/>
            <a:ext cx="7677150" cy="0"/>
          </a:xfrm>
          <a:prstGeom prst="line">
            <a:avLst/>
          </a:prstGeom>
          <a:ln w="12700">
            <a:solidFill>
              <a:srgbClr val="E9EEF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896100" y="4146838"/>
            <a:ext cx="147637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9EEF2"/>
                </a:solidFill>
                <a:latin typeface="Aptos"/>
              </a:rPr>
              <a:t>MINIMUM BUFFER · 700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77300" y="1495425"/>
            <a:ext cx="2876550" cy="4591050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29700" y="1609725"/>
            <a:ext cx="257175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CASH CONTROL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05900" y="1895474"/>
            <a:ext cx="239077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OPENING CASH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05900" y="2124075"/>
            <a:ext cx="23812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75" b="1">
                <a:solidFill>
                  <a:srgbClr val="E9EEF2"/>
                </a:solidFill>
                <a:latin typeface="Aptos"/>
              </a:rPr>
              <a:t>1,000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105900" y="2571750"/>
            <a:ext cx="239077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105900" y="2762250"/>
            <a:ext cx="2390775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CLOSING CASH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05900" y="3000375"/>
            <a:ext cx="239077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75" b="1">
                <a:solidFill>
                  <a:srgbClr val="4AA3DF"/>
                </a:solidFill>
                <a:latin typeface="Aptos"/>
              </a:rPr>
              <a:t>719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05900" y="3448050"/>
            <a:ext cx="2390775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BUFFER HEADROOM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05900" y="3676649"/>
            <a:ext cx="239077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75" b="1">
                <a:solidFill>
                  <a:srgbClr val="F0A23A"/>
                </a:solidFill>
                <a:latin typeface="Aptos"/>
              </a:rPr>
              <a:t>19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05900" y="4229100"/>
            <a:ext cx="2381250" cy="704850"/>
          </a:xfrm>
          <a:prstGeom prst="rect">
            <a:avLst/>
          </a:prstGeom>
          <a:solidFill>
            <a:srgbClr val="10251D"/>
          </a:solidFill>
          <a:ln w="12700">
            <a:solidFill>
              <a:srgbClr val="32C4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48775" y="4324350"/>
            <a:ext cx="20954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32C48D"/>
                </a:solidFill>
                <a:latin typeface="Aptos"/>
              </a:rPr>
              <a:t>RECONCILIATION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48775" y="4543425"/>
            <a:ext cx="2095499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1,000 + 1,105 − 1,101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− 270 − 10 − 5 = 719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05900" y="5181600"/>
            <a:ext cx="238125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P&amp;L describes value lost; settlement describes cash timing. Do not double-count.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1525" y="59245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Period: 14–30 September · Hypothetical movements sized for liquidity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2"/>
          </a:solidFill>
          <a:ln w="12700">
            <a:solidFill>
              <a:srgbClr val="0A0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6184"/>
            <a:ext cx="1200150" cy="423906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9440" y="114300"/>
            <a:ext cx="400193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9750" y="238125"/>
            <a:ext cx="885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RISK MATRIX · 3 ×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23900"/>
            <a:ext cx="11287125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E9EEF2"/>
                </a:solidFill>
                <a:latin typeface="Aptos"/>
              </a:rPr>
              <a:t>Residual risks require clear owners and trigger-based escalation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10953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Qualitative scoring: likelihood × impact. Residual risk after immediate controls; judgemental, not a regulatory rating.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4175" y="1752600"/>
            <a:ext cx="2085975" cy="1200150"/>
          </a:xfrm>
          <a:prstGeom prst="rect">
            <a:avLst/>
          </a:prstGeom>
          <a:solidFill>
            <a:srgbClr val="17372D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48250" y="1752600"/>
            <a:ext cx="2085975" cy="1200150"/>
          </a:xfrm>
          <a:prstGeom prst="rect">
            <a:avLst/>
          </a:prstGeom>
          <a:solidFill>
            <a:srgbClr val="253324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72325" y="1752600"/>
            <a:ext cx="2085975" cy="1200150"/>
          </a:xfrm>
          <a:prstGeom prst="rect">
            <a:avLst/>
          </a:prstGeom>
          <a:solidFill>
            <a:srgbClr val="3B30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24175" y="2990850"/>
            <a:ext cx="2085975" cy="1200150"/>
          </a:xfrm>
          <a:prstGeom prst="rect">
            <a:avLst/>
          </a:prstGeom>
          <a:solidFill>
            <a:srgbClr val="253324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48250" y="2990850"/>
            <a:ext cx="2085975" cy="1200150"/>
          </a:xfrm>
          <a:prstGeom prst="rect">
            <a:avLst/>
          </a:prstGeom>
          <a:solidFill>
            <a:srgbClr val="3B30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2325" y="2990850"/>
            <a:ext cx="2085975" cy="1200150"/>
          </a:xfrm>
          <a:prstGeom prst="rect">
            <a:avLst/>
          </a:prstGeom>
          <a:solidFill>
            <a:srgbClr val="3A29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4175" y="4229100"/>
            <a:ext cx="2085975" cy="1200150"/>
          </a:xfrm>
          <a:prstGeom prst="rect">
            <a:avLst/>
          </a:prstGeom>
          <a:solidFill>
            <a:srgbClr val="3B30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48250" y="4229100"/>
            <a:ext cx="2085975" cy="1200150"/>
          </a:xfrm>
          <a:prstGeom prst="rect">
            <a:avLst/>
          </a:prstGeom>
          <a:solidFill>
            <a:srgbClr val="3A29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72325" y="4229100"/>
            <a:ext cx="2085975" cy="1200150"/>
          </a:xfrm>
          <a:prstGeom prst="rect">
            <a:avLst/>
          </a:prstGeom>
          <a:solidFill>
            <a:srgbClr val="3D2025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9100" y="3114675"/>
            <a:ext cx="2038349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IMPACT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8825" y="1819275"/>
            <a:ext cx="7429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HIGH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8825" y="3067050"/>
            <a:ext cx="7429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MEDIUM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8825" y="4314825"/>
            <a:ext cx="7429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4175" y="5562600"/>
            <a:ext cx="20954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8250" y="5562600"/>
            <a:ext cx="20954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MEDIUM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2325" y="5562600"/>
            <a:ext cx="20954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93A0AB"/>
                </a:solidFill>
                <a:latin typeface="Aptos"/>
              </a:rPr>
              <a:t>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7275" y="5810250"/>
            <a:ext cx="24765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LIKELIHOOD 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7575" y="1924049"/>
            <a:ext cx="1895474" cy="257175"/>
          </a:xfrm>
          <a:prstGeom prst="rect">
            <a:avLst/>
          </a:prstGeom>
          <a:solidFill>
            <a:srgbClr val="141A20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3299" y="1971675"/>
            <a:ext cx="172402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P1  Hidden positions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7575" y="2247900"/>
            <a:ext cx="1895474" cy="257175"/>
          </a:xfrm>
          <a:prstGeom prst="rect">
            <a:avLst/>
          </a:prstGeom>
          <a:solidFill>
            <a:srgbClr val="141A20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299" y="2295525"/>
            <a:ext cx="172402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P2  Settlement / collateral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7575" y="3162300"/>
            <a:ext cx="1895474" cy="257175"/>
          </a:xfrm>
          <a:prstGeom prst="rect">
            <a:avLst/>
          </a:prstGeom>
          <a:solidFill>
            <a:srgbClr val="141A20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53299" y="3209925"/>
            <a:ext cx="172402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P3  Funding renewal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43500" y="3162300"/>
            <a:ext cx="1895474" cy="257175"/>
          </a:xfrm>
          <a:prstGeom prst="rect">
            <a:avLst/>
          </a:prstGeom>
          <a:solidFill>
            <a:srgbClr val="141A20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29225" y="3209925"/>
            <a:ext cx="172402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M   Market close-out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43500" y="3486150"/>
            <a:ext cx="1895474" cy="257175"/>
          </a:xfrm>
          <a:prstGeom prst="rect">
            <a:avLst/>
          </a:prstGeom>
          <a:solidFill>
            <a:srgbClr val="141A20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29225" y="3533775"/>
            <a:ext cx="172402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C   Counterparty timing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43500" y="4400550"/>
            <a:ext cx="1895474" cy="257175"/>
          </a:xfrm>
          <a:prstGeom prst="rect">
            <a:avLst/>
          </a:prstGeom>
          <a:solidFill>
            <a:srgbClr val="141A20"/>
          </a:solidFill>
          <a:ln w="12700">
            <a:solidFill>
              <a:srgbClr val="32C4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29225" y="4448175"/>
            <a:ext cx="172402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R   Confidence outflows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43500" y="3810000"/>
            <a:ext cx="1895474" cy="257175"/>
          </a:xfrm>
          <a:prstGeom prst="rect">
            <a:avLst/>
          </a:prstGeom>
          <a:solidFill>
            <a:srgbClr val="141A20"/>
          </a:solidFill>
          <a:ln w="12700"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29225" y="3857625"/>
            <a:ext cx="172402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L   Legal / regulatory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20250" y="1495425"/>
            <a:ext cx="2133600" cy="4638675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72650" y="1609725"/>
            <a:ext cx="18288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RISK DRIVERS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10750" y="1943100"/>
            <a:ext cx="17526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1B34"/>
                </a:solidFill>
                <a:latin typeface="Aptos"/>
              </a:rPr>
              <a:t>P1 · Position risk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10750" y="2162175"/>
            <a:ext cx="17526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E9EEF2"/>
                </a:solidFill>
                <a:latin typeface="Aptos"/>
              </a:rPr>
              <a:t>Repeated concealment raises likelihood; large positions raise impact.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10750" y="2686050"/>
            <a:ext cx="17526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1B34"/>
                </a:solidFill>
                <a:latin typeface="Aptos"/>
              </a:rPr>
              <a:t>P2 · Cash calls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10750" y="2905125"/>
            <a:ext cx="17526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E9EEF2"/>
                </a:solidFill>
                <a:latin typeface="Aptos"/>
              </a:rPr>
              <a:t>Settlement cutoffs and collateral lock-up can reduce cash quickly.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10750" y="3429000"/>
            <a:ext cx="17526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31B34"/>
                </a:solidFill>
                <a:latin typeface="Aptos"/>
              </a:rPr>
              <a:t>P3 · Funding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10750" y="3648075"/>
            <a:ext cx="17526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E9EEF2"/>
                </a:solidFill>
                <a:latin typeface="Aptos"/>
              </a:rPr>
              <a:t>Renewal gaps are plausible; entity access drives impact.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10750" y="4171950"/>
            <a:ext cx="17526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F0A23A"/>
                </a:solidFill>
                <a:latin typeface="Aptos"/>
              </a:rPr>
              <a:t>M / C · Market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10750" y="4391025"/>
            <a:ext cx="17526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E9EEF2"/>
                </a:solidFill>
                <a:latin typeface="Aptos"/>
              </a:rPr>
              <a:t>Close-out cost and counterparty timing drive cash volatility.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10750" y="4914900"/>
            <a:ext cx="17526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F0A23A"/>
                </a:solidFill>
                <a:latin typeface="Aptos"/>
              </a:rPr>
              <a:t>R / L · Franchise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10750" y="5133975"/>
            <a:ext cx="17526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E9EEF2"/>
                </a:solidFill>
                <a:latin typeface="Aptos"/>
              </a:rPr>
              <a:t>Confidence outflows and regulatory action amplify the shock.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" y="6000750"/>
            <a:ext cx="192404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93A0AB"/>
                </a:solidFill>
                <a:latin typeface="Aptos"/>
              </a:rPr>
              <a:t>High impact 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2"/>
          </a:solidFill>
          <a:ln w="12700">
            <a:solidFill>
              <a:srgbClr val="0A0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E31B34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bs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6184"/>
            <a:ext cx="1200150" cy="423906"/>
          </a:xfrm>
          <a:prstGeom prst="rect">
            <a:avLst/>
          </a:prstGeom>
        </p:spPr>
      </p:pic>
      <p:pic>
        <p:nvPicPr>
          <p:cNvPr id="5" name="Picture 4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9440" y="114300"/>
            <a:ext cx="400193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9750" y="238125"/>
            <a:ext cx="885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31B34"/>
                </a:solidFill>
                <a:latin typeface="Aptos"/>
              </a:rPr>
              <a:t>DECISIONS · OWNERS · TIMING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723900"/>
            <a:ext cx="11287125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E9EEF2"/>
                </a:solidFill>
                <a:latin typeface="Aptos"/>
              </a:rPr>
              <a:t>Three CFO actions protect liquidity and restore control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100" y="1247775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9100" y="6457950"/>
            <a:ext cx="11353800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9100" y="6534150"/>
            <a:ext cx="10953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93A0AB"/>
                </a:solidFill>
                <a:latin typeface="Aptos"/>
              </a:rPr>
              <a:t>Illustrative USD 250m T+2 facility addresses the modeled USD 226m stress need—not a historical UBS facility.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150" y="1495425"/>
            <a:ext cx="3638550" cy="4476750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150" y="1495425"/>
            <a:ext cx="3638550" cy="47625"/>
          </a:xfrm>
          <a:prstGeom prst="rect">
            <a:avLst/>
          </a:prstGeom>
          <a:solidFill>
            <a:srgbClr val="E31B34"/>
          </a:solidFill>
          <a:ln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175" y="1695450"/>
            <a:ext cx="438150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75" b="1">
                <a:solidFill>
                  <a:srgbClr val="E31B34"/>
                </a:solidFill>
                <a:latin typeface="Apto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050" y="1762125"/>
            <a:ext cx="267652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9EEF2"/>
                </a:solidFill>
                <a:latin typeface="Aptos"/>
              </a:rPr>
              <a:t>SECURE LIQUIDITY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383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31B34"/>
                </a:solidFill>
                <a:latin typeface="Aptos"/>
              </a:rPr>
              <a:t>OWNER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24288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Group Treasurer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7700" y="28289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7700" y="29241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31B34"/>
                </a:solidFill>
                <a:latin typeface="Aptos"/>
              </a:rPr>
              <a:t>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31146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USD 226m stress gap funded before breach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7700" y="35147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7700" y="36099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31B34"/>
                </a:solidFill>
                <a:latin typeface="Aptos"/>
              </a:rPr>
              <a:t>DEADLINE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" y="38004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Mandate now; draw by 25 Nov for 29 Nov cash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7700" y="42005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7700" y="42957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31B34"/>
                </a:solidFill>
                <a:latin typeface="Aptos"/>
              </a:rPr>
              <a:t>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44862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Fees, haircuts, eligible collateral, legal entities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7700" y="48863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7700" y="49815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E31B34"/>
                </a:solidFill>
                <a:latin typeface="Aptos"/>
              </a:rPr>
              <a:t>FALLBACK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51720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Prefund early; activate pre-cleared backup sources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7675" y="1495425"/>
            <a:ext cx="3638550" cy="4476750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7675" y="1495425"/>
            <a:ext cx="3638550" cy="47625"/>
          </a:xfrm>
          <a:prstGeom prst="rect">
            <a:avLst/>
          </a:prstGeom>
          <a:solidFill>
            <a:srgbClr val="F0A23A"/>
          </a:solidFill>
          <a:ln>
            <a:solidFill>
              <a:srgbClr val="F0A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7700" y="1695450"/>
            <a:ext cx="438150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75" b="1">
                <a:solidFill>
                  <a:srgbClr val="F0A23A"/>
                </a:solidFill>
                <a:latin typeface="Aptos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1575" y="1762125"/>
            <a:ext cx="267652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9EEF2"/>
                </a:solidFill>
                <a:latin typeface="Aptos"/>
              </a:rPr>
              <a:t>RESOLVE POSITIONS &amp; CASH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7225" y="22383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0A23A"/>
                </a:solidFill>
                <a:latin typeface="Aptos"/>
              </a:rPr>
              <a:t>OWNER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7225" y="24288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IB COO + Market Risk + Treasury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67225" y="28289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467225" y="29241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0A23A"/>
                </a:solidFill>
                <a:latin typeface="Aptos"/>
              </a:rPr>
              <a:t>BENEFIT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7225" y="31146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Verified settlements; release collateral only when confirmed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467225" y="35147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467225" y="36099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0A23A"/>
                </a:solidFill>
                <a:latin typeface="Aptos"/>
              </a:rPr>
              <a:t>DEADLINE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7225" y="38004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First 48 hours; reconcile cash daily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467225" y="42005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467225" y="42957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0A23A"/>
                </a:solidFill>
                <a:latin typeface="Aptos"/>
              </a:rPr>
              <a:t>CONSTRAINT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67225" y="44862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Close-out cost, market impact, settlement delays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467225" y="48863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467225" y="49815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0A23A"/>
                </a:solidFill>
                <a:latin typeface="Aptos"/>
              </a:rPr>
              <a:t>FALLBACK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7225" y="51720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Temporary liquidity overlay; prioritize critical payments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77200" y="1495425"/>
            <a:ext cx="3638550" cy="4476750"/>
          </a:xfrm>
          <a:prstGeom prst="rect">
            <a:avLst/>
          </a:prstGeom>
          <a:solidFill>
            <a:srgbClr val="141A20"/>
          </a:solidFill>
          <a:ln w="12700">
            <a:solidFill>
              <a:srgbClr val="30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77200" y="1495425"/>
            <a:ext cx="3638550" cy="47625"/>
          </a:xfrm>
          <a:prstGeom prst="rect">
            <a:avLst/>
          </a:prstGeom>
          <a:solidFill>
            <a:srgbClr val="4AA3DF"/>
          </a:solidFill>
          <a:ln>
            <a:solidFill>
              <a:srgbClr val="4AA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77225" y="1695450"/>
            <a:ext cx="438150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75" b="1">
                <a:solidFill>
                  <a:srgbClr val="4AA3DF"/>
                </a:solidFill>
                <a:latin typeface="Aptos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01100" y="1762125"/>
            <a:ext cx="267652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9EEF2"/>
                </a:solidFill>
                <a:latin typeface="Aptos"/>
              </a:rPr>
              <a:t>PREVENT RECURRENCE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86750" y="22383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4AA3DF"/>
                </a:solidFill>
                <a:latin typeface="Aptos"/>
              </a:rPr>
              <a:t>OWNER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6750" y="24288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CRO + IB COO; Internal Audit validates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286750" y="28289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286750" y="29241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4AA3DF"/>
                </a:solidFill>
                <a:latin typeface="Aptos"/>
              </a:rPr>
              <a:t>BENEFIT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86750" y="31146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Reduce hidden exposures; strengthen escalation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286750" y="35147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286750" y="36099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4AA3DF"/>
                </a:solidFill>
                <a:latin typeface="Aptos"/>
              </a:rPr>
              <a:t>DEADLINE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6750" y="38004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Interim controls now; full plan within 90 days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286750" y="42005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286750" y="42957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4AA3DF"/>
                </a:solidFill>
                <a:latin typeface="Aptos"/>
              </a:rPr>
              <a:t>CONSTRAINT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86750" y="44862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Systems, staffing, conduct, implementation cost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286750" y="4886325"/>
            <a:ext cx="3209925" cy="0"/>
          </a:xfrm>
          <a:prstGeom prst="line">
            <a:avLst/>
          </a:prstGeom>
          <a:ln w="12700">
            <a:solidFill>
              <a:srgbClr val="303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286750" y="4981575"/>
            <a:ext cx="7810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4AA3DF"/>
                </a:solidFill>
                <a:latin typeface="Aptos"/>
              </a:rPr>
              <a:t>FALLBACK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86750" y="5172075"/>
            <a:ext cx="320992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E9EEF2"/>
                </a:solidFill>
                <a:latin typeface="Aptos"/>
              </a:rPr>
              <a:t>Dual approval; independent confirmation; tighter limits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8150" y="6115050"/>
            <a:ext cx="11315700" cy="228600"/>
          </a:xfrm>
          <a:prstGeom prst="rect">
            <a:avLst/>
          </a:prstGeom>
          <a:solidFill>
            <a:srgbClr val="32191E"/>
          </a:solidFill>
          <a:ln w="12700">
            <a:solidFill>
              <a:srgbClr val="E31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1500" y="6153150"/>
            <a:ext cx="1104900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E9EEF2"/>
                </a:solidFill>
                <a:latin typeface="Aptos"/>
              </a:rPr>
              <a:t>TREASURY DECISION: authorize facility readiness now; fund only against verified cash forecasts and defined triggers.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UBS Treasury Committee Briefing — 2011 Trading Loss</dc:title>
  <dc:subject>Executive liquidity and control response</dc:subject>
  <dc:creator>SKEMA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