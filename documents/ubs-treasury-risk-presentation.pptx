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www.finma.ch/en/~/media/finma/dokumente/dokumentencenter/8news/medienmitteilungen/2012/11/20121121-ubs-summary-report.pdf?sc_lang=en&amp;hash=D26DD4BBF243411F07C72BCA738FF40A" TargetMode="External"/><Relationship Id="rId5" Type="http://schemas.openxmlformats.org/officeDocument/2006/relationships/hyperlink" Target="https://www.fca.org.uk/publication/final-notices/ubs-ag.pdf" TargetMode="External"/><Relationship Id="rId6" Type="http://schemas.openxmlformats.org/officeDocument/2006/relationships/hyperlink" Target="https://keyinvest-it.ubs.com/filedb/deliver/xuuid/l00170bd9263aa8642128581708268d60e04/name/2.2_UBS_SNP_11Oct2011.pdf" TargetMode="External"/><Relationship Id="rId7" Type="http://schemas.openxmlformats.org/officeDocument/2006/relationships/hyperlink" Target="https://www.ubs.com/global/en/investor-relations/financial-information/sec-filings/archive-sec/_jcr_content/root/contentarea/mainpar/toplevelgrid/col_1/accordionbox/accordionsplit_5f56/table_377890747.1522585917.file/dGFibGVUZXh0PS9jb250ZW50L2RhbS9hc3NldHMvY2MvaW52ZXN0b3ItcmVsYXRpb25zL3F1YXJ0ZXJsaWVzLzIwMTEvM3ExMS8zUTExX1ByZXNlbnRhdGlvbk1hdGVyaWFscy5wZGY=/3Q11_PresentationMaterials.pdf"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2000" cy="6858000"/>
          </a:xfrm>
          <a:prstGeom prst="rect">
            <a:avLst/>
          </a:prstGeom>
          <a:solidFill>
            <a:srgbClr val="FFFFF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38100"/>
          </a:xfrm>
          <a:prstGeom prst="rect">
            <a:avLst/>
          </a:prstGeom>
          <a:solidFill>
            <a:srgbClr val="E3000B"/>
          </a:solidFill>
          <a:ln w="12700">
            <a:solidFill>
              <a:srgbClr val="E30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ubs-logo.png"/>
          <p:cNvPicPr>
            <a:picLocks noChangeAspect="1"/>
          </p:cNvPicPr>
          <p:nvPr/>
        </p:nvPicPr>
        <p:blipFill>
          <a:blip r:embed="rId2"/>
          <a:stretch>
            <a:fillRect/>
          </a:stretch>
        </p:blipFill>
        <p:spPr>
          <a:xfrm>
            <a:off x="552450" y="228687"/>
            <a:ext cx="1428750" cy="504650"/>
          </a:xfrm>
          <a:prstGeom prst="rect">
            <a:avLst/>
          </a:prstGeom>
        </p:spPr>
      </p:pic>
      <p:pic>
        <p:nvPicPr>
          <p:cNvPr id="5" name="Picture 4" descr="skema-logo.png"/>
          <p:cNvPicPr>
            <a:picLocks noChangeAspect="1"/>
          </p:cNvPicPr>
          <p:nvPr/>
        </p:nvPicPr>
        <p:blipFill>
          <a:blip r:embed="rId3"/>
          <a:stretch>
            <a:fillRect/>
          </a:stretch>
        </p:blipFill>
        <p:spPr>
          <a:xfrm>
            <a:off x="11240717" y="171450"/>
            <a:ext cx="454765" cy="476250"/>
          </a:xfrm>
          <a:prstGeom prst="rect">
            <a:avLst/>
          </a:prstGeom>
        </p:spPr>
      </p:pic>
      <p:sp>
        <p:nvSpPr>
          <p:cNvPr id="6" name="Rectangle 5"/>
          <p:cNvSpPr/>
          <p:nvPr/>
        </p:nvSpPr>
        <p:spPr>
          <a:xfrm>
            <a:off x="666750" y="1619250"/>
            <a:ext cx="47625" cy="3810000"/>
          </a:xfrm>
          <a:prstGeom prst="rect">
            <a:avLst/>
          </a:prstGeom>
          <a:solidFill>
            <a:srgbClr val="E3000B"/>
          </a:solidFill>
          <a:ln w="12700">
            <a:solidFill>
              <a:srgbClr val="E30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0125" y="1657350"/>
            <a:ext cx="6667500" cy="914400"/>
          </a:xfrm>
          <a:prstGeom prst="rect">
            <a:avLst/>
          </a:prstGeom>
          <a:noFill/>
        </p:spPr>
        <p:txBody>
          <a:bodyPr wrap="square" lIns="0" rIns="0" tIns="0" bIns="0" anchor="t">
            <a:spAutoFit/>
          </a:bodyPr>
          <a:lstStyle/>
          <a:p>
            <a:pPr algn="l">
              <a:lnSpc>
                <a:spcPct val="108000"/>
              </a:lnSpc>
              <a:spcBef>
                <a:spcPts val="0"/>
              </a:spcBef>
              <a:spcAft>
                <a:spcPts val="0"/>
              </a:spcAft>
            </a:pPr>
            <a:r>
              <a:rPr sz="2925" b="0">
                <a:solidFill>
                  <a:srgbClr val="171717"/>
                </a:solidFill>
                <a:latin typeface="Aptos"/>
              </a:rPr>
              <a:t>UBS 2011 Rogue Trading Scandal</a:t>
            </a:r>
          </a:p>
        </p:txBody>
      </p:sp>
      <p:sp>
        <p:nvSpPr>
          <p:cNvPr id="8" name="TextBox 7"/>
          <p:cNvSpPr txBox="1"/>
          <p:nvPr/>
        </p:nvSpPr>
        <p:spPr>
          <a:xfrm>
            <a:off x="1000125" y="2619375"/>
            <a:ext cx="6667500" cy="666750"/>
          </a:xfrm>
          <a:prstGeom prst="rect">
            <a:avLst/>
          </a:prstGeom>
          <a:noFill/>
        </p:spPr>
        <p:txBody>
          <a:bodyPr wrap="square" lIns="0" rIns="0" tIns="0" bIns="0" anchor="t">
            <a:spAutoFit/>
          </a:bodyPr>
          <a:lstStyle/>
          <a:p>
            <a:pPr algn="l">
              <a:lnSpc>
                <a:spcPct val="118000"/>
              </a:lnSpc>
              <a:spcBef>
                <a:spcPts val="0"/>
              </a:spcBef>
              <a:spcAft>
                <a:spcPts val="0"/>
              </a:spcAft>
            </a:pPr>
            <a:r>
              <a:rPr sz="1950" b="0">
                <a:solidFill>
                  <a:srgbClr val="E3000B"/>
                </a:solidFill>
                <a:latin typeface="Aptos"/>
              </a:rPr>
              <a:t>From Operational Failure</a:t>
            </a:r>
          </a:p>
          <a:p>
            <a:pPr algn="l">
              <a:lnSpc>
                <a:spcPct val="118000"/>
              </a:lnSpc>
              <a:spcBef>
                <a:spcPts val="0"/>
              </a:spcBef>
              <a:spcAft>
                <a:spcPts val="0"/>
              </a:spcAft>
            </a:pPr>
            <a:r>
              <a:rPr sz="1950" b="0">
                <a:solidFill>
                  <a:srgbClr val="E3000B"/>
                </a:solidFill>
                <a:latin typeface="Aptos"/>
              </a:rPr>
              <a:t>to Treasury Decisions</a:t>
            </a:r>
          </a:p>
        </p:txBody>
      </p:sp>
      <p:sp>
        <p:nvSpPr>
          <p:cNvPr id="9" name="TextBox 8"/>
          <p:cNvSpPr txBox="1"/>
          <p:nvPr/>
        </p:nvSpPr>
        <p:spPr>
          <a:xfrm>
            <a:off x="1000125" y="3571875"/>
            <a:ext cx="6477000" cy="428625"/>
          </a:xfrm>
          <a:prstGeom prst="rect">
            <a:avLst/>
          </a:prstGeom>
          <a:noFill/>
        </p:spPr>
        <p:txBody>
          <a:bodyPr wrap="square" lIns="0" rIns="0" tIns="0" bIns="0" anchor="t">
            <a:spAutoFit/>
          </a:bodyPr>
          <a:lstStyle/>
          <a:p>
            <a:pPr algn="l">
              <a:lnSpc>
                <a:spcPct val="135000"/>
              </a:lnSpc>
              <a:spcBef>
                <a:spcPts val="0"/>
              </a:spcBef>
              <a:spcAft>
                <a:spcPts val="0"/>
              </a:spcAft>
            </a:pPr>
            <a:r>
              <a:rPr sz="900" b="1">
                <a:solidFill>
                  <a:srgbClr val="5C5C58"/>
                </a:solidFill>
                <a:latin typeface="Aptos"/>
              </a:rPr>
              <a:t>EXECUTIVE BRIEFING TO THE GROUP CEO</a:t>
            </a:r>
          </a:p>
          <a:p>
            <a:pPr algn="l">
              <a:lnSpc>
                <a:spcPct val="135000"/>
              </a:lnSpc>
              <a:spcBef>
                <a:spcPts val="0"/>
              </a:spcBef>
              <a:spcAft>
                <a:spcPts val="0"/>
              </a:spcAft>
            </a:pPr>
            <a:r>
              <a:rPr sz="900" b="1">
                <a:solidFill>
                  <a:srgbClr val="5C5C58"/>
                </a:solidFill>
                <a:latin typeface="Aptos"/>
              </a:rPr>
              <a:t>AND UBS GROUP EXECUTIVE BOARD</a:t>
            </a:r>
          </a:p>
        </p:txBody>
      </p:sp>
      <p:cxnSp>
        <p:nvCxnSpPr>
          <p:cNvPr id="10" name="Connector 9"/>
          <p:cNvCxnSpPr/>
          <p:nvPr/>
        </p:nvCxnSpPr>
        <p:spPr>
          <a:xfrm>
            <a:off x="1000125" y="4305300"/>
            <a:ext cx="5572125" cy="0"/>
          </a:xfrm>
          <a:prstGeom prst="line">
            <a:avLst/>
          </a:prstGeom>
          <a:ln w="12700">
            <a:solidFill>
              <a:srgbClr val="D8D7D2"/>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0125" y="4505325"/>
            <a:ext cx="6191250" cy="228600"/>
          </a:xfrm>
          <a:prstGeom prst="rect">
            <a:avLst/>
          </a:prstGeom>
          <a:noFill/>
        </p:spPr>
        <p:txBody>
          <a:bodyPr wrap="square" lIns="0" rIns="0" tIns="0" bIns="0" anchor="t">
            <a:spAutoFit/>
          </a:bodyPr>
          <a:lstStyle/>
          <a:p>
            <a:pPr algn="l">
              <a:lnSpc>
                <a:spcPct val="118000"/>
              </a:lnSpc>
              <a:spcBef>
                <a:spcPts val="0"/>
              </a:spcBef>
              <a:spcAft>
                <a:spcPts val="0"/>
              </a:spcAft>
            </a:pPr>
            <a:r>
              <a:rPr sz="975" b="1">
                <a:solidFill>
                  <a:srgbClr val="171717"/>
                </a:solidFill>
                <a:latin typeface="Aptos"/>
              </a:rPr>
              <a:t>Corporate Treasury Management  ·  14 Sep–14 Dec 2011</a:t>
            </a:r>
          </a:p>
        </p:txBody>
      </p:sp>
      <p:sp>
        <p:nvSpPr>
          <p:cNvPr id="12" name="TextBox 11"/>
          <p:cNvSpPr txBox="1"/>
          <p:nvPr/>
        </p:nvSpPr>
        <p:spPr>
          <a:xfrm>
            <a:off x="1000125" y="4943475"/>
            <a:ext cx="6191250" cy="228600"/>
          </a:xfrm>
          <a:prstGeom prst="rect">
            <a:avLst/>
          </a:prstGeom>
          <a:noFill/>
        </p:spPr>
        <p:txBody>
          <a:bodyPr wrap="square" lIns="0" rIns="0" tIns="0" bIns="0" anchor="t">
            <a:spAutoFit/>
          </a:bodyPr>
          <a:lstStyle/>
          <a:p>
            <a:pPr algn="l">
              <a:lnSpc>
                <a:spcPct val="118000"/>
              </a:lnSpc>
              <a:spcBef>
                <a:spcPts val="0"/>
              </a:spcBef>
              <a:spcAft>
                <a:spcPts val="0"/>
              </a:spcAft>
            </a:pPr>
            <a:r>
              <a:rPr sz="900" b="0">
                <a:solidFill>
                  <a:srgbClr val="5C5C58"/>
                </a:solidFill>
                <a:latin typeface="Aptos"/>
              </a:rPr>
              <a:t>Academic supervisor  Jamil Chaftar</a:t>
            </a:r>
          </a:p>
        </p:txBody>
      </p:sp>
      <p:sp>
        <p:nvSpPr>
          <p:cNvPr id="13" name="TextBox 12"/>
          <p:cNvSpPr txBox="1"/>
          <p:nvPr/>
        </p:nvSpPr>
        <p:spPr>
          <a:xfrm>
            <a:off x="1000125" y="5276850"/>
            <a:ext cx="6191250" cy="457200"/>
          </a:xfrm>
          <a:prstGeom prst="rect">
            <a:avLst/>
          </a:prstGeom>
          <a:noFill/>
        </p:spPr>
        <p:txBody>
          <a:bodyPr wrap="square" lIns="0" rIns="0" tIns="0" bIns="0" anchor="t">
            <a:spAutoFit/>
          </a:bodyPr>
          <a:lstStyle/>
          <a:p>
            <a:pPr algn="l">
              <a:lnSpc>
                <a:spcPct val="118000"/>
              </a:lnSpc>
              <a:spcBef>
                <a:spcPts val="0"/>
              </a:spcBef>
              <a:spcAft>
                <a:spcPts val="0"/>
              </a:spcAft>
            </a:pPr>
            <a:r>
              <a:rPr sz="825" b="0">
                <a:solidFill>
                  <a:srgbClr val="5C5C58"/>
                </a:solidFill>
                <a:latin typeface="Aptos"/>
              </a:rPr>
              <a:t>Paul Alain Diouf  ·  Calvin Minang  ·  Jules Métayer  ·  Elias Abou-Tayeh</a:t>
            </a:r>
          </a:p>
        </p:txBody>
      </p:sp>
      <p:sp>
        <p:nvSpPr>
          <p:cNvPr id="14" name="Rectangle 13"/>
          <p:cNvSpPr/>
          <p:nvPr/>
        </p:nvSpPr>
        <p:spPr>
          <a:xfrm>
            <a:off x="7953374" y="1619250"/>
            <a:ext cx="3619500" cy="3857625"/>
          </a:xfrm>
          <a:prstGeom prst="rect">
            <a:avLst/>
          </a:prstGeom>
          <a:solidFill>
            <a:srgbClr val="F5F4F0"/>
          </a:solidFill>
          <a:ln w="12700">
            <a:solidFill>
              <a:srgbClr val="D8D7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39124" y="1857375"/>
            <a:ext cx="3000375" cy="20955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E3000B"/>
                </a:solidFill>
                <a:latin typeface="Aptos"/>
              </a:rPr>
              <a:t>TREASURY DECISION WINDOW</a:t>
            </a:r>
          </a:p>
        </p:txBody>
      </p:sp>
      <p:sp>
        <p:nvSpPr>
          <p:cNvPr id="16" name="TextBox 15"/>
          <p:cNvSpPr txBox="1"/>
          <p:nvPr/>
        </p:nvSpPr>
        <p:spPr>
          <a:xfrm>
            <a:off x="8239124" y="2171700"/>
            <a:ext cx="3000375" cy="361950"/>
          </a:xfrm>
          <a:prstGeom prst="rect">
            <a:avLst/>
          </a:prstGeom>
          <a:noFill/>
        </p:spPr>
        <p:txBody>
          <a:bodyPr wrap="square" lIns="0" rIns="0" tIns="0" bIns="0" anchor="t">
            <a:spAutoFit/>
          </a:bodyPr>
          <a:lstStyle/>
          <a:p>
            <a:pPr algn="l">
              <a:lnSpc>
                <a:spcPct val="118000"/>
              </a:lnSpc>
              <a:spcBef>
                <a:spcPts val="0"/>
              </a:spcBef>
              <a:spcAft>
                <a:spcPts val="0"/>
              </a:spcAft>
            </a:pPr>
            <a:r>
              <a:rPr sz="1275" b="1">
                <a:solidFill>
                  <a:srgbClr val="171717"/>
                </a:solidFill>
                <a:latin typeface="Aptos"/>
              </a:rPr>
              <a:t>14 September → 14 December 2011</a:t>
            </a:r>
          </a:p>
        </p:txBody>
      </p:sp>
      <p:sp>
        <p:nvSpPr>
          <p:cNvPr id="17" name="TextBox 16"/>
          <p:cNvSpPr txBox="1"/>
          <p:nvPr/>
        </p:nvSpPr>
        <p:spPr>
          <a:xfrm>
            <a:off x="8239124" y="2686050"/>
            <a:ext cx="3000375" cy="190500"/>
          </a:xfrm>
          <a:prstGeom prst="rect">
            <a:avLst/>
          </a:prstGeom>
          <a:noFill/>
        </p:spPr>
        <p:txBody>
          <a:bodyPr wrap="square" lIns="0" rIns="0" tIns="0" bIns="0" anchor="t">
            <a:spAutoFit/>
          </a:bodyPr>
          <a:lstStyle/>
          <a:p>
            <a:pPr algn="l">
              <a:lnSpc>
                <a:spcPct val="118000"/>
              </a:lnSpc>
              <a:spcBef>
                <a:spcPts val="0"/>
              </a:spcBef>
              <a:spcAft>
                <a:spcPts val="0"/>
              </a:spcAft>
            </a:pPr>
            <a:r>
              <a:rPr sz="675" b="1">
                <a:solidFill>
                  <a:srgbClr val="5C5C58"/>
                </a:solidFill>
                <a:latin typeface="Aptos"/>
              </a:rPr>
              <a:t>LIQUIDITY HEADROOM · CONCEPT</a:t>
            </a:r>
          </a:p>
        </p:txBody>
      </p:sp>
      <p:sp>
        <p:nvSpPr>
          <p:cNvPr id="18" name="Rectangle 17"/>
          <p:cNvSpPr/>
          <p:nvPr/>
        </p:nvSpPr>
        <p:spPr>
          <a:xfrm>
            <a:off x="8286750" y="4038600"/>
            <a:ext cx="209550" cy="619125"/>
          </a:xfrm>
          <a:prstGeom prst="rect">
            <a:avLst/>
          </a:prstGeom>
          <a:solidFill>
            <a:srgbClr val="C8C7C0"/>
          </a:solidFill>
          <a:ln>
            <a:solidFill>
              <a:srgbClr val="C8C7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743950" y="3743325"/>
            <a:ext cx="209550" cy="914400"/>
          </a:xfrm>
          <a:prstGeom prst="rect">
            <a:avLst/>
          </a:prstGeom>
          <a:solidFill>
            <a:srgbClr val="C8C7C0"/>
          </a:solidFill>
          <a:ln>
            <a:solidFill>
              <a:srgbClr val="C8C7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201150" y="3924300"/>
            <a:ext cx="209550" cy="733425"/>
          </a:xfrm>
          <a:prstGeom prst="rect">
            <a:avLst/>
          </a:prstGeom>
          <a:solidFill>
            <a:srgbClr val="C8C7C0"/>
          </a:solidFill>
          <a:ln>
            <a:solidFill>
              <a:srgbClr val="C8C7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658350" y="3400425"/>
            <a:ext cx="209550" cy="1257300"/>
          </a:xfrm>
          <a:prstGeom prst="rect">
            <a:avLst/>
          </a:prstGeom>
          <a:solidFill>
            <a:srgbClr val="B9B8B1"/>
          </a:solidFill>
          <a:ln>
            <a:solidFill>
              <a:srgbClr val="B9B8B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0115550" y="3657600"/>
            <a:ext cx="209550" cy="1000125"/>
          </a:xfrm>
          <a:prstGeom prst="rect">
            <a:avLst/>
          </a:prstGeom>
          <a:solidFill>
            <a:srgbClr val="C8C7C0"/>
          </a:solidFill>
          <a:ln>
            <a:solidFill>
              <a:srgbClr val="C8C7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0572750" y="3038475"/>
            <a:ext cx="209550" cy="1619250"/>
          </a:xfrm>
          <a:prstGeom prst="rect">
            <a:avLst/>
          </a:prstGeom>
          <a:solidFill>
            <a:srgbClr val="E3000B"/>
          </a:solidFill>
          <a:ln>
            <a:solidFill>
              <a:srgbClr val="E30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8191500" y="4667250"/>
            <a:ext cx="3095625" cy="0"/>
          </a:xfrm>
          <a:prstGeom prst="line">
            <a:avLst/>
          </a:prstGeom>
          <a:ln w="12700">
            <a:solidFill>
              <a:srgbClr val="B8B7B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8191500" y="3943350"/>
            <a:ext cx="476250" cy="152400"/>
          </a:xfrm>
          <a:prstGeom prst="line">
            <a:avLst/>
          </a:prstGeom>
          <a:ln w="38100">
            <a:solidFill>
              <a:srgbClr val="E3000B"/>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667750" y="3943350"/>
            <a:ext cx="428625" cy="85725"/>
          </a:xfrm>
          <a:prstGeom prst="line">
            <a:avLst/>
          </a:prstGeom>
          <a:ln w="38100">
            <a:solidFill>
              <a:srgbClr val="E3000B"/>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9096375" y="3590925"/>
            <a:ext cx="466725" cy="438150"/>
          </a:xfrm>
          <a:prstGeom prst="line">
            <a:avLst/>
          </a:prstGeom>
          <a:ln w="38100">
            <a:solidFill>
              <a:srgbClr val="E3000B"/>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9563100" y="3429000"/>
            <a:ext cx="457200" cy="161925"/>
          </a:xfrm>
          <a:prstGeom prst="line">
            <a:avLst/>
          </a:prstGeom>
          <a:ln w="38100">
            <a:solidFill>
              <a:srgbClr val="E3000B"/>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10020300" y="3238500"/>
            <a:ext cx="457200" cy="190500"/>
          </a:xfrm>
          <a:prstGeom prst="line">
            <a:avLst/>
          </a:prstGeom>
          <a:ln w="38100">
            <a:solidFill>
              <a:srgbClr val="E3000B"/>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0477500" y="3238500"/>
            <a:ext cx="438150" cy="381000"/>
          </a:xfrm>
          <a:prstGeom prst="line">
            <a:avLst/>
          </a:prstGeom>
          <a:ln w="38100">
            <a:solidFill>
              <a:srgbClr val="E3000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915650" y="3619500"/>
            <a:ext cx="371475" cy="200024"/>
          </a:xfrm>
          <a:prstGeom prst="line">
            <a:avLst/>
          </a:prstGeom>
          <a:ln w="38100">
            <a:solidFill>
              <a:srgbClr val="E3000B"/>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239124" y="4953000"/>
            <a:ext cx="3000375" cy="409575"/>
          </a:xfrm>
          <a:prstGeom prst="rect">
            <a:avLst/>
          </a:prstGeom>
          <a:noFill/>
        </p:spPr>
        <p:txBody>
          <a:bodyPr wrap="square" lIns="0" rIns="0" tIns="0" bIns="0" anchor="t">
            <a:spAutoFit/>
          </a:bodyPr>
          <a:lstStyle/>
          <a:p>
            <a:pPr algn="l">
              <a:lnSpc>
                <a:spcPct val="130000"/>
              </a:lnSpc>
              <a:spcBef>
                <a:spcPts val="0"/>
              </a:spcBef>
              <a:spcAft>
                <a:spcPts val="0"/>
              </a:spcAft>
            </a:pPr>
            <a:r>
              <a:rPr sz="975" b="1">
                <a:solidFill>
                  <a:srgbClr val="171717"/>
                </a:solidFill>
                <a:latin typeface="Aptos"/>
              </a:rPr>
              <a:t>Protect cash capacity.</a:t>
            </a:r>
          </a:p>
          <a:p>
            <a:pPr algn="l">
              <a:lnSpc>
                <a:spcPct val="130000"/>
              </a:lnSpc>
              <a:spcBef>
                <a:spcPts val="0"/>
              </a:spcBef>
              <a:spcAft>
                <a:spcPts val="0"/>
              </a:spcAft>
            </a:pPr>
            <a:r>
              <a:rPr sz="975" b="1">
                <a:solidFill>
                  <a:srgbClr val="171717"/>
                </a:solidFill>
                <a:latin typeface="Aptos"/>
              </a:rPr>
              <a:t>Verify exposure. Gate funding.</a:t>
            </a:r>
          </a:p>
        </p:txBody>
      </p:sp>
      <p:sp>
        <p:nvSpPr>
          <p:cNvPr id="33" name="TextBox 32"/>
          <p:cNvSpPr txBox="1"/>
          <p:nvPr/>
        </p:nvSpPr>
        <p:spPr>
          <a:xfrm>
            <a:off x="552450" y="6210300"/>
            <a:ext cx="6191250" cy="190500"/>
          </a:xfrm>
          <a:prstGeom prst="rect">
            <a:avLst/>
          </a:prstGeom>
          <a:noFill/>
        </p:spPr>
        <p:txBody>
          <a:bodyPr wrap="square" lIns="0" rIns="0" tIns="0" bIns="0" anchor="t">
            <a:spAutoFit/>
          </a:bodyPr>
          <a:lstStyle/>
          <a:p>
            <a:pPr algn="l">
              <a:lnSpc>
                <a:spcPct val="118000"/>
              </a:lnSpc>
              <a:spcBef>
                <a:spcPts val="0"/>
              </a:spcBef>
              <a:spcAft>
                <a:spcPts val="0"/>
              </a:spcAft>
            </a:pPr>
            <a:r>
              <a:rPr sz="675" b="0">
                <a:solidFill>
                  <a:srgbClr val="5C5C58"/>
                </a:solidFill>
                <a:latin typeface="Aptos"/>
              </a:rPr>
              <a:t>Source-led case analysis · all modelled cash paths are explicitly labelled, not historical UBS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2000" cy="6858000"/>
          </a:xfrm>
          <a:prstGeom prst="rect">
            <a:avLst/>
          </a:prstGeom>
          <a:solidFill>
            <a:srgbClr val="FFFFF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38100"/>
          </a:xfrm>
          <a:prstGeom prst="rect">
            <a:avLst/>
          </a:prstGeom>
          <a:solidFill>
            <a:srgbClr val="E3000B"/>
          </a:solidFill>
          <a:ln w="12700">
            <a:solidFill>
              <a:srgbClr val="E30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ubs-logo.png"/>
          <p:cNvPicPr>
            <a:picLocks noChangeAspect="1"/>
          </p:cNvPicPr>
          <p:nvPr/>
        </p:nvPicPr>
        <p:blipFill>
          <a:blip r:embed="rId2"/>
          <a:stretch>
            <a:fillRect/>
          </a:stretch>
        </p:blipFill>
        <p:spPr>
          <a:xfrm>
            <a:off x="408461" y="123824"/>
            <a:ext cx="1240476" cy="438150"/>
          </a:xfrm>
          <a:prstGeom prst="rect">
            <a:avLst/>
          </a:prstGeom>
        </p:spPr>
      </p:pic>
      <p:pic>
        <p:nvPicPr>
          <p:cNvPr id="5" name="Picture 4" descr="skema-logo.png"/>
          <p:cNvPicPr>
            <a:picLocks noChangeAspect="1"/>
          </p:cNvPicPr>
          <p:nvPr/>
        </p:nvPicPr>
        <p:blipFill>
          <a:blip r:embed="rId3"/>
          <a:stretch>
            <a:fillRect/>
          </a:stretch>
        </p:blipFill>
        <p:spPr>
          <a:xfrm>
            <a:off x="11344275" y="114375"/>
            <a:ext cx="400050" cy="418949"/>
          </a:xfrm>
          <a:prstGeom prst="rect">
            <a:avLst/>
          </a:prstGeom>
        </p:spPr>
      </p:pic>
      <p:sp>
        <p:nvSpPr>
          <p:cNvPr id="6" name="TextBox 5"/>
          <p:cNvSpPr txBox="1"/>
          <p:nvPr/>
        </p:nvSpPr>
        <p:spPr>
          <a:xfrm>
            <a:off x="1952624" y="247649"/>
            <a:ext cx="8096249" cy="20955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B51E2B"/>
                </a:solidFill>
                <a:latin typeface="Aptos"/>
              </a:rPr>
              <a:t>INTRODUCTION · ¾ PAGE</a:t>
            </a:r>
          </a:p>
        </p:txBody>
      </p:sp>
      <p:sp>
        <p:nvSpPr>
          <p:cNvPr id="7" name="TextBox 6"/>
          <p:cNvSpPr txBox="1"/>
          <p:nvPr/>
        </p:nvSpPr>
        <p:spPr>
          <a:xfrm>
            <a:off x="419100" y="742950"/>
            <a:ext cx="11353800" cy="400050"/>
          </a:xfrm>
          <a:prstGeom prst="rect">
            <a:avLst/>
          </a:prstGeom>
          <a:noFill/>
        </p:spPr>
        <p:txBody>
          <a:bodyPr wrap="square" lIns="0" rIns="0" tIns="0" bIns="0" anchor="t">
            <a:spAutoFit/>
          </a:bodyPr>
          <a:lstStyle/>
          <a:p>
            <a:pPr algn="l">
              <a:lnSpc>
                <a:spcPct val="118000"/>
              </a:lnSpc>
              <a:spcBef>
                <a:spcPts val="0"/>
              </a:spcBef>
              <a:spcAft>
                <a:spcPts val="0"/>
              </a:spcAft>
            </a:pPr>
            <a:r>
              <a:rPr sz="2025" b="1">
                <a:solidFill>
                  <a:srgbClr val="171717"/>
                </a:solidFill>
                <a:latin typeface="Aptos"/>
              </a:rPr>
              <a:t>Research question, scope and method</a:t>
            </a:r>
          </a:p>
        </p:txBody>
      </p:sp>
      <p:cxnSp>
        <p:nvCxnSpPr>
          <p:cNvPr id="8" name="Connector 7"/>
          <p:cNvCxnSpPr/>
          <p:nvPr/>
        </p:nvCxnSpPr>
        <p:spPr>
          <a:xfrm>
            <a:off x="419100" y="1247775"/>
            <a:ext cx="11353800" cy="0"/>
          </a:xfrm>
          <a:prstGeom prst="line">
            <a:avLst/>
          </a:prstGeom>
          <a:ln w="12700">
            <a:solidFill>
              <a:srgbClr val="D8D7D2"/>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9100" y="6457950"/>
            <a:ext cx="11353800" cy="0"/>
          </a:xfrm>
          <a:prstGeom prst="line">
            <a:avLst/>
          </a:prstGeom>
          <a:ln w="12700">
            <a:solidFill>
              <a:srgbClr val="D8D7D2"/>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19100" y="6534150"/>
            <a:ext cx="7715250" cy="171450"/>
          </a:xfrm>
          <a:prstGeom prst="rect">
            <a:avLst/>
          </a:prstGeom>
          <a:noFill/>
        </p:spPr>
        <p:txBody>
          <a:bodyPr wrap="square" lIns="0" rIns="0" tIns="0" bIns="0" anchor="t">
            <a:spAutoFit/>
          </a:bodyPr>
          <a:lstStyle/>
          <a:p>
            <a:pPr algn="l">
              <a:lnSpc>
                <a:spcPct val="118000"/>
              </a:lnSpc>
              <a:spcBef>
                <a:spcPts val="0"/>
              </a:spcBef>
              <a:spcAft>
                <a:spcPts val="0"/>
              </a:spcAft>
            </a:pPr>
            <a:r>
              <a:rPr sz="600" b="0">
                <a:solidFill>
                  <a:srgbClr val="5C5C58"/>
                </a:solidFill>
                <a:latin typeface="Aptos"/>
              </a:rPr>
              <a:t>Sources: [1] FINMA; [2] FSA. Method separates discovery-date information from later findings.</a:t>
            </a:r>
          </a:p>
        </p:txBody>
      </p:sp>
      <p:sp>
        <p:nvSpPr>
          <p:cNvPr id="11" name="TextBox 10"/>
          <p:cNvSpPr txBox="1"/>
          <p:nvPr/>
        </p:nvSpPr>
        <p:spPr>
          <a:xfrm>
            <a:off x="8858250" y="6515100"/>
            <a:ext cx="2905125" cy="190500"/>
          </a:xfrm>
          <a:prstGeom prst="rect">
            <a:avLst/>
          </a:prstGeom>
          <a:noFill/>
        </p:spPr>
        <p:txBody>
          <a:bodyPr wrap="square" lIns="0" rIns="0" tIns="0" bIns="0" anchor="t">
            <a:spAutoFit/>
          </a:bodyPr>
          <a:lstStyle/>
          <a:p>
            <a:pPr algn="r">
              <a:lnSpc>
                <a:spcPct val="118000"/>
              </a:lnSpc>
              <a:spcBef>
                <a:spcPts val="0"/>
              </a:spcBef>
              <a:spcAft>
                <a:spcPts val="0"/>
              </a:spcAft>
            </a:pPr>
            <a:r>
              <a:rPr sz="675" b="1">
                <a:solidFill>
                  <a:srgbClr val="B51E2B"/>
                </a:solidFill>
                <a:latin typeface="Aptos"/>
              </a:rPr>
              <a:t>PAUL ALAIN  /  02</a:t>
            </a:r>
          </a:p>
        </p:txBody>
      </p:sp>
      <p:sp>
        <p:nvSpPr>
          <p:cNvPr id="12" name="Rectangle 11"/>
          <p:cNvSpPr/>
          <p:nvPr/>
        </p:nvSpPr>
        <p:spPr>
          <a:xfrm>
            <a:off x="552450" y="1400175"/>
            <a:ext cx="11049000" cy="895350"/>
          </a:xfrm>
          <a:prstGeom prst="rect">
            <a:avLst/>
          </a:prstGeom>
          <a:solidFill>
            <a:srgbClr val="F8F8F6"/>
          </a:solidFill>
          <a:ln w="12700">
            <a:solidFill>
              <a:srgbClr val="D8D7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2000" y="1533525"/>
            <a:ext cx="2381250" cy="17145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B51E2B"/>
                </a:solidFill>
                <a:latin typeface="Aptos"/>
              </a:rPr>
              <a:t>CENTRAL QUESTION</a:t>
            </a:r>
          </a:p>
        </p:txBody>
      </p:sp>
      <p:sp>
        <p:nvSpPr>
          <p:cNvPr id="14" name="TextBox 13"/>
          <p:cNvSpPr txBox="1"/>
          <p:nvPr/>
        </p:nvSpPr>
        <p:spPr>
          <a:xfrm>
            <a:off x="762000" y="1762125"/>
            <a:ext cx="10572750" cy="428625"/>
          </a:xfrm>
          <a:prstGeom prst="rect">
            <a:avLst/>
          </a:prstGeom>
          <a:noFill/>
        </p:spPr>
        <p:txBody>
          <a:bodyPr wrap="square" lIns="0" rIns="0" tIns="0" bIns="0" anchor="t">
            <a:spAutoFit/>
          </a:bodyPr>
          <a:lstStyle/>
          <a:p>
            <a:pPr algn="l">
              <a:lnSpc>
                <a:spcPct val="118000"/>
              </a:lnSpc>
              <a:spcBef>
                <a:spcPts val="0"/>
              </a:spcBef>
              <a:spcAft>
                <a:spcPts val="0"/>
              </a:spcAft>
            </a:pPr>
            <a:r>
              <a:rPr sz="1575" b="1">
                <a:solidFill>
                  <a:srgbClr val="171717"/>
                </a:solidFill>
                <a:latin typeface="Aptos"/>
              </a:rPr>
              <a:t>How should UBS Treasury meet payment obligations over the three months after concealed trading losses are discovered?</a:t>
            </a:r>
          </a:p>
        </p:txBody>
      </p:sp>
      <p:sp>
        <p:nvSpPr>
          <p:cNvPr id="15" name="Rectangle 14"/>
          <p:cNvSpPr/>
          <p:nvPr/>
        </p:nvSpPr>
        <p:spPr>
          <a:xfrm>
            <a:off x="552450" y="2495550"/>
            <a:ext cx="3476625" cy="1066800"/>
          </a:xfrm>
          <a:prstGeom prst="rect">
            <a:avLst/>
          </a:prstGeom>
          <a:solidFill>
            <a:srgbClr val="F2F1ED"/>
          </a:solidFill>
          <a:ln w="12700">
            <a:solidFill>
              <a:srgbClr val="D8D7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4850" y="2647950"/>
            <a:ext cx="3143250" cy="17145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B51E2B"/>
                </a:solidFill>
                <a:latin typeface="Aptos"/>
              </a:rPr>
              <a:t>INCIDENT</a:t>
            </a:r>
          </a:p>
        </p:txBody>
      </p:sp>
      <p:sp>
        <p:nvSpPr>
          <p:cNvPr id="17" name="TextBox 16"/>
          <p:cNvSpPr txBox="1"/>
          <p:nvPr/>
        </p:nvSpPr>
        <p:spPr>
          <a:xfrm>
            <a:off x="704850" y="2895600"/>
            <a:ext cx="3143250" cy="542925"/>
          </a:xfrm>
          <a:prstGeom prst="rect">
            <a:avLst/>
          </a:prstGeom>
          <a:noFill/>
        </p:spPr>
        <p:txBody>
          <a:bodyPr wrap="square" lIns="0" rIns="0" tIns="0" bIns="0" anchor="t">
            <a:spAutoFit/>
          </a:bodyPr>
          <a:lstStyle/>
          <a:p>
            <a:pPr algn="l">
              <a:lnSpc>
                <a:spcPct val="120000"/>
              </a:lnSpc>
              <a:spcBef>
                <a:spcPts val="0"/>
              </a:spcBef>
              <a:spcAft>
                <a:spcPts val="0"/>
              </a:spcAft>
            </a:pPr>
            <a:r>
              <a:rPr sz="900" b="0">
                <a:solidFill>
                  <a:srgbClr val="171717"/>
                </a:solidFill>
                <a:latin typeface="Aptos"/>
              </a:rPr>
              <a:t>Unauthorised trading in UBS Investment Bank, London; operational-risk case with immediate Treasury implications.</a:t>
            </a:r>
          </a:p>
        </p:txBody>
      </p:sp>
      <p:sp>
        <p:nvSpPr>
          <p:cNvPr id="18" name="Rectangle 17"/>
          <p:cNvSpPr/>
          <p:nvPr/>
        </p:nvSpPr>
        <p:spPr>
          <a:xfrm>
            <a:off x="4267200" y="2495550"/>
            <a:ext cx="3476625" cy="1066800"/>
          </a:xfrm>
          <a:prstGeom prst="rect">
            <a:avLst/>
          </a:prstGeom>
          <a:solidFill>
            <a:srgbClr val="F2F1ED"/>
          </a:solidFill>
          <a:ln w="12700">
            <a:solidFill>
              <a:srgbClr val="D8D7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19600" y="2647950"/>
            <a:ext cx="3143250" cy="17145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B51E2B"/>
                </a:solidFill>
                <a:latin typeface="Aptos"/>
              </a:rPr>
              <a:t>PERSPECTIVE</a:t>
            </a:r>
          </a:p>
        </p:txBody>
      </p:sp>
      <p:sp>
        <p:nvSpPr>
          <p:cNvPr id="20" name="TextBox 19"/>
          <p:cNvSpPr txBox="1"/>
          <p:nvPr/>
        </p:nvSpPr>
        <p:spPr>
          <a:xfrm>
            <a:off x="4419600" y="2895600"/>
            <a:ext cx="3143250" cy="542925"/>
          </a:xfrm>
          <a:prstGeom prst="rect">
            <a:avLst/>
          </a:prstGeom>
          <a:noFill/>
        </p:spPr>
        <p:txBody>
          <a:bodyPr wrap="square" lIns="0" rIns="0" tIns="0" bIns="0" anchor="t">
            <a:spAutoFit/>
          </a:bodyPr>
          <a:lstStyle/>
          <a:p>
            <a:pPr algn="l">
              <a:lnSpc>
                <a:spcPct val="120000"/>
              </a:lnSpc>
              <a:spcBef>
                <a:spcPts val="0"/>
              </a:spcBef>
              <a:spcAft>
                <a:spcPts val="0"/>
              </a:spcAft>
            </a:pPr>
            <a:r>
              <a:rPr sz="900" b="0">
                <a:solidFill>
                  <a:srgbClr val="171717"/>
                </a:solidFill>
                <a:latin typeface="Aptos"/>
              </a:rPr>
              <a:t>Treasury team advising the CFO at discovery—not regulators looking back.</a:t>
            </a:r>
          </a:p>
        </p:txBody>
      </p:sp>
      <p:sp>
        <p:nvSpPr>
          <p:cNvPr id="21" name="Rectangle 20"/>
          <p:cNvSpPr/>
          <p:nvPr/>
        </p:nvSpPr>
        <p:spPr>
          <a:xfrm>
            <a:off x="7981949" y="2495550"/>
            <a:ext cx="3476625" cy="1066800"/>
          </a:xfrm>
          <a:prstGeom prst="rect">
            <a:avLst/>
          </a:prstGeom>
          <a:solidFill>
            <a:srgbClr val="F2F1ED"/>
          </a:solidFill>
          <a:ln w="12700">
            <a:solidFill>
              <a:srgbClr val="D8D7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34350" y="2647950"/>
            <a:ext cx="3143250" cy="17145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B51E2B"/>
                </a:solidFill>
                <a:latin typeface="Aptos"/>
              </a:rPr>
              <a:t>HORIZON</a:t>
            </a:r>
          </a:p>
        </p:txBody>
      </p:sp>
      <p:sp>
        <p:nvSpPr>
          <p:cNvPr id="23" name="TextBox 22"/>
          <p:cNvSpPr txBox="1"/>
          <p:nvPr/>
        </p:nvSpPr>
        <p:spPr>
          <a:xfrm>
            <a:off x="8134350" y="2895600"/>
            <a:ext cx="3143250" cy="542925"/>
          </a:xfrm>
          <a:prstGeom prst="rect">
            <a:avLst/>
          </a:prstGeom>
          <a:noFill/>
        </p:spPr>
        <p:txBody>
          <a:bodyPr wrap="square" lIns="0" rIns="0" tIns="0" bIns="0" anchor="t">
            <a:spAutoFit/>
          </a:bodyPr>
          <a:lstStyle/>
          <a:p>
            <a:pPr algn="l">
              <a:lnSpc>
                <a:spcPct val="120000"/>
              </a:lnSpc>
              <a:spcBef>
                <a:spcPts val="0"/>
              </a:spcBef>
              <a:spcAft>
                <a:spcPts val="0"/>
              </a:spcAft>
            </a:pPr>
            <a:r>
              <a:rPr sz="900" b="0">
                <a:solidFill>
                  <a:srgbClr val="171717"/>
                </a:solidFill>
                <a:latin typeface="Aptos"/>
              </a:rPr>
              <a:t>14 Sep–14 Dec 2011; greatest forecast detail in the first days.</a:t>
            </a:r>
          </a:p>
        </p:txBody>
      </p:sp>
      <p:sp>
        <p:nvSpPr>
          <p:cNvPr id="24" name="TextBox 23"/>
          <p:cNvSpPr txBox="1"/>
          <p:nvPr/>
        </p:nvSpPr>
        <p:spPr>
          <a:xfrm>
            <a:off x="590550" y="3800475"/>
            <a:ext cx="10858500" cy="304800"/>
          </a:xfrm>
          <a:prstGeom prst="rect">
            <a:avLst/>
          </a:prstGeom>
          <a:noFill/>
        </p:spPr>
        <p:txBody>
          <a:bodyPr wrap="square" lIns="0" rIns="0" tIns="0" bIns="0" anchor="t">
            <a:spAutoFit/>
          </a:bodyPr>
          <a:lstStyle/>
          <a:p>
            <a:pPr algn="l">
              <a:lnSpc>
                <a:spcPct val="118000"/>
              </a:lnSpc>
              <a:spcBef>
                <a:spcPts val="0"/>
              </a:spcBef>
              <a:spcAft>
                <a:spcPts val="0"/>
              </a:spcAft>
            </a:pPr>
            <a:r>
              <a:rPr sz="1050" b="1">
                <a:solidFill>
                  <a:srgbClr val="171717"/>
                </a:solidFill>
                <a:latin typeface="Aptos"/>
              </a:rPr>
              <a:t>Instructor-approved adaptation: use maturity-based bank cash flows and liquidity headroom—not corporate WCR / CCC.</a:t>
            </a:r>
          </a:p>
        </p:txBody>
      </p:sp>
      <p:sp>
        <p:nvSpPr>
          <p:cNvPr id="25" name="Rectangle 24"/>
          <p:cNvSpPr/>
          <p:nvPr/>
        </p:nvSpPr>
        <p:spPr>
          <a:xfrm>
            <a:off x="590550" y="4324350"/>
            <a:ext cx="3314700" cy="504825"/>
          </a:xfrm>
          <a:prstGeom prst="rect">
            <a:avLst/>
          </a:prstGeom>
          <a:solidFill>
            <a:srgbClr val="FFFFFF"/>
          </a:solidFill>
          <a:ln w="12700">
            <a:solidFill>
              <a:srgbClr val="D8D7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850" y="4410075"/>
            <a:ext cx="952500" cy="161925"/>
          </a:xfrm>
          <a:prstGeom prst="rect">
            <a:avLst/>
          </a:prstGeom>
          <a:noFill/>
        </p:spPr>
        <p:txBody>
          <a:bodyPr wrap="square" lIns="0" rIns="0" tIns="0" bIns="0" anchor="t">
            <a:spAutoFit/>
          </a:bodyPr>
          <a:lstStyle/>
          <a:p>
            <a:pPr algn="l">
              <a:lnSpc>
                <a:spcPct val="118000"/>
              </a:lnSpc>
              <a:spcBef>
                <a:spcPts val="0"/>
              </a:spcBef>
              <a:spcAft>
                <a:spcPts val="0"/>
              </a:spcAft>
            </a:pPr>
            <a:r>
              <a:rPr sz="675" b="1">
                <a:solidFill>
                  <a:srgbClr val="B51E2B"/>
                </a:solidFill>
                <a:latin typeface="Aptos"/>
              </a:rPr>
              <a:t>PUBLISHED</a:t>
            </a:r>
          </a:p>
        </p:txBody>
      </p:sp>
      <p:sp>
        <p:nvSpPr>
          <p:cNvPr id="27" name="TextBox 26"/>
          <p:cNvSpPr txBox="1"/>
          <p:nvPr/>
        </p:nvSpPr>
        <p:spPr>
          <a:xfrm>
            <a:off x="1657350" y="4391025"/>
            <a:ext cx="2114550" cy="323850"/>
          </a:xfrm>
          <a:prstGeom prst="rect">
            <a:avLst/>
          </a:prstGeom>
          <a:noFill/>
        </p:spPr>
        <p:txBody>
          <a:bodyPr wrap="square" lIns="0" rIns="0" tIns="0" bIns="0" anchor="t">
            <a:spAutoFit/>
          </a:bodyPr>
          <a:lstStyle/>
          <a:p>
            <a:pPr algn="l">
              <a:lnSpc>
                <a:spcPct val="115000"/>
              </a:lnSpc>
              <a:spcBef>
                <a:spcPts val="0"/>
              </a:spcBef>
              <a:spcAft>
                <a:spcPts val="0"/>
              </a:spcAft>
            </a:pPr>
            <a:r>
              <a:rPr sz="750" b="0">
                <a:solidFill>
                  <a:srgbClr val="5C5C58"/>
                </a:solidFill>
                <a:latin typeface="Aptos"/>
              </a:rPr>
              <a:t>UBS disclosures + regulator findings</a:t>
            </a:r>
          </a:p>
        </p:txBody>
      </p:sp>
      <p:sp>
        <p:nvSpPr>
          <p:cNvPr id="28" name="Rectangle 27"/>
          <p:cNvSpPr/>
          <p:nvPr/>
        </p:nvSpPr>
        <p:spPr>
          <a:xfrm>
            <a:off x="4229100" y="4324350"/>
            <a:ext cx="3314700" cy="504825"/>
          </a:xfrm>
          <a:prstGeom prst="rect">
            <a:avLst/>
          </a:prstGeom>
          <a:solidFill>
            <a:srgbClr val="FFFFFF"/>
          </a:solidFill>
          <a:ln w="12700">
            <a:solidFill>
              <a:srgbClr val="D8D7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43400" y="4410075"/>
            <a:ext cx="952500" cy="161925"/>
          </a:xfrm>
          <a:prstGeom prst="rect">
            <a:avLst/>
          </a:prstGeom>
          <a:noFill/>
        </p:spPr>
        <p:txBody>
          <a:bodyPr wrap="square" lIns="0" rIns="0" tIns="0" bIns="0" anchor="t">
            <a:spAutoFit/>
          </a:bodyPr>
          <a:lstStyle/>
          <a:p>
            <a:pPr algn="l">
              <a:lnSpc>
                <a:spcPct val="118000"/>
              </a:lnSpc>
              <a:spcBef>
                <a:spcPts val="0"/>
              </a:spcBef>
              <a:spcAft>
                <a:spcPts val="0"/>
              </a:spcAft>
            </a:pPr>
            <a:r>
              <a:rPr sz="675" b="1">
                <a:solidFill>
                  <a:srgbClr val="B51E2B"/>
                </a:solidFill>
                <a:latin typeface="Aptos"/>
              </a:rPr>
              <a:t>ASSUMED</a:t>
            </a:r>
          </a:p>
        </p:txBody>
      </p:sp>
      <p:sp>
        <p:nvSpPr>
          <p:cNvPr id="30" name="TextBox 29"/>
          <p:cNvSpPr txBox="1"/>
          <p:nvPr/>
        </p:nvSpPr>
        <p:spPr>
          <a:xfrm>
            <a:off x="5295900" y="4391025"/>
            <a:ext cx="2114550" cy="323850"/>
          </a:xfrm>
          <a:prstGeom prst="rect">
            <a:avLst/>
          </a:prstGeom>
          <a:noFill/>
        </p:spPr>
        <p:txBody>
          <a:bodyPr wrap="square" lIns="0" rIns="0" tIns="0" bIns="0" anchor="t">
            <a:spAutoFit/>
          </a:bodyPr>
          <a:lstStyle/>
          <a:p>
            <a:pPr algn="l">
              <a:lnSpc>
                <a:spcPct val="115000"/>
              </a:lnSpc>
              <a:spcBef>
                <a:spcPts val="0"/>
              </a:spcBef>
              <a:spcAft>
                <a:spcPts val="0"/>
              </a:spcAft>
            </a:pPr>
            <a:r>
              <a:rPr sz="750" b="0">
                <a:solidFill>
                  <a:srgbClr val="5C5C58"/>
                </a:solidFill>
                <a:latin typeface="Aptos"/>
              </a:rPr>
              <a:t>Inputs explicitly labelled in the cash model</a:t>
            </a:r>
          </a:p>
        </p:txBody>
      </p:sp>
      <p:sp>
        <p:nvSpPr>
          <p:cNvPr id="31" name="Rectangle 30"/>
          <p:cNvSpPr/>
          <p:nvPr/>
        </p:nvSpPr>
        <p:spPr>
          <a:xfrm>
            <a:off x="7867649" y="4324350"/>
            <a:ext cx="3314700" cy="504825"/>
          </a:xfrm>
          <a:prstGeom prst="rect">
            <a:avLst/>
          </a:prstGeom>
          <a:solidFill>
            <a:srgbClr val="FFFFFF"/>
          </a:solidFill>
          <a:ln w="12700">
            <a:solidFill>
              <a:srgbClr val="D8D7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981949" y="4410075"/>
            <a:ext cx="952500" cy="161925"/>
          </a:xfrm>
          <a:prstGeom prst="rect">
            <a:avLst/>
          </a:prstGeom>
          <a:noFill/>
        </p:spPr>
        <p:txBody>
          <a:bodyPr wrap="square" lIns="0" rIns="0" tIns="0" bIns="0" anchor="t">
            <a:spAutoFit/>
          </a:bodyPr>
          <a:lstStyle/>
          <a:p>
            <a:pPr algn="l">
              <a:lnSpc>
                <a:spcPct val="118000"/>
              </a:lnSpc>
              <a:spcBef>
                <a:spcPts val="0"/>
              </a:spcBef>
              <a:spcAft>
                <a:spcPts val="0"/>
              </a:spcAft>
            </a:pPr>
            <a:r>
              <a:rPr sz="675" b="1">
                <a:solidFill>
                  <a:srgbClr val="B51E2B"/>
                </a:solidFill>
                <a:latin typeface="Aptos"/>
              </a:rPr>
              <a:t>STRESSED</a:t>
            </a:r>
          </a:p>
        </p:txBody>
      </p:sp>
      <p:sp>
        <p:nvSpPr>
          <p:cNvPr id="33" name="TextBox 32"/>
          <p:cNvSpPr txBox="1"/>
          <p:nvPr/>
        </p:nvSpPr>
        <p:spPr>
          <a:xfrm>
            <a:off x="8934450" y="4391025"/>
            <a:ext cx="2114550" cy="323850"/>
          </a:xfrm>
          <a:prstGeom prst="rect">
            <a:avLst/>
          </a:prstGeom>
          <a:noFill/>
        </p:spPr>
        <p:txBody>
          <a:bodyPr wrap="square" lIns="0" rIns="0" tIns="0" bIns="0" anchor="t">
            <a:spAutoFit/>
          </a:bodyPr>
          <a:lstStyle/>
          <a:p>
            <a:pPr algn="l">
              <a:lnSpc>
                <a:spcPct val="115000"/>
              </a:lnSpc>
              <a:spcBef>
                <a:spcPts val="0"/>
              </a:spcBef>
              <a:spcAft>
                <a:spcPts val="0"/>
              </a:spcAft>
            </a:pPr>
            <a:r>
              <a:rPr sz="750" b="0">
                <a:solidFill>
                  <a:srgbClr val="5C5C58"/>
                </a:solidFill>
                <a:latin typeface="Aptos"/>
              </a:rPr>
              <a:t>Sensitivity cases, never presented as historical outcomes</a:t>
            </a:r>
          </a:p>
        </p:txBody>
      </p:sp>
      <p:sp>
        <p:nvSpPr>
          <p:cNvPr id="34" name="TextBox 33"/>
          <p:cNvSpPr txBox="1"/>
          <p:nvPr/>
        </p:nvSpPr>
        <p:spPr>
          <a:xfrm>
            <a:off x="590550" y="5095875"/>
            <a:ext cx="10715625" cy="409575"/>
          </a:xfrm>
          <a:prstGeom prst="rect">
            <a:avLst/>
          </a:prstGeom>
          <a:noFill/>
        </p:spPr>
        <p:txBody>
          <a:bodyPr wrap="square" lIns="0" rIns="0" tIns="0" bIns="0" anchor="t">
            <a:spAutoFit/>
          </a:bodyPr>
          <a:lstStyle/>
          <a:p>
            <a:pPr algn="l">
              <a:lnSpc>
                <a:spcPct val="118000"/>
              </a:lnSpc>
              <a:spcBef>
                <a:spcPts val="0"/>
              </a:spcBef>
              <a:spcAft>
                <a:spcPts val="0"/>
              </a:spcAft>
            </a:pPr>
            <a:r>
              <a:rPr sz="900" b="1">
                <a:solidFill>
                  <a:srgbClr val="171717"/>
                </a:solidFill>
                <a:latin typeface="Aptos"/>
              </a:rPr>
              <a:t>Three parts: (I) incident and cash transmission  ·  (II) cash bridge and funding need  ·  (III) residual risks and CFO actions.</a:t>
            </a:r>
          </a:p>
        </p:txBody>
      </p:sp>
      <p:sp>
        <p:nvSpPr>
          <p:cNvPr id="35" name="TextBox 34"/>
          <p:cNvSpPr txBox="1"/>
          <p:nvPr/>
        </p:nvSpPr>
        <p:spPr>
          <a:xfrm>
            <a:off x="590550" y="5695950"/>
            <a:ext cx="10715625" cy="333375"/>
          </a:xfrm>
          <a:prstGeom prst="rect">
            <a:avLst/>
          </a:prstGeom>
          <a:noFill/>
        </p:spPr>
        <p:txBody>
          <a:bodyPr wrap="square" lIns="0" rIns="0" tIns="0" bIns="0" anchor="t">
            <a:spAutoFit/>
          </a:bodyPr>
          <a:lstStyle/>
          <a:p>
            <a:pPr algn="l">
              <a:lnSpc>
                <a:spcPct val="118000"/>
              </a:lnSpc>
              <a:spcBef>
                <a:spcPts val="0"/>
              </a:spcBef>
              <a:spcAft>
                <a:spcPts val="0"/>
              </a:spcAft>
            </a:pPr>
            <a:r>
              <a:rPr sz="825" b="0">
                <a:solidFill>
                  <a:srgbClr val="5C5C58"/>
                </a:solidFill>
                <a:latin typeface="Aptos"/>
              </a:rPr>
              <a:t>Subsequent disclosures explain the outcome; they are not treated as information Treasury had on 14 September.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2000" cy="6858000"/>
          </a:xfrm>
          <a:prstGeom prst="rect">
            <a:avLst/>
          </a:prstGeom>
          <a:solidFill>
            <a:srgbClr val="FFFFF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38100"/>
          </a:xfrm>
          <a:prstGeom prst="rect">
            <a:avLst/>
          </a:prstGeom>
          <a:solidFill>
            <a:srgbClr val="E3000B"/>
          </a:solidFill>
          <a:ln w="12700">
            <a:solidFill>
              <a:srgbClr val="E30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ubs-logo.png"/>
          <p:cNvPicPr>
            <a:picLocks noChangeAspect="1"/>
          </p:cNvPicPr>
          <p:nvPr/>
        </p:nvPicPr>
        <p:blipFill>
          <a:blip r:embed="rId2"/>
          <a:stretch>
            <a:fillRect/>
          </a:stretch>
        </p:blipFill>
        <p:spPr>
          <a:xfrm>
            <a:off x="408461" y="123824"/>
            <a:ext cx="1240476" cy="438150"/>
          </a:xfrm>
          <a:prstGeom prst="rect">
            <a:avLst/>
          </a:prstGeom>
        </p:spPr>
      </p:pic>
      <p:pic>
        <p:nvPicPr>
          <p:cNvPr id="5" name="Picture 4" descr="skema-logo.png"/>
          <p:cNvPicPr>
            <a:picLocks noChangeAspect="1"/>
          </p:cNvPicPr>
          <p:nvPr/>
        </p:nvPicPr>
        <p:blipFill>
          <a:blip r:embed="rId3"/>
          <a:stretch>
            <a:fillRect/>
          </a:stretch>
        </p:blipFill>
        <p:spPr>
          <a:xfrm>
            <a:off x="11344275" y="114375"/>
            <a:ext cx="400050" cy="418949"/>
          </a:xfrm>
          <a:prstGeom prst="rect">
            <a:avLst/>
          </a:prstGeom>
        </p:spPr>
      </p:pic>
      <p:sp>
        <p:nvSpPr>
          <p:cNvPr id="6" name="TextBox 5"/>
          <p:cNvSpPr txBox="1"/>
          <p:nvPr/>
        </p:nvSpPr>
        <p:spPr>
          <a:xfrm>
            <a:off x="1952624" y="247649"/>
            <a:ext cx="8096249" cy="20955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B51E2B"/>
                </a:solidFill>
                <a:latin typeface="Aptos"/>
              </a:rPr>
              <a:t>PART I · 1.1 BUSINESS MODEL &amp; CASH CYCLE</a:t>
            </a:r>
          </a:p>
        </p:txBody>
      </p:sp>
      <p:sp>
        <p:nvSpPr>
          <p:cNvPr id="7" name="TextBox 6"/>
          <p:cNvSpPr txBox="1"/>
          <p:nvPr/>
        </p:nvSpPr>
        <p:spPr>
          <a:xfrm>
            <a:off x="419100" y="742950"/>
            <a:ext cx="11353800" cy="400050"/>
          </a:xfrm>
          <a:prstGeom prst="rect">
            <a:avLst/>
          </a:prstGeom>
          <a:noFill/>
        </p:spPr>
        <p:txBody>
          <a:bodyPr wrap="square" lIns="0" rIns="0" tIns="0" bIns="0" anchor="t">
            <a:spAutoFit/>
          </a:bodyPr>
          <a:lstStyle/>
          <a:p>
            <a:pPr algn="l">
              <a:lnSpc>
                <a:spcPct val="118000"/>
              </a:lnSpc>
              <a:spcBef>
                <a:spcPts val="0"/>
              </a:spcBef>
              <a:spcAft>
                <a:spcPts val="0"/>
              </a:spcAft>
            </a:pPr>
            <a:r>
              <a:rPr sz="2025" b="1">
                <a:solidFill>
                  <a:srgbClr val="171717"/>
                </a:solidFill>
                <a:latin typeface="Aptos"/>
              </a:rPr>
              <a:t>UBS’s bank cash cycle is governed by timing, currency and location</a:t>
            </a:r>
          </a:p>
        </p:txBody>
      </p:sp>
      <p:cxnSp>
        <p:nvCxnSpPr>
          <p:cNvPr id="8" name="Connector 7"/>
          <p:cNvCxnSpPr/>
          <p:nvPr/>
        </p:nvCxnSpPr>
        <p:spPr>
          <a:xfrm>
            <a:off x="419100" y="1247775"/>
            <a:ext cx="11353800" cy="0"/>
          </a:xfrm>
          <a:prstGeom prst="line">
            <a:avLst/>
          </a:prstGeom>
          <a:ln w="12700">
            <a:solidFill>
              <a:srgbClr val="D8D7D2"/>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9100" y="6457950"/>
            <a:ext cx="11353800" cy="0"/>
          </a:xfrm>
          <a:prstGeom prst="line">
            <a:avLst/>
          </a:prstGeom>
          <a:ln w="12700">
            <a:solidFill>
              <a:srgbClr val="D8D7D2"/>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19100" y="6534150"/>
            <a:ext cx="7715250" cy="171450"/>
          </a:xfrm>
          <a:prstGeom prst="rect">
            <a:avLst/>
          </a:prstGeom>
          <a:noFill/>
        </p:spPr>
        <p:txBody>
          <a:bodyPr wrap="square" lIns="0" rIns="0" tIns="0" bIns="0" anchor="t">
            <a:spAutoFit/>
          </a:bodyPr>
          <a:lstStyle/>
          <a:p>
            <a:pPr algn="l">
              <a:lnSpc>
                <a:spcPct val="118000"/>
              </a:lnSpc>
              <a:spcBef>
                <a:spcPts val="0"/>
              </a:spcBef>
              <a:spcAft>
                <a:spcPts val="0"/>
              </a:spcAft>
            </a:pPr>
            <a:r>
              <a:rPr sz="600" b="0">
                <a:solidFill>
                  <a:srgbClr val="5C5C58"/>
                </a:solidFill>
                <a:latin typeface="Aptos"/>
              </a:rPr>
              <a:t>Simplified 2011 bank cash-cycle exhibit. Liquidity resources must be available when and where due.</a:t>
            </a:r>
          </a:p>
        </p:txBody>
      </p:sp>
      <p:sp>
        <p:nvSpPr>
          <p:cNvPr id="11" name="TextBox 10"/>
          <p:cNvSpPr txBox="1"/>
          <p:nvPr/>
        </p:nvSpPr>
        <p:spPr>
          <a:xfrm>
            <a:off x="8858250" y="6515100"/>
            <a:ext cx="2905125" cy="190500"/>
          </a:xfrm>
          <a:prstGeom prst="rect">
            <a:avLst/>
          </a:prstGeom>
          <a:noFill/>
        </p:spPr>
        <p:txBody>
          <a:bodyPr wrap="square" lIns="0" rIns="0" tIns="0" bIns="0" anchor="t">
            <a:spAutoFit/>
          </a:bodyPr>
          <a:lstStyle/>
          <a:p>
            <a:pPr algn="r">
              <a:lnSpc>
                <a:spcPct val="118000"/>
              </a:lnSpc>
              <a:spcBef>
                <a:spcPts val="0"/>
              </a:spcBef>
              <a:spcAft>
                <a:spcPts val="0"/>
              </a:spcAft>
            </a:pPr>
            <a:r>
              <a:rPr sz="675" b="1">
                <a:solidFill>
                  <a:srgbClr val="B51E2B"/>
                </a:solidFill>
                <a:latin typeface="Aptos"/>
              </a:rPr>
              <a:t>CALVIN  /  03</a:t>
            </a:r>
          </a:p>
        </p:txBody>
      </p:sp>
      <p:sp>
        <p:nvSpPr>
          <p:cNvPr id="12" name="TextBox 11"/>
          <p:cNvSpPr txBox="1"/>
          <p:nvPr/>
        </p:nvSpPr>
        <p:spPr>
          <a:xfrm>
            <a:off x="552450" y="1381125"/>
            <a:ext cx="10477500" cy="219075"/>
          </a:xfrm>
          <a:prstGeom prst="rect">
            <a:avLst/>
          </a:prstGeom>
          <a:noFill/>
        </p:spPr>
        <p:txBody>
          <a:bodyPr wrap="square" lIns="0" rIns="0" tIns="0" bIns="0" anchor="t">
            <a:spAutoFit/>
          </a:bodyPr>
          <a:lstStyle/>
          <a:p>
            <a:pPr algn="l">
              <a:lnSpc>
                <a:spcPct val="118000"/>
              </a:lnSpc>
              <a:spcBef>
                <a:spcPts val="0"/>
              </a:spcBef>
              <a:spcAft>
                <a:spcPts val="0"/>
              </a:spcAft>
            </a:pPr>
            <a:r>
              <a:rPr sz="900" b="1">
                <a:solidFill>
                  <a:srgbClr val="B51E2B"/>
                </a:solidFill>
                <a:latin typeface="Aptos"/>
              </a:rPr>
              <a:t>2011 GROUP CONTEXT  Wealth management  ·  Swiss banking  ·  Asset management  ·  Investment Bank</a:t>
            </a:r>
          </a:p>
        </p:txBody>
      </p:sp>
      <p:sp>
        <p:nvSpPr>
          <p:cNvPr id="13" name="Rectangle 12"/>
          <p:cNvSpPr/>
          <p:nvPr/>
        </p:nvSpPr>
        <p:spPr>
          <a:xfrm>
            <a:off x="552450" y="1714500"/>
            <a:ext cx="11049000" cy="781050"/>
          </a:xfrm>
          <a:prstGeom prst="rect">
            <a:avLst/>
          </a:prstGeom>
          <a:solidFill>
            <a:srgbClr val="F8F8F6"/>
          </a:solidFill>
          <a:ln w="12700">
            <a:solidFill>
              <a:srgbClr val="D8D7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2950" y="1847850"/>
            <a:ext cx="2476500" cy="17145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B51E2B"/>
                </a:solidFill>
                <a:latin typeface="Aptos"/>
              </a:rPr>
              <a:t>CASE PERIMETER</a:t>
            </a:r>
          </a:p>
        </p:txBody>
      </p:sp>
      <p:sp>
        <p:nvSpPr>
          <p:cNvPr id="15" name="TextBox 14"/>
          <p:cNvSpPr txBox="1"/>
          <p:nvPr/>
        </p:nvSpPr>
        <p:spPr>
          <a:xfrm>
            <a:off x="742950" y="2085975"/>
            <a:ext cx="8096249" cy="266700"/>
          </a:xfrm>
          <a:prstGeom prst="rect">
            <a:avLst/>
          </a:prstGeom>
          <a:noFill/>
        </p:spPr>
        <p:txBody>
          <a:bodyPr wrap="square" lIns="0" rIns="0" tIns="0" bIns="0" anchor="t">
            <a:spAutoFit/>
          </a:bodyPr>
          <a:lstStyle/>
          <a:p>
            <a:pPr algn="l">
              <a:lnSpc>
                <a:spcPct val="118000"/>
              </a:lnSpc>
              <a:spcBef>
                <a:spcPts val="0"/>
              </a:spcBef>
              <a:spcAft>
                <a:spcPts val="0"/>
              </a:spcAft>
            </a:pPr>
            <a:r>
              <a:rPr sz="1050" b="1">
                <a:solidFill>
                  <a:srgbClr val="171717"/>
                </a:solidFill>
                <a:latin typeface="Aptos"/>
              </a:rPr>
              <a:t>Kweku Adoboli was a trader on UBS Investment Bank’s London ETF Desk.</a:t>
            </a:r>
          </a:p>
        </p:txBody>
      </p:sp>
      <p:pic>
        <p:nvPicPr>
          <p:cNvPr id="16" name="Picture 15" descr="uk-map-schematic.png"/>
          <p:cNvPicPr>
            <a:picLocks noChangeAspect="1"/>
          </p:cNvPicPr>
          <p:nvPr/>
        </p:nvPicPr>
        <p:blipFill>
          <a:blip r:embed="rId4"/>
          <a:stretch>
            <a:fillRect/>
          </a:stretch>
        </p:blipFill>
        <p:spPr>
          <a:xfrm>
            <a:off x="10006012" y="1724025"/>
            <a:ext cx="1333500" cy="666750"/>
          </a:xfrm>
          <a:prstGeom prst="rect">
            <a:avLst/>
          </a:prstGeom>
        </p:spPr>
      </p:pic>
      <p:sp>
        <p:nvSpPr>
          <p:cNvPr id="17" name="Rectangle 16"/>
          <p:cNvSpPr/>
          <p:nvPr/>
        </p:nvSpPr>
        <p:spPr>
          <a:xfrm>
            <a:off x="552450" y="2752725"/>
            <a:ext cx="5219700" cy="1400175"/>
          </a:xfrm>
          <a:prstGeom prst="rect">
            <a:avLst/>
          </a:prstGeom>
          <a:solidFill>
            <a:srgbClr val="F6F8F5"/>
          </a:solidFill>
          <a:ln w="12700">
            <a:solidFill>
              <a:srgbClr val="CCD8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2950" y="2905125"/>
            <a:ext cx="4667250" cy="190500"/>
          </a:xfrm>
          <a:prstGeom prst="rect">
            <a:avLst/>
          </a:prstGeom>
          <a:noFill/>
        </p:spPr>
        <p:txBody>
          <a:bodyPr wrap="square" lIns="0" rIns="0" tIns="0" bIns="0" anchor="t">
            <a:spAutoFit/>
          </a:bodyPr>
          <a:lstStyle/>
          <a:p>
            <a:pPr algn="l">
              <a:lnSpc>
                <a:spcPct val="118000"/>
              </a:lnSpc>
              <a:spcBef>
                <a:spcPts val="0"/>
              </a:spcBef>
              <a:spcAft>
                <a:spcPts val="0"/>
              </a:spcAft>
            </a:pPr>
            <a:r>
              <a:rPr sz="825" b="1">
                <a:solidFill>
                  <a:srgbClr val="4C826C"/>
                </a:solidFill>
                <a:latin typeface="Aptos"/>
              </a:rPr>
              <a:t>RECEIPTS  /  CASH IN</a:t>
            </a:r>
          </a:p>
        </p:txBody>
      </p:sp>
      <p:sp>
        <p:nvSpPr>
          <p:cNvPr id="19" name="TextBox 18"/>
          <p:cNvSpPr txBox="1"/>
          <p:nvPr/>
        </p:nvSpPr>
        <p:spPr>
          <a:xfrm>
            <a:off x="742950" y="3219450"/>
            <a:ext cx="4714875" cy="752475"/>
          </a:xfrm>
          <a:prstGeom prst="rect">
            <a:avLst/>
          </a:prstGeom>
          <a:noFill/>
        </p:spPr>
        <p:txBody>
          <a:bodyPr wrap="square" lIns="0" rIns="0" tIns="0" bIns="0" anchor="t">
            <a:spAutoFit/>
          </a:bodyPr>
          <a:lstStyle/>
          <a:p>
            <a:pPr algn="l">
              <a:lnSpc>
                <a:spcPct val="140000"/>
              </a:lnSpc>
              <a:spcBef>
                <a:spcPts val="0"/>
              </a:spcBef>
              <a:spcAft>
                <a:spcPts val="0"/>
              </a:spcAft>
            </a:pPr>
            <a:r>
              <a:rPr sz="975" b="0">
                <a:solidFill>
                  <a:srgbClr val="171717"/>
                </a:solidFill>
                <a:latin typeface="Aptos"/>
              </a:rPr>
              <a:t>Customer deposits · loan repayments · fees</a:t>
            </a:r>
          </a:p>
          <a:p>
            <a:pPr algn="l">
              <a:lnSpc>
                <a:spcPct val="140000"/>
              </a:lnSpc>
              <a:spcBef>
                <a:spcPts val="0"/>
              </a:spcBef>
              <a:spcAft>
                <a:spcPts val="0"/>
              </a:spcAft>
            </a:pPr>
            <a:r>
              <a:rPr sz="975" b="0">
                <a:solidFill>
                  <a:srgbClr val="171717"/>
                </a:solidFill>
                <a:latin typeface="Aptos"/>
              </a:rPr>
              <a:t>Trading settlements due to UBS · funding proceeds</a:t>
            </a:r>
          </a:p>
        </p:txBody>
      </p:sp>
      <p:sp>
        <p:nvSpPr>
          <p:cNvPr id="20" name="Rectangle 19"/>
          <p:cNvSpPr/>
          <p:nvPr/>
        </p:nvSpPr>
        <p:spPr>
          <a:xfrm>
            <a:off x="6057900" y="2752725"/>
            <a:ext cx="5543550" cy="1400175"/>
          </a:xfrm>
          <a:prstGeom prst="rect">
            <a:avLst/>
          </a:prstGeom>
          <a:solidFill>
            <a:srgbClr val="FAF4F4"/>
          </a:solidFill>
          <a:ln w="12700">
            <a:solidFill>
              <a:srgbClr val="E5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48400" y="2905125"/>
            <a:ext cx="4953000" cy="190500"/>
          </a:xfrm>
          <a:prstGeom prst="rect">
            <a:avLst/>
          </a:prstGeom>
          <a:noFill/>
        </p:spPr>
        <p:txBody>
          <a:bodyPr wrap="square" lIns="0" rIns="0" tIns="0" bIns="0" anchor="t">
            <a:spAutoFit/>
          </a:bodyPr>
          <a:lstStyle/>
          <a:p>
            <a:pPr algn="l">
              <a:lnSpc>
                <a:spcPct val="118000"/>
              </a:lnSpc>
              <a:spcBef>
                <a:spcPts val="0"/>
              </a:spcBef>
              <a:spcAft>
                <a:spcPts val="0"/>
              </a:spcAft>
            </a:pPr>
            <a:r>
              <a:rPr sz="825" b="1">
                <a:solidFill>
                  <a:srgbClr val="E3000B"/>
                </a:solidFill>
                <a:latin typeface="Aptos"/>
              </a:rPr>
              <a:t>PAYMENTS  /  CASH OUT</a:t>
            </a:r>
          </a:p>
        </p:txBody>
      </p:sp>
      <p:sp>
        <p:nvSpPr>
          <p:cNvPr id="22" name="TextBox 21"/>
          <p:cNvSpPr txBox="1"/>
          <p:nvPr/>
        </p:nvSpPr>
        <p:spPr>
          <a:xfrm>
            <a:off x="6248400" y="3219450"/>
            <a:ext cx="4953000" cy="752475"/>
          </a:xfrm>
          <a:prstGeom prst="rect">
            <a:avLst/>
          </a:prstGeom>
          <a:noFill/>
        </p:spPr>
        <p:txBody>
          <a:bodyPr wrap="square" lIns="0" rIns="0" tIns="0" bIns="0" anchor="t">
            <a:spAutoFit/>
          </a:bodyPr>
          <a:lstStyle/>
          <a:p>
            <a:pPr algn="l">
              <a:lnSpc>
                <a:spcPct val="140000"/>
              </a:lnSpc>
              <a:spcBef>
                <a:spcPts val="0"/>
              </a:spcBef>
              <a:spcAft>
                <a:spcPts val="0"/>
              </a:spcAft>
            </a:pPr>
            <a:r>
              <a:rPr sz="975" b="0">
                <a:solidFill>
                  <a:srgbClr val="171717"/>
                </a:solidFill>
                <a:latin typeface="Aptos"/>
              </a:rPr>
              <a:t>Withdrawals · lending commitments · trade settlements</a:t>
            </a:r>
          </a:p>
          <a:p>
            <a:pPr algn="l">
              <a:lnSpc>
                <a:spcPct val="140000"/>
              </a:lnSpc>
              <a:spcBef>
                <a:spcPts val="0"/>
              </a:spcBef>
              <a:spcAft>
                <a:spcPts val="0"/>
              </a:spcAft>
            </a:pPr>
            <a:r>
              <a:rPr sz="975" b="0">
                <a:solidFill>
                  <a:srgbClr val="171717"/>
                </a:solidFill>
                <a:latin typeface="Aptos"/>
              </a:rPr>
              <a:t>Collateral · debt maturities · payroll and suppliers</a:t>
            </a:r>
          </a:p>
        </p:txBody>
      </p:sp>
      <p:sp>
        <p:nvSpPr>
          <p:cNvPr id="23" name="Rectangle 22"/>
          <p:cNvSpPr/>
          <p:nvPr/>
        </p:nvSpPr>
        <p:spPr>
          <a:xfrm>
            <a:off x="552450" y="4467225"/>
            <a:ext cx="11049000" cy="981075"/>
          </a:xfrm>
          <a:prstGeom prst="rect">
            <a:avLst/>
          </a:prstGeom>
          <a:solidFill>
            <a:srgbClr val="F2F1ED"/>
          </a:solidFill>
          <a:ln w="12700">
            <a:solidFill>
              <a:srgbClr val="D8D7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2950" y="4629150"/>
            <a:ext cx="2381250" cy="17145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B51E2B"/>
                </a:solidFill>
                <a:latin typeface="Aptos"/>
              </a:rPr>
              <a:t>LIQUIDITY ≠ PROFITABILITY ≠ CAPITAL</a:t>
            </a:r>
          </a:p>
        </p:txBody>
      </p:sp>
      <p:sp>
        <p:nvSpPr>
          <p:cNvPr id="25" name="TextBox 24"/>
          <p:cNvSpPr txBox="1"/>
          <p:nvPr/>
        </p:nvSpPr>
        <p:spPr>
          <a:xfrm>
            <a:off x="742950" y="4895850"/>
            <a:ext cx="10572750" cy="409575"/>
          </a:xfrm>
          <a:prstGeom prst="rect">
            <a:avLst/>
          </a:prstGeom>
          <a:noFill/>
        </p:spPr>
        <p:txBody>
          <a:bodyPr wrap="square" lIns="0" rIns="0" tIns="0" bIns="0" anchor="t">
            <a:spAutoFit/>
          </a:bodyPr>
          <a:lstStyle/>
          <a:p>
            <a:pPr algn="l">
              <a:lnSpc>
                <a:spcPct val="125000"/>
              </a:lnSpc>
              <a:spcBef>
                <a:spcPts val="0"/>
              </a:spcBef>
              <a:spcAft>
                <a:spcPts val="0"/>
              </a:spcAft>
            </a:pPr>
            <a:r>
              <a:rPr sz="975" b="0">
                <a:solidFill>
                  <a:srgbClr val="171717"/>
                </a:solidFill>
                <a:latin typeface="Aptos"/>
              </a:rPr>
              <a:t>Liquidity is cash and assets realistically monetisable within the required time. Group cash may be trapped by legal entity, currency, collateral eligibility or transfer delay.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2000" cy="6858000"/>
          </a:xfrm>
          <a:prstGeom prst="rect">
            <a:avLst/>
          </a:prstGeom>
          <a:solidFill>
            <a:srgbClr val="FFFFF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38100"/>
          </a:xfrm>
          <a:prstGeom prst="rect">
            <a:avLst/>
          </a:prstGeom>
          <a:solidFill>
            <a:srgbClr val="E3000B"/>
          </a:solidFill>
          <a:ln w="12700">
            <a:solidFill>
              <a:srgbClr val="E30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ubs-logo.png"/>
          <p:cNvPicPr>
            <a:picLocks noChangeAspect="1"/>
          </p:cNvPicPr>
          <p:nvPr/>
        </p:nvPicPr>
        <p:blipFill>
          <a:blip r:embed="rId2"/>
          <a:stretch>
            <a:fillRect/>
          </a:stretch>
        </p:blipFill>
        <p:spPr>
          <a:xfrm>
            <a:off x="408461" y="123824"/>
            <a:ext cx="1240476" cy="438150"/>
          </a:xfrm>
          <a:prstGeom prst="rect">
            <a:avLst/>
          </a:prstGeom>
        </p:spPr>
      </p:pic>
      <p:pic>
        <p:nvPicPr>
          <p:cNvPr id="5" name="Picture 4" descr="skema-logo.png"/>
          <p:cNvPicPr>
            <a:picLocks noChangeAspect="1"/>
          </p:cNvPicPr>
          <p:nvPr/>
        </p:nvPicPr>
        <p:blipFill>
          <a:blip r:embed="rId3"/>
          <a:stretch>
            <a:fillRect/>
          </a:stretch>
        </p:blipFill>
        <p:spPr>
          <a:xfrm>
            <a:off x="11344275" y="114375"/>
            <a:ext cx="400050" cy="418949"/>
          </a:xfrm>
          <a:prstGeom prst="rect">
            <a:avLst/>
          </a:prstGeom>
        </p:spPr>
      </p:pic>
      <p:sp>
        <p:nvSpPr>
          <p:cNvPr id="6" name="TextBox 5"/>
          <p:cNvSpPr txBox="1"/>
          <p:nvPr/>
        </p:nvSpPr>
        <p:spPr>
          <a:xfrm>
            <a:off x="1952624" y="247649"/>
            <a:ext cx="8096249" cy="20955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B51E2B"/>
                </a:solidFill>
                <a:latin typeface="Aptos"/>
              </a:rPr>
              <a:t>PART I · 1.2 CHRONOLOGY &amp; CONCEALMENT</a:t>
            </a:r>
          </a:p>
        </p:txBody>
      </p:sp>
      <p:sp>
        <p:nvSpPr>
          <p:cNvPr id="7" name="TextBox 6"/>
          <p:cNvSpPr txBox="1"/>
          <p:nvPr/>
        </p:nvSpPr>
        <p:spPr>
          <a:xfrm>
            <a:off x="419100" y="742950"/>
            <a:ext cx="11353800" cy="400050"/>
          </a:xfrm>
          <a:prstGeom prst="rect">
            <a:avLst/>
          </a:prstGeom>
          <a:noFill/>
        </p:spPr>
        <p:txBody>
          <a:bodyPr wrap="square" lIns="0" rIns="0" tIns="0" bIns="0" anchor="t">
            <a:spAutoFit/>
          </a:bodyPr>
          <a:lstStyle/>
          <a:p>
            <a:pPr algn="l">
              <a:lnSpc>
                <a:spcPct val="118000"/>
              </a:lnSpc>
              <a:spcBef>
                <a:spcPts val="0"/>
              </a:spcBef>
              <a:spcAft>
                <a:spcPts val="0"/>
              </a:spcAft>
            </a:pPr>
            <a:r>
              <a:rPr sz="2025" b="1">
                <a:solidFill>
                  <a:srgbClr val="171717"/>
                </a:solidFill>
                <a:latin typeface="Aptos"/>
              </a:rPr>
              <a:t>Real futures exposure was hidden by fictitious offsetting records</a:t>
            </a:r>
          </a:p>
        </p:txBody>
      </p:sp>
      <p:cxnSp>
        <p:nvCxnSpPr>
          <p:cNvPr id="8" name="Connector 7"/>
          <p:cNvCxnSpPr/>
          <p:nvPr/>
        </p:nvCxnSpPr>
        <p:spPr>
          <a:xfrm>
            <a:off x="419100" y="1247775"/>
            <a:ext cx="11353800" cy="0"/>
          </a:xfrm>
          <a:prstGeom prst="line">
            <a:avLst/>
          </a:prstGeom>
          <a:ln w="12700">
            <a:solidFill>
              <a:srgbClr val="D8D7D2"/>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9100" y="6457950"/>
            <a:ext cx="11353800" cy="0"/>
          </a:xfrm>
          <a:prstGeom prst="line">
            <a:avLst/>
          </a:prstGeom>
          <a:ln w="12700">
            <a:solidFill>
              <a:srgbClr val="D8D7D2"/>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19100" y="6534150"/>
            <a:ext cx="7715250" cy="171450"/>
          </a:xfrm>
          <a:prstGeom prst="rect">
            <a:avLst/>
          </a:prstGeom>
          <a:noFill/>
        </p:spPr>
        <p:txBody>
          <a:bodyPr wrap="square" lIns="0" rIns="0" tIns="0" bIns="0" anchor="t">
            <a:spAutoFit/>
          </a:bodyPr>
          <a:lstStyle/>
          <a:p>
            <a:pPr algn="l">
              <a:lnSpc>
                <a:spcPct val="118000"/>
              </a:lnSpc>
              <a:spcBef>
                <a:spcPts val="0"/>
              </a:spcBef>
              <a:spcAft>
                <a:spcPts val="0"/>
              </a:spcAft>
            </a:pPr>
            <a:r>
              <a:rPr sz="600" b="0">
                <a:solidFill>
                  <a:srgbClr val="5C5C58"/>
                </a:solidFill>
                <a:latin typeface="Aptos"/>
              </a:rPr>
              <a:t>Sources: [1] FINMA §§11–18; [2] FSA §§23–25; [3] UBS Supplement No. 2; [4] UBS Q3 2011.</a:t>
            </a:r>
          </a:p>
        </p:txBody>
      </p:sp>
      <p:sp>
        <p:nvSpPr>
          <p:cNvPr id="11" name="TextBox 10"/>
          <p:cNvSpPr txBox="1"/>
          <p:nvPr/>
        </p:nvSpPr>
        <p:spPr>
          <a:xfrm>
            <a:off x="8858250" y="6515100"/>
            <a:ext cx="2905125" cy="190500"/>
          </a:xfrm>
          <a:prstGeom prst="rect">
            <a:avLst/>
          </a:prstGeom>
          <a:noFill/>
        </p:spPr>
        <p:txBody>
          <a:bodyPr wrap="square" lIns="0" rIns="0" tIns="0" bIns="0" anchor="t">
            <a:spAutoFit/>
          </a:bodyPr>
          <a:lstStyle/>
          <a:p>
            <a:pPr algn="r">
              <a:lnSpc>
                <a:spcPct val="118000"/>
              </a:lnSpc>
              <a:spcBef>
                <a:spcPts val="0"/>
              </a:spcBef>
              <a:spcAft>
                <a:spcPts val="0"/>
              </a:spcAft>
            </a:pPr>
            <a:r>
              <a:rPr sz="675" b="1">
                <a:solidFill>
                  <a:srgbClr val="B51E2B"/>
                </a:solidFill>
                <a:latin typeface="Aptos"/>
              </a:rPr>
              <a:t>CALVIN  /  04</a:t>
            </a:r>
          </a:p>
        </p:txBody>
      </p:sp>
      <p:cxnSp>
        <p:nvCxnSpPr>
          <p:cNvPr id="12" name="Connector 11"/>
          <p:cNvCxnSpPr/>
          <p:nvPr/>
        </p:nvCxnSpPr>
        <p:spPr>
          <a:xfrm>
            <a:off x="809625" y="1752600"/>
            <a:ext cx="7429499" cy="0"/>
          </a:xfrm>
          <a:prstGeom prst="line">
            <a:avLst/>
          </a:prstGeom>
          <a:ln w="25400">
            <a:solidFill>
              <a:srgbClr val="D8D7D2"/>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838200" y="1685925"/>
            <a:ext cx="133350" cy="133350"/>
          </a:xfrm>
          <a:prstGeom prst="ellipse">
            <a:avLst/>
          </a:prstGeom>
          <a:solidFill>
            <a:srgbClr val="E3000B"/>
          </a:solidFill>
          <a:ln w="12700">
            <a:solidFill>
              <a:srgbClr val="E30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4375" y="1438275"/>
            <a:ext cx="1428750" cy="17145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B51E2B"/>
                </a:solidFill>
                <a:latin typeface="Aptos"/>
              </a:rPr>
              <a:t>14 SEP</a:t>
            </a:r>
          </a:p>
        </p:txBody>
      </p:sp>
      <p:sp>
        <p:nvSpPr>
          <p:cNvPr id="15" name="TextBox 14"/>
          <p:cNvSpPr txBox="1"/>
          <p:nvPr/>
        </p:nvSpPr>
        <p:spPr>
          <a:xfrm>
            <a:off x="714375" y="1943100"/>
            <a:ext cx="1619250" cy="447675"/>
          </a:xfrm>
          <a:prstGeom prst="rect">
            <a:avLst/>
          </a:prstGeom>
          <a:noFill/>
        </p:spPr>
        <p:txBody>
          <a:bodyPr wrap="square" lIns="0" rIns="0" tIns="0" bIns="0" anchor="t">
            <a:spAutoFit/>
          </a:bodyPr>
          <a:lstStyle/>
          <a:p>
            <a:pPr algn="l">
              <a:lnSpc>
                <a:spcPct val="120000"/>
              </a:lnSpc>
              <a:spcBef>
                <a:spcPts val="0"/>
              </a:spcBef>
              <a:spcAft>
                <a:spcPts val="0"/>
              </a:spcAft>
            </a:pPr>
            <a:r>
              <a:rPr sz="825" b="0">
                <a:solidFill>
                  <a:srgbClr val="171717"/>
                </a:solidFill>
                <a:latin typeface="Aptos"/>
              </a:rPr>
              <a:t>UBS discovers Adoboli’s</a:t>
            </a:r>
          </a:p>
          <a:p>
            <a:pPr algn="l">
              <a:lnSpc>
                <a:spcPct val="120000"/>
              </a:lnSpc>
              <a:spcBef>
                <a:spcPts val="0"/>
              </a:spcBef>
              <a:spcAft>
                <a:spcPts val="0"/>
              </a:spcAft>
            </a:pPr>
            <a:r>
              <a:rPr sz="825" b="0">
                <a:solidFill>
                  <a:srgbClr val="171717"/>
                </a:solidFill>
                <a:latin typeface="Aptos"/>
              </a:rPr>
              <a:t>unauthorised futures positions</a:t>
            </a:r>
          </a:p>
        </p:txBody>
      </p:sp>
      <p:sp>
        <p:nvSpPr>
          <p:cNvPr id="16" name="Oval 15"/>
          <p:cNvSpPr/>
          <p:nvPr/>
        </p:nvSpPr>
        <p:spPr>
          <a:xfrm>
            <a:off x="2695575" y="1685925"/>
            <a:ext cx="133350" cy="133350"/>
          </a:xfrm>
          <a:prstGeom prst="ellipse">
            <a:avLst/>
          </a:prstGeom>
          <a:solidFill>
            <a:srgbClr val="E3000B"/>
          </a:solidFill>
          <a:ln w="12700">
            <a:solidFill>
              <a:srgbClr val="E30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71750" y="1438275"/>
            <a:ext cx="1428750" cy="17145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B51E2B"/>
                </a:solidFill>
                <a:latin typeface="Aptos"/>
              </a:rPr>
              <a:t>15 SEP</a:t>
            </a:r>
          </a:p>
        </p:txBody>
      </p:sp>
      <p:sp>
        <p:nvSpPr>
          <p:cNvPr id="18" name="TextBox 17"/>
          <p:cNvSpPr txBox="1"/>
          <p:nvPr/>
        </p:nvSpPr>
        <p:spPr>
          <a:xfrm>
            <a:off x="2571750" y="1943100"/>
            <a:ext cx="1619250" cy="447675"/>
          </a:xfrm>
          <a:prstGeom prst="rect">
            <a:avLst/>
          </a:prstGeom>
          <a:noFill/>
        </p:spPr>
        <p:txBody>
          <a:bodyPr wrap="square" lIns="0" rIns="0" tIns="0" bIns="0" anchor="t">
            <a:spAutoFit/>
          </a:bodyPr>
          <a:lstStyle/>
          <a:p>
            <a:pPr algn="l">
              <a:lnSpc>
                <a:spcPct val="120000"/>
              </a:lnSpc>
              <a:spcBef>
                <a:spcPts val="0"/>
              </a:spcBef>
              <a:spcAft>
                <a:spcPts val="0"/>
              </a:spcAft>
            </a:pPr>
            <a:r>
              <a:rPr sz="825" b="0">
                <a:solidFill>
                  <a:srgbClr val="171717"/>
                </a:solidFill>
                <a:latin typeface="Aptos"/>
              </a:rPr>
              <a:t>Initial loss estimate</a:t>
            </a:r>
          </a:p>
          <a:p>
            <a:pPr algn="l">
              <a:lnSpc>
                <a:spcPct val="120000"/>
              </a:lnSpc>
              <a:spcBef>
                <a:spcPts val="0"/>
              </a:spcBef>
              <a:spcAft>
                <a:spcPts val="0"/>
              </a:spcAft>
            </a:pPr>
            <a:r>
              <a:rPr sz="825" b="0">
                <a:solidFill>
                  <a:srgbClr val="171717"/>
                </a:solidFill>
                <a:latin typeface="Aptos"/>
              </a:rPr>
              <a:t>~USD 2.0bn</a:t>
            </a:r>
          </a:p>
        </p:txBody>
      </p:sp>
      <p:sp>
        <p:nvSpPr>
          <p:cNvPr id="19" name="Oval 18"/>
          <p:cNvSpPr/>
          <p:nvPr/>
        </p:nvSpPr>
        <p:spPr>
          <a:xfrm>
            <a:off x="4552950" y="1685925"/>
            <a:ext cx="133350" cy="133350"/>
          </a:xfrm>
          <a:prstGeom prst="ellipse">
            <a:avLst/>
          </a:prstGeom>
          <a:solidFill>
            <a:srgbClr val="E3000B"/>
          </a:solidFill>
          <a:ln w="12700">
            <a:solidFill>
              <a:srgbClr val="E30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29125" y="1438275"/>
            <a:ext cx="1428750" cy="17145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B51E2B"/>
                </a:solidFill>
                <a:latin typeface="Aptos"/>
              </a:rPr>
              <a:t>18 SEP</a:t>
            </a:r>
          </a:p>
        </p:txBody>
      </p:sp>
      <p:sp>
        <p:nvSpPr>
          <p:cNvPr id="21" name="TextBox 20"/>
          <p:cNvSpPr txBox="1"/>
          <p:nvPr/>
        </p:nvSpPr>
        <p:spPr>
          <a:xfrm>
            <a:off x="4429125" y="1943100"/>
            <a:ext cx="1619250" cy="447675"/>
          </a:xfrm>
          <a:prstGeom prst="rect">
            <a:avLst/>
          </a:prstGeom>
          <a:noFill/>
        </p:spPr>
        <p:txBody>
          <a:bodyPr wrap="square" lIns="0" rIns="0" tIns="0" bIns="0" anchor="t">
            <a:spAutoFit/>
          </a:bodyPr>
          <a:lstStyle/>
          <a:p>
            <a:pPr algn="l">
              <a:lnSpc>
                <a:spcPct val="120000"/>
              </a:lnSpc>
              <a:spcBef>
                <a:spcPts val="0"/>
              </a:spcBef>
              <a:spcAft>
                <a:spcPts val="0"/>
              </a:spcAft>
            </a:pPr>
            <a:r>
              <a:rPr sz="825" b="0">
                <a:solidFill>
                  <a:srgbClr val="171717"/>
                </a:solidFill>
                <a:latin typeface="Aptos"/>
              </a:rPr>
              <a:t>UBS says risk covered;</a:t>
            </a:r>
          </a:p>
          <a:p>
            <a:pPr algn="l">
              <a:lnSpc>
                <a:spcPct val="120000"/>
              </a:lnSpc>
              <a:spcBef>
                <a:spcPts val="0"/>
              </a:spcBef>
              <a:spcAft>
                <a:spcPts val="0"/>
              </a:spcAft>
            </a:pPr>
            <a:r>
              <a:rPr sz="825" b="0">
                <a:solidFill>
                  <a:srgbClr val="171717"/>
                </a:solidFill>
                <a:latin typeface="Aptos"/>
              </a:rPr>
              <a:t>equities within limits</a:t>
            </a:r>
          </a:p>
        </p:txBody>
      </p:sp>
      <p:sp>
        <p:nvSpPr>
          <p:cNvPr id="22" name="Oval 21"/>
          <p:cNvSpPr/>
          <p:nvPr/>
        </p:nvSpPr>
        <p:spPr>
          <a:xfrm>
            <a:off x="6410325" y="1685925"/>
            <a:ext cx="133350" cy="133350"/>
          </a:xfrm>
          <a:prstGeom prst="ellipse">
            <a:avLst/>
          </a:prstGeom>
          <a:solidFill>
            <a:srgbClr val="E3000B"/>
          </a:solidFill>
          <a:ln w="12700">
            <a:solidFill>
              <a:srgbClr val="E30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86500" y="1438275"/>
            <a:ext cx="1428750" cy="17145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B51E2B"/>
                </a:solidFill>
                <a:latin typeface="Aptos"/>
              </a:rPr>
              <a:t>04 OCT</a:t>
            </a:r>
          </a:p>
        </p:txBody>
      </p:sp>
      <p:sp>
        <p:nvSpPr>
          <p:cNvPr id="24" name="TextBox 23"/>
          <p:cNvSpPr txBox="1"/>
          <p:nvPr/>
        </p:nvSpPr>
        <p:spPr>
          <a:xfrm>
            <a:off x="6286500" y="1943100"/>
            <a:ext cx="1619250" cy="447675"/>
          </a:xfrm>
          <a:prstGeom prst="rect">
            <a:avLst/>
          </a:prstGeom>
          <a:noFill/>
        </p:spPr>
        <p:txBody>
          <a:bodyPr wrap="square" lIns="0" rIns="0" tIns="0" bIns="0" anchor="t">
            <a:spAutoFit/>
          </a:bodyPr>
          <a:lstStyle/>
          <a:p>
            <a:pPr algn="l">
              <a:lnSpc>
                <a:spcPct val="120000"/>
              </a:lnSpc>
              <a:spcBef>
                <a:spcPts val="0"/>
              </a:spcBef>
              <a:spcAft>
                <a:spcPts val="0"/>
              </a:spcAft>
            </a:pPr>
            <a:r>
              <a:rPr sz="825" b="0">
                <a:solidFill>
                  <a:srgbClr val="171717"/>
                </a:solidFill>
                <a:latin typeface="Aptos"/>
              </a:rPr>
              <a:t>Revised estimate</a:t>
            </a:r>
          </a:p>
          <a:p>
            <a:pPr algn="l">
              <a:lnSpc>
                <a:spcPct val="120000"/>
              </a:lnSpc>
              <a:spcBef>
                <a:spcPts val="0"/>
              </a:spcBef>
              <a:spcAft>
                <a:spcPts val="0"/>
              </a:spcAft>
            </a:pPr>
            <a:r>
              <a:rPr sz="825" b="0">
                <a:solidFill>
                  <a:srgbClr val="171717"/>
                </a:solidFill>
                <a:latin typeface="Aptos"/>
              </a:rPr>
              <a:t>USD 2.3bn</a:t>
            </a:r>
          </a:p>
        </p:txBody>
      </p:sp>
      <p:sp>
        <p:nvSpPr>
          <p:cNvPr id="25" name="Rectangle 24"/>
          <p:cNvSpPr/>
          <p:nvPr/>
        </p:nvSpPr>
        <p:spPr>
          <a:xfrm>
            <a:off x="571500" y="2686050"/>
            <a:ext cx="2762250" cy="1104900"/>
          </a:xfrm>
          <a:prstGeom prst="rect">
            <a:avLst/>
          </a:prstGeom>
          <a:solidFill>
            <a:srgbClr val="F8F8F6"/>
          </a:solidFill>
          <a:ln w="12700">
            <a:solidFill>
              <a:srgbClr val="D8D7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2950" y="2828925"/>
            <a:ext cx="2381250" cy="17145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E3000B"/>
                </a:solidFill>
                <a:latin typeface="Aptos"/>
              </a:rPr>
              <a:t>REAL MARKET POSITION</a:t>
            </a:r>
          </a:p>
        </p:txBody>
      </p:sp>
      <p:sp>
        <p:nvSpPr>
          <p:cNvPr id="27" name="TextBox 26"/>
          <p:cNvSpPr txBox="1"/>
          <p:nvPr/>
        </p:nvSpPr>
        <p:spPr>
          <a:xfrm>
            <a:off x="742950" y="3105150"/>
            <a:ext cx="2381250" cy="514350"/>
          </a:xfrm>
          <a:prstGeom prst="rect">
            <a:avLst/>
          </a:prstGeom>
          <a:noFill/>
        </p:spPr>
        <p:txBody>
          <a:bodyPr wrap="square" lIns="0" rIns="0" tIns="0" bIns="0" anchor="t">
            <a:spAutoFit/>
          </a:bodyPr>
          <a:lstStyle/>
          <a:p>
            <a:pPr algn="l">
              <a:lnSpc>
                <a:spcPct val="125000"/>
              </a:lnSpc>
              <a:spcBef>
                <a:spcPts val="0"/>
              </a:spcBef>
              <a:spcAft>
                <a:spcPts val="0"/>
              </a:spcAft>
            </a:pPr>
            <a:r>
              <a:rPr sz="975" b="1">
                <a:solidFill>
                  <a:srgbClr val="171717"/>
                </a:solidFill>
                <a:latin typeface="Aptos"/>
              </a:rPr>
              <a:t>Long / short index futures</a:t>
            </a:r>
          </a:p>
          <a:p>
            <a:pPr algn="l">
              <a:lnSpc>
                <a:spcPct val="125000"/>
              </a:lnSpc>
              <a:spcBef>
                <a:spcPts val="0"/>
              </a:spcBef>
              <a:spcAft>
                <a:spcPts val="0"/>
              </a:spcAft>
            </a:pPr>
            <a:r>
              <a:rPr sz="975" b="1">
                <a:solidFill>
                  <a:srgbClr val="171717"/>
                </a:solidFill>
                <a:latin typeface="Aptos"/>
              </a:rPr>
              <a:t>with genuine external risk</a:t>
            </a:r>
          </a:p>
        </p:txBody>
      </p:sp>
      <p:cxnSp>
        <p:nvCxnSpPr>
          <p:cNvPr id="28" name="Connector 27"/>
          <p:cNvCxnSpPr/>
          <p:nvPr/>
        </p:nvCxnSpPr>
        <p:spPr>
          <a:xfrm>
            <a:off x="3333750" y="3238500"/>
            <a:ext cx="381000" cy="0"/>
          </a:xfrm>
          <a:prstGeom prst="line">
            <a:avLst/>
          </a:prstGeom>
          <a:ln w="25400">
            <a:solidFill>
              <a:srgbClr val="989892"/>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657600" y="3181350"/>
            <a:ext cx="76199" cy="57150"/>
          </a:xfrm>
          <a:prstGeom prst="line">
            <a:avLst/>
          </a:prstGeom>
          <a:ln w="25400">
            <a:solidFill>
              <a:srgbClr val="989892"/>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3657600" y="3238500"/>
            <a:ext cx="76199" cy="57150"/>
          </a:xfrm>
          <a:prstGeom prst="line">
            <a:avLst/>
          </a:prstGeom>
          <a:ln w="25400">
            <a:solidFill>
              <a:srgbClr val="989892"/>
            </a:solidFill>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3800475" y="2686050"/>
            <a:ext cx="3286125" cy="1104900"/>
          </a:xfrm>
          <a:prstGeom prst="rect">
            <a:avLst/>
          </a:prstGeom>
          <a:solidFill>
            <a:srgbClr val="F8F8F6"/>
          </a:solidFill>
          <a:ln w="12700">
            <a:solidFill>
              <a:srgbClr val="D8D7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71925" y="2828925"/>
            <a:ext cx="2952750" cy="17145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B51E2B"/>
                </a:solidFill>
                <a:latin typeface="Aptos"/>
              </a:rPr>
              <a:t>FALSE BOOK ENTRIES</a:t>
            </a:r>
          </a:p>
        </p:txBody>
      </p:sp>
      <p:sp>
        <p:nvSpPr>
          <p:cNvPr id="33" name="TextBox 32"/>
          <p:cNvSpPr txBox="1"/>
          <p:nvPr/>
        </p:nvSpPr>
        <p:spPr>
          <a:xfrm>
            <a:off x="3971925" y="3105150"/>
            <a:ext cx="2952750" cy="571500"/>
          </a:xfrm>
          <a:prstGeom prst="rect">
            <a:avLst/>
          </a:prstGeom>
          <a:noFill/>
        </p:spPr>
        <p:txBody>
          <a:bodyPr wrap="square" lIns="0" rIns="0" tIns="0" bIns="0" anchor="t">
            <a:spAutoFit/>
          </a:bodyPr>
          <a:lstStyle/>
          <a:p>
            <a:pPr algn="l">
              <a:lnSpc>
                <a:spcPct val="115000"/>
              </a:lnSpc>
              <a:spcBef>
                <a:spcPts val="0"/>
              </a:spcBef>
              <a:spcAft>
                <a:spcPts val="0"/>
              </a:spcAft>
            </a:pPr>
            <a:r>
              <a:rPr sz="825" b="1">
                <a:solidFill>
                  <a:srgbClr val="171717"/>
                </a:solidFill>
                <a:latin typeface="Aptos"/>
              </a:rPr>
              <a:t>One-sided internal futures · late bookings</a:t>
            </a:r>
          </a:p>
          <a:p>
            <a:pPr algn="l">
              <a:lnSpc>
                <a:spcPct val="115000"/>
              </a:lnSpc>
              <a:spcBef>
                <a:spcPts val="0"/>
              </a:spcBef>
              <a:spcAft>
                <a:spcPts val="0"/>
              </a:spcAft>
            </a:pPr>
            <a:r>
              <a:rPr sz="825" b="1">
                <a:solidFill>
                  <a:srgbClr val="171717"/>
                </a:solidFill>
                <a:latin typeface="Aptos"/>
              </a:rPr>
              <a:t>Fictitious deferred-settlement ETFs;</a:t>
            </a:r>
          </a:p>
          <a:p>
            <a:pPr algn="l">
              <a:lnSpc>
                <a:spcPct val="115000"/>
              </a:lnSpc>
              <a:spcBef>
                <a:spcPts val="0"/>
              </a:spcBef>
              <a:spcAft>
                <a:spcPts val="0"/>
              </a:spcAft>
            </a:pPr>
            <a:r>
              <a:rPr sz="825" b="1">
                <a:solidFill>
                  <a:srgbClr val="171717"/>
                </a:solidFill>
                <a:latin typeface="Aptos"/>
              </a:rPr>
              <a:t>no external risk position</a:t>
            </a:r>
          </a:p>
        </p:txBody>
      </p:sp>
      <p:cxnSp>
        <p:nvCxnSpPr>
          <p:cNvPr id="34" name="Connector 33"/>
          <p:cNvCxnSpPr/>
          <p:nvPr/>
        </p:nvCxnSpPr>
        <p:spPr>
          <a:xfrm>
            <a:off x="7086600" y="3238500"/>
            <a:ext cx="361950" cy="0"/>
          </a:xfrm>
          <a:prstGeom prst="line">
            <a:avLst/>
          </a:prstGeom>
          <a:ln w="25400">
            <a:solidFill>
              <a:srgbClr val="989892"/>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391400" y="3181350"/>
            <a:ext cx="76199" cy="57150"/>
          </a:xfrm>
          <a:prstGeom prst="line">
            <a:avLst/>
          </a:prstGeom>
          <a:ln w="25400">
            <a:solidFill>
              <a:srgbClr val="989892"/>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7391400" y="3238500"/>
            <a:ext cx="76199" cy="57150"/>
          </a:xfrm>
          <a:prstGeom prst="line">
            <a:avLst/>
          </a:prstGeom>
          <a:ln w="25400">
            <a:solidFill>
              <a:srgbClr val="989892"/>
            </a:solidFill>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7534275" y="2686050"/>
            <a:ext cx="3524250" cy="1104900"/>
          </a:xfrm>
          <a:prstGeom prst="rect">
            <a:avLst/>
          </a:prstGeom>
          <a:solidFill>
            <a:srgbClr val="F8F8F6"/>
          </a:solidFill>
          <a:ln w="12700">
            <a:solidFill>
              <a:srgbClr val="D8D7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705725" y="2828925"/>
            <a:ext cx="3190875" cy="17145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617C8A"/>
                </a:solidFill>
                <a:latin typeface="Aptos"/>
              </a:rPr>
              <a:t>APPARENT CONTROL VIEW</a:t>
            </a:r>
          </a:p>
        </p:txBody>
      </p:sp>
      <p:sp>
        <p:nvSpPr>
          <p:cNvPr id="39" name="TextBox 38"/>
          <p:cNvSpPr txBox="1"/>
          <p:nvPr/>
        </p:nvSpPr>
        <p:spPr>
          <a:xfrm>
            <a:off x="7705725" y="3105150"/>
            <a:ext cx="3190875" cy="523874"/>
          </a:xfrm>
          <a:prstGeom prst="rect">
            <a:avLst/>
          </a:prstGeom>
          <a:noFill/>
        </p:spPr>
        <p:txBody>
          <a:bodyPr wrap="square" lIns="0" rIns="0" tIns="0" bIns="0" anchor="t">
            <a:spAutoFit/>
          </a:bodyPr>
          <a:lstStyle/>
          <a:p>
            <a:pPr algn="l">
              <a:lnSpc>
                <a:spcPct val="125000"/>
              </a:lnSpc>
              <a:spcBef>
                <a:spcPts val="0"/>
              </a:spcBef>
              <a:spcAft>
                <a:spcPts val="0"/>
              </a:spcAft>
            </a:pPr>
            <a:r>
              <a:rPr sz="900" b="1">
                <a:solidFill>
                  <a:srgbClr val="171717"/>
                </a:solidFill>
                <a:latin typeface="Aptos"/>
              </a:rPr>
              <a:t>Offsets looked real; reported risk / P&amp;L</a:t>
            </a:r>
          </a:p>
          <a:p>
            <a:pPr algn="l">
              <a:lnSpc>
                <a:spcPct val="125000"/>
              </a:lnSpc>
              <a:spcBef>
                <a:spcPts val="0"/>
              </a:spcBef>
              <a:spcAft>
                <a:spcPts val="0"/>
              </a:spcAft>
            </a:pPr>
            <a:r>
              <a:rPr sz="900" b="1">
                <a:solidFill>
                  <a:srgbClr val="171717"/>
                </a:solidFill>
                <a:latin typeface="Aptos"/>
              </a:rPr>
              <a:t>concealed the true exposure</a:t>
            </a:r>
          </a:p>
        </p:txBody>
      </p:sp>
      <p:pic>
        <p:nvPicPr>
          <p:cNvPr id="40" name="Picture 39" descr="adoboli-press-photo.png"/>
          <p:cNvPicPr>
            <a:picLocks noChangeAspect="1"/>
          </p:cNvPicPr>
          <p:nvPr/>
        </p:nvPicPr>
        <p:blipFill>
          <a:blip r:embed="rId4"/>
          <a:stretch>
            <a:fillRect/>
          </a:stretch>
        </p:blipFill>
        <p:spPr>
          <a:xfrm>
            <a:off x="590401" y="4048124"/>
            <a:ext cx="1810046" cy="1362075"/>
          </a:xfrm>
          <a:prstGeom prst="rect">
            <a:avLst/>
          </a:prstGeom>
        </p:spPr>
      </p:pic>
      <p:sp>
        <p:nvSpPr>
          <p:cNvPr id="41" name="TextBox 40"/>
          <p:cNvSpPr txBox="1"/>
          <p:nvPr/>
        </p:nvSpPr>
        <p:spPr>
          <a:xfrm>
            <a:off x="571500" y="5457825"/>
            <a:ext cx="2000250" cy="228600"/>
          </a:xfrm>
          <a:prstGeom prst="rect">
            <a:avLst/>
          </a:prstGeom>
          <a:noFill/>
        </p:spPr>
        <p:txBody>
          <a:bodyPr wrap="square" lIns="0" rIns="0" tIns="0" bIns="0" anchor="t">
            <a:spAutoFit/>
          </a:bodyPr>
          <a:lstStyle/>
          <a:p>
            <a:pPr algn="l">
              <a:lnSpc>
                <a:spcPct val="118000"/>
              </a:lnSpc>
              <a:spcBef>
                <a:spcPts val="0"/>
              </a:spcBef>
              <a:spcAft>
                <a:spcPts val="0"/>
              </a:spcAft>
            </a:pPr>
            <a:r>
              <a:rPr sz="600" b="0">
                <a:solidFill>
                  <a:srgbClr val="5C5C58"/>
                </a:solidFill>
                <a:latin typeface="Aptos"/>
              </a:rPr>
              <a:t>Adoboli · user-supplied image; rights unverified</a:t>
            </a:r>
          </a:p>
        </p:txBody>
      </p:sp>
      <p:sp>
        <p:nvSpPr>
          <p:cNvPr id="42" name="TextBox 41"/>
          <p:cNvSpPr txBox="1"/>
          <p:nvPr/>
        </p:nvSpPr>
        <p:spPr>
          <a:xfrm>
            <a:off x="2724150" y="4143375"/>
            <a:ext cx="7810499" cy="20955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5C5C58"/>
                </a:solidFill>
                <a:latin typeface="Aptos"/>
              </a:rPr>
              <a:t>FINMA-reported gross notional peaks (USD bn; not P&amp;L or net-delta risk)</a:t>
            </a:r>
          </a:p>
        </p:txBody>
      </p:sp>
      <p:sp>
        <p:nvSpPr>
          <p:cNvPr id="43" name="TextBox 42"/>
          <p:cNvSpPr txBox="1"/>
          <p:nvPr/>
        </p:nvSpPr>
        <p:spPr>
          <a:xfrm>
            <a:off x="2762250" y="4467225"/>
            <a:ext cx="1666875" cy="17145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171717"/>
                </a:solidFill>
                <a:latin typeface="Aptos"/>
              </a:rPr>
              <a:t>LONG index futures</a:t>
            </a:r>
          </a:p>
        </p:txBody>
      </p:sp>
      <p:sp>
        <p:nvSpPr>
          <p:cNvPr id="44" name="Rectangle 43"/>
          <p:cNvSpPr/>
          <p:nvPr/>
        </p:nvSpPr>
        <p:spPr>
          <a:xfrm>
            <a:off x="2762250" y="4695825"/>
            <a:ext cx="2381250" cy="152400"/>
          </a:xfrm>
          <a:prstGeom prst="rect">
            <a:avLst/>
          </a:prstGeom>
          <a:solidFill>
            <a:srgbClr val="EEEDEA"/>
          </a:solidFill>
          <a:ln>
            <a:solidFill>
              <a:srgbClr val="EEED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2762250" y="4695825"/>
            <a:ext cx="2216394" cy="152400"/>
          </a:xfrm>
          <a:prstGeom prst="rect">
            <a:avLst/>
          </a:prstGeom>
          <a:solidFill>
            <a:srgbClr val="E3000B"/>
          </a:solidFill>
          <a:ln>
            <a:solidFill>
              <a:srgbClr val="E30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238750" y="4676775"/>
            <a:ext cx="666750" cy="190500"/>
          </a:xfrm>
          <a:prstGeom prst="rect">
            <a:avLst/>
          </a:prstGeom>
          <a:noFill/>
        </p:spPr>
        <p:txBody>
          <a:bodyPr wrap="square" lIns="0" rIns="0" tIns="0" bIns="0" anchor="t">
            <a:spAutoFit/>
          </a:bodyPr>
          <a:lstStyle/>
          <a:p>
            <a:pPr algn="l">
              <a:lnSpc>
                <a:spcPct val="118000"/>
              </a:lnSpc>
              <a:spcBef>
                <a:spcPts val="0"/>
              </a:spcBef>
              <a:spcAft>
                <a:spcPts val="0"/>
              </a:spcAft>
            </a:pPr>
            <a:r>
              <a:rPr sz="825" b="1">
                <a:solidFill>
                  <a:srgbClr val="E3000B"/>
                </a:solidFill>
                <a:latin typeface="Aptos"/>
              </a:rPr>
              <a:t>12.1bn</a:t>
            </a:r>
          </a:p>
        </p:txBody>
      </p:sp>
      <p:sp>
        <p:nvSpPr>
          <p:cNvPr id="47" name="TextBox 46"/>
          <p:cNvSpPr txBox="1"/>
          <p:nvPr/>
        </p:nvSpPr>
        <p:spPr>
          <a:xfrm>
            <a:off x="2762250" y="4962525"/>
            <a:ext cx="3048000" cy="171450"/>
          </a:xfrm>
          <a:prstGeom prst="rect">
            <a:avLst/>
          </a:prstGeom>
          <a:noFill/>
        </p:spPr>
        <p:txBody>
          <a:bodyPr wrap="square" lIns="0" rIns="0" tIns="0" bIns="0" anchor="t">
            <a:spAutoFit/>
          </a:bodyPr>
          <a:lstStyle/>
          <a:p>
            <a:pPr algn="l">
              <a:lnSpc>
                <a:spcPct val="118000"/>
              </a:lnSpc>
              <a:spcBef>
                <a:spcPts val="0"/>
              </a:spcBef>
              <a:spcAft>
                <a:spcPts val="0"/>
              </a:spcAft>
            </a:pPr>
            <a:r>
              <a:rPr sz="675" b="0">
                <a:solidFill>
                  <a:srgbClr val="5C5C58"/>
                </a:solidFill>
                <a:latin typeface="Aptos"/>
              </a:rPr>
              <a:t>8 Aug · peak</a:t>
            </a:r>
          </a:p>
        </p:txBody>
      </p:sp>
      <p:sp>
        <p:nvSpPr>
          <p:cNvPr id="48" name="TextBox 47"/>
          <p:cNvSpPr txBox="1"/>
          <p:nvPr/>
        </p:nvSpPr>
        <p:spPr>
          <a:xfrm>
            <a:off x="6762750" y="4467225"/>
            <a:ext cx="1666875" cy="17145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171717"/>
                </a:solidFill>
                <a:latin typeface="Aptos"/>
              </a:rPr>
              <a:t>SHORT index futures</a:t>
            </a:r>
          </a:p>
        </p:txBody>
      </p:sp>
      <p:sp>
        <p:nvSpPr>
          <p:cNvPr id="49" name="Rectangle 48"/>
          <p:cNvSpPr/>
          <p:nvPr/>
        </p:nvSpPr>
        <p:spPr>
          <a:xfrm>
            <a:off x="6762750" y="4695825"/>
            <a:ext cx="2381250" cy="152400"/>
          </a:xfrm>
          <a:prstGeom prst="rect">
            <a:avLst/>
          </a:prstGeom>
          <a:solidFill>
            <a:srgbClr val="EEEDEA"/>
          </a:solidFill>
          <a:ln>
            <a:solidFill>
              <a:srgbClr val="EEED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62750" y="4695825"/>
            <a:ext cx="1556971" cy="152400"/>
          </a:xfrm>
          <a:prstGeom prst="rect">
            <a:avLst/>
          </a:prstGeom>
          <a:solidFill>
            <a:srgbClr val="B51E2B"/>
          </a:solidFill>
          <a:ln>
            <a:solidFill>
              <a:srgbClr val="B51E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239250" y="4676775"/>
            <a:ext cx="666750" cy="190500"/>
          </a:xfrm>
          <a:prstGeom prst="rect">
            <a:avLst/>
          </a:prstGeom>
          <a:noFill/>
        </p:spPr>
        <p:txBody>
          <a:bodyPr wrap="square" lIns="0" rIns="0" tIns="0" bIns="0" anchor="t">
            <a:spAutoFit/>
          </a:bodyPr>
          <a:lstStyle/>
          <a:p>
            <a:pPr algn="l">
              <a:lnSpc>
                <a:spcPct val="118000"/>
              </a:lnSpc>
              <a:spcBef>
                <a:spcPts val="0"/>
              </a:spcBef>
              <a:spcAft>
                <a:spcPts val="0"/>
              </a:spcAft>
            </a:pPr>
            <a:r>
              <a:rPr sz="825" b="1">
                <a:solidFill>
                  <a:srgbClr val="E3000B"/>
                </a:solidFill>
                <a:latin typeface="Aptos"/>
              </a:rPr>
              <a:t>8.5bn</a:t>
            </a:r>
          </a:p>
        </p:txBody>
      </p:sp>
      <p:sp>
        <p:nvSpPr>
          <p:cNvPr id="52" name="TextBox 51"/>
          <p:cNvSpPr txBox="1"/>
          <p:nvPr/>
        </p:nvSpPr>
        <p:spPr>
          <a:xfrm>
            <a:off x="6762750" y="4962525"/>
            <a:ext cx="3048000" cy="171450"/>
          </a:xfrm>
          <a:prstGeom prst="rect">
            <a:avLst/>
          </a:prstGeom>
          <a:noFill/>
        </p:spPr>
        <p:txBody>
          <a:bodyPr wrap="square" lIns="0" rIns="0" tIns="0" bIns="0" anchor="t">
            <a:spAutoFit/>
          </a:bodyPr>
          <a:lstStyle/>
          <a:p>
            <a:pPr algn="l">
              <a:lnSpc>
                <a:spcPct val="118000"/>
              </a:lnSpc>
              <a:spcBef>
                <a:spcPts val="0"/>
              </a:spcBef>
              <a:spcAft>
                <a:spcPts val="0"/>
              </a:spcAft>
            </a:pPr>
            <a:r>
              <a:rPr sz="675" b="0">
                <a:solidFill>
                  <a:srgbClr val="5C5C58"/>
                </a:solidFill>
                <a:latin typeface="Aptos"/>
              </a:rPr>
              <a:t>15 Sep · peak</a:t>
            </a:r>
          </a:p>
        </p:txBody>
      </p:sp>
      <p:sp>
        <p:nvSpPr>
          <p:cNvPr id="53" name="TextBox 52"/>
          <p:cNvSpPr txBox="1"/>
          <p:nvPr/>
        </p:nvSpPr>
        <p:spPr>
          <a:xfrm>
            <a:off x="2724150" y="5219700"/>
            <a:ext cx="7810499" cy="247649"/>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171717"/>
                </a:solidFill>
                <a:latin typeface="Aptos"/>
              </a:rPr>
              <a:t>About USD 2.1bn of the final USD 2.3bn loss came from the long positions.</a:t>
            </a:r>
          </a:p>
        </p:txBody>
      </p:sp>
      <p:sp>
        <p:nvSpPr>
          <p:cNvPr id="54" name="TextBox 53"/>
          <p:cNvSpPr txBox="1"/>
          <p:nvPr/>
        </p:nvSpPr>
        <p:spPr>
          <a:xfrm>
            <a:off x="2724150" y="5543550"/>
            <a:ext cx="7905750" cy="304800"/>
          </a:xfrm>
          <a:prstGeom prst="rect">
            <a:avLst/>
          </a:prstGeom>
          <a:noFill/>
        </p:spPr>
        <p:txBody>
          <a:bodyPr wrap="square" lIns="0" rIns="0" tIns="0" bIns="0" anchor="t">
            <a:spAutoFit/>
          </a:bodyPr>
          <a:lstStyle/>
          <a:p>
            <a:pPr algn="l">
              <a:lnSpc>
                <a:spcPct val="118000"/>
              </a:lnSpc>
              <a:spcBef>
                <a:spcPts val="0"/>
              </a:spcBef>
              <a:spcAft>
                <a:spcPts val="0"/>
              </a:spcAft>
            </a:pPr>
            <a:r>
              <a:rPr sz="675" b="0">
                <a:solidFill>
                  <a:srgbClr val="5C5C58"/>
                </a:solidFill>
                <a:latin typeface="Aptos"/>
              </a:rPr>
              <a:t>25 Oct UBS Q3 accounting: CHF 1.951bn total = CHF 1.849bn P&amp;L + CHF 102m translation (~USD 2.229bn).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2000" cy="6858000"/>
          </a:xfrm>
          <a:prstGeom prst="rect">
            <a:avLst/>
          </a:prstGeom>
          <a:solidFill>
            <a:srgbClr val="FFFFF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38100"/>
          </a:xfrm>
          <a:prstGeom prst="rect">
            <a:avLst/>
          </a:prstGeom>
          <a:solidFill>
            <a:srgbClr val="E3000B"/>
          </a:solidFill>
          <a:ln w="12700">
            <a:solidFill>
              <a:srgbClr val="E30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ubs-logo.png"/>
          <p:cNvPicPr>
            <a:picLocks noChangeAspect="1"/>
          </p:cNvPicPr>
          <p:nvPr/>
        </p:nvPicPr>
        <p:blipFill>
          <a:blip r:embed="rId2"/>
          <a:stretch>
            <a:fillRect/>
          </a:stretch>
        </p:blipFill>
        <p:spPr>
          <a:xfrm>
            <a:off x="408461" y="123824"/>
            <a:ext cx="1240476" cy="438150"/>
          </a:xfrm>
          <a:prstGeom prst="rect">
            <a:avLst/>
          </a:prstGeom>
        </p:spPr>
      </p:pic>
      <p:pic>
        <p:nvPicPr>
          <p:cNvPr id="5" name="Picture 4" descr="skema-logo.png"/>
          <p:cNvPicPr>
            <a:picLocks noChangeAspect="1"/>
          </p:cNvPicPr>
          <p:nvPr/>
        </p:nvPicPr>
        <p:blipFill>
          <a:blip r:embed="rId3"/>
          <a:stretch>
            <a:fillRect/>
          </a:stretch>
        </p:blipFill>
        <p:spPr>
          <a:xfrm>
            <a:off x="11344275" y="114375"/>
            <a:ext cx="400050" cy="418949"/>
          </a:xfrm>
          <a:prstGeom prst="rect">
            <a:avLst/>
          </a:prstGeom>
        </p:spPr>
      </p:pic>
      <p:sp>
        <p:nvSpPr>
          <p:cNvPr id="6" name="TextBox 5"/>
          <p:cNvSpPr txBox="1"/>
          <p:nvPr/>
        </p:nvSpPr>
        <p:spPr>
          <a:xfrm>
            <a:off x="1952624" y="247649"/>
            <a:ext cx="8096249" cy="20955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B51E2B"/>
                </a:solidFill>
                <a:latin typeface="Aptos"/>
              </a:rPr>
              <a:t>PART I · 1.3 CONTROLS &amp; CASH TRANSMISSION</a:t>
            </a:r>
          </a:p>
        </p:txBody>
      </p:sp>
      <p:sp>
        <p:nvSpPr>
          <p:cNvPr id="7" name="TextBox 6"/>
          <p:cNvSpPr txBox="1"/>
          <p:nvPr/>
        </p:nvSpPr>
        <p:spPr>
          <a:xfrm>
            <a:off x="419100" y="742950"/>
            <a:ext cx="11353800" cy="400050"/>
          </a:xfrm>
          <a:prstGeom prst="rect">
            <a:avLst/>
          </a:prstGeom>
          <a:noFill/>
        </p:spPr>
        <p:txBody>
          <a:bodyPr wrap="square" lIns="0" rIns="0" tIns="0" bIns="0" anchor="t">
            <a:spAutoFit/>
          </a:bodyPr>
          <a:lstStyle/>
          <a:p>
            <a:pPr algn="l">
              <a:lnSpc>
                <a:spcPct val="118000"/>
              </a:lnSpc>
              <a:spcBef>
                <a:spcPts val="0"/>
              </a:spcBef>
              <a:spcAft>
                <a:spcPts val="0"/>
              </a:spcAft>
            </a:pPr>
            <a:r>
              <a:rPr sz="2025" b="1">
                <a:solidFill>
                  <a:srgbClr val="171717"/>
                </a:solidFill>
                <a:latin typeface="Aptos"/>
              </a:rPr>
              <a:t>Control failures amplified exposure and liquidity pressure</a:t>
            </a:r>
          </a:p>
        </p:txBody>
      </p:sp>
      <p:cxnSp>
        <p:nvCxnSpPr>
          <p:cNvPr id="8" name="Connector 7"/>
          <p:cNvCxnSpPr/>
          <p:nvPr/>
        </p:nvCxnSpPr>
        <p:spPr>
          <a:xfrm>
            <a:off x="419100" y="1247775"/>
            <a:ext cx="11353800" cy="0"/>
          </a:xfrm>
          <a:prstGeom prst="line">
            <a:avLst/>
          </a:prstGeom>
          <a:ln w="12700">
            <a:solidFill>
              <a:srgbClr val="D8D7D2"/>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9100" y="6457950"/>
            <a:ext cx="11353800" cy="0"/>
          </a:xfrm>
          <a:prstGeom prst="line">
            <a:avLst/>
          </a:prstGeom>
          <a:ln w="12700">
            <a:solidFill>
              <a:srgbClr val="D8D7D2"/>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19100" y="6534150"/>
            <a:ext cx="7715250" cy="171450"/>
          </a:xfrm>
          <a:prstGeom prst="rect">
            <a:avLst/>
          </a:prstGeom>
          <a:noFill/>
        </p:spPr>
        <p:txBody>
          <a:bodyPr wrap="square" lIns="0" rIns="0" tIns="0" bIns="0" anchor="t">
            <a:spAutoFit/>
          </a:bodyPr>
          <a:lstStyle/>
          <a:p>
            <a:pPr algn="l">
              <a:lnSpc>
                <a:spcPct val="118000"/>
              </a:lnSpc>
              <a:spcBef>
                <a:spcPts val="0"/>
              </a:spcBef>
              <a:spcAft>
                <a:spcPts val="0"/>
              </a:spcAft>
            </a:pPr>
            <a:r>
              <a:rPr sz="600" b="0">
                <a:solidFill>
                  <a:srgbClr val="5C5C58"/>
                </a:solidFill>
                <a:latin typeface="Aptos"/>
              </a:rPr>
              <a:t>Sources: [1] FINMA §§23–41; [2] FSA §§26–42. Potential channels are not asserted historical cash movements.</a:t>
            </a:r>
          </a:p>
        </p:txBody>
      </p:sp>
      <p:sp>
        <p:nvSpPr>
          <p:cNvPr id="11" name="TextBox 10"/>
          <p:cNvSpPr txBox="1"/>
          <p:nvPr/>
        </p:nvSpPr>
        <p:spPr>
          <a:xfrm>
            <a:off x="8858250" y="6515100"/>
            <a:ext cx="2905125" cy="190500"/>
          </a:xfrm>
          <a:prstGeom prst="rect">
            <a:avLst/>
          </a:prstGeom>
          <a:noFill/>
        </p:spPr>
        <p:txBody>
          <a:bodyPr wrap="square" lIns="0" rIns="0" tIns="0" bIns="0" anchor="t">
            <a:spAutoFit/>
          </a:bodyPr>
          <a:lstStyle/>
          <a:p>
            <a:pPr algn="r">
              <a:lnSpc>
                <a:spcPct val="118000"/>
              </a:lnSpc>
              <a:spcBef>
                <a:spcPts val="0"/>
              </a:spcBef>
              <a:spcAft>
                <a:spcPts val="0"/>
              </a:spcAft>
            </a:pPr>
            <a:r>
              <a:rPr sz="675" b="1">
                <a:solidFill>
                  <a:srgbClr val="B51E2B"/>
                </a:solidFill>
                <a:latin typeface="Aptos"/>
              </a:rPr>
              <a:t>JULES  /  05</a:t>
            </a:r>
          </a:p>
        </p:txBody>
      </p:sp>
      <p:sp>
        <p:nvSpPr>
          <p:cNvPr id="12" name="Rectangle 11"/>
          <p:cNvSpPr/>
          <p:nvPr/>
        </p:nvSpPr>
        <p:spPr>
          <a:xfrm>
            <a:off x="552450" y="1381125"/>
            <a:ext cx="3476625" cy="1076325"/>
          </a:xfrm>
          <a:prstGeom prst="rect">
            <a:avLst/>
          </a:prstGeom>
          <a:solidFill>
            <a:srgbClr val="F8F8F6"/>
          </a:solidFill>
          <a:ln w="12700">
            <a:solidFill>
              <a:srgbClr val="D8D7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5325" y="1524000"/>
            <a:ext cx="3143250" cy="171450"/>
          </a:xfrm>
          <a:prstGeom prst="rect">
            <a:avLst/>
          </a:prstGeom>
          <a:noFill/>
        </p:spPr>
        <p:txBody>
          <a:bodyPr wrap="square" lIns="0" rIns="0" tIns="0" bIns="0" anchor="t">
            <a:spAutoFit/>
          </a:bodyPr>
          <a:lstStyle/>
          <a:p>
            <a:pPr algn="l">
              <a:lnSpc>
                <a:spcPct val="118000"/>
              </a:lnSpc>
              <a:spcBef>
                <a:spcPts val="0"/>
              </a:spcBef>
              <a:spcAft>
                <a:spcPts val="0"/>
              </a:spcAft>
            </a:pPr>
            <a:r>
              <a:rPr sz="675" b="1">
                <a:solidFill>
                  <a:srgbClr val="B51E2B"/>
                </a:solidFill>
                <a:latin typeface="Aptos"/>
              </a:rPr>
              <a:t>TRADE VERIFICATION</a:t>
            </a:r>
          </a:p>
        </p:txBody>
      </p:sp>
      <p:sp>
        <p:nvSpPr>
          <p:cNvPr id="14" name="TextBox 13"/>
          <p:cNvSpPr txBox="1"/>
          <p:nvPr/>
        </p:nvSpPr>
        <p:spPr>
          <a:xfrm>
            <a:off x="695325" y="1790700"/>
            <a:ext cx="3143250" cy="523874"/>
          </a:xfrm>
          <a:prstGeom prst="rect">
            <a:avLst/>
          </a:prstGeom>
          <a:noFill/>
        </p:spPr>
        <p:txBody>
          <a:bodyPr wrap="square" lIns="0" rIns="0" tIns="0" bIns="0" anchor="t">
            <a:spAutoFit/>
          </a:bodyPr>
          <a:lstStyle/>
          <a:p>
            <a:pPr algn="l">
              <a:lnSpc>
                <a:spcPct val="120000"/>
              </a:lnSpc>
              <a:spcBef>
                <a:spcPts val="0"/>
              </a:spcBef>
              <a:spcAft>
                <a:spcPts val="0"/>
              </a:spcAft>
            </a:pPr>
            <a:r>
              <a:rPr sz="825" b="0">
                <a:solidFill>
                  <a:srgbClr val="171717"/>
                </a:solidFill>
                <a:latin typeface="Aptos"/>
              </a:rPr>
              <a:t>Unmatched / fictitious entries and late bookings were not independently confirmed.</a:t>
            </a:r>
          </a:p>
        </p:txBody>
      </p:sp>
      <p:sp>
        <p:nvSpPr>
          <p:cNvPr id="15" name="Rectangle 14"/>
          <p:cNvSpPr/>
          <p:nvPr/>
        </p:nvSpPr>
        <p:spPr>
          <a:xfrm>
            <a:off x="4267200" y="1381125"/>
            <a:ext cx="3476625" cy="1076325"/>
          </a:xfrm>
          <a:prstGeom prst="rect">
            <a:avLst/>
          </a:prstGeom>
          <a:solidFill>
            <a:srgbClr val="F8F8F6"/>
          </a:solidFill>
          <a:ln w="12700">
            <a:solidFill>
              <a:srgbClr val="D8D7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10075" y="1524000"/>
            <a:ext cx="3143250" cy="171450"/>
          </a:xfrm>
          <a:prstGeom prst="rect">
            <a:avLst/>
          </a:prstGeom>
          <a:noFill/>
        </p:spPr>
        <p:txBody>
          <a:bodyPr wrap="square" lIns="0" rIns="0" tIns="0" bIns="0" anchor="t">
            <a:spAutoFit/>
          </a:bodyPr>
          <a:lstStyle/>
          <a:p>
            <a:pPr algn="l">
              <a:lnSpc>
                <a:spcPct val="118000"/>
              </a:lnSpc>
              <a:spcBef>
                <a:spcPts val="0"/>
              </a:spcBef>
              <a:spcAft>
                <a:spcPts val="0"/>
              </a:spcAft>
            </a:pPr>
            <a:r>
              <a:rPr sz="675" b="1">
                <a:solidFill>
                  <a:srgbClr val="B51E2B"/>
                </a:solidFill>
                <a:latin typeface="Aptos"/>
              </a:rPr>
              <a:t>EXCEPTION REVIEW</a:t>
            </a:r>
          </a:p>
        </p:txBody>
      </p:sp>
      <p:sp>
        <p:nvSpPr>
          <p:cNvPr id="17" name="TextBox 16"/>
          <p:cNvSpPr txBox="1"/>
          <p:nvPr/>
        </p:nvSpPr>
        <p:spPr>
          <a:xfrm>
            <a:off x="4410075" y="1790700"/>
            <a:ext cx="3143250" cy="523874"/>
          </a:xfrm>
          <a:prstGeom prst="rect">
            <a:avLst/>
          </a:prstGeom>
          <a:noFill/>
        </p:spPr>
        <p:txBody>
          <a:bodyPr wrap="square" lIns="0" rIns="0" tIns="0" bIns="0" anchor="t">
            <a:spAutoFit/>
          </a:bodyPr>
          <a:lstStyle/>
          <a:p>
            <a:pPr algn="l">
              <a:lnSpc>
                <a:spcPct val="120000"/>
              </a:lnSpc>
              <a:spcBef>
                <a:spcPts val="0"/>
              </a:spcBef>
              <a:spcAft>
                <a:spcPts val="0"/>
              </a:spcAft>
            </a:pPr>
            <a:r>
              <a:rPr sz="825" b="0">
                <a:solidFill>
                  <a:srgbClr val="171717"/>
                </a:solidFill>
                <a:latin typeface="Aptos"/>
              </a:rPr>
              <a:t>Material breaks and cancelled / amended / late trades were not investigated promptly.</a:t>
            </a:r>
          </a:p>
        </p:txBody>
      </p:sp>
      <p:sp>
        <p:nvSpPr>
          <p:cNvPr id="18" name="Rectangle 17"/>
          <p:cNvSpPr/>
          <p:nvPr/>
        </p:nvSpPr>
        <p:spPr>
          <a:xfrm>
            <a:off x="7981949" y="1381125"/>
            <a:ext cx="3476625" cy="1076325"/>
          </a:xfrm>
          <a:prstGeom prst="rect">
            <a:avLst/>
          </a:prstGeom>
          <a:solidFill>
            <a:srgbClr val="F8F8F6"/>
          </a:solidFill>
          <a:ln w="12700">
            <a:solidFill>
              <a:srgbClr val="D8D7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24824" y="1524000"/>
            <a:ext cx="3143250" cy="171450"/>
          </a:xfrm>
          <a:prstGeom prst="rect">
            <a:avLst/>
          </a:prstGeom>
          <a:noFill/>
        </p:spPr>
        <p:txBody>
          <a:bodyPr wrap="square" lIns="0" rIns="0" tIns="0" bIns="0" anchor="t">
            <a:spAutoFit/>
          </a:bodyPr>
          <a:lstStyle/>
          <a:p>
            <a:pPr algn="l">
              <a:lnSpc>
                <a:spcPct val="118000"/>
              </a:lnSpc>
              <a:spcBef>
                <a:spcPts val="0"/>
              </a:spcBef>
              <a:spcAft>
                <a:spcPts val="0"/>
              </a:spcAft>
            </a:pPr>
            <a:r>
              <a:rPr sz="675" b="1">
                <a:solidFill>
                  <a:srgbClr val="B51E2B"/>
                </a:solidFill>
                <a:latin typeface="Aptos"/>
              </a:rPr>
              <a:t>SUPERVISION &amp; ESCALATION</a:t>
            </a:r>
          </a:p>
        </p:txBody>
      </p:sp>
      <p:sp>
        <p:nvSpPr>
          <p:cNvPr id="20" name="TextBox 19"/>
          <p:cNvSpPr txBox="1"/>
          <p:nvPr/>
        </p:nvSpPr>
        <p:spPr>
          <a:xfrm>
            <a:off x="8124824" y="1790700"/>
            <a:ext cx="3143250" cy="523874"/>
          </a:xfrm>
          <a:prstGeom prst="rect">
            <a:avLst/>
          </a:prstGeom>
          <a:noFill/>
        </p:spPr>
        <p:txBody>
          <a:bodyPr wrap="square" lIns="0" rIns="0" tIns="0" bIns="0" anchor="t">
            <a:spAutoFit/>
          </a:bodyPr>
          <a:lstStyle/>
          <a:p>
            <a:pPr algn="l">
              <a:lnSpc>
                <a:spcPct val="120000"/>
              </a:lnSpc>
              <a:spcBef>
                <a:spcPts val="0"/>
              </a:spcBef>
              <a:spcAft>
                <a:spcPts val="0"/>
              </a:spcAft>
            </a:pPr>
            <a:r>
              <a:rPr sz="825" b="0">
                <a:solidFill>
                  <a:srgbClr val="171717"/>
                </a:solidFill>
                <a:latin typeface="Aptos"/>
              </a:rPr>
              <a:t>Desk transfer, limit breaches and fragmented control ownership weakened challenge.</a:t>
            </a:r>
          </a:p>
        </p:txBody>
      </p:sp>
      <p:sp>
        <p:nvSpPr>
          <p:cNvPr id="21" name="Rectangle 20"/>
          <p:cNvSpPr/>
          <p:nvPr/>
        </p:nvSpPr>
        <p:spPr>
          <a:xfrm>
            <a:off x="552450" y="2657475"/>
            <a:ext cx="1952624" cy="581025"/>
          </a:xfrm>
          <a:prstGeom prst="rect">
            <a:avLst/>
          </a:prstGeom>
          <a:solidFill>
            <a:srgbClr val="FFFFFF"/>
          </a:solidFill>
          <a:ln w="12700">
            <a:solidFill>
              <a:srgbClr val="E30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8650" y="2800350"/>
            <a:ext cx="1800225" cy="323850"/>
          </a:xfrm>
          <a:prstGeom prst="rect">
            <a:avLst/>
          </a:prstGeom>
          <a:noFill/>
        </p:spPr>
        <p:txBody>
          <a:bodyPr wrap="square" lIns="0" rIns="0" tIns="0" bIns="0" anchor="t">
            <a:spAutoFit/>
          </a:bodyPr>
          <a:lstStyle/>
          <a:p>
            <a:pPr algn="ctr">
              <a:lnSpc>
                <a:spcPct val="118000"/>
              </a:lnSpc>
              <a:spcBef>
                <a:spcPts val="0"/>
              </a:spcBef>
              <a:spcAft>
                <a:spcPts val="0"/>
              </a:spcAft>
            </a:pPr>
            <a:r>
              <a:rPr sz="750" b="1">
                <a:solidFill>
                  <a:srgbClr val="171717"/>
                </a:solidFill>
                <a:latin typeface="Aptos"/>
              </a:rPr>
              <a:t>Concealed exposure</a:t>
            </a:r>
          </a:p>
        </p:txBody>
      </p:sp>
      <p:cxnSp>
        <p:nvCxnSpPr>
          <p:cNvPr id="23" name="Connector 22"/>
          <p:cNvCxnSpPr/>
          <p:nvPr/>
        </p:nvCxnSpPr>
        <p:spPr>
          <a:xfrm>
            <a:off x="2505075" y="2943225"/>
            <a:ext cx="219075" cy="0"/>
          </a:xfrm>
          <a:prstGeom prst="line">
            <a:avLst/>
          </a:prstGeom>
          <a:ln w="25400">
            <a:solidFill>
              <a:srgbClr val="989892"/>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2762250" y="2657475"/>
            <a:ext cx="1952624" cy="581025"/>
          </a:xfrm>
          <a:prstGeom prst="rect">
            <a:avLst/>
          </a:prstGeom>
          <a:solidFill>
            <a:srgbClr val="FFFFFF"/>
          </a:solidFill>
          <a:ln w="12700">
            <a:solidFill>
              <a:srgbClr val="D8D7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838450" y="2800350"/>
            <a:ext cx="1800225" cy="323850"/>
          </a:xfrm>
          <a:prstGeom prst="rect">
            <a:avLst/>
          </a:prstGeom>
          <a:noFill/>
        </p:spPr>
        <p:txBody>
          <a:bodyPr wrap="square" lIns="0" rIns="0" tIns="0" bIns="0" anchor="t">
            <a:spAutoFit/>
          </a:bodyPr>
          <a:lstStyle/>
          <a:p>
            <a:pPr algn="ctr">
              <a:lnSpc>
                <a:spcPct val="118000"/>
              </a:lnSpc>
              <a:spcBef>
                <a:spcPts val="0"/>
              </a:spcBef>
              <a:spcAft>
                <a:spcPts val="0"/>
              </a:spcAft>
            </a:pPr>
            <a:r>
              <a:rPr sz="750" b="1">
                <a:solidFill>
                  <a:srgbClr val="171717"/>
                </a:solidFill>
                <a:latin typeface="Aptos"/>
              </a:rPr>
              <a:t>Adverse market moves</a:t>
            </a:r>
          </a:p>
        </p:txBody>
      </p:sp>
      <p:cxnSp>
        <p:nvCxnSpPr>
          <p:cNvPr id="26" name="Connector 25"/>
          <p:cNvCxnSpPr/>
          <p:nvPr/>
        </p:nvCxnSpPr>
        <p:spPr>
          <a:xfrm>
            <a:off x="4714875" y="2943225"/>
            <a:ext cx="219075" cy="0"/>
          </a:xfrm>
          <a:prstGeom prst="line">
            <a:avLst/>
          </a:prstGeom>
          <a:ln w="25400">
            <a:solidFill>
              <a:srgbClr val="989892"/>
            </a:solidFill>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4972050" y="2657475"/>
            <a:ext cx="1952624" cy="581025"/>
          </a:xfrm>
          <a:prstGeom prst="rect">
            <a:avLst/>
          </a:prstGeom>
          <a:solidFill>
            <a:srgbClr val="FFFFFF"/>
          </a:solidFill>
          <a:ln w="12700">
            <a:solidFill>
              <a:srgbClr val="D8D7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48250" y="2800350"/>
            <a:ext cx="1800225" cy="323850"/>
          </a:xfrm>
          <a:prstGeom prst="rect">
            <a:avLst/>
          </a:prstGeom>
          <a:noFill/>
        </p:spPr>
        <p:txBody>
          <a:bodyPr wrap="square" lIns="0" rIns="0" tIns="0" bIns="0" anchor="t">
            <a:spAutoFit/>
          </a:bodyPr>
          <a:lstStyle/>
          <a:p>
            <a:pPr algn="ctr">
              <a:lnSpc>
                <a:spcPct val="118000"/>
              </a:lnSpc>
              <a:spcBef>
                <a:spcPts val="0"/>
              </a:spcBef>
              <a:spcAft>
                <a:spcPts val="0"/>
              </a:spcAft>
            </a:pPr>
            <a:r>
              <a:rPr sz="750" b="1">
                <a:solidFill>
                  <a:srgbClr val="171717"/>
                </a:solidFill>
                <a:latin typeface="Aptos"/>
              </a:rPr>
              <a:t>Settlement / collateral</a:t>
            </a:r>
          </a:p>
        </p:txBody>
      </p:sp>
      <p:cxnSp>
        <p:nvCxnSpPr>
          <p:cNvPr id="29" name="Connector 28"/>
          <p:cNvCxnSpPr/>
          <p:nvPr/>
        </p:nvCxnSpPr>
        <p:spPr>
          <a:xfrm>
            <a:off x="6924675" y="2943225"/>
            <a:ext cx="219075" cy="0"/>
          </a:xfrm>
          <a:prstGeom prst="line">
            <a:avLst/>
          </a:prstGeom>
          <a:ln w="25400">
            <a:solidFill>
              <a:srgbClr val="989892"/>
            </a:solidFill>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7181850" y="2657475"/>
            <a:ext cx="1952624" cy="581025"/>
          </a:xfrm>
          <a:prstGeom prst="rect">
            <a:avLst/>
          </a:prstGeom>
          <a:solidFill>
            <a:srgbClr val="FFFFFF"/>
          </a:solidFill>
          <a:ln w="12700">
            <a:solidFill>
              <a:srgbClr val="E30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58050" y="2800350"/>
            <a:ext cx="1800225" cy="323850"/>
          </a:xfrm>
          <a:prstGeom prst="rect">
            <a:avLst/>
          </a:prstGeom>
          <a:noFill/>
        </p:spPr>
        <p:txBody>
          <a:bodyPr wrap="square" lIns="0" rIns="0" tIns="0" bIns="0" anchor="t">
            <a:spAutoFit/>
          </a:bodyPr>
          <a:lstStyle/>
          <a:p>
            <a:pPr algn="ctr">
              <a:lnSpc>
                <a:spcPct val="118000"/>
              </a:lnSpc>
              <a:spcBef>
                <a:spcPts val="0"/>
              </a:spcBef>
              <a:spcAft>
                <a:spcPts val="0"/>
              </a:spcAft>
            </a:pPr>
            <a:r>
              <a:rPr sz="750" b="1">
                <a:solidFill>
                  <a:srgbClr val="171717"/>
                </a:solidFill>
                <a:latin typeface="Aptos"/>
              </a:rPr>
              <a:t>Lower liquidity headroom</a:t>
            </a:r>
          </a:p>
        </p:txBody>
      </p:sp>
      <p:cxnSp>
        <p:nvCxnSpPr>
          <p:cNvPr id="32" name="Connector 31"/>
          <p:cNvCxnSpPr/>
          <p:nvPr/>
        </p:nvCxnSpPr>
        <p:spPr>
          <a:xfrm>
            <a:off x="9134475" y="2943225"/>
            <a:ext cx="219075" cy="0"/>
          </a:xfrm>
          <a:prstGeom prst="line">
            <a:avLst/>
          </a:prstGeom>
          <a:ln w="25400">
            <a:solidFill>
              <a:srgbClr val="989892"/>
            </a:solidFill>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9391650" y="2657475"/>
            <a:ext cx="1952624" cy="581025"/>
          </a:xfrm>
          <a:prstGeom prst="rect">
            <a:avLst/>
          </a:prstGeom>
          <a:solidFill>
            <a:srgbClr val="FFFFFF"/>
          </a:solidFill>
          <a:ln w="12700">
            <a:solidFill>
              <a:srgbClr val="D8D7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467850" y="2800350"/>
            <a:ext cx="1800225" cy="323850"/>
          </a:xfrm>
          <a:prstGeom prst="rect">
            <a:avLst/>
          </a:prstGeom>
          <a:noFill/>
        </p:spPr>
        <p:txBody>
          <a:bodyPr wrap="square" lIns="0" rIns="0" tIns="0" bIns="0" anchor="t">
            <a:spAutoFit/>
          </a:bodyPr>
          <a:lstStyle/>
          <a:p>
            <a:pPr algn="ctr">
              <a:lnSpc>
                <a:spcPct val="118000"/>
              </a:lnSpc>
              <a:spcBef>
                <a:spcPts val="0"/>
              </a:spcBef>
              <a:spcAft>
                <a:spcPts val="0"/>
              </a:spcAft>
            </a:pPr>
            <a:r>
              <a:rPr sz="750" b="1">
                <a:solidFill>
                  <a:srgbClr val="171717"/>
                </a:solidFill>
                <a:latin typeface="Aptos"/>
              </a:rPr>
              <a:t>Funding / confidence stress</a:t>
            </a:r>
          </a:p>
        </p:txBody>
      </p:sp>
      <p:sp>
        <p:nvSpPr>
          <p:cNvPr id="35" name="TextBox 34"/>
          <p:cNvSpPr txBox="1"/>
          <p:nvPr/>
        </p:nvSpPr>
        <p:spPr>
          <a:xfrm>
            <a:off x="571500" y="3467100"/>
            <a:ext cx="10668000" cy="19050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B51E2B"/>
                </a:solidFill>
                <a:latin typeface="Aptos"/>
              </a:rPr>
              <a:t>CASH EFFECTS TO TRACK</a:t>
            </a:r>
          </a:p>
        </p:txBody>
      </p:sp>
      <p:sp>
        <p:nvSpPr>
          <p:cNvPr id="36" name="TextBox 35"/>
          <p:cNvSpPr txBox="1"/>
          <p:nvPr/>
        </p:nvSpPr>
        <p:spPr>
          <a:xfrm>
            <a:off x="609600" y="3705224"/>
            <a:ext cx="1571625" cy="19050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E3000B"/>
                </a:solidFill>
                <a:latin typeface="Aptos"/>
              </a:rPr>
              <a:t>PERMANENT</a:t>
            </a:r>
          </a:p>
        </p:txBody>
      </p:sp>
      <p:sp>
        <p:nvSpPr>
          <p:cNvPr id="37" name="TextBox 36"/>
          <p:cNvSpPr txBox="1"/>
          <p:nvPr/>
        </p:nvSpPr>
        <p:spPr>
          <a:xfrm>
            <a:off x="2238375" y="3705224"/>
            <a:ext cx="8953500" cy="295275"/>
          </a:xfrm>
          <a:prstGeom prst="rect">
            <a:avLst/>
          </a:prstGeom>
          <a:noFill/>
        </p:spPr>
        <p:txBody>
          <a:bodyPr wrap="square" lIns="0" rIns="0" tIns="0" bIns="0" anchor="t">
            <a:spAutoFit/>
          </a:bodyPr>
          <a:lstStyle/>
          <a:p>
            <a:pPr algn="l">
              <a:lnSpc>
                <a:spcPct val="118000"/>
              </a:lnSpc>
              <a:spcBef>
                <a:spcPts val="0"/>
              </a:spcBef>
              <a:spcAft>
                <a:spcPts val="0"/>
              </a:spcAft>
            </a:pPr>
            <a:r>
              <a:rPr sz="825" b="0">
                <a:solidFill>
                  <a:srgbClr val="171717"/>
                </a:solidFill>
                <a:latin typeface="Aptos"/>
              </a:rPr>
              <a:t>Realised trading losses; investigation / remediation expense.</a:t>
            </a:r>
          </a:p>
        </p:txBody>
      </p:sp>
      <p:sp>
        <p:nvSpPr>
          <p:cNvPr id="38" name="TextBox 37"/>
          <p:cNvSpPr txBox="1"/>
          <p:nvPr/>
        </p:nvSpPr>
        <p:spPr>
          <a:xfrm>
            <a:off x="609600" y="4181475"/>
            <a:ext cx="1571625" cy="19050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B51E2B"/>
                </a:solidFill>
                <a:latin typeface="Aptos"/>
              </a:rPr>
              <a:t>TEMPORARY</a:t>
            </a:r>
          </a:p>
        </p:txBody>
      </p:sp>
      <p:sp>
        <p:nvSpPr>
          <p:cNvPr id="39" name="TextBox 38"/>
          <p:cNvSpPr txBox="1"/>
          <p:nvPr/>
        </p:nvSpPr>
        <p:spPr>
          <a:xfrm>
            <a:off x="2238375" y="4181475"/>
            <a:ext cx="8953500" cy="295275"/>
          </a:xfrm>
          <a:prstGeom prst="rect">
            <a:avLst/>
          </a:prstGeom>
          <a:noFill/>
        </p:spPr>
        <p:txBody>
          <a:bodyPr wrap="square" lIns="0" rIns="0" tIns="0" bIns="0" anchor="t">
            <a:spAutoFit/>
          </a:bodyPr>
          <a:lstStyle/>
          <a:p>
            <a:pPr algn="l">
              <a:lnSpc>
                <a:spcPct val="118000"/>
              </a:lnSpc>
              <a:spcBef>
                <a:spcPts val="0"/>
              </a:spcBef>
              <a:spcAft>
                <a:spcPts val="0"/>
              </a:spcAft>
            </a:pPr>
            <a:r>
              <a:rPr sz="825" b="0">
                <a:solidFill>
                  <a:srgbClr val="171717"/>
                </a:solidFill>
                <a:latin typeface="Aptos"/>
              </a:rPr>
              <a:t>Cash settlement and recoverable collateral / delayed receipts, if evidenced.</a:t>
            </a:r>
          </a:p>
        </p:txBody>
      </p:sp>
      <p:sp>
        <p:nvSpPr>
          <p:cNvPr id="40" name="TextBox 39"/>
          <p:cNvSpPr txBox="1"/>
          <p:nvPr/>
        </p:nvSpPr>
        <p:spPr>
          <a:xfrm>
            <a:off x="609600" y="4657725"/>
            <a:ext cx="1571625" cy="19050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B51E2B"/>
                </a:solidFill>
                <a:latin typeface="Aptos"/>
              </a:rPr>
              <a:t>CONTINGENT</a:t>
            </a:r>
          </a:p>
        </p:txBody>
      </p:sp>
      <p:sp>
        <p:nvSpPr>
          <p:cNvPr id="41" name="TextBox 40"/>
          <p:cNvSpPr txBox="1"/>
          <p:nvPr/>
        </p:nvSpPr>
        <p:spPr>
          <a:xfrm>
            <a:off x="2238375" y="4657725"/>
            <a:ext cx="8953500" cy="295275"/>
          </a:xfrm>
          <a:prstGeom prst="rect">
            <a:avLst/>
          </a:prstGeom>
          <a:noFill/>
        </p:spPr>
        <p:txBody>
          <a:bodyPr wrap="square" lIns="0" rIns="0" tIns="0" bIns="0" anchor="t">
            <a:spAutoFit/>
          </a:bodyPr>
          <a:lstStyle/>
          <a:p>
            <a:pPr algn="l">
              <a:lnSpc>
                <a:spcPct val="118000"/>
              </a:lnSpc>
              <a:spcBef>
                <a:spcPts val="0"/>
              </a:spcBef>
              <a:spcAft>
                <a:spcPts val="0"/>
              </a:spcAft>
            </a:pPr>
            <a:r>
              <a:rPr sz="825" b="0">
                <a:solidFill>
                  <a:srgbClr val="171717"/>
                </a:solidFill>
                <a:latin typeface="Aptos"/>
              </a:rPr>
              <a:t>Withdrawals, tighter counterparty terms, funding access; stress scenarios only.</a:t>
            </a:r>
          </a:p>
        </p:txBody>
      </p:sp>
      <p:sp>
        <p:nvSpPr>
          <p:cNvPr id="42" name="Rectangle 41"/>
          <p:cNvSpPr/>
          <p:nvPr/>
        </p:nvSpPr>
        <p:spPr>
          <a:xfrm>
            <a:off x="571500" y="5305425"/>
            <a:ext cx="10668000" cy="552450"/>
          </a:xfrm>
          <a:prstGeom prst="rect">
            <a:avLst/>
          </a:prstGeom>
          <a:solidFill>
            <a:srgbClr val="FAF4F4"/>
          </a:solidFill>
          <a:ln w="12700">
            <a:solidFill>
              <a:srgbClr val="E5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2950" y="5429250"/>
            <a:ext cx="10287000" cy="314325"/>
          </a:xfrm>
          <a:prstGeom prst="rect">
            <a:avLst/>
          </a:prstGeom>
          <a:noFill/>
        </p:spPr>
        <p:txBody>
          <a:bodyPr wrap="square" lIns="0" rIns="0" tIns="0" bIns="0" anchor="t">
            <a:spAutoFit/>
          </a:bodyPr>
          <a:lstStyle/>
          <a:p>
            <a:pPr algn="l">
              <a:lnSpc>
                <a:spcPct val="118000"/>
              </a:lnSpc>
              <a:spcBef>
                <a:spcPts val="0"/>
              </a:spcBef>
              <a:spcAft>
                <a:spcPts val="0"/>
              </a:spcAft>
            </a:pPr>
            <a:r>
              <a:rPr sz="825" b="1">
                <a:solidFill>
                  <a:srgbClr val="171717"/>
                </a:solidFill>
                <a:latin typeface="Aptos"/>
              </a:rPr>
              <a:t>Obligations continue: settlements · withdrawals · debt repayments · payroll · supplier payments. Do not equate the USD 2.3bn loss with day-one cash need.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2000" cy="6858000"/>
          </a:xfrm>
          <a:prstGeom prst="rect">
            <a:avLst/>
          </a:prstGeom>
          <a:solidFill>
            <a:srgbClr val="FFFFF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38100"/>
          </a:xfrm>
          <a:prstGeom prst="rect">
            <a:avLst/>
          </a:prstGeom>
          <a:solidFill>
            <a:srgbClr val="E3000B"/>
          </a:solidFill>
          <a:ln w="12700">
            <a:solidFill>
              <a:srgbClr val="E30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ubs-logo.png"/>
          <p:cNvPicPr>
            <a:picLocks noChangeAspect="1"/>
          </p:cNvPicPr>
          <p:nvPr/>
        </p:nvPicPr>
        <p:blipFill>
          <a:blip r:embed="rId2"/>
          <a:stretch>
            <a:fillRect/>
          </a:stretch>
        </p:blipFill>
        <p:spPr>
          <a:xfrm>
            <a:off x="408461" y="123824"/>
            <a:ext cx="1240476" cy="438150"/>
          </a:xfrm>
          <a:prstGeom prst="rect">
            <a:avLst/>
          </a:prstGeom>
        </p:spPr>
      </p:pic>
      <p:pic>
        <p:nvPicPr>
          <p:cNvPr id="5" name="Picture 4" descr="skema-logo.png"/>
          <p:cNvPicPr>
            <a:picLocks noChangeAspect="1"/>
          </p:cNvPicPr>
          <p:nvPr/>
        </p:nvPicPr>
        <p:blipFill>
          <a:blip r:embed="rId3"/>
          <a:stretch>
            <a:fillRect/>
          </a:stretch>
        </p:blipFill>
        <p:spPr>
          <a:xfrm>
            <a:off x="11344275" y="114375"/>
            <a:ext cx="400050" cy="418949"/>
          </a:xfrm>
          <a:prstGeom prst="rect">
            <a:avLst/>
          </a:prstGeom>
        </p:spPr>
      </p:pic>
      <p:sp>
        <p:nvSpPr>
          <p:cNvPr id="6" name="TextBox 5"/>
          <p:cNvSpPr txBox="1"/>
          <p:nvPr/>
        </p:nvSpPr>
        <p:spPr>
          <a:xfrm>
            <a:off x="1952624" y="247649"/>
            <a:ext cx="8096249" cy="20955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B51E2B"/>
                </a:solidFill>
                <a:latin typeface="Aptos"/>
              </a:rPr>
              <a:t>PART II · 2.1 MODEL SCOPE &amp; ASSUMPTIONS</a:t>
            </a:r>
          </a:p>
        </p:txBody>
      </p:sp>
      <p:sp>
        <p:nvSpPr>
          <p:cNvPr id="7" name="TextBox 6"/>
          <p:cNvSpPr txBox="1"/>
          <p:nvPr/>
        </p:nvSpPr>
        <p:spPr>
          <a:xfrm>
            <a:off x="419100" y="742950"/>
            <a:ext cx="11353800" cy="400050"/>
          </a:xfrm>
          <a:prstGeom prst="rect">
            <a:avLst/>
          </a:prstGeom>
          <a:noFill/>
        </p:spPr>
        <p:txBody>
          <a:bodyPr wrap="square" lIns="0" rIns="0" tIns="0" bIns="0" anchor="t">
            <a:spAutoFit/>
          </a:bodyPr>
          <a:lstStyle/>
          <a:p>
            <a:pPr algn="l">
              <a:lnSpc>
                <a:spcPct val="118000"/>
              </a:lnSpc>
              <a:spcBef>
                <a:spcPts val="0"/>
              </a:spcBef>
              <a:spcAft>
                <a:spcPts val="0"/>
              </a:spcAft>
            </a:pPr>
            <a:r>
              <a:rPr sz="2025" b="1">
                <a:solidFill>
                  <a:srgbClr val="171717"/>
                </a:solidFill>
                <a:latin typeface="Aptos"/>
              </a:rPr>
              <a:t>Model setup: one perimeter, USD millions, clear assumptions</a:t>
            </a:r>
          </a:p>
        </p:txBody>
      </p:sp>
      <p:cxnSp>
        <p:nvCxnSpPr>
          <p:cNvPr id="8" name="Connector 7"/>
          <p:cNvCxnSpPr/>
          <p:nvPr/>
        </p:nvCxnSpPr>
        <p:spPr>
          <a:xfrm>
            <a:off x="419100" y="1247775"/>
            <a:ext cx="11353800" cy="0"/>
          </a:xfrm>
          <a:prstGeom prst="line">
            <a:avLst/>
          </a:prstGeom>
          <a:ln w="12700">
            <a:solidFill>
              <a:srgbClr val="D8D7D2"/>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9100" y="6457950"/>
            <a:ext cx="11353800" cy="0"/>
          </a:xfrm>
          <a:prstGeom prst="line">
            <a:avLst/>
          </a:prstGeom>
          <a:ln w="12700">
            <a:solidFill>
              <a:srgbClr val="D8D7D2"/>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19100" y="6534150"/>
            <a:ext cx="7715250" cy="171450"/>
          </a:xfrm>
          <a:prstGeom prst="rect">
            <a:avLst/>
          </a:prstGeom>
          <a:noFill/>
        </p:spPr>
        <p:txBody>
          <a:bodyPr wrap="square" lIns="0" rIns="0" tIns="0" bIns="0" anchor="t">
            <a:spAutoFit/>
          </a:bodyPr>
          <a:lstStyle/>
          <a:p>
            <a:pPr algn="l">
              <a:lnSpc>
                <a:spcPct val="118000"/>
              </a:lnSpc>
              <a:spcBef>
                <a:spcPts val="0"/>
              </a:spcBef>
              <a:spcAft>
                <a:spcPts val="0"/>
              </a:spcAft>
            </a:pPr>
            <a:r>
              <a:rPr sz="600" b="0">
                <a:solidFill>
                  <a:srgbClr val="5C5C58"/>
                </a:solidFill>
                <a:latin typeface="Aptos"/>
              </a:rPr>
              <a:t>Classroom cash inputs are illustrative assumptions, not UBS Treasury records; replace with internal data.</a:t>
            </a:r>
          </a:p>
        </p:txBody>
      </p:sp>
      <p:sp>
        <p:nvSpPr>
          <p:cNvPr id="11" name="TextBox 10"/>
          <p:cNvSpPr txBox="1"/>
          <p:nvPr/>
        </p:nvSpPr>
        <p:spPr>
          <a:xfrm>
            <a:off x="8858250" y="6515100"/>
            <a:ext cx="2905125" cy="190500"/>
          </a:xfrm>
          <a:prstGeom prst="rect">
            <a:avLst/>
          </a:prstGeom>
          <a:noFill/>
        </p:spPr>
        <p:txBody>
          <a:bodyPr wrap="square" lIns="0" rIns="0" tIns="0" bIns="0" anchor="t">
            <a:spAutoFit/>
          </a:bodyPr>
          <a:lstStyle/>
          <a:p>
            <a:pPr algn="r">
              <a:lnSpc>
                <a:spcPct val="118000"/>
              </a:lnSpc>
              <a:spcBef>
                <a:spcPts val="0"/>
              </a:spcBef>
              <a:spcAft>
                <a:spcPts val="0"/>
              </a:spcAft>
            </a:pPr>
            <a:r>
              <a:rPr sz="675" b="1">
                <a:solidFill>
                  <a:srgbClr val="B51E2B"/>
                </a:solidFill>
                <a:latin typeface="Aptos"/>
              </a:rPr>
              <a:t>ELIAS  /  06</a:t>
            </a:r>
          </a:p>
        </p:txBody>
      </p:sp>
      <p:sp>
        <p:nvSpPr>
          <p:cNvPr id="12" name="Rectangle 11"/>
          <p:cNvSpPr/>
          <p:nvPr/>
        </p:nvSpPr>
        <p:spPr>
          <a:xfrm>
            <a:off x="552450" y="1381125"/>
            <a:ext cx="5295900" cy="1143000"/>
          </a:xfrm>
          <a:prstGeom prst="rect">
            <a:avLst/>
          </a:prstGeom>
          <a:solidFill>
            <a:srgbClr val="F8F8F6"/>
          </a:solidFill>
          <a:ln w="12700">
            <a:solidFill>
              <a:srgbClr val="D8D7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2950" y="1533525"/>
            <a:ext cx="4810125" cy="17145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B51E2B"/>
                </a:solidFill>
                <a:latin typeface="Aptos"/>
              </a:rPr>
              <a:t>PERIMETER</a:t>
            </a:r>
          </a:p>
        </p:txBody>
      </p:sp>
      <p:sp>
        <p:nvSpPr>
          <p:cNvPr id="14" name="TextBox 13"/>
          <p:cNvSpPr txBox="1"/>
          <p:nvPr/>
        </p:nvSpPr>
        <p:spPr>
          <a:xfrm>
            <a:off x="742950" y="1809750"/>
            <a:ext cx="4857750" cy="561975"/>
          </a:xfrm>
          <a:prstGeom prst="rect">
            <a:avLst/>
          </a:prstGeom>
          <a:noFill/>
        </p:spPr>
        <p:txBody>
          <a:bodyPr wrap="square" lIns="0" rIns="0" tIns="0" bIns="0" anchor="t">
            <a:spAutoFit/>
          </a:bodyPr>
          <a:lstStyle/>
          <a:p>
            <a:pPr algn="l">
              <a:lnSpc>
                <a:spcPct val="125000"/>
              </a:lnSpc>
              <a:spcBef>
                <a:spcPts val="0"/>
              </a:spcBef>
              <a:spcAft>
                <a:spcPts val="0"/>
              </a:spcAft>
            </a:pPr>
            <a:r>
              <a:rPr sz="900" b="0">
                <a:solidFill>
                  <a:srgbClr val="171717"/>
                </a:solidFill>
                <a:latin typeface="Aptos"/>
              </a:rPr>
              <a:t>Group cash calendar; ring-fence London Investment Bank exposure. Count assets only if transferable in the right entity and currency by the due date.</a:t>
            </a:r>
          </a:p>
        </p:txBody>
      </p:sp>
      <p:sp>
        <p:nvSpPr>
          <p:cNvPr id="15" name="Rectangle 14"/>
          <p:cNvSpPr/>
          <p:nvPr/>
        </p:nvSpPr>
        <p:spPr>
          <a:xfrm>
            <a:off x="6096000" y="1381125"/>
            <a:ext cx="5505450" cy="1143000"/>
          </a:xfrm>
          <a:prstGeom prst="rect">
            <a:avLst/>
          </a:prstGeom>
          <a:solidFill>
            <a:srgbClr val="F8F8F6"/>
          </a:solidFill>
          <a:ln w="12700">
            <a:solidFill>
              <a:srgbClr val="D8D7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86500" y="1533525"/>
            <a:ext cx="5048250" cy="17145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E3000B"/>
                </a:solidFill>
                <a:latin typeface="Aptos"/>
              </a:rPr>
              <a:t>ILLUSTRATIVE INPUTS · USDm</a:t>
            </a:r>
          </a:p>
        </p:txBody>
      </p:sp>
      <p:sp>
        <p:nvSpPr>
          <p:cNvPr id="17" name="TextBox 16"/>
          <p:cNvSpPr txBox="1"/>
          <p:nvPr/>
        </p:nvSpPr>
        <p:spPr>
          <a:xfrm>
            <a:off x="6286500" y="1809750"/>
            <a:ext cx="5048250" cy="561975"/>
          </a:xfrm>
          <a:prstGeom prst="rect">
            <a:avLst/>
          </a:prstGeom>
          <a:noFill/>
        </p:spPr>
        <p:txBody>
          <a:bodyPr wrap="square" lIns="0" rIns="0" tIns="0" bIns="0" anchor="t">
            <a:spAutoFit/>
          </a:bodyPr>
          <a:lstStyle/>
          <a:p>
            <a:pPr algn="l">
              <a:lnSpc>
                <a:spcPct val="125000"/>
              </a:lnSpc>
              <a:spcBef>
                <a:spcPts val="0"/>
              </a:spcBef>
              <a:spcAft>
                <a:spcPts val="0"/>
              </a:spcAft>
            </a:pPr>
            <a:r>
              <a:rPr sz="825" b="0">
                <a:solidFill>
                  <a:srgbClr val="171717"/>
                </a:solidFill>
                <a:latin typeface="Aptos"/>
              </a:rPr>
              <a:t>Opening cash $1,000m (round-number assumption). Buffer $700m ≈1.13× assumed first-week payments ($621m). Replace with UBS policy.</a:t>
            </a:r>
          </a:p>
        </p:txBody>
      </p:sp>
      <p:sp>
        <p:nvSpPr>
          <p:cNvPr id="18" name="Rectangle 17"/>
          <p:cNvSpPr/>
          <p:nvPr/>
        </p:nvSpPr>
        <p:spPr>
          <a:xfrm>
            <a:off x="552450" y="2724150"/>
            <a:ext cx="3476625" cy="723900"/>
          </a:xfrm>
          <a:prstGeom prst="rect">
            <a:avLst/>
          </a:prstGeom>
          <a:solidFill>
            <a:srgbClr val="FFFFFF"/>
          </a:solidFill>
          <a:ln w="12700">
            <a:solidFill>
              <a:srgbClr val="D8D7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5325" y="2847975"/>
            <a:ext cx="3143250" cy="161925"/>
          </a:xfrm>
          <a:prstGeom prst="rect">
            <a:avLst/>
          </a:prstGeom>
          <a:noFill/>
        </p:spPr>
        <p:txBody>
          <a:bodyPr wrap="square" lIns="0" rIns="0" tIns="0" bIns="0" anchor="t">
            <a:spAutoFit/>
          </a:bodyPr>
          <a:lstStyle/>
          <a:p>
            <a:pPr algn="l">
              <a:lnSpc>
                <a:spcPct val="118000"/>
              </a:lnSpc>
              <a:spcBef>
                <a:spcPts val="0"/>
              </a:spcBef>
              <a:spcAft>
                <a:spcPts val="0"/>
              </a:spcAft>
            </a:pPr>
            <a:r>
              <a:rPr sz="675" b="1">
                <a:solidFill>
                  <a:srgbClr val="B51E2B"/>
                </a:solidFill>
                <a:latin typeface="Aptos"/>
              </a:rPr>
              <a:t>PUBLISHED</a:t>
            </a:r>
          </a:p>
        </p:txBody>
      </p:sp>
      <p:sp>
        <p:nvSpPr>
          <p:cNvPr id="20" name="TextBox 19"/>
          <p:cNvSpPr txBox="1"/>
          <p:nvPr/>
        </p:nvSpPr>
        <p:spPr>
          <a:xfrm>
            <a:off x="695325" y="3105150"/>
            <a:ext cx="3143250" cy="285750"/>
          </a:xfrm>
          <a:prstGeom prst="rect">
            <a:avLst/>
          </a:prstGeom>
          <a:noFill/>
        </p:spPr>
        <p:txBody>
          <a:bodyPr wrap="square" lIns="0" rIns="0" tIns="0" bIns="0" anchor="t">
            <a:spAutoFit/>
          </a:bodyPr>
          <a:lstStyle/>
          <a:p>
            <a:pPr algn="l">
              <a:lnSpc>
                <a:spcPct val="115000"/>
              </a:lnSpc>
              <a:spcBef>
                <a:spcPts val="0"/>
              </a:spcBef>
              <a:spcAft>
                <a:spcPts val="0"/>
              </a:spcAft>
            </a:pPr>
            <a:r>
              <a:rPr sz="750" b="0">
                <a:solidFill>
                  <a:srgbClr val="171717"/>
                </a:solidFill>
                <a:latin typeface="Aptos"/>
              </a:rPr>
              <a:t>Loss, incident dates, positions, controls</a:t>
            </a:r>
          </a:p>
        </p:txBody>
      </p:sp>
      <p:sp>
        <p:nvSpPr>
          <p:cNvPr id="21" name="Rectangle 20"/>
          <p:cNvSpPr/>
          <p:nvPr/>
        </p:nvSpPr>
        <p:spPr>
          <a:xfrm>
            <a:off x="4267200" y="2724150"/>
            <a:ext cx="3476625" cy="723900"/>
          </a:xfrm>
          <a:prstGeom prst="rect">
            <a:avLst/>
          </a:prstGeom>
          <a:solidFill>
            <a:srgbClr val="FFFFFF"/>
          </a:solidFill>
          <a:ln w="12700">
            <a:solidFill>
              <a:srgbClr val="D8D7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10075" y="2847975"/>
            <a:ext cx="3143250" cy="161925"/>
          </a:xfrm>
          <a:prstGeom prst="rect">
            <a:avLst/>
          </a:prstGeom>
          <a:noFill/>
        </p:spPr>
        <p:txBody>
          <a:bodyPr wrap="square" lIns="0" rIns="0" tIns="0" bIns="0" anchor="t">
            <a:spAutoFit/>
          </a:bodyPr>
          <a:lstStyle/>
          <a:p>
            <a:pPr algn="l">
              <a:lnSpc>
                <a:spcPct val="118000"/>
              </a:lnSpc>
              <a:spcBef>
                <a:spcPts val="0"/>
              </a:spcBef>
              <a:spcAft>
                <a:spcPts val="0"/>
              </a:spcAft>
            </a:pPr>
            <a:r>
              <a:rPr sz="675" b="1">
                <a:solidFill>
                  <a:srgbClr val="B51E2B"/>
                </a:solidFill>
                <a:latin typeface="Aptos"/>
              </a:rPr>
              <a:t>DERIVED</a:t>
            </a:r>
          </a:p>
        </p:txBody>
      </p:sp>
      <p:sp>
        <p:nvSpPr>
          <p:cNvPr id="23" name="TextBox 22"/>
          <p:cNvSpPr txBox="1"/>
          <p:nvPr/>
        </p:nvSpPr>
        <p:spPr>
          <a:xfrm>
            <a:off x="4410075" y="3105150"/>
            <a:ext cx="3143250" cy="285750"/>
          </a:xfrm>
          <a:prstGeom prst="rect">
            <a:avLst/>
          </a:prstGeom>
          <a:noFill/>
        </p:spPr>
        <p:txBody>
          <a:bodyPr wrap="square" lIns="0" rIns="0" tIns="0" bIns="0" anchor="t">
            <a:spAutoFit/>
          </a:bodyPr>
          <a:lstStyle/>
          <a:p>
            <a:pPr algn="l">
              <a:lnSpc>
                <a:spcPct val="115000"/>
              </a:lnSpc>
              <a:spcBef>
                <a:spcPts val="0"/>
              </a:spcBef>
              <a:spcAft>
                <a:spcPts val="0"/>
              </a:spcAft>
            </a:pPr>
            <a:r>
              <a:rPr sz="750" b="0">
                <a:solidFill>
                  <a:srgbClr val="171717"/>
                </a:solidFill>
                <a:latin typeface="Aptos"/>
              </a:rPr>
              <a:t>Accounting reconciliation + model arithmetic</a:t>
            </a:r>
          </a:p>
        </p:txBody>
      </p:sp>
      <p:sp>
        <p:nvSpPr>
          <p:cNvPr id="24" name="Rectangle 23"/>
          <p:cNvSpPr/>
          <p:nvPr/>
        </p:nvSpPr>
        <p:spPr>
          <a:xfrm>
            <a:off x="7981949" y="2724150"/>
            <a:ext cx="3476625" cy="723900"/>
          </a:xfrm>
          <a:prstGeom prst="rect">
            <a:avLst/>
          </a:prstGeom>
          <a:solidFill>
            <a:srgbClr val="FFFFFF"/>
          </a:solidFill>
          <a:ln w="12700">
            <a:solidFill>
              <a:srgbClr val="D8D7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24824" y="2847975"/>
            <a:ext cx="3143250" cy="161925"/>
          </a:xfrm>
          <a:prstGeom prst="rect">
            <a:avLst/>
          </a:prstGeom>
          <a:noFill/>
        </p:spPr>
        <p:txBody>
          <a:bodyPr wrap="square" lIns="0" rIns="0" tIns="0" bIns="0" anchor="t">
            <a:spAutoFit/>
          </a:bodyPr>
          <a:lstStyle/>
          <a:p>
            <a:pPr algn="l">
              <a:lnSpc>
                <a:spcPct val="118000"/>
              </a:lnSpc>
              <a:spcBef>
                <a:spcPts val="0"/>
              </a:spcBef>
              <a:spcAft>
                <a:spcPts val="0"/>
              </a:spcAft>
            </a:pPr>
            <a:r>
              <a:rPr sz="675" b="1">
                <a:solidFill>
                  <a:srgbClr val="E3000B"/>
                </a:solidFill>
                <a:latin typeface="Aptos"/>
              </a:rPr>
              <a:t>ASSUMED</a:t>
            </a:r>
          </a:p>
        </p:txBody>
      </p:sp>
      <p:sp>
        <p:nvSpPr>
          <p:cNvPr id="26" name="TextBox 25"/>
          <p:cNvSpPr txBox="1"/>
          <p:nvPr/>
        </p:nvSpPr>
        <p:spPr>
          <a:xfrm>
            <a:off x="8124824" y="3105150"/>
            <a:ext cx="3143250" cy="285750"/>
          </a:xfrm>
          <a:prstGeom prst="rect">
            <a:avLst/>
          </a:prstGeom>
          <a:noFill/>
        </p:spPr>
        <p:txBody>
          <a:bodyPr wrap="square" lIns="0" rIns="0" tIns="0" bIns="0" anchor="t">
            <a:spAutoFit/>
          </a:bodyPr>
          <a:lstStyle/>
          <a:p>
            <a:pPr algn="l">
              <a:lnSpc>
                <a:spcPct val="115000"/>
              </a:lnSpc>
              <a:spcBef>
                <a:spcPts val="0"/>
              </a:spcBef>
              <a:spcAft>
                <a:spcPts val="0"/>
              </a:spcAft>
            </a:pPr>
            <a:r>
              <a:rPr sz="750" b="0">
                <a:solidFill>
                  <a:srgbClr val="171717"/>
                </a:solidFill>
                <a:latin typeface="Aptos"/>
              </a:rPr>
              <a:t>Opening cash, buffer, receipts, payments, FX</a:t>
            </a:r>
          </a:p>
        </p:txBody>
      </p:sp>
      <p:sp>
        <p:nvSpPr>
          <p:cNvPr id="27" name="TextBox 26"/>
          <p:cNvSpPr txBox="1"/>
          <p:nvPr/>
        </p:nvSpPr>
        <p:spPr>
          <a:xfrm>
            <a:off x="571500" y="3733799"/>
            <a:ext cx="10858500" cy="400050"/>
          </a:xfrm>
          <a:prstGeom prst="rect">
            <a:avLst/>
          </a:prstGeom>
          <a:noFill/>
        </p:spPr>
        <p:txBody>
          <a:bodyPr wrap="square" lIns="0" rIns="0" tIns="0" bIns="0" anchor="t">
            <a:spAutoFit/>
          </a:bodyPr>
          <a:lstStyle/>
          <a:p>
            <a:pPr algn="l">
              <a:lnSpc>
                <a:spcPct val="118000"/>
              </a:lnSpc>
              <a:spcBef>
                <a:spcPts val="0"/>
              </a:spcBef>
              <a:spcAft>
                <a:spcPts val="0"/>
              </a:spcAft>
            </a:pPr>
            <a:r>
              <a:rPr sz="900" b="1">
                <a:solidFill>
                  <a:srgbClr val="171717"/>
                </a:solidFill>
                <a:latin typeface="Aptos"/>
              </a:rPr>
              <a:t>Use maturity-based cash flows and liquidity headroom—not WCR / CCC, which do not fit a bank’s deposit, settlement and collateral profile.</a:t>
            </a:r>
          </a:p>
        </p:txBody>
      </p:sp>
      <p:sp>
        <p:nvSpPr>
          <p:cNvPr id="28" name="Rectangle 27"/>
          <p:cNvSpPr/>
          <p:nvPr/>
        </p:nvSpPr>
        <p:spPr>
          <a:xfrm>
            <a:off x="571500" y="4467225"/>
            <a:ext cx="10668000" cy="819150"/>
          </a:xfrm>
          <a:prstGeom prst="rect">
            <a:avLst/>
          </a:prstGeom>
          <a:solidFill>
            <a:srgbClr val="F8F8F6"/>
          </a:solidFill>
          <a:ln w="12700">
            <a:solidFill>
              <a:srgbClr val="D8D7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2950" y="4619625"/>
            <a:ext cx="10287000" cy="17145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B51E2B"/>
                </a:solidFill>
                <a:latin typeface="Aptos"/>
              </a:rPr>
              <a:t>MODEL TIMING</a:t>
            </a:r>
          </a:p>
        </p:txBody>
      </p:sp>
      <p:sp>
        <p:nvSpPr>
          <p:cNvPr id="30" name="TextBox 29"/>
          <p:cNvSpPr txBox="1"/>
          <p:nvPr/>
        </p:nvSpPr>
        <p:spPr>
          <a:xfrm>
            <a:off x="742950" y="4876800"/>
            <a:ext cx="10287000" cy="295275"/>
          </a:xfrm>
          <a:prstGeom prst="rect">
            <a:avLst/>
          </a:prstGeom>
          <a:noFill/>
        </p:spPr>
        <p:txBody>
          <a:bodyPr wrap="square" lIns="0" rIns="0" tIns="0" bIns="0" anchor="t">
            <a:spAutoFit/>
          </a:bodyPr>
          <a:lstStyle/>
          <a:p>
            <a:pPr algn="l">
              <a:lnSpc>
                <a:spcPct val="120000"/>
              </a:lnSpc>
              <a:spcBef>
                <a:spcPts val="0"/>
              </a:spcBef>
              <a:spcAft>
                <a:spcPts val="0"/>
              </a:spcAft>
            </a:pPr>
            <a:r>
              <a:rPr sz="825" b="0">
                <a:solidFill>
                  <a:srgbClr val="171717"/>
                </a:solidFill>
                <a:latin typeface="Aptos"/>
              </a:rPr>
              <a:t>Daily 14–20 Sep; weekly after that; monthly roll-up to 14 Dec. In a live CFO forecast, replace assumptions with the approved buffer, dated cash ledger and FX rates.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2000" cy="6858000"/>
          </a:xfrm>
          <a:prstGeom prst="rect">
            <a:avLst/>
          </a:prstGeom>
          <a:solidFill>
            <a:srgbClr val="FFFFF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38100"/>
          </a:xfrm>
          <a:prstGeom prst="rect">
            <a:avLst/>
          </a:prstGeom>
          <a:solidFill>
            <a:srgbClr val="E3000B"/>
          </a:solidFill>
          <a:ln w="12700">
            <a:solidFill>
              <a:srgbClr val="E30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ubs-logo.png"/>
          <p:cNvPicPr>
            <a:picLocks noChangeAspect="1"/>
          </p:cNvPicPr>
          <p:nvPr/>
        </p:nvPicPr>
        <p:blipFill>
          <a:blip r:embed="rId2"/>
          <a:stretch>
            <a:fillRect/>
          </a:stretch>
        </p:blipFill>
        <p:spPr>
          <a:xfrm>
            <a:off x="408461" y="123824"/>
            <a:ext cx="1240476" cy="438150"/>
          </a:xfrm>
          <a:prstGeom prst="rect">
            <a:avLst/>
          </a:prstGeom>
        </p:spPr>
      </p:pic>
      <p:pic>
        <p:nvPicPr>
          <p:cNvPr id="5" name="Picture 4" descr="skema-logo.png"/>
          <p:cNvPicPr>
            <a:picLocks noChangeAspect="1"/>
          </p:cNvPicPr>
          <p:nvPr/>
        </p:nvPicPr>
        <p:blipFill>
          <a:blip r:embed="rId3"/>
          <a:stretch>
            <a:fillRect/>
          </a:stretch>
        </p:blipFill>
        <p:spPr>
          <a:xfrm>
            <a:off x="11344275" y="114375"/>
            <a:ext cx="400050" cy="418949"/>
          </a:xfrm>
          <a:prstGeom prst="rect">
            <a:avLst/>
          </a:prstGeom>
        </p:spPr>
      </p:pic>
      <p:sp>
        <p:nvSpPr>
          <p:cNvPr id="6" name="TextBox 5"/>
          <p:cNvSpPr txBox="1"/>
          <p:nvPr/>
        </p:nvSpPr>
        <p:spPr>
          <a:xfrm>
            <a:off x="1952624" y="247649"/>
            <a:ext cx="8096249" cy="20955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B51E2B"/>
                </a:solidFill>
                <a:latin typeface="Aptos"/>
              </a:rPr>
              <a:t>PART II · 2.2 CASH BRIDGE · ILLUSTRATIVE USDM</a:t>
            </a:r>
          </a:p>
        </p:txBody>
      </p:sp>
      <p:sp>
        <p:nvSpPr>
          <p:cNvPr id="7" name="TextBox 6"/>
          <p:cNvSpPr txBox="1"/>
          <p:nvPr/>
        </p:nvSpPr>
        <p:spPr>
          <a:xfrm>
            <a:off x="419100" y="742950"/>
            <a:ext cx="11353800" cy="400050"/>
          </a:xfrm>
          <a:prstGeom prst="rect">
            <a:avLst/>
          </a:prstGeom>
          <a:noFill/>
        </p:spPr>
        <p:txBody>
          <a:bodyPr wrap="square" lIns="0" rIns="0" tIns="0" bIns="0" anchor="t">
            <a:spAutoFit/>
          </a:bodyPr>
          <a:lstStyle/>
          <a:p>
            <a:pPr algn="l">
              <a:lnSpc>
                <a:spcPct val="118000"/>
              </a:lnSpc>
              <a:spcBef>
                <a:spcPts val="0"/>
              </a:spcBef>
              <a:spcAft>
                <a:spcPts val="0"/>
              </a:spcAft>
            </a:pPr>
            <a:r>
              <a:rPr sz="2025" b="1">
                <a:solidFill>
                  <a:srgbClr val="171717"/>
                </a:solidFill>
                <a:latin typeface="Aptos"/>
              </a:rPr>
              <a:t>Cash path: baseline, incident and stress case</a:t>
            </a:r>
          </a:p>
        </p:txBody>
      </p:sp>
      <p:cxnSp>
        <p:nvCxnSpPr>
          <p:cNvPr id="8" name="Connector 7"/>
          <p:cNvCxnSpPr/>
          <p:nvPr/>
        </p:nvCxnSpPr>
        <p:spPr>
          <a:xfrm>
            <a:off x="419100" y="1247775"/>
            <a:ext cx="11353800" cy="0"/>
          </a:xfrm>
          <a:prstGeom prst="line">
            <a:avLst/>
          </a:prstGeom>
          <a:ln w="12700">
            <a:solidFill>
              <a:srgbClr val="D8D7D2"/>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9100" y="6457950"/>
            <a:ext cx="11353800" cy="0"/>
          </a:xfrm>
          <a:prstGeom prst="line">
            <a:avLst/>
          </a:prstGeom>
          <a:ln w="12700">
            <a:solidFill>
              <a:srgbClr val="D8D7D2"/>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19100" y="6534150"/>
            <a:ext cx="7715250" cy="171450"/>
          </a:xfrm>
          <a:prstGeom prst="rect">
            <a:avLst/>
          </a:prstGeom>
          <a:noFill/>
        </p:spPr>
        <p:txBody>
          <a:bodyPr wrap="square" lIns="0" rIns="0" tIns="0" bIns="0" anchor="t">
            <a:spAutoFit/>
          </a:bodyPr>
          <a:lstStyle/>
          <a:p>
            <a:pPr algn="l">
              <a:lnSpc>
                <a:spcPct val="118000"/>
              </a:lnSpc>
              <a:spcBef>
                <a:spcPts val="0"/>
              </a:spcBef>
              <a:spcAft>
                <a:spcPts val="0"/>
              </a:spcAft>
            </a:pPr>
            <a:r>
              <a:rPr sz="600" b="0">
                <a:solidFill>
                  <a:srgbClr val="5C5C58"/>
                </a:solidFill>
                <a:latin typeface="Aptos"/>
              </a:rPr>
              <a:t>Every cash input below is an explicit classroom assumption, not actual UBS cash data. Public USD 2.3bn loss is not inserted as a same-day cash payment.</a:t>
            </a:r>
          </a:p>
        </p:txBody>
      </p:sp>
      <p:sp>
        <p:nvSpPr>
          <p:cNvPr id="11" name="TextBox 10"/>
          <p:cNvSpPr txBox="1"/>
          <p:nvPr/>
        </p:nvSpPr>
        <p:spPr>
          <a:xfrm>
            <a:off x="8858250" y="6515100"/>
            <a:ext cx="2905125" cy="190500"/>
          </a:xfrm>
          <a:prstGeom prst="rect">
            <a:avLst/>
          </a:prstGeom>
          <a:noFill/>
        </p:spPr>
        <p:txBody>
          <a:bodyPr wrap="square" lIns="0" rIns="0" tIns="0" bIns="0" anchor="t">
            <a:spAutoFit/>
          </a:bodyPr>
          <a:lstStyle/>
          <a:p>
            <a:pPr algn="r">
              <a:lnSpc>
                <a:spcPct val="118000"/>
              </a:lnSpc>
              <a:spcBef>
                <a:spcPts val="0"/>
              </a:spcBef>
              <a:spcAft>
                <a:spcPts val="0"/>
              </a:spcAft>
            </a:pPr>
            <a:r>
              <a:rPr sz="675" b="1">
                <a:solidFill>
                  <a:srgbClr val="B51E2B"/>
                </a:solidFill>
                <a:latin typeface="Aptos"/>
              </a:rPr>
              <a:t>ELIAS  /  07</a:t>
            </a:r>
          </a:p>
        </p:txBody>
      </p:sp>
      <p:sp>
        <p:nvSpPr>
          <p:cNvPr id="12" name="TextBox 11"/>
          <p:cNvSpPr txBox="1"/>
          <p:nvPr/>
        </p:nvSpPr>
        <p:spPr>
          <a:xfrm>
            <a:off x="571500" y="1381125"/>
            <a:ext cx="7810499" cy="171450"/>
          </a:xfrm>
          <a:prstGeom prst="rect">
            <a:avLst/>
          </a:prstGeom>
          <a:noFill/>
        </p:spPr>
        <p:txBody>
          <a:bodyPr wrap="square" lIns="0" rIns="0" tIns="0" bIns="0" anchor="t">
            <a:spAutoFit/>
          </a:bodyPr>
          <a:lstStyle/>
          <a:p>
            <a:pPr algn="l">
              <a:lnSpc>
                <a:spcPct val="118000"/>
              </a:lnSpc>
              <a:spcBef>
                <a:spcPts val="0"/>
              </a:spcBef>
              <a:spcAft>
                <a:spcPts val="0"/>
              </a:spcAft>
            </a:pPr>
            <a:r>
              <a:rPr sz="675" b="1">
                <a:solidFill>
                  <a:srgbClr val="B51E2B"/>
                </a:solidFill>
                <a:latin typeface="Aptos"/>
              </a:rPr>
              <a:t>CASH AT PERIOD CLOSE · USDm</a:t>
            </a:r>
          </a:p>
        </p:txBody>
      </p:sp>
      <p:cxnSp>
        <p:nvCxnSpPr>
          <p:cNvPr id="13" name="Connector 12"/>
          <p:cNvCxnSpPr/>
          <p:nvPr/>
        </p:nvCxnSpPr>
        <p:spPr>
          <a:xfrm>
            <a:off x="2333625" y="1457325"/>
            <a:ext cx="209550" cy="0"/>
          </a:xfrm>
          <a:prstGeom prst="line">
            <a:avLst/>
          </a:prstGeom>
          <a:ln w="25400">
            <a:solidFill>
              <a:srgbClr val="617C8A"/>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590800" y="1390650"/>
            <a:ext cx="1143000" cy="171450"/>
          </a:xfrm>
          <a:prstGeom prst="rect">
            <a:avLst/>
          </a:prstGeom>
          <a:noFill/>
        </p:spPr>
        <p:txBody>
          <a:bodyPr wrap="square" lIns="0" rIns="0" tIns="0" bIns="0" anchor="t">
            <a:spAutoFit/>
          </a:bodyPr>
          <a:lstStyle/>
          <a:p>
            <a:pPr algn="l">
              <a:lnSpc>
                <a:spcPct val="118000"/>
              </a:lnSpc>
              <a:spcBef>
                <a:spcPts val="0"/>
              </a:spcBef>
              <a:spcAft>
                <a:spcPts val="0"/>
              </a:spcAft>
            </a:pPr>
            <a:r>
              <a:rPr sz="675" b="0">
                <a:solidFill>
                  <a:srgbClr val="5C5C58"/>
                </a:solidFill>
                <a:latin typeface="Aptos"/>
              </a:rPr>
              <a:t>No incident</a:t>
            </a:r>
          </a:p>
        </p:txBody>
      </p:sp>
      <p:cxnSp>
        <p:nvCxnSpPr>
          <p:cNvPr id="15" name="Connector 14"/>
          <p:cNvCxnSpPr/>
          <p:nvPr/>
        </p:nvCxnSpPr>
        <p:spPr>
          <a:xfrm>
            <a:off x="3571875" y="1457325"/>
            <a:ext cx="209550" cy="0"/>
          </a:xfrm>
          <a:prstGeom prst="line">
            <a:avLst/>
          </a:prstGeom>
          <a:ln w="25400">
            <a:solidFill>
              <a:srgbClr val="E3000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829050" y="1390650"/>
            <a:ext cx="1143000" cy="171450"/>
          </a:xfrm>
          <a:prstGeom prst="rect">
            <a:avLst/>
          </a:prstGeom>
          <a:noFill/>
        </p:spPr>
        <p:txBody>
          <a:bodyPr wrap="square" lIns="0" rIns="0" tIns="0" bIns="0" anchor="t">
            <a:spAutoFit/>
          </a:bodyPr>
          <a:lstStyle/>
          <a:p>
            <a:pPr algn="l">
              <a:lnSpc>
                <a:spcPct val="118000"/>
              </a:lnSpc>
              <a:spcBef>
                <a:spcPts val="0"/>
              </a:spcBef>
              <a:spcAft>
                <a:spcPts val="0"/>
              </a:spcAft>
            </a:pPr>
            <a:r>
              <a:rPr sz="675" b="0">
                <a:solidFill>
                  <a:srgbClr val="5C5C58"/>
                </a:solidFill>
                <a:latin typeface="Aptos"/>
              </a:rPr>
              <a:t>Incident base</a:t>
            </a:r>
          </a:p>
        </p:txBody>
      </p:sp>
      <p:cxnSp>
        <p:nvCxnSpPr>
          <p:cNvPr id="17" name="Connector 16"/>
          <p:cNvCxnSpPr/>
          <p:nvPr/>
        </p:nvCxnSpPr>
        <p:spPr>
          <a:xfrm>
            <a:off x="4905375" y="1457325"/>
            <a:ext cx="209550" cy="0"/>
          </a:xfrm>
          <a:prstGeom prst="line">
            <a:avLst/>
          </a:prstGeom>
          <a:ln w="25400">
            <a:solidFill>
              <a:srgbClr val="AD7F28"/>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162550" y="1390650"/>
            <a:ext cx="1143000" cy="171450"/>
          </a:xfrm>
          <a:prstGeom prst="rect">
            <a:avLst/>
          </a:prstGeom>
          <a:noFill/>
        </p:spPr>
        <p:txBody>
          <a:bodyPr wrap="square" lIns="0" rIns="0" tIns="0" bIns="0" anchor="t">
            <a:spAutoFit/>
          </a:bodyPr>
          <a:lstStyle/>
          <a:p>
            <a:pPr algn="l">
              <a:lnSpc>
                <a:spcPct val="118000"/>
              </a:lnSpc>
              <a:spcBef>
                <a:spcPts val="0"/>
              </a:spcBef>
              <a:spcAft>
                <a:spcPts val="0"/>
              </a:spcAft>
            </a:pPr>
            <a:r>
              <a:rPr sz="675" b="0">
                <a:solidFill>
                  <a:srgbClr val="5C5C58"/>
                </a:solidFill>
                <a:latin typeface="Aptos"/>
              </a:rPr>
              <a:t>Stress case</a:t>
            </a:r>
          </a:p>
        </p:txBody>
      </p:sp>
      <p:cxnSp>
        <p:nvCxnSpPr>
          <p:cNvPr id="19" name="Connector 18"/>
          <p:cNvCxnSpPr/>
          <p:nvPr/>
        </p:nvCxnSpPr>
        <p:spPr>
          <a:xfrm>
            <a:off x="6048375" y="1457325"/>
            <a:ext cx="209550" cy="0"/>
          </a:xfrm>
          <a:prstGeom prst="line">
            <a:avLst/>
          </a:prstGeom>
          <a:ln w="25400">
            <a:solidFill>
              <a:srgbClr val="E3000B"/>
            </a:solidFill>
            <a:prstDash val="dash"/>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305550" y="1390650"/>
            <a:ext cx="1143000" cy="171450"/>
          </a:xfrm>
          <a:prstGeom prst="rect">
            <a:avLst/>
          </a:prstGeom>
          <a:noFill/>
        </p:spPr>
        <p:txBody>
          <a:bodyPr wrap="square" lIns="0" rIns="0" tIns="0" bIns="0" anchor="t">
            <a:spAutoFit/>
          </a:bodyPr>
          <a:lstStyle/>
          <a:p>
            <a:pPr algn="l">
              <a:lnSpc>
                <a:spcPct val="118000"/>
              </a:lnSpc>
              <a:spcBef>
                <a:spcPts val="0"/>
              </a:spcBef>
              <a:spcAft>
                <a:spcPts val="0"/>
              </a:spcAft>
            </a:pPr>
            <a:r>
              <a:rPr sz="675" b="0">
                <a:solidFill>
                  <a:srgbClr val="5C5C58"/>
                </a:solidFill>
                <a:latin typeface="Aptos"/>
              </a:rPr>
              <a:t>Minimum buffer</a:t>
            </a:r>
          </a:p>
        </p:txBody>
      </p:sp>
      <p:cxnSp>
        <p:nvCxnSpPr>
          <p:cNvPr id="21" name="Connector 20"/>
          <p:cNvCxnSpPr/>
          <p:nvPr/>
        </p:nvCxnSpPr>
        <p:spPr>
          <a:xfrm>
            <a:off x="1257300" y="4629150"/>
            <a:ext cx="7315200" cy="0"/>
          </a:xfrm>
          <a:prstGeom prst="line">
            <a:avLst/>
          </a:prstGeom>
          <a:ln w="12700">
            <a:solidFill>
              <a:srgbClr val="D8D7D2"/>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23900" y="4552950"/>
            <a:ext cx="409575" cy="152400"/>
          </a:xfrm>
          <a:prstGeom prst="rect">
            <a:avLst/>
          </a:prstGeom>
          <a:noFill/>
        </p:spPr>
        <p:txBody>
          <a:bodyPr wrap="square" lIns="0" rIns="0" tIns="0" bIns="0" anchor="t">
            <a:spAutoFit/>
          </a:bodyPr>
          <a:lstStyle/>
          <a:p>
            <a:pPr algn="r">
              <a:lnSpc>
                <a:spcPct val="118000"/>
              </a:lnSpc>
              <a:spcBef>
                <a:spcPts val="0"/>
              </a:spcBef>
              <a:spcAft>
                <a:spcPts val="0"/>
              </a:spcAft>
            </a:pPr>
            <a:r>
              <a:rPr sz="675" b="0">
                <a:solidFill>
                  <a:srgbClr val="5C5C58"/>
                </a:solidFill>
                <a:latin typeface="Aptos"/>
              </a:rPr>
              <a:t>500</a:t>
            </a:r>
          </a:p>
        </p:txBody>
      </p:sp>
      <p:cxnSp>
        <p:nvCxnSpPr>
          <p:cNvPr id="23" name="Connector 22"/>
          <p:cNvCxnSpPr/>
          <p:nvPr/>
        </p:nvCxnSpPr>
        <p:spPr>
          <a:xfrm>
            <a:off x="1257300" y="4234542"/>
            <a:ext cx="7315200" cy="0"/>
          </a:xfrm>
          <a:prstGeom prst="line">
            <a:avLst/>
          </a:prstGeom>
          <a:ln w="12700">
            <a:solidFill>
              <a:srgbClr val="D8D7D2"/>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23900" y="4158342"/>
            <a:ext cx="409575" cy="152400"/>
          </a:xfrm>
          <a:prstGeom prst="rect">
            <a:avLst/>
          </a:prstGeom>
          <a:noFill/>
        </p:spPr>
        <p:txBody>
          <a:bodyPr wrap="square" lIns="0" rIns="0" tIns="0" bIns="0" anchor="t">
            <a:spAutoFit/>
          </a:bodyPr>
          <a:lstStyle/>
          <a:p>
            <a:pPr algn="r">
              <a:lnSpc>
                <a:spcPct val="118000"/>
              </a:lnSpc>
              <a:spcBef>
                <a:spcPts val="0"/>
              </a:spcBef>
              <a:spcAft>
                <a:spcPts val="0"/>
              </a:spcAft>
            </a:pPr>
            <a:r>
              <a:rPr sz="675" b="0">
                <a:solidFill>
                  <a:srgbClr val="5C5C58"/>
                </a:solidFill>
                <a:latin typeface="Aptos"/>
              </a:rPr>
              <a:t>600</a:t>
            </a:r>
          </a:p>
        </p:txBody>
      </p:sp>
      <p:cxnSp>
        <p:nvCxnSpPr>
          <p:cNvPr id="25" name="Connector 24"/>
          <p:cNvCxnSpPr/>
          <p:nvPr/>
        </p:nvCxnSpPr>
        <p:spPr>
          <a:xfrm>
            <a:off x="1257300" y="3839935"/>
            <a:ext cx="7315200" cy="0"/>
          </a:xfrm>
          <a:prstGeom prst="line">
            <a:avLst/>
          </a:prstGeom>
          <a:ln w="12700">
            <a:solidFill>
              <a:srgbClr val="D8D7D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23900" y="3763735"/>
            <a:ext cx="409575" cy="152400"/>
          </a:xfrm>
          <a:prstGeom prst="rect">
            <a:avLst/>
          </a:prstGeom>
          <a:noFill/>
        </p:spPr>
        <p:txBody>
          <a:bodyPr wrap="square" lIns="0" rIns="0" tIns="0" bIns="0" anchor="t">
            <a:spAutoFit/>
          </a:bodyPr>
          <a:lstStyle/>
          <a:p>
            <a:pPr algn="r">
              <a:lnSpc>
                <a:spcPct val="118000"/>
              </a:lnSpc>
              <a:spcBef>
                <a:spcPts val="0"/>
              </a:spcBef>
              <a:spcAft>
                <a:spcPts val="0"/>
              </a:spcAft>
            </a:pPr>
            <a:r>
              <a:rPr sz="675" b="0">
                <a:solidFill>
                  <a:srgbClr val="5C5C58"/>
                </a:solidFill>
                <a:latin typeface="Aptos"/>
              </a:rPr>
              <a:t>700</a:t>
            </a:r>
          </a:p>
        </p:txBody>
      </p:sp>
      <p:cxnSp>
        <p:nvCxnSpPr>
          <p:cNvPr id="27" name="Connector 26"/>
          <p:cNvCxnSpPr/>
          <p:nvPr/>
        </p:nvCxnSpPr>
        <p:spPr>
          <a:xfrm>
            <a:off x="1257300" y="3445328"/>
            <a:ext cx="7315200" cy="0"/>
          </a:xfrm>
          <a:prstGeom prst="line">
            <a:avLst/>
          </a:prstGeom>
          <a:ln w="12700">
            <a:solidFill>
              <a:srgbClr val="D8D7D2"/>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23900" y="3369128"/>
            <a:ext cx="409575" cy="152400"/>
          </a:xfrm>
          <a:prstGeom prst="rect">
            <a:avLst/>
          </a:prstGeom>
          <a:noFill/>
        </p:spPr>
        <p:txBody>
          <a:bodyPr wrap="square" lIns="0" rIns="0" tIns="0" bIns="0" anchor="t">
            <a:spAutoFit/>
          </a:bodyPr>
          <a:lstStyle/>
          <a:p>
            <a:pPr algn="r">
              <a:lnSpc>
                <a:spcPct val="118000"/>
              </a:lnSpc>
              <a:spcBef>
                <a:spcPts val="0"/>
              </a:spcBef>
              <a:spcAft>
                <a:spcPts val="0"/>
              </a:spcAft>
            </a:pPr>
            <a:r>
              <a:rPr sz="675" b="0">
                <a:solidFill>
                  <a:srgbClr val="5C5C58"/>
                </a:solidFill>
                <a:latin typeface="Aptos"/>
              </a:rPr>
              <a:t>800</a:t>
            </a:r>
          </a:p>
        </p:txBody>
      </p:sp>
      <p:cxnSp>
        <p:nvCxnSpPr>
          <p:cNvPr id="29" name="Connector 28"/>
          <p:cNvCxnSpPr/>
          <p:nvPr/>
        </p:nvCxnSpPr>
        <p:spPr>
          <a:xfrm>
            <a:off x="1257300" y="2656114"/>
            <a:ext cx="7315200" cy="0"/>
          </a:xfrm>
          <a:prstGeom prst="line">
            <a:avLst/>
          </a:prstGeom>
          <a:ln w="12700">
            <a:solidFill>
              <a:srgbClr val="D8D7D2"/>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23900" y="2579914"/>
            <a:ext cx="409575" cy="152400"/>
          </a:xfrm>
          <a:prstGeom prst="rect">
            <a:avLst/>
          </a:prstGeom>
          <a:noFill/>
        </p:spPr>
        <p:txBody>
          <a:bodyPr wrap="square" lIns="0" rIns="0" tIns="0" bIns="0" anchor="t">
            <a:spAutoFit/>
          </a:bodyPr>
          <a:lstStyle/>
          <a:p>
            <a:pPr algn="r">
              <a:lnSpc>
                <a:spcPct val="118000"/>
              </a:lnSpc>
              <a:spcBef>
                <a:spcPts val="0"/>
              </a:spcBef>
              <a:spcAft>
                <a:spcPts val="0"/>
              </a:spcAft>
            </a:pPr>
            <a:r>
              <a:rPr sz="675" b="0">
                <a:solidFill>
                  <a:srgbClr val="5C5C58"/>
                </a:solidFill>
                <a:latin typeface="Aptos"/>
              </a:rPr>
              <a:t>1000</a:t>
            </a:r>
          </a:p>
        </p:txBody>
      </p:sp>
      <p:cxnSp>
        <p:nvCxnSpPr>
          <p:cNvPr id="31" name="Connector 30"/>
          <p:cNvCxnSpPr/>
          <p:nvPr/>
        </p:nvCxnSpPr>
        <p:spPr>
          <a:xfrm>
            <a:off x="1257300" y="1866899"/>
            <a:ext cx="7315200" cy="0"/>
          </a:xfrm>
          <a:prstGeom prst="line">
            <a:avLst/>
          </a:prstGeom>
          <a:ln w="12700">
            <a:solidFill>
              <a:srgbClr val="D8D7D2"/>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723900" y="1790700"/>
            <a:ext cx="409575" cy="152400"/>
          </a:xfrm>
          <a:prstGeom prst="rect">
            <a:avLst/>
          </a:prstGeom>
          <a:noFill/>
        </p:spPr>
        <p:txBody>
          <a:bodyPr wrap="square" lIns="0" rIns="0" tIns="0" bIns="0" anchor="t">
            <a:spAutoFit/>
          </a:bodyPr>
          <a:lstStyle/>
          <a:p>
            <a:pPr algn="r">
              <a:lnSpc>
                <a:spcPct val="118000"/>
              </a:lnSpc>
              <a:spcBef>
                <a:spcPts val="0"/>
              </a:spcBef>
              <a:spcAft>
                <a:spcPts val="0"/>
              </a:spcAft>
            </a:pPr>
            <a:r>
              <a:rPr sz="675" b="0">
                <a:solidFill>
                  <a:srgbClr val="5C5C58"/>
                </a:solidFill>
                <a:latin typeface="Aptos"/>
              </a:rPr>
              <a:t>1200</a:t>
            </a:r>
          </a:p>
        </p:txBody>
      </p:sp>
      <p:sp>
        <p:nvSpPr>
          <p:cNvPr id="33" name="TextBox 32"/>
          <p:cNvSpPr txBox="1"/>
          <p:nvPr/>
        </p:nvSpPr>
        <p:spPr>
          <a:xfrm>
            <a:off x="990599" y="4695825"/>
            <a:ext cx="552450" cy="17145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5C5C58"/>
                </a:solidFill>
                <a:latin typeface="Aptos"/>
              </a:rPr>
              <a:t>14 Sep</a:t>
            </a:r>
          </a:p>
        </p:txBody>
      </p:sp>
      <p:sp>
        <p:nvSpPr>
          <p:cNvPr id="34" name="TextBox 33"/>
          <p:cNvSpPr txBox="1"/>
          <p:nvPr/>
        </p:nvSpPr>
        <p:spPr>
          <a:xfrm>
            <a:off x="1685925" y="4695825"/>
            <a:ext cx="552450" cy="17145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5C5C58"/>
                </a:solidFill>
                <a:latin typeface="Aptos"/>
              </a:rPr>
              <a:t>15</a:t>
            </a:r>
          </a:p>
        </p:txBody>
      </p:sp>
      <p:sp>
        <p:nvSpPr>
          <p:cNvPr id="35" name="TextBox 34"/>
          <p:cNvSpPr txBox="1"/>
          <p:nvPr/>
        </p:nvSpPr>
        <p:spPr>
          <a:xfrm>
            <a:off x="2381250" y="4695825"/>
            <a:ext cx="552450" cy="17145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5C5C58"/>
                </a:solidFill>
                <a:latin typeface="Aptos"/>
              </a:rPr>
              <a:t>16</a:t>
            </a:r>
          </a:p>
        </p:txBody>
      </p:sp>
      <p:sp>
        <p:nvSpPr>
          <p:cNvPr id="36" name="TextBox 35"/>
          <p:cNvSpPr txBox="1"/>
          <p:nvPr/>
        </p:nvSpPr>
        <p:spPr>
          <a:xfrm>
            <a:off x="3076575" y="4695825"/>
            <a:ext cx="552450" cy="17145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5C5C58"/>
                </a:solidFill>
                <a:latin typeface="Aptos"/>
              </a:rPr>
              <a:t>17</a:t>
            </a:r>
          </a:p>
        </p:txBody>
      </p:sp>
      <p:sp>
        <p:nvSpPr>
          <p:cNvPr id="37" name="TextBox 36"/>
          <p:cNvSpPr txBox="1"/>
          <p:nvPr/>
        </p:nvSpPr>
        <p:spPr>
          <a:xfrm>
            <a:off x="3771900" y="4695825"/>
            <a:ext cx="552450" cy="17145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5C5C58"/>
                </a:solidFill>
                <a:latin typeface="Aptos"/>
              </a:rPr>
              <a:t>18</a:t>
            </a:r>
          </a:p>
        </p:txBody>
      </p:sp>
      <p:sp>
        <p:nvSpPr>
          <p:cNvPr id="38" name="TextBox 37"/>
          <p:cNvSpPr txBox="1"/>
          <p:nvPr/>
        </p:nvSpPr>
        <p:spPr>
          <a:xfrm>
            <a:off x="4467225" y="4695825"/>
            <a:ext cx="552450" cy="17145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5C5C58"/>
                </a:solidFill>
                <a:latin typeface="Aptos"/>
              </a:rPr>
              <a:t>19</a:t>
            </a:r>
          </a:p>
        </p:txBody>
      </p:sp>
      <p:sp>
        <p:nvSpPr>
          <p:cNvPr id="39" name="TextBox 38"/>
          <p:cNvSpPr txBox="1"/>
          <p:nvPr/>
        </p:nvSpPr>
        <p:spPr>
          <a:xfrm>
            <a:off x="5162550" y="4695825"/>
            <a:ext cx="552450" cy="17145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5C5C58"/>
                </a:solidFill>
                <a:latin typeface="Aptos"/>
              </a:rPr>
              <a:t>20</a:t>
            </a:r>
          </a:p>
        </p:txBody>
      </p:sp>
      <p:sp>
        <p:nvSpPr>
          <p:cNvPr id="40" name="TextBox 39"/>
          <p:cNvSpPr txBox="1"/>
          <p:nvPr/>
        </p:nvSpPr>
        <p:spPr>
          <a:xfrm>
            <a:off x="5857875" y="4695825"/>
            <a:ext cx="552450" cy="17145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5C5C58"/>
                </a:solidFill>
                <a:latin typeface="Aptos"/>
              </a:rPr>
              <a:t>30 Sep</a:t>
            </a:r>
          </a:p>
        </p:txBody>
      </p:sp>
      <p:sp>
        <p:nvSpPr>
          <p:cNvPr id="41" name="TextBox 40"/>
          <p:cNvSpPr txBox="1"/>
          <p:nvPr/>
        </p:nvSpPr>
        <p:spPr>
          <a:xfrm>
            <a:off x="6553200" y="4695825"/>
            <a:ext cx="552450" cy="17145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5C5C58"/>
                </a:solidFill>
                <a:latin typeface="Aptos"/>
              </a:rPr>
              <a:t>31 Oct</a:t>
            </a:r>
          </a:p>
        </p:txBody>
      </p:sp>
      <p:sp>
        <p:nvSpPr>
          <p:cNvPr id="42" name="TextBox 41"/>
          <p:cNvSpPr txBox="1"/>
          <p:nvPr/>
        </p:nvSpPr>
        <p:spPr>
          <a:xfrm>
            <a:off x="7248525" y="4695825"/>
            <a:ext cx="552450" cy="17145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5C5C58"/>
                </a:solidFill>
                <a:latin typeface="Aptos"/>
              </a:rPr>
              <a:t>30 Nov</a:t>
            </a:r>
          </a:p>
        </p:txBody>
      </p:sp>
      <p:sp>
        <p:nvSpPr>
          <p:cNvPr id="43" name="TextBox 42"/>
          <p:cNvSpPr txBox="1"/>
          <p:nvPr/>
        </p:nvSpPr>
        <p:spPr>
          <a:xfrm>
            <a:off x="7943850" y="4695825"/>
            <a:ext cx="552450" cy="17145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5C5C58"/>
                </a:solidFill>
                <a:latin typeface="Aptos"/>
              </a:rPr>
              <a:t>14 Dec</a:t>
            </a:r>
          </a:p>
        </p:txBody>
      </p:sp>
      <p:cxnSp>
        <p:nvCxnSpPr>
          <p:cNvPr id="44" name="Connector 43"/>
          <p:cNvCxnSpPr/>
          <p:nvPr/>
        </p:nvCxnSpPr>
        <p:spPr>
          <a:xfrm>
            <a:off x="1257300" y="3839935"/>
            <a:ext cx="7315200" cy="0"/>
          </a:xfrm>
          <a:prstGeom prst="line">
            <a:avLst/>
          </a:prstGeom>
          <a:ln w="19050">
            <a:solidFill>
              <a:srgbClr val="E3000B"/>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257300" y="2656114"/>
            <a:ext cx="695324" cy="39461"/>
          </a:xfrm>
          <a:prstGeom prst="line">
            <a:avLst/>
          </a:prstGeom>
          <a:ln w="25400">
            <a:solidFill>
              <a:srgbClr val="617C8A"/>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52624" y="2695575"/>
            <a:ext cx="695326" cy="19730"/>
          </a:xfrm>
          <a:prstGeom prst="line">
            <a:avLst/>
          </a:prstGeom>
          <a:ln w="25400">
            <a:solidFill>
              <a:srgbClr val="617C8A"/>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2647950" y="2695575"/>
            <a:ext cx="695325" cy="19730"/>
          </a:xfrm>
          <a:prstGeom prst="line">
            <a:avLst/>
          </a:prstGeom>
          <a:ln w="25400">
            <a:solidFill>
              <a:srgbClr val="617C8A"/>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343275" y="2695575"/>
            <a:ext cx="695325" cy="19730"/>
          </a:xfrm>
          <a:prstGeom prst="line">
            <a:avLst/>
          </a:prstGeom>
          <a:ln w="25400">
            <a:solidFill>
              <a:srgbClr val="617C8A"/>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4038600" y="2707413"/>
            <a:ext cx="695325" cy="7892"/>
          </a:xfrm>
          <a:prstGeom prst="line">
            <a:avLst/>
          </a:prstGeom>
          <a:ln w="25400">
            <a:solidFill>
              <a:srgbClr val="617C8A"/>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4733925" y="2707413"/>
            <a:ext cx="695325" cy="11838"/>
          </a:xfrm>
          <a:prstGeom prst="line">
            <a:avLst/>
          </a:prstGeom>
          <a:ln w="25400">
            <a:solidFill>
              <a:srgbClr val="617C8A"/>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429250" y="2640329"/>
            <a:ext cx="695325" cy="78922"/>
          </a:xfrm>
          <a:prstGeom prst="line">
            <a:avLst/>
          </a:prstGeom>
          <a:ln w="25400">
            <a:solidFill>
              <a:srgbClr val="617C8A"/>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6124575" y="2245722"/>
            <a:ext cx="695325" cy="394607"/>
          </a:xfrm>
          <a:prstGeom prst="line">
            <a:avLst/>
          </a:prstGeom>
          <a:ln w="25400">
            <a:solidFill>
              <a:srgbClr val="617C8A"/>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6819900" y="2245722"/>
            <a:ext cx="695325" cy="197304"/>
          </a:xfrm>
          <a:prstGeom prst="line">
            <a:avLst/>
          </a:prstGeom>
          <a:ln w="25400">
            <a:solidFill>
              <a:srgbClr val="617C8A"/>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7515225" y="2443026"/>
            <a:ext cx="695324" cy="118382"/>
          </a:xfrm>
          <a:prstGeom prst="line">
            <a:avLst/>
          </a:prstGeom>
          <a:ln w="25400">
            <a:solidFill>
              <a:srgbClr val="617C8A"/>
            </a:solidFill>
          </a:ln>
        </p:spPr>
        <p:style>
          <a:lnRef idx="2">
            <a:schemeClr val="accent1"/>
          </a:lnRef>
          <a:fillRef idx="0">
            <a:schemeClr val="accent1"/>
          </a:fillRef>
          <a:effectRef idx="1">
            <a:schemeClr val="accent1"/>
          </a:effectRef>
          <a:fontRef idx="minor">
            <a:schemeClr val="tx1"/>
          </a:fontRef>
        </p:style>
      </p:cxnSp>
      <p:sp>
        <p:nvSpPr>
          <p:cNvPr id="55" name="Oval 54"/>
          <p:cNvSpPr/>
          <p:nvPr/>
        </p:nvSpPr>
        <p:spPr>
          <a:xfrm>
            <a:off x="1228725" y="2627539"/>
            <a:ext cx="57150" cy="57150"/>
          </a:xfrm>
          <a:prstGeom prst="ellipse">
            <a:avLst/>
          </a:prstGeom>
          <a:solidFill>
            <a:srgbClr val="617C8A"/>
          </a:solidFill>
          <a:ln w="12700">
            <a:solidFill>
              <a:srgbClr val="617C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924049" y="2667000"/>
            <a:ext cx="57150" cy="57150"/>
          </a:xfrm>
          <a:prstGeom prst="ellipse">
            <a:avLst/>
          </a:prstGeom>
          <a:solidFill>
            <a:srgbClr val="617C8A"/>
          </a:solidFill>
          <a:ln w="12700">
            <a:solidFill>
              <a:srgbClr val="617C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2619375" y="2686730"/>
            <a:ext cx="57150" cy="57150"/>
          </a:xfrm>
          <a:prstGeom prst="ellipse">
            <a:avLst/>
          </a:prstGeom>
          <a:solidFill>
            <a:srgbClr val="617C8A"/>
          </a:solidFill>
          <a:ln w="12700">
            <a:solidFill>
              <a:srgbClr val="617C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3314700" y="2667000"/>
            <a:ext cx="57150" cy="57150"/>
          </a:xfrm>
          <a:prstGeom prst="ellipse">
            <a:avLst/>
          </a:prstGeom>
          <a:solidFill>
            <a:srgbClr val="617C8A"/>
          </a:solidFill>
          <a:ln w="12700">
            <a:solidFill>
              <a:srgbClr val="617C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4010025" y="2686730"/>
            <a:ext cx="57150" cy="57150"/>
          </a:xfrm>
          <a:prstGeom prst="ellipse">
            <a:avLst/>
          </a:prstGeom>
          <a:solidFill>
            <a:srgbClr val="617C8A"/>
          </a:solidFill>
          <a:ln w="12700">
            <a:solidFill>
              <a:srgbClr val="617C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4705350" y="2678838"/>
            <a:ext cx="57150" cy="57150"/>
          </a:xfrm>
          <a:prstGeom prst="ellipse">
            <a:avLst/>
          </a:prstGeom>
          <a:solidFill>
            <a:srgbClr val="617C8A"/>
          </a:solidFill>
          <a:ln w="12700">
            <a:solidFill>
              <a:srgbClr val="617C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5400675" y="2690676"/>
            <a:ext cx="57150" cy="57150"/>
          </a:xfrm>
          <a:prstGeom prst="ellipse">
            <a:avLst/>
          </a:prstGeom>
          <a:solidFill>
            <a:srgbClr val="617C8A"/>
          </a:solidFill>
          <a:ln w="12700">
            <a:solidFill>
              <a:srgbClr val="617C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6096000" y="2611754"/>
            <a:ext cx="57150" cy="57150"/>
          </a:xfrm>
          <a:prstGeom prst="ellipse">
            <a:avLst/>
          </a:prstGeom>
          <a:solidFill>
            <a:srgbClr val="617C8A"/>
          </a:solidFill>
          <a:ln w="12700">
            <a:solidFill>
              <a:srgbClr val="617C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6791325" y="2217147"/>
            <a:ext cx="57150" cy="57150"/>
          </a:xfrm>
          <a:prstGeom prst="ellipse">
            <a:avLst/>
          </a:prstGeom>
          <a:solidFill>
            <a:srgbClr val="617C8A"/>
          </a:solidFill>
          <a:ln w="12700">
            <a:solidFill>
              <a:srgbClr val="617C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7486650" y="2414451"/>
            <a:ext cx="57150" cy="57150"/>
          </a:xfrm>
          <a:prstGeom prst="ellipse">
            <a:avLst/>
          </a:prstGeom>
          <a:solidFill>
            <a:srgbClr val="617C8A"/>
          </a:solidFill>
          <a:ln w="12700">
            <a:solidFill>
              <a:srgbClr val="617C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8181974" y="2532833"/>
            <a:ext cx="57150" cy="57150"/>
          </a:xfrm>
          <a:prstGeom prst="ellipse">
            <a:avLst/>
          </a:prstGeom>
          <a:solidFill>
            <a:srgbClr val="617C8A"/>
          </a:solidFill>
          <a:ln w="12700">
            <a:solidFill>
              <a:srgbClr val="617C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6" name="Connector 65"/>
          <p:cNvCxnSpPr/>
          <p:nvPr/>
        </p:nvCxnSpPr>
        <p:spPr>
          <a:xfrm>
            <a:off x="1257300" y="2656114"/>
            <a:ext cx="695324" cy="335416"/>
          </a:xfrm>
          <a:prstGeom prst="line">
            <a:avLst/>
          </a:prstGeom>
          <a:ln w="25400">
            <a:solidFill>
              <a:srgbClr val="E3000B"/>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1952624" y="2991530"/>
            <a:ext cx="695326" cy="434068"/>
          </a:xfrm>
          <a:prstGeom prst="line">
            <a:avLst/>
          </a:prstGeom>
          <a:ln w="25400">
            <a:solidFill>
              <a:srgbClr val="E3000B"/>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2647950" y="3425598"/>
            <a:ext cx="695325" cy="118382"/>
          </a:xfrm>
          <a:prstGeom prst="line">
            <a:avLst/>
          </a:prstGeom>
          <a:ln w="25400">
            <a:solidFill>
              <a:srgbClr val="E3000B"/>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3343275" y="3543980"/>
            <a:ext cx="695325" cy="39461"/>
          </a:xfrm>
          <a:prstGeom prst="line">
            <a:avLst/>
          </a:prstGeom>
          <a:ln w="25400">
            <a:solidFill>
              <a:srgbClr val="E3000B"/>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4038600" y="3555818"/>
            <a:ext cx="695325" cy="27623"/>
          </a:xfrm>
          <a:prstGeom prst="line">
            <a:avLst/>
          </a:prstGeom>
          <a:ln w="25400">
            <a:solidFill>
              <a:srgbClr val="E3000B"/>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4733925" y="3547926"/>
            <a:ext cx="695325" cy="7892"/>
          </a:xfrm>
          <a:prstGeom prst="line">
            <a:avLst/>
          </a:prstGeom>
          <a:ln w="25400">
            <a:solidFill>
              <a:srgbClr val="E3000B"/>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5429250" y="3547926"/>
            <a:ext cx="695325" cy="19730"/>
          </a:xfrm>
          <a:prstGeom prst="line">
            <a:avLst/>
          </a:prstGeom>
          <a:ln w="25400">
            <a:solidFill>
              <a:srgbClr val="E3000B"/>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6124575" y="3015206"/>
            <a:ext cx="695325" cy="552450"/>
          </a:xfrm>
          <a:prstGeom prst="line">
            <a:avLst/>
          </a:prstGeom>
          <a:ln w="25400">
            <a:solidFill>
              <a:srgbClr val="E3000B"/>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6819900" y="3015206"/>
            <a:ext cx="695325" cy="236765"/>
          </a:xfrm>
          <a:prstGeom prst="line">
            <a:avLst/>
          </a:prstGeom>
          <a:ln w="25400">
            <a:solidFill>
              <a:srgbClr val="E3000B"/>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7515225" y="3251971"/>
            <a:ext cx="695324" cy="98651"/>
          </a:xfrm>
          <a:prstGeom prst="line">
            <a:avLst/>
          </a:prstGeom>
          <a:ln w="25400">
            <a:solidFill>
              <a:srgbClr val="E3000B"/>
            </a:solidFill>
          </a:ln>
        </p:spPr>
        <p:style>
          <a:lnRef idx="2">
            <a:schemeClr val="accent1"/>
          </a:lnRef>
          <a:fillRef idx="0">
            <a:schemeClr val="accent1"/>
          </a:fillRef>
          <a:effectRef idx="1">
            <a:schemeClr val="accent1"/>
          </a:effectRef>
          <a:fontRef idx="minor">
            <a:schemeClr val="tx1"/>
          </a:fontRef>
        </p:style>
      </p:cxnSp>
      <p:sp>
        <p:nvSpPr>
          <p:cNvPr id="76" name="Oval 75"/>
          <p:cNvSpPr/>
          <p:nvPr/>
        </p:nvSpPr>
        <p:spPr>
          <a:xfrm>
            <a:off x="1228725" y="2627539"/>
            <a:ext cx="57150" cy="57150"/>
          </a:xfrm>
          <a:prstGeom prst="ellipse">
            <a:avLst/>
          </a:prstGeom>
          <a:solidFill>
            <a:srgbClr val="E3000B"/>
          </a:solidFill>
          <a:ln w="12700">
            <a:solidFill>
              <a:srgbClr val="E30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1924049" y="2962955"/>
            <a:ext cx="57150" cy="57150"/>
          </a:xfrm>
          <a:prstGeom prst="ellipse">
            <a:avLst/>
          </a:prstGeom>
          <a:solidFill>
            <a:srgbClr val="E3000B"/>
          </a:solidFill>
          <a:ln w="12700">
            <a:solidFill>
              <a:srgbClr val="E30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2619375" y="3397023"/>
            <a:ext cx="57150" cy="57150"/>
          </a:xfrm>
          <a:prstGeom prst="ellipse">
            <a:avLst/>
          </a:prstGeom>
          <a:solidFill>
            <a:srgbClr val="E3000B"/>
          </a:solidFill>
          <a:ln w="12700">
            <a:solidFill>
              <a:srgbClr val="E30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3314700" y="3515405"/>
            <a:ext cx="57150" cy="57150"/>
          </a:xfrm>
          <a:prstGeom prst="ellipse">
            <a:avLst/>
          </a:prstGeom>
          <a:solidFill>
            <a:srgbClr val="E3000B"/>
          </a:solidFill>
          <a:ln w="12700">
            <a:solidFill>
              <a:srgbClr val="E30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4010025" y="3554866"/>
            <a:ext cx="57150" cy="57150"/>
          </a:xfrm>
          <a:prstGeom prst="ellipse">
            <a:avLst/>
          </a:prstGeom>
          <a:solidFill>
            <a:srgbClr val="E3000B"/>
          </a:solidFill>
          <a:ln w="12700">
            <a:solidFill>
              <a:srgbClr val="E30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4705350" y="3527243"/>
            <a:ext cx="57150" cy="57150"/>
          </a:xfrm>
          <a:prstGeom prst="ellipse">
            <a:avLst/>
          </a:prstGeom>
          <a:solidFill>
            <a:srgbClr val="E3000B"/>
          </a:solidFill>
          <a:ln w="12700">
            <a:solidFill>
              <a:srgbClr val="E30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5400675" y="3519351"/>
            <a:ext cx="57150" cy="57150"/>
          </a:xfrm>
          <a:prstGeom prst="ellipse">
            <a:avLst/>
          </a:prstGeom>
          <a:solidFill>
            <a:srgbClr val="E3000B"/>
          </a:solidFill>
          <a:ln w="12700">
            <a:solidFill>
              <a:srgbClr val="E30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6096000" y="3539081"/>
            <a:ext cx="57150" cy="57150"/>
          </a:xfrm>
          <a:prstGeom prst="ellipse">
            <a:avLst/>
          </a:prstGeom>
          <a:solidFill>
            <a:srgbClr val="E3000B"/>
          </a:solidFill>
          <a:ln w="12700">
            <a:solidFill>
              <a:srgbClr val="E30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6791325" y="2986631"/>
            <a:ext cx="57150" cy="57150"/>
          </a:xfrm>
          <a:prstGeom prst="ellipse">
            <a:avLst/>
          </a:prstGeom>
          <a:solidFill>
            <a:srgbClr val="E3000B"/>
          </a:solidFill>
          <a:ln w="12700">
            <a:solidFill>
              <a:srgbClr val="E30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7486650" y="3223396"/>
            <a:ext cx="57150" cy="57150"/>
          </a:xfrm>
          <a:prstGeom prst="ellipse">
            <a:avLst/>
          </a:prstGeom>
          <a:solidFill>
            <a:srgbClr val="E3000B"/>
          </a:solidFill>
          <a:ln w="12700">
            <a:solidFill>
              <a:srgbClr val="E30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8181974" y="3322047"/>
            <a:ext cx="57150" cy="57150"/>
          </a:xfrm>
          <a:prstGeom prst="ellipse">
            <a:avLst/>
          </a:prstGeom>
          <a:solidFill>
            <a:srgbClr val="E3000B"/>
          </a:solidFill>
          <a:ln w="12700">
            <a:solidFill>
              <a:srgbClr val="E30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7" name="Connector 86"/>
          <p:cNvCxnSpPr/>
          <p:nvPr/>
        </p:nvCxnSpPr>
        <p:spPr>
          <a:xfrm>
            <a:off x="1257300" y="2656114"/>
            <a:ext cx="695324" cy="335416"/>
          </a:xfrm>
          <a:prstGeom prst="line">
            <a:avLst/>
          </a:prstGeom>
          <a:ln w="25400">
            <a:solidFill>
              <a:srgbClr val="AD7F28"/>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1952624" y="2991530"/>
            <a:ext cx="695326" cy="434068"/>
          </a:xfrm>
          <a:prstGeom prst="line">
            <a:avLst/>
          </a:prstGeom>
          <a:ln w="25400">
            <a:solidFill>
              <a:srgbClr val="AD7F28"/>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2647950" y="3425598"/>
            <a:ext cx="695325" cy="118382"/>
          </a:xfrm>
          <a:prstGeom prst="line">
            <a:avLst/>
          </a:prstGeom>
          <a:ln w="25400">
            <a:solidFill>
              <a:srgbClr val="AD7F28"/>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3343275" y="3543980"/>
            <a:ext cx="695325" cy="39461"/>
          </a:xfrm>
          <a:prstGeom prst="line">
            <a:avLst/>
          </a:prstGeom>
          <a:ln w="25400">
            <a:solidFill>
              <a:srgbClr val="AD7F28"/>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4038600" y="3555818"/>
            <a:ext cx="695325" cy="27623"/>
          </a:xfrm>
          <a:prstGeom prst="line">
            <a:avLst/>
          </a:prstGeom>
          <a:ln w="25400">
            <a:solidFill>
              <a:srgbClr val="AD7F28"/>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4733925" y="3547926"/>
            <a:ext cx="695325" cy="7892"/>
          </a:xfrm>
          <a:prstGeom prst="line">
            <a:avLst/>
          </a:prstGeom>
          <a:ln w="25400">
            <a:solidFill>
              <a:srgbClr val="AD7F28"/>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5429250" y="3547926"/>
            <a:ext cx="695325" cy="19730"/>
          </a:xfrm>
          <a:prstGeom prst="line">
            <a:avLst/>
          </a:prstGeom>
          <a:ln w="25400">
            <a:solidFill>
              <a:srgbClr val="AD7F28"/>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6124575" y="3409813"/>
            <a:ext cx="695325" cy="157843"/>
          </a:xfrm>
          <a:prstGeom prst="line">
            <a:avLst/>
          </a:prstGeom>
          <a:ln w="25400">
            <a:solidFill>
              <a:srgbClr val="AD7F28"/>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6819900" y="3409813"/>
            <a:ext cx="695325" cy="1025979"/>
          </a:xfrm>
          <a:prstGeom prst="line">
            <a:avLst/>
          </a:prstGeom>
          <a:ln w="25400">
            <a:solidFill>
              <a:srgbClr val="AD7F28"/>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7515225" y="4435792"/>
            <a:ext cx="695324" cy="98652"/>
          </a:xfrm>
          <a:prstGeom prst="line">
            <a:avLst/>
          </a:prstGeom>
          <a:ln w="25400">
            <a:solidFill>
              <a:srgbClr val="AD7F28"/>
            </a:solidFill>
          </a:ln>
        </p:spPr>
        <p:style>
          <a:lnRef idx="2">
            <a:schemeClr val="accent1"/>
          </a:lnRef>
          <a:fillRef idx="0">
            <a:schemeClr val="accent1"/>
          </a:fillRef>
          <a:effectRef idx="1">
            <a:schemeClr val="accent1"/>
          </a:effectRef>
          <a:fontRef idx="minor">
            <a:schemeClr val="tx1"/>
          </a:fontRef>
        </p:style>
      </p:cxnSp>
      <p:sp>
        <p:nvSpPr>
          <p:cNvPr id="97" name="Oval 96"/>
          <p:cNvSpPr/>
          <p:nvPr/>
        </p:nvSpPr>
        <p:spPr>
          <a:xfrm>
            <a:off x="1228725" y="2627539"/>
            <a:ext cx="57150" cy="57150"/>
          </a:xfrm>
          <a:prstGeom prst="ellipse">
            <a:avLst/>
          </a:prstGeom>
          <a:solidFill>
            <a:srgbClr val="AD7F28"/>
          </a:solidFill>
          <a:ln w="12700">
            <a:solidFill>
              <a:srgbClr val="AD7F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1924049" y="2962955"/>
            <a:ext cx="57150" cy="57150"/>
          </a:xfrm>
          <a:prstGeom prst="ellipse">
            <a:avLst/>
          </a:prstGeom>
          <a:solidFill>
            <a:srgbClr val="AD7F28"/>
          </a:solidFill>
          <a:ln w="12700">
            <a:solidFill>
              <a:srgbClr val="AD7F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2619375" y="3397023"/>
            <a:ext cx="57150" cy="57150"/>
          </a:xfrm>
          <a:prstGeom prst="ellipse">
            <a:avLst/>
          </a:prstGeom>
          <a:solidFill>
            <a:srgbClr val="AD7F28"/>
          </a:solidFill>
          <a:ln w="12700">
            <a:solidFill>
              <a:srgbClr val="AD7F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3314700" y="3515405"/>
            <a:ext cx="57150" cy="57150"/>
          </a:xfrm>
          <a:prstGeom prst="ellipse">
            <a:avLst/>
          </a:prstGeom>
          <a:solidFill>
            <a:srgbClr val="AD7F28"/>
          </a:solidFill>
          <a:ln w="12700">
            <a:solidFill>
              <a:srgbClr val="AD7F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4010025" y="3554866"/>
            <a:ext cx="57150" cy="57150"/>
          </a:xfrm>
          <a:prstGeom prst="ellipse">
            <a:avLst/>
          </a:prstGeom>
          <a:solidFill>
            <a:srgbClr val="AD7F28"/>
          </a:solidFill>
          <a:ln w="12700">
            <a:solidFill>
              <a:srgbClr val="AD7F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4705350" y="3527243"/>
            <a:ext cx="57150" cy="57150"/>
          </a:xfrm>
          <a:prstGeom prst="ellipse">
            <a:avLst/>
          </a:prstGeom>
          <a:solidFill>
            <a:srgbClr val="AD7F28"/>
          </a:solidFill>
          <a:ln w="12700">
            <a:solidFill>
              <a:srgbClr val="AD7F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5400675" y="3519351"/>
            <a:ext cx="57150" cy="57150"/>
          </a:xfrm>
          <a:prstGeom prst="ellipse">
            <a:avLst/>
          </a:prstGeom>
          <a:solidFill>
            <a:srgbClr val="AD7F28"/>
          </a:solidFill>
          <a:ln w="12700">
            <a:solidFill>
              <a:srgbClr val="AD7F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6096000" y="3539081"/>
            <a:ext cx="57150" cy="57150"/>
          </a:xfrm>
          <a:prstGeom prst="ellipse">
            <a:avLst/>
          </a:prstGeom>
          <a:solidFill>
            <a:srgbClr val="AD7F28"/>
          </a:solidFill>
          <a:ln w="12700">
            <a:solidFill>
              <a:srgbClr val="AD7F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6791325" y="3381238"/>
            <a:ext cx="57150" cy="57150"/>
          </a:xfrm>
          <a:prstGeom prst="ellipse">
            <a:avLst/>
          </a:prstGeom>
          <a:solidFill>
            <a:srgbClr val="AD7F28"/>
          </a:solidFill>
          <a:ln w="12700">
            <a:solidFill>
              <a:srgbClr val="AD7F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7486650" y="4407217"/>
            <a:ext cx="57150" cy="57150"/>
          </a:xfrm>
          <a:prstGeom prst="ellipse">
            <a:avLst/>
          </a:prstGeom>
          <a:solidFill>
            <a:srgbClr val="AD7F28"/>
          </a:solidFill>
          <a:ln w="12700">
            <a:solidFill>
              <a:srgbClr val="AD7F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8181974" y="4505869"/>
            <a:ext cx="57150" cy="57150"/>
          </a:xfrm>
          <a:prstGeom prst="ellipse">
            <a:avLst/>
          </a:prstGeom>
          <a:solidFill>
            <a:srgbClr val="AD7F28"/>
          </a:solidFill>
          <a:ln w="12700">
            <a:solidFill>
              <a:srgbClr val="AD7F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8877300" y="1381125"/>
            <a:ext cx="2724150" cy="3790949"/>
          </a:xfrm>
          <a:prstGeom prst="rect">
            <a:avLst/>
          </a:prstGeom>
          <a:solidFill>
            <a:srgbClr val="F8F8F6"/>
          </a:solidFill>
          <a:ln w="12700">
            <a:solidFill>
              <a:srgbClr val="D8D7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9067800" y="1543050"/>
            <a:ext cx="2333625" cy="171450"/>
          </a:xfrm>
          <a:prstGeom prst="rect">
            <a:avLst/>
          </a:prstGeom>
          <a:noFill/>
        </p:spPr>
        <p:txBody>
          <a:bodyPr wrap="square" lIns="0" rIns="0" tIns="0" bIns="0" anchor="t">
            <a:spAutoFit/>
          </a:bodyPr>
          <a:lstStyle/>
          <a:p>
            <a:pPr algn="l">
              <a:lnSpc>
                <a:spcPct val="118000"/>
              </a:lnSpc>
              <a:spcBef>
                <a:spcPts val="0"/>
              </a:spcBef>
              <a:spcAft>
                <a:spcPts val="0"/>
              </a:spcAft>
            </a:pPr>
            <a:r>
              <a:rPr sz="675" b="1">
                <a:solidFill>
                  <a:srgbClr val="B51E2B"/>
                </a:solidFill>
                <a:latin typeface="Aptos"/>
              </a:rPr>
              <a:t>ASSUMED MODEL INPUTS</a:t>
            </a:r>
          </a:p>
        </p:txBody>
      </p:sp>
      <p:sp>
        <p:nvSpPr>
          <p:cNvPr id="110" name="TextBox 109"/>
          <p:cNvSpPr txBox="1"/>
          <p:nvPr/>
        </p:nvSpPr>
        <p:spPr>
          <a:xfrm>
            <a:off x="9067800" y="1809750"/>
            <a:ext cx="2333625" cy="476250"/>
          </a:xfrm>
          <a:prstGeom prst="rect">
            <a:avLst/>
          </a:prstGeom>
          <a:noFill/>
        </p:spPr>
        <p:txBody>
          <a:bodyPr wrap="square" lIns="0" rIns="0" tIns="0" bIns="0" anchor="t">
            <a:spAutoFit/>
          </a:bodyPr>
          <a:lstStyle/>
          <a:p>
            <a:pPr algn="l">
              <a:lnSpc>
                <a:spcPct val="135000"/>
              </a:lnSpc>
              <a:spcBef>
                <a:spcPts val="0"/>
              </a:spcBef>
              <a:spcAft>
                <a:spcPts val="0"/>
              </a:spcAft>
            </a:pPr>
            <a:r>
              <a:rPr sz="900" b="1">
                <a:solidFill>
                  <a:srgbClr val="171717"/>
                </a:solidFill>
                <a:latin typeface="Aptos"/>
              </a:rPr>
              <a:t>Opening cash  $1,000m</a:t>
            </a:r>
          </a:p>
          <a:p>
            <a:pPr algn="l">
              <a:lnSpc>
                <a:spcPct val="135000"/>
              </a:lnSpc>
              <a:spcBef>
                <a:spcPts val="0"/>
              </a:spcBef>
              <a:spcAft>
                <a:spcPts val="0"/>
              </a:spcAft>
            </a:pPr>
            <a:r>
              <a:rPr sz="900" b="1">
                <a:solidFill>
                  <a:srgbClr val="171717"/>
                </a:solidFill>
                <a:latin typeface="Aptos"/>
              </a:rPr>
              <a:t>Minimum buffer  $700m</a:t>
            </a:r>
          </a:p>
        </p:txBody>
      </p:sp>
      <p:cxnSp>
        <p:nvCxnSpPr>
          <p:cNvPr id="111" name="Connector 110"/>
          <p:cNvCxnSpPr/>
          <p:nvPr/>
        </p:nvCxnSpPr>
        <p:spPr>
          <a:xfrm>
            <a:off x="9067800" y="2409825"/>
            <a:ext cx="2343150" cy="0"/>
          </a:xfrm>
          <a:prstGeom prst="line">
            <a:avLst/>
          </a:prstGeom>
          <a:ln w="12700">
            <a:solidFill>
              <a:srgbClr val="D8D7D2"/>
            </a:solidFill>
          </a:ln>
        </p:spPr>
        <p:style>
          <a:lnRef idx="2">
            <a:schemeClr val="accent1"/>
          </a:lnRef>
          <a:fillRef idx="0">
            <a:schemeClr val="accent1"/>
          </a:fillRef>
          <a:effectRef idx="1">
            <a:schemeClr val="accent1"/>
          </a:effectRef>
          <a:fontRef idx="minor">
            <a:schemeClr val="tx1"/>
          </a:fontRef>
        </p:style>
      </p:cxnSp>
      <p:sp>
        <p:nvSpPr>
          <p:cNvPr id="112" name="TextBox 111"/>
          <p:cNvSpPr txBox="1"/>
          <p:nvPr/>
        </p:nvSpPr>
        <p:spPr>
          <a:xfrm>
            <a:off x="9067800" y="2562225"/>
            <a:ext cx="2333625" cy="171450"/>
          </a:xfrm>
          <a:prstGeom prst="rect">
            <a:avLst/>
          </a:prstGeom>
          <a:noFill/>
        </p:spPr>
        <p:txBody>
          <a:bodyPr wrap="square" lIns="0" rIns="0" tIns="0" bIns="0" anchor="t">
            <a:spAutoFit/>
          </a:bodyPr>
          <a:lstStyle/>
          <a:p>
            <a:pPr algn="l">
              <a:lnSpc>
                <a:spcPct val="118000"/>
              </a:lnSpc>
              <a:spcBef>
                <a:spcPts val="0"/>
              </a:spcBef>
              <a:spcAft>
                <a:spcPts val="0"/>
              </a:spcAft>
            </a:pPr>
            <a:r>
              <a:rPr sz="675" b="1">
                <a:solidFill>
                  <a:srgbClr val="B51E2B"/>
                </a:solidFill>
                <a:latin typeface="Aptos"/>
              </a:rPr>
              <a:t>BASE CASE</a:t>
            </a:r>
          </a:p>
        </p:txBody>
      </p:sp>
      <p:sp>
        <p:nvSpPr>
          <p:cNvPr id="113" name="TextBox 112"/>
          <p:cNvSpPr txBox="1"/>
          <p:nvPr/>
        </p:nvSpPr>
        <p:spPr>
          <a:xfrm>
            <a:off x="9067800" y="2809875"/>
            <a:ext cx="2333625" cy="609600"/>
          </a:xfrm>
          <a:prstGeom prst="rect">
            <a:avLst/>
          </a:prstGeom>
          <a:noFill/>
        </p:spPr>
        <p:txBody>
          <a:bodyPr wrap="square" lIns="0" rIns="0" tIns="0" bIns="0" anchor="t">
            <a:spAutoFit/>
          </a:bodyPr>
          <a:lstStyle/>
          <a:p>
            <a:pPr algn="l">
              <a:lnSpc>
                <a:spcPct val="135000"/>
              </a:lnSpc>
              <a:spcBef>
                <a:spcPts val="0"/>
              </a:spcBef>
              <a:spcAft>
                <a:spcPts val="0"/>
              </a:spcAft>
            </a:pPr>
            <a:r>
              <a:rPr sz="825" b="0">
                <a:solidFill>
                  <a:srgbClr val="171717"/>
                </a:solidFill>
                <a:latin typeface="Aptos"/>
              </a:rPr>
              <a:t>No incident: minimum $984m</a:t>
            </a:r>
          </a:p>
          <a:p>
            <a:pPr algn="l">
              <a:lnSpc>
                <a:spcPct val="135000"/>
              </a:lnSpc>
              <a:spcBef>
                <a:spcPts val="0"/>
              </a:spcBef>
              <a:spcAft>
                <a:spcPts val="0"/>
              </a:spcAft>
            </a:pPr>
            <a:r>
              <a:rPr sz="825" b="0">
                <a:solidFill>
                  <a:srgbClr val="171717"/>
                </a:solidFill>
                <a:latin typeface="Aptos"/>
              </a:rPr>
              <a:t>Incident: minimum $765m</a:t>
            </a:r>
          </a:p>
          <a:p>
            <a:pPr algn="l">
              <a:lnSpc>
                <a:spcPct val="135000"/>
              </a:lnSpc>
              <a:spcBef>
                <a:spcPts val="0"/>
              </a:spcBef>
              <a:spcAft>
                <a:spcPts val="0"/>
              </a:spcAft>
            </a:pPr>
            <a:r>
              <a:rPr sz="825" b="0">
                <a:solidFill>
                  <a:srgbClr val="171717"/>
                </a:solidFill>
                <a:latin typeface="Aptos"/>
              </a:rPr>
              <a:t>Funding gap: $0m</a:t>
            </a:r>
          </a:p>
        </p:txBody>
      </p:sp>
      <p:cxnSp>
        <p:nvCxnSpPr>
          <p:cNvPr id="114" name="Connector 113"/>
          <p:cNvCxnSpPr/>
          <p:nvPr/>
        </p:nvCxnSpPr>
        <p:spPr>
          <a:xfrm>
            <a:off x="9067800" y="3533775"/>
            <a:ext cx="2343150" cy="0"/>
          </a:xfrm>
          <a:prstGeom prst="line">
            <a:avLst/>
          </a:prstGeom>
          <a:ln w="12700">
            <a:solidFill>
              <a:srgbClr val="D8D7D2"/>
            </a:solidFill>
          </a:ln>
        </p:spPr>
        <p:style>
          <a:lnRef idx="2">
            <a:schemeClr val="accent1"/>
          </a:lnRef>
          <a:fillRef idx="0">
            <a:schemeClr val="accent1"/>
          </a:fillRef>
          <a:effectRef idx="1">
            <a:schemeClr val="accent1"/>
          </a:effectRef>
          <a:fontRef idx="minor">
            <a:schemeClr val="tx1"/>
          </a:fontRef>
        </p:style>
      </p:cxnSp>
      <p:sp>
        <p:nvSpPr>
          <p:cNvPr id="115" name="TextBox 114"/>
          <p:cNvSpPr txBox="1"/>
          <p:nvPr/>
        </p:nvSpPr>
        <p:spPr>
          <a:xfrm>
            <a:off x="9067800" y="3667125"/>
            <a:ext cx="2333625" cy="171450"/>
          </a:xfrm>
          <a:prstGeom prst="rect">
            <a:avLst/>
          </a:prstGeom>
          <a:noFill/>
        </p:spPr>
        <p:txBody>
          <a:bodyPr wrap="square" lIns="0" rIns="0" tIns="0" bIns="0" anchor="t">
            <a:spAutoFit/>
          </a:bodyPr>
          <a:lstStyle/>
          <a:p>
            <a:pPr algn="l">
              <a:lnSpc>
                <a:spcPct val="118000"/>
              </a:lnSpc>
              <a:spcBef>
                <a:spcPts val="0"/>
              </a:spcBef>
              <a:spcAft>
                <a:spcPts val="0"/>
              </a:spcAft>
            </a:pPr>
            <a:r>
              <a:rPr sz="675" b="1">
                <a:solidFill>
                  <a:srgbClr val="E3000B"/>
                </a:solidFill>
                <a:latin typeface="Aptos"/>
              </a:rPr>
              <a:t>STRESS CASE</a:t>
            </a:r>
          </a:p>
        </p:txBody>
      </p:sp>
      <p:sp>
        <p:nvSpPr>
          <p:cNvPr id="116" name="TextBox 115"/>
          <p:cNvSpPr txBox="1"/>
          <p:nvPr/>
        </p:nvSpPr>
        <p:spPr>
          <a:xfrm>
            <a:off x="9067800" y="3924300"/>
            <a:ext cx="2333625" cy="876300"/>
          </a:xfrm>
          <a:prstGeom prst="rect">
            <a:avLst/>
          </a:prstGeom>
          <a:noFill/>
        </p:spPr>
        <p:txBody>
          <a:bodyPr wrap="square" lIns="0" rIns="0" tIns="0" bIns="0" anchor="t">
            <a:spAutoFit/>
          </a:bodyPr>
          <a:lstStyle/>
          <a:p>
            <a:pPr algn="l">
              <a:lnSpc>
                <a:spcPct val="140000"/>
              </a:lnSpc>
              <a:spcBef>
                <a:spcPts val="0"/>
              </a:spcBef>
              <a:spcAft>
                <a:spcPts val="0"/>
              </a:spcAft>
            </a:pPr>
            <a:r>
              <a:rPr sz="825" b="1">
                <a:solidFill>
                  <a:srgbClr val="171717"/>
                </a:solidFill>
                <a:latin typeface="Aptos"/>
              </a:rPr>
              <a:t>First buffer breach: 30 Nov</a:t>
            </a:r>
          </a:p>
          <a:p>
            <a:pPr algn="l">
              <a:lnSpc>
                <a:spcPct val="140000"/>
              </a:lnSpc>
              <a:spcBef>
                <a:spcPts val="0"/>
              </a:spcBef>
              <a:spcAft>
                <a:spcPts val="0"/>
              </a:spcAft>
            </a:pPr>
            <a:r>
              <a:rPr sz="825" b="1">
                <a:solidFill>
                  <a:srgbClr val="171717"/>
                </a:solidFill>
                <a:latin typeface="Aptos"/>
              </a:rPr>
              <a:t>14 Dec cash: $524m</a:t>
            </a:r>
          </a:p>
          <a:p>
            <a:pPr algn="l">
              <a:lnSpc>
                <a:spcPct val="140000"/>
              </a:lnSpc>
              <a:spcBef>
                <a:spcPts val="0"/>
              </a:spcBef>
              <a:spcAft>
                <a:spcPts val="0"/>
              </a:spcAft>
            </a:pPr>
            <a:r>
              <a:rPr sz="825" b="1">
                <a:solidFill>
                  <a:srgbClr val="171717"/>
                </a:solidFill>
                <a:latin typeface="Aptos"/>
              </a:rPr>
              <a:t>Peak funding need: $176m</a:t>
            </a:r>
          </a:p>
        </p:txBody>
      </p:sp>
      <p:sp>
        <p:nvSpPr>
          <p:cNvPr id="117" name="TextBox 116"/>
          <p:cNvSpPr txBox="1"/>
          <p:nvPr/>
        </p:nvSpPr>
        <p:spPr>
          <a:xfrm>
            <a:off x="571500" y="5238750"/>
            <a:ext cx="10668000" cy="323850"/>
          </a:xfrm>
          <a:prstGeom prst="rect">
            <a:avLst/>
          </a:prstGeom>
          <a:noFill/>
        </p:spPr>
        <p:txBody>
          <a:bodyPr wrap="square" lIns="0" rIns="0" tIns="0" bIns="0" anchor="t">
            <a:spAutoFit/>
          </a:bodyPr>
          <a:lstStyle/>
          <a:p>
            <a:pPr algn="l">
              <a:lnSpc>
                <a:spcPct val="120000"/>
              </a:lnSpc>
              <a:spcBef>
                <a:spcPts val="0"/>
              </a:spcBef>
              <a:spcAft>
                <a:spcPts val="0"/>
              </a:spcAft>
            </a:pPr>
            <a:r>
              <a:rPr sz="675" b="0">
                <a:solidFill>
                  <a:srgbClr val="5C5C58"/>
                </a:solidFill>
                <a:latin typeface="Aptos"/>
              </a:rPr>
              <a:t>Model flows use assumed settlements, collateral, withdrawals and funding timing. Actual opening cash, approved buffer and cash movements require UBS Treasury records.</a:t>
            </a:r>
          </a:p>
        </p:txBody>
      </p:sp>
      <p:sp>
        <p:nvSpPr>
          <p:cNvPr id="118" name="TextBox 117"/>
          <p:cNvSpPr txBox="1"/>
          <p:nvPr/>
        </p:nvSpPr>
        <p:spPr>
          <a:xfrm>
            <a:off x="571500" y="5715000"/>
            <a:ext cx="10668000" cy="257175"/>
          </a:xfrm>
          <a:prstGeom prst="rect">
            <a:avLst/>
          </a:prstGeom>
          <a:noFill/>
        </p:spPr>
        <p:txBody>
          <a:bodyPr wrap="square" lIns="0" rIns="0" tIns="0" bIns="0" anchor="t">
            <a:spAutoFit/>
          </a:bodyPr>
          <a:lstStyle/>
          <a:p>
            <a:pPr algn="l">
              <a:lnSpc>
                <a:spcPct val="118000"/>
              </a:lnSpc>
              <a:spcBef>
                <a:spcPts val="0"/>
              </a:spcBef>
              <a:spcAft>
                <a:spcPts val="0"/>
              </a:spcAft>
            </a:pPr>
            <a:r>
              <a:rPr sz="675" b="1">
                <a:solidFill>
                  <a:srgbClr val="E3000B"/>
                </a:solidFill>
                <a:latin typeface="Aptos"/>
              </a:rPr>
              <a:t>No double count: loss already paid before discovery is in opening cash; do not deduct the USD 2.3bn headline loss again.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2000" cy="6858000"/>
          </a:xfrm>
          <a:prstGeom prst="rect">
            <a:avLst/>
          </a:prstGeom>
          <a:solidFill>
            <a:srgbClr val="FFFFF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38100"/>
          </a:xfrm>
          <a:prstGeom prst="rect">
            <a:avLst/>
          </a:prstGeom>
          <a:solidFill>
            <a:srgbClr val="E3000B"/>
          </a:solidFill>
          <a:ln w="12700">
            <a:solidFill>
              <a:srgbClr val="E30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ubs-logo.png"/>
          <p:cNvPicPr>
            <a:picLocks noChangeAspect="1"/>
          </p:cNvPicPr>
          <p:nvPr/>
        </p:nvPicPr>
        <p:blipFill>
          <a:blip r:embed="rId2"/>
          <a:stretch>
            <a:fillRect/>
          </a:stretch>
        </p:blipFill>
        <p:spPr>
          <a:xfrm>
            <a:off x="408461" y="123824"/>
            <a:ext cx="1240476" cy="438150"/>
          </a:xfrm>
          <a:prstGeom prst="rect">
            <a:avLst/>
          </a:prstGeom>
        </p:spPr>
      </p:pic>
      <p:pic>
        <p:nvPicPr>
          <p:cNvPr id="5" name="Picture 4" descr="skema-logo.png"/>
          <p:cNvPicPr>
            <a:picLocks noChangeAspect="1"/>
          </p:cNvPicPr>
          <p:nvPr/>
        </p:nvPicPr>
        <p:blipFill>
          <a:blip r:embed="rId3"/>
          <a:stretch>
            <a:fillRect/>
          </a:stretch>
        </p:blipFill>
        <p:spPr>
          <a:xfrm>
            <a:off x="11344275" y="114375"/>
            <a:ext cx="400050" cy="418949"/>
          </a:xfrm>
          <a:prstGeom prst="rect">
            <a:avLst/>
          </a:prstGeom>
        </p:spPr>
      </p:pic>
      <p:sp>
        <p:nvSpPr>
          <p:cNvPr id="6" name="TextBox 5"/>
          <p:cNvSpPr txBox="1"/>
          <p:nvPr/>
        </p:nvSpPr>
        <p:spPr>
          <a:xfrm>
            <a:off x="1952624" y="247649"/>
            <a:ext cx="8096249" cy="20955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B51E2B"/>
                </a:solidFill>
                <a:latin typeface="Aptos"/>
              </a:rPr>
              <a:t>PART II · 2.3 STRESS &amp; FUNDING TIMING</a:t>
            </a:r>
          </a:p>
        </p:txBody>
      </p:sp>
      <p:sp>
        <p:nvSpPr>
          <p:cNvPr id="7" name="TextBox 6"/>
          <p:cNvSpPr txBox="1"/>
          <p:nvPr/>
        </p:nvSpPr>
        <p:spPr>
          <a:xfrm>
            <a:off x="419100" y="742950"/>
            <a:ext cx="11353800" cy="400050"/>
          </a:xfrm>
          <a:prstGeom prst="rect">
            <a:avLst/>
          </a:prstGeom>
          <a:noFill/>
        </p:spPr>
        <p:txBody>
          <a:bodyPr wrap="square" lIns="0" rIns="0" tIns="0" bIns="0" anchor="t">
            <a:spAutoFit/>
          </a:bodyPr>
          <a:lstStyle/>
          <a:p>
            <a:pPr algn="l">
              <a:lnSpc>
                <a:spcPct val="118000"/>
              </a:lnSpc>
              <a:spcBef>
                <a:spcPts val="0"/>
              </a:spcBef>
              <a:spcAft>
                <a:spcPts val="0"/>
              </a:spcAft>
            </a:pPr>
            <a:r>
              <a:rPr sz="2025" b="1">
                <a:solidFill>
                  <a:srgbClr val="171717"/>
                </a:solidFill>
                <a:latin typeface="Aptos"/>
              </a:rPr>
              <a:t>Stress: first buffer breach 30 Nov; peak need $176m</a:t>
            </a:r>
          </a:p>
        </p:txBody>
      </p:sp>
      <p:cxnSp>
        <p:nvCxnSpPr>
          <p:cNvPr id="8" name="Connector 7"/>
          <p:cNvCxnSpPr/>
          <p:nvPr/>
        </p:nvCxnSpPr>
        <p:spPr>
          <a:xfrm>
            <a:off x="419100" y="1247775"/>
            <a:ext cx="11353800" cy="0"/>
          </a:xfrm>
          <a:prstGeom prst="line">
            <a:avLst/>
          </a:prstGeom>
          <a:ln w="12700">
            <a:solidFill>
              <a:srgbClr val="D8D7D2"/>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9100" y="6457950"/>
            <a:ext cx="11353800" cy="0"/>
          </a:xfrm>
          <a:prstGeom prst="line">
            <a:avLst/>
          </a:prstGeom>
          <a:ln w="12700">
            <a:solidFill>
              <a:srgbClr val="D8D7D2"/>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19100" y="6534150"/>
            <a:ext cx="7715250" cy="171450"/>
          </a:xfrm>
          <a:prstGeom prst="rect">
            <a:avLst/>
          </a:prstGeom>
          <a:noFill/>
        </p:spPr>
        <p:txBody>
          <a:bodyPr wrap="square" lIns="0" rIns="0" tIns="0" bIns="0" anchor="t">
            <a:spAutoFit/>
          </a:bodyPr>
          <a:lstStyle/>
          <a:p>
            <a:pPr algn="l">
              <a:lnSpc>
                <a:spcPct val="118000"/>
              </a:lnSpc>
              <a:spcBef>
                <a:spcPts val="0"/>
              </a:spcBef>
              <a:spcAft>
                <a:spcPts val="0"/>
              </a:spcAft>
            </a:pPr>
            <a:r>
              <a:rPr sz="600" b="0">
                <a:solidFill>
                  <a:srgbClr val="5C5C58"/>
                </a:solidFill>
                <a:latin typeface="Aptos"/>
              </a:rPr>
              <a:t>Stress outputs are calculated from labelled assumptions only; the facility is not claimed as an actual UBS commitment.</a:t>
            </a:r>
          </a:p>
        </p:txBody>
      </p:sp>
      <p:sp>
        <p:nvSpPr>
          <p:cNvPr id="11" name="TextBox 10"/>
          <p:cNvSpPr txBox="1"/>
          <p:nvPr/>
        </p:nvSpPr>
        <p:spPr>
          <a:xfrm>
            <a:off x="8858250" y="6515100"/>
            <a:ext cx="2905125" cy="190500"/>
          </a:xfrm>
          <a:prstGeom prst="rect">
            <a:avLst/>
          </a:prstGeom>
          <a:noFill/>
        </p:spPr>
        <p:txBody>
          <a:bodyPr wrap="square" lIns="0" rIns="0" tIns="0" bIns="0" anchor="t">
            <a:spAutoFit/>
          </a:bodyPr>
          <a:lstStyle/>
          <a:p>
            <a:pPr algn="r">
              <a:lnSpc>
                <a:spcPct val="118000"/>
              </a:lnSpc>
              <a:spcBef>
                <a:spcPts val="0"/>
              </a:spcBef>
              <a:spcAft>
                <a:spcPts val="0"/>
              </a:spcAft>
            </a:pPr>
            <a:r>
              <a:rPr sz="675" b="1">
                <a:solidFill>
                  <a:srgbClr val="B51E2B"/>
                </a:solidFill>
                <a:latin typeface="Aptos"/>
              </a:rPr>
              <a:t>ELIAS  /  08</a:t>
            </a:r>
          </a:p>
        </p:txBody>
      </p:sp>
      <p:sp>
        <p:nvSpPr>
          <p:cNvPr id="12" name="Rectangle 11"/>
          <p:cNvSpPr/>
          <p:nvPr/>
        </p:nvSpPr>
        <p:spPr>
          <a:xfrm>
            <a:off x="552450" y="1381125"/>
            <a:ext cx="5476875" cy="3400425"/>
          </a:xfrm>
          <a:prstGeom prst="rect">
            <a:avLst/>
          </a:prstGeom>
          <a:solidFill>
            <a:srgbClr val="F8F8F6"/>
          </a:solidFill>
          <a:ln w="12700">
            <a:solidFill>
              <a:srgbClr val="D8D7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2000" y="1562100"/>
            <a:ext cx="5048250" cy="19050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B51E2B"/>
                </a:solidFill>
                <a:latin typeface="Aptos"/>
              </a:rPr>
              <a:t>COMBINED STRESS INPUTS · USDm</a:t>
            </a:r>
          </a:p>
        </p:txBody>
      </p:sp>
      <p:sp>
        <p:nvSpPr>
          <p:cNvPr id="14" name="TextBox 13"/>
          <p:cNvSpPr txBox="1"/>
          <p:nvPr/>
        </p:nvSpPr>
        <p:spPr>
          <a:xfrm>
            <a:off x="781050" y="1971675"/>
            <a:ext cx="1143000" cy="228600"/>
          </a:xfrm>
          <a:prstGeom prst="rect">
            <a:avLst/>
          </a:prstGeom>
          <a:noFill/>
        </p:spPr>
        <p:txBody>
          <a:bodyPr wrap="square" lIns="0" rIns="0" tIns="0" bIns="0" anchor="t">
            <a:spAutoFit/>
          </a:bodyPr>
          <a:lstStyle/>
          <a:p>
            <a:pPr algn="l">
              <a:lnSpc>
                <a:spcPct val="118000"/>
              </a:lnSpc>
              <a:spcBef>
                <a:spcPts val="0"/>
              </a:spcBef>
              <a:spcAft>
                <a:spcPts val="0"/>
              </a:spcAft>
            </a:pPr>
            <a:r>
              <a:rPr sz="1200" b="1">
                <a:solidFill>
                  <a:srgbClr val="E3000B"/>
                </a:solidFill>
                <a:latin typeface="Aptos"/>
              </a:rPr>
              <a:t>−$50m</a:t>
            </a:r>
          </a:p>
        </p:txBody>
      </p:sp>
      <p:sp>
        <p:nvSpPr>
          <p:cNvPr id="15" name="TextBox 14"/>
          <p:cNvSpPr txBox="1"/>
          <p:nvPr/>
        </p:nvSpPr>
        <p:spPr>
          <a:xfrm>
            <a:off x="2047875" y="1971675"/>
            <a:ext cx="3714750" cy="285750"/>
          </a:xfrm>
          <a:prstGeom prst="rect">
            <a:avLst/>
          </a:prstGeom>
          <a:noFill/>
        </p:spPr>
        <p:txBody>
          <a:bodyPr wrap="square" lIns="0" rIns="0" tIns="0" bIns="0" anchor="t">
            <a:spAutoFit/>
          </a:bodyPr>
          <a:lstStyle/>
          <a:p>
            <a:pPr algn="l">
              <a:lnSpc>
                <a:spcPct val="118000"/>
              </a:lnSpc>
              <a:spcBef>
                <a:spcPts val="0"/>
              </a:spcBef>
              <a:spcAft>
                <a:spcPts val="0"/>
              </a:spcAft>
            </a:pPr>
            <a:r>
              <a:rPr sz="825" b="0">
                <a:solidFill>
                  <a:srgbClr val="171717"/>
                </a:solidFill>
                <a:latin typeface="Aptos"/>
              </a:rPr>
              <a:t>Settlement accelerated / increased on 30 Nov</a:t>
            </a:r>
          </a:p>
        </p:txBody>
      </p:sp>
      <p:sp>
        <p:nvSpPr>
          <p:cNvPr id="16" name="TextBox 15"/>
          <p:cNvSpPr txBox="1"/>
          <p:nvPr/>
        </p:nvSpPr>
        <p:spPr>
          <a:xfrm>
            <a:off x="781050" y="2552700"/>
            <a:ext cx="1143000" cy="228600"/>
          </a:xfrm>
          <a:prstGeom prst="rect">
            <a:avLst/>
          </a:prstGeom>
          <a:noFill/>
        </p:spPr>
        <p:txBody>
          <a:bodyPr wrap="square" lIns="0" rIns="0" tIns="0" bIns="0" anchor="t">
            <a:spAutoFit/>
          </a:bodyPr>
          <a:lstStyle/>
          <a:p>
            <a:pPr algn="l">
              <a:lnSpc>
                <a:spcPct val="118000"/>
              </a:lnSpc>
              <a:spcBef>
                <a:spcPts val="0"/>
              </a:spcBef>
              <a:spcAft>
                <a:spcPts val="0"/>
              </a:spcAft>
            </a:pPr>
            <a:r>
              <a:rPr sz="1200" b="1">
                <a:solidFill>
                  <a:srgbClr val="E3000B"/>
                </a:solidFill>
                <a:latin typeface="Aptos"/>
              </a:rPr>
              <a:t>−$100m</a:t>
            </a:r>
          </a:p>
        </p:txBody>
      </p:sp>
      <p:sp>
        <p:nvSpPr>
          <p:cNvPr id="17" name="TextBox 16"/>
          <p:cNvSpPr txBox="1"/>
          <p:nvPr/>
        </p:nvSpPr>
        <p:spPr>
          <a:xfrm>
            <a:off x="2047875" y="2552700"/>
            <a:ext cx="3714750" cy="285750"/>
          </a:xfrm>
          <a:prstGeom prst="rect">
            <a:avLst/>
          </a:prstGeom>
          <a:noFill/>
        </p:spPr>
        <p:txBody>
          <a:bodyPr wrap="square" lIns="0" rIns="0" tIns="0" bIns="0" anchor="t">
            <a:spAutoFit/>
          </a:bodyPr>
          <a:lstStyle/>
          <a:p>
            <a:pPr algn="l">
              <a:lnSpc>
                <a:spcPct val="118000"/>
              </a:lnSpc>
              <a:spcBef>
                <a:spcPts val="0"/>
              </a:spcBef>
              <a:spcAft>
                <a:spcPts val="0"/>
              </a:spcAft>
            </a:pPr>
            <a:r>
              <a:rPr sz="825" b="0">
                <a:solidFill>
                  <a:srgbClr val="171717"/>
                </a:solidFill>
                <a:latin typeface="Aptos"/>
              </a:rPr>
              <a:t>October collateral return delayed past horizon</a:t>
            </a:r>
          </a:p>
        </p:txBody>
      </p:sp>
      <p:sp>
        <p:nvSpPr>
          <p:cNvPr id="18" name="TextBox 17"/>
          <p:cNvSpPr txBox="1"/>
          <p:nvPr/>
        </p:nvSpPr>
        <p:spPr>
          <a:xfrm>
            <a:off x="781050" y="3133725"/>
            <a:ext cx="1143000" cy="228600"/>
          </a:xfrm>
          <a:prstGeom prst="rect">
            <a:avLst/>
          </a:prstGeom>
          <a:noFill/>
        </p:spPr>
        <p:txBody>
          <a:bodyPr wrap="square" lIns="0" rIns="0" tIns="0" bIns="0" anchor="t">
            <a:spAutoFit/>
          </a:bodyPr>
          <a:lstStyle/>
          <a:p>
            <a:pPr algn="l">
              <a:lnSpc>
                <a:spcPct val="118000"/>
              </a:lnSpc>
              <a:spcBef>
                <a:spcPts val="0"/>
              </a:spcBef>
              <a:spcAft>
                <a:spcPts val="0"/>
              </a:spcAft>
            </a:pPr>
            <a:r>
              <a:rPr sz="1200" b="1">
                <a:solidFill>
                  <a:srgbClr val="E3000B"/>
                </a:solidFill>
                <a:latin typeface="Aptos"/>
              </a:rPr>
              <a:t>−$100m</a:t>
            </a:r>
          </a:p>
        </p:txBody>
      </p:sp>
      <p:sp>
        <p:nvSpPr>
          <p:cNvPr id="19" name="TextBox 18"/>
          <p:cNvSpPr txBox="1"/>
          <p:nvPr/>
        </p:nvSpPr>
        <p:spPr>
          <a:xfrm>
            <a:off x="2047875" y="3133725"/>
            <a:ext cx="3714750" cy="285750"/>
          </a:xfrm>
          <a:prstGeom prst="rect">
            <a:avLst/>
          </a:prstGeom>
          <a:noFill/>
        </p:spPr>
        <p:txBody>
          <a:bodyPr wrap="square" lIns="0" rIns="0" tIns="0" bIns="0" anchor="t">
            <a:spAutoFit/>
          </a:bodyPr>
          <a:lstStyle/>
          <a:p>
            <a:pPr algn="l">
              <a:lnSpc>
                <a:spcPct val="118000"/>
              </a:lnSpc>
              <a:spcBef>
                <a:spcPts val="0"/>
              </a:spcBef>
              <a:spcAft>
                <a:spcPts val="0"/>
              </a:spcAft>
            </a:pPr>
            <a:r>
              <a:rPr sz="825" b="0">
                <a:solidFill>
                  <a:srgbClr val="171717"/>
                </a:solidFill>
                <a:latin typeface="Aptos"/>
              </a:rPr>
              <a:t>Additional customer withdrawals on 30 Nov</a:t>
            </a:r>
          </a:p>
        </p:txBody>
      </p:sp>
      <p:sp>
        <p:nvSpPr>
          <p:cNvPr id="20" name="TextBox 19"/>
          <p:cNvSpPr txBox="1"/>
          <p:nvPr/>
        </p:nvSpPr>
        <p:spPr>
          <a:xfrm>
            <a:off x="781050" y="3714750"/>
            <a:ext cx="1143000" cy="228600"/>
          </a:xfrm>
          <a:prstGeom prst="rect">
            <a:avLst/>
          </a:prstGeom>
          <a:noFill/>
        </p:spPr>
        <p:txBody>
          <a:bodyPr wrap="square" lIns="0" rIns="0" tIns="0" bIns="0" anchor="t">
            <a:spAutoFit/>
          </a:bodyPr>
          <a:lstStyle/>
          <a:p>
            <a:pPr algn="l">
              <a:lnSpc>
                <a:spcPct val="118000"/>
              </a:lnSpc>
              <a:spcBef>
                <a:spcPts val="0"/>
              </a:spcBef>
              <a:spcAft>
                <a:spcPts val="0"/>
              </a:spcAft>
            </a:pPr>
            <a:r>
              <a:rPr sz="1200" b="1">
                <a:solidFill>
                  <a:srgbClr val="E3000B"/>
                </a:solidFill>
                <a:latin typeface="Aptos"/>
              </a:rPr>
              <a:t>−$50m</a:t>
            </a:r>
          </a:p>
        </p:txBody>
      </p:sp>
      <p:sp>
        <p:nvSpPr>
          <p:cNvPr id="21" name="TextBox 20"/>
          <p:cNvSpPr txBox="1"/>
          <p:nvPr/>
        </p:nvSpPr>
        <p:spPr>
          <a:xfrm>
            <a:off x="2047875" y="3714750"/>
            <a:ext cx="3714750" cy="285750"/>
          </a:xfrm>
          <a:prstGeom prst="rect">
            <a:avLst/>
          </a:prstGeom>
          <a:noFill/>
        </p:spPr>
        <p:txBody>
          <a:bodyPr wrap="square" lIns="0" rIns="0" tIns="0" bIns="0" anchor="t">
            <a:spAutoFit/>
          </a:bodyPr>
          <a:lstStyle/>
          <a:p>
            <a:pPr algn="l">
              <a:lnSpc>
                <a:spcPct val="118000"/>
              </a:lnSpc>
              <a:spcBef>
                <a:spcPts val="0"/>
              </a:spcBef>
              <a:spcAft>
                <a:spcPts val="0"/>
              </a:spcAft>
            </a:pPr>
            <a:r>
              <a:rPr sz="825" b="0">
                <a:solidFill>
                  <a:srgbClr val="171717"/>
                </a:solidFill>
                <a:latin typeface="Aptos"/>
              </a:rPr>
              <a:t>Maturing funding not renewed on 30 Nov</a:t>
            </a:r>
          </a:p>
        </p:txBody>
      </p:sp>
      <p:sp>
        <p:nvSpPr>
          <p:cNvPr id="22" name="Rectangle 21"/>
          <p:cNvSpPr/>
          <p:nvPr/>
        </p:nvSpPr>
        <p:spPr>
          <a:xfrm>
            <a:off x="6286500" y="1381125"/>
            <a:ext cx="5314950" cy="3400425"/>
          </a:xfrm>
          <a:prstGeom prst="rect">
            <a:avLst/>
          </a:prstGeom>
          <a:solidFill>
            <a:srgbClr val="FAF4F4"/>
          </a:solidFill>
          <a:ln w="12700">
            <a:solidFill>
              <a:srgbClr val="E5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15100" y="1562100"/>
            <a:ext cx="4857750" cy="19050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E3000B"/>
                </a:solidFill>
                <a:latin typeface="Aptos"/>
              </a:rPr>
              <a:t>CALCULATED LIQUIDITY RESULT</a:t>
            </a:r>
          </a:p>
        </p:txBody>
      </p:sp>
      <p:sp>
        <p:nvSpPr>
          <p:cNvPr id="24" name="TextBox 23"/>
          <p:cNvSpPr txBox="1"/>
          <p:nvPr/>
        </p:nvSpPr>
        <p:spPr>
          <a:xfrm>
            <a:off x="6515100" y="1924049"/>
            <a:ext cx="4762500" cy="361950"/>
          </a:xfrm>
          <a:prstGeom prst="rect">
            <a:avLst/>
          </a:prstGeom>
          <a:noFill/>
        </p:spPr>
        <p:txBody>
          <a:bodyPr wrap="square" lIns="0" rIns="0" tIns="0" bIns="0" anchor="t">
            <a:spAutoFit/>
          </a:bodyPr>
          <a:lstStyle/>
          <a:p>
            <a:pPr algn="l">
              <a:lnSpc>
                <a:spcPct val="118000"/>
              </a:lnSpc>
              <a:spcBef>
                <a:spcPts val="0"/>
              </a:spcBef>
              <a:spcAft>
                <a:spcPts val="0"/>
              </a:spcAft>
            </a:pPr>
            <a:r>
              <a:rPr sz="1200" b="1">
                <a:solidFill>
                  <a:srgbClr val="171717"/>
                </a:solidFill>
                <a:latin typeface="Aptos"/>
              </a:rPr>
              <a:t>Base case: $0m funding gap</a:t>
            </a:r>
          </a:p>
        </p:txBody>
      </p:sp>
      <p:sp>
        <p:nvSpPr>
          <p:cNvPr id="25" name="TextBox 24"/>
          <p:cNvSpPr txBox="1"/>
          <p:nvPr/>
        </p:nvSpPr>
        <p:spPr>
          <a:xfrm>
            <a:off x="6515100" y="2352675"/>
            <a:ext cx="4762500" cy="676275"/>
          </a:xfrm>
          <a:prstGeom prst="rect">
            <a:avLst/>
          </a:prstGeom>
          <a:noFill/>
        </p:spPr>
        <p:txBody>
          <a:bodyPr wrap="square" lIns="0" rIns="0" tIns="0" bIns="0" anchor="t">
            <a:spAutoFit/>
          </a:bodyPr>
          <a:lstStyle/>
          <a:p>
            <a:pPr algn="l">
              <a:lnSpc>
                <a:spcPct val="140000"/>
              </a:lnSpc>
              <a:spcBef>
                <a:spcPts val="0"/>
              </a:spcBef>
              <a:spcAft>
                <a:spcPts val="0"/>
              </a:spcAft>
            </a:pPr>
            <a:r>
              <a:rPr sz="900" b="0">
                <a:solidFill>
                  <a:srgbClr val="171717"/>
                </a:solidFill>
                <a:latin typeface="Aptos"/>
              </a:rPr>
              <a:t>Stress case: $549m at 30 Nov</a:t>
            </a:r>
          </a:p>
          <a:p>
            <a:pPr algn="l">
              <a:lnSpc>
                <a:spcPct val="140000"/>
              </a:lnSpc>
              <a:spcBef>
                <a:spcPts val="0"/>
              </a:spcBef>
              <a:spcAft>
                <a:spcPts val="0"/>
              </a:spcAft>
            </a:pPr>
            <a:r>
              <a:rPr sz="900" b="0">
                <a:solidFill>
                  <a:srgbClr val="171717"/>
                </a:solidFill>
                <a:latin typeface="Aptos"/>
              </a:rPr>
              <a:t>First breach: 30 Nov, $151m below buffer</a:t>
            </a:r>
          </a:p>
          <a:p>
            <a:pPr algn="l">
              <a:lnSpc>
                <a:spcPct val="140000"/>
              </a:lnSpc>
              <a:spcBef>
                <a:spcPts val="0"/>
              </a:spcBef>
              <a:spcAft>
                <a:spcPts val="0"/>
              </a:spcAft>
            </a:pPr>
            <a:r>
              <a:rPr sz="900" b="0">
                <a:solidFill>
                  <a:srgbClr val="171717"/>
                </a:solidFill>
                <a:latin typeface="Aptos"/>
              </a:rPr>
              <a:t>14 Dec cash: $524m; peak need: $176m</a:t>
            </a:r>
          </a:p>
        </p:txBody>
      </p:sp>
      <p:cxnSp>
        <p:nvCxnSpPr>
          <p:cNvPr id="26" name="Connector 25"/>
          <p:cNvCxnSpPr/>
          <p:nvPr/>
        </p:nvCxnSpPr>
        <p:spPr>
          <a:xfrm>
            <a:off x="6515100" y="3209925"/>
            <a:ext cx="4848225" cy="0"/>
          </a:xfrm>
          <a:prstGeom prst="line">
            <a:avLst/>
          </a:prstGeom>
          <a:ln w="12700">
            <a:solidFill>
              <a:srgbClr val="D8A7A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515100" y="3371850"/>
            <a:ext cx="4762500" cy="19050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E3000B"/>
                </a:solidFill>
                <a:latin typeface="Aptos"/>
              </a:rPr>
              <a:t>FUNDING TIMING &amp; FALLBACK</a:t>
            </a:r>
          </a:p>
        </p:txBody>
      </p:sp>
      <p:sp>
        <p:nvSpPr>
          <p:cNvPr id="28" name="TextBox 27"/>
          <p:cNvSpPr txBox="1"/>
          <p:nvPr/>
        </p:nvSpPr>
        <p:spPr>
          <a:xfrm>
            <a:off x="6515100" y="3638550"/>
            <a:ext cx="4762500" cy="895350"/>
          </a:xfrm>
          <a:prstGeom prst="rect">
            <a:avLst/>
          </a:prstGeom>
          <a:noFill/>
        </p:spPr>
        <p:txBody>
          <a:bodyPr wrap="square" lIns="0" rIns="0" tIns="0" bIns="0" anchor="t">
            <a:spAutoFit/>
          </a:bodyPr>
          <a:lstStyle/>
          <a:p>
            <a:pPr algn="l">
              <a:lnSpc>
                <a:spcPct val="128000"/>
              </a:lnSpc>
              <a:spcBef>
                <a:spcPts val="0"/>
              </a:spcBef>
              <a:spcAft>
                <a:spcPts val="0"/>
              </a:spcAft>
            </a:pPr>
            <a:r>
              <a:rPr sz="825" b="0">
                <a:solidFill>
                  <a:srgbClr val="171717"/>
                </a:solidFill>
                <a:latin typeface="Aptos"/>
              </a:rPr>
              <a:t>Assume a $200m committed line with T+2 access. Trigger by 25 Nov → funds arrive by 29 Nov, before breach. If delayed beyond 30 Nov, use a separately verified fallback and conserve discretionary cash.</a:t>
            </a:r>
          </a:p>
        </p:txBody>
      </p:sp>
      <p:sp>
        <p:nvSpPr>
          <p:cNvPr id="29" name="TextBox 28"/>
          <p:cNvSpPr txBox="1"/>
          <p:nvPr/>
        </p:nvSpPr>
        <p:spPr>
          <a:xfrm>
            <a:off x="571500" y="5048250"/>
            <a:ext cx="10668000" cy="342900"/>
          </a:xfrm>
          <a:prstGeom prst="rect">
            <a:avLst/>
          </a:prstGeom>
          <a:noFill/>
        </p:spPr>
        <p:txBody>
          <a:bodyPr wrap="square" lIns="0" rIns="0" tIns="0" bIns="0" anchor="t">
            <a:spAutoFit/>
          </a:bodyPr>
          <a:lstStyle/>
          <a:p>
            <a:pPr algn="l">
              <a:lnSpc>
                <a:spcPct val="120000"/>
              </a:lnSpc>
              <a:spcBef>
                <a:spcPts val="0"/>
              </a:spcBef>
              <a:spcAft>
                <a:spcPts val="0"/>
              </a:spcAft>
            </a:pPr>
            <a:r>
              <a:rPr sz="750" b="0">
                <a:solidFill>
                  <a:srgbClr val="5C5C58"/>
                </a:solidFill>
                <a:latin typeface="Aptos"/>
              </a:rPr>
              <a:t>Sensitivity outputs: lowest cash · first breach date · peak funding need · source arrival versus breach. Re-run for each shock separately and in combination.</a:t>
            </a:r>
          </a:p>
        </p:txBody>
      </p:sp>
      <p:sp>
        <p:nvSpPr>
          <p:cNvPr id="30" name="TextBox 29"/>
          <p:cNvSpPr txBox="1"/>
          <p:nvPr/>
        </p:nvSpPr>
        <p:spPr>
          <a:xfrm>
            <a:off x="571500" y="5572125"/>
            <a:ext cx="10668000" cy="428625"/>
          </a:xfrm>
          <a:prstGeom prst="rect">
            <a:avLst/>
          </a:prstGeom>
          <a:noFill/>
        </p:spPr>
        <p:txBody>
          <a:bodyPr wrap="square" lIns="0" rIns="0" tIns="0" bIns="0" anchor="t">
            <a:spAutoFit/>
          </a:bodyPr>
          <a:lstStyle/>
          <a:p>
            <a:pPr algn="l">
              <a:lnSpc>
                <a:spcPct val="120000"/>
              </a:lnSpc>
              <a:spcBef>
                <a:spcPts val="0"/>
              </a:spcBef>
              <a:spcAft>
                <a:spcPts val="0"/>
              </a:spcAft>
            </a:pPr>
            <a:r>
              <a:rPr sz="825" b="1">
                <a:solidFill>
                  <a:srgbClr val="E3000B"/>
                </a:solidFill>
                <a:latin typeface="Aptos"/>
              </a:rPr>
              <a:t>Base case has no gap; the illustrative stress needs $176m. All cash inputs and the $200m facility are assumptions—not UBS historical data.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2000" cy="6858000"/>
          </a:xfrm>
          <a:prstGeom prst="rect">
            <a:avLst/>
          </a:prstGeom>
          <a:solidFill>
            <a:srgbClr val="FFFFF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38100"/>
          </a:xfrm>
          <a:prstGeom prst="rect">
            <a:avLst/>
          </a:prstGeom>
          <a:solidFill>
            <a:srgbClr val="E3000B"/>
          </a:solidFill>
          <a:ln w="12700">
            <a:solidFill>
              <a:srgbClr val="E30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ubs-logo.png"/>
          <p:cNvPicPr>
            <a:picLocks noChangeAspect="1"/>
          </p:cNvPicPr>
          <p:nvPr/>
        </p:nvPicPr>
        <p:blipFill>
          <a:blip r:embed="rId2"/>
          <a:stretch>
            <a:fillRect/>
          </a:stretch>
        </p:blipFill>
        <p:spPr>
          <a:xfrm>
            <a:off x="408461" y="123824"/>
            <a:ext cx="1240476" cy="438150"/>
          </a:xfrm>
          <a:prstGeom prst="rect">
            <a:avLst/>
          </a:prstGeom>
        </p:spPr>
      </p:pic>
      <p:pic>
        <p:nvPicPr>
          <p:cNvPr id="5" name="Picture 4" descr="skema-logo.png"/>
          <p:cNvPicPr>
            <a:picLocks noChangeAspect="1"/>
          </p:cNvPicPr>
          <p:nvPr/>
        </p:nvPicPr>
        <p:blipFill>
          <a:blip r:embed="rId3"/>
          <a:stretch>
            <a:fillRect/>
          </a:stretch>
        </p:blipFill>
        <p:spPr>
          <a:xfrm>
            <a:off x="11344275" y="114375"/>
            <a:ext cx="400050" cy="418949"/>
          </a:xfrm>
          <a:prstGeom prst="rect">
            <a:avLst/>
          </a:prstGeom>
        </p:spPr>
      </p:pic>
      <p:sp>
        <p:nvSpPr>
          <p:cNvPr id="6" name="TextBox 5"/>
          <p:cNvSpPr txBox="1"/>
          <p:nvPr/>
        </p:nvSpPr>
        <p:spPr>
          <a:xfrm>
            <a:off x="1952624" y="247649"/>
            <a:ext cx="8096249" cy="20955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B51E2B"/>
                </a:solidFill>
                <a:latin typeface="Aptos"/>
              </a:rPr>
              <a:t>PART III · 3.1 RISK ASSESSMENT</a:t>
            </a:r>
          </a:p>
        </p:txBody>
      </p:sp>
      <p:sp>
        <p:nvSpPr>
          <p:cNvPr id="7" name="TextBox 6"/>
          <p:cNvSpPr txBox="1"/>
          <p:nvPr/>
        </p:nvSpPr>
        <p:spPr>
          <a:xfrm>
            <a:off x="419100" y="742950"/>
            <a:ext cx="11353800" cy="400050"/>
          </a:xfrm>
          <a:prstGeom prst="rect">
            <a:avLst/>
          </a:prstGeom>
          <a:noFill/>
        </p:spPr>
        <p:txBody>
          <a:bodyPr wrap="square" lIns="0" rIns="0" tIns="0" bIns="0" anchor="t">
            <a:spAutoFit/>
          </a:bodyPr>
          <a:lstStyle/>
          <a:p>
            <a:pPr algn="l">
              <a:lnSpc>
                <a:spcPct val="118000"/>
              </a:lnSpc>
              <a:spcBef>
                <a:spcPts val="0"/>
              </a:spcBef>
              <a:spcAft>
                <a:spcPts val="0"/>
              </a:spcAft>
            </a:pPr>
            <a:r>
              <a:rPr sz="2025" b="1">
                <a:solidFill>
                  <a:srgbClr val="171717"/>
                </a:solidFill>
                <a:latin typeface="Aptos"/>
              </a:rPr>
              <a:t>Risk register: score residual exposure after containment</a:t>
            </a:r>
          </a:p>
        </p:txBody>
      </p:sp>
      <p:cxnSp>
        <p:nvCxnSpPr>
          <p:cNvPr id="8" name="Connector 7"/>
          <p:cNvCxnSpPr/>
          <p:nvPr/>
        </p:nvCxnSpPr>
        <p:spPr>
          <a:xfrm>
            <a:off x="419100" y="1247775"/>
            <a:ext cx="11353800" cy="0"/>
          </a:xfrm>
          <a:prstGeom prst="line">
            <a:avLst/>
          </a:prstGeom>
          <a:ln w="12700">
            <a:solidFill>
              <a:srgbClr val="D8D7D2"/>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9100" y="6457950"/>
            <a:ext cx="11353800" cy="0"/>
          </a:xfrm>
          <a:prstGeom prst="line">
            <a:avLst/>
          </a:prstGeom>
          <a:ln w="12700">
            <a:solidFill>
              <a:srgbClr val="D8D7D2"/>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19100" y="6534150"/>
            <a:ext cx="7715250" cy="171450"/>
          </a:xfrm>
          <a:prstGeom prst="rect">
            <a:avLst/>
          </a:prstGeom>
          <a:noFill/>
        </p:spPr>
        <p:txBody>
          <a:bodyPr wrap="square" lIns="0" rIns="0" tIns="0" bIns="0" anchor="t">
            <a:spAutoFit/>
          </a:bodyPr>
          <a:lstStyle/>
          <a:p>
            <a:pPr algn="l">
              <a:lnSpc>
                <a:spcPct val="118000"/>
              </a:lnSpc>
              <a:spcBef>
                <a:spcPts val="0"/>
              </a:spcBef>
              <a:spcAft>
                <a:spcPts val="0"/>
              </a:spcAft>
            </a:pPr>
            <a:r>
              <a:rPr sz="600" b="0">
                <a:solidFill>
                  <a:srgbClr val="5C5C58"/>
                </a:solidFill>
                <a:latin typeface="Aptos"/>
              </a:rPr>
              <a:t>Illustrative analyst scores for the 14 Sep–14 Dec horizon; validate against reconciled positions and cash headroom.</a:t>
            </a:r>
          </a:p>
        </p:txBody>
      </p:sp>
      <p:sp>
        <p:nvSpPr>
          <p:cNvPr id="11" name="TextBox 10"/>
          <p:cNvSpPr txBox="1"/>
          <p:nvPr/>
        </p:nvSpPr>
        <p:spPr>
          <a:xfrm>
            <a:off x="8858250" y="6515100"/>
            <a:ext cx="2905125" cy="190500"/>
          </a:xfrm>
          <a:prstGeom prst="rect">
            <a:avLst/>
          </a:prstGeom>
          <a:noFill/>
        </p:spPr>
        <p:txBody>
          <a:bodyPr wrap="square" lIns="0" rIns="0" tIns="0" bIns="0" anchor="t">
            <a:spAutoFit/>
          </a:bodyPr>
          <a:lstStyle/>
          <a:p>
            <a:pPr algn="r">
              <a:lnSpc>
                <a:spcPct val="118000"/>
              </a:lnSpc>
              <a:spcBef>
                <a:spcPts val="0"/>
              </a:spcBef>
              <a:spcAft>
                <a:spcPts val="0"/>
              </a:spcAft>
            </a:pPr>
            <a:r>
              <a:rPr sz="675" b="1">
                <a:solidFill>
                  <a:srgbClr val="B51E2B"/>
                </a:solidFill>
                <a:latin typeface="Aptos"/>
              </a:rPr>
              <a:t>PAUL ALAIN  /  09</a:t>
            </a:r>
          </a:p>
        </p:txBody>
      </p:sp>
      <p:sp>
        <p:nvSpPr>
          <p:cNvPr id="12" name="TextBox 11"/>
          <p:cNvSpPr txBox="1"/>
          <p:nvPr/>
        </p:nvSpPr>
        <p:spPr>
          <a:xfrm>
            <a:off x="552450" y="1381125"/>
            <a:ext cx="6286500" cy="171450"/>
          </a:xfrm>
          <a:prstGeom prst="rect">
            <a:avLst/>
          </a:prstGeom>
          <a:noFill/>
        </p:spPr>
        <p:txBody>
          <a:bodyPr wrap="square" lIns="0" rIns="0" tIns="0" bIns="0" anchor="t">
            <a:spAutoFit/>
          </a:bodyPr>
          <a:lstStyle/>
          <a:p>
            <a:pPr algn="l">
              <a:lnSpc>
                <a:spcPct val="118000"/>
              </a:lnSpc>
              <a:spcBef>
                <a:spcPts val="0"/>
              </a:spcBef>
              <a:spcAft>
                <a:spcPts val="0"/>
              </a:spcAft>
            </a:pPr>
            <a:r>
              <a:rPr sz="675" b="1">
                <a:solidFill>
                  <a:srgbClr val="B51E2B"/>
                </a:solidFill>
                <a:latin typeface="Aptos"/>
              </a:rPr>
              <a:t>RISK REGISTER · LIKELIHOOD × IMPACT = SCORE</a:t>
            </a:r>
          </a:p>
        </p:txBody>
      </p:sp>
      <p:cxnSp>
        <p:nvCxnSpPr>
          <p:cNvPr id="13" name="Connector 12"/>
          <p:cNvCxnSpPr/>
          <p:nvPr/>
        </p:nvCxnSpPr>
        <p:spPr>
          <a:xfrm>
            <a:off x="552450" y="2028825"/>
            <a:ext cx="6305550" cy="0"/>
          </a:xfrm>
          <a:prstGeom prst="line">
            <a:avLst/>
          </a:prstGeom>
          <a:ln w="12700">
            <a:solidFill>
              <a:srgbClr val="D8D7D2"/>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52450" y="1657350"/>
            <a:ext cx="1381125" cy="19050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E3000B"/>
                </a:solidFill>
                <a:latin typeface="Aptos"/>
              </a:rPr>
              <a:t>P1 Operational</a:t>
            </a:r>
          </a:p>
        </p:txBody>
      </p:sp>
      <p:sp>
        <p:nvSpPr>
          <p:cNvPr id="15" name="TextBox 14"/>
          <p:cNvSpPr txBox="1"/>
          <p:nvPr/>
        </p:nvSpPr>
        <p:spPr>
          <a:xfrm>
            <a:off x="1971675" y="1657350"/>
            <a:ext cx="3714750" cy="266700"/>
          </a:xfrm>
          <a:prstGeom prst="rect">
            <a:avLst/>
          </a:prstGeom>
          <a:noFill/>
        </p:spPr>
        <p:txBody>
          <a:bodyPr wrap="square" lIns="0" rIns="0" tIns="0" bIns="0" anchor="t">
            <a:spAutoFit/>
          </a:bodyPr>
          <a:lstStyle/>
          <a:p>
            <a:pPr algn="l">
              <a:lnSpc>
                <a:spcPct val="118000"/>
              </a:lnSpc>
              <a:spcBef>
                <a:spcPts val="0"/>
              </a:spcBef>
              <a:spcAft>
                <a:spcPts val="0"/>
              </a:spcAft>
            </a:pPr>
            <a:r>
              <a:rPr sz="750" b="0">
                <a:solidFill>
                  <a:srgbClr val="171717"/>
                </a:solidFill>
                <a:latin typeface="Aptos"/>
              </a:rPr>
              <a:t>Unreconciled breaks could hide open positions</a:t>
            </a:r>
          </a:p>
        </p:txBody>
      </p:sp>
      <p:sp>
        <p:nvSpPr>
          <p:cNvPr id="16" name="TextBox 15"/>
          <p:cNvSpPr txBox="1"/>
          <p:nvPr/>
        </p:nvSpPr>
        <p:spPr>
          <a:xfrm>
            <a:off x="5867400" y="1657350"/>
            <a:ext cx="876300" cy="190500"/>
          </a:xfrm>
          <a:prstGeom prst="rect">
            <a:avLst/>
          </a:prstGeom>
          <a:noFill/>
        </p:spPr>
        <p:txBody>
          <a:bodyPr wrap="square" lIns="0" rIns="0" tIns="0" bIns="0" anchor="t">
            <a:spAutoFit/>
          </a:bodyPr>
          <a:lstStyle/>
          <a:p>
            <a:pPr algn="r">
              <a:lnSpc>
                <a:spcPct val="118000"/>
              </a:lnSpc>
              <a:spcBef>
                <a:spcPts val="0"/>
              </a:spcBef>
              <a:spcAft>
                <a:spcPts val="0"/>
              </a:spcAft>
            </a:pPr>
            <a:r>
              <a:rPr sz="750" b="1">
                <a:solidFill>
                  <a:srgbClr val="B51E2B"/>
                </a:solidFill>
                <a:latin typeface="Aptos"/>
              </a:rPr>
              <a:t>2×3=6</a:t>
            </a:r>
          </a:p>
        </p:txBody>
      </p:sp>
      <p:cxnSp>
        <p:nvCxnSpPr>
          <p:cNvPr id="17" name="Connector 16"/>
          <p:cNvCxnSpPr/>
          <p:nvPr/>
        </p:nvCxnSpPr>
        <p:spPr>
          <a:xfrm>
            <a:off x="552450" y="2486025"/>
            <a:ext cx="6305550" cy="0"/>
          </a:xfrm>
          <a:prstGeom prst="line">
            <a:avLst/>
          </a:prstGeom>
          <a:ln w="12700">
            <a:solidFill>
              <a:srgbClr val="D8D7D2"/>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52450" y="2114550"/>
            <a:ext cx="1381125" cy="19050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E3000B"/>
                </a:solidFill>
                <a:latin typeface="Aptos"/>
              </a:rPr>
              <a:t>P2 Liquidity</a:t>
            </a:r>
          </a:p>
        </p:txBody>
      </p:sp>
      <p:sp>
        <p:nvSpPr>
          <p:cNvPr id="19" name="TextBox 18"/>
          <p:cNvSpPr txBox="1"/>
          <p:nvPr/>
        </p:nvSpPr>
        <p:spPr>
          <a:xfrm>
            <a:off x="1971675" y="2114550"/>
            <a:ext cx="3714750" cy="266700"/>
          </a:xfrm>
          <a:prstGeom prst="rect">
            <a:avLst/>
          </a:prstGeom>
          <a:noFill/>
        </p:spPr>
        <p:txBody>
          <a:bodyPr wrap="square" lIns="0" rIns="0" tIns="0" bIns="0" anchor="t">
            <a:spAutoFit/>
          </a:bodyPr>
          <a:lstStyle/>
          <a:p>
            <a:pPr algn="l">
              <a:lnSpc>
                <a:spcPct val="118000"/>
              </a:lnSpc>
              <a:spcBef>
                <a:spcPts val="0"/>
              </a:spcBef>
              <a:spcAft>
                <a:spcPts val="0"/>
              </a:spcAft>
            </a:pPr>
            <a:r>
              <a:rPr sz="750" b="0">
                <a:solidFill>
                  <a:srgbClr val="171717"/>
                </a:solidFill>
                <a:latin typeface="Aptos"/>
              </a:rPr>
              <a:t>Settlement / collateral peak versus buffer</a:t>
            </a:r>
          </a:p>
        </p:txBody>
      </p:sp>
      <p:sp>
        <p:nvSpPr>
          <p:cNvPr id="20" name="TextBox 19"/>
          <p:cNvSpPr txBox="1"/>
          <p:nvPr/>
        </p:nvSpPr>
        <p:spPr>
          <a:xfrm>
            <a:off x="5867400" y="2114550"/>
            <a:ext cx="876300" cy="190500"/>
          </a:xfrm>
          <a:prstGeom prst="rect">
            <a:avLst/>
          </a:prstGeom>
          <a:noFill/>
        </p:spPr>
        <p:txBody>
          <a:bodyPr wrap="square" lIns="0" rIns="0" tIns="0" bIns="0" anchor="t">
            <a:spAutoFit/>
          </a:bodyPr>
          <a:lstStyle/>
          <a:p>
            <a:pPr algn="r">
              <a:lnSpc>
                <a:spcPct val="118000"/>
              </a:lnSpc>
              <a:spcBef>
                <a:spcPts val="0"/>
              </a:spcBef>
              <a:spcAft>
                <a:spcPts val="0"/>
              </a:spcAft>
            </a:pPr>
            <a:r>
              <a:rPr sz="750" b="1">
                <a:solidFill>
                  <a:srgbClr val="B51E2B"/>
                </a:solidFill>
                <a:latin typeface="Aptos"/>
              </a:rPr>
              <a:t>2×3=6</a:t>
            </a:r>
          </a:p>
        </p:txBody>
      </p:sp>
      <p:cxnSp>
        <p:nvCxnSpPr>
          <p:cNvPr id="21" name="Connector 20"/>
          <p:cNvCxnSpPr/>
          <p:nvPr/>
        </p:nvCxnSpPr>
        <p:spPr>
          <a:xfrm>
            <a:off x="552450" y="2943225"/>
            <a:ext cx="6305550" cy="0"/>
          </a:xfrm>
          <a:prstGeom prst="line">
            <a:avLst/>
          </a:prstGeom>
          <a:ln w="12700">
            <a:solidFill>
              <a:srgbClr val="D8D7D2"/>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52450" y="2571750"/>
            <a:ext cx="1381125" cy="19050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171717"/>
                </a:solidFill>
                <a:latin typeface="Aptos"/>
              </a:rPr>
              <a:t>Market</a:t>
            </a:r>
          </a:p>
        </p:txBody>
      </p:sp>
      <p:sp>
        <p:nvSpPr>
          <p:cNvPr id="23" name="TextBox 22"/>
          <p:cNvSpPr txBox="1"/>
          <p:nvPr/>
        </p:nvSpPr>
        <p:spPr>
          <a:xfrm>
            <a:off x="1971675" y="2571750"/>
            <a:ext cx="3714750" cy="266700"/>
          </a:xfrm>
          <a:prstGeom prst="rect">
            <a:avLst/>
          </a:prstGeom>
          <a:noFill/>
        </p:spPr>
        <p:txBody>
          <a:bodyPr wrap="square" lIns="0" rIns="0" tIns="0" bIns="0" anchor="t">
            <a:spAutoFit/>
          </a:bodyPr>
          <a:lstStyle/>
          <a:p>
            <a:pPr algn="l">
              <a:lnSpc>
                <a:spcPct val="118000"/>
              </a:lnSpc>
              <a:spcBef>
                <a:spcPts val="0"/>
              </a:spcBef>
              <a:spcAft>
                <a:spcPts val="0"/>
              </a:spcAft>
            </a:pPr>
            <a:r>
              <a:rPr sz="750" b="0">
                <a:solidFill>
                  <a:srgbClr val="171717"/>
                </a:solidFill>
                <a:latin typeface="Aptos"/>
              </a:rPr>
              <a:t>Price move before remaining positions close</a:t>
            </a:r>
          </a:p>
        </p:txBody>
      </p:sp>
      <p:sp>
        <p:nvSpPr>
          <p:cNvPr id="24" name="TextBox 23"/>
          <p:cNvSpPr txBox="1"/>
          <p:nvPr/>
        </p:nvSpPr>
        <p:spPr>
          <a:xfrm>
            <a:off x="5867400" y="2571750"/>
            <a:ext cx="876300" cy="190500"/>
          </a:xfrm>
          <a:prstGeom prst="rect">
            <a:avLst/>
          </a:prstGeom>
          <a:noFill/>
        </p:spPr>
        <p:txBody>
          <a:bodyPr wrap="square" lIns="0" rIns="0" tIns="0" bIns="0" anchor="t">
            <a:spAutoFit/>
          </a:bodyPr>
          <a:lstStyle/>
          <a:p>
            <a:pPr algn="r">
              <a:lnSpc>
                <a:spcPct val="118000"/>
              </a:lnSpc>
              <a:spcBef>
                <a:spcPts val="0"/>
              </a:spcBef>
              <a:spcAft>
                <a:spcPts val="0"/>
              </a:spcAft>
            </a:pPr>
            <a:r>
              <a:rPr sz="750" b="1">
                <a:solidFill>
                  <a:srgbClr val="B51E2B"/>
                </a:solidFill>
                <a:latin typeface="Aptos"/>
              </a:rPr>
              <a:t>2×2=4</a:t>
            </a:r>
          </a:p>
        </p:txBody>
      </p:sp>
      <p:cxnSp>
        <p:nvCxnSpPr>
          <p:cNvPr id="25" name="Connector 24"/>
          <p:cNvCxnSpPr/>
          <p:nvPr/>
        </p:nvCxnSpPr>
        <p:spPr>
          <a:xfrm>
            <a:off x="552450" y="3400425"/>
            <a:ext cx="6305550" cy="0"/>
          </a:xfrm>
          <a:prstGeom prst="line">
            <a:avLst/>
          </a:prstGeom>
          <a:ln w="12700">
            <a:solidFill>
              <a:srgbClr val="D8D7D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52450" y="3028950"/>
            <a:ext cx="1381125" cy="19050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171717"/>
                </a:solidFill>
                <a:latin typeface="Aptos"/>
              </a:rPr>
              <a:t>Counterparty</a:t>
            </a:r>
          </a:p>
        </p:txBody>
      </p:sp>
      <p:sp>
        <p:nvSpPr>
          <p:cNvPr id="27" name="TextBox 26"/>
          <p:cNvSpPr txBox="1"/>
          <p:nvPr/>
        </p:nvSpPr>
        <p:spPr>
          <a:xfrm>
            <a:off x="1971675" y="3028950"/>
            <a:ext cx="3714750" cy="266700"/>
          </a:xfrm>
          <a:prstGeom prst="rect">
            <a:avLst/>
          </a:prstGeom>
          <a:noFill/>
        </p:spPr>
        <p:txBody>
          <a:bodyPr wrap="square" lIns="0" rIns="0" tIns="0" bIns="0" anchor="t">
            <a:spAutoFit/>
          </a:bodyPr>
          <a:lstStyle/>
          <a:p>
            <a:pPr algn="l">
              <a:lnSpc>
                <a:spcPct val="118000"/>
              </a:lnSpc>
              <a:spcBef>
                <a:spcPts val="0"/>
              </a:spcBef>
              <a:spcAft>
                <a:spcPts val="0"/>
              </a:spcAft>
            </a:pPr>
            <a:r>
              <a:rPr sz="750" b="0">
                <a:solidFill>
                  <a:srgbClr val="171717"/>
                </a:solidFill>
                <a:latin typeface="Aptos"/>
              </a:rPr>
              <a:t>Collateral return / receivable delayed</a:t>
            </a:r>
          </a:p>
        </p:txBody>
      </p:sp>
      <p:sp>
        <p:nvSpPr>
          <p:cNvPr id="28" name="TextBox 27"/>
          <p:cNvSpPr txBox="1"/>
          <p:nvPr/>
        </p:nvSpPr>
        <p:spPr>
          <a:xfrm>
            <a:off x="5867400" y="3028950"/>
            <a:ext cx="876300" cy="190500"/>
          </a:xfrm>
          <a:prstGeom prst="rect">
            <a:avLst/>
          </a:prstGeom>
          <a:noFill/>
        </p:spPr>
        <p:txBody>
          <a:bodyPr wrap="square" lIns="0" rIns="0" tIns="0" bIns="0" anchor="t">
            <a:spAutoFit/>
          </a:bodyPr>
          <a:lstStyle/>
          <a:p>
            <a:pPr algn="r">
              <a:lnSpc>
                <a:spcPct val="118000"/>
              </a:lnSpc>
              <a:spcBef>
                <a:spcPts val="0"/>
              </a:spcBef>
              <a:spcAft>
                <a:spcPts val="0"/>
              </a:spcAft>
            </a:pPr>
            <a:r>
              <a:rPr sz="750" b="1">
                <a:solidFill>
                  <a:srgbClr val="B51E2B"/>
                </a:solidFill>
                <a:latin typeface="Aptos"/>
              </a:rPr>
              <a:t>2×2=4</a:t>
            </a:r>
          </a:p>
        </p:txBody>
      </p:sp>
      <p:cxnSp>
        <p:nvCxnSpPr>
          <p:cNvPr id="29" name="Connector 28"/>
          <p:cNvCxnSpPr/>
          <p:nvPr/>
        </p:nvCxnSpPr>
        <p:spPr>
          <a:xfrm>
            <a:off x="552450" y="3857625"/>
            <a:ext cx="6305550" cy="0"/>
          </a:xfrm>
          <a:prstGeom prst="line">
            <a:avLst/>
          </a:prstGeom>
          <a:ln w="12700">
            <a:solidFill>
              <a:srgbClr val="D8D7D2"/>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52450" y="3486150"/>
            <a:ext cx="1381125" cy="19050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E3000B"/>
                </a:solidFill>
                <a:latin typeface="Aptos"/>
              </a:rPr>
              <a:t>P3 Funding</a:t>
            </a:r>
          </a:p>
        </p:txBody>
      </p:sp>
      <p:sp>
        <p:nvSpPr>
          <p:cNvPr id="31" name="TextBox 30"/>
          <p:cNvSpPr txBox="1"/>
          <p:nvPr/>
        </p:nvSpPr>
        <p:spPr>
          <a:xfrm>
            <a:off x="1971675" y="3486150"/>
            <a:ext cx="3714750" cy="266700"/>
          </a:xfrm>
          <a:prstGeom prst="rect">
            <a:avLst/>
          </a:prstGeom>
          <a:noFill/>
        </p:spPr>
        <p:txBody>
          <a:bodyPr wrap="square" lIns="0" rIns="0" tIns="0" bIns="0" anchor="t">
            <a:spAutoFit/>
          </a:bodyPr>
          <a:lstStyle/>
          <a:p>
            <a:pPr algn="l">
              <a:lnSpc>
                <a:spcPct val="118000"/>
              </a:lnSpc>
              <a:spcBef>
                <a:spcPts val="0"/>
              </a:spcBef>
              <a:spcAft>
                <a:spcPts val="0"/>
              </a:spcAft>
            </a:pPr>
            <a:r>
              <a:rPr sz="750" b="0">
                <a:solidFill>
                  <a:srgbClr val="171717"/>
                </a:solidFill>
                <a:latin typeface="Aptos"/>
              </a:rPr>
              <a:t>Maturity in horizon may not roll</a:t>
            </a:r>
          </a:p>
        </p:txBody>
      </p:sp>
      <p:sp>
        <p:nvSpPr>
          <p:cNvPr id="32" name="TextBox 31"/>
          <p:cNvSpPr txBox="1"/>
          <p:nvPr/>
        </p:nvSpPr>
        <p:spPr>
          <a:xfrm>
            <a:off x="5867400" y="3486150"/>
            <a:ext cx="876300" cy="190500"/>
          </a:xfrm>
          <a:prstGeom prst="rect">
            <a:avLst/>
          </a:prstGeom>
          <a:noFill/>
        </p:spPr>
        <p:txBody>
          <a:bodyPr wrap="square" lIns="0" rIns="0" tIns="0" bIns="0" anchor="t">
            <a:spAutoFit/>
          </a:bodyPr>
          <a:lstStyle/>
          <a:p>
            <a:pPr algn="r">
              <a:lnSpc>
                <a:spcPct val="118000"/>
              </a:lnSpc>
              <a:spcBef>
                <a:spcPts val="0"/>
              </a:spcBef>
              <a:spcAft>
                <a:spcPts val="0"/>
              </a:spcAft>
            </a:pPr>
            <a:r>
              <a:rPr sz="750" b="1">
                <a:solidFill>
                  <a:srgbClr val="B51E2B"/>
                </a:solidFill>
                <a:latin typeface="Aptos"/>
              </a:rPr>
              <a:t>2×3=6</a:t>
            </a:r>
          </a:p>
        </p:txBody>
      </p:sp>
      <p:cxnSp>
        <p:nvCxnSpPr>
          <p:cNvPr id="33" name="Connector 32"/>
          <p:cNvCxnSpPr/>
          <p:nvPr/>
        </p:nvCxnSpPr>
        <p:spPr>
          <a:xfrm>
            <a:off x="552450" y="4314825"/>
            <a:ext cx="6305550" cy="0"/>
          </a:xfrm>
          <a:prstGeom prst="line">
            <a:avLst/>
          </a:prstGeom>
          <a:ln w="12700">
            <a:solidFill>
              <a:srgbClr val="D8D7D2"/>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52450" y="3943350"/>
            <a:ext cx="1381125" cy="19050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171717"/>
                </a:solidFill>
                <a:latin typeface="Aptos"/>
              </a:rPr>
              <a:t>Reputational</a:t>
            </a:r>
          </a:p>
        </p:txBody>
      </p:sp>
      <p:sp>
        <p:nvSpPr>
          <p:cNvPr id="35" name="TextBox 34"/>
          <p:cNvSpPr txBox="1"/>
          <p:nvPr/>
        </p:nvSpPr>
        <p:spPr>
          <a:xfrm>
            <a:off x="1971675" y="3943350"/>
            <a:ext cx="3714750" cy="266700"/>
          </a:xfrm>
          <a:prstGeom prst="rect">
            <a:avLst/>
          </a:prstGeom>
          <a:noFill/>
        </p:spPr>
        <p:txBody>
          <a:bodyPr wrap="square" lIns="0" rIns="0" tIns="0" bIns="0" anchor="t">
            <a:spAutoFit/>
          </a:bodyPr>
          <a:lstStyle/>
          <a:p>
            <a:pPr algn="l">
              <a:lnSpc>
                <a:spcPct val="118000"/>
              </a:lnSpc>
              <a:spcBef>
                <a:spcPts val="0"/>
              </a:spcBef>
              <a:spcAft>
                <a:spcPts val="0"/>
              </a:spcAft>
            </a:pPr>
            <a:r>
              <a:rPr sz="750" b="0">
                <a:solidFill>
                  <a:srgbClr val="171717"/>
                </a:solidFill>
                <a:latin typeface="Aptos"/>
              </a:rPr>
              <a:t>Outflows / tighter terms in confidence stress</a:t>
            </a:r>
          </a:p>
        </p:txBody>
      </p:sp>
      <p:sp>
        <p:nvSpPr>
          <p:cNvPr id="36" name="TextBox 35"/>
          <p:cNvSpPr txBox="1"/>
          <p:nvPr/>
        </p:nvSpPr>
        <p:spPr>
          <a:xfrm>
            <a:off x="5867400" y="3943350"/>
            <a:ext cx="876300" cy="190500"/>
          </a:xfrm>
          <a:prstGeom prst="rect">
            <a:avLst/>
          </a:prstGeom>
          <a:noFill/>
        </p:spPr>
        <p:txBody>
          <a:bodyPr wrap="square" lIns="0" rIns="0" tIns="0" bIns="0" anchor="t">
            <a:spAutoFit/>
          </a:bodyPr>
          <a:lstStyle/>
          <a:p>
            <a:pPr algn="r">
              <a:lnSpc>
                <a:spcPct val="118000"/>
              </a:lnSpc>
              <a:spcBef>
                <a:spcPts val="0"/>
              </a:spcBef>
              <a:spcAft>
                <a:spcPts val="0"/>
              </a:spcAft>
            </a:pPr>
            <a:r>
              <a:rPr sz="750" b="1">
                <a:solidFill>
                  <a:srgbClr val="B51E2B"/>
                </a:solidFill>
                <a:latin typeface="Aptos"/>
              </a:rPr>
              <a:t>1×2=2</a:t>
            </a:r>
          </a:p>
        </p:txBody>
      </p:sp>
      <p:cxnSp>
        <p:nvCxnSpPr>
          <p:cNvPr id="37" name="Connector 36"/>
          <p:cNvCxnSpPr/>
          <p:nvPr/>
        </p:nvCxnSpPr>
        <p:spPr>
          <a:xfrm>
            <a:off x="552450" y="4772025"/>
            <a:ext cx="6305550" cy="0"/>
          </a:xfrm>
          <a:prstGeom prst="line">
            <a:avLst/>
          </a:prstGeom>
          <a:ln w="12700">
            <a:solidFill>
              <a:srgbClr val="D8D7D2"/>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52450" y="4400550"/>
            <a:ext cx="1381125" cy="19050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171717"/>
                </a:solidFill>
                <a:latin typeface="Aptos"/>
              </a:rPr>
              <a:t>Legal / regulatory</a:t>
            </a:r>
          </a:p>
        </p:txBody>
      </p:sp>
      <p:sp>
        <p:nvSpPr>
          <p:cNvPr id="39" name="TextBox 38"/>
          <p:cNvSpPr txBox="1"/>
          <p:nvPr/>
        </p:nvSpPr>
        <p:spPr>
          <a:xfrm>
            <a:off x="1971675" y="4400550"/>
            <a:ext cx="3714750" cy="266700"/>
          </a:xfrm>
          <a:prstGeom prst="rect">
            <a:avLst/>
          </a:prstGeom>
          <a:noFill/>
        </p:spPr>
        <p:txBody>
          <a:bodyPr wrap="square" lIns="0" rIns="0" tIns="0" bIns="0" anchor="t">
            <a:spAutoFit/>
          </a:bodyPr>
          <a:lstStyle/>
          <a:p>
            <a:pPr algn="l">
              <a:lnSpc>
                <a:spcPct val="118000"/>
              </a:lnSpc>
              <a:spcBef>
                <a:spcPts val="0"/>
              </a:spcBef>
              <a:spcAft>
                <a:spcPts val="0"/>
              </a:spcAft>
            </a:pPr>
            <a:r>
              <a:rPr sz="750" b="0">
                <a:solidFill>
                  <a:srgbClr val="171717"/>
                </a:solidFill>
                <a:latin typeface="Aptos"/>
              </a:rPr>
              <a:t>Investigation + remediation cash timing</a:t>
            </a:r>
          </a:p>
        </p:txBody>
      </p:sp>
      <p:sp>
        <p:nvSpPr>
          <p:cNvPr id="40" name="TextBox 39"/>
          <p:cNvSpPr txBox="1"/>
          <p:nvPr/>
        </p:nvSpPr>
        <p:spPr>
          <a:xfrm>
            <a:off x="5867400" y="4400550"/>
            <a:ext cx="876300" cy="190500"/>
          </a:xfrm>
          <a:prstGeom prst="rect">
            <a:avLst/>
          </a:prstGeom>
          <a:noFill/>
        </p:spPr>
        <p:txBody>
          <a:bodyPr wrap="square" lIns="0" rIns="0" tIns="0" bIns="0" anchor="t">
            <a:spAutoFit/>
          </a:bodyPr>
          <a:lstStyle/>
          <a:p>
            <a:pPr algn="r">
              <a:lnSpc>
                <a:spcPct val="118000"/>
              </a:lnSpc>
              <a:spcBef>
                <a:spcPts val="0"/>
              </a:spcBef>
              <a:spcAft>
                <a:spcPts val="0"/>
              </a:spcAft>
            </a:pPr>
            <a:r>
              <a:rPr sz="750" b="1">
                <a:solidFill>
                  <a:srgbClr val="B51E2B"/>
                </a:solidFill>
                <a:latin typeface="Aptos"/>
              </a:rPr>
              <a:t>2×2=4</a:t>
            </a:r>
          </a:p>
        </p:txBody>
      </p:sp>
      <p:sp>
        <p:nvSpPr>
          <p:cNvPr id="41" name="TextBox 40"/>
          <p:cNvSpPr txBox="1"/>
          <p:nvPr/>
        </p:nvSpPr>
        <p:spPr>
          <a:xfrm>
            <a:off x="7943850" y="1438275"/>
            <a:ext cx="2857500" cy="171450"/>
          </a:xfrm>
          <a:prstGeom prst="rect">
            <a:avLst/>
          </a:prstGeom>
          <a:noFill/>
        </p:spPr>
        <p:txBody>
          <a:bodyPr wrap="square" lIns="0" rIns="0" tIns="0" bIns="0" anchor="t">
            <a:spAutoFit/>
          </a:bodyPr>
          <a:lstStyle/>
          <a:p>
            <a:pPr algn="ctr">
              <a:lnSpc>
                <a:spcPct val="118000"/>
              </a:lnSpc>
              <a:spcBef>
                <a:spcPts val="0"/>
              </a:spcBef>
              <a:spcAft>
                <a:spcPts val="0"/>
              </a:spcAft>
            </a:pPr>
            <a:r>
              <a:rPr sz="675" b="1">
                <a:solidFill>
                  <a:srgbClr val="B51E2B"/>
                </a:solidFill>
                <a:latin typeface="Aptos"/>
              </a:rPr>
              <a:t>3 × 3 PRIORITY MATRIX</a:t>
            </a:r>
          </a:p>
        </p:txBody>
      </p:sp>
      <p:sp>
        <p:nvSpPr>
          <p:cNvPr id="42" name="TextBox 41"/>
          <p:cNvSpPr txBox="1"/>
          <p:nvPr/>
        </p:nvSpPr>
        <p:spPr>
          <a:xfrm>
            <a:off x="7972425" y="1981199"/>
            <a:ext cx="904875" cy="142875"/>
          </a:xfrm>
          <a:prstGeom prst="rect">
            <a:avLst/>
          </a:prstGeom>
          <a:noFill/>
        </p:spPr>
        <p:txBody>
          <a:bodyPr wrap="square" lIns="0" rIns="0" tIns="0" bIns="0" anchor="t">
            <a:spAutoFit/>
          </a:bodyPr>
          <a:lstStyle/>
          <a:p>
            <a:pPr algn="ctr">
              <a:lnSpc>
                <a:spcPct val="118000"/>
              </a:lnSpc>
              <a:spcBef>
                <a:spcPts val="0"/>
              </a:spcBef>
              <a:spcAft>
                <a:spcPts val="0"/>
              </a:spcAft>
            </a:pPr>
            <a:r>
              <a:rPr sz="675" b="1">
                <a:solidFill>
                  <a:srgbClr val="5C5C58"/>
                </a:solidFill>
                <a:latin typeface="Aptos"/>
              </a:rPr>
              <a:t>UNLIKELY</a:t>
            </a:r>
          </a:p>
        </p:txBody>
      </p:sp>
      <p:sp>
        <p:nvSpPr>
          <p:cNvPr id="43" name="TextBox 42"/>
          <p:cNvSpPr txBox="1"/>
          <p:nvPr/>
        </p:nvSpPr>
        <p:spPr>
          <a:xfrm>
            <a:off x="8905875" y="1981199"/>
            <a:ext cx="904875" cy="142875"/>
          </a:xfrm>
          <a:prstGeom prst="rect">
            <a:avLst/>
          </a:prstGeom>
          <a:noFill/>
        </p:spPr>
        <p:txBody>
          <a:bodyPr wrap="square" lIns="0" rIns="0" tIns="0" bIns="0" anchor="t">
            <a:spAutoFit/>
          </a:bodyPr>
          <a:lstStyle/>
          <a:p>
            <a:pPr algn="ctr">
              <a:lnSpc>
                <a:spcPct val="118000"/>
              </a:lnSpc>
              <a:spcBef>
                <a:spcPts val="0"/>
              </a:spcBef>
              <a:spcAft>
                <a:spcPts val="0"/>
              </a:spcAft>
            </a:pPr>
            <a:r>
              <a:rPr sz="675" b="1">
                <a:solidFill>
                  <a:srgbClr val="5C5C58"/>
                </a:solidFill>
                <a:latin typeface="Aptos"/>
              </a:rPr>
              <a:t>POSSIBLE</a:t>
            </a:r>
          </a:p>
        </p:txBody>
      </p:sp>
      <p:sp>
        <p:nvSpPr>
          <p:cNvPr id="44" name="TextBox 43"/>
          <p:cNvSpPr txBox="1"/>
          <p:nvPr/>
        </p:nvSpPr>
        <p:spPr>
          <a:xfrm>
            <a:off x="9839325" y="1981199"/>
            <a:ext cx="904875" cy="142875"/>
          </a:xfrm>
          <a:prstGeom prst="rect">
            <a:avLst/>
          </a:prstGeom>
          <a:noFill/>
        </p:spPr>
        <p:txBody>
          <a:bodyPr wrap="square" lIns="0" rIns="0" tIns="0" bIns="0" anchor="t">
            <a:spAutoFit/>
          </a:bodyPr>
          <a:lstStyle/>
          <a:p>
            <a:pPr algn="ctr">
              <a:lnSpc>
                <a:spcPct val="118000"/>
              </a:lnSpc>
              <a:spcBef>
                <a:spcPts val="0"/>
              </a:spcBef>
              <a:spcAft>
                <a:spcPts val="0"/>
              </a:spcAft>
            </a:pPr>
            <a:r>
              <a:rPr sz="675" b="1">
                <a:solidFill>
                  <a:srgbClr val="5C5C58"/>
                </a:solidFill>
                <a:latin typeface="Aptos"/>
              </a:rPr>
              <a:t>LIKELY</a:t>
            </a:r>
          </a:p>
        </p:txBody>
      </p:sp>
      <p:sp>
        <p:nvSpPr>
          <p:cNvPr id="45" name="TextBox 44"/>
          <p:cNvSpPr txBox="1"/>
          <p:nvPr/>
        </p:nvSpPr>
        <p:spPr>
          <a:xfrm>
            <a:off x="7334250" y="2524125"/>
            <a:ext cx="542925" cy="142875"/>
          </a:xfrm>
          <a:prstGeom prst="rect">
            <a:avLst/>
          </a:prstGeom>
          <a:noFill/>
        </p:spPr>
        <p:txBody>
          <a:bodyPr wrap="square" lIns="0" rIns="0" tIns="0" bIns="0" anchor="t">
            <a:spAutoFit/>
          </a:bodyPr>
          <a:lstStyle/>
          <a:p>
            <a:pPr algn="r">
              <a:lnSpc>
                <a:spcPct val="118000"/>
              </a:lnSpc>
              <a:spcBef>
                <a:spcPts val="0"/>
              </a:spcBef>
              <a:spcAft>
                <a:spcPts val="0"/>
              </a:spcAft>
            </a:pPr>
            <a:r>
              <a:rPr sz="675" b="1">
                <a:solidFill>
                  <a:srgbClr val="5C5C58"/>
                </a:solidFill>
                <a:latin typeface="Aptos"/>
              </a:rPr>
              <a:t>HIGH</a:t>
            </a:r>
          </a:p>
        </p:txBody>
      </p:sp>
      <p:sp>
        <p:nvSpPr>
          <p:cNvPr id="46" name="TextBox 45"/>
          <p:cNvSpPr txBox="1"/>
          <p:nvPr/>
        </p:nvSpPr>
        <p:spPr>
          <a:xfrm>
            <a:off x="7334250" y="3305175"/>
            <a:ext cx="542925" cy="142875"/>
          </a:xfrm>
          <a:prstGeom prst="rect">
            <a:avLst/>
          </a:prstGeom>
          <a:noFill/>
        </p:spPr>
        <p:txBody>
          <a:bodyPr wrap="square" lIns="0" rIns="0" tIns="0" bIns="0" anchor="t">
            <a:spAutoFit/>
          </a:bodyPr>
          <a:lstStyle/>
          <a:p>
            <a:pPr algn="r">
              <a:lnSpc>
                <a:spcPct val="118000"/>
              </a:lnSpc>
              <a:spcBef>
                <a:spcPts val="0"/>
              </a:spcBef>
              <a:spcAft>
                <a:spcPts val="0"/>
              </a:spcAft>
            </a:pPr>
            <a:r>
              <a:rPr sz="675" b="1">
                <a:solidFill>
                  <a:srgbClr val="5C5C58"/>
                </a:solidFill>
                <a:latin typeface="Aptos"/>
              </a:rPr>
              <a:t>MED</a:t>
            </a:r>
          </a:p>
        </p:txBody>
      </p:sp>
      <p:sp>
        <p:nvSpPr>
          <p:cNvPr id="47" name="TextBox 46"/>
          <p:cNvSpPr txBox="1"/>
          <p:nvPr/>
        </p:nvSpPr>
        <p:spPr>
          <a:xfrm>
            <a:off x="7334250" y="4086225"/>
            <a:ext cx="542925" cy="142875"/>
          </a:xfrm>
          <a:prstGeom prst="rect">
            <a:avLst/>
          </a:prstGeom>
          <a:noFill/>
        </p:spPr>
        <p:txBody>
          <a:bodyPr wrap="square" lIns="0" rIns="0" tIns="0" bIns="0" anchor="t">
            <a:spAutoFit/>
          </a:bodyPr>
          <a:lstStyle/>
          <a:p>
            <a:pPr algn="r">
              <a:lnSpc>
                <a:spcPct val="118000"/>
              </a:lnSpc>
              <a:spcBef>
                <a:spcPts val="0"/>
              </a:spcBef>
              <a:spcAft>
                <a:spcPts val="0"/>
              </a:spcAft>
            </a:pPr>
            <a:r>
              <a:rPr sz="675" b="1">
                <a:solidFill>
                  <a:srgbClr val="5C5C58"/>
                </a:solidFill>
                <a:latin typeface="Aptos"/>
              </a:rPr>
              <a:t>LOW</a:t>
            </a:r>
          </a:p>
        </p:txBody>
      </p:sp>
      <p:sp>
        <p:nvSpPr>
          <p:cNvPr id="48" name="Rectangle 47"/>
          <p:cNvSpPr/>
          <p:nvPr/>
        </p:nvSpPr>
        <p:spPr>
          <a:xfrm>
            <a:off x="7972425" y="2200275"/>
            <a:ext cx="895350" cy="742950"/>
          </a:xfrm>
          <a:prstGeom prst="rect">
            <a:avLst/>
          </a:prstGeom>
          <a:solidFill>
            <a:srgbClr val="FFFFFF"/>
          </a:solidFill>
          <a:ln w="12700">
            <a:solidFill>
              <a:srgbClr val="AD7F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905875" y="2200275"/>
            <a:ext cx="895350" cy="742950"/>
          </a:xfrm>
          <a:prstGeom prst="rect">
            <a:avLst/>
          </a:prstGeom>
          <a:solidFill>
            <a:srgbClr val="FFFFFF"/>
          </a:solidFill>
          <a:ln w="12700">
            <a:solidFill>
              <a:srgbClr val="E30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9839325" y="2200275"/>
            <a:ext cx="895350" cy="742950"/>
          </a:xfrm>
          <a:prstGeom prst="rect">
            <a:avLst/>
          </a:prstGeom>
          <a:solidFill>
            <a:srgbClr val="FFFFFF"/>
          </a:solidFill>
          <a:ln w="12700">
            <a:solidFill>
              <a:srgbClr val="E30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972425" y="2981325"/>
            <a:ext cx="895350" cy="742950"/>
          </a:xfrm>
          <a:prstGeom prst="rect">
            <a:avLst/>
          </a:prstGeom>
          <a:solidFill>
            <a:srgbClr val="FFFFFF"/>
          </a:solidFill>
          <a:ln w="12700">
            <a:solidFill>
              <a:srgbClr val="4C826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905875" y="2981325"/>
            <a:ext cx="895350" cy="742950"/>
          </a:xfrm>
          <a:prstGeom prst="rect">
            <a:avLst/>
          </a:prstGeom>
          <a:solidFill>
            <a:srgbClr val="FFFFFF"/>
          </a:solidFill>
          <a:ln w="12700">
            <a:solidFill>
              <a:srgbClr val="AD7F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839325" y="2981325"/>
            <a:ext cx="895350" cy="742950"/>
          </a:xfrm>
          <a:prstGeom prst="rect">
            <a:avLst/>
          </a:prstGeom>
          <a:solidFill>
            <a:srgbClr val="FFFFFF"/>
          </a:solidFill>
          <a:ln w="12700">
            <a:solidFill>
              <a:srgbClr val="E30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7972425" y="3762374"/>
            <a:ext cx="895350" cy="742950"/>
          </a:xfrm>
          <a:prstGeom prst="rect">
            <a:avLst/>
          </a:prstGeom>
          <a:solidFill>
            <a:srgbClr val="FFFFFF"/>
          </a:solidFill>
          <a:ln w="12700">
            <a:solidFill>
              <a:srgbClr val="4C826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905875" y="3762374"/>
            <a:ext cx="895350" cy="742950"/>
          </a:xfrm>
          <a:prstGeom prst="rect">
            <a:avLst/>
          </a:prstGeom>
          <a:solidFill>
            <a:srgbClr val="FFFFFF"/>
          </a:solidFill>
          <a:ln w="12700">
            <a:solidFill>
              <a:srgbClr val="4C826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839325" y="3762374"/>
            <a:ext cx="895350" cy="742950"/>
          </a:xfrm>
          <a:prstGeom prst="rect">
            <a:avLst/>
          </a:prstGeom>
          <a:solidFill>
            <a:srgbClr val="FFFFFF"/>
          </a:solidFill>
          <a:ln w="12700">
            <a:solidFill>
              <a:srgbClr val="AD7F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9067800" y="2305050"/>
            <a:ext cx="190500" cy="190500"/>
          </a:xfrm>
          <a:prstGeom prst="ellipse">
            <a:avLst/>
          </a:prstGeom>
          <a:solidFill>
            <a:srgbClr val="E3000B"/>
          </a:solidFill>
          <a:ln w="12700">
            <a:solidFill>
              <a:srgbClr val="E30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096375" y="2343150"/>
            <a:ext cx="133350" cy="133350"/>
          </a:xfrm>
          <a:prstGeom prst="rect">
            <a:avLst/>
          </a:prstGeom>
          <a:noFill/>
        </p:spPr>
        <p:txBody>
          <a:bodyPr wrap="square" lIns="0" rIns="0" tIns="0" bIns="0" anchor="t">
            <a:spAutoFit/>
          </a:bodyPr>
          <a:lstStyle/>
          <a:p>
            <a:pPr algn="ctr">
              <a:lnSpc>
                <a:spcPct val="118000"/>
              </a:lnSpc>
              <a:spcBef>
                <a:spcPts val="0"/>
              </a:spcBef>
              <a:spcAft>
                <a:spcPts val="0"/>
              </a:spcAft>
            </a:pPr>
            <a:r>
              <a:rPr sz="675" b="1">
                <a:solidFill>
                  <a:srgbClr val="FFFFFF"/>
                </a:solidFill>
                <a:latin typeface="Aptos"/>
              </a:rPr>
              <a:t>1</a:t>
            </a:r>
          </a:p>
        </p:txBody>
      </p:sp>
      <p:sp>
        <p:nvSpPr>
          <p:cNvPr id="59" name="Oval 58"/>
          <p:cNvSpPr/>
          <p:nvPr/>
        </p:nvSpPr>
        <p:spPr>
          <a:xfrm>
            <a:off x="9344025" y="2552700"/>
            <a:ext cx="190500" cy="190500"/>
          </a:xfrm>
          <a:prstGeom prst="ellipse">
            <a:avLst/>
          </a:prstGeom>
          <a:solidFill>
            <a:srgbClr val="B51E2B"/>
          </a:solidFill>
          <a:ln w="12700">
            <a:solidFill>
              <a:srgbClr val="B51E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372600" y="2590800"/>
            <a:ext cx="133350" cy="133350"/>
          </a:xfrm>
          <a:prstGeom prst="rect">
            <a:avLst/>
          </a:prstGeom>
          <a:noFill/>
        </p:spPr>
        <p:txBody>
          <a:bodyPr wrap="square" lIns="0" rIns="0" tIns="0" bIns="0" anchor="t">
            <a:spAutoFit/>
          </a:bodyPr>
          <a:lstStyle/>
          <a:p>
            <a:pPr algn="ctr">
              <a:lnSpc>
                <a:spcPct val="118000"/>
              </a:lnSpc>
              <a:spcBef>
                <a:spcPts val="0"/>
              </a:spcBef>
              <a:spcAft>
                <a:spcPts val="0"/>
              </a:spcAft>
            </a:pPr>
            <a:r>
              <a:rPr sz="675" b="1">
                <a:solidFill>
                  <a:srgbClr val="FFFFFF"/>
                </a:solidFill>
                <a:latin typeface="Aptos"/>
              </a:rPr>
              <a:t>2</a:t>
            </a:r>
          </a:p>
        </p:txBody>
      </p:sp>
      <p:sp>
        <p:nvSpPr>
          <p:cNvPr id="61" name="Oval 60"/>
          <p:cNvSpPr/>
          <p:nvPr/>
        </p:nvSpPr>
        <p:spPr>
          <a:xfrm>
            <a:off x="9477375" y="2324100"/>
            <a:ext cx="190500" cy="190500"/>
          </a:xfrm>
          <a:prstGeom prst="ellipse">
            <a:avLst/>
          </a:prstGeom>
          <a:solidFill>
            <a:srgbClr val="617C8A"/>
          </a:solidFill>
          <a:ln w="12700">
            <a:solidFill>
              <a:srgbClr val="617C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505950" y="2362200"/>
            <a:ext cx="133350" cy="133350"/>
          </a:xfrm>
          <a:prstGeom prst="rect">
            <a:avLst/>
          </a:prstGeom>
          <a:noFill/>
        </p:spPr>
        <p:txBody>
          <a:bodyPr wrap="square" lIns="0" rIns="0" tIns="0" bIns="0" anchor="t">
            <a:spAutoFit/>
          </a:bodyPr>
          <a:lstStyle/>
          <a:p>
            <a:pPr algn="ctr">
              <a:lnSpc>
                <a:spcPct val="118000"/>
              </a:lnSpc>
              <a:spcBef>
                <a:spcPts val="0"/>
              </a:spcBef>
              <a:spcAft>
                <a:spcPts val="0"/>
              </a:spcAft>
            </a:pPr>
            <a:r>
              <a:rPr sz="675" b="1">
                <a:solidFill>
                  <a:srgbClr val="FFFFFF"/>
                </a:solidFill>
                <a:latin typeface="Aptos"/>
              </a:rPr>
              <a:t>3</a:t>
            </a:r>
          </a:p>
        </p:txBody>
      </p:sp>
      <p:sp>
        <p:nvSpPr>
          <p:cNvPr id="63" name="TextBox 62"/>
          <p:cNvSpPr txBox="1"/>
          <p:nvPr/>
        </p:nvSpPr>
        <p:spPr>
          <a:xfrm>
            <a:off x="7315200" y="4714875"/>
            <a:ext cx="4095750" cy="285750"/>
          </a:xfrm>
          <a:prstGeom prst="rect">
            <a:avLst/>
          </a:prstGeom>
          <a:noFill/>
        </p:spPr>
        <p:txBody>
          <a:bodyPr wrap="square" lIns="0" rIns="0" tIns="0" bIns="0" anchor="t">
            <a:spAutoFit/>
          </a:bodyPr>
          <a:lstStyle/>
          <a:p>
            <a:pPr algn="l">
              <a:lnSpc>
                <a:spcPct val="118000"/>
              </a:lnSpc>
              <a:spcBef>
                <a:spcPts val="0"/>
              </a:spcBef>
              <a:spcAft>
                <a:spcPts val="0"/>
              </a:spcAft>
            </a:pPr>
            <a:r>
              <a:rPr sz="675" b="0">
                <a:solidFill>
                  <a:srgbClr val="5C5C58"/>
                </a:solidFill>
                <a:latin typeface="Aptos"/>
              </a:rPr>
              <a:t>Impact: 1 headroom erosion &lt;25% of approved buffer; 2 ≥25%, no breach; 3 cash below buffer</a:t>
            </a:r>
          </a:p>
        </p:txBody>
      </p:sp>
      <p:sp>
        <p:nvSpPr>
          <p:cNvPr id="64" name="TextBox 63"/>
          <p:cNvSpPr txBox="1"/>
          <p:nvPr/>
        </p:nvSpPr>
        <p:spPr>
          <a:xfrm>
            <a:off x="571500" y="5105400"/>
            <a:ext cx="10668000" cy="495299"/>
          </a:xfrm>
          <a:prstGeom prst="rect">
            <a:avLst/>
          </a:prstGeom>
          <a:noFill/>
        </p:spPr>
        <p:txBody>
          <a:bodyPr wrap="square" lIns="0" rIns="0" tIns="0" bIns="0" anchor="t">
            <a:spAutoFit/>
          </a:bodyPr>
          <a:lstStyle/>
          <a:p>
            <a:pPr algn="l">
              <a:lnSpc>
                <a:spcPct val="120000"/>
              </a:lnSpc>
              <a:spcBef>
                <a:spcPts val="0"/>
              </a:spcBef>
              <a:spcAft>
                <a:spcPts val="0"/>
              </a:spcAft>
            </a:pPr>
            <a:r>
              <a:rPr sz="750" b="1">
                <a:solidFill>
                  <a:srgbClr val="171717"/>
                </a:solidFill>
                <a:latin typeface="Aptos"/>
              </a:rPr>
              <a:t>Likelihood 1–3 = unlikely / possible / likely within horizon; 25% is a proposed scoring cutoff, not UBS policy. Priorities: residual exposure, settlement / collateral breach, funding rollover.</a:t>
            </a:r>
          </a:p>
        </p:txBody>
      </p:sp>
      <p:sp>
        <p:nvSpPr>
          <p:cNvPr id="65" name="TextBox 64"/>
          <p:cNvSpPr txBox="1"/>
          <p:nvPr/>
        </p:nvSpPr>
        <p:spPr>
          <a:xfrm>
            <a:off x="571500" y="5791200"/>
            <a:ext cx="10668000" cy="228600"/>
          </a:xfrm>
          <a:prstGeom prst="rect">
            <a:avLst/>
          </a:prstGeom>
          <a:noFill/>
        </p:spPr>
        <p:txBody>
          <a:bodyPr wrap="square" lIns="0" rIns="0" tIns="0" bIns="0" anchor="t">
            <a:spAutoFit/>
          </a:bodyPr>
          <a:lstStyle/>
          <a:p>
            <a:pPr algn="l">
              <a:lnSpc>
                <a:spcPct val="118000"/>
              </a:lnSpc>
              <a:spcBef>
                <a:spcPts val="0"/>
              </a:spcBef>
              <a:spcAft>
                <a:spcPts val="0"/>
              </a:spcAft>
            </a:pPr>
            <a:r>
              <a:rPr sz="675" b="0">
                <a:solidFill>
                  <a:srgbClr val="5C5C58"/>
                </a:solidFill>
                <a:latin typeface="Aptos"/>
              </a:rPr>
              <a:t>Scores are analyst assumptions—not UBS / regulator ratings. Re-score after close-out; judge residual exposure only.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2000" cy="6858000"/>
          </a:xfrm>
          <a:prstGeom prst="rect">
            <a:avLst/>
          </a:prstGeom>
          <a:solidFill>
            <a:srgbClr val="FFFFF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38100"/>
          </a:xfrm>
          <a:prstGeom prst="rect">
            <a:avLst/>
          </a:prstGeom>
          <a:solidFill>
            <a:srgbClr val="E3000B"/>
          </a:solidFill>
          <a:ln w="12700">
            <a:solidFill>
              <a:srgbClr val="E30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ubs-logo.png"/>
          <p:cNvPicPr>
            <a:picLocks noChangeAspect="1"/>
          </p:cNvPicPr>
          <p:nvPr/>
        </p:nvPicPr>
        <p:blipFill>
          <a:blip r:embed="rId2"/>
          <a:stretch>
            <a:fillRect/>
          </a:stretch>
        </p:blipFill>
        <p:spPr>
          <a:xfrm>
            <a:off x="408461" y="123824"/>
            <a:ext cx="1240476" cy="438150"/>
          </a:xfrm>
          <a:prstGeom prst="rect">
            <a:avLst/>
          </a:prstGeom>
        </p:spPr>
      </p:pic>
      <p:pic>
        <p:nvPicPr>
          <p:cNvPr id="5" name="Picture 4" descr="skema-logo.png"/>
          <p:cNvPicPr>
            <a:picLocks noChangeAspect="1"/>
          </p:cNvPicPr>
          <p:nvPr/>
        </p:nvPicPr>
        <p:blipFill>
          <a:blip r:embed="rId3"/>
          <a:stretch>
            <a:fillRect/>
          </a:stretch>
        </p:blipFill>
        <p:spPr>
          <a:xfrm>
            <a:off x="11344275" y="114375"/>
            <a:ext cx="400050" cy="418949"/>
          </a:xfrm>
          <a:prstGeom prst="rect">
            <a:avLst/>
          </a:prstGeom>
        </p:spPr>
      </p:pic>
      <p:sp>
        <p:nvSpPr>
          <p:cNvPr id="6" name="TextBox 5"/>
          <p:cNvSpPr txBox="1"/>
          <p:nvPr/>
        </p:nvSpPr>
        <p:spPr>
          <a:xfrm>
            <a:off x="1952624" y="247649"/>
            <a:ext cx="8096249" cy="20955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B51E2B"/>
                </a:solidFill>
                <a:latin typeface="Aptos"/>
              </a:rPr>
              <a:t>PART III · 3.2 CFO RECOMMENDATIONS</a:t>
            </a:r>
          </a:p>
        </p:txBody>
      </p:sp>
      <p:sp>
        <p:nvSpPr>
          <p:cNvPr id="7" name="TextBox 6"/>
          <p:cNvSpPr txBox="1"/>
          <p:nvPr/>
        </p:nvSpPr>
        <p:spPr>
          <a:xfrm>
            <a:off x="419100" y="742950"/>
            <a:ext cx="11353800" cy="400050"/>
          </a:xfrm>
          <a:prstGeom prst="rect">
            <a:avLst/>
          </a:prstGeom>
          <a:noFill/>
        </p:spPr>
        <p:txBody>
          <a:bodyPr wrap="square" lIns="0" rIns="0" tIns="0" bIns="0" anchor="t">
            <a:spAutoFit/>
          </a:bodyPr>
          <a:lstStyle/>
          <a:p>
            <a:pPr algn="l">
              <a:lnSpc>
                <a:spcPct val="118000"/>
              </a:lnSpc>
              <a:spcBef>
                <a:spcPts val="0"/>
              </a:spcBef>
              <a:spcAft>
                <a:spcPts val="0"/>
              </a:spcAft>
            </a:pPr>
            <a:r>
              <a:rPr sz="2025" b="1">
                <a:solidFill>
                  <a:srgbClr val="171717"/>
                </a:solidFill>
                <a:latin typeface="Aptos"/>
              </a:rPr>
              <a:t>Three CFO actions link control, liquidity and execution</a:t>
            </a:r>
          </a:p>
        </p:txBody>
      </p:sp>
      <p:cxnSp>
        <p:nvCxnSpPr>
          <p:cNvPr id="8" name="Connector 7"/>
          <p:cNvCxnSpPr/>
          <p:nvPr/>
        </p:nvCxnSpPr>
        <p:spPr>
          <a:xfrm>
            <a:off x="419100" y="1247775"/>
            <a:ext cx="11353800" cy="0"/>
          </a:xfrm>
          <a:prstGeom prst="line">
            <a:avLst/>
          </a:prstGeom>
          <a:ln w="12700">
            <a:solidFill>
              <a:srgbClr val="D8D7D2"/>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9100" y="6457950"/>
            <a:ext cx="11353800" cy="0"/>
          </a:xfrm>
          <a:prstGeom prst="line">
            <a:avLst/>
          </a:prstGeom>
          <a:ln w="12700">
            <a:solidFill>
              <a:srgbClr val="D8D7D2"/>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19100" y="6534150"/>
            <a:ext cx="7715250" cy="171450"/>
          </a:xfrm>
          <a:prstGeom prst="rect">
            <a:avLst/>
          </a:prstGeom>
          <a:noFill/>
        </p:spPr>
        <p:txBody>
          <a:bodyPr wrap="square" lIns="0" rIns="0" tIns="0" bIns="0" anchor="t">
            <a:spAutoFit/>
          </a:bodyPr>
          <a:lstStyle/>
          <a:p>
            <a:pPr algn="l">
              <a:lnSpc>
                <a:spcPct val="118000"/>
              </a:lnSpc>
              <a:spcBef>
                <a:spcPts val="0"/>
              </a:spcBef>
              <a:spcAft>
                <a:spcPts val="0"/>
              </a:spcAft>
            </a:pPr>
            <a:r>
              <a:rPr sz="600" b="0">
                <a:solidFill>
                  <a:srgbClr val="5C5C58"/>
                </a:solidFill>
                <a:latin typeface="Aptos"/>
              </a:rPr>
              <a:t>Proposed actions; quantify cash benefit from internal data, do not invent amounts.</a:t>
            </a:r>
          </a:p>
        </p:txBody>
      </p:sp>
      <p:sp>
        <p:nvSpPr>
          <p:cNvPr id="11" name="TextBox 10"/>
          <p:cNvSpPr txBox="1"/>
          <p:nvPr/>
        </p:nvSpPr>
        <p:spPr>
          <a:xfrm>
            <a:off x="8858250" y="6515100"/>
            <a:ext cx="2905125" cy="190500"/>
          </a:xfrm>
          <a:prstGeom prst="rect">
            <a:avLst/>
          </a:prstGeom>
          <a:noFill/>
        </p:spPr>
        <p:txBody>
          <a:bodyPr wrap="square" lIns="0" rIns="0" tIns="0" bIns="0" anchor="t">
            <a:spAutoFit/>
          </a:bodyPr>
          <a:lstStyle/>
          <a:p>
            <a:pPr algn="r">
              <a:lnSpc>
                <a:spcPct val="118000"/>
              </a:lnSpc>
              <a:spcBef>
                <a:spcPts val="0"/>
              </a:spcBef>
              <a:spcAft>
                <a:spcPts val="0"/>
              </a:spcAft>
            </a:pPr>
            <a:r>
              <a:rPr sz="675" b="1">
                <a:solidFill>
                  <a:srgbClr val="B51E2B"/>
                </a:solidFill>
                <a:latin typeface="Aptos"/>
              </a:rPr>
              <a:t>JULES  /  10</a:t>
            </a:r>
          </a:p>
        </p:txBody>
      </p:sp>
      <p:sp>
        <p:nvSpPr>
          <p:cNvPr id="12" name="Rectangle 11"/>
          <p:cNvSpPr/>
          <p:nvPr/>
        </p:nvSpPr>
        <p:spPr>
          <a:xfrm>
            <a:off x="552450" y="1381125"/>
            <a:ext cx="11049000" cy="1295400"/>
          </a:xfrm>
          <a:prstGeom prst="rect">
            <a:avLst/>
          </a:prstGeom>
          <a:solidFill>
            <a:srgbClr val="F8F8F6"/>
          </a:solidFill>
          <a:ln w="12700">
            <a:solidFill>
              <a:srgbClr val="D8D7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52450" y="1381125"/>
            <a:ext cx="66675" cy="1295400"/>
          </a:xfrm>
          <a:prstGeom prst="rect">
            <a:avLst/>
          </a:prstGeom>
          <a:solidFill>
            <a:srgbClr val="E3000B"/>
          </a:solidFill>
          <a:ln>
            <a:solidFill>
              <a:srgbClr val="E30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000" y="1476375"/>
            <a:ext cx="10620375" cy="190500"/>
          </a:xfrm>
          <a:prstGeom prst="rect">
            <a:avLst/>
          </a:prstGeom>
          <a:noFill/>
        </p:spPr>
        <p:txBody>
          <a:bodyPr wrap="square" lIns="0" rIns="0" tIns="0" bIns="0" anchor="t">
            <a:spAutoFit/>
          </a:bodyPr>
          <a:lstStyle/>
          <a:p>
            <a:pPr algn="l">
              <a:lnSpc>
                <a:spcPct val="118000"/>
              </a:lnSpc>
              <a:spcBef>
                <a:spcPts val="0"/>
              </a:spcBef>
              <a:spcAft>
                <a:spcPts val="0"/>
              </a:spcAft>
            </a:pPr>
            <a:r>
              <a:rPr sz="900" b="1">
                <a:solidFill>
                  <a:srgbClr val="E3000B"/>
                </a:solidFill>
                <a:latin typeface="Aptos"/>
              </a:rPr>
              <a:t>1 · IMMEDIATE LIQUIDITY PROTECTION</a:t>
            </a:r>
          </a:p>
        </p:txBody>
      </p:sp>
      <p:sp>
        <p:nvSpPr>
          <p:cNvPr id="15" name="TextBox 14"/>
          <p:cNvSpPr txBox="1"/>
          <p:nvPr/>
        </p:nvSpPr>
        <p:spPr>
          <a:xfrm>
            <a:off x="762000" y="1724025"/>
            <a:ext cx="10620375" cy="180975"/>
          </a:xfrm>
          <a:prstGeom prst="rect">
            <a:avLst/>
          </a:prstGeom>
          <a:noFill/>
        </p:spPr>
        <p:txBody>
          <a:bodyPr wrap="square" lIns="0" rIns="0" tIns="0" bIns="0" anchor="t">
            <a:spAutoFit/>
          </a:bodyPr>
          <a:lstStyle/>
          <a:p>
            <a:pPr algn="l">
              <a:lnSpc>
                <a:spcPct val="118000"/>
              </a:lnSpc>
              <a:spcBef>
                <a:spcPts val="0"/>
              </a:spcBef>
              <a:spcAft>
                <a:spcPts val="0"/>
              </a:spcAft>
            </a:pPr>
            <a:r>
              <a:rPr sz="825" b="1">
                <a:solidFill>
                  <a:srgbClr val="171717"/>
                </a:solidFill>
                <a:latin typeface="Aptos"/>
              </a:rPr>
              <a:t>Owner: Group Treasurer  |  Deadline: initial view in 24h; funding before first modeled breach.</a:t>
            </a:r>
          </a:p>
        </p:txBody>
      </p:sp>
      <p:sp>
        <p:nvSpPr>
          <p:cNvPr id="16" name="TextBox 15"/>
          <p:cNvSpPr txBox="1"/>
          <p:nvPr/>
        </p:nvSpPr>
        <p:spPr>
          <a:xfrm>
            <a:off x="762000" y="1952624"/>
            <a:ext cx="10620375" cy="171450"/>
          </a:xfrm>
          <a:prstGeom prst="rect">
            <a:avLst/>
          </a:prstGeom>
          <a:noFill/>
        </p:spPr>
        <p:txBody>
          <a:bodyPr wrap="square" lIns="0" rIns="0" tIns="0" bIns="0" anchor="t">
            <a:spAutoFit/>
          </a:bodyPr>
          <a:lstStyle/>
          <a:p>
            <a:pPr algn="l">
              <a:lnSpc>
                <a:spcPct val="118000"/>
              </a:lnSpc>
              <a:spcBef>
                <a:spcPts val="0"/>
              </a:spcBef>
              <a:spcAft>
                <a:spcPts val="0"/>
              </a:spcAft>
            </a:pPr>
            <a:r>
              <a:rPr sz="825" b="0">
                <a:solidFill>
                  <a:srgbClr val="171717"/>
                </a:solidFill>
                <a:latin typeface="Aptos"/>
              </a:rPr>
              <a:t>Benefit: measured headroom uplift = confirmed accessible funding less fees / haircuts.</a:t>
            </a:r>
          </a:p>
        </p:txBody>
      </p:sp>
      <p:sp>
        <p:nvSpPr>
          <p:cNvPr id="17" name="TextBox 16"/>
          <p:cNvSpPr txBox="1"/>
          <p:nvPr/>
        </p:nvSpPr>
        <p:spPr>
          <a:xfrm>
            <a:off x="762000" y="2162175"/>
            <a:ext cx="10620375" cy="171450"/>
          </a:xfrm>
          <a:prstGeom prst="rect">
            <a:avLst/>
          </a:prstGeom>
          <a:noFill/>
        </p:spPr>
        <p:txBody>
          <a:bodyPr wrap="square" lIns="0" rIns="0" tIns="0" bIns="0" anchor="t">
            <a:spAutoFit/>
          </a:bodyPr>
          <a:lstStyle/>
          <a:p>
            <a:pPr algn="l">
              <a:lnSpc>
                <a:spcPct val="118000"/>
              </a:lnSpc>
              <a:spcBef>
                <a:spcPts val="0"/>
              </a:spcBef>
              <a:spcAft>
                <a:spcPts val="0"/>
              </a:spcAft>
            </a:pPr>
            <a:r>
              <a:rPr sz="825" b="0">
                <a:solidFill>
                  <a:srgbClr val="5C5C58"/>
                </a:solidFill>
                <a:latin typeface="Aptos"/>
              </a:rPr>
              <a:t>Constraint: availability, collateral eligibility, execution time and cost.</a:t>
            </a:r>
          </a:p>
        </p:txBody>
      </p:sp>
      <p:sp>
        <p:nvSpPr>
          <p:cNvPr id="18" name="TextBox 17"/>
          <p:cNvSpPr txBox="1"/>
          <p:nvPr/>
        </p:nvSpPr>
        <p:spPr>
          <a:xfrm>
            <a:off x="762000" y="2371725"/>
            <a:ext cx="10620375" cy="171450"/>
          </a:xfrm>
          <a:prstGeom prst="rect">
            <a:avLst/>
          </a:prstGeom>
          <a:noFill/>
        </p:spPr>
        <p:txBody>
          <a:bodyPr wrap="square" lIns="0" rIns="0" tIns="0" bIns="0" anchor="t">
            <a:spAutoFit/>
          </a:bodyPr>
          <a:lstStyle/>
          <a:p>
            <a:pPr algn="l">
              <a:lnSpc>
                <a:spcPct val="118000"/>
              </a:lnSpc>
              <a:spcBef>
                <a:spcPts val="0"/>
              </a:spcBef>
              <a:spcAft>
                <a:spcPts val="0"/>
              </a:spcAft>
            </a:pPr>
            <a:r>
              <a:rPr sz="825" b="0">
                <a:solidFill>
                  <a:srgbClr val="5C5C58"/>
                </a:solidFill>
                <a:latin typeface="Aptos"/>
              </a:rPr>
              <a:t>Fallback: separately assessed resource available within the required window.</a:t>
            </a:r>
          </a:p>
        </p:txBody>
      </p:sp>
      <p:sp>
        <p:nvSpPr>
          <p:cNvPr id="19" name="Rectangle 18"/>
          <p:cNvSpPr/>
          <p:nvPr/>
        </p:nvSpPr>
        <p:spPr>
          <a:xfrm>
            <a:off x="552450" y="2819400"/>
            <a:ext cx="11049000" cy="1295400"/>
          </a:xfrm>
          <a:prstGeom prst="rect">
            <a:avLst/>
          </a:prstGeom>
          <a:solidFill>
            <a:srgbClr val="F8F8F6"/>
          </a:solidFill>
          <a:ln w="12700">
            <a:solidFill>
              <a:srgbClr val="D8D7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52450" y="2819400"/>
            <a:ext cx="66675" cy="1295400"/>
          </a:xfrm>
          <a:prstGeom prst="rect">
            <a:avLst/>
          </a:prstGeom>
          <a:solidFill>
            <a:srgbClr val="B51E2B"/>
          </a:solidFill>
          <a:ln>
            <a:solidFill>
              <a:srgbClr val="B51E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2000" y="2914650"/>
            <a:ext cx="10620375" cy="190500"/>
          </a:xfrm>
          <a:prstGeom prst="rect">
            <a:avLst/>
          </a:prstGeom>
          <a:noFill/>
        </p:spPr>
        <p:txBody>
          <a:bodyPr wrap="square" lIns="0" rIns="0" tIns="0" bIns="0" anchor="t">
            <a:spAutoFit/>
          </a:bodyPr>
          <a:lstStyle/>
          <a:p>
            <a:pPr algn="l">
              <a:lnSpc>
                <a:spcPct val="118000"/>
              </a:lnSpc>
              <a:spcBef>
                <a:spcPts val="0"/>
              </a:spcBef>
              <a:spcAft>
                <a:spcPts val="0"/>
              </a:spcAft>
            </a:pPr>
            <a:r>
              <a:rPr sz="900" b="1">
                <a:solidFill>
                  <a:srgbClr val="B51E2B"/>
                </a:solidFill>
                <a:latin typeface="Aptos"/>
              </a:rPr>
              <a:t>2 · CONTAIN CASH EXPOSURE</a:t>
            </a:r>
          </a:p>
        </p:txBody>
      </p:sp>
      <p:sp>
        <p:nvSpPr>
          <p:cNvPr id="22" name="TextBox 21"/>
          <p:cNvSpPr txBox="1"/>
          <p:nvPr/>
        </p:nvSpPr>
        <p:spPr>
          <a:xfrm>
            <a:off x="762000" y="3162300"/>
            <a:ext cx="10620375" cy="180975"/>
          </a:xfrm>
          <a:prstGeom prst="rect">
            <a:avLst/>
          </a:prstGeom>
          <a:noFill/>
        </p:spPr>
        <p:txBody>
          <a:bodyPr wrap="square" lIns="0" rIns="0" tIns="0" bIns="0" anchor="t">
            <a:spAutoFit/>
          </a:bodyPr>
          <a:lstStyle/>
          <a:p>
            <a:pPr algn="l">
              <a:lnSpc>
                <a:spcPct val="118000"/>
              </a:lnSpc>
              <a:spcBef>
                <a:spcPts val="0"/>
              </a:spcBef>
              <a:spcAft>
                <a:spcPts val="0"/>
              </a:spcAft>
            </a:pPr>
            <a:r>
              <a:rPr sz="825" b="1">
                <a:solidFill>
                  <a:srgbClr val="171717"/>
                </a:solidFill>
                <a:latin typeface="Aptos"/>
              </a:rPr>
              <a:t>Owner: IB COO + Market Risk + Treasury  |  Deadline: immediate; daily until reconciled / closed.</a:t>
            </a:r>
          </a:p>
        </p:txBody>
      </p:sp>
      <p:sp>
        <p:nvSpPr>
          <p:cNvPr id="23" name="TextBox 22"/>
          <p:cNvSpPr txBox="1"/>
          <p:nvPr/>
        </p:nvSpPr>
        <p:spPr>
          <a:xfrm>
            <a:off x="762000" y="3390900"/>
            <a:ext cx="10620375" cy="171450"/>
          </a:xfrm>
          <a:prstGeom prst="rect">
            <a:avLst/>
          </a:prstGeom>
          <a:noFill/>
        </p:spPr>
        <p:txBody>
          <a:bodyPr wrap="square" lIns="0" rIns="0" tIns="0" bIns="0" anchor="t">
            <a:spAutoFit/>
          </a:bodyPr>
          <a:lstStyle/>
          <a:p>
            <a:pPr algn="l">
              <a:lnSpc>
                <a:spcPct val="118000"/>
              </a:lnSpc>
              <a:spcBef>
                <a:spcPts val="0"/>
              </a:spcBef>
              <a:spcAft>
                <a:spcPts val="0"/>
              </a:spcAft>
            </a:pPr>
            <a:r>
              <a:rPr sz="825" b="0">
                <a:solidFill>
                  <a:srgbClr val="171717"/>
                </a:solidFill>
                <a:latin typeface="Aptos"/>
              </a:rPr>
              <a:t>Benefit: reduce uncertainty; count collateral release only when confirmed.</a:t>
            </a:r>
          </a:p>
        </p:txBody>
      </p:sp>
      <p:sp>
        <p:nvSpPr>
          <p:cNvPr id="24" name="TextBox 23"/>
          <p:cNvSpPr txBox="1"/>
          <p:nvPr/>
        </p:nvSpPr>
        <p:spPr>
          <a:xfrm>
            <a:off x="762000" y="3600450"/>
            <a:ext cx="10620375" cy="171450"/>
          </a:xfrm>
          <a:prstGeom prst="rect">
            <a:avLst/>
          </a:prstGeom>
          <a:noFill/>
        </p:spPr>
        <p:txBody>
          <a:bodyPr wrap="square" lIns="0" rIns="0" tIns="0" bIns="0" anchor="t">
            <a:spAutoFit/>
          </a:bodyPr>
          <a:lstStyle/>
          <a:p>
            <a:pPr algn="l">
              <a:lnSpc>
                <a:spcPct val="118000"/>
              </a:lnSpc>
              <a:spcBef>
                <a:spcPts val="0"/>
              </a:spcBef>
              <a:spcAft>
                <a:spcPts val="0"/>
              </a:spcAft>
            </a:pPr>
            <a:r>
              <a:rPr sz="825" b="0">
                <a:solidFill>
                  <a:srgbClr val="5C5C58"/>
                </a:solidFill>
                <a:latin typeface="Aptos"/>
              </a:rPr>
              <a:t>Constraint: market liquidity, close-out cost and settlement delays.</a:t>
            </a:r>
          </a:p>
        </p:txBody>
      </p:sp>
      <p:sp>
        <p:nvSpPr>
          <p:cNvPr id="25" name="TextBox 24"/>
          <p:cNvSpPr txBox="1"/>
          <p:nvPr/>
        </p:nvSpPr>
        <p:spPr>
          <a:xfrm>
            <a:off x="762000" y="3810000"/>
            <a:ext cx="10620375" cy="171450"/>
          </a:xfrm>
          <a:prstGeom prst="rect">
            <a:avLst/>
          </a:prstGeom>
          <a:noFill/>
        </p:spPr>
        <p:txBody>
          <a:bodyPr wrap="square" lIns="0" rIns="0" tIns="0" bIns="0" anchor="t">
            <a:spAutoFit/>
          </a:bodyPr>
          <a:lstStyle/>
          <a:p>
            <a:pPr algn="l">
              <a:lnSpc>
                <a:spcPct val="118000"/>
              </a:lnSpc>
              <a:spcBef>
                <a:spcPts val="0"/>
              </a:spcBef>
              <a:spcAft>
                <a:spcPts val="0"/>
              </a:spcAft>
            </a:pPr>
            <a:r>
              <a:rPr sz="825" b="0">
                <a:solidFill>
                  <a:srgbClr val="5C5C58"/>
                </a:solidFill>
                <a:latin typeface="Aptos"/>
              </a:rPr>
              <a:t>Fallback: retain a conservative liquidity overlay against unresolved items.</a:t>
            </a:r>
          </a:p>
        </p:txBody>
      </p:sp>
      <p:sp>
        <p:nvSpPr>
          <p:cNvPr id="26" name="Rectangle 25"/>
          <p:cNvSpPr/>
          <p:nvPr/>
        </p:nvSpPr>
        <p:spPr>
          <a:xfrm>
            <a:off x="552450" y="4257675"/>
            <a:ext cx="11049000" cy="1295400"/>
          </a:xfrm>
          <a:prstGeom prst="rect">
            <a:avLst/>
          </a:prstGeom>
          <a:solidFill>
            <a:srgbClr val="F8F8F6"/>
          </a:solidFill>
          <a:ln w="12700">
            <a:solidFill>
              <a:srgbClr val="D8D7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2450" y="4257675"/>
            <a:ext cx="66675" cy="1295400"/>
          </a:xfrm>
          <a:prstGeom prst="rect">
            <a:avLst/>
          </a:prstGeom>
          <a:solidFill>
            <a:srgbClr val="B51E2B"/>
          </a:solidFill>
          <a:ln>
            <a:solidFill>
              <a:srgbClr val="B51E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2000" y="4352925"/>
            <a:ext cx="10620375" cy="190500"/>
          </a:xfrm>
          <a:prstGeom prst="rect">
            <a:avLst/>
          </a:prstGeom>
          <a:noFill/>
        </p:spPr>
        <p:txBody>
          <a:bodyPr wrap="square" lIns="0" rIns="0" tIns="0" bIns="0" anchor="t">
            <a:spAutoFit/>
          </a:bodyPr>
          <a:lstStyle/>
          <a:p>
            <a:pPr algn="l">
              <a:lnSpc>
                <a:spcPct val="118000"/>
              </a:lnSpc>
              <a:spcBef>
                <a:spcPts val="0"/>
              </a:spcBef>
              <a:spcAft>
                <a:spcPts val="0"/>
              </a:spcAft>
            </a:pPr>
            <a:r>
              <a:rPr sz="900" b="1">
                <a:solidFill>
                  <a:srgbClr val="B51E2B"/>
                </a:solidFill>
                <a:latin typeface="Aptos"/>
              </a:rPr>
              <a:t>3 · REBUILD CONTROLS &amp; GOVERNANCE</a:t>
            </a:r>
          </a:p>
        </p:txBody>
      </p:sp>
      <p:sp>
        <p:nvSpPr>
          <p:cNvPr id="29" name="TextBox 28"/>
          <p:cNvSpPr txBox="1"/>
          <p:nvPr/>
        </p:nvSpPr>
        <p:spPr>
          <a:xfrm>
            <a:off x="762000" y="4600575"/>
            <a:ext cx="10620375" cy="180975"/>
          </a:xfrm>
          <a:prstGeom prst="rect">
            <a:avLst/>
          </a:prstGeom>
          <a:noFill/>
        </p:spPr>
        <p:txBody>
          <a:bodyPr wrap="square" lIns="0" rIns="0" tIns="0" bIns="0" anchor="t">
            <a:spAutoFit/>
          </a:bodyPr>
          <a:lstStyle/>
          <a:p>
            <a:pPr algn="l">
              <a:lnSpc>
                <a:spcPct val="118000"/>
              </a:lnSpc>
              <a:spcBef>
                <a:spcPts val="0"/>
              </a:spcBef>
              <a:spcAft>
                <a:spcPts val="0"/>
              </a:spcAft>
            </a:pPr>
            <a:r>
              <a:rPr sz="825" b="1">
                <a:solidFill>
                  <a:srgbClr val="171717"/>
                </a:solidFill>
                <a:latin typeface="Aptos"/>
              </a:rPr>
              <a:t>Owner: CRO + IB COO; Internal Audit validates  |  Interim days; programme by 14 Dec.</a:t>
            </a:r>
          </a:p>
        </p:txBody>
      </p:sp>
      <p:sp>
        <p:nvSpPr>
          <p:cNvPr id="30" name="TextBox 29"/>
          <p:cNvSpPr txBox="1"/>
          <p:nvPr/>
        </p:nvSpPr>
        <p:spPr>
          <a:xfrm>
            <a:off x="762000" y="4829175"/>
            <a:ext cx="10620375" cy="171450"/>
          </a:xfrm>
          <a:prstGeom prst="rect">
            <a:avLst/>
          </a:prstGeom>
          <a:noFill/>
        </p:spPr>
        <p:txBody>
          <a:bodyPr wrap="square" lIns="0" rIns="0" tIns="0" bIns="0" anchor="t">
            <a:spAutoFit/>
          </a:bodyPr>
          <a:lstStyle/>
          <a:p>
            <a:pPr algn="l">
              <a:lnSpc>
                <a:spcPct val="118000"/>
              </a:lnSpc>
              <a:spcBef>
                <a:spcPts val="0"/>
              </a:spcBef>
              <a:spcAft>
                <a:spcPts val="0"/>
              </a:spcAft>
            </a:pPr>
            <a:r>
              <a:rPr sz="825" b="0">
                <a:solidFill>
                  <a:srgbClr val="171717"/>
                </a:solidFill>
                <a:latin typeface="Aptos"/>
              </a:rPr>
              <a:t>Benefit: reduce recurrence; no unsupported cash-saving estimate.</a:t>
            </a:r>
          </a:p>
        </p:txBody>
      </p:sp>
      <p:sp>
        <p:nvSpPr>
          <p:cNvPr id="31" name="TextBox 30"/>
          <p:cNvSpPr txBox="1"/>
          <p:nvPr/>
        </p:nvSpPr>
        <p:spPr>
          <a:xfrm>
            <a:off x="762000" y="5038725"/>
            <a:ext cx="10620375" cy="171450"/>
          </a:xfrm>
          <a:prstGeom prst="rect">
            <a:avLst/>
          </a:prstGeom>
          <a:noFill/>
        </p:spPr>
        <p:txBody>
          <a:bodyPr wrap="square" lIns="0" rIns="0" tIns="0" bIns="0" anchor="t">
            <a:spAutoFit/>
          </a:bodyPr>
          <a:lstStyle/>
          <a:p>
            <a:pPr algn="l">
              <a:lnSpc>
                <a:spcPct val="118000"/>
              </a:lnSpc>
              <a:spcBef>
                <a:spcPts val="0"/>
              </a:spcBef>
              <a:spcAft>
                <a:spcPts val="0"/>
              </a:spcAft>
            </a:pPr>
            <a:r>
              <a:rPr sz="825" b="0">
                <a:solidFill>
                  <a:srgbClr val="5C5C58"/>
                </a:solidFill>
                <a:latin typeface="Aptos"/>
              </a:rPr>
              <a:t>Constraint: systems, staffing, implementation and ownership.</a:t>
            </a:r>
          </a:p>
        </p:txBody>
      </p:sp>
      <p:sp>
        <p:nvSpPr>
          <p:cNvPr id="32" name="TextBox 31"/>
          <p:cNvSpPr txBox="1"/>
          <p:nvPr/>
        </p:nvSpPr>
        <p:spPr>
          <a:xfrm>
            <a:off x="762000" y="5248275"/>
            <a:ext cx="10620375" cy="171450"/>
          </a:xfrm>
          <a:prstGeom prst="rect">
            <a:avLst/>
          </a:prstGeom>
          <a:noFill/>
        </p:spPr>
        <p:txBody>
          <a:bodyPr wrap="square" lIns="0" rIns="0" tIns="0" bIns="0" anchor="t">
            <a:spAutoFit/>
          </a:bodyPr>
          <a:lstStyle/>
          <a:p>
            <a:pPr algn="l">
              <a:lnSpc>
                <a:spcPct val="118000"/>
              </a:lnSpc>
              <a:spcBef>
                <a:spcPts val="0"/>
              </a:spcBef>
              <a:spcAft>
                <a:spcPts val="0"/>
              </a:spcAft>
            </a:pPr>
            <a:r>
              <a:rPr sz="825" b="0">
                <a:solidFill>
                  <a:srgbClr val="5C5C58"/>
                </a:solidFill>
                <a:latin typeface="Aptos"/>
              </a:rPr>
              <a:t>Fallback: manual independent verification, dual sign-off and tighter limits.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2000" cy="6858000"/>
          </a:xfrm>
          <a:prstGeom prst="rect">
            <a:avLst/>
          </a:prstGeom>
          <a:solidFill>
            <a:srgbClr val="FFFFF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38100"/>
          </a:xfrm>
          <a:prstGeom prst="rect">
            <a:avLst/>
          </a:prstGeom>
          <a:solidFill>
            <a:srgbClr val="E3000B"/>
          </a:solidFill>
          <a:ln w="12700">
            <a:solidFill>
              <a:srgbClr val="E30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ubs-logo.png"/>
          <p:cNvPicPr>
            <a:picLocks noChangeAspect="1"/>
          </p:cNvPicPr>
          <p:nvPr/>
        </p:nvPicPr>
        <p:blipFill>
          <a:blip r:embed="rId2"/>
          <a:stretch>
            <a:fillRect/>
          </a:stretch>
        </p:blipFill>
        <p:spPr>
          <a:xfrm>
            <a:off x="408461" y="123824"/>
            <a:ext cx="1240476" cy="438150"/>
          </a:xfrm>
          <a:prstGeom prst="rect">
            <a:avLst/>
          </a:prstGeom>
        </p:spPr>
      </p:pic>
      <p:pic>
        <p:nvPicPr>
          <p:cNvPr id="5" name="Picture 4" descr="skema-logo.png"/>
          <p:cNvPicPr>
            <a:picLocks noChangeAspect="1"/>
          </p:cNvPicPr>
          <p:nvPr/>
        </p:nvPicPr>
        <p:blipFill>
          <a:blip r:embed="rId3"/>
          <a:stretch>
            <a:fillRect/>
          </a:stretch>
        </p:blipFill>
        <p:spPr>
          <a:xfrm>
            <a:off x="11344275" y="114375"/>
            <a:ext cx="400050" cy="418949"/>
          </a:xfrm>
          <a:prstGeom prst="rect">
            <a:avLst/>
          </a:prstGeom>
        </p:spPr>
      </p:pic>
      <p:sp>
        <p:nvSpPr>
          <p:cNvPr id="6" name="TextBox 5"/>
          <p:cNvSpPr txBox="1"/>
          <p:nvPr/>
        </p:nvSpPr>
        <p:spPr>
          <a:xfrm>
            <a:off x="1952624" y="247649"/>
            <a:ext cx="8096249" cy="20955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B51E2B"/>
                </a:solidFill>
                <a:latin typeface="Aptos"/>
              </a:rPr>
              <a:t>MONITORING &amp; CONCLUSION · CALVIN</a:t>
            </a:r>
          </a:p>
        </p:txBody>
      </p:sp>
      <p:sp>
        <p:nvSpPr>
          <p:cNvPr id="7" name="TextBox 6"/>
          <p:cNvSpPr txBox="1"/>
          <p:nvPr/>
        </p:nvSpPr>
        <p:spPr>
          <a:xfrm>
            <a:off x="419100" y="742950"/>
            <a:ext cx="11353800" cy="400050"/>
          </a:xfrm>
          <a:prstGeom prst="rect">
            <a:avLst/>
          </a:prstGeom>
          <a:noFill/>
        </p:spPr>
        <p:txBody>
          <a:bodyPr wrap="square" lIns="0" rIns="0" tIns="0" bIns="0" anchor="t">
            <a:spAutoFit/>
          </a:bodyPr>
          <a:lstStyle/>
          <a:p>
            <a:pPr algn="l">
              <a:lnSpc>
                <a:spcPct val="118000"/>
              </a:lnSpc>
              <a:spcBef>
                <a:spcPts val="0"/>
              </a:spcBef>
              <a:spcAft>
                <a:spcPts val="0"/>
              </a:spcAft>
            </a:pPr>
            <a:r>
              <a:rPr sz="2025" b="1">
                <a:solidFill>
                  <a:srgbClr val="171717"/>
                </a:solidFill>
                <a:latin typeface="Aptos"/>
              </a:rPr>
              <a:t>Board decision: protect payment capacity; activate funding only on evidence</a:t>
            </a:r>
          </a:p>
        </p:txBody>
      </p:sp>
      <p:cxnSp>
        <p:nvCxnSpPr>
          <p:cNvPr id="8" name="Connector 7"/>
          <p:cNvCxnSpPr/>
          <p:nvPr/>
        </p:nvCxnSpPr>
        <p:spPr>
          <a:xfrm>
            <a:off x="419100" y="1247775"/>
            <a:ext cx="11353800" cy="0"/>
          </a:xfrm>
          <a:prstGeom prst="line">
            <a:avLst/>
          </a:prstGeom>
          <a:ln w="12700">
            <a:solidFill>
              <a:srgbClr val="D8D7D2"/>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9100" y="6457950"/>
            <a:ext cx="11353800" cy="0"/>
          </a:xfrm>
          <a:prstGeom prst="line">
            <a:avLst/>
          </a:prstGeom>
          <a:ln w="12700">
            <a:solidFill>
              <a:srgbClr val="D8D7D2"/>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19100" y="6534150"/>
            <a:ext cx="7715250" cy="171450"/>
          </a:xfrm>
          <a:prstGeom prst="rect">
            <a:avLst/>
          </a:prstGeom>
          <a:noFill/>
        </p:spPr>
        <p:txBody>
          <a:bodyPr wrap="square" lIns="0" rIns="0" tIns="0" bIns="0" anchor="t">
            <a:spAutoFit/>
          </a:bodyPr>
          <a:lstStyle/>
          <a:p>
            <a:pPr algn="l">
              <a:lnSpc>
                <a:spcPct val="118000"/>
              </a:lnSpc>
              <a:spcBef>
                <a:spcPts val="0"/>
              </a:spcBef>
              <a:spcAft>
                <a:spcPts val="0"/>
              </a:spcAft>
            </a:pPr>
            <a:r>
              <a:rPr sz="600" b="0">
                <a:solidFill>
                  <a:srgbClr val="5C5C58"/>
                </a:solidFill>
                <a:latin typeface="Aptos"/>
              </a:rPr>
              <a:t>Conclusion: the cash bridge is an analytical model; public information does not establish UBS’s actual daily funding gap.</a:t>
            </a:r>
          </a:p>
        </p:txBody>
      </p:sp>
      <p:sp>
        <p:nvSpPr>
          <p:cNvPr id="11" name="TextBox 10"/>
          <p:cNvSpPr txBox="1"/>
          <p:nvPr/>
        </p:nvSpPr>
        <p:spPr>
          <a:xfrm>
            <a:off x="8858250" y="6515100"/>
            <a:ext cx="2905125" cy="190500"/>
          </a:xfrm>
          <a:prstGeom prst="rect">
            <a:avLst/>
          </a:prstGeom>
          <a:noFill/>
        </p:spPr>
        <p:txBody>
          <a:bodyPr wrap="square" lIns="0" rIns="0" tIns="0" bIns="0" anchor="t">
            <a:spAutoFit/>
          </a:bodyPr>
          <a:lstStyle/>
          <a:p>
            <a:pPr algn="r">
              <a:lnSpc>
                <a:spcPct val="118000"/>
              </a:lnSpc>
              <a:spcBef>
                <a:spcPts val="0"/>
              </a:spcBef>
              <a:spcAft>
                <a:spcPts val="0"/>
              </a:spcAft>
            </a:pPr>
            <a:r>
              <a:rPr sz="675" b="1">
                <a:solidFill>
                  <a:srgbClr val="B51E2B"/>
                </a:solidFill>
                <a:latin typeface="Aptos"/>
              </a:rPr>
              <a:t>CALVIN  /  11</a:t>
            </a:r>
          </a:p>
        </p:txBody>
      </p:sp>
      <p:sp>
        <p:nvSpPr>
          <p:cNvPr id="12" name="Rectangle 11"/>
          <p:cNvSpPr/>
          <p:nvPr/>
        </p:nvSpPr>
        <p:spPr>
          <a:xfrm>
            <a:off x="552450" y="1381125"/>
            <a:ext cx="11049000" cy="771525"/>
          </a:xfrm>
          <a:prstGeom prst="rect">
            <a:avLst/>
          </a:prstGeom>
          <a:solidFill>
            <a:srgbClr val="FAF4F4"/>
          </a:solidFill>
          <a:ln w="12700">
            <a:solidFill>
              <a:srgbClr val="E5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1050" y="1543050"/>
            <a:ext cx="10572750" cy="466724"/>
          </a:xfrm>
          <a:prstGeom prst="rect">
            <a:avLst/>
          </a:prstGeom>
          <a:noFill/>
        </p:spPr>
        <p:txBody>
          <a:bodyPr wrap="square" lIns="0" rIns="0" tIns="0" bIns="0" anchor="t">
            <a:spAutoFit/>
          </a:bodyPr>
          <a:lstStyle/>
          <a:p>
            <a:pPr algn="l">
              <a:lnSpc>
                <a:spcPct val="120000"/>
              </a:lnSpc>
              <a:spcBef>
                <a:spcPts val="0"/>
              </a:spcBef>
              <a:spcAft>
                <a:spcPts val="0"/>
              </a:spcAft>
            </a:pPr>
            <a:r>
              <a:rPr sz="1050" b="1">
                <a:solidFill>
                  <a:srgbClr val="171717"/>
                </a:solidFill>
                <a:latin typeface="Aptos"/>
              </a:rPr>
              <a:t>Authorize a verified 13-week cash forecast, independent position reconciliation and a pre-arranged funding fallback. Do not equate the USD 2.3bn accounting / trading loss with a same-day cash requirement.</a:t>
            </a:r>
          </a:p>
        </p:txBody>
      </p:sp>
      <p:sp>
        <p:nvSpPr>
          <p:cNvPr id="14" name="TextBox 13"/>
          <p:cNvSpPr txBox="1"/>
          <p:nvPr/>
        </p:nvSpPr>
        <p:spPr>
          <a:xfrm>
            <a:off x="609600" y="2409825"/>
            <a:ext cx="2238375" cy="17145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B51E2B"/>
                </a:solidFill>
                <a:latin typeface="Aptos"/>
              </a:rPr>
              <a:t>DAILY · FIRST WEEK</a:t>
            </a:r>
          </a:p>
        </p:txBody>
      </p:sp>
      <p:sp>
        <p:nvSpPr>
          <p:cNvPr id="15" name="TextBox 14"/>
          <p:cNvSpPr txBox="1"/>
          <p:nvPr/>
        </p:nvSpPr>
        <p:spPr>
          <a:xfrm>
            <a:off x="2857500" y="2409825"/>
            <a:ext cx="8191500" cy="352425"/>
          </a:xfrm>
          <a:prstGeom prst="rect">
            <a:avLst/>
          </a:prstGeom>
          <a:noFill/>
        </p:spPr>
        <p:txBody>
          <a:bodyPr wrap="square" lIns="0" rIns="0" tIns="0" bIns="0" anchor="t">
            <a:spAutoFit/>
          </a:bodyPr>
          <a:lstStyle/>
          <a:p>
            <a:pPr algn="l">
              <a:lnSpc>
                <a:spcPct val="120000"/>
              </a:lnSpc>
              <a:spcBef>
                <a:spcPts val="0"/>
              </a:spcBef>
              <a:spcAft>
                <a:spcPts val="0"/>
              </a:spcAft>
            </a:pPr>
            <a:r>
              <a:rPr sz="825" b="0">
                <a:solidFill>
                  <a:srgbClr val="171717"/>
                </a:solidFill>
                <a:latin typeface="Aptos"/>
              </a:rPr>
              <a:t>Accessible cash and buffer · settlement / collateral due · open breaks</a:t>
            </a:r>
          </a:p>
        </p:txBody>
      </p:sp>
      <p:sp>
        <p:nvSpPr>
          <p:cNvPr id="16" name="TextBox 15"/>
          <p:cNvSpPr txBox="1"/>
          <p:nvPr/>
        </p:nvSpPr>
        <p:spPr>
          <a:xfrm>
            <a:off x="609600" y="3028950"/>
            <a:ext cx="2238375" cy="17145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B51E2B"/>
                </a:solidFill>
                <a:latin typeface="Aptos"/>
              </a:rPr>
              <a:t>WEEKLY · TO 14 DEC</a:t>
            </a:r>
          </a:p>
        </p:txBody>
      </p:sp>
      <p:sp>
        <p:nvSpPr>
          <p:cNvPr id="17" name="TextBox 16"/>
          <p:cNvSpPr txBox="1"/>
          <p:nvPr/>
        </p:nvSpPr>
        <p:spPr>
          <a:xfrm>
            <a:off x="2857500" y="3028950"/>
            <a:ext cx="8191500" cy="352425"/>
          </a:xfrm>
          <a:prstGeom prst="rect">
            <a:avLst/>
          </a:prstGeom>
          <a:noFill/>
        </p:spPr>
        <p:txBody>
          <a:bodyPr wrap="square" lIns="0" rIns="0" tIns="0" bIns="0" anchor="t">
            <a:spAutoFit/>
          </a:bodyPr>
          <a:lstStyle/>
          <a:p>
            <a:pPr algn="l">
              <a:lnSpc>
                <a:spcPct val="120000"/>
              </a:lnSpc>
              <a:spcBef>
                <a:spcPts val="0"/>
              </a:spcBef>
              <a:spcAft>
                <a:spcPts val="0"/>
              </a:spcAft>
            </a:pPr>
            <a:r>
              <a:rPr sz="825" b="0">
                <a:solidFill>
                  <a:srgbClr val="171717"/>
                </a:solidFill>
                <a:latin typeface="Aptos"/>
              </a:rPr>
              <a:t>Funding maturities · forecast variance · withdrawals / counterparties</a:t>
            </a:r>
          </a:p>
        </p:txBody>
      </p:sp>
      <p:sp>
        <p:nvSpPr>
          <p:cNvPr id="18" name="TextBox 17"/>
          <p:cNvSpPr txBox="1"/>
          <p:nvPr/>
        </p:nvSpPr>
        <p:spPr>
          <a:xfrm>
            <a:off x="609600" y="3648075"/>
            <a:ext cx="2238375" cy="17145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B51E2B"/>
                </a:solidFill>
                <a:latin typeface="Aptos"/>
              </a:rPr>
              <a:t>ESCALATE IF</a:t>
            </a:r>
          </a:p>
        </p:txBody>
      </p:sp>
      <p:sp>
        <p:nvSpPr>
          <p:cNvPr id="19" name="TextBox 18"/>
          <p:cNvSpPr txBox="1"/>
          <p:nvPr/>
        </p:nvSpPr>
        <p:spPr>
          <a:xfrm>
            <a:off x="2857500" y="3648075"/>
            <a:ext cx="8191500" cy="352425"/>
          </a:xfrm>
          <a:prstGeom prst="rect">
            <a:avLst/>
          </a:prstGeom>
          <a:noFill/>
        </p:spPr>
        <p:txBody>
          <a:bodyPr wrap="square" lIns="0" rIns="0" tIns="0" bIns="0" anchor="t">
            <a:spAutoFit/>
          </a:bodyPr>
          <a:lstStyle/>
          <a:p>
            <a:pPr algn="l">
              <a:lnSpc>
                <a:spcPct val="120000"/>
              </a:lnSpc>
              <a:spcBef>
                <a:spcPts val="0"/>
              </a:spcBef>
              <a:spcAft>
                <a:spcPts val="0"/>
              </a:spcAft>
            </a:pPr>
            <a:r>
              <a:rPr sz="825" b="0">
                <a:solidFill>
                  <a:srgbClr val="171717"/>
                </a:solidFill>
                <a:latin typeface="Aptos"/>
              </a:rPr>
              <a:t>Forecast cash below buffer before funding arrives; unresolved material trade; missed collateral return or rollover</a:t>
            </a:r>
          </a:p>
        </p:txBody>
      </p:sp>
      <p:sp>
        <p:nvSpPr>
          <p:cNvPr id="20" name="Rectangle 19"/>
          <p:cNvSpPr/>
          <p:nvPr/>
        </p:nvSpPr>
        <p:spPr>
          <a:xfrm>
            <a:off x="552450" y="4448175"/>
            <a:ext cx="11049000" cy="1057275"/>
          </a:xfrm>
          <a:prstGeom prst="rect">
            <a:avLst/>
          </a:prstGeom>
          <a:solidFill>
            <a:srgbClr val="F2F1ED"/>
          </a:solidFill>
          <a:ln w="12700">
            <a:solidFill>
              <a:srgbClr val="D8D7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2000" y="4600575"/>
            <a:ext cx="10477500" cy="17145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E3000B"/>
                </a:solidFill>
                <a:latin typeface="Aptos"/>
              </a:rPr>
              <a:t>DIRECT ANSWER &amp; MODEL LIMITATION</a:t>
            </a:r>
          </a:p>
        </p:txBody>
      </p:sp>
      <p:sp>
        <p:nvSpPr>
          <p:cNvPr id="22" name="TextBox 21"/>
          <p:cNvSpPr txBox="1"/>
          <p:nvPr/>
        </p:nvSpPr>
        <p:spPr>
          <a:xfrm>
            <a:off x="762000" y="4876800"/>
            <a:ext cx="10477500" cy="476250"/>
          </a:xfrm>
          <a:prstGeom prst="rect">
            <a:avLst/>
          </a:prstGeom>
          <a:noFill/>
        </p:spPr>
        <p:txBody>
          <a:bodyPr wrap="square" lIns="0" rIns="0" tIns="0" bIns="0" anchor="t">
            <a:spAutoFit/>
          </a:bodyPr>
          <a:lstStyle/>
          <a:p>
            <a:pPr algn="l">
              <a:lnSpc>
                <a:spcPct val="125000"/>
              </a:lnSpc>
              <a:spcBef>
                <a:spcPts val="0"/>
              </a:spcBef>
              <a:spcAft>
                <a:spcPts val="0"/>
              </a:spcAft>
            </a:pPr>
            <a:r>
              <a:rPr sz="825" b="0">
                <a:solidFill>
                  <a:srgbClr val="171717"/>
                </a:solidFill>
                <a:latin typeface="Aptos"/>
              </a:rPr>
              <a:t>The response is a timing-led liquidity plan: preserve headroom, contain and reconcile positions, and stage funding before any modeled breach. Public sources confirm the incident, but not opening accessible cash, daily flows, the minimum buffer or the actual peak funding requirement/date; those require UBS Treasury records.</a:t>
            </a:r>
          </a:p>
        </p:txBody>
      </p:sp>
      <p:sp>
        <p:nvSpPr>
          <p:cNvPr id="23" name="TextBox 22"/>
          <p:cNvSpPr txBox="1"/>
          <p:nvPr/>
        </p:nvSpPr>
        <p:spPr>
          <a:xfrm>
            <a:off x="571500" y="5829300"/>
            <a:ext cx="10668000" cy="219075"/>
          </a:xfrm>
          <a:prstGeom prst="rect">
            <a:avLst/>
          </a:prstGeom>
          <a:noFill/>
        </p:spPr>
        <p:txBody>
          <a:bodyPr wrap="square" lIns="0" rIns="0" tIns="0" bIns="0" anchor="t">
            <a:spAutoFit/>
          </a:bodyPr>
          <a:lstStyle/>
          <a:p>
            <a:pPr algn="l">
              <a:lnSpc>
                <a:spcPct val="118000"/>
              </a:lnSpc>
              <a:spcBef>
                <a:spcPts val="0"/>
              </a:spcBef>
              <a:spcAft>
                <a:spcPts val="0"/>
              </a:spcAft>
            </a:pPr>
            <a:r>
              <a:rPr sz="675" b="0">
                <a:solidFill>
                  <a:srgbClr val="5C5C58"/>
                </a:solidFill>
                <a:latin typeface="Aptos"/>
              </a:rPr>
              <a:t>If the internal base case shows no funding gap, report zero; disclose the stress assumptions that would create one.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2000" cy="6858000"/>
          </a:xfrm>
          <a:prstGeom prst="rect">
            <a:avLst/>
          </a:prstGeom>
          <a:solidFill>
            <a:srgbClr val="FFFFF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38100"/>
          </a:xfrm>
          <a:prstGeom prst="rect">
            <a:avLst/>
          </a:prstGeom>
          <a:solidFill>
            <a:srgbClr val="E3000B"/>
          </a:solidFill>
          <a:ln w="12700">
            <a:solidFill>
              <a:srgbClr val="E30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ubs-logo.png"/>
          <p:cNvPicPr>
            <a:picLocks noChangeAspect="1"/>
          </p:cNvPicPr>
          <p:nvPr/>
        </p:nvPicPr>
        <p:blipFill>
          <a:blip r:embed="rId2"/>
          <a:stretch>
            <a:fillRect/>
          </a:stretch>
        </p:blipFill>
        <p:spPr>
          <a:xfrm>
            <a:off x="408461" y="123824"/>
            <a:ext cx="1240476" cy="438150"/>
          </a:xfrm>
          <a:prstGeom prst="rect">
            <a:avLst/>
          </a:prstGeom>
        </p:spPr>
      </p:pic>
      <p:pic>
        <p:nvPicPr>
          <p:cNvPr id="5" name="Picture 4" descr="skema-logo.png"/>
          <p:cNvPicPr>
            <a:picLocks noChangeAspect="1"/>
          </p:cNvPicPr>
          <p:nvPr/>
        </p:nvPicPr>
        <p:blipFill>
          <a:blip r:embed="rId3"/>
          <a:stretch>
            <a:fillRect/>
          </a:stretch>
        </p:blipFill>
        <p:spPr>
          <a:xfrm>
            <a:off x="11344275" y="114375"/>
            <a:ext cx="400050" cy="418949"/>
          </a:xfrm>
          <a:prstGeom prst="rect">
            <a:avLst/>
          </a:prstGeom>
        </p:spPr>
      </p:pic>
      <p:sp>
        <p:nvSpPr>
          <p:cNvPr id="6" name="TextBox 5"/>
          <p:cNvSpPr txBox="1"/>
          <p:nvPr/>
        </p:nvSpPr>
        <p:spPr>
          <a:xfrm>
            <a:off x="1952624" y="247649"/>
            <a:ext cx="8096249" cy="20955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B51E2B"/>
                </a:solidFill>
                <a:latin typeface="Aptos"/>
              </a:rPr>
              <a:t>REFERENCES · PRIMARY SOURCES</a:t>
            </a:r>
          </a:p>
        </p:txBody>
      </p:sp>
      <p:sp>
        <p:nvSpPr>
          <p:cNvPr id="7" name="TextBox 6"/>
          <p:cNvSpPr txBox="1"/>
          <p:nvPr/>
        </p:nvSpPr>
        <p:spPr>
          <a:xfrm>
            <a:off x="419100" y="742950"/>
            <a:ext cx="11353800" cy="400050"/>
          </a:xfrm>
          <a:prstGeom prst="rect">
            <a:avLst/>
          </a:prstGeom>
          <a:noFill/>
        </p:spPr>
        <p:txBody>
          <a:bodyPr wrap="square" lIns="0" rIns="0" tIns="0" bIns="0" anchor="t">
            <a:spAutoFit/>
          </a:bodyPr>
          <a:lstStyle/>
          <a:p>
            <a:pPr algn="l">
              <a:lnSpc>
                <a:spcPct val="118000"/>
              </a:lnSpc>
              <a:spcBef>
                <a:spcPts val="0"/>
              </a:spcBef>
              <a:spcAft>
                <a:spcPts val="0"/>
              </a:spcAft>
            </a:pPr>
            <a:r>
              <a:rPr sz="2025" b="1">
                <a:solidFill>
                  <a:srgbClr val="171717"/>
                </a:solidFill>
                <a:latin typeface="Aptos"/>
              </a:rPr>
              <a:t>References · source register</a:t>
            </a:r>
          </a:p>
        </p:txBody>
      </p:sp>
      <p:cxnSp>
        <p:nvCxnSpPr>
          <p:cNvPr id="8" name="Connector 7"/>
          <p:cNvCxnSpPr/>
          <p:nvPr/>
        </p:nvCxnSpPr>
        <p:spPr>
          <a:xfrm>
            <a:off x="419100" y="1247775"/>
            <a:ext cx="11353800" cy="0"/>
          </a:xfrm>
          <a:prstGeom prst="line">
            <a:avLst/>
          </a:prstGeom>
          <a:ln w="12700">
            <a:solidFill>
              <a:srgbClr val="D8D7D2"/>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9100" y="6457950"/>
            <a:ext cx="11353800" cy="0"/>
          </a:xfrm>
          <a:prstGeom prst="line">
            <a:avLst/>
          </a:prstGeom>
          <a:ln w="12700">
            <a:solidFill>
              <a:srgbClr val="D8D7D2"/>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19100" y="6534150"/>
            <a:ext cx="7715250" cy="171450"/>
          </a:xfrm>
          <a:prstGeom prst="rect">
            <a:avLst/>
          </a:prstGeom>
          <a:noFill/>
        </p:spPr>
        <p:txBody>
          <a:bodyPr wrap="square" lIns="0" rIns="0" tIns="0" bIns="0" anchor="t">
            <a:spAutoFit/>
          </a:bodyPr>
          <a:lstStyle/>
          <a:p>
            <a:pPr algn="l">
              <a:lnSpc>
                <a:spcPct val="118000"/>
              </a:lnSpc>
              <a:spcBef>
                <a:spcPts val="0"/>
              </a:spcBef>
              <a:spcAft>
                <a:spcPts val="0"/>
              </a:spcAft>
            </a:pPr>
            <a:r>
              <a:rPr sz="600" b="0">
                <a:solidFill>
                  <a:srgbClr val="5C5C58"/>
                </a:solidFill>
                <a:latin typeface="Aptos"/>
              </a:rPr>
              <a:t>Source notes are keyed in the core slides. Click the source links in the PowerPoint.</a:t>
            </a:r>
          </a:p>
        </p:txBody>
      </p:sp>
      <p:sp>
        <p:nvSpPr>
          <p:cNvPr id="11" name="TextBox 10"/>
          <p:cNvSpPr txBox="1"/>
          <p:nvPr/>
        </p:nvSpPr>
        <p:spPr>
          <a:xfrm>
            <a:off x="8858250" y="6515100"/>
            <a:ext cx="2905125" cy="190500"/>
          </a:xfrm>
          <a:prstGeom prst="rect">
            <a:avLst/>
          </a:prstGeom>
          <a:noFill/>
        </p:spPr>
        <p:txBody>
          <a:bodyPr wrap="square" lIns="0" rIns="0" tIns="0" bIns="0" anchor="t">
            <a:spAutoFit/>
          </a:bodyPr>
          <a:lstStyle/>
          <a:p>
            <a:pPr algn="r">
              <a:lnSpc>
                <a:spcPct val="118000"/>
              </a:lnSpc>
              <a:spcBef>
                <a:spcPts val="0"/>
              </a:spcBef>
              <a:spcAft>
                <a:spcPts val="0"/>
              </a:spcAft>
            </a:pPr>
            <a:r>
              <a:rPr sz="675" b="1">
                <a:solidFill>
                  <a:srgbClr val="B51E2B"/>
                </a:solidFill>
                <a:latin typeface="Aptos"/>
              </a:rPr>
              <a:t>ALL PRESENTERS  /  12</a:t>
            </a:r>
          </a:p>
        </p:txBody>
      </p:sp>
      <p:sp>
        <p:nvSpPr>
          <p:cNvPr id="12" name="TextBox 11"/>
          <p:cNvSpPr txBox="1"/>
          <p:nvPr/>
        </p:nvSpPr>
        <p:spPr>
          <a:xfrm>
            <a:off x="571500" y="1400175"/>
            <a:ext cx="1238250" cy="190500"/>
          </a:xfrm>
          <a:prstGeom prst="rect">
            <a:avLst/>
          </a:prstGeom>
          <a:noFill/>
        </p:spPr>
        <p:txBody>
          <a:bodyPr wrap="square" lIns="0" rIns="0" tIns="0" bIns="0" anchor="t">
            <a:spAutoFit/>
          </a:bodyPr>
          <a:lstStyle/>
          <a:p>
            <a:pPr algn="l">
              <a:lnSpc>
                <a:spcPct val="118000"/>
              </a:lnSpc>
              <a:spcBef>
                <a:spcPts val="0"/>
              </a:spcBef>
              <a:spcAft>
                <a:spcPts val="0"/>
              </a:spcAft>
            </a:pPr>
            <a:r>
              <a:rPr sz="900" b="1">
                <a:solidFill>
                  <a:srgbClr val="B51E2B"/>
                </a:solidFill>
                <a:latin typeface="Aptos"/>
              </a:rPr>
              <a:t>[1] FINMA</a:t>
            </a:r>
          </a:p>
        </p:txBody>
      </p:sp>
      <p:sp>
        <p:nvSpPr>
          <p:cNvPr id="13" name="TextBox 12"/>
          <p:cNvSpPr txBox="1"/>
          <p:nvPr/>
        </p:nvSpPr>
        <p:spPr>
          <a:xfrm>
            <a:off x="1952624" y="1400175"/>
            <a:ext cx="7620000" cy="476250"/>
          </a:xfrm>
          <a:prstGeom prst="rect">
            <a:avLst/>
          </a:prstGeom>
          <a:noFill/>
        </p:spPr>
        <p:txBody>
          <a:bodyPr wrap="square" lIns="0" rIns="0" tIns="0" bIns="0" anchor="t">
            <a:spAutoFit/>
          </a:bodyPr>
          <a:lstStyle/>
          <a:p>
            <a:pPr algn="l">
              <a:lnSpc>
                <a:spcPct val="125000"/>
              </a:lnSpc>
              <a:spcBef>
                <a:spcPts val="0"/>
              </a:spcBef>
              <a:spcAft>
                <a:spcPts val="0"/>
              </a:spcAft>
            </a:pPr>
            <a:r>
              <a:rPr sz="825" b="0">
                <a:solidFill>
                  <a:srgbClr val="171717"/>
                </a:solidFill>
                <a:latin typeface="Aptos"/>
              </a:rPr>
              <a:t>Summary Report: investigation into UBS London trading losses, 21 Nov 2012. Positions, concealment, controls.</a:t>
            </a:r>
          </a:p>
        </p:txBody>
      </p:sp>
      <p:sp>
        <p:nvSpPr>
          <p:cNvPr id="14" name="TextBox 13"/>
          <p:cNvSpPr txBox="1"/>
          <p:nvPr/>
        </p:nvSpPr>
        <p:spPr>
          <a:xfrm>
            <a:off x="9658350" y="1419225"/>
            <a:ext cx="1809750" cy="342900"/>
          </a:xfrm>
          <a:prstGeom prst="rect">
            <a:avLst/>
          </a:prstGeom>
          <a:noFill/>
        </p:spPr>
        <p:txBody>
          <a:bodyPr wrap="square" lIns="0" rIns="0" tIns="0" bIns="0" anchor="t">
            <a:spAutoFit/>
          </a:bodyPr>
          <a:lstStyle/>
          <a:p>
            <a:pPr algn="r">
              <a:lnSpc>
                <a:spcPct val="118000"/>
              </a:lnSpc>
              <a:spcBef>
                <a:spcPts val="0"/>
              </a:spcBef>
              <a:spcAft>
                <a:spcPts val="0"/>
              </a:spcAft>
            </a:pPr>
            <a:r>
              <a:rPr sz="675" b="1">
                <a:solidFill>
                  <a:srgbClr val="617C8A"/>
                </a:solidFill>
                <a:latin typeface="Aptos"/>
                <a:hlinkClick r:id="rId4"/>
              </a:rPr>
              <a:t>OPEN SOURCE ↗</a:t>
            </a:r>
          </a:p>
        </p:txBody>
      </p:sp>
      <p:cxnSp>
        <p:nvCxnSpPr>
          <p:cNvPr id="15" name="Connector 14"/>
          <p:cNvCxnSpPr/>
          <p:nvPr/>
        </p:nvCxnSpPr>
        <p:spPr>
          <a:xfrm>
            <a:off x="571500" y="2047875"/>
            <a:ext cx="10953750" cy="0"/>
          </a:xfrm>
          <a:prstGeom prst="line">
            <a:avLst/>
          </a:prstGeom>
          <a:ln w="12700">
            <a:solidFill>
              <a:srgbClr val="D8D7D2"/>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71500" y="2295525"/>
            <a:ext cx="1238250" cy="190500"/>
          </a:xfrm>
          <a:prstGeom prst="rect">
            <a:avLst/>
          </a:prstGeom>
          <a:noFill/>
        </p:spPr>
        <p:txBody>
          <a:bodyPr wrap="square" lIns="0" rIns="0" tIns="0" bIns="0" anchor="t">
            <a:spAutoFit/>
          </a:bodyPr>
          <a:lstStyle/>
          <a:p>
            <a:pPr algn="l">
              <a:lnSpc>
                <a:spcPct val="118000"/>
              </a:lnSpc>
              <a:spcBef>
                <a:spcPts val="0"/>
              </a:spcBef>
              <a:spcAft>
                <a:spcPts val="0"/>
              </a:spcAft>
            </a:pPr>
            <a:r>
              <a:rPr sz="900" b="1">
                <a:solidFill>
                  <a:srgbClr val="B51E2B"/>
                </a:solidFill>
                <a:latin typeface="Aptos"/>
              </a:rPr>
              <a:t>[2] FSA / FCA</a:t>
            </a:r>
          </a:p>
        </p:txBody>
      </p:sp>
      <p:sp>
        <p:nvSpPr>
          <p:cNvPr id="17" name="TextBox 16"/>
          <p:cNvSpPr txBox="1"/>
          <p:nvPr/>
        </p:nvSpPr>
        <p:spPr>
          <a:xfrm>
            <a:off x="1952624" y="2295525"/>
            <a:ext cx="7620000" cy="476250"/>
          </a:xfrm>
          <a:prstGeom prst="rect">
            <a:avLst/>
          </a:prstGeom>
          <a:noFill/>
        </p:spPr>
        <p:txBody>
          <a:bodyPr wrap="square" lIns="0" rIns="0" tIns="0" bIns="0" anchor="t">
            <a:spAutoFit/>
          </a:bodyPr>
          <a:lstStyle/>
          <a:p>
            <a:pPr algn="l">
              <a:lnSpc>
                <a:spcPct val="125000"/>
              </a:lnSpc>
              <a:spcBef>
                <a:spcPts val="0"/>
              </a:spcBef>
              <a:spcAft>
                <a:spcPts val="0"/>
              </a:spcAft>
            </a:pPr>
            <a:r>
              <a:rPr sz="825" b="0">
                <a:solidFill>
                  <a:srgbClr val="171717"/>
                </a:solidFill>
                <a:latin typeface="Aptos"/>
              </a:rPr>
              <a:t>Final Notice: UBS AG, 25 Nov 2012. USD 2.3bn loss, limits and control failings.</a:t>
            </a:r>
          </a:p>
        </p:txBody>
      </p:sp>
      <p:sp>
        <p:nvSpPr>
          <p:cNvPr id="18" name="TextBox 17"/>
          <p:cNvSpPr txBox="1"/>
          <p:nvPr/>
        </p:nvSpPr>
        <p:spPr>
          <a:xfrm>
            <a:off x="9658350" y="2314575"/>
            <a:ext cx="1809750" cy="342900"/>
          </a:xfrm>
          <a:prstGeom prst="rect">
            <a:avLst/>
          </a:prstGeom>
          <a:noFill/>
        </p:spPr>
        <p:txBody>
          <a:bodyPr wrap="square" lIns="0" rIns="0" tIns="0" bIns="0" anchor="t">
            <a:spAutoFit/>
          </a:bodyPr>
          <a:lstStyle/>
          <a:p>
            <a:pPr algn="r">
              <a:lnSpc>
                <a:spcPct val="118000"/>
              </a:lnSpc>
              <a:spcBef>
                <a:spcPts val="0"/>
              </a:spcBef>
              <a:spcAft>
                <a:spcPts val="0"/>
              </a:spcAft>
            </a:pPr>
            <a:r>
              <a:rPr sz="675" b="1">
                <a:solidFill>
                  <a:srgbClr val="617C8A"/>
                </a:solidFill>
                <a:latin typeface="Aptos"/>
                <a:hlinkClick r:id="rId5"/>
              </a:rPr>
              <a:t>OPEN SOURCE ↗</a:t>
            </a:r>
          </a:p>
        </p:txBody>
      </p:sp>
      <p:cxnSp>
        <p:nvCxnSpPr>
          <p:cNvPr id="19" name="Connector 18"/>
          <p:cNvCxnSpPr/>
          <p:nvPr/>
        </p:nvCxnSpPr>
        <p:spPr>
          <a:xfrm>
            <a:off x="571500" y="2943225"/>
            <a:ext cx="10953750" cy="0"/>
          </a:xfrm>
          <a:prstGeom prst="line">
            <a:avLst/>
          </a:prstGeom>
          <a:ln w="12700">
            <a:solidFill>
              <a:srgbClr val="D8D7D2"/>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71500" y="3190875"/>
            <a:ext cx="1238250" cy="190500"/>
          </a:xfrm>
          <a:prstGeom prst="rect">
            <a:avLst/>
          </a:prstGeom>
          <a:noFill/>
        </p:spPr>
        <p:txBody>
          <a:bodyPr wrap="square" lIns="0" rIns="0" tIns="0" bIns="0" anchor="t">
            <a:spAutoFit/>
          </a:bodyPr>
          <a:lstStyle/>
          <a:p>
            <a:pPr algn="l">
              <a:lnSpc>
                <a:spcPct val="118000"/>
              </a:lnSpc>
              <a:spcBef>
                <a:spcPts val="0"/>
              </a:spcBef>
              <a:spcAft>
                <a:spcPts val="0"/>
              </a:spcAft>
            </a:pPr>
            <a:r>
              <a:rPr sz="900" b="1">
                <a:solidFill>
                  <a:srgbClr val="B51E2B"/>
                </a:solidFill>
                <a:latin typeface="Aptos"/>
              </a:rPr>
              <a:t>[3] UBS</a:t>
            </a:r>
          </a:p>
        </p:txBody>
      </p:sp>
      <p:sp>
        <p:nvSpPr>
          <p:cNvPr id="21" name="TextBox 20"/>
          <p:cNvSpPr txBox="1"/>
          <p:nvPr/>
        </p:nvSpPr>
        <p:spPr>
          <a:xfrm>
            <a:off x="1952624" y="3190875"/>
            <a:ext cx="7620000" cy="476250"/>
          </a:xfrm>
          <a:prstGeom prst="rect">
            <a:avLst/>
          </a:prstGeom>
          <a:noFill/>
        </p:spPr>
        <p:txBody>
          <a:bodyPr wrap="square" lIns="0" rIns="0" tIns="0" bIns="0" anchor="t">
            <a:spAutoFit/>
          </a:bodyPr>
          <a:lstStyle/>
          <a:p>
            <a:pPr algn="l">
              <a:lnSpc>
                <a:spcPct val="125000"/>
              </a:lnSpc>
              <a:spcBef>
                <a:spcPts val="0"/>
              </a:spcBef>
              <a:spcAft>
                <a:spcPts val="0"/>
              </a:spcAft>
            </a:pPr>
            <a:r>
              <a:rPr sz="825" b="0">
                <a:solidFill>
                  <a:srgbClr val="171717"/>
                </a:solidFill>
                <a:latin typeface="Aptos"/>
              </a:rPr>
              <a:t>Supplement No. 2, 11 Oct 2011. Initial estimate, revision to USD 2.3bn; risk covered by 18 Sep.</a:t>
            </a:r>
          </a:p>
        </p:txBody>
      </p:sp>
      <p:sp>
        <p:nvSpPr>
          <p:cNvPr id="22" name="TextBox 21"/>
          <p:cNvSpPr txBox="1"/>
          <p:nvPr/>
        </p:nvSpPr>
        <p:spPr>
          <a:xfrm>
            <a:off x="9658350" y="3209925"/>
            <a:ext cx="1809750" cy="342900"/>
          </a:xfrm>
          <a:prstGeom prst="rect">
            <a:avLst/>
          </a:prstGeom>
          <a:noFill/>
        </p:spPr>
        <p:txBody>
          <a:bodyPr wrap="square" lIns="0" rIns="0" tIns="0" bIns="0" anchor="t">
            <a:spAutoFit/>
          </a:bodyPr>
          <a:lstStyle/>
          <a:p>
            <a:pPr algn="r">
              <a:lnSpc>
                <a:spcPct val="118000"/>
              </a:lnSpc>
              <a:spcBef>
                <a:spcPts val="0"/>
              </a:spcBef>
              <a:spcAft>
                <a:spcPts val="0"/>
              </a:spcAft>
            </a:pPr>
            <a:r>
              <a:rPr sz="675" b="1">
                <a:solidFill>
                  <a:srgbClr val="617C8A"/>
                </a:solidFill>
                <a:latin typeface="Aptos"/>
                <a:hlinkClick r:id="rId6"/>
              </a:rPr>
              <a:t>OPEN SOURCE ↗</a:t>
            </a:r>
          </a:p>
        </p:txBody>
      </p:sp>
      <p:cxnSp>
        <p:nvCxnSpPr>
          <p:cNvPr id="23" name="Connector 22"/>
          <p:cNvCxnSpPr/>
          <p:nvPr/>
        </p:nvCxnSpPr>
        <p:spPr>
          <a:xfrm>
            <a:off x="571500" y="3838575"/>
            <a:ext cx="10953750" cy="0"/>
          </a:xfrm>
          <a:prstGeom prst="line">
            <a:avLst/>
          </a:prstGeom>
          <a:ln w="12700">
            <a:solidFill>
              <a:srgbClr val="D8D7D2"/>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71500" y="4086225"/>
            <a:ext cx="1238250" cy="190500"/>
          </a:xfrm>
          <a:prstGeom prst="rect">
            <a:avLst/>
          </a:prstGeom>
          <a:noFill/>
        </p:spPr>
        <p:txBody>
          <a:bodyPr wrap="square" lIns="0" rIns="0" tIns="0" bIns="0" anchor="t">
            <a:spAutoFit/>
          </a:bodyPr>
          <a:lstStyle/>
          <a:p>
            <a:pPr algn="l">
              <a:lnSpc>
                <a:spcPct val="118000"/>
              </a:lnSpc>
              <a:spcBef>
                <a:spcPts val="0"/>
              </a:spcBef>
              <a:spcAft>
                <a:spcPts val="0"/>
              </a:spcAft>
            </a:pPr>
            <a:r>
              <a:rPr sz="900" b="1">
                <a:solidFill>
                  <a:srgbClr val="B51E2B"/>
                </a:solidFill>
                <a:latin typeface="Aptos"/>
              </a:rPr>
              <a:t>[4] UBS</a:t>
            </a:r>
          </a:p>
        </p:txBody>
      </p:sp>
      <p:sp>
        <p:nvSpPr>
          <p:cNvPr id="25" name="TextBox 24"/>
          <p:cNvSpPr txBox="1"/>
          <p:nvPr/>
        </p:nvSpPr>
        <p:spPr>
          <a:xfrm>
            <a:off x="1952624" y="4086225"/>
            <a:ext cx="7620000" cy="476250"/>
          </a:xfrm>
          <a:prstGeom prst="rect">
            <a:avLst/>
          </a:prstGeom>
          <a:noFill/>
        </p:spPr>
        <p:txBody>
          <a:bodyPr wrap="square" lIns="0" rIns="0" tIns="0" bIns="0" anchor="t">
            <a:spAutoFit/>
          </a:bodyPr>
          <a:lstStyle/>
          <a:p>
            <a:pPr algn="l">
              <a:lnSpc>
                <a:spcPct val="125000"/>
              </a:lnSpc>
              <a:spcBef>
                <a:spcPts val="0"/>
              </a:spcBef>
              <a:spcAft>
                <a:spcPts val="0"/>
              </a:spcAft>
            </a:pPr>
            <a:r>
              <a:rPr sz="825" b="0">
                <a:solidFill>
                  <a:srgbClr val="171717"/>
                </a:solidFill>
                <a:latin typeface="Aptos"/>
              </a:rPr>
              <a:t>Third Quarter 2011 results / presentation materials, 25 Oct 2011. CHF / USD accounting reconciliation.</a:t>
            </a:r>
          </a:p>
        </p:txBody>
      </p:sp>
      <p:sp>
        <p:nvSpPr>
          <p:cNvPr id="26" name="TextBox 25"/>
          <p:cNvSpPr txBox="1"/>
          <p:nvPr/>
        </p:nvSpPr>
        <p:spPr>
          <a:xfrm>
            <a:off x="9658350" y="4105274"/>
            <a:ext cx="1809750" cy="342900"/>
          </a:xfrm>
          <a:prstGeom prst="rect">
            <a:avLst/>
          </a:prstGeom>
          <a:noFill/>
        </p:spPr>
        <p:txBody>
          <a:bodyPr wrap="square" lIns="0" rIns="0" tIns="0" bIns="0" anchor="t">
            <a:spAutoFit/>
          </a:bodyPr>
          <a:lstStyle/>
          <a:p>
            <a:pPr algn="r">
              <a:lnSpc>
                <a:spcPct val="118000"/>
              </a:lnSpc>
              <a:spcBef>
                <a:spcPts val="0"/>
              </a:spcBef>
              <a:spcAft>
                <a:spcPts val="0"/>
              </a:spcAft>
            </a:pPr>
            <a:r>
              <a:rPr sz="675" b="1">
                <a:solidFill>
                  <a:srgbClr val="617C8A"/>
                </a:solidFill>
                <a:latin typeface="Aptos"/>
                <a:hlinkClick r:id="rId7"/>
              </a:rPr>
              <a:t>OPEN SOURCE ↗</a:t>
            </a:r>
          </a:p>
        </p:txBody>
      </p:sp>
      <p:cxnSp>
        <p:nvCxnSpPr>
          <p:cNvPr id="27" name="Connector 26"/>
          <p:cNvCxnSpPr/>
          <p:nvPr/>
        </p:nvCxnSpPr>
        <p:spPr>
          <a:xfrm>
            <a:off x="571500" y="4733925"/>
            <a:ext cx="10953750" cy="0"/>
          </a:xfrm>
          <a:prstGeom prst="line">
            <a:avLst/>
          </a:prstGeom>
          <a:ln w="12700">
            <a:solidFill>
              <a:srgbClr val="D8D7D2"/>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71500" y="5286375"/>
            <a:ext cx="10858500" cy="495299"/>
          </a:xfrm>
          <a:prstGeom prst="rect">
            <a:avLst/>
          </a:prstGeom>
          <a:noFill/>
        </p:spPr>
        <p:txBody>
          <a:bodyPr wrap="square" lIns="0" rIns="0" tIns="0" bIns="0" anchor="t">
            <a:spAutoFit/>
          </a:bodyPr>
          <a:lstStyle/>
          <a:p>
            <a:pPr algn="l">
              <a:lnSpc>
                <a:spcPct val="125000"/>
              </a:lnSpc>
              <a:spcBef>
                <a:spcPts val="0"/>
              </a:spcBef>
              <a:spcAft>
                <a:spcPts val="0"/>
              </a:spcAft>
            </a:pPr>
            <a:r>
              <a:rPr sz="750" b="0">
                <a:solidFill>
                  <a:srgbClr val="5C5C58"/>
                </a:solidFill>
                <a:latin typeface="Aptos"/>
              </a:rPr>
              <a:t>Photo: user-supplied press image; attribution / reuse rights must be confirmed before external publication. The 2025 Annual Report images were used as visual guidance only, not as evidence for the 2011 incident.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2000" cy="6858000"/>
          </a:xfrm>
          <a:prstGeom prst="rect">
            <a:avLst/>
          </a:prstGeom>
          <a:solidFill>
            <a:srgbClr val="FFFFF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38100"/>
          </a:xfrm>
          <a:prstGeom prst="rect">
            <a:avLst/>
          </a:prstGeom>
          <a:solidFill>
            <a:srgbClr val="E3000B"/>
          </a:solidFill>
          <a:ln w="12700">
            <a:solidFill>
              <a:srgbClr val="E30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ubs-logo.png"/>
          <p:cNvPicPr>
            <a:picLocks noChangeAspect="1"/>
          </p:cNvPicPr>
          <p:nvPr/>
        </p:nvPicPr>
        <p:blipFill>
          <a:blip r:embed="rId2"/>
          <a:stretch>
            <a:fillRect/>
          </a:stretch>
        </p:blipFill>
        <p:spPr>
          <a:xfrm>
            <a:off x="408461" y="123824"/>
            <a:ext cx="1240476" cy="438150"/>
          </a:xfrm>
          <a:prstGeom prst="rect">
            <a:avLst/>
          </a:prstGeom>
        </p:spPr>
      </p:pic>
      <p:pic>
        <p:nvPicPr>
          <p:cNvPr id="5" name="Picture 4" descr="skema-logo.png"/>
          <p:cNvPicPr>
            <a:picLocks noChangeAspect="1"/>
          </p:cNvPicPr>
          <p:nvPr/>
        </p:nvPicPr>
        <p:blipFill>
          <a:blip r:embed="rId3"/>
          <a:stretch>
            <a:fillRect/>
          </a:stretch>
        </p:blipFill>
        <p:spPr>
          <a:xfrm>
            <a:off x="11344275" y="114375"/>
            <a:ext cx="400050" cy="418949"/>
          </a:xfrm>
          <a:prstGeom prst="rect">
            <a:avLst/>
          </a:prstGeom>
        </p:spPr>
      </p:pic>
      <p:sp>
        <p:nvSpPr>
          <p:cNvPr id="6" name="TextBox 5"/>
          <p:cNvSpPr txBox="1"/>
          <p:nvPr/>
        </p:nvSpPr>
        <p:spPr>
          <a:xfrm>
            <a:off x="1952624" y="247649"/>
            <a:ext cx="8096249" cy="20955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B51E2B"/>
                </a:solidFill>
                <a:latin typeface="Aptos"/>
              </a:rPr>
              <a:t>APPENDIX · MODEL SPECIFICATION</a:t>
            </a:r>
          </a:p>
        </p:txBody>
      </p:sp>
      <p:sp>
        <p:nvSpPr>
          <p:cNvPr id="7" name="TextBox 6"/>
          <p:cNvSpPr txBox="1"/>
          <p:nvPr/>
        </p:nvSpPr>
        <p:spPr>
          <a:xfrm>
            <a:off x="419100" y="742950"/>
            <a:ext cx="11353800" cy="400050"/>
          </a:xfrm>
          <a:prstGeom prst="rect">
            <a:avLst/>
          </a:prstGeom>
          <a:noFill/>
        </p:spPr>
        <p:txBody>
          <a:bodyPr wrap="square" lIns="0" rIns="0" tIns="0" bIns="0" anchor="t">
            <a:spAutoFit/>
          </a:bodyPr>
          <a:lstStyle/>
          <a:p>
            <a:pPr algn="l">
              <a:lnSpc>
                <a:spcPct val="118000"/>
              </a:lnSpc>
              <a:spcBef>
                <a:spcPts val="0"/>
              </a:spcBef>
              <a:spcAft>
                <a:spcPts val="0"/>
              </a:spcAft>
            </a:pPr>
            <a:r>
              <a:rPr sz="2025" b="1">
                <a:solidFill>
                  <a:srgbClr val="171717"/>
                </a:solidFill>
                <a:latin typeface="Aptos"/>
              </a:rPr>
              <a:t>Appendix · model inputs, calculation rules and data gaps</a:t>
            </a:r>
          </a:p>
        </p:txBody>
      </p:sp>
      <p:cxnSp>
        <p:nvCxnSpPr>
          <p:cNvPr id="8" name="Connector 7"/>
          <p:cNvCxnSpPr/>
          <p:nvPr/>
        </p:nvCxnSpPr>
        <p:spPr>
          <a:xfrm>
            <a:off x="419100" y="1247775"/>
            <a:ext cx="11353800" cy="0"/>
          </a:xfrm>
          <a:prstGeom prst="line">
            <a:avLst/>
          </a:prstGeom>
          <a:ln w="12700">
            <a:solidFill>
              <a:srgbClr val="D8D7D2"/>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9100" y="6457950"/>
            <a:ext cx="11353800" cy="0"/>
          </a:xfrm>
          <a:prstGeom prst="line">
            <a:avLst/>
          </a:prstGeom>
          <a:ln w="12700">
            <a:solidFill>
              <a:srgbClr val="D8D7D2"/>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19100" y="6534150"/>
            <a:ext cx="7715250" cy="171450"/>
          </a:xfrm>
          <a:prstGeom prst="rect">
            <a:avLst/>
          </a:prstGeom>
          <a:noFill/>
        </p:spPr>
        <p:txBody>
          <a:bodyPr wrap="square" lIns="0" rIns="0" tIns="0" bIns="0" anchor="t">
            <a:spAutoFit/>
          </a:bodyPr>
          <a:lstStyle/>
          <a:p>
            <a:pPr algn="l">
              <a:lnSpc>
                <a:spcPct val="118000"/>
              </a:lnSpc>
              <a:spcBef>
                <a:spcPts val="0"/>
              </a:spcBef>
              <a:spcAft>
                <a:spcPts val="0"/>
              </a:spcAft>
            </a:pPr>
            <a:r>
              <a:rPr sz="600" b="0">
                <a:solidFill>
                  <a:srgbClr val="5C5C58"/>
                </a:solidFill>
                <a:latin typeface="Aptos"/>
              </a:rPr>
              <a:t>Use internal Treasury, settlement, collateral and risk records to populate this template; retain source / timestamp for every input.</a:t>
            </a:r>
          </a:p>
        </p:txBody>
      </p:sp>
      <p:sp>
        <p:nvSpPr>
          <p:cNvPr id="11" name="TextBox 10"/>
          <p:cNvSpPr txBox="1"/>
          <p:nvPr/>
        </p:nvSpPr>
        <p:spPr>
          <a:xfrm>
            <a:off x="8858250" y="6515100"/>
            <a:ext cx="2905125" cy="190500"/>
          </a:xfrm>
          <a:prstGeom prst="rect">
            <a:avLst/>
          </a:prstGeom>
          <a:noFill/>
        </p:spPr>
        <p:txBody>
          <a:bodyPr wrap="square" lIns="0" rIns="0" tIns="0" bIns="0" anchor="t">
            <a:spAutoFit/>
          </a:bodyPr>
          <a:lstStyle/>
          <a:p>
            <a:pPr algn="r">
              <a:lnSpc>
                <a:spcPct val="118000"/>
              </a:lnSpc>
              <a:spcBef>
                <a:spcPts val="0"/>
              </a:spcBef>
              <a:spcAft>
                <a:spcPts val="0"/>
              </a:spcAft>
            </a:pPr>
            <a:r>
              <a:rPr sz="675" b="1">
                <a:solidFill>
                  <a:srgbClr val="B51E2B"/>
                </a:solidFill>
                <a:latin typeface="Aptos"/>
              </a:rPr>
              <a:t>ELIAS  /  13</a:t>
            </a:r>
          </a:p>
        </p:txBody>
      </p:sp>
      <p:sp>
        <p:nvSpPr>
          <p:cNvPr id="12" name="Rectangle 11"/>
          <p:cNvSpPr/>
          <p:nvPr/>
        </p:nvSpPr>
        <p:spPr>
          <a:xfrm>
            <a:off x="552450" y="1476375"/>
            <a:ext cx="3476625" cy="3810000"/>
          </a:xfrm>
          <a:prstGeom prst="rect">
            <a:avLst/>
          </a:prstGeom>
          <a:solidFill>
            <a:srgbClr val="F8F8F6"/>
          </a:solidFill>
          <a:ln w="12700">
            <a:solidFill>
              <a:srgbClr val="D8D7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52450" y="1476375"/>
            <a:ext cx="3476625" cy="38100"/>
          </a:xfrm>
          <a:prstGeom prst="rect">
            <a:avLst/>
          </a:prstGeom>
          <a:solidFill>
            <a:srgbClr val="E3000B"/>
          </a:solidFill>
          <a:ln>
            <a:solidFill>
              <a:srgbClr val="E30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50" y="1695450"/>
            <a:ext cx="3143250" cy="209550"/>
          </a:xfrm>
          <a:prstGeom prst="rect">
            <a:avLst/>
          </a:prstGeom>
          <a:noFill/>
        </p:spPr>
        <p:txBody>
          <a:bodyPr wrap="square" lIns="0" rIns="0" tIns="0" bIns="0" anchor="t">
            <a:spAutoFit/>
          </a:bodyPr>
          <a:lstStyle/>
          <a:p>
            <a:pPr algn="l">
              <a:lnSpc>
                <a:spcPct val="118000"/>
              </a:lnSpc>
              <a:spcBef>
                <a:spcPts val="0"/>
              </a:spcBef>
              <a:spcAft>
                <a:spcPts val="0"/>
              </a:spcAft>
            </a:pPr>
            <a:r>
              <a:rPr sz="825" b="1">
                <a:solidFill>
                  <a:srgbClr val="B51E2B"/>
                </a:solidFill>
                <a:latin typeface="Aptos"/>
              </a:rPr>
              <a:t>INPUT REGISTER</a:t>
            </a:r>
          </a:p>
        </p:txBody>
      </p:sp>
      <p:sp>
        <p:nvSpPr>
          <p:cNvPr id="15" name="TextBox 14"/>
          <p:cNvSpPr txBox="1"/>
          <p:nvPr/>
        </p:nvSpPr>
        <p:spPr>
          <a:xfrm>
            <a:off x="704850" y="2085975"/>
            <a:ext cx="3143250" cy="2857500"/>
          </a:xfrm>
          <a:prstGeom prst="rect">
            <a:avLst/>
          </a:prstGeom>
          <a:noFill/>
        </p:spPr>
        <p:txBody>
          <a:bodyPr wrap="square" lIns="0" rIns="0" tIns="0" bIns="0" anchor="t">
            <a:spAutoFit/>
          </a:bodyPr>
          <a:lstStyle/>
          <a:p>
            <a:pPr algn="l">
              <a:lnSpc>
                <a:spcPct val="155000"/>
              </a:lnSpc>
              <a:spcBef>
                <a:spcPts val="0"/>
              </a:spcBef>
              <a:spcAft>
                <a:spcPts val="0"/>
              </a:spcAft>
            </a:pPr>
            <a:r>
              <a:rPr sz="825" b="0">
                <a:solidFill>
                  <a:srgbClr val="171717"/>
                </a:solidFill>
                <a:latin typeface="Aptos"/>
              </a:rPr>
              <a:t>Opening accessible cash by entity / currency</a:t>
            </a:r>
          </a:p>
          <a:p>
            <a:pPr algn="l">
              <a:lnSpc>
                <a:spcPct val="155000"/>
              </a:lnSpc>
              <a:spcBef>
                <a:spcPts val="0"/>
              </a:spcBef>
              <a:spcAft>
                <a:spcPts val="0"/>
              </a:spcAft>
            </a:pPr>
            <a:r>
              <a:rPr sz="825" b="0">
                <a:solidFill>
                  <a:srgbClr val="171717"/>
                </a:solidFill>
                <a:latin typeface="Aptos"/>
              </a:rPr>
              <a:t>Maturity-date receipts and payments</a:t>
            </a:r>
          </a:p>
          <a:p>
            <a:pPr algn="l">
              <a:lnSpc>
                <a:spcPct val="155000"/>
              </a:lnSpc>
              <a:spcBef>
                <a:spcPts val="0"/>
              </a:spcBef>
              <a:spcAft>
                <a:spcPts val="0"/>
              </a:spcAft>
            </a:pPr>
            <a:r>
              <a:rPr sz="825" b="0">
                <a:solidFill>
                  <a:srgbClr val="171717"/>
                </a:solidFill>
                <a:latin typeface="Aptos"/>
              </a:rPr>
              <a:t>Incident settlements by value date</a:t>
            </a:r>
          </a:p>
          <a:p>
            <a:pPr algn="l">
              <a:lnSpc>
                <a:spcPct val="155000"/>
              </a:lnSpc>
              <a:spcBef>
                <a:spcPts val="0"/>
              </a:spcBef>
              <a:spcAft>
                <a:spcPts val="0"/>
              </a:spcAft>
            </a:pPr>
            <a:r>
              <a:rPr sz="825" b="0">
                <a:solidFill>
                  <a:srgbClr val="171717"/>
                </a:solidFill>
                <a:latin typeface="Aptos"/>
              </a:rPr>
              <a:t>Collateral calls / returns, net of duplicates</a:t>
            </a:r>
          </a:p>
          <a:p>
            <a:pPr algn="l">
              <a:lnSpc>
                <a:spcPct val="155000"/>
              </a:lnSpc>
              <a:spcBef>
                <a:spcPts val="0"/>
              </a:spcBef>
              <a:spcAft>
                <a:spcPts val="0"/>
              </a:spcAft>
            </a:pPr>
            <a:r>
              <a:rPr sz="825" b="0">
                <a:solidFill>
                  <a:srgbClr val="171717"/>
                </a:solidFill>
                <a:latin typeface="Aptos"/>
              </a:rPr>
              <a:t>Remediation invoices; policy buffer</a:t>
            </a:r>
          </a:p>
          <a:p>
            <a:pPr algn="l">
              <a:lnSpc>
                <a:spcPct val="155000"/>
              </a:lnSpc>
              <a:spcBef>
                <a:spcPts val="0"/>
              </a:spcBef>
              <a:spcAft>
                <a:spcPts val="0"/>
              </a:spcAft>
            </a:pPr>
            <a:r>
              <a:rPr sz="825" b="0">
                <a:solidFill>
                  <a:srgbClr val="171717"/>
                </a:solidFill>
                <a:latin typeface="Aptos"/>
              </a:rPr>
              <a:t>Committed funding, lead time and conditions</a:t>
            </a:r>
          </a:p>
        </p:txBody>
      </p:sp>
      <p:sp>
        <p:nvSpPr>
          <p:cNvPr id="16" name="Rectangle 15"/>
          <p:cNvSpPr/>
          <p:nvPr/>
        </p:nvSpPr>
        <p:spPr>
          <a:xfrm>
            <a:off x="4267200" y="1476375"/>
            <a:ext cx="3476625" cy="3810000"/>
          </a:xfrm>
          <a:prstGeom prst="rect">
            <a:avLst/>
          </a:prstGeom>
          <a:solidFill>
            <a:srgbClr val="F8F8F6"/>
          </a:solidFill>
          <a:ln w="12700">
            <a:solidFill>
              <a:srgbClr val="D8D7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67200" y="1476375"/>
            <a:ext cx="3476625" cy="38100"/>
          </a:xfrm>
          <a:prstGeom prst="rect">
            <a:avLst/>
          </a:prstGeom>
          <a:solidFill>
            <a:srgbClr val="B51E2B"/>
          </a:solidFill>
          <a:ln>
            <a:solidFill>
              <a:srgbClr val="B51E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19600" y="1695450"/>
            <a:ext cx="3143250" cy="209550"/>
          </a:xfrm>
          <a:prstGeom prst="rect">
            <a:avLst/>
          </a:prstGeom>
          <a:noFill/>
        </p:spPr>
        <p:txBody>
          <a:bodyPr wrap="square" lIns="0" rIns="0" tIns="0" bIns="0" anchor="t">
            <a:spAutoFit/>
          </a:bodyPr>
          <a:lstStyle/>
          <a:p>
            <a:pPr algn="l">
              <a:lnSpc>
                <a:spcPct val="118000"/>
              </a:lnSpc>
              <a:spcBef>
                <a:spcPts val="0"/>
              </a:spcBef>
              <a:spcAft>
                <a:spcPts val="0"/>
              </a:spcAft>
            </a:pPr>
            <a:r>
              <a:rPr sz="825" b="1">
                <a:solidFill>
                  <a:srgbClr val="B51E2B"/>
                </a:solidFill>
                <a:latin typeface="Aptos"/>
              </a:rPr>
              <a:t>CALCULATION RULES</a:t>
            </a:r>
          </a:p>
        </p:txBody>
      </p:sp>
      <p:sp>
        <p:nvSpPr>
          <p:cNvPr id="19" name="TextBox 18"/>
          <p:cNvSpPr txBox="1"/>
          <p:nvPr/>
        </p:nvSpPr>
        <p:spPr>
          <a:xfrm>
            <a:off x="4419600" y="2085975"/>
            <a:ext cx="3143250" cy="2857500"/>
          </a:xfrm>
          <a:prstGeom prst="rect">
            <a:avLst/>
          </a:prstGeom>
          <a:noFill/>
        </p:spPr>
        <p:txBody>
          <a:bodyPr wrap="square" lIns="0" rIns="0" tIns="0" bIns="0" anchor="t">
            <a:spAutoFit/>
          </a:bodyPr>
          <a:lstStyle/>
          <a:p>
            <a:pPr algn="l">
              <a:lnSpc>
                <a:spcPct val="155000"/>
              </a:lnSpc>
              <a:spcBef>
                <a:spcPts val="0"/>
              </a:spcBef>
              <a:spcAft>
                <a:spcPts val="0"/>
              </a:spcAft>
            </a:pPr>
            <a:r>
              <a:rPr sz="825" b="0">
                <a:solidFill>
                  <a:srgbClr val="171717"/>
                </a:solidFill>
                <a:latin typeface="Aptos"/>
              </a:rPr>
              <a:t>Closing cash before funding = opening + receipts − payments</a:t>
            </a:r>
          </a:p>
          <a:p>
            <a:pPr algn="l">
              <a:lnSpc>
                <a:spcPct val="155000"/>
              </a:lnSpc>
              <a:spcBef>
                <a:spcPts val="0"/>
              </a:spcBef>
              <a:spcAft>
                <a:spcPts val="0"/>
              </a:spcAft>
            </a:pPr>
            <a:r>
              <a:rPr sz="825" b="0">
                <a:solidFill>
                  <a:srgbClr val="171717"/>
                </a:solidFill>
                <a:latin typeface="Aptos"/>
              </a:rPr>
              <a:t>Incident case adds −Sₜ + Kₜ − Iₜ</a:t>
            </a:r>
          </a:p>
          <a:p>
            <a:pPr algn="l">
              <a:lnSpc>
                <a:spcPct val="155000"/>
              </a:lnSpc>
              <a:spcBef>
                <a:spcPts val="0"/>
              </a:spcBef>
              <a:spcAft>
                <a:spcPts val="0"/>
              </a:spcAft>
            </a:pPr>
            <a:r>
              <a:rPr sz="825" b="0">
                <a:solidFill>
                  <a:srgbClr val="171717"/>
                </a:solidFill>
                <a:latin typeface="Aptos"/>
              </a:rPr>
              <a:t>Funding gap = max(0, buffer − closing before funding)</a:t>
            </a:r>
          </a:p>
          <a:p>
            <a:pPr algn="l">
              <a:lnSpc>
                <a:spcPct val="155000"/>
              </a:lnSpc>
              <a:spcBef>
                <a:spcPts val="0"/>
              </a:spcBef>
              <a:spcAft>
                <a:spcPts val="0"/>
              </a:spcAft>
            </a:pPr>
            <a:r>
              <a:rPr sz="825" b="0">
                <a:solidFill>
                  <a:srgbClr val="171717"/>
                </a:solidFill>
                <a:latin typeface="Aptos"/>
              </a:rPr>
              <a:t>Closing after funding = closing before + confirmed funding</a:t>
            </a:r>
          </a:p>
          <a:p>
            <a:pPr algn="l">
              <a:lnSpc>
                <a:spcPct val="155000"/>
              </a:lnSpc>
              <a:spcBef>
                <a:spcPts val="0"/>
              </a:spcBef>
              <a:spcAft>
                <a:spcPts val="0"/>
              </a:spcAft>
            </a:pPr>
            <a:r>
              <a:rPr sz="825" b="0">
                <a:solidFill>
                  <a:srgbClr val="171717"/>
                </a:solidFill>
                <a:latin typeface="Aptos"/>
              </a:rPr>
              <a:t>Carry each period close into next period</a:t>
            </a:r>
          </a:p>
          <a:p>
            <a:pPr algn="l">
              <a:lnSpc>
                <a:spcPct val="155000"/>
              </a:lnSpc>
              <a:spcBef>
                <a:spcPts val="0"/>
              </a:spcBef>
              <a:spcAft>
                <a:spcPts val="0"/>
              </a:spcAft>
            </a:pPr>
            <a:r>
              <a:rPr sz="825" b="0">
                <a:solidFill>
                  <a:srgbClr val="171717"/>
                </a:solidFill>
                <a:latin typeface="Aptos"/>
              </a:rPr>
              <a:t>Report lowest cash, breach date and peak gap</a:t>
            </a:r>
          </a:p>
        </p:txBody>
      </p:sp>
      <p:sp>
        <p:nvSpPr>
          <p:cNvPr id="20" name="Rectangle 19"/>
          <p:cNvSpPr/>
          <p:nvPr/>
        </p:nvSpPr>
        <p:spPr>
          <a:xfrm>
            <a:off x="7981949" y="1476375"/>
            <a:ext cx="3476625" cy="3810000"/>
          </a:xfrm>
          <a:prstGeom prst="rect">
            <a:avLst/>
          </a:prstGeom>
          <a:solidFill>
            <a:srgbClr val="F8F8F6"/>
          </a:solidFill>
          <a:ln w="12700">
            <a:solidFill>
              <a:srgbClr val="D8D7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81949" y="1476375"/>
            <a:ext cx="3476625" cy="38100"/>
          </a:xfrm>
          <a:prstGeom prst="rect">
            <a:avLst/>
          </a:prstGeom>
          <a:solidFill>
            <a:srgbClr val="B51E2B"/>
          </a:solidFill>
          <a:ln>
            <a:solidFill>
              <a:srgbClr val="B51E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34350" y="1695450"/>
            <a:ext cx="3143250" cy="209550"/>
          </a:xfrm>
          <a:prstGeom prst="rect">
            <a:avLst/>
          </a:prstGeom>
          <a:noFill/>
        </p:spPr>
        <p:txBody>
          <a:bodyPr wrap="square" lIns="0" rIns="0" tIns="0" bIns="0" anchor="t">
            <a:spAutoFit/>
          </a:bodyPr>
          <a:lstStyle/>
          <a:p>
            <a:pPr algn="l">
              <a:lnSpc>
                <a:spcPct val="118000"/>
              </a:lnSpc>
              <a:spcBef>
                <a:spcPts val="0"/>
              </a:spcBef>
              <a:spcAft>
                <a:spcPts val="0"/>
              </a:spcAft>
            </a:pPr>
            <a:r>
              <a:rPr sz="825" b="1">
                <a:solidFill>
                  <a:srgbClr val="B51E2B"/>
                </a:solidFill>
                <a:latin typeface="Aptos"/>
              </a:rPr>
              <a:t>EVIDENCE &amp; LIMITS</a:t>
            </a:r>
          </a:p>
        </p:txBody>
      </p:sp>
      <p:sp>
        <p:nvSpPr>
          <p:cNvPr id="23" name="TextBox 22"/>
          <p:cNvSpPr txBox="1"/>
          <p:nvPr/>
        </p:nvSpPr>
        <p:spPr>
          <a:xfrm>
            <a:off x="8134350" y="2085975"/>
            <a:ext cx="3143250" cy="2857500"/>
          </a:xfrm>
          <a:prstGeom prst="rect">
            <a:avLst/>
          </a:prstGeom>
          <a:noFill/>
        </p:spPr>
        <p:txBody>
          <a:bodyPr wrap="square" lIns="0" rIns="0" tIns="0" bIns="0" anchor="t">
            <a:spAutoFit/>
          </a:bodyPr>
          <a:lstStyle/>
          <a:p>
            <a:pPr algn="l">
              <a:lnSpc>
                <a:spcPct val="155000"/>
              </a:lnSpc>
              <a:spcBef>
                <a:spcPts val="0"/>
              </a:spcBef>
              <a:spcAft>
                <a:spcPts val="0"/>
              </a:spcAft>
            </a:pPr>
            <a:r>
              <a:rPr sz="825" b="0">
                <a:solidFill>
                  <a:srgbClr val="171717"/>
                </a:solidFill>
                <a:latin typeface="Aptos"/>
              </a:rPr>
              <a:t>Published: loss / dates / positions / control findings</a:t>
            </a:r>
          </a:p>
          <a:p>
            <a:pPr algn="l">
              <a:lnSpc>
                <a:spcPct val="155000"/>
              </a:lnSpc>
              <a:spcBef>
                <a:spcPts val="0"/>
              </a:spcBef>
              <a:spcAft>
                <a:spcPts val="0"/>
              </a:spcAft>
            </a:pPr>
            <a:r>
              <a:rPr sz="825" b="0">
                <a:solidFill>
                  <a:srgbClr val="171717"/>
                </a:solidFill>
                <a:latin typeface="Aptos"/>
              </a:rPr>
              <a:t>Derived: disclosed CHF / USD accounting reconciliation</a:t>
            </a:r>
          </a:p>
          <a:p>
            <a:pPr algn="l">
              <a:lnSpc>
                <a:spcPct val="155000"/>
              </a:lnSpc>
              <a:spcBef>
                <a:spcPts val="0"/>
              </a:spcBef>
              <a:spcAft>
                <a:spcPts val="0"/>
              </a:spcAft>
            </a:pPr>
            <a:r>
              <a:rPr sz="825" b="0">
                <a:solidFill>
                  <a:srgbClr val="171717"/>
                </a:solidFill>
                <a:latin typeface="Aptos"/>
              </a:rPr>
              <a:t>Assumed: cash opening, flows, buffer, FX and stress timing</a:t>
            </a:r>
          </a:p>
          <a:p>
            <a:pPr algn="l">
              <a:lnSpc>
                <a:spcPct val="155000"/>
              </a:lnSpc>
              <a:spcBef>
                <a:spcPts val="0"/>
              </a:spcBef>
              <a:spcAft>
                <a:spcPts val="0"/>
              </a:spcAft>
            </a:pPr>
            <a:r>
              <a:rPr sz="825" b="0">
                <a:solidFill>
                  <a:srgbClr val="171717"/>
                </a:solidFill>
                <a:latin typeface="Aptos"/>
              </a:rPr>
              <a:t>No WCR / CCC proxy for bank liquidity</a:t>
            </a:r>
          </a:p>
          <a:p>
            <a:pPr algn="l">
              <a:lnSpc>
                <a:spcPct val="155000"/>
              </a:lnSpc>
              <a:spcBef>
                <a:spcPts val="0"/>
              </a:spcBef>
              <a:spcAft>
                <a:spcPts val="0"/>
              </a:spcAft>
            </a:pPr>
            <a:r>
              <a:rPr sz="825" b="0">
                <a:solidFill>
                  <a:srgbClr val="171717"/>
                </a:solidFill>
                <a:latin typeface="Aptos"/>
              </a:rPr>
              <a:t>No actual gap until internal ledger is loaded</a:t>
            </a:r>
          </a:p>
          <a:p>
            <a:pPr algn="l">
              <a:lnSpc>
                <a:spcPct val="155000"/>
              </a:lnSpc>
              <a:spcBef>
                <a:spcPts val="0"/>
              </a:spcBef>
              <a:spcAft>
                <a:spcPts val="0"/>
              </a:spcAft>
            </a:pPr>
            <a:r>
              <a:rPr sz="825" b="0">
                <a:solidFill>
                  <a:srgbClr val="171717"/>
                </a:solidFill>
                <a:latin typeface="Aptos"/>
              </a:rPr>
              <a:t>Use explicit FX source and date for each translation</a:t>
            </a:r>
          </a:p>
        </p:txBody>
      </p:sp>
      <p:sp>
        <p:nvSpPr>
          <p:cNvPr id="24" name="TextBox 23"/>
          <p:cNvSpPr txBox="1"/>
          <p:nvPr/>
        </p:nvSpPr>
        <p:spPr>
          <a:xfrm>
            <a:off x="571500" y="5619750"/>
            <a:ext cx="10668000" cy="285750"/>
          </a:xfrm>
          <a:prstGeom prst="rect">
            <a:avLst/>
          </a:prstGeom>
          <a:noFill/>
        </p:spPr>
        <p:txBody>
          <a:bodyPr wrap="square" lIns="0" rIns="0" tIns="0" bIns="0" anchor="t">
            <a:spAutoFit/>
          </a:bodyPr>
          <a:lstStyle/>
          <a:p>
            <a:pPr algn="l">
              <a:lnSpc>
                <a:spcPct val="118000"/>
              </a:lnSpc>
              <a:spcBef>
                <a:spcPts val="0"/>
              </a:spcBef>
              <a:spcAft>
                <a:spcPts val="0"/>
              </a:spcAft>
            </a:pPr>
            <a:r>
              <a:rPr sz="750" b="0">
                <a:solidFill>
                  <a:srgbClr val="5C5C58"/>
                </a:solidFill>
                <a:latin typeface="Aptos"/>
              </a:rPr>
              <a:t>Supporting calculations should report the model version, as-of time, owner, data source and scenario label.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2000" cy="6858000"/>
          </a:xfrm>
          <a:prstGeom prst="rect">
            <a:avLst/>
          </a:prstGeom>
          <a:solidFill>
            <a:srgbClr val="FFFFF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38100"/>
          </a:xfrm>
          <a:prstGeom prst="rect">
            <a:avLst/>
          </a:prstGeom>
          <a:solidFill>
            <a:srgbClr val="E3000B"/>
          </a:solidFill>
          <a:ln w="12700">
            <a:solidFill>
              <a:srgbClr val="E30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ubs-logo.png"/>
          <p:cNvPicPr>
            <a:picLocks noChangeAspect="1"/>
          </p:cNvPicPr>
          <p:nvPr/>
        </p:nvPicPr>
        <p:blipFill>
          <a:blip r:embed="rId2"/>
          <a:stretch>
            <a:fillRect/>
          </a:stretch>
        </p:blipFill>
        <p:spPr>
          <a:xfrm>
            <a:off x="408461" y="123824"/>
            <a:ext cx="1240476" cy="438150"/>
          </a:xfrm>
          <a:prstGeom prst="rect">
            <a:avLst/>
          </a:prstGeom>
        </p:spPr>
      </p:pic>
      <p:pic>
        <p:nvPicPr>
          <p:cNvPr id="5" name="Picture 4" descr="skema-logo.png"/>
          <p:cNvPicPr>
            <a:picLocks noChangeAspect="1"/>
          </p:cNvPicPr>
          <p:nvPr/>
        </p:nvPicPr>
        <p:blipFill>
          <a:blip r:embed="rId3"/>
          <a:stretch>
            <a:fillRect/>
          </a:stretch>
        </p:blipFill>
        <p:spPr>
          <a:xfrm>
            <a:off x="11344275" y="114375"/>
            <a:ext cx="400050" cy="418949"/>
          </a:xfrm>
          <a:prstGeom prst="rect">
            <a:avLst/>
          </a:prstGeom>
        </p:spPr>
      </p:pic>
      <p:sp>
        <p:nvSpPr>
          <p:cNvPr id="6" name="TextBox 5"/>
          <p:cNvSpPr txBox="1"/>
          <p:nvPr/>
        </p:nvSpPr>
        <p:spPr>
          <a:xfrm>
            <a:off x="1952624" y="247649"/>
            <a:ext cx="8096249" cy="20955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B51E2B"/>
                </a:solidFill>
                <a:latin typeface="Aptos"/>
              </a:rPr>
              <a:t>APPENDIX · ASSUMPTION DATASET · USDM</a:t>
            </a:r>
          </a:p>
        </p:txBody>
      </p:sp>
      <p:sp>
        <p:nvSpPr>
          <p:cNvPr id="7" name="TextBox 6"/>
          <p:cNvSpPr txBox="1"/>
          <p:nvPr/>
        </p:nvSpPr>
        <p:spPr>
          <a:xfrm>
            <a:off x="419100" y="742950"/>
            <a:ext cx="11353800" cy="400050"/>
          </a:xfrm>
          <a:prstGeom prst="rect">
            <a:avLst/>
          </a:prstGeom>
          <a:noFill/>
        </p:spPr>
        <p:txBody>
          <a:bodyPr wrap="square" lIns="0" rIns="0" tIns="0" bIns="0" anchor="t">
            <a:spAutoFit/>
          </a:bodyPr>
          <a:lstStyle/>
          <a:p>
            <a:pPr algn="l">
              <a:lnSpc>
                <a:spcPct val="118000"/>
              </a:lnSpc>
              <a:spcBef>
                <a:spcPts val="0"/>
              </a:spcBef>
              <a:spcAft>
                <a:spcPts val="0"/>
              </a:spcAft>
            </a:pPr>
            <a:r>
              <a:rPr sz="2025" b="1">
                <a:solidFill>
                  <a:srgbClr val="171717"/>
                </a:solidFill>
                <a:latin typeface="Aptos"/>
              </a:rPr>
              <a:t>Appendix · illustrative daily and monthly cash bridge</a:t>
            </a:r>
          </a:p>
        </p:txBody>
      </p:sp>
      <p:cxnSp>
        <p:nvCxnSpPr>
          <p:cNvPr id="8" name="Connector 7"/>
          <p:cNvCxnSpPr/>
          <p:nvPr/>
        </p:nvCxnSpPr>
        <p:spPr>
          <a:xfrm>
            <a:off x="419100" y="1247775"/>
            <a:ext cx="11353800" cy="0"/>
          </a:xfrm>
          <a:prstGeom prst="line">
            <a:avLst/>
          </a:prstGeom>
          <a:ln w="12700">
            <a:solidFill>
              <a:srgbClr val="D8D7D2"/>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9100" y="6457950"/>
            <a:ext cx="11353800" cy="0"/>
          </a:xfrm>
          <a:prstGeom prst="line">
            <a:avLst/>
          </a:prstGeom>
          <a:ln w="12700">
            <a:solidFill>
              <a:srgbClr val="D8D7D2"/>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19100" y="6534150"/>
            <a:ext cx="7715250" cy="171450"/>
          </a:xfrm>
          <a:prstGeom prst="rect">
            <a:avLst/>
          </a:prstGeom>
          <a:noFill/>
        </p:spPr>
        <p:txBody>
          <a:bodyPr wrap="square" lIns="0" rIns="0" tIns="0" bIns="0" anchor="t">
            <a:spAutoFit/>
          </a:bodyPr>
          <a:lstStyle/>
          <a:p>
            <a:pPr algn="l">
              <a:lnSpc>
                <a:spcPct val="118000"/>
              </a:lnSpc>
              <a:spcBef>
                <a:spcPts val="0"/>
              </a:spcBef>
              <a:spcAft>
                <a:spcPts val="0"/>
              </a:spcAft>
            </a:pPr>
            <a:r>
              <a:rPr sz="600" b="0">
                <a:solidFill>
                  <a:srgbClr val="5C5C58"/>
                </a:solidFill>
                <a:latin typeface="Aptos"/>
              </a:rPr>
              <a:t>Every cash figure below is assumed for classroom illustration only; it is not UBS actual Treasury data.</a:t>
            </a:r>
          </a:p>
        </p:txBody>
      </p:sp>
      <p:sp>
        <p:nvSpPr>
          <p:cNvPr id="11" name="TextBox 10"/>
          <p:cNvSpPr txBox="1"/>
          <p:nvPr/>
        </p:nvSpPr>
        <p:spPr>
          <a:xfrm>
            <a:off x="8858250" y="6515100"/>
            <a:ext cx="2905125" cy="190500"/>
          </a:xfrm>
          <a:prstGeom prst="rect">
            <a:avLst/>
          </a:prstGeom>
          <a:noFill/>
        </p:spPr>
        <p:txBody>
          <a:bodyPr wrap="square" lIns="0" rIns="0" tIns="0" bIns="0" anchor="t">
            <a:spAutoFit/>
          </a:bodyPr>
          <a:lstStyle/>
          <a:p>
            <a:pPr algn="r">
              <a:lnSpc>
                <a:spcPct val="118000"/>
              </a:lnSpc>
              <a:spcBef>
                <a:spcPts val="0"/>
              </a:spcBef>
              <a:spcAft>
                <a:spcPts val="0"/>
              </a:spcAft>
            </a:pPr>
            <a:r>
              <a:rPr sz="675" b="1">
                <a:solidFill>
                  <a:srgbClr val="B51E2B"/>
                </a:solidFill>
                <a:latin typeface="Aptos"/>
              </a:rPr>
              <a:t>ELIAS  /  14</a:t>
            </a:r>
          </a:p>
        </p:txBody>
      </p:sp>
      <p:sp>
        <p:nvSpPr>
          <p:cNvPr id="12" name="TextBox 11"/>
          <p:cNvSpPr txBox="1"/>
          <p:nvPr/>
        </p:nvSpPr>
        <p:spPr>
          <a:xfrm>
            <a:off x="552450" y="1381125"/>
            <a:ext cx="10953750" cy="209550"/>
          </a:xfrm>
          <a:prstGeom prst="rect">
            <a:avLst/>
          </a:prstGeom>
          <a:noFill/>
        </p:spPr>
        <p:txBody>
          <a:bodyPr wrap="square" lIns="0" rIns="0" tIns="0" bIns="0" anchor="t">
            <a:spAutoFit/>
          </a:bodyPr>
          <a:lstStyle/>
          <a:p>
            <a:pPr algn="l">
              <a:lnSpc>
                <a:spcPct val="118000"/>
              </a:lnSpc>
              <a:spcBef>
                <a:spcPts val="0"/>
              </a:spcBef>
              <a:spcAft>
                <a:spcPts val="0"/>
              </a:spcAft>
            </a:pPr>
            <a:r>
              <a:rPr sz="750" b="1">
                <a:solidFill>
                  <a:srgbClr val="E3000B"/>
                </a:solidFill>
                <a:latin typeface="Aptos"/>
              </a:rPr>
              <a:t>Opening cash $1,000m · buffer $700m · first-week baseline payments $621m · closes shown before additional funding</a:t>
            </a:r>
          </a:p>
        </p:txBody>
      </p:sp>
      <p:sp>
        <p:nvSpPr>
          <p:cNvPr id="13" name="TextBox 12"/>
          <p:cNvSpPr txBox="1"/>
          <p:nvPr/>
        </p:nvSpPr>
        <p:spPr>
          <a:xfrm>
            <a:off x="552450" y="1666875"/>
            <a:ext cx="1524000" cy="276225"/>
          </a:xfrm>
          <a:prstGeom prst="rect">
            <a:avLst/>
          </a:prstGeom>
          <a:noFill/>
        </p:spPr>
        <p:txBody>
          <a:bodyPr wrap="square" lIns="0" rIns="0" tIns="0" bIns="0" anchor="t">
            <a:spAutoFit/>
          </a:bodyPr>
          <a:lstStyle/>
          <a:p>
            <a:pPr algn="l">
              <a:lnSpc>
                <a:spcPct val="105000"/>
              </a:lnSpc>
              <a:spcBef>
                <a:spcPts val="0"/>
              </a:spcBef>
              <a:spcAft>
                <a:spcPts val="0"/>
              </a:spcAft>
            </a:pPr>
            <a:r>
              <a:rPr sz="600" b="1">
                <a:solidFill>
                  <a:srgbClr val="B51E2B"/>
                </a:solidFill>
                <a:latin typeface="Aptos"/>
              </a:rPr>
              <a:t>PERIOD</a:t>
            </a:r>
          </a:p>
        </p:txBody>
      </p:sp>
      <p:sp>
        <p:nvSpPr>
          <p:cNvPr id="14" name="TextBox 13"/>
          <p:cNvSpPr txBox="1"/>
          <p:nvPr/>
        </p:nvSpPr>
        <p:spPr>
          <a:xfrm>
            <a:off x="2076450" y="1666875"/>
            <a:ext cx="1095375" cy="276225"/>
          </a:xfrm>
          <a:prstGeom prst="rect">
            <a:avLst/>
          </a:prstGeom>
          <a:noFill/>
        </p:spPr>
        <p:txBody>
          <a:bodyPr wrap="square" lIns="0" rIns="0" tIns="0" bIns="0" anchor="t">
            <a:spAutoFit/>
          </a:bodyPr>
          <a:lstStyle/>
          <a:p>
            <a:pPr algn="ctr">
              <a:lnSpc>
                <a:spcPct val="105000"/>
              </a:lnSpc>
              <a:spcBef>
                <a:spcPts val="0"/>
              </a:spcBef>
              <a:spcAft>
                <a:spcPts val="0"/>
              </a:spcAft>
            </a:pPr>
            <a:r>
              <a:rPr sz="600" b="1">
                <a:solidFill>
                  <a:srgbClr val="B51E2B"/>
                </a:solidFill>
                <a:latin typeface="Aptos"/>
              </a:rPr>
              <a:t>BASE</a:t>
            </a:r>
          </a:p>
          <a:p>
            <a:pPr algn="ctr">
              <a:lnSpc>
                <a:spcPct val="105000"/>
              </a:lnSpc>
              <a:spcBef>
                <a:spcPts val="0"/>
              </a:spcBef>
              <a:spcAft>
                <a:spcPts val="0"/>
              </a:spcAft>
            </a:pPr>
            <a:r>
              <a:rPr sz="600" b="1">
                <a:solidFill>
                  <a:srgbClr val="B51E2B"/>
                </a:solidFill>
                <a:latin typeface="Aptos"/>
              </a:rPr>
              <a:t>RECEIPTS</a:t>
            </a:r>
          </a:p>
        </p:txBody>
      </p:sp>
      <p:sp>
        <p:nvSpPr>
          <p:cNvPr id="15" name="TextBox 14"/>
          <p:cNvSpPr txBox="1"/>
          <p:nvPr/>
        </p:nvSpPr>
        <p:spPr>
          <a:xfrm>
            <a:off x="3171825" y="1666875"/>
            <a:ext cx="1095375" cy="276225"/>
          </a:xfrm>
          <a:prstGeom prst="rect">
            <a:avLst/>
          </a:prstGeom>
          <a:noFill/>
        </p:spPr>
        <p:txBody>
          <a:bodyPr wrap="square" lIns="0" rIns="0" tIns="0" bIns="0" anchor="t">
            <a:spAutoFit/>
          </a:bodyPr>
          <a:lstStyle/>
          <a:p>
            <a:pPr algn="ctr">
              <a:lnSpc>
                <a:spcPct val="105000"/>
              </a:lnSpc>
              <a:spcBef>
                <a:spcPts val="0"/>
              </a:spcBef>
              <a:spcAft>
                <a:spcPts val="0"/>
              </a:spcAft>
            </a:pPr>
            <a:r>
              <a:rPr sz="600" b="1">
                <a:solidFill>
                  <a:srgbClr val="B51E2B"/>
                </a:solidFill>
                <a:latin typeface="Aptos"/>
              </a:rPr>
              <a:t>BASE</a:t>
            </a:r>
          </a:p>
          <a:p>
            <a:pPr algn="ctr">
              <a:lnSpc>
                <a:spcPct val="105000"/>
              </a:lnSpc>
              <a:spcBef>
                <a:spcPts val="0"/>
              </a:spcBef>
              <a:spcAft>
                <a:spcPts val="0"/>
              </a:spcAft>
            </a:pPr>
            <a:r>
              <a:rPr sz="600" b="1">
                <a:solidFill>
                  <a:srgbClr val="B51E2B"/>
                </a:solidFill>
                <a:latin typeface="Aptos"/>
              </a:rPr>
              <a:t>PAYMENTS</a:t>
            </a:r>
          </a:p>
        </p:txBody>
      </p:sp>
      <p:sp>
        <p:nvSpPr>
          <p:cNvPr id="16" name="TextBox 15"/>
          <p:cNvSpPr txBox="1"/>
          <p:nvPr/>
        </p:nvSpPr>
        <p:spPr>
          <a:xfrm>
            <a:off x="4267200" y="1666875"/>
            <a:ext cx="1238250" cy="276225"/>
          </a:xfrm>
          <a:prstGeom prst="rect">
            <a:avLst/>
          </a:prstGeom>
          <a:noFill/>
        </p:spPr>
        <p:txBody>
          <a:bodyPr wrap="square" lIns="0" rIns="0" tIns="0" bIns="0" anchor="t">
            <a:spAutoFit/>
          </a:bodyPr>
          <a:lstStyle/>
          <a:p>
            <a:pPr algn="ctr">
              <a:lnSpc>
                <a:spcPct val="105000"/>
              </a:lnSpc>
              <a:spcBef>
                <a:spcPts val="0"/>
              </a:spcBef>
              <a:spcAft>
                <a:spcPts val="0"/>
              </a:spcAft>
            </a:pPr>
            <a:r>
              <a:rPr sz="600" b="1">
                <a:solidFill>
                  <a:srgbClr val="B51E2B"/>
                </a:solidFill>
                <a:latin typeface="Aptos"/>
              </a:rPr>
              <a:t>INCIDENT</a:t>
            </a:r>
          </a:p>
          <a:p>
            <a:pPr algn="ctr">
              <a:lnSpc>
                <a:spcPct val="105000"/>
              </a:lnSpc>
              <a:spcBef>
                <a:spcPts val="0"/>
              </a:spcBef>
              <a:spcAft>
                <a:spcPts val="0"/>
              </a:spcAft>
            </a:pPr>
            <a:r>
              <a:rPr sz="600" b="1">
                <a:solidFill>
                  <a:srgbClr val="B51E2B"/>
                </a:solidFill>
                <a:latin typeface="Aptos"/>
              </a:rPr>
              <a:t>SETTLEMENT</a:t>
            </a:r>
          </a:p>
        </p:txBody>
      </p:sp>
      <p:sp>
        <p:nvSpPr>
          <p:cNvPr id="17" name="TextBox 16"/>
          <p:cNvSpPr txBox="1"/>
          <p:nvPr/>
        </p:nvSpPr>
        <p:spPr>
          <a:xfrm>
            <a:off x="5505450" y="1666875"/>
            <a:ext cx="1238250" cy="276225"/>
          </a:xfrm>
          <a:prstGeom prst="rect">
            <a:avLst/>
          </a:prstGeom>
          <a:noFill/>
        </p:spPr>
        <p:txBody>
          <a:bodyPr wrap="square" lIns="0" rIns="0" tIns="0" bIns="0" anchor="t">
            <a:spAutoFit/>
          </a:bodyPr>
          <a:lstStyle/>
          <a:p>
            <a:pPr algn="ctr">
              <a:lnSpc>
                <a:spcPct val="105000"/>
              </a:lnSpc>
              <a:spcBef>
                <a:spcPts val="0"/>
              </a:spcBef>
              <a:spcAft>
                <a:spcPts val="0"/>
              </a:spcAft>
            </a:pPr>
            <a:r>
              <a:rPr sz="600" b="1">
                <a:solidFill>
                  <a:srgbClr val="B51E2B"/>
                </a:solidFill>
                <a:latin typeface="Aptos"/>
              </a:rPr>
              <a:t>INCIDENT</a:t>
            </a:r>
          </a:p>
          <a:p>
            <a:pPr algn="ctr">
              <a:lnSpc>
                <a:spcPct val="105000"/>
              </a:lnSpc>
              <a:spcBef>
                <a:spcPts val="0"/>
              </a:spcBef>
              <a:spcAft>
                <a:spcPts val="0"/>
              </a:spcAft>
            </a:pPr>
            <a:r>
              <a:rPr sz="600" b="1">
                <a:solidFill>
                  <a:srgbClr val="B51E2B"/>
                </a:solidFill>
                <a:latin typeface="Aptos"/>
              </a:rPr>
              <a:t>COLLATERAL¹</a:t>
            </a:r>
          </a:p>
        </p:txBody>
      </p:sp>
      <p:sp>
        <p:nvSpPr>
          <p:cNvPr id="18" name="TextBox 17"/>
          <p:cNvSpPr txBox="1"/>
          <p:nvPr/>
        </p:nvSpPr>
        <p:spPr>
          <a:xfrm>
            <a:off x="6743700" y="1666875"/>
            <a:ext cx="1095375" cy="276225"/>
          </a:xfrm>
          <a:prstGeom prst="rect">
            <a:avLst/>
          </a:prstGeom>
          <a:noFill/>
        </p:spPr>
        <p:txBody>
          <a:bodyPr wrap="square" lIns="0" rIns="0" tIns="0" bIns="0" anchor="t">
            <a:spAutoFit/>
          </a:bodyPr>
          <a:lstStyle/>
          <a:p>
            <a:pPr algn="ctr">
              <a:lnSpc>
                <a:spcPct val="105000"/>
              </a:lnSpc>
              <a:spcBef>
                <a:spcPts val="0"/>
              </a:spcBef>
              <a:spcAft>
                <a:spcPts val="0"/>
              </a:spcAft>
            </a:pPr>
            <a:r>
              <a:rPr sz="600" b="1">
                <a:solidFill>
                  <a:srgbClr val="B51E2B"/>
                </a:solidFill>
                <a:latin typeface="Aptos"/>
              </a:rPr>
              <a:t>INCIDENT</a:t>
            </a:r>
          </a:p>
          <a:p>
            <a:pPr algn="ctr">
              <a:lnSpc>
                <a:spcPct val="105000"/>
              </a:lnSpc>
              <a:spcBef>
                <a:spcPts val="0"/>
              </a:spcBef>
              <a:spcAft>
                <a:spcPts val="0"/>
              </a:spcAft>
            </a:pPr>
            <a:r>
              <a:rPr sz="600" b="1">
                <a:solidFill>
                  <a:srgbClr val="B51E2B"/>
                </a:solidFill>
                <a:latin typeface="Aptos"/>
              </a:rPr>
              <a:t>COSTS</a:t>
            </a:r>
          </a:p>
        </p:txBody>
      </p:sp>
      <p:sp>
        <p:nvSpPr>
          <p:cNvPr id="19" name="TextBox 18"/>
          <p:cNvSpPr txBox="1"/>
          <p:nvPr/>
        </p:nvSpPr>
        <p:spPr>
          <a:xfrm>
            <a:off x="7839074" y="1666875"/>
            <a:ext cx="1619250" cy="276225"/>
          </a:xfrm>
          <a:prstGeom prst="rect">
            <a:avLst/>
          </a:prstGeom>
          <a:noFill/>
        </p:spPr>
        <p:txBody>
          <a:bodyPr wrap="square" lIns="0" rIns="0" tIns="0" bIns="0" anchor="t">
            <a:spAutoFit/>
          </a:bodyPr>
          <a:lstStyle/>
          <a:p>
            <a:pPr algn="ctr">
              <a:lnSpc>
                <a:spcPct val="105000"/>
              </a:lnSpc>
              <a:spcBef>
                <a:spcPts val="0"/>
              </a:spcBef>
              <a:spcAft>
                <a:spcPts val="0"/>
              </a:spcAft>
            </a:pPr>
            <a:r>
              <a:rPr sz="600" b="1">
                <a:solidFill>
                  <a:srgbClr val="B51E2B"/>
                </a:solidFill>
                <a:latin typeface="Aptos"/>
              </a:rPr>
              <a:t>NO-INCIDENT</a:t>
            </a:r>
          </a:p>
          <a:p>
            <a:pPr algn="ctr">
              <a:lnSpc>
                <a:spcPct val="105000"/>
              </a:lnSpc>
              <a:spcBef>
                <a:spcPts val="0"/>
              </a:spcBef>
              <a:spcAft>
                <a:spcPts val="0"/>
              </a:spcAft>
            </a:pPr>
            <a:r>
              <a:rPr sz="600" b="1">
                <a:solidFill>
                  <a:srgbClr val="B51E2B"/>
                </a:solidFill>
                <a:latin typeface="Aptos"/>
              </a:rPr>
              <a:t>CLOSE</a:t>
            </a:r>
          </a:p>
        </p:txBody>
      </p:sp>
      <p:sp>
        <p:nvSpPr>
          <p:cNvPr id="20" name="TextBox 19"/>
          <p:cNvSpPr txBox="1"/>
          <p:nvPr/>
        </p:nvSpPr>
        <p:spPr>
          <a:xfrm>
            <a:off x="9458325" y="1666875"/>
            <a:ext cx="1857375" cy="276225"/>
          </a:xfrm>
          <a:prstGeom prst="rect">
            <a:avLst/>
          </a:prstGeom>
          <a:noFill/>
        </p:spPr>
        <p:txBody>
          <a:bodyPr wrap="square" lIns="0" rIns="0" tIns="0" bIns="0" anchor="t">
            <a:spAutoFit/>
          </a:bodyPr>
          <a:lstStyle/>
          <a:p>
            <a:pPr algn="ctr">
              <a:lnSpc>
                <a:spcPct val="105000"/>
              </a:lnSpc>
              <a:spcBef>
                <a:spcPts val="0"/>
              </a:spcBef>
              <a:spcAft>
                <a:spcPts val="0"/>
              </a:spcAft>
            </a:pPr>
            <a:r>
              <a:rPr sz="600" b="1">
                <a:solidFill>
                  <a:srgbClr val="B51E2B"/>
                </a:solidFill>
                <a:latin typeface="Aptos"/>
              </a:rPr>
              <a:t>INCIDENT BASE</a:t>
            </a:r>
          </a:p>
          <a:p>
            <a:pPr algn="ctr">
              <a:lnSpc>
                <a:spcPct val="105000"/>
              </a:lnSpc>
              <a:spcBef>
                <a:spcPts val="0"/>
              </a:spcBef>
              <a:spcAft>
                <a:spcPts val="0"/>
              </a:spcAft>
            </a:pPr>
            <a:r>
              <a:rPr sz="600" b="1">
                <a:solidFill>
                  <a:srgbClr val="B51E2B"/>
                </a:solidFill>
                <a:latin typeface="Aptos"/>
              </a:rPr>
              <a:t>CLOSE</a:t>
            </a:r>
          </a:p>
        </p:txBody>
      </p:sp>
      <p:sp>
        <p:nvSpPr>
          <p:cNvPr id="21" name="Rectangle 20"/>
          <p:cNvSpPr/>
          <p:nvPr/>
        </p:nvSpPr>
        <p:spPr>
          <a:xfrm>
            <a:off x="552450" y="1990725"/>
            <a:ext cx="10763250" cy="276225"/>
          </a:xfrm>
          <a:prstGeom prst="rect">
            <a:avLst/>
          </a:prstGeom>
          <a:solidFill>
            <a:srgbClr val="F8F8F6"/>
          </a:solidFill>
          <a:ln>
            <a:solidFill>
              <a:srgbClr val="F8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552450" y="2257425"/>
            <a:ext cx="10763250" cy="0"/>
          </a:xfrm>
          <a:prstGeom prst="line">
            <a:avLst/>
          </a:prstGeom>
          <a:ln w="7620">
            <a:solidFill>
              <a:srgbClr val="D8D7D2"/>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81025" y="2038349"/>
            <a:ext cx="1466850" cy="190500"/>
          </a:xfrm>
          <a:prstGeom prst="rect">
            <a:avLst/>
          </a:prstGeom>
          <a:noFill/>
        </p:spPr>
        <p:txBody>
          <a:bodyPr wrap="square" lIns="0" rIns="0" tIns="0" bIns="0" anchor="t">
            <a:spAutoFit/>
          </a:bodyPr>
          <a:lstStyle/>
          <a:p>
            <a:pPr algn="l">
              <a:lnSpc>
                <a:spcPct val="118000"/>
              </a:lnSpc>
              <a:spcBef>
                <a:spcPts val="0"/>
              </a:spcBef>
              <a:spcAft>
                <a:spcPts val="0"/>
              </a:spcAft>
            </a:pPr>
            <a:r>
              <a:rPr sz="675" b="1">
                <a:solidFill>
                  <a:srgbClr val="171717"/>
                </a:solidFill>
                <a:latin typeface="Aptos"/>
              </a:rPr>
              <a:t>14 Sep · open</a:t>
            </a:r>
          </a:p>
        </p:txBody>
      </p:sp>
      <p:sp>
        <p:nvSpPr>
          <p:cNvPr id="24" name="TextBox 23"/>
          <p:cNvSpPr txBox="1"/>
          <p:nvPr/>
        </p:nvSpPr>
        <p:spPr>
          <a:xfrm>
            <a:off x="2105025" y="2038349"/>
            <a:ext cx="1038225"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1">
                <a:solidFill>
                  <a:srgbClr val="171717"/>
                </a:solidFill>
                <a:latin typeface="Aptos"/>
              </a:rPr>
              <a:t>—</a:t>
            </a:r>
          </a:p>
        </p:txBody>
      </p:sp>
      <p:sp>
        <p:nvSpPr>
          <p:cNvPr id="25" name="TextBox 24"/>
          <p:cNvSpPr txBox="1"/>
          <p:nvPr/>
        </p:nvSpPr>
        <p:spPr>
          <a:xfrm>
            <a:off x="3200400" y="2038349"/>
            <a:ext cx="1038225"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1">
                <a:solidFill>
                  <a:srgbClr val="171717"/>
                </a:solidFill>
                <a:latin typeface="Aptos"/>
              </a:rPr>
              <a:t>—</a:t>
            </a:r>
          </a:p>
        </p:txBody>
      </p:sp>
      <p:sp>
        <p:nvSpPr>
          <p:cNvPr id="26" name="TextBox 25"/>
          <p:cNvSpPr txBox="1"/>
          <p:nvPr/>
        </p:nvSpPr>
        <p:spPr>
          <a:xfrm>
            <a:off x="4295775" y="2038349"/>
            <a:ext cx="1181100"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1">
                <a:solidFill>
                  <a:srgbClr val="171717"/>
                </a:solidFill>
                <a:latin typeface="Aptos"/>
              </a:rPr>
              <a:t>—</a:t>
            </a:r>
          </a:p>
        </p:txBody>
      </p:sp>
      <p:sp>
        <p:nvSpPr>
          <p:cNvPr id="27" name="TextBox 26"/>
          <p:cNvSpPr txBox="1"/>
          <p:nvPr/>
        </p:nvSpPr>
        <p:spPr>
          <a:xfrm>
            <a:off x="5534025" y="2038349"/>
            <a:ext cx="1181100"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1">
                <a:solidFill>
                  <a:srgbClr val="171717"/>
                </a:solidFill>
                <a:latin typeface="Aptos"/>
              </a:rPr>
              <a:t>—</a:t>
            </a:r>
          </a:p>
        </p:txBody>
      </p:sp>
      <p:sp>
        <p:nvSpPr>
          <p:cNvPr id="28" name="TextBox 27"/>
          <p:cNvSpPr txBox="1"/>
          <p:nvPr/>
        </p:nvSpPr>
        <p:spPr>
          <a:xfrm>
            <a:off x="6772275" y="2038349"/>
            <a:ext cx="1038225"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1">
                <a:solidFill>
                  <a:srgbClr val="171717"/>
                </a:solidFill>
                <a:latin typeface="Aptos"/>
              </a:rPr>
              <a:t>—</a:t>
            </a:r>
          </a:p>
        </p:txBody>
      </p:sp>
      <p:sp>
        <p:nvSpPr>
          <p:cNvPr id="29" name="TextBox 28"/>
          <p:cNvSpPr txBox="1"/>
          <p:nvPr/>
        </p:nvSpPr>
        <p:spPr>
          <a:xfrm>
            <a:off x="7867649" y="2038349"/>
            <a:ext cx="1562100"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1">
                <a:solidFill>
                  <a:srgbClr val="171717"/>
                </a:solidFill>
                <a:latin typeface="Aptos"/>
              </a:rPr>
              <a:t>1,000</a:t>
            </a:r>
          </a:p>
        </p:txBody>
      </p:sp>
      <p:sp>
        <p:nvSpPr>
          <p:cNvPr id="30" name="TextBox 29"/>
          <p:cNvSpPr txBox="1"/>
          <p:nvPr/>
        </p:nvSpPr>
        <p:spPr>
          <a:xfrm>
            <a:off x="9486900" y="2038349"/>
            <a:ext cx="1800225"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1">
                <a:solidFill>
                  <a:srgbClr val="171717"/>
                </a:solidFill>
                <a:latin typeface="Aptos"/>
              </a:rPr>
              <a:t>1,000</a:t>
            </a:r>
          </a:p>
        </p:txBody>
      </p:sp>
      <p:cxnSp>
        <p:nvCxnSpPr>
          <p:cNvPr id="31" name="Connector 30"/>
          <p:cNvCxnSpPr/>
          <p:nvPr/>
        </p:nvCxnSpPr>
        <p:spPr>
          <a:xfrm>
            <a:off x="552450" y="2562225"/>
            <a:ext cx="10763250" cy="0"/>
          </a:xfrm>
          <a:prstGeom prst="line">
            <a:avLst/>
          </a:prstGeom>
          <a:ln w="7620">
            <a:solidFill>
              <a:srgbClr val="D8D7D2"/>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81025" y="2343150"/>
            <a:ext cx="1466850" cy="190500"/>
          </a:xfrm>
          <a:prstGeom prst="rect">
            <a:avLst/>
          </a:prstGeom>
          <a:noFill/>
        </p:spPr>
        <p:txBody>
          <a:bodyPr wrap="square" lIns="0" rIns="0" tIns="0" bIns="0" anchor="t">
            <a:spAutoFit/>
          </a:bodyPr>
          <a:lstStyle/>
          <a:p>
            <a:pPr algn="l">
              <a:lnSpc>
                <a:spcPct val="118000"/>
              </a:lnSpc>
              <a:spcBef>
                <a:spcPts val="0"/>
              </a:spcBef>
              <a:spcAft>
                <a:spcPts val="0"/>
              </a:spcAft>
            </a:pPr>
            <a:r>
              <a:rPr sz="675" b="0">
                <a:solidFill>
                  <a:srgbClr val="171717"/>
                </a:solidFill>
                <a:latin typeface="Aptos"/>
              </a:rPr>
              <a:t>15 Sep</a:t>
            </a:r>
          </a:p>
        </p:txBody>
      </p:sp>
      <p:sp>
        <p:nvSpPr>
          <p:cNvPr id="33" name="TextBox 32"/>
          <p:cNvSpPr txBox="1"/>
          <p:nvPr/>
        </p:nvSpPr>
        <p:spPr>
          <a:xfrm>
            <a:off x="2105025" y="2343150"/>
            <a:ext cx="1038225"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120</a:t>
            </a:r>
          </a:p>
        </p:txBody>
      </p:sp>
      <p:sp>
        <p:nvSpPr>
          <p:cNvPr id="34" name="TextBox 33"/>
          <p:cNvSpPr txBox="1"/>
          <p:nvPr/>
        </p:nvSpPr>
        <p:spPr>
          <a:xfrm>
            <a:off x="3200400" y="2343150"/>
            <a:ext cx="1038225"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130</a:t>
            </a:r>
          </a:p>
        </p:txBody>
      </p:sp>
      <p:sp>
        <p:nvSpPr>
          <p:cNvPr id="35" name="TextBox 34"/>
          <p:cNvSpPr txBox="1"/>
          <p:nvPr/>
        </p:nvSpPr>
        <p:spPr>
          <a:xfrm>
            <a:off x="4295775" y="2343150"/>
            <a:ext cx="1181100"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55</a:t>
            </a:r>
          </a:p>
        </p:txBody>
      </p:sp>
      <p:sp>
        <p:nvSpPr>
          <p:cNvPr id="36" name="TextBox 35"/>
          <p:cNvSpPr txBox="1"/>
          <p:nvPr/>
        </p:nvSpPr>
        <p:spPr>
          <a:xfrm>
            <a:off x="5534025" y="2343150"/>
            <a:ext cx="1181100"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−20</a:t>
            </a:r>
          </a:p>
        </p:txBody>
      </p:sp>
      <p:sp>
        <p:nvSpPr>
          <p:cNvPr id="37" name="TextBox 36"/>
          <p:cNvSpPr txBox="1"/>
          <p:nvPr/>
        </p:nvSpPr>
        <p:spPr>
          <a:xfrm>
            <a:off x="6772275" y="2343150"/>
            <a:ext cx="1038225"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0</a:t>
            </a:r>
          </a:p>
        </p:txBody>
      </p:sp>
      <p:sp>
        <p:nvSpPr>
          <p:cNvPr id="38" name="TextBox 37"/>
          <p:cNvSpPr txBox="1"/>
          <p:nvPr/>
        </p:nvSpPr>
        <p:spPr>
          <a:xfrm>
            <a:off x="7867649" y="2343150"/>
            <a:ext cx="1562100"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990</a:t>
            </a:r>
          </a:p>
        </p:txBody>
      </p:sp>
      <p:sp>
        <p:nvSpPr>
          <p:cNvPr id="39" name="TextBox 38"/>
          <p:cNvSpPr txBox="1"/>
          <p:nvPr/>
        </p:nvSpPr>
        <p:spPr>
          <a:xfrm>
            <a:off x="9486900" y="2343150"/>
            <a:ext cx="1800225"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915</a:t>
            </a:r>
          </a:p>
        </p:txBody>
      </p:sp>
      <p:sp>
        <p:nvSpPr>
          <p:cNvPr id="40" name="Rectangle 39"/>
          <p:cNvSpPr/>
          <p:nvPr/>
        </p:nvSpPr>
        <p:spPr>
          <a:xfrm>
            <a:off x="552450" y="2600325"/>
            <a:ext cx="10763250" cy="276225"/>
          </a:xfrm>
          <a:prstGeom prst="rect">
            <a:avLst/>
          </a:prstGeom>
          <a:solidFill>
            <a:srgbClr val="F8F8F6"/>
          </a:solidFill>
          <a:ln>
            <a:solidFill>
              <a:srgbClr val="F8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552450" y="2867025"/>
            <a:ext cx="10763250" cy="0"/>
          </a:xfrm>
          <a:prstGeom prst="line">
            <a:avLst/>
          </a:prstGeom>
          <a:ln w="7620">
            <a:solidFill>
              <a:srgbClr val="D8D7D2"/>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81025" y="2647950"/>
            <a:ext cx="1466850" cy="190500"/>
          </a:xfrm>
          <a:prstGeom prst="rect">
            <a:avLst/>
          </a:prstGeom>
          <a:noFill/>
        </p:spPr>
        <p:txBody>
          <a:bodyPr wrap="square" lIns="0" rIns="0" tIns="0" bIns="0" anchor="t">
            <a:spAutoFit/>
          </a:bodyPr>
          <a:lstStyle/>
          <a:p>
            <a:pPr algn="l">
              <a:lnSpc>
                <a:spcPct val="118000"/>
              </a:lnSpc>
              <a:spcBef>
                <a:spcPts val="0"/>
              </a:spcBef>
              <a:spcAft>
                <a:spcPts val="0"/>
              </a:spcAft>
            </a:pPr>
            <a:r>
              <a:rPr sz="675" b="0">
                <a:solidFill>
                  <a:srgbClr val="171717"/>
                </a:solidFill>
                <a:latin typeface="Aptos"/>
              </a:rPr>
              <a:t>16 Sep</a:t>
            </a:r>
          </a:p>
        </p:txBody>
      </p:sp>
      <p:sp>
        <p:nvSpPr>
          <p:cNvPr id="43" name="TextBox 42"/>
          <p:cNvSpPr txBox="1"/>
          <p:nvPr/>
        </p:nvSpPr>
        <p:spPr>
          <a:xfrm>
            <a:off x="2105025" y="2647950"/>
            <a:ext cx="1038225"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90</a:t>
            </a:r>
          </a:p>
        </p:txBody>
      </p:sp>
      <p:sp>
        <p:nvSpPr>
          <p:cNvPr id="44" name="TextBox 43"/>
          <p:cNvSpPr txBox="1"/>
          <p:nvPr/>
        </p:nvSpPr>
        <p:spPr>
          <a:xfrm>
            <a:off x="3200400" y="2647950"/>
            <a:ext cx="1038225"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95</a:t>
            </a:r>
          </a:p>
        </p:txBody>
      </p:sp>
      <p:sp>
        <p:nvSpPr>
          <p:cNvPr id="45" name="TextBox 44"/>
          <p:cNvSpPr txBox="1"/>
          <p:nvPr/>
        </p:nvSpPr>
        <p:spPr>
          <a:xfrm>
            <a:off x="4295775" y="2647950"/>
            <a:ext cx="1181100"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80</a:t>
            </a:r>
          </a:p>
        </p:txBody>
      </p:sp>
      <p:sp>
        <p:nvSpPr>
          <p:cNvPr id="46" name="TextBox 45"/>
          <p:cNvSpPr txBox="1"/>
          <p:nvPr/>
        </p:nvSpPr>
        <p:spPr>
          <a:xfrm>
            <a:off x="5534025" y="2647950"/>
            <a:ext cx="1181100"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−25</a:t>
            </a:r>
          </a:p>
        </p:txBody>
      </p:sp>
      <p:sp>
        <p:nvSpPr>
          <p:cNvPr id="47" name="TextBox 46"/>
          <p:cNvSpPr txBox="1"/>
          <p:nvPr/>
        </p:nvSpPr>
        <p:spPr>
          <a:xfrm>
            <a:off x="6772275" y="2647950"/>
            <a:ext cx="1038225"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0</a:t>
            </a:r>
          </a:p>
        </p:txBody>
      </p:sp>
      <p:sp>
        <p:nvSpPr>
          <p:cNvPr id="48" name="TextBox 47"/>
          <p:cNvSpPr txBox="1"/>
          <p:nvPr/>
        </p:nvSpPr>
        <p:spPr>
          <a:xfrm>
            <a:off x="7867649" y="2647950"/>
            <a:ext cx="1562100"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985</a:t>
            </a:r>
          </a:p>
        </p:txBody>
      </p:sp>
      <p:sp>
        <p:nvSpPr>
          <p:cNvPr id="49" name="TextBox 48"/>
          <p:cNvSpPr txBox="1"/>
          <p:nvPr/>
        </p:nvSpPr>
        <p:spPr>
          <a:xfrm>
            <a:off x="9486900" y="2647950"/>
            <a:ext cx="1800225"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805</a:t>
            </a:r>
          </a:p>
        </p:txBody>
      </p:sp>
      <p:cxnSp>
        <p:nvCxnSpPr>
          <p:cNvPr id="50" name="Connector 49"/>
          <p:cNvCxnSpPr/>
          <p:nvPr/>
        </p:nvCxnSpPr>
        <p:spPr>
          <a:xfrm>
            <a:off x="552450" y="3171825"/>
            <a:ext cx="10763250" cy="0"/>
          </a:xfrm>
          <a:prstGeom prst="line">
            <a:avLst/>
          </a:prstGeom>
          <a:ln w="7620">
            <a:solidFill>
              <a:srgbClr val="D8D7D2"/>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81025" y="2952750"/>
            <a:ext cx="1466850" cy="190500"/>
          </a:xfrm>
          <a:prstGeom prst="rect">
            <a:avLst/>
          </a:prstGeom>
          <a:noFill/>
        </p:spPr>
        <p:txBody>
          <a:bodyPr wrap="square" lIns="0" rIns="0" tIns="0" bIns="0" anchor="t">
            <a:spAutoFit/>
          </a:bodyPr>
          <a:lstStyle/>
          <a:p>
            <a:pPr algn="l">
              <a:lnSpc>
                <a:spcPct val="118000"/>
              </a:lnSpc>
              <a:spcBef>
                <a:spcPts val="0"/>
              </a:spcBef>
              <a:spcAft>
                <a:spcPts val="0"/>
              </a:spcAft>
            </a:pPr>
            <a:r>
              <a:rPr sz="675" b="0">
                <a:solidFill>
                  <a:srgbClr val="171717"/>
                </a:solidFill>
                <a:latin typeface="Aptos"/>
              </a:rPr>
              <a:t>17 Sep</a:t>
            </a:r>
          </a:p>
        </p:txBody>
      </p:sp>
      <p:sp>
        <p:nvSpPr>
          <p:cNvPr id="52" name="TextBox 51"/>
          <p:cNvSpPr txBox="1"/>
          <p:nvPr/>
        </p:nvSpPr>
        <p:spPr>
          <a:xfrm>
            <a:off x="2105025" y="2952750"/>
            <a:ext cx="1038225"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110</a:t>
            </a:r>
          </a:p>
        </p:txBody>
      </p:sp>
      <p:sp>
        <p:nvSpPr>
          <p:cNvPr id="53" name="TextBox 52"/>
          <p:cNvSpPr txBox="1"/>
          <p:nvPr/>
        </p:nvSpPr>
        <p:spPr>
          <a:xfrm>
            <a:off x="3200400" y="2952750"/>
            <a:ext cx="1038225"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105</a:t>
            </a:r>
          </a:p>
        </p:txBody>
      </p:sp>
      <p:sp>
        <p:nvSpPr>
          <p:cNvPr id="54" name="TextBox 53"/>
          <p:cNvSpPr txBox="1"/>
          <p:nvPr/>
        </p:nvSpPr>
        <p:spPr>
          <a:xfrm>
            <a:off x="4295775" y="2952750"/>
            <a:ext cx="1181100"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45</a:t>
            </a:r>
          </a:p>
        </p:txBody>
      </p:sp>
      <p:sp>
        <p:nvSpPr>
          <p:cNvPr id="55" name="TextBox 54"/>
          <p:cNvSpPr txBox="1"/>
          <p:nvPr/>
        </p:nvSpPr>
        <p:spPr>
          <a:xfrm>
            <a:off x="5534025" y="2952750"/>
            <a:ext cx="1181100"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+10</a:t>
            </a:r>
          </a:p>
        </p:txBody>
      </p:sp>
      <p:sp>
        <p:nvSpPr>
          <p:cNvPr id="56" name="TextBox 55"/>
          <p:cNvSpPr txBox="1"/>
          <p:nvPr/>
        </p:nvSpPr>
        <p:spPr>
          <a:xfrm>
            <a:off x="6772275" y="2952750"/>
            <a:ext cx="1038225"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0</a:t>
            </a:r>
          </a:p>
        </p:txBody>
      </p:sp>
      <p:sp>
        <p:nvSpPr>
          <p:cNvPr id="57" name="TextBox 56"/>
          <p:cNvSpPr txBox="1"/>
          <p:nvPr/>
        </p:nvSpPr>
        <p:spPr>
          <a:xfrm>
            <a:off x="7867649" y="2952750"/>
            <a:ext cx="1562100"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990</a:t>
            </a:r>
          </a:p>
        </p:txBody>
      </p:sp>
      <p:sp>
        <p:nvSpPr>
          <p:cNvPr id="58" name="TextBox 57"/>
          <p:cNvSpPr txBox="1"/>
          <p:nvPr/>
        </p:nvSpPr>
        <p:spPr>
          <a:xfrm>
            <a:off x="9486900" y="2952750"/>
            <a:ext cx="1800225"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775</a:t>
            </a:r>
          </a:p>
        </p:txBody>
      </p:sp>
      <p:sp>
        <p:nvSpPr>
          <p:cNvPr id="59" name="Rectangle 58"/>
          <p:cNvSpPr/>
          <p:nvPr/>
        </p:nvSpPr>
        <p:spPr>
          <a:xfrm>
            <a:off x="552450" y="3209925"/>
            <a:ext cx="10763250" cy="276225"/>
          </a:xfrm>
          <a:prstGeom prst="rect">
            <a:avLst/>
          </a:prstGeom>
          <a:solidFill>
            <a:srgbClr val="F8F8F6"/>
          </a:solidFill>
          <a:ln>
            <a:solidFill>
              <a:srgbClr val="F8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0" name="Connector 59"/>
          <p:cNvCxnSpPr/>
          <p:nvPr/>
        </p:nvCxnSpPr>
        <p:spPr>
          <a:xfrm>
            <a:off x="552450" y="3476625"/>
            <a:ext cx="10763250" cy="0"/>
          </a:xfrm>
          <a:prstGeom prst="line">
            <a:avLst/>
          </a:prstGeom>
          <a:ln w="7620">
            <a:solidFill>
              <a:srgbClr val="D8D7D2"/>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581025" y="3257550"/>
            <a:ext cx="1466850" cy="190500"/>
          </a:xfrm>
          <a:prstGeom prst="rect">
            <a:avLst/>
          </a:prstGeom>
          <a:noFill/>
        </p:spPr>
        <p:txBody>
          <a:bodyPr wrap="square" lIns="0" rIns="0" tIns="0" bIns="0" anchor="t">
            <a:spAutoFit/>
          </a:bodyPr>
          <a:lstStyle/>
          <a:p>
            <a:pPr algn="l">
              <a:lnSpc>
                <a:spcPct val="118000"/>
              </a:lnSpc>
              <a:spcBef>
                <a:spcPts val="0"/>
              </a:spcBef>
              <a:spcAft>
                <a:spcPts val="0"/>
              </a:spcAft>
            </a:pPr>
            <a:r>
              <a:rPr sz="675" b="0">
                <a:solidFill>
                  <a:srgbClr val="171717"/>
                </a:solidFill>
                <a:latin typeface="Aptos"/>
              </a:rPr>
              <a:t>18 Sep</a:t>
            </a:r>
          </a:p>
        </p:txBody>
      </p:sp>
      <p:sp>
        <p:nvSpPr>
          <p:cNvPr id="62" name="TextBox 61"/>
          <p:cNvSpPr txBox="1"/>
          <p:nvPr/>
        </p:nvSpPr>
        <p:spPr>
          <a:xfrm>
            <a:off x="2105025" y="3257550"/>
            <a:ext cx="1038225"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100</a:t>
            </a:r>
          </a:p>
        </p:txBody>
      </p:sp>
      <p:sp>
        <p:nvSpPr>
          <p:cNvPr id="63" name="TextBox 62"/>
          <p:cNvSpPr txBox="1"/>
          <p:nvPr/>
        </p:nvSpPr>
        <p:spPr>
          <a:xfrm>
            <a:off x="3200400" y="3257550"/>
            <a:ext cx="1038225"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105</a:t>
            </a:r>
          </a:p>
        </p:txBody>
      </p:sp>
      <p:sp>
        <p:nvSpPr>
          <p:cNvPr id="64" name="TextBox 63"/>
          <p:cNvSpPr txBox="1"/>
          <p:nvPr/>
        </p:nvSpPr>
        <p:spPr>
          <a:xfrm>
            <a:off x="4295775" y="3257550"/>
            <a:ext cx="1181100"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20</a:t>
            </a:r>
          </a:p>
        </p:txBody>
      </p:sp>
      <p:sp>
        <p:nvSpPr>
          <p:cNvPr id="65" name="TextBox 64"/>
          <p:cNvSpPr txBox="1"/>
          <p:nvPr/>
        </p:nvSpPr>
        <p:spPr>
          <a:xfrm>
            <a:off x="5534025" y="3257550"/>
            <a:ext cx="1181100"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+15</a:t>
            </a:r>
          </a:p>
        </p:txBody>
      </p:sp>
      <p:sp>
        <p:nvSpPr>
          <p:cNvPr id="66" name="TextBox 65"/>
          <p:cNvSpPr txBox="1"/>
          <p:nvPr/>
        </p:nvSpPr>
        <p:spPr>
          <a:xfrm>
            <a:off x="6772275" y="3257550"/>
            <a:ext cx="1038225"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0</a:t>
            </a:r>
          </a:p>
        </p:txBody>
      </p:sp>
      <p:sp>
        <p:nvSpPr>
          <p:cNvPr id="67" name="TextBox 66"/>
          <p:cNvSpPr txBox="1"/>
          <p:nvPr/>
        </p:nvSpPr>
        <p:spPr>
          <a:xfrm>
            <a:off x="7867649" y="3257550"/>
            <a:ext cx="1562100"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985</a:t>
            </a:r>
          </a:p>
        </p:txBody>
      </p:sp>
      <p:sp>
        <p:nvSpPr>
          <p:cNvPr id="68" name="TextBox 67"/>
          <p:cNvSpPr txBox="1"/>
          <p:nvPr/>
        </p:nvSpPr>
        <p:spPr>
          <a:xfrm>
            <a:off x="9486900" y="3257550"/>
            <a:ext cx="1800225"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765</a:t>
            </a:r>
          </a:p>
        </p:txBody>
      </p:sp>
      <p:cxnSp>
        <p:nvCxnSpPr>
          <p:cNvPr id="69" name="Connector 68"/>
          <p:cNvCxnSpPr/>
          <p:nvPr/>
        </p:nvCxnSpPr>
        <p:spPr>
          <a:xfrm>
            <a:off x="552450" y="3781425"/>
            <a:ext cx="10763250" cy="0"/>
          </a:xfrm>
          <a:prstGeom prst="line">
            <a:avLst/>
          </a:prstGeom>
          <a:ln w="7620">
            <a:solidFill>
              <a:srgbClr val="D8D7D2"/>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581025" y="3562350"/>
            <a:ext cx="1466850" cy="190500"/>
          </a:xfrm>
          <a:prstGeom prst="rect">
            <a:avLst/>
          </a:prstGeom>
          <a:noFill/>
        </p:spPr>
        <p:txBody>
          <a:bodyPr wrap="square" lIns="0" rIns="0" tIns="0" bIns="0" anchor="t">
            <a:spAutoFit/>
          </a:bodyPr>
          <a:lstStyle/>
          <a:p>
            <a:pPr algn="l">
              <a:lnSpc>
                <a:spcPct val="118000"/>
              </a:lnSpc>
              <a:spcBef>
                <a:spcPts val="0"/>
              </a:spcBef>
              <a:spcAft>
                <a:spcPts val="0"/>
              </a:spcAft>
            </a:pPr>
            <a:r>
              <a:rPr sz="675" b="0">
                <a:solidFill>
                  <a:srgbClr val="171717"/>
                </a:solidFill>
                <a:latin typeface="Aptos"/>
              </a:rPr>
              <a:t>19 Sep</a:t>
            </a:r>
          </a:p>
        </p:txBody>
      </p:sp>
      <p:sp>
        <p:nvSpPr>
          <p:cNvPr id="71" name="TextBox 70"/>
          <p:cNvSpPr txBox="1"/>
          <p:nvPr/>
        </p:nvSpPr>
        <p:spPr>
          <a:xfrm>
            <a:off x="2105025" y="3562350"/>
            <a:ext cx="1038225"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90</a:t>
            </a:r>
          </a:p>
        </p:txBody>
      </p:sp>
      <p:sp>
        <p:nvSpPr>
          <p:cNvPr id="72" name="TextBox 71"/>
          <p:cNvSpPr txBox="1"/>
          <p:nvPr/>
        </p:nvSpPr>
        <p:spPr>
          <a:xfrm>
            <a:off x="3200400" y="3562350"/>
            <a:ext cx="1038225"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88</a:t>
            </a:r>
          </a:p>
        </p:txBody>
      </p:sp>
      <p:sp>
        <p:nvSpPr>
          <p:cNvPr id="73" name="TextBox 72"/>
          <p:cNvSpPr txBox="1"/>
          <p:nvPr/>
        </p:nvSpPr>
        <p:spPr>
          <a:xfrm>
            <a:off x="4295775" y="3562350"/>
            <a:ext cx="1181100"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5</a:t>
            </a:r>
          </a:p>
        </p:txBody>
      </p:sp>
      <p:sp>
        <p:nvSpPr>
          <p:cNvPr id="74" name="TextBox 73"/>
          <p:cNvSpPr txBox="1"/>
          <p:nvPr/>
        </p:nvSpPr>
        <p:spPr>
          <a:xfrm>
            <a:off x="5534025" y="3562350"/>
            <a:ext cx="1181100"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+10</a:t>
            </a:r>
          </a:p>
        </p:txBody>
      </p:sp>
      <p:sp>
        <p:nvSpPr>
          <p:cNvPr id="75" name="TextBox 74"/>
          <p:cNvSpPr txBox="1"/>
          <p:nvPr/>
        </p:nvSpPr>
        <p:spPr>
          <a:xfrm>
            <a:off x="6772275" y="3562350"/>
            <a:ext cx="1038225"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0</a:t>
            </a:r>
          </a:p>
        </p:txBody>
      </p:sp>
      <p:sp>
        <p:nvSpPr>
          <p:cNvPr id="76" name="TextBox 75"/>
          <p:cNvSpPr txBox="1"/>
          <p:nvPr/>
        </p:nvSpPr>
        <p:spPr>
          <a:xfrm>
            <a:off x="7867649" y="3562350"/>
            <a:ext cx="1562100"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987</a:t>
            </a:r>
          </a:p>
        </p:txBody>
      </p:sp>
      <p:sp>
        <p:nvSpPr>
          <p:cNvPr id="77" name="TextBox 76"/>
          <p:cNvSpPr txBox="1"/>
          <p:nvPr/>
        </p:nvSpPr>
        <p:spPr>
          <a:xfrm>
            <a:off x="9486900" y="3562350"/>
            <a:ext cx="1800225"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772</a:t>
            </a:r>
          </a:p>
        </p:txBody>
      </p:sp>
      <p:sp>
        <p:nvSpPr>
          <p:cNvPr id="78" name="Rectangle 77"/>
          <p:cNvSpPr/>
          <p:nvPr/>
        </p:nvSpPr>
        <p:spPr>
          <a:xfrm>
            <a:off x="552450" y="3819524"/>
            <a:ext cx="10763250" cy="276225"/>
          </a:xfrm>
          <a:prstGeom prst="rect">
            <a:avLst/>
          </a:prstGeom>
          <a:solidFill>
            <a:srgbClr val="F8F8F6"/>
          </a:solidFill>
          <a:ln>
            <a:solidFill>
              <a:srgbClr val="F8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9" name="Connector 78"/>
          <p:cNvCxnSpPr/>
          <p:nvPr/>
        </p:nvCxnSpPr>
        <p:spPr>
          <a:xfrm>
            <a:off x="552450" y="4086225"/>
            <a:ext cx="10763250" cy="0"/>
          </a:xfrm>
          <a:prstGeom prst="line">
            <a:avLst/>
          </a:prstGeom>
          <a:ln w="7620">
            <a:solidFill>
              <a:srgbClr val="D8D7D2"/>
            </a:solidFill>
          </a:ln>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581025" y="3867150"/>
            <a:ext cx="1466850" cy="190500"/>
          </a:xfrm>
          <a:prstGeom prst="rect">
            <a:avLst/>
          </a:prstGeom>
          <a:noFill/>
        </p:spPr>
        <p:txBody>
          <a:bodyPr wrap="square" lIns="0" rIns="0" tIns="0" bIns="0" anchor="t">
            <a:spAutoFit/>
          </a:bodyPr>
          <a:lstStyle/>
          <a:p>
            <a:pPr algn="l">
              <a:lnSpc>
                <a:spcPct val="118000"/>
              </a:lnSpc>
              <a:spcBef>
                <a:spcPts val="0"/>
              </a:spcBef>
              <a:spcAft>
                <a:spcPts val="0"/>
              </a:spcAft>
            </a:pPr>
            <a:r>
              <a:rPr sz="675" b="0">
                <a:solidFill>
                  <a:srgbClr val="171717"/>
                </a:solidFill>
                <a:latin typeface="Aptos"/>
              </a:rPr>
              <a:t>20 Sep</a:t>
            </a:r>
          </a:p>
        </p:txBody>
      </p:sp>
      <p:sp>
        <p:nvSpPr>
          <p:cNvPr id="81" name="TextBox 80"/>
          <p:cNvSpPr txBox="1"/>
          <p:nvPr/>
        </p:nvSpPr>
        <p:spPr>
          <a:xfrm>
            <a:off x="2105025" y="3867150"/>
            <a:ext cx="1038225"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95</a:t>
            </a:r>
          </a:p>
        </p:txBody>
      </p:sp>
      <p:sp>
        <p:nvSpPr>
          <p:cNvPr id="82" name="TextBox 81"/>
          <p:cNvSpPr txBox="1"/>
          <p:nvPr/>
        </p:nvSpPr>
        <p:spPr>
          <a:xfrm>
            <a:off x="3200400" y="3867150"/>
            <a:ext cx="1038225"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98</a:t>
            </a:r>
          </a:p>
        </p:txBody>
      </p:sp>
      <p:sp>
        <p:nvSpPr>
          <p:cNvPr id="83" name="TextBox 82"/>
          <p:cNvSpPr txBox="1"/>
          <p:nvPr/>
        </p:nvSpPr>
        <p:spPr>
          <a:xfrm>
            <a:off x="4295775" y="3867150"/>
            <a:ext cx="1181100"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15</a:t>
            </a:r>
          </a:p>
        </p:txBody>
      </p:sp>
      <p:sp>
        <p:nvSpPr>
          <p:cNvPr id="84" name="TextBox 83"/>
          <p:cNvSpPr txBox="1"/>
          <p:nvPr/>
        </p:nvSpPr>
        <p:spPr>
          <a:xfrm>
            <a:off x="5534025" y="3867150"/>
            <a:ext cx="1181100"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+20</a:t>
            </a:r>
          </a:p>
        </p:txBody>
      </p:sp>
      <p:sp>
        <p:nvSpPr>
          <p:cNvPr id="85" name="TextBox 84"/>
          <p:cNvSpPr txBox="1"/>
          <p:nvPr/>
        </p:nvSpPr>
        <p:spPr>
          <a:xfrm>
            <a:off x="6772275" y="3867150"/>
            <a:ext cx="1038225"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0</a:t>
            </a:r>
          </a:p>
        </p:txBody>
      </p:sp>
      <p:sp>
        <p:nvSpPr>
          <p:cNvPr id="86" name="TextBox 85"/>
          <p:cNvSpPr txBox="1"/>
          <p:nvPr/>
        </p:nvSpPr>
        <p:spPr>
          <a:xfrm>
            <a:off x="7867649" y="3867150"/>
            <a:ext cx="1562100"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984</a:t>
            </a:r>
          </a:p>
        </p:txBody>
      </p:sp>
      <p:sp>
        <p:nvSpPr>
          <p:cNvPr id="87" name="TextBox 86"/>
          <p:cNvSpPr txBox="1"/>
          <p:nvPr/>
        </p:nvSpPr>
        <p:spPr>
          <a:xfrm>
            <a:off x="9486900" y="3867150"/>
            <a:ext cx="1800225"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774</a:t>
            </a:r>
          </a:p>
        </p:txBody>
      </p:sp>
      <p:cxnSp>
        <p:nvCxnSpPr>
          <p:cNvPr id="88" name="Connector 87"/>
          <p:cNvCxnSpPr/>
          <p:nvPr/>
        </p:nvCxnSpPr>
        <p:spPr>
          <a:xfrm>
            <a:off x="552450" y="4391025"/>
            <a:ext cx="10763250" cy="0"/>
          </a:xfrm>
          <a:prstGeom prst="line">
            <a:avLst/>
          </a:prstGeom>
          <a:ln w="7620">
            <a:solidFill>
              <a:srgbClr val="D8D7D2"/>
            </a:solidFill>
          </a:ln>
        </p:spPr>
        <p:style>
          <a:lnRef idx="2">
            <a:schemeClr val="accent1"/>
          </a:lnRef>
          <a:fillRef idx="0">
            <a:schemeClr val="accent1"/>
          </a:fillRef>
          <a:effectRef idx="1">
            <a:schemeClr val="accent1"/>
          </a:effectRef>
          <a:fontRef idx="minor">
            <a:schemeClr val="tx1"/>
          </a:fontRef>
        </p:style>
      </p:cxnSp>
      <p:sp>
        <p:nvSpPr>
          <p:cNvPr id="89" name="TextBox 88"/>
          <p:cNvSpPr txBox="1"/>
          <p:nvPr/>
        </p:nvSpPr>
        <p:spPr>
          <a:xfrm>
            <a:off x="581025" y="4171950"/>
            <a:ext cx="1466850" cy="190500"/>
          </a:xfrm>
          <a:prstGeom prst="rect">
            <a:avLst/>
          </a:prstGeom>
          <a:noFill/>
        </p:spPr>
        <p:txBody>
          <a:bodyPr wrap="square" lIns="0" rIns="0" tIns="0" bIns="0" anchor="t">
            <a:spAutoFit/>
          </a:bodyPr>
          <a:lstStyle/>
          <a:p>
            <a:pPr algn="l">
              <a:lnSpc>
                <a:spcPct val="118000"/>
              </a:lnSpc>
              <a:spcBef>
                <a:spcPts val="0"/>
              </a:spcBef>
              <a:spcAft>
                <a:spcPts val="0"/>
              </a:spcAft>
            </a:pPr>
            <a:r>
              <a:rPr sz="675" b="0">
                <a:solidFill>
                  <a:srgbClr val="171717"/>
                </a:solidFill>
                <a:latin typeface="Aptos"/>
              </a:rPr>
              <a:t>21–30 Sep</a:t>
            </a:r>
          </a:p>
        </p:txBody>
      </p:sp>
      <p:sp>
        <p:nvSpPr>
          <p:cNvPr id="90" name="TextBox 89"/>
          <p:cNvSpPr txBox="1"/>
          <p:nvPr/>
        </p:nvSpPr>
        <p:spPr>
          <a:xfrm>
            <a:off x="2105025" y="4171950"/>
            <a:ext cx="1038225"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500</a:t>
            </a:r>
          </a:p>
        </p:txBody>
      </p:sp>
      <p:sp>
        <p:nvSpPr>
          <p:cNvPr id="91" name="TextBox 90"/>
          <p:cNvSpPr txBox="1"/>
          <p:nvPr/>
        </p:nvSpPr>
        <p:spPr>
          <a:xfrm>
            <a:off x="3200400" y="4171950"/>
            <a:ext cx="1038225"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480</a:t>
            </a:r>
          </a:p>
        </p:txBody>
      </p:sp>
      <p:sp>
        <p:nvSpPr>
          <p:cNvPr id="92" name="TextBox 91"/>
          <p:cNvSpPr txBox="1"/>
          <p:nvPr/>
        </p:nvSpPr>
        <p:spPr>
          <a:xfrm>
            <a:off x="4295775" y="4171950"/>
            <a:ext cx="1181100"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50</a:t>
            </a:r>
          </a:p>
        </p:txBody>
      </p:sp>
      <p:sp>
        <p:nvSpPr>
          <p:cNvPr id="93" name="TextBox 92"/>
          <p:cNvSpPr txBox="1"/>
          <p:nvPr/>
        </p:nvSpPr>
        <p:spPr>
          <a:xfrm>
            <a:off x="5534025" y="4171950"/>
            <a:ext cx="1181100"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+30</a:t>
            </a:r>
          </a:p>
        </p:txBody>
      </p:sp>
      <p:sp>
        <p:nvSpPr>
          <p:cNvPr id="94" name="TextBox 93"/>
          <p:cNvSpPr txBox="1"/>
          <p:nvPr/>
        </p:nvSpPr>
        <p:spPr>
          <a:xfrm>
            <a:off x="6772275" y="4171950"/>
            <a:ext cx="1038225"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5</a:t>
            </a:r>
          </a:p>
        </p:txBody>
      </p:sp>
      <p:sp>
        <p:nvSpPr>
          <p:cNvPr id="95" name="TextBox 94"/>
          <p:cNvSpPr txBox="1"/>
          <p:nvPr/>
        </p:nvSpPr>
        <p:spPr>
          <a:xfrm>
            <a:off x="7867649" y="4171950"/>
            <a:ext cx="1562100"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1,004</a:t>
            </a:r>
          </a:p>
        </p:txBody>
      </p:sp>
      <p:sp>
        <p:nvSpPr>
          <p:cNvPr id="96" name="TextBox 95"/>
          <p:cNvSpPr txBox="1"/>
          <p:nvPr/>
        </p:nvSpPr>
        <p:spPr>
          <a:xfrm>
            <a:off x="9486900" y="4171950"/>
            <a:ext cx="1800225"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769</a:t>
            </a:r>
          </a:p>
        </p:txBody>
      </p:sp>
      <p:sp>
        <p:nvSpPr>
          <p:cNvPr id="97" name="Rectangle 96"/>
          <p:cNvSpPr/>
          <p:nvPr/>
        </p:nvSpPr>
        <p:spPr>
          <a:xfrm>
            <a:off x="552450" y="4429125"/>
            <a:ext cx="10763250" cy="276225"/>
          </a:xfrm>
          <a:prstGeom prst="rect">
            <a:avLst/>
          </a:prstGeom>
          <a:solidFill>
            <a:srgbClr val="F8F8F6"/>
          </a:solidFill>
          <a:ln>
            <a:solidFill>
              <a:srgbClr val="F8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8" name="Connector 97"/>
          <p:cNvCxnSpPr/>
          <p:nvPr/>
        </p:nvCxnSpPr>
        <p:spPr>
          <a:xfrm>
            <a:off x="552450" y="4695825"/>
            <a:ext cx="10763250" cy="0"/>
          </a:xfrm>
          <a:prstGeom prst="line">
            <a:avLst/>
          </a:prstGeom>
          <a:ln w="7620">
            <a:solidFill>
              <a:srgbClr val="D8D7D2"/>
            </a:solidFill>
          </a:ln>
        </p:spPr>
        <p:style>
          <a:lnRef idx="2">
            <a:schemeClr val="accent1"/>
          </a:lnRef>
          <a:fillRef idx="0">
            <a:schemeClr val="accent1"/>
          </a:fillRef>
          <a:effectRef idx="1">
            <a:schemeClr val="accent1"/>
          </a:effectRef>
          <a:fontRef idx="minor">
            <a:schemeClr val="tx1"/>
          </a:fontRef>
        </p:style>
      </p:cxnSp>
      <p:sp>
        <p:nvSpPr>
          <p:cNvPr id="99" name="TextBox 98"/>
          <p:cNvSpPr txBox="1"/>
          <p:nvPr/>
        </p:nvSpPr>
        <p:spPr>
          <a:xfrm>
            <a:off x="581025" y="4476750"/>
            <a:ext cx="1466850" cy="190500"/>
          </a:xfrm>
          <a:prstGeom prst="rect">
            <a:avLst/>
          </a:prstGeom>
          <a:noFill/>
        </p:spPr>
        <p:txBody>
          <a:bodyPr wrap="square" lIns="0" rIns="0" tIns="0" bIns="0" anchor="t">
            <a:spAutoFit/>
          </a:bodyPr>
          <a:lstStyle/>
          <a:p>
            <a:pPr algn="l">
              <a:lnSpc>
                <a:spcPct val="118000"/>
              </a:lnSpc>
              <a:spcBef>
                <a:spcPts val="0"/>
              </a:spcBef>
              <a:spcAft>
                <a:spcPts val="0"/>
              </a:spcAft>
            </a:pPr>
            <a:r>
              <a:rPr sz="675" b="0">
                <a:solidFill>
                  <a:srgbClr val="171717"/>
                </a:solidFill>
                <a:latin typeface="Aptos"/>
              </a:rPr>
              <a:t>October</a:t>
            </a:r>
          </a:p>
        </p:txBody>
      </p:sp>
      <p:sp>
        <p:nvSpPr>
          <p:cNvPr id="100" name="TextBox 99"/>
          <p:cNvSpPr txBox="1"/>
          <p:nvPr/>
        </p:nvSpPr>
        <p:spPr>
          <a:xfrm>
            <a:off x="2105025" y="4476750"/>
            <a:ext cx="1038225"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1,800</a:t>
            </a:r>
          </a:p>
        </p:txBody>
      </p:sp>
      <p:sp>
        <p:nvSpPr>
          <p:cNvPr id="101" name="TextBox 100"/>
          <p:cNvSpPr txBox="1"/>
          <p:nvPr/>
        </p:nvSpPr>
        <p:spPr>
          <a:xfrm>
            <a:off x="3200400" y="4476750"/>
            <a:ext cx="1038225"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1,700</a:t>
            </a:r>
          </a:p>
        </p:txBody>
      </p:sp>
      <p:sp>
        <p:nvSpPr>
          <p:cNvPr id="102" name="TextBox 101"/>
          <p:cNvSpPr txBox="1"/>
          <p:nvPr/>
        </p:nvSpPr>
        <p:spPr>
          <a:xfrm>
            <a:off x="4295775" y="4476750"/>
            <a:ext cx="1181100"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50</a:t>
            </a:r>
          </a:p>
        </p:txBody>
      </p:sp>
      <p:sp>
        <p:nvSpPr>
          <p:cNvPr id="103" name="TextBox 102"/>
          <p:cNvSpPr txBox="1"/>
          <p:nvPr/>
        </p:nvSpPr>
        <p:spPr>
          <a:xfrm>
            <a:off x="5534025" y="4476750"/>
            <a:ext cx="1181100"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+100</a:t>
            </a:r>
          </a:p>
        </p:txBody>
      </p:sp>
      <p:sp>
        <p:nvSpPr>
          <p:cNvPr id="104" name="TextBox 103"/>
          <p:cNvSpPr txBox="1"/>
          <p:nvPr/>
        </p:nvSpPr>
        <p:spPr>
          <a:xfrm>
            <a:off x="6772275" y="4476750"/>
            <a:ext cx="1038225"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10</a:t>
            </a:r>
          </a:p>
        </p:txBody>
      </p:sp>
      <p:sp>
        <p:nvSpPr>
          <p:cNvPr id="105" name="TextBox 104"/>
          <p:cNvSpPr txBox="1"/>
          <p:nvPr/>
        </p:nvSpPr>
        <p:spPr>
          <a:xfrm>
            <a:off x="7867649" y="4476750"/>
            <a:ext cx="1562100"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1,104</a:t>
            </a:r>
          </a:p>
        </p:txBody>
      </p:sp>
      <p:sp>
        <p:nvSpPr>
          <p:cNvPr id="106" name="TextBox 105"/>
          <p:cNvSpPr txBox="1"/>
          <p:nvPr/>
        </p:nvSpPr>
        <p:spPr>
          <a:xfrm>
            <a:off x="9486900" y="4476750"/>
            <a:ext cx="1800225"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909</a:t>
            </a:r>
          </a:p>
        </p:txBody>
      </p:sp>
      <p:cxnSp>
        <p:nvCxnSpPr>
          <p:cNvPr id="107" name="Connector 106"/>
          <p:cNvCxnSpPr/>
          <p:nvPr/>
        </p:nvCxnSpPr>
        <p:spPr>
          <a:xfrm>
            <a:off x="552450" y="5000625"/>
            <a:ext cx="10763250" cy="0"/>
          </a:xfrm>
          <a:prstGeom prst="line">
            <a:avLst/>
          </a:prstGeom>
          <a:ln w="7620">
            <a:solidFill>
              <a:srgbClr val="D8D7D2"/>
            </a:solidFill>
          </a:ln>
        </p:spPr>
        <p:style>
          <a:lnRef idx="2">
            <a:schemeClr val="accent1"/>
          </a:lnRef>
          <a:fillRef idx="0">
            <a:schemeClr val="accent1"/>
          </a:fillRef>
          <a:effectRef idx="1">
            <a:schemeClr val="accent1"/>
          </a:effectRef>
          <a:fontRef idx="minor">
            <a:schemeClr val="tx1"/>
          </a:fontRef>
        </p:style>
      </p:cxnSp>
      <p:sp>
        <p:nvSpPr>
          <p:cNvPr id="108" name="TextBox 107"/>
          <p:cNvSpPr txBox="1"/>
          <p:nvPr/>
        </p:nvSpPr>
        <p:spPr>
          <a:xfrm>
            <a:off x="581025" y="4781550"/>
            <a:ext cx="1466850" cy="190500"/>
          </a:xfrm>
          <a:prstGeom prst="rect">
            <a:avLst/>
          </a:prstGeom>
          <a:noFill/>
        </p:spPr>
        <p:txBody>
          <a:bodyPr wrap="square" lIns="0" rIns="0" tIns="0" bIns="0" anchor="t">
            <a:spAutoFit/>
          </a:bodyPr>
          <a:lstStyle/>
          <a:p>
            <a:pPr algn="l">
              <a:lnSpc>
                <a:spcPct val="118000"/>
              </a:lnSpc>
              <a:spcBef>
                <a:spcPts val="0"/>
              </a:spcBef>
              <a:spcAft>
                <a:spcPts val="0"/>
              </a:spcAft>
            </a:pPr>
            <a:r>
              <a:rPr sz="675" b="0">
                <a:solidFill>
                  <a:srgbClr val="171717"/>
                </a:solidFill>
                <a:latin typeface="Aptos"/>
              </a:rPr>
              <a:t>November</a:t>
            </a:r>
          </a:p>
        </p:txBody>
      </p:sp>
      <p:sp>
        <p:nvSpPr>
          <p:cNvPr id="109" name="TextBox 108"/>
          <p:cNvSpPr txBox="1"/>
          <p:nvPr/>
        </p:nvSpPr>
        <p:spPr>
          <a:xfrm>
            <a:off x="2105025" y="4781550"/>
            <a:ext cx="1038225"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1,600</a:t>
            </a:r>
          </a:p>
        </p:txBody>
      </p:sp>
      <p:sp>
        <p:nvSpPr>
          <p:cNvPr id="110" name="TextBox 109"/>
          <p:cNvSpPr txBox="1"/>
          <p:nvPr/>
        </p:nvSpPr>
        <p:spPr>
          <a:xfrm>
            <a:off x="3200400" y="4781550"/>
            <a:ext cx="1038225"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1,650</a:t>
            </a:r>
          </a:p>
        </p:txBody>
      </p:sp>
      <p:sp>
        <p:nvSpPr>
          <p:cNvPr id="111" name="TextBox 110"/>
          <p:cNvSpPr txBox="1"/>
          <p:nvPr/>
        </p:nvSpPr>
        <p:spPr>
          <a:xfrm>
            <a:off x="4295775" y="4781550"/>
            <a:ext cx="1181100"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20</a:t>
            </a:r>
          </a:p>
        </p:txBody>
      </p:sp>
      <p:sp>
        <p:nvSpPr>
          <p:cNvPr id="112" name="TextBox 111"/>
          <p:cNvSpPr txBox="1"/>
          <p:nvPr/>
        </p:nvSpPr>
        <p:spPr>
          <a:xfrm>
            <a:off x="5534025" y="4781550"/>
            <a:ext cx="1181100"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+20</a:t>
            </a:r>
          </a:p>
        </p:txBody>
      </p:sp>
      <p:sp>
        <p:nvSpPr>
          <p:cNvPr id="113" name="TextBox 112"/>
          <p:cNvSpPr txBox="1"/>
          <p:nvPr/>
        </p:nvSpPr>
        <p:spPr>
          <a:xfrm>
            <a:off x="6772275" y="4781550"/>
            <a:ext cx="1038225"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10</a:t>
            </a:r>
          </a:p>
        </p:txBody>
      </p:sp>
      <p:sp>
        <p:nvSpPr>
          <p:cNvPr id="114" name="TextBox 113"/>
          <p:cNvSpPr txBox="1"/>
          <p:nvPr/>
        </p:nvSpPr>
        <p:spPr>
          <a:xfrm>
            <a:off x="7867649" y="4781550"/>
            <a:ext cx="1562100"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1,054</a:t>
            </a:r>
          </a:p>
        </p:txBody>
      </p:sp>
      <p:sp>
        <p:nvSpPr>
          <p:cNvPr id="115" name="TextBox 114"/>
          <p:cNvSpPr txBox="1"/>
          <p:nvPr/>
        </p:nvSpPr>
        <p:spPr>
          <a:xfrm>
            <a:off x="9486900" y="4781550"/>
            <a:ext cx="1800225"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849</a:t>
            </a:r>
          </a:p>
        </p:txBody>
      </p:sp>
      <p:sp>
        <p:nvSpPr>
          <p:cNvPr id="116" name="Rectangle 115"/>
          <p:cNvSpPr/>
          <p:nvPr/>
        </p:nvSpPr>
        <p:spPr>
          <a:xfrm>
            <a:off x="552450" y="5038725"/>
            <a:ext cx="10763250" cy="276225"/>
          </a:xfrm>
          <a:prstGeom prst="rect">
            <a:avLst/>
          </a:prstGeom>
          <a:solidFill>
            <a:srgbClr val="F8F8F6"/>
          </a:solidFill>
          <a:ln>
            <a:solidFill>
              <a:srgbClr val="F8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7" name="Connector 116"/>
          <p:cNvCxnSpPr/>
          <p:nvPr/>
        </p:nvCxnSpPr>
        <p:spPr>
          <a:xfrm>
            <a:off x="552450" y="5305425"/>
            <a:ext cx="10763250" cy="0"/>
          </a:xfrm>
          <a:prstGeom prst="line">
            <a:avLst/>
          </a:prstGeom>
          <a:ln w="7620">
            <a:solidFill>
              <a:srgbClr val="D8D7D2"/>
            </a:solidFill>
          </a:ln>
        </p:spPr>
        <p:style>
          <a:lnRef idx="2">
            <a:schemeClr val="accent1"/>
          </a:lnRef>
          <a:fillRef idx="0">
            <a:schemeClr val="accent1"/>
          </a:fillRef>
          <a:effectRef idx="1">
            <a:schemeClr val="accent1"/>
          </a:effectRef>
          <a:fontRef idx="minor">
            <a:schemeClr val="tx1"/>
          </a:fontRef>
        </p:style>
      </p:cxnSp>
      <p:sp>
        <p:nvSpPr>
          <p:cNvPr id="118" name="TextBox 117"/>
          <p:cNvSpPr txBox="1"/>
          <p:nvPr/>
        </p:nvSpPr>
        <p:spPr>
          <a:xfrm>
            <a:off x="581025" y="5086350"/>
            <a:ext cx="1466850" cy="190500"/>
          </a:xfrm>
          <a:prstGeom prst="rect">
            <a:avLst/>
          </a:prstGeom>
          <a:noFill/>
        </p:spPr>
        <p:txBody>
          <a:bodyPr wrap="square" lIns="0" rIns="0" tIns="0" bIns="0" anchor="t">
            <a:spAutoFit/>
          </a:bodyPr>
          <a:lstStyle/>
          <a:p>
            <a:pPr algn="l">
              <a:lnSpc>
                <a:spcPct val="118000"/>
              </a:lnSpc>
              <a:spcBef>
                <a:spcPts val="0"/>
              </a:spcBef>
              <a:spcAft>
                <a:spcPts val="0"/>
              </a:spcAft>
            </a:pPr>
            <a:r>
              <a:rPr sz="675" b="0">
                <a:solidFill>
                  <a:srgbClr val="171717"/>
                </a:solidFill>
                <a:latin typeface="Aptos"/>
              </a:rPr>
              <a:t>1–14 Dec</a:t>
            </a:r>
          </a:p>
        </p:txBody>
      </p:sp>
      <p:sp>
        <p:nvSpPr>
          <p:cNvPr id="119" name="TextBox 118"/>
          <p:cNvSpPr txBox="1"/>
          <p:nvPr/>
        </p:nvSpPr>
        <p:spPr>
          <a:xfrm>
            <a:off x="2105025" y="5086350"/>
            <a:ext cx="1038225"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800</a:t>
            </a:r>
          </a:p>
        </p:txBody>
      </p:sp>
      <p:sp>
        <p:nvSpPr>
          <p:cNvPr id="120" name="TextBox 119"/>
          <p:cNvSpPr txBox="1"/>
          <p:nvPr/>
        </p:nvSpPr>
        <p:spPr>
          <a:xfrm>
            <a:off x="3200400" y="5086350"/>
            <a:ext cx="1038225"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830</a:t>
            </a:r>
          </a:p>
        </p:txBody>
      </p:sp>
      <p:sp>
        <p:nvSpPr>
          <p:cNvPr id="121" name="TextBox 120"/>
          <p:cNvSpPr txBox="1"/>
          <p:nvPr/>
        </p:nvSpPr>
        <p:spPr>
          <a:xfrm>
            <a:off x="4295775" y="5086350"/>
            <a:ext cx="1181100"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0</a:t>
            </a:r>
          </a:p>
        </p:txBody>
      </p:sp>
      <p:sp>
        <p:nvSpPr>
          <p:cNvPr id="122" name="TextBox 121"/>
          <p:cNvSpPr txBox="1"/>
          <p:nvPr/>
        </p:nvSpPr>
        <p:spPr>
          <a:xfrm>
            <a:off x="5534025" y="5086350"/>
            <a:ext cx="1181100"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+10</a:t>
            </a:r>
          </a:p>
        </p:txBody>
      </p:sp>
      <p:sp>
        <p:nvSpPr>
          <p:cNvPr id="123" name="TextBox 122"/>
          <p:cNvSpPr txBox="1"/>
          <p:nvPr/>
        </p:nvSpPr>
        <p:spPr>
          <a:xfrm>
            <a:off x="6772275" y="5086350"/>
            <a:ext cx="1038225"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5</a:t>
            </a:r>
          </a:p>
        </p:txBody>
      </p:sp>
      <p:sp>
        <p:nvSpPr>
          <p:cNvPr id="124" name="TextBox 123"/>
          <p:cNvSpPr txBox="1"/>
          <p:nvPr/>
        </p:nvSpPr>
        <p:spPr>
          <a:xfrm>
            <a:off x="7867649" y="5086350"/>
            <a:ext cx="1562100"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1,024</a:t>
            </a:r>
          </a:p>
        </p:txBody>
      </p:sp>
      <p:sp>
        <p:nvSpPr>
          <p:cNvPr id="125" name="TextBox 124"/>
          <p:cNvSpPr txBox="1"/>
          <p:nvPr/>
        </p:nvSpPr>
        <p:spPr>
          <a:xfrm>
            <a:off x="9486900" y="5086350"/>
            <a:ext cx="1800225" cy="190500"/>
          </a:xfrm>
          <a:prstGeom prst="rect">
            <a:avLst/>
          </a:prstGeom>
          <a:noFill/>
        </p:spPr>
        <p:txBody>
          <a:bodyPr wrap="square" lIns="0" rIns="0" tIns="0" bIns="0" anchor="t">
            <a:spAutoFit/>
          </a:bodyPr>
          <a:lstStyle/>
          <a:p>
            <a:pPr algn="ctr">
              <a:lnSpc>
                <a:spcPct val="118000"/>
              </a:lnSpc>
              <a:spcBef>
                <a:spcPts val="0"/>
              </a:spcBef>
              <a:spcAft>
                <a:spcPts val="0"/>
              </a:spcAft>
            </a:pPr>
            <a:r>
              <a:rPr sz="675" b="0">
                <a:solidFill>
                  <a:srgbClr val="171717"/>
                </a:solidFill>
                <a:latin typeface="Aptos"/>
              </a:rPr>
              <a:t>824</a:t>
            </a:r>
          </a:p>
        </p:txBody>
      </p:sp>
      <p:sp>
        <p:nvSpPr>
          <p:cNvPr id="126" name="TextBox 125"/>
          <p:cNvSpPr txBox="1"/>
          <p:nvPr/>
        </p:nvSpPr>
        <p:spPr>
          <a:xfrm>
            <a:off x="571500" y="5562600"/>
            <a:ext cx="10763250" cy="333375"/>
          </a:xfrm>
          <a:prstGeom prst="rect">
            <a:avLst/>
          </a:prstGeom>
          <a:noFill/>
        </p:spPr>
        <p:txBody>
          <a:bodyPr wrap="square" lIns="0" rIns="0" tIns="0" bIns="0" anchor="t">
            <a:spAutoFit/>
          </a:bodyPr>
          <a:lstStyle/>
          <a:p>
            <a:pPr algn="l">
              <a:lnSpc>
                <a:spcPct val="120000"/>
              </a:lnSpc>
              <a:spcBef>
                <a:spcPts val="0"/>
              </a:spcBef>
              <a:spcAft>
                <a:spcPts val="0"/>
              </a:spcAft>
            </a:pPr>
            <a:r>
              <a:rPr sz="675" b="0">
                <a:solidFill>
                  <a:srgbClr val="5C5C58"/>
                </a:solidFill>
                <a:latin typeface="Aptos"/>
              </a:rPr>
              <a:t>¹Kₜ is incremental and signed: collateral release +, call −. Baseline receipts include scheduled funding. Do not count cash settlement again as the published USD 2.3bn loss.</a:t>
            </a:r>
          </a:p>
        </p:txBody>
      </p:sp>
      <p:sp>
        <p:nvSpPr>
          <p:cNvPr id="127" name="TextBox 126"/>
          <p:cNvSpPr txBox="1"/>
          <p:nvPr/>
        </p:nvSpPr>
        <p:spPr>
          <a:xfrm>
            <a:off x="571500" y="5953125"/>
            <a:ext cx="10763250" cy="238125"/>
          </a:xfrm>
          <a:prstGeom prst="rect">
            <a:avLst/>
          </a:prstGeom>
          <a:noFill/>
        </p:spPr>
        <p:txBody>
          <a:bodyPr wrap="square" lIns="0" rIns="0" tIns="0" bIns="0" anchor="t">
            <a:spAutoFit/>
          </a:bodyPr>
          <a:lstStyle/>
          <a:p>
            <a:pPr algn="l">
              <a:lnSpc>
                <a:spcPct val="118000"/>
              </a:lnSpc>
              <a:spcBef>
                <a:spcPts val="0"/>
              </a:spcBef>
              <a:spcAft>
                <a:spcPts val="0"/>
              </a:spcAft>
            </a:pPr>
            <a:r>
              <a:rPr sz="675" b="1">
                <a:solidFill>
                  <a:srgbClr val="E3000B"/>
                </a:solidFill>
                <a:latin typeface="Aptos"/>
              </a:rPr>
              <a:t>Stress shocks and facility timing are shown on slide 8; replace all assumed inputs with dated internal records.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UBS 2011 Rogue Trading Scandal — Treasury Risk</dc:title>
  <dc:subject>Source-led Treasury response and operational risk case study</dc:subject>
  <dc:creator>SKEMA Corporate Treasury Management team</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