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[0:00 - 0:15]  Titre.</a:t>
            </a:r>
          </a:p>
          <a:p>
            <a:r>
              <a:t>Script : « Bonjour, nous sommes… Notre question : pourquoi investirait-on dans IKEA ? »</a:t>
            </a:r>
          </a:p>
          <a:p/>
          <a:p>
            <a:r>
              <a:t>Idée à garder : on ne parle pas d'action cotée. Ingka Group n'est pas coté : l'exposition passerait par la dette ou une voie privée. D'où une question de risque, pas de rendement.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[0:15 - 0:45]  Réponse en premier.</a:t>
            </a:r>
          </a:p>
          <a:p>
            <a:r>
              <a:t>Script : « Notre réponse est un oui conditionnel : c'est un cas de réduction du risque, pas une prime ESG. »</a:t>
            </a:r>
          </a:p>
          <a:p/>
          <a:p>
            <a:r>
              <a:t>Chiffres : −39 % d'émissions opérationnelles en France depuis 2016 ; éolien et solaire couvrent 184 % des besoins électriques de la France ; −30 % pour le groupe, tous scopes, depuis 2016 malgré la croissance ; objectif −50 % d'ici 2030 (SBTi, scopes 1 à 3), net zéro en 2050.</a:t>
            </a:r>
          </a:p>
          <a:p>
            <a:r>
              <a:t>Attention : périmètres différents (France ≠ groupe) ; données auto-déclarées, non testées par nous.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[0:45 - 1:35]  Environnement, social, gouvernance.</a:t>
            </a:r>
          </a:p>
          <a:p>
            <a:r>
              <a:t>Script : « Côté environnement, les opérations baissent, mais l'essentiel de l'empreinte est dans la matière (52 %) et l'usage (17 %). Côté social, l'accessibilité et le code IWAY réduisent le risque ; côté gouvernance, devoir de vigilance, CSRD et reporting public. Ce qui manque : taxonomie non publiée, premiers résultats TNFD attendus en 2026, objectif SBTi discutable. »</a:t>
            </a:r>
          </a:p>
          <a:p/>
          <a:p>
            <a:r>
              <a:t>Détails à garder : 200–400 emplois locaux par magasin ; environ 200 M€ investis pour baisser les prix de ~2 000 produits ; 7 % d'emploi de personnes handicapées (légal 6 %) ; environ 250 réfugiés visés en 3 ans ; Fondation IKEA plus de 2 Md€ depuis 2009 ; 1,2 Md€ investis en France 2023-26 ; gestion des fournisseurs (IWAY, audits) ; SFDR classe des fonds, pas des entreprises.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[1:35 - 2:15]  Mécanismes.</a:t>
            </a:r>
          </a:p>
          <a:p>
            <a:r>
              <a:t>Script : « L'ESG agit par trois canaux : les flux de trésorerie, le risque et les investissements. Le principal est le risque : IWAY, audits et reporting réduisent les risques réglementaires et de réputation. Cela joue sur le taux d'actualisation, pas sur le chiffre d'affaires. »</a:t>
            </a:r>
          </a:p>
          <a:p/>
          <a:p>
            <a:r>
              <a:t>Détails à garder : canal flux = accessibilité qui élargit la clientèle, seconde vie et rachat qui ajoutent de la marge, renouvelables qui couvrent une part du coût énergétique. Canal investissements = pompes à chaleur, géothermie, renouvelables : dépenses aujourd'hui, résilience demain ; effet difficile à chiffrer sans taxonomie publiée.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[2:15 - 2:50]  Décision et limites.</a:t>
            </a:r>
          </a:p>
          <a:p>
            <a:r>
              <a:t>Script : « Notre règle de décision : oui tant que quatre conditions tiennent. Nous réviserons si l'une tombe. Nos limites : pas de valorisation ni de rendement, une seule année de reporting, des données auto-déclarées. »</a:t>
            </a:r>
          </a:p>
          <a:p/>
          <a:p>
            <a:r>
              <a:t>Détails à garder : (a) allégations vertes vérifiables ; (b) alignement taxonomie publié dans le prochain rapport ; (c) premiers résultats TNFD cohérents avec la feuille de route nature ; (d) trajectoire −50 % 2030 (scopes 1 à 3). Limites complémentaires : groupe non coté, détention à vérifier (Stichting INGKA Foundation) ; chiffres France ≠ groupe.</a:t>
            </a:r>
          </a:p>
          <a:p/>
          <a:p>
            <a:r>
              <a:t>Fin : « Merci, nous sommes prêts pour vos questions. » (≈ 2 min 50 au total, à répéter une fois au chrono.)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960120"/>
            <a:ext cx="2194560" cy="1371600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" y="1289304"/>
            <a:ext cx="1975104" cy="713232"/>
          </a:xfrm>
          <a:prstGeom prst="ellipse">
            <a:avLst/>
          </a:prstGeom>
          <a:solidFill>
            <a:srgbClr val="FFD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307592"/>
            <a:ext cx="219456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058A3"/>
                </a:solidFill>
                <a:latin typeface="Arial"/>
              </a:rPr>
              <a:t>IKEA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051560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DA1A"/>
                </a:solidFill>
                <a:latin typeface="Arial"/>
              </a:rPr>
              <a:t>Why would we invest in IKEA?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Une lecture ESG d'Ingka Group et d'IKEA France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DA1A"/>
                </a:solidFill>
                <a:latin typeface="Arial"/>
              </a:rPr>
              <a:t>MSc CFM · SKEMA · Sustainable Finance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DA1A"/>
                </a:solidFill>
                <a:latin typeface="Arial"/>
              </a:rPr>
              <a:t>Calvin Minang · Jonathan Bouaffon · Liza Amouyal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058A3"/>
                </a:solidFill>
                <a:latin typeface="Arial"/>
              </a:rPr>
              <a:t>Notre réponse : un oui conditionnel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05840" cy="73152"/>
          </a:xfrm>
          <a:prstGeom prst="rect">
            <a:avLst/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Arial"/>
              </a:rPr>
              <a:t>2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4663440" cy="4480560"/>
          </a:xfrm>
          <a:prstGeom prst="roundRect">
            <a:avLst>
              <a:gd name="adj" fmla="val 8000"/>
            </a:avLst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20624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058A3"/>
                </a:solidFill>
                <a:latin typeface="Arial"/>
              </a:rPr>
              <a:t>Oui, sous conditions.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420624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Un cas de réduction du risque,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pas une prime ESG.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Aucune preuve que l'ESG augmente le rendement ici.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00200"/>
            <a:ext cx="5943600" cy="13716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1600200"/>
            <a:ext cx="109728" cy="1371600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783080"/>
            <a:ext cx="2377440" cy="10058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58A3"/>
                </a:solidFill>
                <a:latin typeface="Arial"/>
              </a:rPr>
              <a:t>−39 %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83080"/>
            <a:ext cx="3108960" cy="10058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émissions opérationnelles
en France depuis 2016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154680"/>
            <a:ext cx="5943600" cy="13716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0" y="3154680"/>
            <a:ext cx="109728" cy="1371600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337560"/>
            <a:ext cx="2377440" cy="10058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58A3"/>
                </a:solidFill>
                <a:latin typeface="Arial"/>
              </a:rPr>
              <a:t>184 %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37560"/>
            <a:ext cx="3108960" cy="10058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des besoins électriques de la France
couverts par éolien et solaire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4709160"/>
            <a:ext cx="5943600" cy="13716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4709160"/>
            <a:ext cx="109728" cy="1371600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4892040"/>
            <a:ext cx="2377440" cy="10058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58A3"/>
                </a:solidFill>
                <a:latin typeface="Arial"/>
              </a:rPr>
              <a:t>−30 %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892040"/>
            <a:ext cx="3108960" cy="10058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empreinte du groupe, tous scopes,
depuis 2016 (objectif −50 % en 2030)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058A3"/>
                </a:solidFill>
                <a:latin typeface="Arial"/>
              </a:rPr>
              <a:t>Environnement, social, gouvernance : ce qui tient, ce qui manque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05840" cy="73152"/>
          </a:xfrm>
          <a:prstGeom prst="rect">
            <a:avLst/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Arial"/>
              </a:rPr>
              <a:t>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51206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58A3"/>
                </a:solidFill>
                <a:latin typeface="Arial"/>
              </a:rPr>
              <a:t>Où est l'empreinte du groupe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3657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Matières premières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78024"/>
            <a:ext cx="3931920" cy="329184"/>
          </a:xfrm>
          <a:prstGeom prst="roundRect">
            <a:avLst>
              <a:gd name="adj" fmla="val 6000"/>
            </a:avLst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450592"/>
            <a:ext cx="1097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52 %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3657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Usage à domicile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55264"/>
            <a:ext cx="1285435" cy="329184"/>
          </a:xfrm>
          <a:prstGeom prst="roundRect">
            <a:avLst>
              <a:gd name="adj" fmla="val 6000"/>
            </a:avLst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71235" y="3227832"/>
            <a:ext cx="1097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17 %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03320"/>
            <a:ext cx="3657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Autres postes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32504"/>
            <a:ext cx="2344029" cy="329184"/>
          </a:xfrm>
          <a:prstGeom prst="roundRect">
            <a:avLst>
              <a:gd name="adj" fmla="val 6000"/>
            </a:avLst>
          </a:prstGeom>
          <a:solidFill>
            <a:srgbClr val="B8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9829" y="4005072"/>
            <a:ext cx="1097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31 %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72000"/>
            <a:ext cx="512064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Les matières premières et l'usage pèsent plus que les opérations : la chaîne d'approvisionnement compte davantage.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55448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554480"/>
            <a:ext cx="2743200" cy="128016"/>
          </a:xfrm>
          <a:prstGeom prst="rect">
            <a:avLst/>
          </a:prstGeom>
          <a:solidFill>
            <a:srgbClr val="1E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7B4A"/>
                </a:solidFill>
                <a:latin typeface="Arial"/>
              </a:rPr>
              <a:t>Ce qui avance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86000"/>
            <a:ext cx="2514600" cy="3657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Opérations France : −39 %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Éolien et solaire : 184 % des besoins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Chauffage sans fossile d'ici 2030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Code IWAY et audits fournisseurs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Accessibilité : 200–400 emplois par magasin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Égalité femmes-hommes : 100/100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55448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554480"/>
            <a:ext cx="2743200" cy="128016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783080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3261E"/>
                </a:solidFill>
                <a:latin typeface="Arial"/>
              </a:rPr>
              <a:t>Ce qui manque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286000"/>
            <a:ext cx="2514600" cy="3657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Taxonomie UE : alignement non publié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Premiers résultats TNFD en 2026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Objectif SBTi : transition discutable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Chaîne hors France à vérifier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Groupe non coté : détention à confirmer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058A3"/>
                </a:solidFill>
                <a:latin typeface="Arial"/>
              </a:rPr>
              <a:t>De l'ESG à la valeur : trois canaux, un effet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05840" cy="73152"/>
          </a:xfrm>
          <a:prstGeom prst="rect">
            <a:avLst/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Arial"/>
              </a:rPr>
              <a:t>4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20040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  Flux de trésorerie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00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58A3"/>
                </a:solidFill>
                <a:latin typeface="Arial"/>
              </a:rPr>
              <a:t>Revenus et marges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3200400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Accessibilité : plus de clients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Seconde vie et rachat : marge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Énergie renouvelable : coût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91640"/>
            <a:ext cx="320040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2  Risque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60320"/>
            <a:ext cx="3200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58A3"/>
                </a:solidFill>
                <a:latin typeface="Arial"/>
              </a:rPr>
              <a:t>Taux d'actualisation  ★ effet principal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108960"/>
            <a:ext cx="3200400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IWAY, audits, reporting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Moins de risque réglementaire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et de réputation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691640"/>
            <a:ext cx="320040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  Investissements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60320"/>
            <a:ext cx="3200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58A3"/>
                </a:solidFill>
                <a:latin typeface="Arial"/>
              </a:rPr>
              <a:t>Résilience 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108960"/>
            <a:ext cx="3200400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Pompes à chaleur, géothermie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Dépenses aujourd'hui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Protection demain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40680"/>
            <a:ext cx="10972800" cy="777240"/>
          </a:xfrm>
          <a:prstGeom prst="roundRect">
            <a:avLst>
              <a:gd name="adj" fmla="val 12000"/>
            </a:avLst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Matières premières 52 % et usage 17 % de l'empreinte : la chaîne compte plus que les −39 % en France.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058A3"/>
                </a:solidFill>
                <a:latin typeface="Arial"/>
              </a:rPr>
              <a:t>Règle de décision : oui tant que quatre conditions tiennent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05840" cy="73152"/>
          </a:xfrm>
          <a:prstGeom prst="rect">
            <a:avLst/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Arial"/>
              </a:rPr>
              <a:t>5 / 5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DA1A"/>
                </a:solidFill>
                <a:latin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45920"/>
            <a:ext cx="512064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Les allégations vertes restent vérifiables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68880"/>
            <a:ext cx="640080" cy="640080"/>
          </a:xfrm>
          <a:prstGeom prst="ellipse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DA1A"/>
                </a:solidFill>
                <a:latin typeface="Arial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14600"/>
            <a:ext cx="512064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La taxonomie UE est publiée au prochain rapport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37560"/>
            <a:ext cx="640080" cy="640080"/>
          </a:xfrm>
          <a:prstGeom prst="ellipse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DA1A"/>
                </a:solidFill>
                <a:latin typeface="Arial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83279"/>
            <a:ext cx="512064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Les premiers résultats TNFD soutiennent la feuille de route nature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DA1A"/>
                </a:solidFill>
                <a:latin typeface="Arial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251959"/>
            <a:ext cx="512064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Le groupe reste sur la trajectoire −50 % d'ici 2030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1600200"/>
            <a:ext cx="4572000" cy="33832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737360"/>
            <a:ext cx="42062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58A3"/>
                </a:solidFill>
                <a:latin typeface="Arial"/>
              </a:rPr>
              <a:t>Limites à garder en tête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286000"/>
            <a:ext cx="4206240" cy="2743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Aucune valorisation, spread ni rendement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Une seule année de reporting, données auto-déclarées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Chiffres France ≠ périmètre groupe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Voie d'investissement (dette ou privé) à confirmer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39496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Verdict : oui conditionnel, un cas de réduction du risque, révisé si une condition tombe.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would we invest in IKEA? - présentation de groupe (3 min)</dc:title>
  <dc:subject/>
  <dc:creator>Calvin Minang, Jonathan Bouaffon, Liza Amouyal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