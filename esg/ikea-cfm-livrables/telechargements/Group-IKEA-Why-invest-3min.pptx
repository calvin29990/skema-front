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[0:00 - 0:15] Cover.</a:t>
            </a:r>
          </a:p>
          <a:p>
            <a:r>
              <a:t>Script: "Hello, we are... Our question: why would anyone invest in IKEA?"</a:t>
            </a:r>
          </a:p>
          <a:p/>
          <a:p>
            <a:r>
              <a:t>Key point: Ingka Group is not listed. An investor would be exposed through debt or a private route, so the question is about risk, not equity returns.</a:t>
            </a:r>
          </a:p>
          <a:p>
            <a:r>
              <a:t>Source: Ingka ESG Profile (cover and group description).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[0:15 - 0:45] Answer first.</a:t>
            </a:r>
          </a:p>
          <a:p>
            <a:r>
              <a:t>Script: "Our answer is a conditional yes. It is a risk-reduction case, not an ESG premium."</a:t>
            </a:r>
          </a:p>
          <a:p/>
          <a:p>
            <a:r>
              <a:t>Figures (Ingka ESG Profile and IKEA one-pager):</a:t>
            </a:r>
          </a:p>
          <a:p>
            <a:r>
              <a:t>- Operational emissions in France down 39% since 2016.</a:t>
            </a:r>
          </a:p>
          <a:p>
            <a:r>
              <a:t>- Wind and solar output covers 184% of IKEA France's electricity needs.</a:t>
            </a:r>
          </a:p>
          <a:p>
            <a:r>
              <a:t>- Group footprint down about 30% since 2016 across scopes 1 to 3, while the business grew.</a:t>
            </a:r>
          </a:p>
          <a:p>
            <a:r>
              <a:t>- Target: minus 50% by 2030 (SBTi-aligned, replaces Climate Positive 2030); net zero by 2050.</a:t>
            </a:r>
          </a:p>
          <a:p>
            <a:r>
              <a:t>Caution: the France figures and the group figures are different scopes, and all data is company-reported and not tested by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[0:45 - 1:35] Environment, social, governance.</a:t>
            </a:r>
          </a:p>
          <a:p>
            <a:r>
              <a:t>Script: "On environment, operations are falling, but most of the footprint sits in raw materials (52%) and product use (17%). On social, affordability and the IWAY code reduce risk. On governance, the duty of vigilance, CSRD and public reporting help. What is missing: the EU Taxonomy alignment, the first TNFD results due in 2026, and SBTi targets that may be questioned."</a:t>
            </a:r>
          </a:p>
          <a:p/>
          <a:p>
            <a:r>
              <a:t>Details to keep (Ingka ESG Profile):</a:t>
            </a:r>
          </a:p>
          <a:p>
            <a:r>
              <a:t>- 200–400 local jobs per store.</a:t>
            </a:r>
          </a:p>
          <a:p>
            <a:r>
              <a:t>- About EUR 200 million invested to cut prices on about 2,000 products.</a:t>
            </a:r>
          </a:p>
          <a:p>
            <a:r>
              <a:t>- 7% of employees with disabilities (legal requirement: 6%).</a:t>
            </a:r>
          </a:p>
          <a:p>
            <a:r>
              <a:t>- About 250 more refugees to be brought into work within 3 years.</a:t>
            </a:r>
          </a:p>
          <a:p>
            <a:r>
              <a:t>- IKEA Foundation: over EUR 2 billion funded for housing since 2009.</a:t>
            </a:r>
          </a:p>
          <a:p>
            <a:r>
              <a:t>- EUR 1.2 billion invested in France over 2023-26.</a:t>
            </a:r>
          </a:p>
          <a:p>
            <a:r>
              <a:t>- Fossil-free heating and 100% waste sorting by 2030; 10 urban micro-forests by 2030.</a:t>
            </a:r>
          </a:p>
          <a:p>
            <a:r>
              <a:t>- SFDR classifies funds, not companies, so the link to IKEA is indirect.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[1:35 - 2:15] Transmission channels.</a:t>
            </a:r>
          </a:p>
          <a:p>
            <a:r>
              <a:t>Script: "ESG works through three channels: cash flows, risk and investment. The main one is risk. IWAY, audits and reporting reduce regulatory and reputational risk. That shows up in the discount rate, not in revenue."</a:t>
            </a:r>
          </a:p>
          <a:p/>
          <a:p>
            <a:r>
              <a:t>Details to keep:</a:t>
            </a:r>
          </a:p>
          <a:p>
            <a:r>
              <a:t>- Cash flows: affordability widens the customer base; second-life and buy-back add margin on existing products; wind and solar output covers part of the energy cost.</a:t>
            </a:r>
          </a:p>
          <a:p>
            <a:r>
              <a:t>- Investment: heat pumps, geothermal and renewables are spending today for resilience later; the effect is hard to quantify until the EU Taxonomy is published.</a:t>
            </a:r>
          </a:p>
          <a:p>
            <a:r>
              <a:t>- Our analysis, not company data: the channel logic. We have not valued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[2:15 - 2:50] Decision rule and limits.</a:t>
            </a:r>
          </a:p>
          <a:p>
            <a:r>
              <a:t>Script: "Our decision rule: yes, while four conditions hold. We would revise if one fails. Our limits: no valuation or return analysis, one year of reporting, and self-reported data."</a:t>
            </a:r>
          </a:p>
          <a:p/>
          <a:p>
            <a:r>
              <a:t>Details to keep:</a:t>
            </a:r>
          </a:p>
          <a:p>
            <a:r>
              <a:t>- (a) Green claims are verifiable.</a:t>
            </a:r>
          </a:p>
          <a:p>
            <a:r>
              <a:t>- (b) EU Taxonomy alignment is published in the next report.</a:t>
            </a:r>
          </a:p>
          <a:p>
            <a:r>
              <a:t>- (c) First TNFD results support the nature roadmap.</a:t>
            </a:r>
          </a:p>
          <a:p>
            <a:r>
              <a:t>- (d) The group stays on the path to minus 50% by 2030 (scopes 1 to 3).</a:t>
            </a:r>
          </a:p>
          <a:p>
            <a:r>
              <a:t>- Ingka Group is not listed; its ownership (Stichting INGKA Foundation) must be verified.</a:t>
            </a:r>
          </a:p>
          <a:p>
            <a:r>
              <a:t>Closing line: "Thank you. We are ready for your questions."</a:t>
            </a:r>
          </a:p>
          <a:p>
            <a:r>
              <a:t>Total: about 2 min 50 s. Rehearse once with a timer.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960120"/>
            <a:ext cx="2194560" cy="1371600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" y="1289304"/>
            <a:ext cx="1975104" cy="713232"/>
          </a:xfrm>
          <a:prstGeom prst="ellipse">
            <a:avLst/>
          </a:prstGeom>
          <a:solidFill>
            <a:srgbClr val="FFD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307592"/>
            <a:ext cx="219456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058A3"/>
                </a:solidFill>
                <a:latin typeface="Arial"/>
              </a:rPr>
              <a:t>IKEA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DA1A"/>
                </a:solidFill>
                <a:latin typeface="Arial"/>
              </a:rPr>
              <a:t>Why would we invest in IKEA?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An ESG reading of Ingka Group and IKEA France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DA1A"/>
                </a:solidFill>
                <a:latin typeface="Arial"/>
              </a:rPr>
              <a:t>MSc CFM · SKEMA · Sustainable Finance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DA1A"/>
                </a:solidFill>
                <a:latin typeface="Arial"/>
              </a:rPr>
              <a:t>Calvin Minang · Jonathan Bouaffon · Liza Amouyal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58A3"/>
                </a:solidFill>
                <a:latin typeface="Arial"/>
              </a:rPr>
              <a:t>Our answer: a conditional yes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05840" cy="73152"/>
          </a:xfrm>
          <a:prstGeom prst="rect">
            <a:avLst/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Arial"/>
              </a:rPr>
              <a:t>2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4663440" cy="4480560"/>
          </a:xfrm>
          <a:prstGeom prst="roundRect">
            <a:avLst>
              <a:gd name="adj" fmla="val 8000"/>
            </a:avLst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20624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058A3"/>
                </a:solidFill>
                <a:latin typeface="Arial"/>
              </a:rPr>
              <a:t>Yes, under conditions.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420624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A risk-reduction case,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not an ESG premium.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We have no evidence that ESG lifts returns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00200"/>
            <a:ext cx="5943600" cy="13716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600200"/>
            <a:ext cx="109728" cy="1371600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783080"/>
            <a:ext cx="237744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58A3"/>
                </a:solidFill>
                <a:latin typeface="Arial"/>
              </a:rPr>
              <a:t>−39%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310896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operational emissions in France
since 2016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3154680"/>
            <a:ext cx="5943600" cy="13716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0" y="3154680"/>
            <a:ext cx="109728" cy="1371600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337560"/>
            <a:ext cx="237744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58A3"/>
                </a:solidFill>
                <a:latin typeface="Arial"/>
              </a:rPr>
              <a:t>184%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37560"/>
            <a:ext cx="310896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of IKEA France's electricity needs
covered by wind and solar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4709160"/>
            <a:ext cx="5943600" cy="13716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4709160"/>
            <a:ext cx="109728" cy="1371600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4892040"/>
            <a:ext cx="237744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58A3"/>
                </a:solidFill>
                <a:latin typeface="Arial"/>
              </a:rPr>
              <a:t>−30%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892040"/>
            <a:ext cx="3108960" cy="1005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group footprint, all scopes, since 2016
(target: −50% by 2030)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58A3"/>
                </a:solidFill>
                <a:latin typeface="Arial"/>
              </a:rPr>
              <a:t>Environment, social, governance: what holds and what is missing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05840" cy="73152"/>
          </a:xfrm>
          <a:prstGeom prst="rect">
            <a:avLst/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Arial"/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1206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58A3"/>
                </a:solidFill>
                <a:latin typeface="Arial"/>
              </a:rPr>
              <a:t>Where is the group's footprint?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420624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Raw materials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78024"/>
            <a:ext cx="3931920" cy="329184"/>
          </a:xfrm>
          <a:prstGeom prst="roundRect">
            <a:avLst>
              <a:gd name="adj" fmla="val 6000"/>
            </a:avLst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450592"/>
            <a:ext cx="1097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420624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Product use at home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55264"/>
            <a:ext cx="1285435" cy="329184"/>
          </a:xfrm>
          <a:prstGeom prst="roundRect">
            <a:avLst>
              <a:gd name="adj" fmla="val 6000"/>
            </a:avLst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71235" y="3227832"/>
            <a:ext cx="1097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17%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420624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Other items (residual)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032504"/>
            <a:ext cx="2344029" cy="329184"/>
          </a:xfrm>
          <a:prstGeom prst="roundRect">
            <a:avLst>
              <a:gd name="adj" fmla="val 6000"/>
            </a:avLst>
          </a:prstGeom>
          <a:solidFill>
            <a:srgbClr val="B8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9829" y="4005072"/>
            <a:ext cx="1097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31%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512064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Raw materials and product use weigh more than operations: the supply chain matters most.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554480"/>
            <a:ext cx="2743200" cy="128016"/>
          </a:xfrm>
          <a:prstGeom prst="rect">
            <a:avLst/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783080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7B4A"/>
                </a:solidFill>
                <a:latin typeface="Arial"/>
              </a:rPr>
              <a:t>What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86000"/>
            <a:ext cx="2514600" cy="3657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Operations in France: −39% since 2016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Wind and solar: 184% of IKEA France's electricity needs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Fossil-free heating and 100% waste sorting by 2030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IWAY supplier code and supplier audits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200–400 local jobs per store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Gender equality index: 100/100 (4th year)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554480"/>
            <a:ext cx="2743200" cy="128016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783080"/>
            <a:ext cx="24688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3261E"/>
                </a:solidFill>
                <a:latin typeface="Arial"/>
              </a:rPr>
              <a:t>What is missing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286000"/>
            <a:ext cx="2514600" cy="3657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EU Taxonomy alignment not yet disclosed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First TNFD results due in 2026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SBTi targets may be questioned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Supply chain outside France to verify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Group not listed: ownership to confirm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58A3"/>
                </a:solidFill>
                <a:latin typeface="Arial"/>
              </a:rPr>
              <a:t>From ESG to value: three channels, one main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05840" cy="73152"/>
          </a:xfrm>
          <a:prstGeom prst="rect">
            <a:avLst/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Arial"/>
              </a:rPr>
              <a:t>4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20040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  Cash 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00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58A3"/>
                </a:solidFill>
                <a:latin typeface="Arial"/>
              </a:rPr>
              <a:t>Revenue and margins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20040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Affordability widens the customer base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Second-life and buy-back add margin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Renewable energy hedges part of energy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320040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A1A"/>
                </a:solidFill>
                <a:latin typeface="Arial"/>
              </a:rPr>
              <a:t>2 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560320"/>
            <a:ext cx="3200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58A3"/>
                </a:solidFill>
                <a:latin typeface="Arial"/>
              </a:rPr>
              <a:t>Discount rate (our main channel)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108960"/>
            <a:ext cx="320040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IWAY, audits and reporting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Less regulatory and reputational risk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Works through the rate, not revenue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520440" cy="777240"/>
          </a:xfrm>
          <a:prstGeom prst="roundRect">
            <a:avLst>
              <a:gd name="adj" fmla="val 8000"/>
            </a:avLst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691640"/>
            <a:ext cx="320040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  Investment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60320"/>
            <a:ext cx="3200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58A3"/>
                </a:solidFill>
                <a:latin typeface="Arial"/>
              </a:rPr>
              <a:t>Future resilience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108960"/>
            <a:ext cx="320040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Heat pumps, geothermal, renewables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Spending today, protection tomorrow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Hard to quantify without a published taxonomy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44068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Materiality: raw materials 52% and product use 17% of the footprint. The supply chain matters more than the 39% cut in France.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7899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058A3"/>
                </a:solidFill>
                <a:latin typeface="Arial"/>
              </a:rPr>
              <a:t>Decision rule: yes while four conditions hold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05840" cy="73152"/>
          </a:xfrm>
          <a:prstGeom prst="rect">
            <a:avLst/>
          </a:prstGeom>
          <a:solidFill>
            <a:srgbClr val="FFD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368"/>
                </a:solidFill>
                <a:latin typeface="Arial"/>
              </a:rPr>
              <a:t>5 / 5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DA1A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45920"/>
            <a:ext cx="530352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Green claims remain verifiable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68880"/>
            <a:ext cx="640080" cy="640080"/>
          </a:xfrm>
          <a:prstGeom prst="ellipse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DA1A"/>
                </a:solidFill>
                <a:latin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14600"/>
            <a:ext cx="530352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EU Taxonomy alignment is published in the next report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337560"/>
            <a:ext cx="640080" cy="640080"/>
          </a:xfrm>
          <a:prstGeom prst="ellipse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DA1A"/>
                </a:solidFill>
                <a:latin typeface="Arial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83279"/>
            <a:ext cx="530352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First TNFD results support the nature roadmap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DA1A"/>
                </a:solidFill>
                <a:latin typeface="Arial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251959"/>
            <a:ext cx="5303520" cy="5943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The group stays on track for −50% by 2030 (scopes 1 to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600200"/>
            <a:ext cx="4572000" cy="33832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737360"/>
            <a:ext cx="42062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58A3"/>
                </a:solidFill>
                <a:latin typeface="Arial"/>
              </a:rPr>
              <a:t>Limits to keep in mind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286000"/>
            <a:ext cx="4206240" cy="2743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No valuation, spread or return analysis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One year of reporting; data is self-reported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France figures are not the group scope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Investment route (debt or private) to confirm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Ingka ownership to verify (Stichting INGKA Foundation)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39496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005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Verdict: conditional yes, a risk-reduction case. We revise it if any condition fails.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would we invest in IKEA? - group presentation (3 min)</dc:title>
  <dc:subject/>
  <dc:creator>Calvin Minang, Jonathan Bouaffon, Liza Amouyal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