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3" r:id="rId1"/>
    <p:sldMasterId id="2147483659" r:id="rId2"/>
  </p:sldMasterIdLst>
  <p:notesMasterIdLst>
    <p:notesMasterId r:id="rId9"/>
  </p:notesMasterIdLst>
  <p:handoutMasterIdLst>
    <p:handoutMasterId r:id="rId10"/>
  </p:handoutMasterIdLst>
  <p:sldIdLst>
    <p:sldId id="356" r:id="rId3"/>
    <p:sldId id="425" r:id="rId4"/>
    <p:sldId id="680" r:id="rId5"/>
    <p:sldId id="681" r:id="rId6"/>
    <p:sldId id="682" r:id="rId7"/>
    <p:sldId id="426" r:id="rId8"/>
  </p:sldIdLst>
  <p:sldSz cx="9144000" cy="6858000" type="screen4x3"/>
  <p:notesSz cx="6858000" cy="9144000"/>
  <p:embeddedFontLst>
    <p:embeddedFont>
      <p:font typeface="Verdana" panose="020B060403050404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272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pos="5488" userDrawn="1">
          <p15:clr>
            <a:srgbClr val="A4A3A4"/>
          </p15:clr>
        </p15:guide>
        <p15:guide id="5" orient="horz" pos="845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  <p15:guide id="8" orient="horz" pos="1275" userDrawn="1">
          <p15:clr>
            <a:srgbClr val="A4A3A4"/>
          </p15:clr>
        </p15:guide>
        <p15:guide id="9" orient="horz" pos="40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uthor" initials="A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  <a:srgbClr val="D4E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F9630F-82C1-40B7-BC3A-925EFCFF5E92}">
  <a:tblStyle styleId="{40F9630F-82C1-40B7-BC3A-925EFCFF5E9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0" autoAdjust="0"/>
    <p:restoredTop sz="79883" autoAdjust="0"/>
  </p:normalViewPr>
  <p:slideViewPr>
    <p:cSldViewPr snapToGrid="0" snapToObjects="1">
      <p:cViewPr varScale="1">
        <p:scale>
          <a:sx n="120" d="100"/>
          <a:sy n="120" d="100"/>
        </p:scale>
        <p:origin x="1808" y="176"/>
      </p:cViewPr>
      <p:guideLst>
        <p:guide pos="272"/>
        <p:guide orient="horz" pos="436"/>
        <p:guide pos="5488"/>
        <p:guide orient="horz" pos="845"/>
        <p:guide orient="horz" pos="2160"/>
        <p:guide orient="horz" pos="1275"/>
        <p:guide orient="horz" pos="4020"/>
      </p:guideLst>
    </p:cSldViewPr>
  </p:slideViewPr>
  <p:outlineViewPr>
    <p:cViewPr>
      <p:scale>
        <a:sx n="33" d="100"/>
        <a:sy n="33" d="100"/>
      </p:scale>
      <p:origin x="0" y="-4363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8" d="100"/>
          <a:sy n="68" d="100"/>
        </p:scale>
        <p:origin x="306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handoutMaster" Target="handoutMasters/handoutMaster1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5CB01-6679-D646-ACB3-8B04B786C15F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C0F4D-8A6F-1C4A-B6BF-1558431E4F7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63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10270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this PowerPoint presentation contains mathematical equations, you may need to check that your computer has the following installed:</a:t>
            </a:r>
          </a:p>
          <a:p>
            <a:r>
              <a:rPr lang="en-US" dirty="0"/>
              <a:t>1</a:t>
            </a:r>
            <a:r>
              <a:rPr lang="en-US"/>
              <a:t>) Math Type </a:t>
            </a:r>
            <a:r>
              <a:rPr lang="en-US" dirty="0"/>
              <a:t>Plugin</a:t>
            </a:r>
          </a:p>
          <a:p>
            <a:r>
              <a:rPr lang="en-US" dirty="0"/>
              <a:t>2) Math Player (free versions available)</a:t>
            </a:r>
          </a:p>
          <a:p>
            <a:r>
              <a:rPr lang="en-US" dirty="0"/>
              <a:t>3) NVDA Reader (free versions available)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4199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-add copyrigh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39" name="Content Placeholder"/>
          <p:cNvSpPr txBox="1">
            <a:spLocks noGrp="1"/>
          </p:cNvSpPr>
          <p:nvPr>
            <p:ph type="body" idx="1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0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677B9-EC76-47FA-B8D6-49D033518C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600200"/>
            <a:ext cx="4397375" cy="45259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of front cover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D3915-2147-4382-A599-2376CC8854D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29200" y="1600200"/>
            <a:ext cx="3657600" cy="1492250"/>
          </a:xfrm>
        </p:spPr>
        <p:txBody>
          <a:bodyPr anchor="b"/>
          <a:lstStyle>
            <a:lvl1pPr marL="101600" indent="0">
              <a:buNone/>
              <a:defRPr sz="3000"/>
            </a:lvl1pPr>
            <a:lvl2pPr marL="558800" indent="0">
              <a:buNone/>
              <a:defRPr/>
            </a:lvl2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38FD8D-0DB0-4A1A-A3F1-E26B606AC8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29200" y="3252788"/>
            <a:ext cx="3657600" cy="2873375"/>
          </a:xfrm>
        </p:spPr>
        <p:txBody>
          <a:bodyPr/>
          <a:lstStyle>
            <a:lvl1pPr marL="101600" indent="0">
              <a:buNone/>
              <a:defRPr sz="2200"/>
            </a:lvl1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C5328E6C-2B17-49B8-8712-6C0E107A1D9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E0B5B1C-8858-43DC-BD75-C546F47387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‹N°›</a:t>
            </a:fld>
            <a:endParaRPr lang="en-US" sz="9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1B8939D-A957-42F9-A1B5-556D29D235A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6400801"/>
            <a:ext cx="1001713" cy="228600"/>
          </a:xfrm>
        </p:spPr>
        <p:txBody>
          <a:bodyPr anchor="ctr"/>
          <a:lstStyle>
            <a:lvl1pPr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E714B342-B984-6217-58A5-4511DF080863}"/>
              </a:ext>
            </a:extLst>
          </p:cNvPr>
          <p:cNvSpPr txBox="1">
            <a:spLocks/>
          </p:cNvSpPr>
          <p:nvPr userDrawn="1"/>
        </p:nvSpPr>
        <p:spPr>
          <a:xfrm>
            <a:off x="8086382" y="6433851"/>
            <a:ext cx="876310" cy="2226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  <a:defRPr/>
            </a:pPr>
            <a:fld id="{00000000-1234-1234-1234-123412341234}" type="slidenum">
              <a:rPr lang="en-US" smtClean="0"/>
              <a:pPr algn="r">
                <a:buSzPct val="25000"/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355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add copyrigh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 w="25400" cap="flat" cmpd="sng">
            <a:solidFill>
              <a:srgbClr val="007FA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itle Placeholder"/>
          <p:cNvSpPr txBox="1"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sz="3600" b="1" i="0" u="none" strike="noStrike" cap="none">
                <a:solidFill>
                  <a:schemeClr val="lt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20" name="Content Placeholder"/>
          <p:cNvSpPr txBox="1">
            <a:spLocks noGrp="1"/>
          </p:cNvSpPr>
          <p:nvPr>
            <p:ph type="subTitle" idx="1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‹N°›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C6122C06-0248-45C8-9890-FDA2C7B0CD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6400801"/>
            <a:ext cx="1001713" cy="228600"/>
          </a:xfrm>
        </p:spPr>
        <p:txBody>
          <a:bodyPr anchor="ctr"/>
          <a:lstStyle>
            <a:lvl1pPr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D43D091B-6B24-064D-952E-04817C59C2AF}"/>
              </a:ext>
            </a:extLst>
          </p:cNvPr>
          <p:cNvSpPr txBox="1">
            <a:spLocks/>
          </p:cNvSpPr>
          <p:nvPr userDrawn="1"/>
        </p:nvSpPr>
        <p:spPr>
          <a:xfrm>
            <a:off x="8086382" y="6433851"/>
            <a:ext cx="876310" cy="2226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  <a:defRPr/>
            </a:pPr>
            <a:fld id="{00000000-1234-1234-1234-123412341234}" type="slidenum">
              <a:rPr lang="en-US" smtClean="0"/>
              <a:pPr algn="r">
                <a:buSzPct val="25000"/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940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Fiv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32583-235A-F751-E1A0-22340F52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1922"/>
            <a:ext cx="8229600" cy="590349"/>
          </a:xfrm>
        </p:spPr>
        <p:txBody>
          <a:bodyPr lIns="0" tIns="18000" rIns="0" bIns="18000" anchor="ctr" anchorCtr="0">
            <a:spAutoFit/>
          </a:bodyPr>
          <a:lstStyle>
            <a:lvl1pPr>
              <a:defRPr sz="3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46B8D-69D3-F67C-54D4-69E12CEBEF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F72C7-E3FC-EE33-8DFC-71709F451346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EA191-22D4-E86D-9E1B-E682EC5FFB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128713"/>
            <a:ext cx="4114800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FF8749-5E2C-C5EC-07A2-82A184A691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08165"/>
            <a:ext cx="4114800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39784D-F00D-2F87-FE7C-5D6A7003E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105187"/>
            <a:ext cx="4114800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7FD5A9B-F30A-F9FE-F0FB-551D875EA87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93367"/>
            <a:ext cx="4114800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D570F16-0FB9-8033-D49A-B21D5EAAE3A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3089403"/>
            <a:ext cx="4114800" cy="3630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2100C21-4082-CFE4-CF31-313ECAF0FAE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3547825"/>
            <a:ext cx="4114800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08D2A52-88A7-C982-5611-B9B749149E0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4025424"/>
            <a:ext cx="4114800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47BB806B-DC10-6241-CF76-B7F73B1DA0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57200" y="4512284"/>
            <a:ext cx="4114800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975668-C112-6258-3ABF-18621F9F14E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7200" y="4999038"/>
            <a:ext cx="4114800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76E060E6-6ED1-8915-956E-0F517E970AF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5486400"/>
            <a:ext cx="4114800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709CE1C0-2756-5A79-79FA-820DAF2BBE0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7200" y="5965217"/>
            <a:ext cx="4114800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759F8E62-A50E-4D96-F629-9CCE09A3498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854575" y="1128713"/>
            <a:ext cx="3832225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5C755B44-BFDE-4900-5131-8BF154C7F7B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854575" y="1633796"/>
            <a:ext cx="3832225" cy="364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9156BDEE-5497-09AD-373B-6A3C917DB05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854575" y="2123983"/>
            <a:ext cx="3832225" cy="367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BC2F1532-2F8D-53B2-AE5A-DDDCC36EA7D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854575" y="2616200"/>
            <a:ext cx="3832225" cy="352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0D0E76CD-FF1E-8052-73C4-F70E6A89FC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854575" y="3089275"/>
            <a:ext cx="3832225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2A96D52B-34E2-ED71-EE09-2815EB18F646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854575" y="3571772"/>
            <a:ext cx="3832225" cy="341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4DF2A458-95C6-C2F5-E379-F2225D575D78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854575" y="4032250"/>
            <a:ext cx="3832225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2BF9EE99-5E98-407D-122B-1CA821074B1B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854575" y="4511675"/>
            <a:ext cx="3832225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9D6C01BF-865C-825E-C404-4554AE6B3AF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854575" y="4999038"/>
            <a:ext cx="3832225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45">
            <a:extLst>
              <a:ext uri="{FF2B5EF4-FFF2-40B4-BE49-F238E27FC236}">
                <a16:creationId xmlns:a16="http://schemas.microsoft.com/office/drawing/2014/main" id="{E536DCFE-59E2-9F57-8BF8-BFE27FB40934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854575" y="5486400"/>
            <a:ext cx="3832225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30C27756-687A-98CB-7277-9F68F90686E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854575" y="5973763"/>
            <a:ext cx="3832225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0494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03D41-401A-43DB-9BC0-38F51965B8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556327"/>
            <a:ext cx="3635375" cy="452062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34542" y="1556327"/>
            <a:ext cx="4452257" cy="22675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0D01C0-4FD2-4065-9EC3-96A308398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4542" y="3971925"/>
            <a:ext cx="4452258" cy="21050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906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552575"/>
            <a:ext cx="3991970" cy="4438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94830" y="1552575"/>
            <a:ext cx="3991970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611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1" y="1552575"/>
            <a:ext cx="2595603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4199" y="1552575"/>
            <a:ext cx="2595602" cy="4438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1197" y="1552575"/>
            <a:ext cx="2595603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443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552575"/>
            <a:ext cx="1885950" cy="4438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2593" y="1552575"/>
            <a:ext cx="1885950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87986" y="1552575"/>
            <a:ext cx="1885950" cy="443865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99D20A0E-9225-48FB-91AF-C7D8DE4D66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803378" y="1552575"/>
            <a:ext cx="1885950" cy="4438650"/>
          </a:xfrm>
        </p:spPr>
        <p:txBody>
          <a:bodyPr/>
          <a:lstStyle/>
          <a:p>
            <a:pPr marL="256032" marR="0" lvl="0" indent="-154432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/>
              <a:buChar char="•"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121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iv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32583-235A-F751-E1A0-22340F52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1922"/>
            <a:ext cx="8229600" cy="590349"/>
          </a:xfrm>
        </p:spPr>
        <p:txBody>
          <a:bodyPr lIns="0" tIns="18000" rIns="0" bIns="18000" anchor="ctr" anchorCtr="0">
            <a:spAutoFit/>
          </a:bodyPr>
          <a:lstStyle>
            <a:lvl1pPr>
              <a:defRPr sz="3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46B8D-69D3-F67C-54D4-69E12CEBEF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F72C7-E3FC-EE33-8DFC-71709F451346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EA191-22D4-E86D-9E1B-E682EC5FFB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128713"/>
            <a:ext cx="4114800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FF8749-5E2C-C5EC-07A2-82A184A691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08165"/>
            <a:ext cx="4114800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39784D-F00D-2F87-FE7C-5D6A7003E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105187"/>
            <a:ext cx="4114800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7FD5A9B-F30A-F9FE-F0FB-551D875EA87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93367"/>
            <a:ext cx="4114800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D570F16-0FB9-8033-D49A-B21D5EAAE3A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3089403"/>
            <a:ext cx="4114800" cy="3630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2100C21-4082-CFE4-CF31-313ECAF0FAE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3547825"/>
            <a:ext cx="4114800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08D2A52-88A7-C982-5611-B9B749149E0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4025424"/>
            <a:ext cx="4114800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47BB806B-DC10-6241-CF76-B7F73B1DA0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57200" y="4512284"/>
            <a:ext cx="4114800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975668-C112-6258-3ABF-18621F9F14E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7200" y="4999038"/>
            <a:ext cx="4114800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76E060E6-6ED1-8915-956E-0F517E970AF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5486400"/>
            <a:ext cx="4114800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709CE1C0-2756-5A79-79FA-820DAF2BBE0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7200" y="5965217"/>
            <a:ext cx="4114800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759F8E62-A50E-4D96-F629-9CCE09A3498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854575" y="1128713"/>
            <a:ext cx="3832225" cy="37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5C755B44-BFDE-4900-5131-8BF154C7F7B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854575" y="1633796"/>
            <a:ext cx="3832225" cy="364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9156BDEE-5497-09AD-373B-6A3C917DB05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854575" y="2123983"/>
            <a:ext cx="3832225" cy="367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BC2F1532-2F8D-53B2-AE5A-DDDCC36EA7D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854575" y="2616200"/>
            <a:ext cx="3832225" cy="352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0D0E76CD-FF1E-8052-73C4-F70E6A89FC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854575" y="3089275"/>
            <a:ext cx="3832225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2A96D52B-34E2-ED71-EE09-2815EB18F646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854575" y="3571772"/>
            <a:ext cx="3832225" cy="341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4DF2A458-95C6-C2F5-E379-F2225D575D78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854575" y="4032250"/>
            <a:ext cx="3832225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2BF9EE99-5E98-407D-122B-1CA821074B1B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854575" y="4511675"/>
            <a:ext cx="3832225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9D6C01BF-865C-825E-C404-4554AE6B3AF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854575" y="4999038"/>
            <a:ext cx="3832225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45">
            <a:extLst>
              <a:ext uri="{FF2B5EF4-FFF2-40B4-BE49-F238E27FC236}">
                <a16:creationId xmlns:a16="http://schemas.microsoft.com/office/drawing/2014/main" id="{E536DCFE-59E2-9F57-8BF8-BFE27FB40934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854575" y="5486400"/>
            <a:ext cx="3832225" cy="363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30C27756-687A-98CB-7277-9F68F90686E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854575" y="5973763"/>
            <a:ext cx="3832225" cy="36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564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le Placeholder"/>
          <p:cNvSpPr txBox="1"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CB993-AC2C-41C5-BFB7-F2499EC1A1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512888"/>
            <a:ext cx="8232775" cy="34178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5" name="Content Placeholder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050971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5097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4F033AD-BE5C-406D-991C-6AC56003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6B7D3D-89C9-4133-8D8A-D779EB3D3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81138"/>
            <a:ext cx="4484688" cy="37544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Figure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CAF3FDC-1BE7-4A19-A3D7-02B55407B9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48250" y="1481138"/>
            <a:ext cx="3638550" cy="375443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40E849-7663-4A75-9BC8-012C23AC44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5343525"/>
            <a:ext cx="8229600" cy="533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D4E5D-00F7-4DC6-9BB0-713B8A0DA3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4094-2296-458C-908A-D778D0DF5AF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042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065091D3-E16C-46AB-9A90-0F52CA812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Image title">
            <a:extLst>
              <a:ext uri="{FF2B5EF4-FFF2-40B4-BE49-F238E27FC236}">
                <a16:creationId xmlns:a16="http://schemas.microsoft.com/office/drawing/2014/main" id="{CB345607-C53C-44AF-8929-3BDC4C617A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2913" y="4359275"/>
            <a:ext cx="3482975" cy="60007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9" name="Image">
            <a:extLst>
              <a:ext uri="{FF2B5EF4-FFF2-40B4-BE49-F238E27FC236}">
                <a16:creationId xmlns:a16="http://schemas.microsoft.com/office/drawing/2014/main" id="{C2661E64-2E71-47E6-A5A0-AC5348C08F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82912" y="1681163"/>
            <a:ext cx="3482975" cy="2559050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1" name="Label 1">
            <a:extLst>
              <a:ext uri="{FF2B5EF4-FFF2-40B4-BE49-F238E27FC236}">
                <a16:creationId xmlns:a16="http://schemas.microsoft.com/office/drawing/2014/main" id="{3D0F2ED9-E212-40DC-A528-BE4A28DE88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109" y="1681163"/>
            <a:ext cx="1220716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</a:t>
            </a:r>
          </a:p>
        </p:txBody>
      </p:sp>
      <p:sp>
        <p:nvSpPr>
          <p:cNvPr id="13" name="Label 2">
            <a:extLst>
              <a:ext uri="{FF2B5EF4-FFF2-40B4-BE49-F238E27FC236}">
                <a16:creationId xmlns:a16="http://schemas.microsoft.com/office/drawing/2014/main" id="{E8D9AEEF-5E99-48D4-B8C3-C5A995764D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8109" y="2647157"/>
            <a:ext cx="1206500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</a:t>
            </a:r>
          </a:p>
        </p:txBody>
      </p:sp>
      <p:sp>
        <p:nvSpPr>
          <p:cNvPr id="15" name="Label 3">
            <a:extLst>
              <a:ext uri="{FF2B5EF4-FFF2-40B4-BE49-F238E27FC236}">
                <a16:creationId xmlns:a16="http://schemas.microsoft.com/office/drawing/2014/main" id="{99D329CE-18C4-40A9-A508-1684979AC2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109" y="3613151"/>
            <a:ext cx="1206500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3</a:t>
            </a:r>
          </a:p>
        </p:txBody>
      </p:sp>
      <p:sp>
        <p:nvSpPr>
          <p:cNvPr id="17" name="Label 4">
            <a:extLst>
              <a:ext uri="{FF2B5EF4-FFF2-40B4-BE49-F238E27FC236}">
                <a16:creationId xmlns:a16="http://schemas.microsoft.com/office/drawing/2014/main" id="{AAE735D1-F9F4-4525-9ED5-F10A99DECC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81874" y="1681163"/>
            <a:ext cx="1304925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4</a:t>
            </a:r>
          </a:p>
        </p:txBody>
      </p:sp>
      <p:sp>
        <p:nvSpPr>
          <p:cNvPr id="19" name="Label 5">
            <a:extLst>
              <a:ext uri="{FF2B5EF4-FFF2-40B4-BE49-F238E27FC236}">
                <a16:creationId xmlns:a16="http://schemas.microsoft.com/office/drawing/2014/main" id="{43259E0C-9247-446E-9183-FBF70F8FD4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81874" y="2651590"/>
            <a:ext cx="1304925" cy="618196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5</a:t>
            </a:r>
          </a:p>
        </p:txBody>
      </p:sp>
      <p:sp>
        <p:nvSpPr>
          <p:cNvPr id="21" name="Label 6">
            <a:extLst>
              <a:ext uri="{FF2B5EF4-FFF2-40B4-BE49-F238E27FC236}">
                <a16:creationId xmlns:a16="http://schemas.microsoft.com/office/drawing/2014/main" id="{111F58DF-A1C1-4DD6-ADE5-FC54A39F67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81874" y="3613151"/>
            <a:ext cx="1304925" cy="6270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EC9E9-2CDA-42DF-A6E1-55B455A7E6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F10E-ACBA-4EA4-B23A-AC32FC5A681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7899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5AF36A59-5DE4-46F3-8035-460E546D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1 title">
            <a:extLst>
              <a:ext uri="{FF2B5EF4-FFF2-40B4-BE49-F238E27FC236}">
                <a16:creationId xmlns:a16="http://schemas.microsoft.com/office/drawing/2014/main" id="{2BEC12FB-EC67-436F-875F-0A306862EF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4392613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1 title</a:t>
            </a:r>
          </a:p>
        </p:txBody>
      </p:sp>
      <p:sp>
        <p:nvSpPr>
          <p:cNvPr id="9" name="Image 1">
            <a:extLst>
              <a:ext uri="{FF2B5EF4-FFF2-40B4-BE49-F238E27FC236}">
                <a16:creationId xmlns:a16="http://schemas.microsoft.com/office/drawing/2014/main" id="{1E9C9C32-F8ED-4AA8-AA00-26A2357E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1817688"/>
            <a:ext cx="2107324" cy="238601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1</a:t>
            </a:r>
          </a:p>
        </p:txBody>
      </p:sp>
      <p:sp>
        <p:nvSpPr>
          <p:cNvPr id="11" name="Label 1.1">
            <a:extLst>
              <a:ext uri="{FF2B5EF4-FFF2-40B4-BE49-F238E27FC236}">
                <a16:creationId xmlns:a16="http://schemas.microsoft.com/office/drawing/2014/main" id="{BD50A136-2F5A-4764-ADDC-D48D703981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74622" y="1794947"/>
            <a:ext cx="1534619" cy="59185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1.1</a:t>
            </a:r>
          </a:p>
        </p:txBody>
      </p:sp>
      <p:sp>
        <p:nvSpPr>
          <p:cNvPr id="13" name="Label 1.2">
            <a:extLst>
              <a:ext uri="{FF2B5EF4-FFF2-40B4-BE49-F238E27FC236}">
                <a16:creationId xmlns:a16="http://schemas.microsoft.com/office/drawing/2014/main" id="{16926224-3F90-4884-9AC1-A5381D7880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74622" y="2707481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1.2</a:t>
            </a:r>
          </a:p>
        </p:txBody>
      </p:sp>
      <p:sp>
        <p:nvSpPr>
          <p:cNvPr id="15" name="Label 1.3">
            <a:extLst>
              <a:ext uri="{FF2B5EF4-FFF2-40B4-BE49-F238E27FC236}">
                <a16:creationId xmlns:a16="http://schemas.microsoft.com/office/drawing/2014/main" id="{D4719473-9C3F-493C-B20E-27CDBBA38B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4622" y="3597275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1.3</a:t>
            </a:r>
          </a:p>
        </p:txBody>
      </p:sp>
      <p:sp>
        <p:nvSpPr>
          <p:cNvPr id="17" name="Image 2 title">
            <a:extLst>
              <a:ext uri="{FF2B5EF4-FFF2-40B4-BE49-F238E27FC236}">
                <a16:creationId xmlns:a16="http://schemas.microsoft.com/office/drawing/2014/main" id="{DC526974-AF8C-4228-AAAA-33D0B8AB71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1596" y="4347439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2 title</a:t>
            </a:r>
          </a:p>
        </p:txBody>
      </p:sp>
      <p:sp>
        <p:nvSpPr>
          <p:cNvPr id="19" name="Image 2">
            <a:extLst>
              <a:ext uri="{FF2B5EF4-FFF2-40B4-BE49-F238E27FC236}">
                <a16:creationId xmlns:a16="http://schemas.microsoft.com/office/drawing/2014/main" id="{812D2BB4-4991-47F8-9E82-9C9B41B052F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31596" y="1806537"/>
            <a:ext cx="2107323" cy="239716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2</a:t>
            </a:r>
          </a:p>
        </p:txBody>
      </p:sp>
      <p:sp>
        <p:nvSpPr>
          <p:cNvPr id="21" name="Label 2.1">
            <a:extLst>
              <a:ext uri="{FF2B5EF4-FFF2-40B4-BE49-F238E27FC236}">
                <a16:creationId xmlns:a16="http://schemas.microsoft.com/office/drawing/2014/main" id="{15D9E78D-62D4-4D7C-8E37-E1A000DA23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4580" y="1794947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2.1</a:t>
            </a:r>
          </a:p>
        </p:txBody>
      </p:sp>
      <p:sp>
        <p:nvSpPr>
          <p:cNvPr id="23" name="Label 2.2">
            <a:extLst>
              <a:ext uri="{FF2B5EF4-FFF2-40B4-BE49-F238E27FC236}">
                <a16:creationId xmlns:a16="http://schemas.microsoft.com/office/drawing/2014/main" id="{0ECEA5DA-0702-46DA-A4DD-66B7E7FF4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04579" y="2707481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2.2</a:t>
            </a:r>
          </a:p>
        </p:txBody>
      </p:sp>
      <p:sp>
        <p:nvSpPr>
          <p:cNvPr id="25" name="Label 2.3">
            <a:extLst>
              <a:ext uri="{FF2B5EF4-FFF2-40B4-BE49-F238E27FC236}">
                <a16:creationId xmlns:a16="http://schemas.microsoft.com/office/drawing/2014/main" id="{64C63D68-E200-46DF-8E34-92DC66FE87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04579" y="3579818"/>
            <a:ext cx="1534620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4DA0A-BA94-4C4E-A521-FB23D113A8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9933-5FC5-4C73-96ED-E1AC0FC867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8721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Placeholder"/>
          <p:cNvSpPr txBox="1">
            <a:spLocks noGrp="1"/>
          </p:cNvSpPr>
          <p:nvPr>
            <p:ph type="title" hasCustomPrompt="1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	</a:t>
            </a:r>
            <a:endParaRPr dirty="0"/>
          </a:p>
        </p:txBody>
      </p:sp>
      <p:sp>
        <p:nvSpPr>
          <p:cNvPr id="70" name="Content Placeholder"/>
          <p:cNvSpPr txBox="1">
            <a:spLocks noGrp="1"/>
          </p:cNvSpPr>
          <p:nvPr>
            <p:ph type="body" idx="1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>
              <a:buSzPct val="25000"/>
              <a:defRPr/>
            </a:pPr>
            <a:fld id="{00000000-1234-1234-1234-123412341234}" type="slidenum">
              <a:rPr lang="en-US" sz="900" smtClean="0"/>
              <a:pPr algn="r">
                <a:buSzPct val="25000"/>
                <a:defRPr/>
              </a:pPr>
              <a:t>‹N°›</a:t>
            </a:fld>
            <a:endParaRPr lang="en-US" sz="900" dirty="0"/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FD198B6A-839C-F368-0B1A-65C662FB79AA}"/>
              </a:ext>
            </a:extLst>
          </p:cNvPr>
          <p:cNvSpPr txBox="1">
            <a:spLocks/>
          </p:cNvSpPr>
          <p:nvPr userDrawn="1"/>
        </p:nvSpPr>
        <p:spPr>
          <a:xfrm>
            <a:off x="8086382" y="6433851"/>
            <a:ext cx="876310" cy="2226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  <a:defRPr/>
            </a:pPr>
            <a:fld id="{00000000-1234-1234-1234-123412341234}" type="slidenum">
              <a:rPr lang="en-US" smtClean="0"/>
              <a:pPr algn="r">
                <a:buSzPct val="25000"/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6445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64" r:id="rId2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Content Placeholder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lang="en-US"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9CC1FA69-61A4-5929-A31E-DDCC821332FA}"/>
              </a:ext>
            </a:extLst>
          </p:cNvPr>
          <p:cNvSpPr txBox="1">
            <a:spLocks/>
          </p:cNvSpPr>
          <p:nvPr userDrawn="1"/>
        </p:nvSpPr>
        <p:spPr>
          <a:xfrm>
            <a:off x="8086382" y="6433851"/>
            <a:ext cx="876310" cy="2226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  <a:defRPr/>
            </a:pPr>
            <a:fld id="{00000000-1234-1234-1234-123412341234}" type="slidenum">
              <a:rPr lang="en-US" smtClean="0"/>
              <a:pPr algn="r">
                <a:buSzPct val="25000"/>
                <a:defRPr/>
              </a:pPr>
              <a:t>‹N°›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71" r:id="rId7"/>
    <p:sldLayoutId id="2147483673" r:id="rId8"/>
    <p:sldLayoutId id="2147483670" r:id="rId9"/>
    <p:sldLayoutId id="2147483669" r:id="rId10"/>
    <p:sldLayoutId id="2147483655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ebastien.Dereeper@skema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hyperlink" Target="https://www.linkedin.com/in/sebastien-dereeper-5948b4244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98728-A241-43F4-95FF-6C49FEEA0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93" y="386495"/>
            <a:ext cx="8263966" cy="528794"/>
          </a:xfrm>
        </p:spPr>
        <p:txBody>
          <a:bodyPr wrap="square" lIns="0" tIns="18000" rIns="0" bIns="18000" anchor="ctr">
            <a:spAutoFit/>
          </a:bodyPr>
          <a:lstStyle/>
          <a:p>
            <a:r>
              <a:rPr lang="en-US" sz="3200" dirty="0"/>
              <a:t>Capital Budgeting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18F80-D4FC-4D8F-B2BD-E7BEE7E01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952" y="1522157"/>
            <a:ext cx="8263607" cy="5453219"/>
          </a:xfrm>
        </p:spPr>
        <p:txBody>
          <a:bodyPr wrap="square" lIns="0" tIns="18000" rIns="0" bIns="1800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 err="1">
                <a:solidFill>
                  <a:schemeClr val="tx1"/>
                </a:solidFill>
              </a:rPr>
              <a:t>Msc</a:t>
            </a:r>
            <a:r>
              <a:rPr lang="en-US" sz="2800" dirty="0">
                <a:solidFill>
                  <a:schemeClr val="tx1"/>
                </a:solidFill>
              </a:rPr>
              <a:t> Corporate Financial Management</a:t>
            </a:r>
          </a:p>
          <a:p>
            <a:pPr>
              <a:spcAft>
                <a:spcPts val="600"/>
              </a:spcAft>
            </a:pPr>
            <a:r>
              <a:rPr lang="en-US" sz="2800" dirty="0">
                <a:solidFill>
                  <a:schemeClr val="tx1"/>
                </a:solidFill>
              </a:rPr>
              <a:t>Lille Campus - 18 hours</a:t>
            </a:r>
          </a:p>
          <a:p>
            <a:pPr>
              <a:spcAft>
                <a:spcPts val="600"/>
              </a:spcAft>
            </a:pPr>
            <a:r>
              <a:rPr lang="en-US" sz="2800" dirty="0">
                <a:solidFill>
                  <a:schemeClr val="tx1"/>
                </a:solidFill>
              </a:rPr>
              <a:t>Skema Business School </a:t>
            </a:r>
          </a:p>
          <a:p>
            <a:pPr>
              <a:spcAft>
                <a:spcPts val="600"/>
              </a:spcAft>
            </a:pPr>
            <a:endParaRPr lang="fr-FR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fr-FR" sz="2800" dirty="0">
                <a:solidFill>
                  <a:schemeClr val="tx1"/>
                </a:solidFill>
              </a:rPr>
              <a:t>Introduction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Pr. Sébastien DEREEPER</a:t>
            </a:r>
          </a:p>
          <a:p>
            <a:pPr>
              <a:spcAft>
                <a:spcPts val="600"/>
              </a:spcAft>
            </a:pP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Sebastien.Dereeper@skema.edu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fr-F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https://www.linkedin.com/in/sebastien-dereeper-5948b4244/</a:t>
            </a:r>
            <a:endParaRPr lang="fr-FR" dirty="0"/>
          </a:p>
          <a:p>
            <a:pPr>
              <a:spcAft>
                <a:spcPts val="600"/>
              </a:spcAft>
            </a:pPr>
            <a:endParaRPr lang="fr-FR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fr-FR" dirty="0">
                <a:solidFill>
                  <a:schemeClr val="tx1"/>
                </a:solidFill>
              </a:rPr>
              <a:t>Course Based on : </a:t>
            </a:r>
          </a:p>
          <a:p>
            <a:pPr>
              <a:spcAft>
                <a:spcPts val="600"/>
              </a:spcAft>
            </a:pPr>
            <a:r>
              <a:rPr lang="fr-FR" dirty="0">
                <a:solidFill>
                  <a:schemeClr val="tx1"/>
                </a:solidFill>
              </a:rPr>
              <a:t>J. Berk &amp; P. De Marzo - </a:t>
            </a:r>
            <a:r>
              <a:rPr lang="fr-FR" dirty="0" err="1">
                <a:solidFill>
                  <a:schemeClr val="tx1"/>
                </a:solidFill>
              </a:rPr>
              <a:t>Corporate</a:t>
            </a:r>
            <a:r>
              <a:rPr lang="fr-FR" dirty="0">
                <a:solidFill>
                  <a:schemeClr val="tx1"/>
                </a:solidFill>
              </a:rPr>
              <a:t> Finance - Pearson, 2024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F20EAC4-619E-132A-A2CB-EE292EB47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453" y="180830"/>
            <a:ext cx="1815265" cy="121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28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57EA-79E5-6448-FA0F-7CC9DE4C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54" y="217974"/>
            <a:ext cx="8266346" cy="590349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EED4C-D5F1-CF93-41F6-26D3B619B8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5854" y="1477650"/>
            <a:ext cx="8266346" cy="4137474"/>
          </a:xfrm>
        </p:spPr>
        <p:txBody>
          <a:bodyPr wrap="square" lIns="0" tIns="18000" rIns="0" bIns="18000" anchor="ctr">
            <a:spAutoFit/>
          </a:bodyPr>
          <a:lstStyle/>
          <a:p>
            <a:pPr marL="539750" indent="-539750">
              <a:buNone/>
            </a:pPr>
            <a:r>
              <a:rPr lang="en-US" altLang="en-US" sz="2400" dirty="0">
                <a:solidFill>
                  <a:srgbClr val="007FA3"/>
                </a:solidFill>
              </a:rPr>
              <a:t>Step 1 :  Calculate Cash Flows </a:t>
            </a:r>
          </a:p>
          <a:p>
            <a:pPr marL="1026668" lvl="1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Based on the chapter 8 in J. Berk &amp; P. De Marzo Corporate Finance "Fundamentals of Capital Budgeting”</a:t>
            </a:r>
          </a:p>
          <a:p>
            <a:pPr marL="1026668" lvl="1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Time length 4 hours</a:t>
            </a:r>
          </a:p>
          <a:p>
            <a:pPr marL="539750" indent="-539750"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539750" indent="-539750">
              <a:buNone/>
            </a:pPr>
            <a:r>
              <a:rPr lang="en-US" altLang="en-US" sz="2400" dirty="0">
                <a:solidFill>
                  <a:srgbClr val="007FA3"/>
                </a:solidFill>
              </a:rPr>
              <a:t>Step 2 : Remind Value Creation Investment Decision Rules</a:t>
            </a:r>
          </a:p>
          <a:p>
            <a:pPr marL="1026668" lvl="1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Based on the chapter 7 in J. Berk &amp; P. De Marzo Corporate Finance "Investment Decision Rules"</a:t>
            </a:r>
          </a:p>
          <a:p>
            <a:pPr marL="1026668" lvl="1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It’s just a reminder Time length 2 hours</a:t>
            </a:r>
          </a:p>
          <a:p>
            <a:pPr marL="539750" indent="-539750"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C62A56-DACC-EF23-AB5D-2F9041BA6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53" y="180830"/>
            <a:ext cx="1815265" cy="121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8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39B37-D33F-57A8-91B3-A42930D9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0947-76A9-020F-0302-7F3DEDB4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54" y="217974"/>
            <a:ext cx="8266346" cy="590349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AAD82-3AE2-2EC2-45BB-7DC3E1A2B18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5854" y="1550643"/>
            <a:ext cx="8407461" cy="2183093"/>
          </a:xfrm>
        </p:spPr>
        <p:txBody>
          <a:bodyPr wrap="square" lIns="0" tIns="18000" rIns="0" bIns="18000" anchor="ctr">
            <a:spAutoFit/>
          </a:bodyPr>
          <a:lstStyle/>
          <a:p>
            <a:pPr marL="539750" indent="-539750"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539750" indent="-539750">
              <a:buNone/>
            </a:pPr>
            <a:r>
              <a:rPr lang="en-US" altLang="en-US" sz="2400" dirty="0">
                <a:solidFill>
                  <a:srgbClr val="007FA3"/>
                </a:solidFill>
              </a:rPr>
              <a:t>Step 3 : Tools : Cost of debt, Cost of equity and cost of capital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Based on the chapter 12 in Berk De Marzo Corporate Finance          "Estimating the Cost of Capital"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Again it’s a reminder, we won’t do portfolio management Time length 2 hours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3AD83A5-7049-5416-4CCC-F94951525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53" y="180830"/>
            <a:ext cx="1815265" cy="121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61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1647-46DC-4724-1591-065CDC0AF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F299-ADDD-8582-28B1-FD09C78B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54" y="217974"/>
            <a:ext cx="8266346" cy="590349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394BD-D596-6221-40E8-F94C3C628A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5854" y="1301075"/>
            <a:ext cx="8506760" cy="3660421"/>
          </a:xfrm>
        </p:spPr>
        <p:txBody>
          <a:bodyPr wrap="square" lIns="0" tIns="18000" rIns="0" bIns="18000" anchor="ctr">
            <a:spAutoFit/>
          </a:bodyPr>
          <a:lstStyle/>
          <a:p>
            <a:pPr marL="539750" indent="-539750"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539750" indent="-539750">
              <a:buNone/>
            </a:pPr>
            <a:r>
              <a:rPr lang="en-US" altLang="en-US" sz="2300" dirty="0">
                <a:solidFill>
                  <a:srgbClr val="007FA3"/>
                </a:solidFill>
              </a:rPr>
              <a:t>Step 4 : Understand role of capital structure on capital budgeting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Based on the chapter 14 in Berk De Marzo Corporate Finance               "Capital Structure in a Perfect Market"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Based on the chapter 15 in Berk De Marzo Corporate Finance                  "Debt and Taxes"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Based on the chapter 18 in Berk De Marzo Corporate Finance               "Capital Budgeting and Valuation with Leverage" 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The strong part : Time length 7 hours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E21B028-D5DA-0E33-800B-26CA8B5F1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53" y="180830"/>
            <a:ext cx="1815265" cy="121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3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FCC9-CC8E-56AF-74EB-65F2E5C1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9B6-B038-D609-013B-1341E2EF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54" y="217974"/>
            <a:ext cx="8266346" cy="590349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CF01-6565-A6A5-5F6E-171CEBE268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5854" y="1497150"/>
            <a:ext cx="8266346" cy="2652452"/>
          </a:xfrm>
        </p:spPr>
        <p:txBody>
          <a:bodyPr wrap="square" lIns="0" tIns="18000" rIns="0" bIns="18000" anchor="ctr">
            <a:spAutoFit/>
          </a:bodyPr>
          <a:lstStyle/>
          <a:p>
            <a:pPr marL="539750" indent="-539750"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539750" indent="-539750">
              <a:buNone/>
            </a:pPr>
            <a:r>
              <a:rPr lang="en-US" altLang="en-US" sz="2400" dirty="0">
                <a:solidFill>
                  <a:srgbClr val="007FA3"/>
                </a:solidFill>
              </a:rPr>
              <a:t>Step 5 : Be careful with debt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Based on the chapter 16 in Berk De Marzo Corporate Finance        "Financial Distress, Managerial Incentives, and Information"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A specific point for other costs and advantages for debt.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My option possibility : Time length 3 hours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6A40ED8-44D2-5B14-DC2A-B29D50843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53" y="180830"/>
            <a:ext cx="1815265" cy="121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64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57EA-79E5-6448-FA0F-7CC9DE4C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54" y="217974"/>
            <a:ext cx="8266346" cy="590349"/>
          </a:xfrm>
        </p:spPr>
        <p:txBody>
          <a:bodyPr/>
          <a:lstStyle/>
          <a:p>
            <a:r>
              <a:rPr lang="en-US" dirty="0"/>
              <a:t>Assessment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EED4C-D5F1-CF93-41F6-26D3B619B8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5854" y="1506067"/>
            <a:ext cx="8266346" cy="4422168"/>
          </a:xfrm>
        </p:spPr>
        <p:txBody>
          <a:bodyPr wrap="square" lIns="0" tIns="18000" rIns="0" bIns="18000" anchor="ctr">
            <a:spAutoFit/>
          </a:bodyPr>
          <a:lstStyle/>
          <a:p>
            <a:pPr marL="342900" indent="-342900">
              <a:spcBef>
                <a:spcPts val="600"/>
              </a:spcBef>
            </a:pPr>
            <a:r>
              <a:rPr lang="en-US" altLang="en-US" sz="2400" b="1" dirty="0">
                <a:solidFill>
                  <a:srgbClr val="007FA3"/>
                </a:solidFill>
              </a:rPr>
              <a:t>Midterm Test (40%) : </a:t>
            </a:r>
          </a:p>
          <a:p>
            <a:pPr marL="829818" lvl="1" indent="-342900"/>
            <a:r>
              <a:rPr lang="en-US" altLang="en-US" sz="2400" dirty="0">
                <a:solidFill>
                  <a:schemeClr val="tx1"/>
                </a:solidFill>
              </a:rPr>
              <a:t>45 minutes </a:t>
            </a:r>
          </a:p>
          <a:p>
            <a:pPr marL="829818" lvl="1" indent="-342900"/>
            <a:r>
              <a:rPr lang="en-US" altLang="en-US" sz="2400" dirty="0">
                <a:solidFill>
                  <a:schemeClr val="tx1"/>
                </a:solidFill>
              </a:rPr>
              <a:t>30 questions (MCQ)</a:t>
            </a:r>
          </a:p>
          <a:p>
            <a:pPr marL="829818" lvl="1" indent="-342900"/>
            <a:r>
              <a:rPr lang="en-US" altLang="en-US" sz="2400" dirty="0">
                <a:solidFill>
                  <a:schemeClr val="tx1"/>
                </a:solidFill>
              </a:rPr>
              <a:t>On K2 with Safe </a:t>
            </a:r>
            <a:r>
              <a:rPr lang="en-US" altLang="en-US" sz="2400">
                <a:solidFill>
                  <a:schemeClr val="tx1"/>
                </a:solidFill>
              </a:rPr>
              <a:t>Exam Browser (SEB)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829818" lvl="1" indent="-342900"/>
            <a:endParaRPr lang="en-US" altLang="en-US" sz="2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en-US" sz="2400" b="1" dirty="0">
                <a:solidFill>
                  <a:srgbClr val="007FA3"/>
                </a:solidFill>
              </a:rPr>
              <a:t>Final Exam (60%) :</a:t>
            </a:r>
          </a:p>
          <a:p>
            <a:pPr marL="829818" lvl="1" indent="-342900"/>
            <a:r>
              <a:rPr lang="en-US" altLang="en-US" sz="2400" dirty="0">
                <a:solidFill>
                  <a:schemeClr val="tx1"/>
                </a:solidFill>
              </a:rPr>
              <a:t>90 minutes </a:t>
            </a:r>
          </a:p>
          <a:p>
            <a:pPr marL="829818" lvl="1" indent="-342900"/>
            <a:r>
              <a:rPr lang="en-US" altLang="en-US" sz="2400" dirty="0">
                <a:solidFill>
                  <a:schemeClr val="tx1"/>
                </a:solidFill>
              </a:rPr>
              <a:t>Course questions and </a:t>
            </a:r>
            <a:r>
              <a:rPr lang="en-US" altLang="en-US" sz="2400" dirty="0" err="1">
                <a:solidFill>
                  <a:schemeClr val="tx1"/>
                </a:solidFill>
              </a:rPr>
              <a:t>Exercices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829818" lvl="1" indent="-342900"/>
            <a:r>
              <a:rPr lang="en-US" altLang="en-US" sz="2400" dirty="0">
                <a:solidFill>
                  <a:schemeClr val="tx1"/>
                </a:solidFill>
              </a:rPr>
              <a:t>On K2 with SEB</a:t>
            </a:r>
          </a:p>
          <a:p>
            <a:pPr marL="486918" lvl="1" indent="0"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8DD83F9-0856-BBD3-4799-5A6FB4DE7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53" y="180830"/>
            <a:ext cx="1815265" cy="121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305486"/>
      </p:ext>
    </p:extLst>
  </p:cSld>
  <p:clrMapOvr>
    <a:masterClrMapping/>
  </p:clrMapOvr>
</p:sld>
</file>

<file path=ppt/theme/theme1.xml><?xml version="1.0" encoding="utf-8"?>
<a:theme xmlns:a="http://schemas.openxmlformats.org/drawingml/2006/main" name="USHE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HE_slide options">
  <a:themeElements>
    <a:clrScheme name="Custom 40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33399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5118</TotalTime>
  <Words>383</Words>
  <Application>Microsoft Macintosh PowerPoint</Application>
  <PresentationFormat>Affichage à l'écran (4:3)</PresentationFormat>
  <Paragraphs>54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Verdana</vt:lpstr>
      <vt:lpstr>USHE</vt:lpstr>
      <vt:lpstr>USHE_slide options</vt:lpstr>
      <vt:lpstr>Capital Budgeting</vt:lpstr>
      <vt:lpstr>Schedule</vt:lpstr>
      <vt:lpstr>Schedule</vt:lpstr>
      <vt:lpstr>Schedule</vt:lpstr>
      <vt:lpstr>Schedule</vt:lpstr>
      <vt:lpstr>Assessment</vt:lpstr>
    </vt:vector>
  </TitlesOfParts>
  <Manager/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Finance, Sixth Edition, Chapter 8</dc:title>
  <dc:subject>Business</dc:subject>
  <dc:creator>Berk and DeMarzo</dc:creator>
  <cp:keywords>Corporate Finance</cp:keywords>
  <dc:description>Alt text for images/ equations within table cells have been placed behind the object intentionally to provide a better screen reader user experience._x000d_
</dc:description>
  <cp:lastModifiedBy>S�bastien DEREEPER</cp:lastModifiedBy>
  <cp:revision>771</cp:revision>
  <dcterms:modified xsi:type="dcterms:W3CDTF">2026-09-28T07:37:45Z</dcterms:modified>
</cp:coreProperties>
</file>