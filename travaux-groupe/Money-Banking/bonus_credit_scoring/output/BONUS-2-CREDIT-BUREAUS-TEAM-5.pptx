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594360" y="384048"/>
            <a:ext cx="5029200" cy="228600"/>
          </a:xfrm>
          <a:prstGeom prst="rect">
            <a:avLst/>
          </a:prstGeom>
          <a:noFill/>
        </p:spPr>
        <p:txBody>
          <a:bodyPr wrap="square" lIns="36576" rIns="36576" tIns="36576" bIns="36576" anchor="t">
            <a:spAutoFit/>
          </a:bodyPr>
          <a:lstStyle/>
          <a:p>
            <a:pPr algn="l">
              <a:spcAft>
                <a:spcPts val="0"/>
              </a:spcAft>
            </a:pPr>
            <a:r>
              <a:rPr sz="900" b="1" i="0">
                <a:solidFill>
                  <a:srgbClr val="08A5BE"/>
                </a:solidFill>
                <a:latin typeface="Aptos"/>
              </a:rPr>
              <a:t>MONEY, BANKING AND FINANCIAL MARKETS</a:t>
            </a:r>
          </a:p>
        </p:txBody>
      </p:sp>
      <p:sp>
        <p:nvSpPr>
          <p:cNvPr id="3" name="TextBox 2"/>
          <p:cNvSpPr txBox="1"/>
          <p:nvPr/>
        </p:nvSpPr>
        <p:spPr>
          <a:xfrm>
            <a:off x="594360" y="713232"/>
            <a:ext cx="3657600" cy="228600"/>
          </a:xfrm>
          <a:prstGeom prst="rect">
            <a:avLst/>
          </a:prstGeom>
          <a:noFill/>
        </p:spPr>
        <p:txBody>
          <a:bodyPr wrap="square" lIns="36576" rIns="36576" tIns="36576" bIns="36576" anchor="t">
            <a:spAutoFit/>
          </a:bodyPr>
          <a:lstStyle/>
          <a:p>
            <a:pPr algn="l">
              <a:spcAft>
                <a:spcPts val="0"/>
              </a:spcAft>
            </a:pPr>
            <a:r>
              <a:rPr sz="900" b="1" i="0">
                <a:solidFill>
                  <a:srgbClr val="667085"/>
                </a:solidFill>
                <a:latin typeface="Aptos"/>
              </a:rPr>
              <a:t>BONUS  ·  CREDIT BUREAUS</a:t>
            </a:r>
          </a:p>
        </p:txBody>
      </p:sp>
      <p:sp>
        <p:nvSpPr>
          <p:cNvPr id="4" name="TextBox 3"/>
          <p:cNvSpPr txBox="1"/>
          <p:nvPr/>
        </p:nvSpPr>
        <p:spPr>
          <a:xfrm>
            <a:off x="594360" y="1188720"/>
            <a:ext cx="5486400" cy="1234440"/>
          </a:xfrm>
          <a:prstGeom prst="rect">
            <a:avLst/>
          </a:prstGeom>
          <a:noFill/>
        </p:spPr>
        <p:txBody>
          <a:bodyPr wrap="square" lIns="36576" rIns="36576" tIns="36576" bIns="36576" anchor="t">
            <a:spAutoFit/>
          </a:bodyPr>
          <a:lstStyle/>
          <a:p>
            <a:pPr algn="l">
              <a:spcAft>
                <a:spcPts val="0"/>
              </a:spcAft>
            </a:pPr>
            <a:r>
              <a:rPr sz="3100" b="1" i="0">
                <a:solidFill>
                  <a:srgbClr val="172B4D"/>
                </a:solidFill>
                <a:latin typeface="Aptos"/>
              </a:rPr>
              <a:t>Credit information
and scoring</a:t>
            </a:r>
          </a:p>
        </p:txBody>
      </p:sp>
      <p:sp>
        <p:nvSpPr>
          <p:cNvPr id="5" name="TextBox 4"/>
          <p:cNvSpPr txBox="1"/>
          <p:nvPr/>
        </p:nvSpPr>
        <p:spPr>
          <a:xfrm>
            <a:off x="640080" y="2615184"/>
            <a:ext cx="5029200" cy="320040"/>
          </a:xfrm>
          <a:prstGeom prst="rect">
            <a:avLst/>
          </a:prstGeom>
          <a:noFill/>
        </p:spPr>
        <p:txBody>
          <a:bodyPr wrap="square" lIns="36576" rIns="36576" tIns="36576" bIns="36576" anchor="t">
            <a:spAutoFit/>
          </a:bodyPr>
          <a:lstStyle/>
          <a:p>
            <a:pPr algn="l">
              <a:spcAft>
                <a:spcPts val="0"/>
              </a:spcAft>
            </a:pPr>
            <a:r>
              <a:rPr sz="1400" b="1" i="0">
                <a:solidFill>
                  <a:srgbClr val="1F2937"/>
                </a:solidFill>
                <a:latin typeface="Aptos"/>
              </a:rPr>
              <a:t>Equifax  ·  Experian  ·  TransUnion</a:t>
            </a:r>
          </a:p>
        </p:txBody>
      </p:sp>
      <p:sp>
        <p:nvSpPr>
          <p:cNvPr id="6" name="TextBox 5"/>
          <p:cNvSpPr txBox="1"/>
          <p:nvPr/>
        </p:nvSpPr>
        <p:spPr>
          <a:xfrm>
            <a:off x="640080" y="3054096"/>
            <a:ext cx="5303520" cy="502920"/>
          </a:xfrm>
          <a:prstGeom prst="rect">
            <a:avLst/>
          </a:prstGeom>
          <a:noFill/>
        </p:spPr>
        <p:txBody>
          <a:bodyPr wrap="square" lIns="36576" rIns="36576" tIns="36576" bIns="36576" anchor="t">
            <a:spAutoFit/>
          </a:bodyPr>
          <a:lstStyle/>
          <a:p>
            <a:pPr algn="l">
              <a:spcAft>
                <a:spcPts val="0"/>
              </a:spcAft>
            </a:pPr>
            <a:r>
              <a:rPr sz="1200" b="0" i="0">
                <a:solidFill>
                  <a:srgbClr val="667085"/>
                </a:solidFill>
                <a:latin typeface="Aptos"/>
              </a:rPr>
              <a:t>How data supports lending — and why a score is never the whole decision.</a:t>
            </a:r>
          </a:p>
        </p:txBody>
      </p:sp>
      <p:sp>
        <p:nvSpPr>
          <p:cNvPr id="7" name="Rounded Rectangle 6"/>
          <p:cNvSpPr/>
          <p:nvPr/>
        </p:nvSpPr>
        <p:spPr>
          <a:xfrm>
            <a:off x="6510528" y="1024128"/>
            <a:ext cx="5074920" cy="329184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76288" y="1325880"/>
            <a:ext cx="4160520" cy="274320"/>
          </a:xfrm>
          <a:prstGeom prst="rect">
            <a:avLst/>
          </a:prstGeom>
          <a:noFill/>
        </p:spPr>
        <p:txBody>
          <a:bodyPr wrap="square" lIns="36576" rIns="36576" tIns="36576" bIns="36576" anchor="t">
            <a:spAutoFit/>
          </a:bodyPr>
          <a:lstStyle/>
          <a:p>
            <a:pPr algn="l">
              <a:spcAft>
                <a:spcPts val="0"/>
              </a:spcAft>
            </a:pPr>
            <a:r>
              <a:rPr sz="850" b="1" i="0">
                <a:solidFill>
                  <a:srgbClr val="667085"/>
                </a:solidFill>
                <a:latin typeface="Aptos"/>
              </a:rPr>
              <a:t>THREE SIGNALS  ·  ONE DECISION CONTEXT</a:t>
            </a:r>
          </a:p>
        </p:txBody>
      </p:sp>
      <p:sp>
        <p:nvSpPr>
          <p:cNvPr id="9" name="Rounded Rectangle 8"/>
          <p:cNvSpPr/>
          <p:nvPr/>
        </p:nvSpPr>
        <p:spPr>
          <a:xfrm>
            <a:off x="6876288" y="1783080"/>
            <a:ext cx="4334256" cy="658368"/>
          </a:xfrm>
          <a:prstGeom prst="roundRect">
            <a:avLst/>
          </a:prstGeom>
          <a:solidFill>
            <a:srgbClr val="FDF5F7"/>
          </a:solidFill>
          <a:ln w="10160">
            <a:solidFill>
              <a:srgbClr val="FD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76288" y="1783080"/>
            <a:ext cx="73152" cy="658368"/>
          </a:xfrm>
          <a:prstGeom prst="rect">
            <a:avLst/>
          </a:prstGeom>
          <a:solidFill>
            <a:srgbClr val="9B1C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quifax_logo.png"/>
          <p:cNvPicPr>
            <a:picLocks noChangeAspect="1"/>
          </p:cNvPicPr>
          <p:nvPr/>
        </p:nvPicPr>
        <p:blipFill>
          <a:blip r:embed="rId2"/>
          <a:stretch>
            <a:fillRect/>
          </a:stretch>
        </p:blipFill>
        <p:spPr>
          <a:xfrm>
            <a:off x="7114031" y="1947672"/>
            <a:ext cx="1325880" cy="326619"/>
          </a:xfrm>
          <a:prstGeom prst="rect">
            <a:avLst/>
          </a:prstGeom>
        </p:spPr>
      </p:pic>
      <p:sp>
        <p:nvSpPr>
          <p:cNvPr id="12" name="Rounded Rectangle 11"/>
          <p:cNvSpPr/>
          <p:nvPr/>
        </p:nvSpPr>
        <p:spPr>
          <a:xfrm>
            <a:off x="6876288" y="2578608"/>
            <a:ext cx="4334256" cy="658368"/>
          </a:xfrm>
          <a:prstGeom prst="roundRect">
            <a:avLst/>
          </a:prstGeom>
          <a:solidFill>
            <a:srgbClr val="F2F7FB"/>
          </a:solidFill>
          <a:ln w="10160">
            <a:solidFill>
              <a:srgbClr val="F2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76288" y="2578608"/>
            <a:ext cx="73152" cy="658368"/>
          </a:xfrm>
          <a:prstGeom prst="rect">
            <a:avLst/>
          </a:prstGeom>
          <a:solidFill>
            <a:srgbClr val="2F68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xperian_logo.png"/>
          <p:cNvPicPr>
            <a:picLocks noChangeAspect="1"/>
          </p:cNvPicPr>
          <p:nvPr/>
        </p:nvPicPr>
        <p:blipFill>
          <a:blip r:embed="rId3"/>
          <a:stretch>
            <a:fillRect/>
          </a:stretch>
        </p:blipFill>
        <p:spPr>
          <a:xfrm>
            <a:off x="7114031" y="2743200"/>
            <a:ext cx="1325880" cy="439435"/>
          </a:xfrm>
          <a:prstGeom prst="rect">
            <a:avLst/>
          </a:prstGeom>
        </p:spPr>
      </p:pic>
      <p:sp>
        <p:nvSpPr>
          <p:cNvPr id="15" name="Rounded Rectangle 14"/>
          <p:cNvSpPr/>
          <p:nvPr/>
        </p:nvSpPr>
        <p:spPr>
          <a:xfrm>
            <a:off x="6876288" y="3374136"/>
            <a:ext cx="4334256" cy="658368"/>
          </a:xfrm>
          <a:prstGeom prst="roundRect">
            <a:avLst/>
          </a:prstGeom>
          <a:solidFill>
            <a:srgbClr val="ECFBFC"/>
          </a:solidFill>
          <a:ln w="10160">
            <a:solidFill>
              <a:srgbClr val="ECFB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76288" y="3374136"/>
            <a:ext cx="73152" cy="658368"/>
          </a:xfrm>
          <a:prstGeom prst="rect">
            <a:avLst/>
          </a:prstGeom>
          <a:solidFill>
            <a:srgbClr val="08A5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ransunion_logo.png"/>
          <p:cNvPicPr>
            <a:picLocks noChangeAspect="1"/>
          </p:cNvPicPr>
          <p:nvPr/>
        </p:nvPicPr>
        <p:blipFill>
          <a:blip r:embed="rId4"/>
          <a:stretch>
            <a:fillRect/>
          </a:stretch>
        </p:blipFill>
        <p:spPr>
          <a:xfrm>
            <a:off x="7114031" y="3538728"/>
            <a:ext cx="1325880" cy="381633"/>
          </a:xfrm>
          <a:prstGeom prst="rect">
            <a:avLst/>
          </a:prstGeom>
        </p:spPr>
      </p:pic>
      <p:sp>
        <p:nvSpPr>
          <p:cNvPr id="18" name="TextBox 17"/>
          <p:cNvSpPr txBox="1"/>
          <p:nvPr/>
        </p:nvSpPr>
        <p:spPr>
          <a:xfrm>
            <a:off x="640080" y="5358384"/>
            <a:ext cx="5669280" cy="228600"/>
          </a:xfrm>
          <a:prstGeom prst="rect">
            <a:avLst/>
          </a:prstGeom>
          <a:noFill/>
        </p:spPr>
        <p:txBody>
          <a:bodyPr wrap="square" lIns="36576" rIns="36576" tIns="36576" bIns="36576" anchor="t">
            <a:spAutoFit/>
          </a:bodyPr>
          <a:lstStyle/>
          <a:p>
            <a:pPr algn="l">
              <a:spcAft>
                <a:spcPts val="0"/>
              </a:spcAft>
            </a:pPr>
            <a:r>
              <a:rPr sz="1000" b="1" i="0">
                <a:solidFill>
                  <a:srgbClr val="172B4D"/>
                </a:solidFill>
                <a:latin typeface="Aptos"/>
              </a:rPr>
              <a:t>Team 5  ·  Chapter 10 — The Banking Business</a:t>
            </a:r>
          </a:p>
        </p:txBody>
      </p:sp>
      <p:sp>
        <p:nvSpPr>
          <p:cNvPr id="19" name="TextBox 18"/>
          <p:cNvSpPr txBox="1"/>
          <p:nvPr/>
        </p:nvSpPr>
        <p:spPr>
          <a:xfrm>
            <a:off x="640080" y="5687568"/>
            <a:ext cx="10789920" cy="347472"/>
          </a:xfrm>
          <a:prstGeom prst="rect">
            <a:avLst/>
          </a:prstGeom>
          <a:noFill/>
        </p:spPr>
        <p:txBody>
          <a:bodyPr wrap="square" lIns="36576" rIns="36576" tIns="36576" bIns="36576" anchor="t">
            <a:spAutoFit/>
          </a:bodyPr>
          <a:lstStyle/>
          <a:p>
            <a:pPr algn="l">
              <a:spcAft>
                <a:spcPts val="0"/>
              </a:spcAft>
            </a:pPr>
            <a:r>
              <a:rPr sz="840" b="0" i="0">
                <a:solidFill>
                  <a:srgbClr val="667085"/>
                </a:solidFill>
                <a:latin typeface="Aptos"/>
              </a:rPr>
              <a:t>Jules Metayer  ·  Manal Ouahmed  ·  Matteo Patussi  ·  Meng Qi  ·  Juan Romeromejia  ·  Calvin Minang</a:t>
            </a:r>
          </a:p>
        </p:txBody>
      </p:sp>
      <p:sp>
        <p:nvSpPr>
          <p:cNvPr id="20" name="TextBox 19"/>
          <p:cNvSpPr txBox="1"/>
          <p:nvPr/>
        </p:nvSpPr>
        <p:spPr>
          <a:xfrm>
            <a:off x="640080" y="6062472"/>
            <a:ext cx="5943600" cy="219456"/>
          </a:xfrm>
          <a:prstGeom prst="rect">
            <a:avLst/>
          </a:prstGeom>
          <a:noFill/>
        </p:spPr>
        <p:txBody>
          <a:bodyPr wrap="square" lIns="36576" rIns="36576" tIns="36576" bIns="36576" anchor="t">
            <a:spAutoFit/>
          </a:bodyPr>
          <a:lstStyle/>
          <a:p>
            <a:pPr algn="l">
              <a:spcAft>
                <a:spcPts val="0"/>
              </a:spcAft>
            </a:pPr>
            <a:r>
              <a:rPr sz="800" b="0" i="0">
                <a:solidFill>
                  <a:srgbClr val="667085"/>
                </a:solidFill>
                <a:latin typeface="Aptos"/>
              </a:rPr>
              <a:t>Professor Dhafer Saidane  ·  Due 15 October 2026</a:t>
            </a:r>
          </a:p>
        </p:txBody>
      </p:sp>
      <p:sp>
        <p:nvSpPr>
          <p:cNvPr id="21" name="Rectangle 20"/>
          <p:cNvSpPr/>
          <p:nvPr/>
        </p:nvSpPr>
        <p:spPr>
          <a:xfrm>
            <a:off x="502920" y="6446520"/>
            <a:ext cx="11155680"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6492240"/>
            <a:ext cx="10149840" cy="164592"/>
          </a:xfrm>
          <a:prstGeom prst="rect">
            <a:avLst/>
          </a:prstGeom>
          <a:noFill/>
        </p:spPr>
        <p:txBody>
          <a:bodyPr wrap="square" lIns="36576" rIns="36576" tIns="36576" bIns="36576" anchor="t">
            <a:spAutoFit/>
          </a:bodyPr>
          <a:lstStyle/>
          <a:p>
            <a:pPr algn="l">
              <a:spcAft>
                <a:spcPts val="0"/>
              </a:spcAft>
            </a:pPr>
            <a:r>
              <a:rPr sz="650" b="0" i="0">
                <a:solidFill>
                  <a:srgbClr val="667085"/>
                </a:solidFill>
                <a:latin typeface="Aptos"/>
              </a:rPr>
              <a:t>Sources: CFPB; FICO; official company pages listed on slide 6. Accessed 10 October 2026.</a:t>
            </a:r>
          </a:p>
        </p:txBody>
      </p:sp>
      <p:sp>
        <p:nvSpPr>
          <p:cNvPr id="23" name="TextBox 22"/>
          <p:cNvSpPr txBox="1"/>
          <p:nvPr/>
        </p:nvSpPr>
        <p:spPr>
          <a:xfrm>
            <a:off x="11064240" y="6473952"/>
            <a:ext cx="566928" cy="164592"/>
          </a:xfrm>
          <a:prstGeom prst="rect">
            <a:avLst/>
          </a:prstGeom>
          <a:noFill/>
        </p:spPr>
        <p:txBody>
          <a:bodyPr wrap="square" lIns="36576" rIns="36576" tIns="36576" bIns="36576" anchor="t">
            <a:spAutoFit/>
          </a:bodyPr>
          <a:lstStyle/>
          <a:p>
            <a:pPr algn="r">
              <a:spcAft>
                <a:spcPts val="0"/>
              </a:spcAft>
            </a:pPr>
            <a:r>
              <a:rPr sz="700" b="0" i="0">
                <a:solidFill>
                  <a:srgbClr val="667085"/>
                </a:solidFill>
                <a:latin typeface="Aptos"/>
              </a:rPr>
              <a:t>1 / 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502920" y="256032"/>
            <a:ext cx="3657600" cy="201168"/>
          </a:xfrm>
          <a:prstGeom prst="rect">
            <a:avLst/>
          </a:prstGeom>
          <a:noFill/>
        </p:spPr>
        <p:txBody>
          <a:bodyPr wrap="square" lIns="36576" rIns="36576" tIns="36576" bIns="36576" anchor="t">
            <a:spAutoFit/>
          </a:bodyPr>
          <a:lstStyle/>
          <a:p>
            <a:pPr algn="l">
              <a:spcAft>
                <a:spcPts val="0"/>
              </a:spcAft>
            </a:pPr>
            <a:r>
              <a:rPr sz="850" b="1" i="0">
                <a:solidFill>
                  <a:srgbClr val="08A5BE"/>
                </a:solidFill>
                <a:latin typeface="Aptos"/>
              </a:rPr>
              <a:t>BONUS  ·  CREDIT BUREAUS</a:t>
            </a:r>
          </a:p>
        </p:txBody>
      </p:sp>
      <p:sp>
        <p:nvSpPr>
          <p:cNvPr id="3" name="TextBox 2"/>
          <p:cNvSpPr txBox="1"/>
          <p:nvPr/>
        </p:nvSpPr>
        <p:spPr>
          <a:xfrm>
            <a:off x="11109960" y="246888"/>
            <a:ext cx="502920" cy="256032"/>
          </a:xfrm>
          <a:prstGeom prst="rect">
            <a:avLst/>
          </a:prstGeom>
          <a:noFill/>
        </p:spPr>
        <p:txBody>
          <a:bodyPr wrap="square" lIns="36576" rIns="36576" tIns="36576" bIns="36576" anchor="t">
            <a:spAutoFit/>
          </a:bodyPr>
          <a:lstStyle/>
          <a:p>
            <a:pPr algn="r">
              <a:spcAft>
                <a:spcPts val="0"/>
              </a:spcAft>
            </a:pPr>
            <a:r>
              <a:rPr sz="900" b="1" i="0">
                <a:solidFill>
                  <a:srgbClr val="667085"/>
                </a:solidFill>
                <a:latin typeface="Aptos"/>
              </a:rPr>
              <a:t>02</a:t>
            </a:r>
          </a:p>
        </p:txBody>
      </p:sp>
      <p:sp>
        <p:nvSpPr>
          <p:cNvPr id="4" name="Rectangle 3"/>
          <p:cNvSpPr/>
          <p:nvPr/>
        </p:nvSpPr>
        <p:spPr>
          <a:xfrm>
            <a:off x="502920" y="566928"/>
            <a:ext cx="420624" cy="50292"/>
          </a:xfrm>
          <a:prstGeom prst="rect">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93776"/>
            <a:ext cx="2743200" cy="201168"/>
          </a:xfrm>
          <a:prstGeom prst="rect">
            <a:avLst/>
          </a:prstGeom>
          <a:noFill/>
        </p:spPr>
        <p:txBody>
          <a:bodyPr wrap="square" lIns="36576" rIns="36576" tIns="36576" bIns="36576" anchor="t">
            <a:spAutoFit/>
          </a:bodyPr>
          <a:lstStyle/>
          <a:p>
            <a:pPr algn="l">
              <a:spcAft>
                <a:spcPts val="0"/>
              </a:spcAft>
            </a:pPr>
            <a:r>
              <a:rPr sz="819" b="1" i="0">
                <a:solidFill>
                  <a:srgbClr val="667085"/>
                </a:solidFill>
                <a:latin typeface="Aptos"/>
              </a:rPr>
              <a:t>START WITH THE DISTINCTION</a:t>
            </a:r>
          </a:p>
        </p:txBody>
      </p:sp>
      <p:sp>
        <p:nvSpPr>
          <p:cNvPr id="6" name="TextBox 5"/>
          <p:cNvSpPr txBox="1"/>
          <p:nvPr/>
        </p:nvSpPr>
        <p:spPr>
          <a:xfrm>
            <a:off x="502920" y="822960"/>
            <a:ext cx="10881360" cy="566928"/>
          </a:xfrm>
          <a:prstGeom prst="rect">
            <a:avLst/>
          </a:prstGeom>
          <a:noFill/>
        </p:spPr>
        <p:txBody>
          <a:bodyPr wrap="square" lIns="36576" rIns="36576" tIns="36576" bIns="36576" anchor="t">
            <a:spAutoFit/>
          </a:bodyPr>
          <a:lstStyle/>
          <a:p>
            <a:pPr algn="l">
              <a:spcAft>
                <a:spcPts val="0"/>
              </a:spcAft>
            </a:pPr>
            <a:r>
              <a:rPr sz="2500" b="1" i="0">
                <a:solidFill>
                  <a:srgbClr val="172B4D"/>
                </a:solidFill>
                <a:latin typeface="Aptos"/>
              </a:rPr>
              <a:t>A report is not a score — and a score is not a decision</a:t>
            </a:r>
          </a:p>
        </p:txBody>
      </p:sp>
      <p:sp>
        <p:nvSpPr>
          <p:cNvPr id="7" name="TextBox 6"/>
          <p:cNvSpPr txBox="1"/>
          <p:nvPr/>
        </p:nvSpPr>
        <p:spPr>
          <a:xfrm>
            <a:off x="530352" y="1408176"/>
            <a:ext cx="10424160" cy="320040"/>
          </a:xfrm>
          <a:prstGeom prst="rect">
            <a:avLst/>
          </a:prstGeom>
          <a:noFill/>
        </p:spPr>
        <p:txBody>
          <a:bodyPr wrap="square" lIns="36576" rIns="36576" tIns="36576" bIns="36576" anchor="t">
            <a:spAutoFit/>
          </a:bodyPr>
          <a:lstStyle/>
          <a:p>
            <a:pPr algn="l">
              <a:spcAft>
                <a:spcPts val="0"/>
              </a:spcAft>
            </a:pPr>
            <a:r>
              <a:rPr sz="1100" b="0" i="1">
                <a:solidFill>
                  <a:srgbClr val="667085"/>
                </a:solidFill>
                <a:latin typeface="Aptos"/>
              </a:rPr>
              <a:t>The basic vocabulary behind modern credit information.</a:t>
            </a:r>
          </a:p>
        </p:txBody>
      </p:sp>
      <p:sp>
        <p:nvSpPr>
          <p:cNvPr id="8" name="Rounded Rectangle 7"/>
          <p:cNvSpPr/>
          <p:nvPr/>
        </p:nvSpPr>
        <p:spPr>
          <a:xfrm>
            <a:off x="594360" y="2057400"/>
            <a:ext cx="3246120" cy="2057400"/>
          </a:xfrm>
          <a:prstGeom prst="roundRect">
            <a:avLst/>
          </a:prstGeom>
          <a:solidFill>
            <a:srgbClr val="EAF3F8"/>
          </a:solidFill>
          <a:ln w="10160">
            <a:solidFill>
              <a:srgbClr val="EAF3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313432"/>
            <a:ext cx="411480" cy="274320"/>
          </a:xfrm>
          <a:prstGeom prst="rect">
            <a:avLst/>
          </a:prstGeom>
          <a:noFill/>
        </p:spPr>
        <p:txBody>
          <a:bodyPr wrap="square" lIns="36576" rIns="36576" tIns="36576" bIns="36576" anchor="t">
            <a:spAutoFit/>
          </a:bodyPr>
          <a:lstStyle/>
          <a:p>
            <a:pPr algn="l">
              <a:spcAft>
                <a:spcPts val="0"/>
              </a:spcAft>
            </a:pPr>
            <a:r>
              <a:rPr sz="1100" b="1" i="0">
                <a:solidFill>
                  <a:srgbClr val="2F68A7"/>
                </a:solidFill>
                <a:latin typeface="Aptos"/>
              </a:rPr>
              <a:t>01</a:t>
            </a:r>
          </a:p>
        </p:txBody>
      </p:sp>
      <p:sp>
        <p:nvSpPr>
          <p:cNvPr id="10" name="TextBox 9"/>
          <p:cNvSpPr txBox="1"/>
          <p:nvPr/>
        </p:nvSpPr>
        <p:spPr>
          <a:xfrm>
            <a:off x="850392" y="2715768"/>
            <a:ext cx="2651760" cy="320040"/>
          </a:xfrm>
          <a:prstGeom prst="rect">
            <a:avLst/>
          </a:prstGeom>
          <a:noFill/>
        </p:spPr>
        <p:txBody>
          <a:bodyPr wrap="square" lIns="36576" rIns="36576" tIns="36576" bIns="36576" anchor="t">
            <a:spAutoFit/>
          </a:bodyPr>
          <a:lstStyle/>
          <a:p>
            <a:pPr algn="l">
              <a:spcAft>
                <a:spcPts val="0"/>
              </a:spcAft>
            </a:pPr>
            <a:r>
              <a:rPr sz="1700" b="1" i="0">
                <a:solidFill>
                  <a:srgbClr val="172B4D"/>
                </a:solidFill>
                <a:latin typeface="Aptos"/>
              </a:rPr>
              <a:t>Credit bureau</a:t>
            </a:r>
          </a:p>
        </p:txBody>
      </p:sp>
      <p:sp>
        <p:nvSpPr>
          <p:cNvPr id="11" name="TextBox 10"/>
          <p:cNvSpPr txBox="1"/>
          <p:nvPr/>
        </p:nvSpPr>
        <p:spPr>
          <a:xfrm>
            <a:off x="850392" y="3273552"/>
            <a:ext cx="2697480" cy="594360"/>
          </a:xfrm>
          <a:prstGeom prst="rect">
            <a:avLst/>
          </a:prstGeom>
          <a:noFill/>
        </p:spPr>
        <p:txBody>
          <a:bodyPr wrap="square" lIns="36576" rIns="36576" tIns="36576" bIns="36576" anchor="t">
            <a:spAutoFit/>
          </a:bodyPr>
          <a:lstStyle/>
          <a:p>
            <a:pPr algn="l">
              <a:spcAft>
                <a:spcPts val="0"/>
              </a:spcAft>
            </a:pPr>
            <a:r>
              <a:rPr sz="1100" b="0" i="0">
                <a:solidFill>
                  <a:srgbClr val="1F2937"/>
                </a:solidFill>
                <a:latin typeface="Aptos"/>
              </a:rPr>
              <a:t>Collects, organises and supplies credit-related information.</a:t>
            </a:r>
          </a:p>
        </p:txBody>
      </p:sp>
      <p:sp>
        <p:nvSpPr>
          <p:cNvPr id="12" name="Rounded Rectangle 11"/>
          <p:cNvSpPr/>
          <p:nvPr/>
        </p:nvSpPr>
        <p:spPr>
          <a:xfrm>
            <a:off x="4133087" y="2057400"/>
            <a:ext cx="3246120" cy="2057400"/>
          </a:xfrm>
          <a:prstGeom prst="roundRect">
            <a:avLst/>
          </a:prstGeom>
          <a:solidFill>
            <a:srgbClr val="E8F5F3"/>
          </a:solidFill>
          <a:ln w="10160">
            <a:solidFill>
              <a:srgbClr val="E8F5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2313432"/>
            <a:ext cx="411480" cy="274320"/>
          </a:xfrm>
          <a:prstGeom prst="rect">
            <a:avLst/>
          </a:prstGeom>
          <a:noFill/>
        </p:spPr>
        <p:txBody>
          <a:bodyPr wrap="square" lIns="36576" rIns="36576" tIns="36576" bIns="36576" anchor="t">
            <a:spAutoFit/>
          </a:bodyPr>
          <a:lstStyle/>
          <a:p>
            <a:pPr algn="l">
              <a:spcAft>
                <a:spcPts val="0"/>
              </a:spcAft>
            </a:pPr>
            <a:r>
              <a:rPr sz="1100" b="1" i="0">
                <a:solidFill>
                  <a:srgbClr val="08A5BE"/>
                </a:solidFill>
                <a:latin typeface="Aptos"/>
              </a:rPr>
              <a:t>02</a:t>
            </a:r>
          </a:p>
        </p:txBody>
      </p:sp>
      <p:sp>
        <p:nvSpPr>
          <p:cNvPr id="14" name="TextBox 13"/>
          <p:cNvSpPr txBox="1"/>
          <p:nvPr/>
        </p:nvSpPr>
        <p:spPr>
          <a:xfrm>
            <a:off x="4389120" y="2715768"/>
            <a:ext cx="2651760" cy="320040"/>
          </a:xfrm>
          <a:prstGeom prst="rect">
            <a:avLst/>
          </a:prstGeom>
          <a:noFill/>
        </p:spPr>
        <p:txBody>
          <a:bodyPr wrap="square" lIns="36576" rIns="36576" tIns="36576" bIns="36576" anchor="t">
            <a:spAutoFit/>
          </a:bodyPr>
          <a:lstStyle/>
          <a:p>
            <a:pPr algn="l">
              <a:spcAft>
                <a:spcPts val="0"/>
              </a:spcAft>
            </a:pPr>
            <a:r>
              <a:rPr sz="1700" b="1" i="0">
                <a:solidFill>
                  <a:srgbClr val="172B4D"/>
                </a:solidFill>
                <a:latin typeface="Aptos"/>
              </a:rPr>
              <a:t>Credit report</a:t>
            </a:r>
          </a:p>
        </p:txBody>
      </p:sp>
      <p:sp>
        <p:nvSpPr>
          <p:cNvPr id="15" name="TextBox 14"/>
          <p:cNvSpPr txBox="1"/>
          <p:nvPr/>
        </p:nvSpPr>
        <p:spPr>
          <a:xfrm>
            <a:off x="4389120" y="3273552"/>
            <a:ext cx="2697480" cy="594360"/>
          </a:xfrm>
          <a:prstGeom prst="rect">
            <a:avLst/>
          </a:prstGeom>
          <a:noFill/>
        </p:spPr>
        <p:txBody>
          <a:bodyPr wrap="square" lIns="36576" rIns="36576" tIns="36576" bIns="36576" anchor="t">
            <a:spAutoFit/>
          </a:bodyPr>
          <a:lstStyle/>
          <a:p>
            <a:pPr algn="l">
              <a:spcAft>
                <a:spcPts val="0"/>
              </a:spcAft>
            </a:pPr>
            <a:r>
              <a:rPr sz="1100" b="0" i="0">
                <a:solidFill>
                  <a:srgbClr val="1F2937"/>
                </a:solidFill>
                <a:latin typeface="Aptos"/>
              </a:rPr>
              <a:t>A record of reported information about a consumer or business.</a:t>
            </a:r>
          </a:p>
        </p:txBody>
      </p:sp>
      <p:sp>
        <p:nvSpPr>
          <p:cNvPr id="16" name="Rounded Rectangle 15"/>
          <p:cNvSpPr/>
          <p:nvPr/>
        </p:nvSpPr>
        <p:spPr>
          <a:xfrm>
            <a:off x="7671816" y="2057400"/>
            <a:ext cx="3246120" cy="2057400"/>
          </a:xfrm>
          <a:prstGeom prst="roundRect">
            <a:avLst/>
          </a:prstGeom>
          <a:solidFill>
            <a:srgbClr val="F8EEF5"/>
          </a:solidFill>
          <a:ln w="10160">
            <a:solidFill>
              <a:srgbClr val="F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27848" y="2313432"/>
            <a:ext cx="411480" cy="274320"/>
          </a:xfrm>
          <a:prstGeom prst="rect">
            <a:avLst/>
          </a:prstGeom>
          <a:noFill/>
        </p:spPr>
        <p:txBody>
          <a:bodyPr wrap="square" lIns="36576" rIns="36576" tIns="36576" bIns="36576" anchor="t">
            <a:spAutoFit/>
          </a:bodyPr>
          <a:lstStyle/>
          <a:p>
            <a:pPr algn="l">
              <a:spcAft>
                <a:spcPts val="0"/>
              </a:spcAft>
            </a:pPr>
            <a:r>
              <a:rPr sz="1100" b="1" i="0">
                <a:solidFill>
                  <a:srgbClr val="9B1C3F"/>
                </a:solidFill>
                <a:latin typeface="Aptos"/>
              </a:rPr>
              <a:t>03</a:t>
            </a:r>
          </a:p>
        </p:txBody>
      </p:sp>
      <p:sp>
        <p:nvSpPr>
          <p:cNvPr id="18" name="TextBox 17"/>
          <p:cNvSpPr txBox="1"/>
          <p:nvPr/>
        </p:nvSpPr>
        <p:spPr>
          <a:xfrm>
            <a:off x="7927848" y="2715768"/>
            <a:ext cx="2651760" cy="320040"/>
          </a:xfrm>
          <a:prstGeom prst="rect">
            <a:avLst/>
          </a:prstGeom>
          <a:noFill/>
        </p:spPr>
        <p:txBody>
          <a:bodyPr wrap="square" lIns="36576" rIns="36576" tIns="36576" bIns="36576" anchor="t">
            <a:spAutoFit/>
          </a:bodyPr>
          <a:lstStyle/>
          <a:p>
            <a:pPr algn="l">
              <a:spcAft>
                <a:spcPts val="0"/>
              </a:spcAft>
            </a:pPr>
            <a:r>
              <a:rPr sz="1700" b="1" i="0">
                <a:solidFill>
                  <a:srgbClr val="172B4D"/>
                </a:solidFill>
                <a:latin typeface="Aptos"/>
              </a:rPr>
              <a:t>Credit score</a:t>
            </a:r>
          </a:p>
        </p:txBody>
      </p:sp>
      <p:sp>
        <p:nvSpPr>
          <p:cNvPr id="19" name="TextBox 18"/>
          <p:cNvSpPr txBox="1"/>
          <p:nvPr/>
        </p:nvSpPr>
        <p:spPr>
          <a:xfrm>
            <a:off x="7927848" y="3273552"/>
            <a:ext cx="2697480" cy="594360"/>
          </a:xfrm>
          <a:prstGeom prst="rect">
            <a:avLst/>
          </a:prstGeom>
          <a:noFill/>
        </p:spPr>
        <p:txBody>
          <a:bodyPr wrap="square" lIns="36576" rIns="36576" tIns="36576" bIns="36576" anchor="t">
            <a:spAutoFit/>
          </a:bodyPr>
          <a:lstStyle/>
          <a:p>
            <a:pPr algn="l">
              <a:spcAft>
                <a:spcPts val="0"/>
              </a:spcAft>
            </a:pPr>
            <a:r>
              <a:rPr sz="1100" b="0" i="0">
                <a:solidFill>
                  <a:srgbClr val="1F2937"/>
                </a:solidFill>
                <a:latin typeface="Aptos"/>
              </a:rPr>
              <a:t>An output produced by a scoring model using selected information.</a:t>
            </a:r>
          </a:p>
        </p:txBody>
      </p:sp>
      <p:sp>
        <p:nvSpPr>
          <p:cNvPr id="20" name="Rounded Rectangle 19"/>
          <p:cNvSpPr/>
          <p:nvPr/>
        </p:nvSpPr>
        <p:spPr>
          <a:xfrm>
            <a:off x="594360" y="4617720"/>
            <a:ext cx="10936224" cy="868680"/>
          </a:xfrm>
          <a:prstGeom prst="roundRect">
            <a:avLst/>
          </a:prstGeom>
          <a:solidFill>
            <a:srgbClr val="172B4D"/>
          </a:solidFill>
          <a:ln w="10160">
            <a:solidFill>
              <a:srgbClr val="172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828032"/>
            <a:ext cx="1600200" cy="228600"/>
          </a:xfrm>
          <a:prstGeom prst="rect">
            <a:avLst/>
          </a:prstGeom>
          <a:noFill/>
        </p:spPr>
        <p:txBody>
          <a:bodyPr wrap="square" lIns="36576" rIns="36576" tIns="36576" bIns="36576" anchor="t">
            <a:spAutoFit/>
          </a:bodyPr>
          <a:lstStyle/>
          <a:p>
            <a:pPr algn="l">
              <a:spcAft>
                <a:spcPts val="0"/>
              </a:spcAft>
            </a:pPr>
            <a:r>
              <a:rPr sz="800" b="1" i="0">
                <a:solidFill>
                  <a:srgbClr val="D6A33A"/>
                </a:solidFill>
                <a:latin typeface="Aptos"/>
              </a:rPr>
              <a:t>KEY CONTROL POINT</a:t>
            </a:r>
          </a:p>
        </p:txBody>
      </p:sp>
      <p:sp>
        <p:nvSpPr>
          <p:cNvPr id="22" name="TextBox 21"/>
          <p:cNvSpPr txBox="1"/>
          <p:nvPr/>
        </p:nvSpPr>
        <p:spPr>
          <a:xfrm>
            <a:off x="2514600" y="4773168"/>
            <a:ext cx="8549640" cy="384048"/>
          </a:xfrm>
          <a:prstGeom prst="rect">
            <a:avLst/>
          </a:prstGeom>
          <a:noFill/>
        </p:spPr>
        <p:txBody>
          <a:bodyPr wrap="square" lIns="36576" rIns="36576" tIns="36576" bIns="36576" anchor="t">
            <a:spAutoFit/>
          </a:bodyPr>
          <a:lstStyle/>
          <a:p>
            <a:pPr algn="l">
              <a:spcAft>
                <a:spcPts val="0"/>
              </a:spcAft>
            </a:pPr>
            <a:r>
              <a:rPr sz="1500" b="1" i="0">
                <a:solidFill>
                  <a:srgbClr val="FFFFFF"/>
                </a:solidFill>
                <a:latin typeface="Aptos"/>
              </a:rPr>
              <a:t>A credit score supports a lending decision; the lender remains responsible for the final decision.</a:t>
            </a:r>
          </a:p>
        </p:txBody>
      </p:sp>
      <p:sp>
        <p:nvSpPr>
          <p:cNvPr id="23" name="Rectangle 22"/>
          <p:cNvSpPr/>
          <p:nvPr/>
        </p:nvSpPr>
        <p:spPr>
          <a:xfrm>
            <a:off x="502920" y="6446520"/>
            <a:ext cx="11155680"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6492240"/>
            <a:ext cx="10149840" cy="164592"/>
          </a:xfrm>
          <a:prstGeom prst="rect">
            <a:avLst/>
          </a:prstGeom>
          <a:noFill/>
        </p:spPr>
        <p:txBody>
          <a:bodyPr wrap="square" lIns="36576" rIns="36576" tIns="36576" bIns="36576" anchor="t">
            <a:spAutoFit/>
          </a:bodyPr>
          <a:lstStyle/>
          <a:p>
            <a:pPr algn="l">
              <a:spcAft>
                <a:spcPts val="0"/>
              </a:spcAft>
            </a:pPr>
            <a:r>
              <a:rPr sz="650" b="0" i="0">
                <a:solidFill>
                  <a:srgbClr val="667085"/>
                </a:solidFill>
                <a:latin typeface="Aptos"/>
              </a:rPr>
              <a:t>Sources: Consumer Financial Protection Bureau — Credit reports and scores; FICO — Scores across credit bureaus.</a:t>
            </a:r>
          </a:p>
        </p:txBody>
      </p:sp>
      <p:sp>
        <p:nvSpPr>
          <p:cNvPr id="25" name="TextBox 24"/>
          <p:cNvSpPr txBox="1"/>
          <p:nvPr/>
        </p:nvSpPr>
        <p:spPr>
          <a:xfrm>
            <a:off x="11064240" y="6473952"/>
            <a:ext cx="566928" cy="164592"/>
          </a:xfrm>
          <a:prstGeom prst="rect">
            <a:avLst/>
          </a:prstGeom>
          <a:noFill/>
        </p:spPr>
        <p:txBody>
          <a:bodyPr wrap="square" lIns="36576" rIns="36576" tIns="36576" bIns="36576" anchor="t">
            <a:spAutoFit/>
          </a:bodyPr>
          <a:lstStyle/>
          <a:p>
            <a:pPr algn="r">
              <a:spcAft>
                <a:spcPts val="0"/>
              </a:spcAft>
            </a:pPr>
            <a:r>
              <a:rPr sz="700" b="0" i="0">
                <a:solidFill>
                  <a:srgbClr val="667085"/>
                </a:solidFill>
                <a:latin typeface="Aptos"/>
              </a:rPr>
              <a:t>2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502920" y="256032"/>
            <a:ext cx="3657600" cy="201168"/>
          </a:xfrm>
          <a:prstGeom prst="rect">
            <a:avLst/>
          </a:prstGeom>
          <a:noFill/>
        </p:spPr>
        <p:txBody>
          <a:bodyPr wrap="square" lIns="36576" rIns="36576" tIns="36576" bIns="36576" anchor="t">
            <a:spAutoFit/>
          </a:bodyPr>
          <a:lstStyle/>
          <a:p>
            <a:pPr algn="l">
              <a:spcAft>
                <a:spcPts val="0"/>
              </a:spcAft>
            </a:pPr>
            <a:r>
              <a:rPr sz="850" b="1" i="0">
                <a:solidFill>
                  <a:srgbClr val="08A5BE"/>
                </a:solidFill>
                <a:latin typeface="Aptos"/>
              </a:rPr>
              <a:t>BONUS  ·  CREDIT BUREAUS</a:t>
            </a:r>
          </a:p>
        </p:txBody>
      </p:sp>
      <p:sp>
        <p:nvSpPr>
          <p:cNvPr id="3" name="TextBox 2"/>
          <p:cNvSpPr txBox="1"/>
          <p:nvPr/>
        </p:nvSpPr>
        <p:spPr>
          <a:xfrm>
            <a:off x="11109960" y="246888"/>
            <a:ext cx="502920" cy="256032"/>
          </a:xfrm>
          <a:prstGeom prst="rect">
            <a:avLst/>
          </a:prstGeom>
          <a:noFill/>
        </p:spPr>
        <p:txBody>
          <a:bodyPr wrap="square" lIns="36576" rIns="36576" tIns="36576" bIns="36576" anchor="t">
            <a:spAutoFit/>
          </a:bodyPr>
          <a:lstStyle/>
          <a:p>
            <a:pPr algn="r">
              <a:spcAft>
                <a:spcPts val="0"/>
              </a:spcAft>
            </a:pPr>
            <a:r>
              <a:rPr sz="900" b="1" i="0">
                <a:solidFill>
                  <a:srgbClr val="667085"/>
                </a:solidFill>
                <a:latin typeface="Aptos"/>
              </a:rPr>
              <a:t>03</a:t>
            </a:r>
          </a:p>
        </p:txBody>
      </p:sp>
      <p:sp>
        <p:nvSpPr>
          <p:cNvPr id="4" name="Rectangle 3"/>
          <p:cNvSpPr/>
          <p:nvPr/>
        </p:nvSpPr>
        <p:spPr>
          <a:xfrm>
            <a:off x="502920" y="566928"/>
            <a:ext cx="420624" cy="50292"/>
          </a:xfrm>
          <a:prstGeom prst="rect">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93776"/>
            <a:ext cx="2743200" cy="201168"/>
          </a:xfrm>
          <a:prstGeom prst="rect">
            <a:avLst/>
          </a:prstGeom>
          <a:noFill/>
        </p:spPr>
        <p:txBody>
          <a:bodyPr wrap="square" lIns="36576" rIns="36576" tIns="36576" bIns="36576" anchor="t">
            <a:spAutoFit/>
          </a:bodyPr>
          <a:lstStyle/>
          <a:p>
            <a:pPr algn="l">
              <a:spcAft>
                <a:spcPts val="0"/>
              </a:spcAft>
            </a:pPr>
            <a:r>
              <a:rPr sz="819" b="1" i="0">
                <a:solidFill>
                  <a:srgbClr val="667085"/>
                </a:solidFill>
                <a:latin typeface="Aptos"/>
              </a:rPr>
              <a:t>DECISION JOURNEY</a:t>
            </a:r>
          </a:p>
        </p:txBody>
      </p:sp>
      <p:sp>
        <p:nvSpPr>
          <p:cNvPr id="6" name="TextBox 5"/>
          <p:cNvSpPr txBox="1"/>
          <p:nvPr/>
        </p:nvSpPr>
        <p:spPr>
          <a:xfrm>
            <a:off x="502920" y="822960"/>
            <a:ext cx="10881360" cy="566928"/>
          </a:xfrm>
          <a:prstGeom prst="rect">
            <a:avLst/>
          </a:prstGeom>
          <a:noFill/>
        </p:spPr>
        <p:txBody>
          <a:bodyPr wrap="square" lIns="36576" rIns="36576" tIns="36576" bIns="36576" anchor="t">
            <a:spAutoFit/>
          </a:bodyPr>
          <a:lstStyle/>
          <a:p>
            <a:pPr algn="l">
              <a:spcAft>
                <a:spcPts val="0"/>
              </a:spcAft>
            </a:pPr>
            <a:r>
              <a:rPr sz="2500" b="1" i="0">
                <a:solidFill>
                  <a:srgbClr val="172B4D"/>
                </a:solidFill>
                <a:latin typeface="Aptos"/>
              </a:rPr>
              <a:t>From reported information to a bank decision</a:t>
            </a:r>
          </a:p>
        </p:txBody>
      </p:sp>
      <p:sp>
        <p:nvSpPr>
          <p:cNvPr id="7" name="TextBox 6"/>
          <p:cNvSpPr txBox="1"/>
          <p:nvPr/>
        </p:nvSpPr>
        <p:spPr>
          <a:xfrm>
            <a:off x="530352" y="1408176"/>
            <a:ext cx="10424160" cy="320040"/>
          </a:xfrm>
          <a:prstGeom prst="rect">
            <a:avLst/>
          </a:prstGeom>
          <a:noFill/>
        </p:spPr>
        <p:txBody>
          <a:bodyPr wrap="square" lIns="36576" rIns="36576" tIns="36576" bIns="36576" anchor="t">
            <a:spAutoFit/>
          </a:bodyPr>
          <a:lstStyle/>
          <a:p>
            <a:pPr algn="l">
              <a:spcAft>
                <a:spcPts val="0"/>
              </a:spcAft>
            </a:pPr>
            <a:r>
              <a:rPr sz="1100" b="0" i="1">
                <a:solidFill>
                  <a:srgbClr val="667085"/>
                </a:solidFill>
                <a:latin typeface="Aptos"/>
              </a:rPr>
              <a:t>A conceptual process — not a proprietary process attributed to one company.</a:t>
            </a:r>
          </a:p>
        </p:txBody>
      </p:sp>
      <p:sp>
        <p:nvSpPr>
          <p:cNvPr id="8" name="Rounded Rectangle 7"/>
          <p:cNvSpPr/>
          <p:nvPr/>
        </p:nvSpPr>
        <p:spPr>
          <a:xfrm>
            <a:off x="566928" y="2240280"/>
            <a:ext cx="1481328" cy="1965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450592"/>
            <a:ext cx="603504" cy="603504"/>
          </a:xfrm>
          <a:prstGeom prst="ellipse">
            <a:avLst/>
          </a:prstGeom>
          <a:solidFill>
            <a:srgbClr val="17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15184"/>
            <a:ext cx="603504" cy="201168"/>
          </a:xfrm>
          <a:prstGeom prst="rect">
            <a:avLst/>
          </a:prstGeom>
          <a:noFill/>
        </p:spPr>
        <p:txBody>
          <a:bodyPr wrap="square" lIns="36576" rIns="36576" tIns="36576" bIns="36576" anchor="t">
            <a:spAutoFit/>
          </a:bodyPr>
          <a:lstStyle/>
          <a:p>
            <a:pPr algn="ctr">
              <a:spcAft>
                <a:spcPts val="0"/>
              </a:spcAft>
            </a:pPr>
            <a:r>
              <a:rPr sz="900" b="1" i="0">
                <a:solidFill>
                  <a:srgbClr val="FFFFFF"/>
                </a:solidFill>
                <a:latin typeface="Aptos"/>
              </a:rPr>
              <a:t>01</a:t>
            </a:r>
          </a:p>
        </p:txBody>
      </p:sp>
      <p:sp>
        <p:nvSpPr>
          <p:cNvPr id="11" name="TextBox 10"/>
          <p:cNvSpPr txBox="1"/>
          <p:nvPr/>
        </p:nvSpPr>
        <p:spPr>
          <a:xfrm>
            <a:off x="694944" y="3264408"/>
            <a:ext cx="1225296" cy="256032"/>
          </a:xfrm>
          <a:prstGeom prst="rect">
            <a:avLst/>
          </a:prstGeom>
          <a:noFill/>
        </p:spPr>
        <p:txBody>
          <a:bodyPr wrap="square" lIns="36576" rIns="36576" tIns="36576" bIns="36576" anchor="t">
            <a:spAutoFit/>
          </a:bodyPr>
          <a:lstStyle/>
          <a:p>
            <a:pPr algn="ctr">
              <a:spcAft>
                <a:spcPts val="0"/>
              </a:spcAft>
            </a:pPr>
            <a:r>
              <a:rPr sz="1100" b="1" i="0">
                <a:solidFill>
                  <a:srgbClr val="172B4D"/>
                </a:solidFill>
                <a:latin typeface="Aptos"/>
              </a:rPr>
              <a:t>Application</a:t>
            </a:r>
          </a:p>
        </p:txBody>
      </p:sp>
      <p:sp>
        <p:nvSpPr>
          <p:cNvPr id="12" name="TextBox 11"/>
          <p:cNvSpPr txBox="1"/>
          <p:nvPr/>
        </p:nvSpPr>
        <p:spPr>
          <a:xfrm>
            <a:off x="694944" y="3639312"/>
            <a:ext cx="1225296" cy="457200"/>
          </a:xfrm>
          <a:prstGeom prst="rect">
            <a:avLst/>
          </a:prstGeom>
          <a:noFill/>
        </p:spPr>
        <p:txBody>
          <a:bodyPr wrap="square" lIns="36576" rIns="36576" tIns="36576" bIns="36576" anchor="t">
            <a:spAutoFit/>
          </a:bodyPr>
          <a:lstStyle/>
          <a:p>
            <a:pPr algn="ctr">
              <a:spcAft>
                <a:spcPts val="0"/>
              </a:spcAft>
            </a:pPr>
            <a:r>
              <a:rPr sz="840" b="0" i="0">
                <a:solidFill>
                  <a:srgbClr val="667085"/>
                </a:solidFill>
                <a:latin typeface="Aptos"/>
              </a:rPr>
              <a:t>A consumer or business applies for credit.</a:t>
            </a:r>
          </a:p>
        </p:txBody>
      </p:sp>
      <p:sp>
        <p:nvSpPr>
          <p:cNvPr id="13" name="Chevron 12"/>
          <p:cNvSpPr/>
          <p:nvPr/>
        </p:nvSpPr>
        <p:spPr>
          <a:xfrm>
            <a:off x="2139696" y="3017520"/>
            <a:ext cx="292608" cy="384048"/>
          </a:xfrm>
          <a:prstGeom prst="chevron">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96312" y="2240280"/>
            <a:ext cx="1481328" cy="1965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35224" y="2450592"/>
            <a:ext cx="603504" cy="603504"/>
          </a:xfrm>
          <a:prstGeom prst="ellipse">
            <a:avLst/>
          </a:prstGeom>
          <a:solidFill>
            <a:srgbClr val="17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35224" y="2615184"/>
            <a:ext cx="603504" cy="201168"/>
          </a:xfrm>
          <a:prstGeom prst="rect">
            <a:avLst/>
          </a:prstGeom>
          <a:noFill/>
        </p:spPr>
        <p:txBody>
          <a:bodyPr wrap="square" lIns="36576" rIns="36576" tIns="36576" bIns="36576" anchor="t">
            <a:spAutoFit/>
          </a:bodyPr>
          <a:lstStyle/>
          <a:p>
            <a:pPr algn="ctr">
              <a:spcAft>
                <a:spcPts val="0"/>
              </a:spcAft>
            </a:pPr>
            <a:r>
              <a:rPr sz="900" b="1" i="0">
                <a:solidFill>
                  <a:srgbClr val="FFFFFF"/>
                </a:solidFill>
                <a:latin typeface="Aptos"/>
              </a:rPr>
              <a:t>02</a:t>
            </a:r>
          </a:p>
        </p:txBody>
      </p:sp>
      <p:sp>
        <p:nvSpPr>
          <p:cNvPr id="17" name="TextBox 16"/>
          <p:cNvSpPr txBox="1"/>
          <p:nvPr/>
        </p:nvSpPr>
        <p:spPr>
          <a:xfrm>
            <a:off x="2624328" y="3264408"/>
            <a:ext cx="1225296" cy="256032"/>
          </a:xfrm>
          <a:prstGeom prst="rect">
            <a:avLst/>
          </a:prstGeom>
          <a:noFill/>
        </p:spPr>
        <p:txBody>
          <a:bodyPr wrap="square" lIns="36576" rIns="36576" tIns="36576" bIns="36576" anchor="t">
            <a:spAutoFit/>
          </a:bodyPr>
          <a:lstStyle/>
          <a:p>
            <a:pPr algn="ctr">
              <a:spcAft>
                <a:spcPts val="0"/>
              </a:spcAft>
            </a:pPr>
            <a:r>
              <a:rPr sz="1100" b="1" i="0">
                <a:solidFill>
                  <a:srgbClr val="172B4D"/>
                </a:solidFill>
                <a:latin typeface="Aptos"/>
              </a:rPr>
              <a:t>Reporting</a:t>
            </a:r>
          </a:p>
        </p:txBody>
      </p:sp>
      <p:sp>
        <p:nvSpPr>
          <p:cNvPr id="18" name="TextBox 17"/>
          <p:cNvSpPr txBox="1"/>
          <p:nvPr/>
        </p:nvSpPr>
        <p:spPr>
          <a:xfrm>
            <a:off x="2624328" y="3639312"/>
            <a:ext cx="1225296" cy="457200"/>
          </a:xfrm>
          <a:prstGeom prst="rect">
            <a:avLst/>
          </a:prstGeom>
          <a:noFill/>
        </p:spPr>
        <p:txBody>
          <a:bodyPr wrap="square" lIns="36576" rIns="36576" tIns="36576" bIns="36576" anchor="t">
            <a:spAutoFit/>
          </a:bodyPr>
          <a:lstStyle/>
          <a:p>
            <a:pPr algn="ctr">
              <a:spcAft>
                <a:spcPts val="0"/>
              </a:spcAft>
            </a:pPr>
            <a:r>
              <a:rPr sz="840" b="0" i="0">
                <a:solidFill>
                  <a:srgbClr val="667085"/>
                </a:solidFill>
                <a:latin typeface="Aptos"/>
              </a:rPr>
              <a:t>Lenders and data furnishers report information.</a:t>
            </a:r>
          </a:p>
        </p:txBody>
      </p:sp>
      <p:sp>
        <p:nvSpPr>
          <p:cNvPr id="19" name="Chevron 18"/>
          <p:cNvSpPr/>
          <p:nvPr/>
        </p:nvSpPr>
        <p:spPr>
          <a:xfrm>
            <a:off x="4069080" y="3017520"/>
            <a:ext cx="292608" cy="384048"/>
          </a:xfrm>
          <a:prstGeom prst="chevron">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25696" y="2240280"/>
            <a:ext cx="1481328" cy="1965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64608" y="2450592"/>
            <a:ext cx="603504" cy="603504"/>
          </a:xfrm>
          <a:prstGeom prst="ellipse">
            <a:avLst/>
          </a:prstGeom>
          <a:solidFill>
            <a:srgbClr val="08A5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64608" y="2615184"/>
            <a:ext cx="603504" cy="201168"/>
          </a:xfrm>
          <a:prstGeom prst="rect">
            <a:avLst/>
          </a:prstGeom>
          <a:noFill/>
        </p:spPr>
        <p:txBody>
          <a:bodyPr wrap="square" lIns="36576" rIns="36576" tIns="36576" bIns="36576" anchor="t">
            <a:spAutoFit/>
          </a:bodyPr>
          <a:lstStyle/>
          <a:p>
            <a:pPr algn="ctr">
              <a:spcAft>
                <a:spcPts val="0"/>
              </a:spcAft>
            </a:pPr>
            <a:r>
              <a:rPr sz="900" b="1" i="0">
                <a:solidFill>
                  <a:srgbClr val="FFFFFF"/>
                </a:solidFill>
                <a:latin typeface="Aptos"/>
              </a:rPr>
              <a:t>03</a:t>
            </a:r>
          </a:p>
        </p:txBody>
      </p:sp>
      <p:sp>
        <p:nvSpPr>
          <p:cNvPr id="23" name="TextBox 22"/>
          <p:cNvSpPr txBox="1"/>
          <p:nvPr/>
        </p:nvSpPr>
        <p:spPr>
          <a:xfrm>
            <a:off x="4553712" y="3264408"/>
            <a:ext cx="1225296" cy="256032"/>
          </a:xfrm>
          <a:prstGeom prst="rect">
            <a:avLst/>
          </a:prstGeom>
          <a:noFill/>
        </p:spPr>
        <p:txBody>
          <a:bodyPr wrap="square" lIns="36576" rIns="36576" tIns="36576" bIns="36576" anchor="t">
            <a:spAutoFit/>
          </a:bodyPr>
          <a:lstStyle/>
          <a:p>
            <a:pPr algn="ctr">
              <a:spcAft>
                <a:spcPts val="0"/>
              </a:spcAft>
            </a:pPr>
            <a:r>
              <a:rPr sz="1100" b="1" i="0">
                <a:solidFill>
                  <a:srgbClr val="172B4D"/>
                </a:solidFill>
                <a:latin typeface="Aptos"/>
              </a:rPr>
              <a:t>Credit file</a:t>
            </a:r>
          </a:p>
        </p:txBody>
      </p:sp>
      <p:sp>
        <p:nvSpPr>
          <p:cNvPr id="24" name="TextBox 23"/>
          <p:cNvSpPr txBox="1"/>
          <p:nvPr/>
        </p:nvSpPr>
        <p:spPr>
          <a:xfrm>
            <a:off x="4553712" y="3639312"/>
            <a:ext cx="1225296" cy="457200"/>
          </a:xfrm>
          <a:prstGeom prst="rect">
            <a:avLst/>
          </a:prstGeom>
          <a:noFill/>
        </p:spPr>
        <p:txBody>
          <a:bodyPr wrap="square" lIns="36576" rIns="36576" tIns="36576" bIns="36576" anchor="t">
            <a:spAutoFit/>
          </a:bodyPr>
          <a:lstStyle/>
          <a:p>
            <a:pPr algn="ctr">
              <a:spcAft>
                <a:spcPts val="0"/>
              </a:spcAft>
            </a:pPr>
            <a:r>
              <a:rPr sz="840" b="0" i="0">
                <a:solidFill>
                  <a:srgbClr val="667085"/>
                </a:solidFill>
                <a:latin typeface="Aptos"/>
              </a:rPr>
              <a:t>The bureau organises a report or data product.</a:t>
            </a:r>
          </a:p>
        </p:txBody>
      </p:sp>
      <p:sp>
        <p:nvSpPr>
          <p:cNvPr id="25" name="Chevron 24"/>
          <p:cNvSpPr/>
          <p:nvPr/>
        </p:nvSpPr>
        <p:spPr>
          <a:xfrm>
            <a:off x="5998464" y="3017520"/>
            <a:ext cx="292608" cy="384048"/>
          </a:xfrm>
          <a:prstGeom prst="chevron">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55080" y="2240280"/>
            <a:ext cx="1481328" cy="1965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793992" y="2450592"/>
            <a:ext cx="603504" cy="603504"/>
          </a:xfrm>
          <a:prstGeom prst="ellipse">
            <a:avLst/>
          </a:prstGeom>
          <a:solidFill>
            <a:srgbClr val="08A5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93992" y="2615184"/>
            <a:ext cx="603504" cy="201168"/>
          </a:xfrm>
          <a:prstGeom prst="rect">
            <a:avLst/>
          </a:prstGeom>
          <a:noFill/>
        </p:spPr>
        <p:txBody>
          <a:bodyPr wrap="square" lIns="36576" rIns="36576" tIns="36576" bIns="36576" anchor="t">
            <a:spAutoFit/>
          </a:bodyPr>
          <a:lstStyle/>
          <a:p>
            <a:pPr algn="ctr">
              <a:spcAft>
                <a:spcPts val="0"/>
              </a:spcAft>
            </a:pPr>
            <a:r>
              <a:rPr sz="900" b="1" i="0">
                <a:solidFill>
                  <a:srgbClr val="FFFFFF"/>
                </a:solidFill>
                <a:latin typeface="Aptos"/>
              </a:rPr>
              <a:t>04</a:t>
            </a:r>
          </a:p>
        </p:txBody>
      </p:sp>
      <p:sp>
        <p:nvSpPr>
          <p:cNvPr id="29" name="TextBox 28"/>
          <p:cNvSpPr txBox="1"/>
          <p:nvPr/>
        </p:nvSpPr>
        <p:spPr>
          <a:xfrm>
            <a:off x="6483096" y="3264408"/>
            <a:ext cx="1225296" cy="256032"/>
          </a:xfrm>
          <a:prstGeom prst="rect">
            <a:avLst/>
          </a:prstGeom>
          <a:noFill/>
        </p:spPr>
        <p:txBody>
          <a:bodyPr wrap="square" lIns="36576" rIns="36576" tIns="36576" bIns="36576" anchor="t">
            <a:spAutoFit/>
          </a:bodyPr>
          <a:lstStyle/>
          <a:p>
            <a:pPr algn="ctr">
              <a:spcAft>
                <a:spcPts val="0"/>
              </a:spcAft>
            </a:pPr>
            <a:r>
              <a:rPr sz="1100" b="1" i="0">
                <a:solidFill>
                  <a:srgbClr val="172B4D"/>
                </a:solidFill>
                <a:latin typeface="Aptos"/>
              </a:rPr>
              <a:t>Scoring</a:t>
            </a:r>
          </a:p>
        </p:txBody>
      </p:sp>
      <p:sp>
        <p:nvSpPr>
          <p:cNvPr id="30" name="TextBox 29"/>
          <p:cNvSpPr txBox="1"/>
          <p:nvPr/>
        </p:nvSpPr>
        <p:spPr>
          <a:xfrm>
            <a:off x="6483096" y="3639312"/>
            <a:ext cx="1225296" cy="457200"/>
          </a:xfrm>
          <a:prstGeom prst="rect">
            <a:avLst/>
          </a:prstGeom>
          <a:noFill/>
        </p:spPr>
        <p:txBody>
          <a:bodyPr wrap="square" lIns="36576" rIns="36576" tIns="36576" bIns="36576" anchor="t">
            <a:spAutoFit/>
          </a:bodyPr>
          <a:lstStyle/>
          <a:p>
            <a:pPr algn="ctr">
              <a:spcAft>
                <a:spcPts val="0"/>
              </a:spcAft>
            </a:pPr>
            <a:r>
              <a:rPr sz="840" b="0" i="0">
                <a:solidFill>
                  <a:srgbClr val="667085"/>
                </a:solidFill>
                <a:latin typeface="Aptos"/>
              </a:rPr>
              <a:t>A model produces a score or risk indicator.</a:t>
            </a:r>
          </a:p>
        </p:txBody>
      </p:sp>
      <p:sp>
        <p:nvSpPr>
          <p:cNvPr id="31" name="Chevron 30"/>
          <p:cNvSpPr/>
          <p:nvPr/>
        </p:nvSpPr>
        <p:spPr>
          <a:xfrm>
            <a:off x="7927848" y="3017520"/>
            <a:ext cx="292608" cy="384048"/>
          </a:xfrm>
          <a:prstGeom prst="chevron">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84464" y="2240280"/>
            <a:ext cx="1481328" cy="1965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23376" y="2450592"/>
            <a:ext cx="603504" cy="603504"/>
          </a:xfrm>
          <a:prstGeom prst="ellipse">
            <a:avLst/>
          </a:prstGeom>
          <a:solidFill>
            <a:srgbClr val="17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23376" y="2615184"/>
            <a:ext cx="603504" cy="201168"/>
          </a:xfrm>
          <a:prstGeom prst="rect">
            <a:avLst/>
          </a:prstGeom>
          <a:noFill/>
        </p:spPr>
        <p:txBody>
          <a:bodyPr wrap="square" lIns="36576" rIns="36576" tIns="36576" bIns="36576" anchor="t">
            <a:spAutoFit/>
          </a:bodyPr>
          <a:lstStyle/>
          <a:p>
            <a:pPr algn="ctr">
              <a:spcAft>
                <a:spcPts val="0"/>
              </a:spcAft>
            </a:pPr>
            <a:r>
              <a:rPr sz="900" b="1" i="0">
                <a:solidFill>
                  <a:srgbClr val="FFFFFF"/>
                </a:solidFill>
                <a:latin typeface="Aptos"/>
              </a:rPr>
              <a:t>05</a:t>
            </a:r>
          </a:p>
        </p:txBody>
      </p:sp>
      <p:sp>
        <p:nvSpPr>
          <p:cNvPr id="35" name="TextBox 34"/>
          <p:cNvSpPr txBox="1"/>
          <p:nvPr/>
        </p:nvSpPr>
        <p:spPr>
          <a:xfrm>
            <a:off x="8412480" y="3264408"/>
            <a:ext cx="1225296" cy="256032"/>
          </a:xfrm>
          <a:prstGeom prst="rect">
            <a:avLst/>
          </a:prstGeom>
          <a:noFill/>
        </p:spPr>
        <p:txBody>
          <a:bodyPr wrap="square" lIns="36576" rIns="36576" tIns="36576" bIns="36576" anchor="t">
            <a:spAutoFit/>
          </a:bodyPr>
          <a:lstStyle/>
          <a:p>
            <a:pPr algn="ctr">
              <a:spcAft>
                <a:spcPts val="0"/>
              </a:spcAft>
            </a:pPr>
            <a:r>
              <a:rPr sz="1100" b="1" i="0">
                <a:solidFill>
                  <a:srgbClr val="172B4D"/>
                </a:solidFill>
                <a:latin typeface="Aptos"/>
              </a:rPr>
              <a:t>Underwriting</a:t>
            </a:r>
          </a:p>
        </p:txBody>
      </p:sp>
      <p:sp>
        <p:nvSpPr>
          <p:cNvPr id="36" name="TextBox 35"/>
          <p:cNvSpPr txBox="1"/>
          <p:nvPr/>
        </p:nvSpPr>
        <p:spPr>
          <a:xfrm>
            <a:off x="8412480" y="3639312"/>
            <a:ext cx="1225296" cy="457200"/>
          </a:xfrm>
          <a:prstGeom prst="rect">
            <a:avLst/>
          </a:prstGeom>
          <a:noFill/>
        </p:spPr>
        <p:txBody>
          <a:bodyPr wrap="square" lIns="36576" rIns="36576" tIns="36576" bIns="36576" anchor="t">
            <a:spAutoFit/>
          </a:bodyPr>
          <a:lstStyle/>
          <a:p>
            <a:pPr algn="ctr">
              <a:spcAft>
                <a:spcPts val="0"/>
              </a:spcAft>
            </a:pPr>
            <a:r>
              <a:rPr sz="840" b="0" i="0">
                <a:solidFill>
                  <a:srgbClr val="667085"/>
                </a:solidFill>
                <a:latin typeface="Aptos"/>
              </a:rPr>
              <a:t>The lender adds affordability, collateral and policy.</a:t>
            </a:r>
          </a:p>
        </p:txBody>
      </p:sp>
      <p:sp>
        <p:nvSpPr>
          <p:cNvPr id="37" name="Chevron 36"/>
          <p:cNvSpPr/>
          <p:nvPr/>
        </p:nvSpPr>
        <p:spPr>
          <a:xfrm>
            <a:off x="9857232" y="3017520"/>
            <a:ext cx="292608" cy="384048"/>
          </a:xfrm>
          <a:prstGeom prst="chevron">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213848" y="2240280"/>
            <a:ext cx="1481328" cy="196596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52760" y="2450592"/>
            <a:ext cx="603504" cy="603504"/>
          </a:xfrm>
          <a:prstGeom prst="ellipse">
            <a:avLst/>
          </a:prstGeom>
          <a:solidFill>
            <a:srgbClr val="17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52760" y="2615184"/>
            <a:ext cx="603504" cy="201168"/>
          </a:xfrm>
          <a:prstGeom prst="rect">
            <a:avLst/>
          </a:prstGeom>
          <a:noFill/>
        </p:spPr>
        <p:txBody>
          <a:bodyPr wrap="square" lIns="36576" rIns="36576" tIns="36576" bIns="36576" anchor="t">
            <a:spAutoFit/>
          </a:bodyPr>
          <a:lstStyle/>
          <a:p>
            <a:pPr algn="ctr">
              <a:spcAft>
                <a:spcPts val="0"/>
              </a:spcAft>
            </a:pPr>
            <a:r>
              <a:rPr sz="900" b="1" i="0">
                <a:solidFill>
                  <a:srgbClr val="FFFFFF"/>
                </a:solidFill>
                <a:latin typeface="Aptos"/>
              </a:rPr>
              <a:t>06</a:t>
            </a:r>
          </a:p>
        </p:txBody>
      </p:sp>
      <p:sp>
        <p:nvSpPr>
          <p:cNvPr id="41" name="TextBox 40"/>
          <p:cNvSpPr txBox="1"/>
          <p:nvPr/>
        </p:nvSpPr>
        <p:spPr>
          <a:xfrm>
            <a:off x="10341864" y="3264408"/>
            <a:ext cx="1225296" cy="256032"/>
          </a:xfrm>
          <a:prstGeom prst="rect">
            <a:avLst/>
          </a:prstGeom>
          <a:noFill/>
        </p:spPr>
        <p:txBody>
          <a:bodyPr wrap="square" lIns="36576" rIns="36576" tIns="36576" bIns="36576" anchor="t">
            <a:spAutoFit/>
          </a:bodyPr>
          <a:lstStyle/>
          <a:p>
            <a:pPr algn="ctr">
              <a:spcAft>
                <a:spcPts val="0"/>
              </a:spcAft>
            </a:pPr>
            <a:r>
              <a:rPr sz="1100" b="1" i="0">
                <a:solidFill>
                  <a:srgbClr val="172B4D"/>
                </a:solidFill>
                <a:latin typeface="Aptos"/>
              </a:rPr>
              <a:t>Outcome</a:t>
            </a:r>
          </a:p>
        </p:txBody>
      </p:sp>
      <p:sp>
        <p:nvSpPr>
          <p:cNvPr id="42" name="TextBox 41"/>
          <p:cNvSpPr txBox="1"/>
          <p:nvPr/>
        </p:nvSpPr>
        <p:spPr>
          <a:xfrm>
            <a:off x="10341864" y="3639312"/>
            <a:ext cx="1225296" cy="457200"/>
          </a:xfrm>
          <a:prstGeom prst="rect">
            <a:avLst/>
          </a:prstGeom>
          <a:noFill/>
        </p:spPr>
        <p:txBody>
          <a:bodyPr wrap="square" lIns="36576" rIns="36576" tIns="36576" bIns="36576" anchor="t">
            <a:spAutoFit/>
          </a:bodyPr>
          <a:lstStyle/>
          <a:p>
            <a:pPr algn="ctr">
              <a:spcAft>
                <a:spcPts val="0"/>
              </a:spcAft>
            </a:pPr>
            <a:r>
              <a:rPr sz="840" b="0" i="0">
                <a:solidFill>
                  <a:srgbClr val="667085"/>
                </a:solidFill>
                <a:latin typeface="Aptos"/>
              </a:rPr>
              <a:t>Approval, rejection, pricing, limit or monitoring.</a:t>
            </a:r>
          </a:p>
        </p:txBody>
      </p:sp>
      <p:sp>
        <p:nvSpPr>
          <p:cNvPr id="43" name="Rounded Rectangle 42"/>
          <p:cNvSpPr/>
          <p:nvPr/>
        </p:nvSpPr>
        <p:spPr>
          <a:xfrm>
            <a:off x="1901952" y="4892040"/>
            <a:ext cx="8366760" cy="658368"/>
          </a:xfrm>
          <a:prstGeom prst="roundRect">
            <a:avLst/>
          </a:prstGeom>
          <a:solidFill>
            <a:srgbClr val="E8F5F3"/>
          </a:solidFill>
          <a:ln w="10160">
            <a:solidFill>
              <a:srgbClr val="E8F5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39696" y="5074920"/>
            <a:ext cx="7882127" cy="228600"/>
          </a:xfrm>
          <a:prstGeom prst="rect">
            <a:avLst/>
          </a:prstGeom>
          <a:noFill/>
        </p:spPr>
        <p:txBody>
          <a:bodyPr wrap="square" lIns="36576" rIns="36576" tIns="36576" bIns="36576" anchor="t">
            <a:spAutoFit/>
          </a:bodyPr>
          <a:lstStyle/>
          <a:p>
            <a:pPr algn="ctr">
              <a:spcAft>
                <a:spcPts val="0"/>
              </a:spcAft>
            </a:pPr>
            <a:r>
              <a:rPr sz="1200" b="1" i="0">
                <a:solidFill>
                  <a:srgbClr val="172B4D"/>
                </a:solidFill>
                <a:latin typeface="Aptos"/>
              </a:rPr>
              <a:t>A score is one input among data, policy, affordability, regulation and human or automated review.</a:t>
            </a:r>
          </a:p>
        </p:txBody>
      </p:sp>
      <p:sp>
        <p:nvSpPr>
          <p:cNvPr id="45" name="Rectangle 44"/>
          <p:cNvSpPr/>
          <p:nvPr/>
        </p:nvSpPr>
        <p:spPr>
          <a:xfrm>
            <a:off x="502920" y="6446520"/>
            <a:ext cx="11155680"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6492240"/>
            <a:ext cx="10149840" cy="164592"/>
          </a:xfrm>
          <a:prstGeom prst="rect">
            <a:avLst/>
          </a:prstGeom>
          <a:noFill/>
        </p:spPr>
        <p:txBody>
          <a:bodyPr wrap="square" lIns="36576" rIns="36576" tIns="36576" bIns="36576" anchor="t">
            <a:spAutoFit/>
          </a:bodyPr>
          <a:lstStyle/>
          <a:p>
            <a:pPr algn="l">
              <a:spcAft>
                <a:spcPts val="0"/>
              </a:spcAft>
            </a:pPr>
            <a:r>
              <a:rPr sz="650" b="0" i="0">
                <a:solidFill>
                  <a:srgbClr val="667085"/>
                </a:solidFill>
                <a:latin typeface="Aptos"/>
              </a:rPr>
              <a:t>Sources: Consumer Financial Protection Bureau; FICO. The six-step sequence is an educational synthesis of those sources.</a:t>
            </a:r>
          </a:p>
        </p:txBody>
      </p:sp>
      <p:sp>
        <p:nvSpPr>
          <p:cNvPr id="47" name="TextBox 46"/>
          <p:cNvSpPr txBox="1"/>
          <p:nvPr/>
        </p:nvSpPr>
        <p:spPr>
          <a:xfrm>
            <a:off x="11064240" y="6473952"/>
            <a:ext cx="566928" cy="164592"/>
          </a:xfrm>
          <a:prstGeom prst="rect">
            <a:avLst/>
          </a:prstGeom>
          <a:noFill/>
        </p:spPr>
        <p:txBody>
          <a:bodyPr wrap="square" lIns="36576" rIns="36576" tIns="36576" bIns="36576" anchor="t">
            <a:spAutoFit/>
          </a:bodyPr>
          <a:lstStyle/>
          <a:p>
            <a:pPr algn="r">
              <a:spcAft>
                <a:spcPts val="0"/>
              </a:spcAft>
            </a:pPr>
            <a:r>
              <a:rPr sz="700" b="0" i="0">
                <a:solidFill>
                  <a:srgbClr val="667085"/>
                </a:solidFill>
                <a:latin typeface="Aptos"/>
              </a:rPr>
              <a:t>3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502920" y="256032"/>
            <a:ext cx="3657600" cy="201168"/>
          </a:xfrm>
          <a:prstGeom prst="rect">
            <a:avLst/>
          </a:prstGeom>
          <a:noFill/>
        </p:spPr>
        <p:txBody>
          <a:bodyPr wrap="square" lIns="36576" rIns="36576" tIns="36576" bIns="36576" anchor="t">
            <a:spAutoFit/>
          </a:bodyPr>
          <a:lstStyle/>
          <a:p>
            <a:pPr algn="l">
              <a:spcAft>
                <a:spcPts val="0"/>
              </a:spcAft>
            </a:pPr>
            <a:r>
              <a:rPr sz="850" b="1" i="0">
                <a:solidFill>
                  <a:srgbClr val="08A5BE"/>
                </a:solidFill>
                <a:latin typeface="Aptos"/>
              </a:rPr>
              <a:t>BONUS  ·  CREDIT BUREAUS</a:t>
            </a:r>
          </a:p>
        </p:txBody>
      </p:sp>
      <p:sp>
        <p:nvSpPr>
          <p:cNvPr id="3" name="TextBox 2"/>
          <p:cNvSpPr txBox="1"/>
          <p:nvPr/>
        </p:nvSpPr>
        <p:spPr>
          <a:xfrm>
            <a:off x="11109960" y="246888"/>
            <a:ext cx="502920" cy="256032"/>
          </a:xfrm>
          <a:prstGeom prst="rect">
            <a:avLst/>
          </a:prstGeom>
          <a:noFill/>
        </p:spPr>
        <p:txBody>
          <a:bodyPr wrap="square" lIns="36576" rIns="36576" tIns="36576" bIns="36576" anchor="t">
            <a:spAutoFit/>
          </a:bodyPr>
          <a:lstStyle/>
          <a:p>
            <a:pPr algn="r">
              <a:spcAft>
                <a:spcPts val="0"/>
              </a:spcAft>
            </a:pPr>
            <a:r>
              <a:rPr sz="900" b="1" i="0">
                <a:solidFill>
                  <a:srgbClr val="667085"/>
                </a:solidFill>
                <a:latin typeface="Aptos"/>
              </a:rPr>
              <a:t>04</a:t>
            </a:r>
          </a:p>
        </p:txBody>
      </p:sp>
      <p:sp>
        <p:nvSpPr>
          <p:cNvPr id="4" name="Rectangle 3"/>
          <p:cNvSpPr/>
          <p:nvPr/>
        </p:nvSpPr>
        <p:spPr>
          <a:xfrm>
            <a:off x="502920" y="566928"/>
            <a:ext cx="420624" cy="50292"/>
          </a:xfrm>
          <a:prstGeom prst="rect">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93776"/>
            <a:ext cx="2743200" cy="201168"/>
          </a:xfrm>
          <a:prstGeom prst="rect">
            <a:avLst/>
          </a:prstGeom>
          <a:noFill/>
        </p:spPr>
        <p:txBody>
          <a:bodyPr wrap="square" lIns="36576" rIns="36576" tIns="36576" bIns="36576" anchor="t">
            <a:spAutoFit/>
          </a:bodyPr>
          <a:lstStyle/>
          <a:p>
            <a:pPr algn="l">
              <a:spcAft>
                <a:spcPts val="0"/>
              </a:spcAft>
            </a:pPr>
            <a:r>
              <a:rPr sz="819" b="1" i="0">
                <a:solidFill>
                  <a:srgbClr val="667085"/>
                </a:solidFill>
                <a:latin typeface="Aptos"/>
              </a:rPr>
              <a:t>THREE COMPANIES</a:t>
            </a:r>
          </a:p>
        </p:txBody>
      </p:sp>
      <p:sp>
        <p:nvSpPr>
          <p:cNvPr id="6" name="TextBox 5"/>
          <p:cNvSpPr txBox="1"/>
          <p:nvPr/>
        </p:nvSpPr>
        <p:spPr>
          <a:xfrm>
            <a:off x="502920" y="822960"/>
            <a:ext cx="10881360" cy="566928"/>
          </a:xfrm>
          <a:prstGeom prst="rect">
            <a:avLst/>
          </a:prstGeom>
          <a:noFill/>
        </p:spPr>
        <p:txBody>
          <a:bodyPr wrap="square" lIns="36576" rIns="36576" tIns="36576" bIns="36576" anchor="t">
            <a:spAutoFit/>
          </a:bodyPr>
          <a:lstStyle/>
          <a:p>
            <a:pPr algn="l">
              <a:spcAft>
                <a:spcPts val="0"/>
              </a:spcAft>
            </a:pPr>
            <a:r>
              <a:rPr sz="2500" b="1" i="0">
                <a:solidFill>
                  <a:srgbClr val="172B4D"/>
                </a:solidFill>
                <a:latin typeface="Aptos"/>
              </a:rPr>
              <a:t>Three public emphases — not one universal score provider</a:t>
            </a:r>
          </a:p>
        </p:txBody>
      </p:sp>
      <p:sp>
        <p:nvSpPr>
          <p:cNvPr id="7" name="TextBox 6"/>
          <p:cNvSpPr txBox="1"/>
          <p:nvPr/>
        </p:nvSpPr>
        <p:spPr>
          <a:xfrm>
            <a:off x="530352" y="1408176"/>
            <a:ext cx="10424160" cy="320040"/>
          </a:xfrm>
          <a:prstGeom prst="rect">
            <a:avLst/>
          </a:prstGeom>
          <a:noFill/>
        </p:spPr>
        <p:txBody>
          <a:bodyPr wrap="square" lIns="36576" rIns="36576" tIns="36576" bIns="36576" anchor="t">
            <a:spAutoFit/>
          </a:bodyPr>
          <a:lstStyle/>
          <a:p>
            <a:pPr algn="l">
              <a:spcAft>
                <a:spcPts val="0"/>
              </a:spcAft>
            </a:pPr>
            <a:r>
              <a:rPr sz="1100" b="0" i="1">
                <a:solidFill>
                  <a:srgbClr val="667085"/>
                </a:solidFill>
                <a:latin typeface="Aptos"/>
              </a:rPr>
              <a:t>Mission statements are positioning; products, models and coverage must be verified separately.</a:t>
            </a:r>
          </a:p>
        </p:txBody>
      </p:sp>
      <p:sp>
        <p:nvSpPr>
          <p:cNvPr id="8" name="Rounded Rectangle 7"/>
          <p:cNvSpPr/>
          <p:nvPr/>
        </p:nvSpPr>
        <p:spPr>
          <a:xfrm>
            <a:off x="548640" y="2057400"/>
            <a:ext cx="3246120" cy="3520440"/>
          </a:xfrm>
          <a:prstGeom prst="roundRect">
            <a:avLst/>
          </a:prstGeom>
          <a:solidFill>
            <a:srgbClr val="FDF5F7"/>
          </a:solidFill>
          <a:ln w="10160">
            <a:solidFill>
              <a:srgbClr val="FD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uifax_logo.png"/>
          <p:cNvPicPr>
            <a:picLocks noChangeAspect="1"/>
          </p:cNvPicPr>
          <p:nvPr/>
        </p:nvPicPr>
        <p:blipFill>
          <a:blip r:embed="rId2"/>
          <a:stretch>
            <a:fillRect/>
          </a:stretch>
        </p:blipFill>
        <p:spPr>
          <a:xfrm>
            <a:off x="822959" y="2331720"/>
            <a:ext cx="1444752" cy="355902"/>
          </a:xfrm>
          <a:prstGeom prst="rect">
            <a:avLst/>
          </a:prstGeom>
        </p:spPr>
      </p:pic>
      <p:sp>
        <p:nvSpPr>
          <p:cNvPr id="10" name="Rectangle 9"/>
          <p:cNvSpPr/>
          <p:nvPr/>
        </p:nvSpPr>
        <p:spPr>
          <a:xfrm>
            <a:off x="822959" y="3182112"/>
            <a:ext cx="2670048" cy="10972"/>
          </a:xfrm>
          <a:prstGeom prst="rect">
            <a:avLst/>
          </a:prstGeom>
          <a:solidFill>
            <a:srgbClr val="9B1C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383280"/>
            <a:ext cx="2560320" cy="201168"/>
          </a:xfrm>
          <a:prstGeom prst="rect">
            <a:avLst/>
          </a:prstGeom>
          <a:noFill/>
        </p:spPr>
        <p:txBody>
          <a:bodyPr wrap="square" lIns="36576" rIns="36576" tIns="36576" bIns="36576" anchor="t">
            <a:spAutoFit/>
          </a:bodyPr>
          <a:lstStyle/>
          <a:p>
            <a:pPr algn="l">
              <a:spcAft>
                <a:spcPts val="0"/>
              </a:spcAft>
            </a:pPr>
            <a:r>
              <a:rPr sz="730" b="1" i="0">
                <a:solidFill>
                  <a:srgbClr val="667085"/>
                </a:solidFill>
                <a:latin typeface="Aptos"/>
              </a:rPr>
              <a:t>PUBLIC POSITIONING</a:t>
            </a:r>
          </a:p>
        </p:txBody>
      </p:sp>
      <p:sp>
        <p:nvSpPr>
          <p:cNvPr id="12" name="TextBox 11"/>
          <p:cNvSpPr txBox="1"/>
          <p:nvPr/>
        </p:nvSpPr>
        <p:spPr>
          <a:xfrm>
            <a:off x="822959" y="3657600"/>
            <a:ext cx="2596896" cy="566928"/>
          </a:xfrm>
          <a:prstGeom prst="rect">
            <a:avLst/>
          </a:prstGeom>
          <a:noFill/>
        </p:spPr>
        <p:txBody>
          <a:bodyPr wrap="square" lIns="36576" rIns="36576" tIns="36576" bIns="36576" anchor="t">
            <a:spAutoFit/>
          </a:bodyPr>
          <a:lstStyle/>
          <a:p>
            <a:pPr algn="l">
              <a:spcAft>
                <a:spcPts val="0"/>
              </a:spcAft>
            </a:pPr>
            <a:r>
              <a:rPr sz="1300" b="1" i="0">
                <a:solidFill>
                  <a:srgbClr val="172B4D"/>
                </a:solidFill>
                <a:latin typeface="Aptos"/>
              </a:rPr>
              <a:t>Financial wellbeing
+ data-driven decisions</a:t>
            </a:r>
          </a:p>
        </p:txBody>
      </p:sp>
      <p:sp>
        <p:nvSpPr>
          <p:cNvPr id="13" name="TextBox 12"/>
          <p:cNvSpPr txBox="1"/>
          <p:nvPr/>
        </p:nvSpPr>
        <p:spPr>
          <a:xfrm>
            <a:off x="822959" y="4389120"/>
            <a:ext cx="2560320" cy="201168"/>
          </a:xfrm>
          <a:prstGeom prst="rect">
            <a:avLst/>
          </a:prstGeom>
          <a:noFill/>
        </p:spPr>
        <p:txBody>
          <a:bodyPr wrap="square" lIns="36576" rIns="36576" tIns="36576" bIns="36576" anchor="t">
            <a:spAutoFit/>
          </a:bodyPr>
          <a:lstStyle/>
          <a:p>
            <a:pPr algn="l">
              <a:spcAft>
                <a:spcPts val="0"/>
              </a:spcAft>
            </a:pPr>
            <a:r>
              <a:rPr sz="730" b="1" i="0">
                <a:solidFill>
                  <a:srgbClr val="667085"/>
                </a:solidFill>
                <a:latin typeface="Aptos"/>
              </a:rPr>
              <a:t>SERVICES TO VERIFY</a:t>
            </a:r>
          </a:p>
        </p:txBody>
      </p:sp>
      <p:sp>
        <p:nvSpPr>
          <p:cNvPr id="14" name="TextBox 13"/>
          <p:cNvSpPr txBox="1"/>
          <p:nvPr/>
        </p:nvSpPr>
        <p:spPr>
          <a:xfrm>
            <a:off x="822959" y="4645152"/>
            <a:ext cx="2578608" cy="640080"/>
          </a:xfrm>
          <a:prstGeom prst="rect">
            <a:avLst/>
          </a:prstGeom>
          <a:noFill/>
        </p:spPr>
        <p:txBody>
          <a:bodyPr wrap="square" lIns="45720" rIns="45720">
            <a:spAutoFit/>
          </a:bodyPr>
          <a:lstStyle/>
          <a:p>
            <a:pPr>
              <a:lnSpc>
                <a:spcPct val="100000"/>
              </a:lnSpc>
              <a:spcAft>
                <a:spcPts val="500"/>
              </a:spcAft>
              <a:defRPr sz="960">
                <a:solidFill>
                  <a:srgbClr val="1F2937"/>
                </a:solidFill>
                <a:latin typeface="Aptos"/>
              </a:defRPr>
            </a:pPr>
            <a:r>
              <a:t>• Credit information</a:t>
            </a:r>
          </a:p>
          <a:p>
            <a:pPr>
              <a:lnSpc>
                <a:spcPct val="100000"/>
              </a:lnSpc>
              <a:spcAft>
                <a:spcPts val="500"/>
              </a:spcAft>
              <a:defRPr sz="960">
                <a:solidFill>
                  <a:srgbClr val="1F2937"/>
                </a:solidFill>
                <a:latin typeface="Aptos"/>
              </a:defRPr>
            </a:pPr>
            <a:r>
              <a:t>• Decision support</a:t>
            </a:r>
          </a:p>
          <a:p>
            <a:pPr>
              <a:lnSpc>
                <a:spcPct val="100000"/>
              </a:lnSpc>
              <a:spcAft>
                <a:spcPts val="500"/>
              </a:spcAft>
              <a:defRPr sz="960">
                <a:solidFill>
                  <a:srgbClr val="1F2937"/>
                </a:solidFill>
                <a:latin typeface="Aptos"/>
              </a:defRPr>
            </a:pPr>
            <a:r>
              <a:t>• Identity and fraud</a:t>
            </a:r>
          </a:p>
        </p:txBody>
      </p:sp>
      <p:sp>
        <p:nvSpPr>
          <p:cNvPr id="15" name="Rounded Rectangle 14"/>
          <p:cNvSpPr/>
          <p:nvPr/>
        </p:nvSpPr>
        <p:spPr>
          <a:xfrm>
            <a:off x="4096512" y="2057400"/>
            <a:ext cx="3246120" cy="3520440"/>
          </a:xfrm>
          <a:prstGeom prst="roundRect">
            <a:avLst/>
          </a:prstGeom>
          <a:solidFill>
            <a:srgbClr val="F2F7FB"/>
          </a:solidFill>
          <a:ln w="10160">
            <a:solidFill>
              <a:srgbClr val="F2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xperian_logo.png"/>
          <p:cNvPicPr>
            <a:picLocks noChangeAspect="1"/>
          </p:cNvPicPr>
          <p:nvPr/>
        </p:nvPicPr>
        <p:blipFill>
          <a:blip r:embed="rId3"/>
          <a:stretch>
            <a:fillRect/>
          </a:stretch>
        </p:blipFill>
        <p:spPr>
          <a:xfrm>
            <a:off x="4370832" y="2331720"/>
            <a:ext cx="1444752" cy="478832"/>
          </a:xfrm>
          <a:prstGeom prst="rect">
            <a:avLst/>
          </a:prstGeom>
        </p:spPr>
      </p:pic>
      <p:sp>
        <p:nvSpPr>
          <p:cNvPr id="17" name="Rectangle 16"/>
          <p:cNvSpPr/>
          <p:nvPr/>
        </p:nvSpPr>
        <p:spPr>
          <a:xfrm>
            <a:off x="4370832" y="3182112"/>
            <a:ext cx="2670048" cy="10972"/>
          </a:xfrm>
          <a:prstGeom prst="rect">
            <a:avLst/>
          </a:prstGeom>
          <a:solidFill>
            <a:srgbClr val="2F68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0832" y="3383280"/>
            <a:ext cx="2560320" cy="201168"/>
          </a:xfrm>
          <a:prstGeom prst="rect">
            <a:avLst/>
          </a:prstGeom>
          <a:noFill/>
        </p:spPr>
        <p:txBody>
          <a:bodyPr wrap="square" lIns="36576" rIns="36576" tIns="36576" bIns="36576" anchor="t">
            <a:spAutoFit/>
          </a:bodyPr>
          <a:lstStyle/>
          <a:p>
            <a:pPr algn="l">
              <a:spcAft>
                <a:spcPts val="0"/>
              </a:spcAft>
            </a:pPr>
            <a:r>
              <a:rPr sz="730" b="1" i="0">
                <a:solidFill>
                  <a:srgbClr val="667085"/>
                </a:solidFill>
                <a:latin typeface="Aptos"/>
              </a:rPr>
              <a:t>PUBLIC POSITIONING</a:t>
            </a:r>
          </a:p>
        </p:txBody>
      </p:sp>
      <p:sp>
        <p:nvSpPr>
          <p:cNvPr id="19" name="TextBox 18"/>
          <p:cNvSpPr txBox="1"/>
          <p:nvPr/>
        </p:nvSpPr>
        <p:spPr>
          <a:xfrm>
            <a:off x="4370832" y="3657600"/>
            <a:ext cx="2596896" cy="566928"/>
          </a:xfrm>
          <a:prstGeom prst="rect">
            <a:avLst/>
          </a:prstGeom>
          <a:noFill/>
        </p:spPr>
        <p:txBody>
          <a:bodyPr wrap="square" lIns="36576" rIns="36576" tIns="36576" bIns="36576" anchor="t">
            <a:spAutoFit/>
          </a:bodyPr>
          <a:lstStyle/>
          <a:p>
            <a:pPr algn="l">
              <a:spcAft>
                <a:spcPts val="0"/>
              </a:spcAft>
            </a:pPr>
            <a:r>
              <a:rPr sz="1300" b="1" i="0">
                <a:solidFill>
                  <a:srgbClr val="172B4D"/>
                </a:solidFill>
                <a:latin typeface="Aptos"/>
              </a:rPr>
              <a:t>Financial inclusion
+ consumer information</a:t>
            </a:r>
          </a:p>
        </p:txBody>
      </p:sp>
      <p:sp>
        <p:nvSpPr>
          <p:cNvPr id="20" name="TextBox 19"/>
          <p:cNvSpPr txBox="1"/>
          <p:nvPr/>
        </p:nvSpPr>
        <p:spPr>
          <a:xfrm>
            <a:off x="4370832" y="4389120"/>
            <a:ext cx="2560320" cy="201168"/>
          </a:xfrm>
          <a:prstGeom prst="rect">
            <a:avLst/>
          </a:prstGeom>
          <a:noFill/>
        </p:spPr>
        <p:txBody>
          <a:bodyPr wrap="square" lIns="36576" rIns="36576" tIns="36576" bIns="36576" anchor="t">
            <a:spAutoFit/>
          </a:bodyPr>
          <a:lstStyle/>
          <a:p>
            <a:pPr algn="l">
              <a:spcAft>
                <a:spcPts val="0"/>
              </a:spcAft>
            </a:pPr>
            <a:r>
              <a:rPr sz="730" b="1" i="0">
                <a:solidFill>
                  <a:srgbClr val="667085"/>
                </a:solidFill>
                <a:latin typeface="Aptos"/>
              </a:rPr>
              <a:t>SERVICES TO VERIFY</a:t>
            </a:r>
          </a:p>
        </p:txBody>
      </p:sp>
      <p:sp>
        <p:nvSpPr>
          <p:cNvPr id="21" name="TextBox 20"/>
          <p:cNvSpPr txBox="1"/>
          <p:nvPr/>
        </p:nvSpPr>
        <p:spPr>
          <a:xfrm>
            <a:off x="4370832" y="4645152"/>
            <a:ext cx="2578608" cy="640080"/>
          </a:xfrm>
          <a:prstGeom prst="rect">
            <a:avLst/>
          </a:prstGeom>
          <a:noFill/>
        </p:spPr>
        <p:txBody>
          <a:bodyPr wrap="square" lIns="45720" rIns="45720">
            <a:spAutoFit/>
          </a:bodyPr>
          <a:lstStyle/>
          <a:p>
            <a:pPr>
              <a:lnSpc>
                <a:spcPct val="100000"/>
              </a:lnSpc>
              <a:spcAft>
                <a:spcPts val="500"/>
              </a:spcAft>
              <a:defRPr sz="960">
                <a:solidFill>
                  <a:srgbClr val="1F2937"/>
                </a:solidFill>
                <a:latin typeface="Aptos"/>
              </a:defRPr>
            </a:pPr>
            <a:r>
              <a:t>• Credit information</a:t>
            </a:r>
          </a:p>
          <a:p>
            <a:pPr>
              <a:lnSpc>
                <a:spcPct val="100000"/>
              </a:lnSpc>
              <a:spcAft>
                <a:spcPts val="500"/>
              </a:spcAft>
              <a:defRPr sz="960">
                <a:solidFill>
                  <a:srgbClr val="1F2937"/>
                </a:solidFill>
                <a:latin typeface="Aptos"/>
              </a:defRPr>
            </a:pPr>
            <a:r>
              <a:t>• Decision analytics</a:t>
            </a:r>
          </a:p>
          <a:p>
            <a:pPr>
              <a:lnSpc>
                <a:spcPct val="100000"/>
              </a:lnSpc>
              <a:spcAft>
                <a:spcPts val="500"/>
              </a:spcAft>
              <a:defRPr sz="960">
                <a:solidFill>
                  <a:srgbClr val="1F2937"/>
                </a:solidFill>
                <a:latin typeface="Aptos"/>
              </a:defRPr>
            </a:pPr>
            <a:r>
              <a:t>• Fraud and identity</a:t>
            </a:r>
          </a:p>
        </p:txBody>
      </p:sp>
      <p:sp>
        <p:nvSpPr>
          <p:cNvPr id="22" name="Rounded Rectangle 21"/>
          <p:cNvSpPr/>
          <p:nvPr/>
        </p:nvSpPr>
        <p:spPr>
          <a:xfrm>
            <a:off x="7644383" y="2057400"/>
            <a:ext cx="3246120" cy="3520440"/>
          </a:xfrm>
          <a:prstGeom prst="roundRect">
            <a:avLst/>
          </a:prstGeom>
          <a:solidFill>
            <a:srgbClr val="ECFBFC"/>
          </a:solidFill>
          <a:ln w="10160">
            <a:solidFill>
              <a:srgbClr val="ECFB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transunion_logo.png"/>
          <p:cNvPicPr>
            <a:picLocks noChangeAspect="1"/>
          </p:cNvPicPr>
          <p:nvPr/>
        </p:nvPicPr>
        <p:blipFill>
          <a:blip r:embed="rId4"/>
          <a:stretch>
            <a:fillRect/>
          </a:stretch>
        </p:blipFill>
        <p:spPr>
          <a:xfrm>
            <a:off x="7918704" y="2331720"/>
            <a:ext cx="1444752" cy="415848"/>
          </a:xfrm>
          <a:prstGeom prst="rect">
            <a:avLst/>
          </a:prstGeom>
        </p:spPr>
      </p:pic>
      <p:sp>
        <p:nvSpPr>
          <p:cNvPr id="24" name="Rectangle 23"/>
          <p:cNvSpPr/>
          <p:nvPr/>
        </p:nvSpPr>
        <p:spPr>
          <a:xfrm>
            <a:off x="7918704" y="3182112"/>
            <a:ext cx="2670048" cy="10972"/>
          </a:xfrm>
          <a:prstGeom prst="rect">
            <a:avLst/>
          </a:prstGeom>
          <a:solidFill>
            <a:srgbClr val="08A5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18704" y="3383280"/>
            <a:ext cx="2560320" cy="201168"/>
          </a:xfrm>
          <a:prstGeom prst="rect">
            <a:avLst/>
          </a:prstGeom>
          <a:noFill/>
        </p:spPr>
        <p:txBody>
          <a:bodyPr wrap="square" lIns="36576" rIns="36576" tIns="36576" bIns="36576" anchor="t">
            <a:spAutoFit/>
          </a:bodyPr>
          <a:lstStyle/>
          <a:p>
            <a:pPr algn="l">
              <a:spcAft>
                <a:spcPts val="0"/>
              </a:spcAft>
            </a:pPr>
            <a:r>
              <a:rPr sz="730" b="1" i="0">
                <a:solidFill>
                  <a:srgbClr val="667085"/>
                </a:solidFill>
                <a:latin typeface="Aptos"/>
              </a:rPr>
              <a:t>PUBLIC POSITIONING</a:t>
            </a:r>
          </a:p>
        </p:txBody>
      </p:sp>
      <p:sp>
        <p:nvSpPr>
          <p:cNvPr id="26" name="TextBox 25"/>
          <p:cNvSpPr txBox="1"/>
          <p:nvPr/>
        </p:nvSpPr>
        <p:spPr>
          <a:xfrm>
            <a:off x="7918704" y="3657600"/>
            <a:ext cx="2596896" cy="566928"/>
          </a:xfrm>
          <a:prstGeom prst="rect">
            <a:avLst/>
          </a:prstGeom>
          <a:noFill/>
        </p:spPr>
        <p:txBody>
          <a:bodyPr wrap="square" lIns="36576" rIns="36576" tIns="36576" bIns="36576" anchor="t">
            <a:spAutoFit/>
          </a:bodyPr>
          <a:lstStyle/>
          <a:p>
            <a:pPr algn="l">
              <a:spcAft>
                <a:spcPts val="0"/>
              </a:spcAft>
            </a:pPr>
            <a:r>
              <a:rPr sz="1300" b="1" i="0">
                <a:solidFill>
                  <a:srgbClr val="172B4D"/>
                </a:solidFill>
                <a:latin typeface="Aptos"/>
              </a:rPr>
              <a:t>Information for Good
+ trust</a:t>
            </a:r>
          </a:p>
        </p:txBody>
      </p:sp>
      <p:sp>
        <p:nvSpPr>
          <p:cNvPr id="27" name="TextBox 26"/>
          <p:cNvSpPr txBox="1"/>
          <p:nvPr/>
        </p:nvSpPr>
        <p:spPr>
          <a:xfrm>
            <a:off x="7918704" y="4389120"/>
            <a:ext cx="2560320" cy="201168"/>
          </a:xfrm>
          <a:prstGeom prst="rect">
            <a:avLst/>
          </a:prstGeom>
          <a:noFill/>
        </p:spPr>
        <p:txBody>
          <a:bodyPr wrap="square" lIns="36576" rIns="36576" tIns="36576" bIns="36576" anchor="t">
            <a:spAutoFit/>
          </a:bodyPr>
          <a:lstStyle/>
          <a:p>
            <a:pPr algn="l">
              <a:spcAft>
                <a:spcPts val="0"/>
              </a:spcAft>
            </a:pPr>
            <a:r>
              <a:rPr sz="730" b="1" i="0">
                <a:solidFill>
                  <a:srgbClr val="667085"/>
                </a:solidFill>
                <a:latin typeface="Aptos"/>
              </a:rPr>
              <a:t>SERVICES TO VERIFY</a:t>
            </a:r>
          </a:p>
        </p:txBody>
      </p:sp>
      <p:sp>
        <p:nvSpPr>
          <p:cNvPr id="28" name="TextBox 27"/>
          <p:cNvSpPr txBox="1"/>
          <p:nvPr/>
        </p:nvSpPr>
        <p:spPr>
          <a:xfrm>
            <a:off x="7918704" y="4645152"/>
            <a:ext cx="2578608" cy="640080"/>
          </a:xfrm>
          <a:prstGeom prst="rect">
            <a:avLst/>
          </a:prstGeom>
          <a:noFill/>
        </p:spPr>
        <p:txBody>
          <a:bodyPr wrap="square" lIns="45720" rIns="45720">
            <a:spAutoFit/>
          </a:bodyPr>
          <a:lstStyle/>
          <a:p>
            <a:pPr>
              <a:lnSpc>
                <a:spcPct val="100000"/>
              </a:lnSpc>
              <a:spcAft>
                <a:spcPts val="500"/>
              </a:spcAft>
              <a:defRPr sz="960">
                <a:solidFill>
                  <a:srgbClr val="1F2937"/>
                </a:solidFill>
                <a:latin typeface="Aptos"/>
              </a:defRPr>
            </a:pPr>
            <a:r>
              <a:t>• Credit information</a:t>
            </a:r>
          </a:p>
          <a:p>
            <a:pPr>
              <a:lnSpc>
                <a:spcPct val="100000"/>
              </a:lnSpc>
              <a:spcAft>
                <a:spcPts val="500"/>
              </a:spcAft>
              <a:defRPr sz="960">
                <a:solidFill>
                  <a:srgbClr val="1F2937"/>
                </a:solidFill>
                <a:latin typeface="Aptos"/>
              </a:defRPr>
            </a:pPr>
            <a:r>
              <a:t>• Risk decisioning</a:t>
            </a:r>
          </a:p>
          <a:p>
            <a:pPr>
              <a:lnSpc>
                <a:spcPct val="100000"/>
              </a:lnSpc>
              <a:spcAft>
                <a:spcPts val="500"/>
              </a:spcAft>
              <a:defRPr sz="960">
                <a:solidFill>
                  <a:srgbClr val="1F2937"/>
                </a:solidFill>
                <a:latin typeface="Aptos"/>
              </a:defRPr>
            </a:pPr>
            <a:r>
              <a:t>• Fraud and identity</a:t>
            </a:r>
          </a:p>
        </p:txBody>
      </p:sp>
      <p:sp>
        <p:nvSpPr>
          <p:cNvPr id="29" name="Rectangle 28"/>
          <p:cNvSpPr/>
          <p:nvPr/>
        </p:nvSpPr>
        <p:spPr>
          <a:xfrm>
            <a:off x="502920" y="6446520"/>
            <a:ext cx="11155680"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6492240"/>
            <a:ext cx="10149840" cy="164592"/>
          </a:xfrm>
          <a:prstGeom prst="rect">
            <a:avLst/>
          </a:prstGeom>
          <a:noFill/>
        </p:spPr>
        <p:txBody>
          <a:bodyPr wrap="square" lIns="36576" rIns="36576" tIns="36576" bIns="36576" anchor="t">
            <a:spAutoFit/>
          </a:bodyPr>
          <a:lstStyle/>
          <a:p>
            <a:pPr algn="l">
              <a:spcAft>
                <a:spcPts val="0"/>
              </a:spcAft>
            </a:pPr>
            <a:r>
              <a:rPr sz="650" b="0" i="0">
                <a:solidFill>
                  <a:srgbClr val="667085"/>
                </a:solidFill>
                <a:latin typeface="Aptos"/>
              </a:rPr>
              <a:t>Sources: official Equifax, Experian and TransUnion pages listed on slide 6. Positioning language is paraphrased unless directly quoted by the source.</a:t>
            </a:r>
          </a:p>
        </p:txBody>
      </p:sp>
      <p:sp>
        <p:nvSpPr>
          <p:cNvPr id="31" name="TextBox 30"/>
          <p:cNvSpPr txBox="1"/>
          <p:nvPr/>
        </p:nvSpPr>
        <p:spPr>
          <a:xfrm>
            <a:off x="11064240" y="6473952"/>
            <a:ext cx="566928" cy="164592"/>
          </a:xfrm>
          <a:prstGeom prst="rect">
            <a:avLst/>
          </a:prstGeom>
          <a:noFill/>
        </p:spPr>
        <p:txBody>
          <a:bodyPr wrap="square" lIns="36576" rIns="36576" tIns="36576" bIns="36576" anchor="t">
            <a:spAutoFit/>
          </a:bodyPr>
          <a:lstStyle/>
          <a:p>
            <a:pPr algn="r">
              <a:spcAft>
                <a:spcPts val="0"/>
              </a:spcAft>
            </a:pPr>
            <a:r>
              <a:rPr sz="700" b="0" i="0">
                <a:solidFill>
                  <a:srgbClr val="667085"/>
                </a:solidFill>
                <a:latin typeface="Aptos"/>
              </a:rPr>
              <a:t>4 /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502920" y="256032"/>
            <a:ext cx="3657600" cy="201168"/>
          </a:xfrm>
          <a:prstGeom prst="rect">
            <a:avLst/>
          </a:prstGeom>
          <a:noFill/>
        </p:spPr>
        <p:txBody>
          <a:bodyPr wrap="square" lIns="36576" rIns="36576" tIns="36576" bIns="36576" anchor="t">
            <a:spAutoFit/>
          </a:bodyPr>
          <a:lstStyle/>
          <a:p>
            <a:pPr algn="l">
              <a:spcAft>
                <a:spcPts val="0"/>
              </a:spcAft>
            </a:pPr>
            <a:r>
              <a:rPr sz="850" b="1" i="0">
                <a:solidFill>
                  <a:srgbClr val="08A5BE"/>
                </a:solidFill>
                <a:latin typeface="Aptos"/>
              </a:rPr>
              <a:t>BONUS  ·  CREDIT BUREAUS</a:t>
            </a:r>
          </a:p>
        </p:txBody>
      </p:sp>
      <p:sp>
        <p:nvSpPr>
          <p:cNvPr id="3" name="TextBox 2"/>
          <p:cNvSpPr txBox="1"/>
          <p:nvPr/>
        </p:nvSpPr>
        <p:spPr>
          <a:xfrm>
            <a:off x="11109960" y="246888"/>
            <a:ext cx="502920" cy="256032"/>
          </a:xfrm>
          <a:prstGeom prst="rect">
            <a:avLst/>
          </a:prstGeom>
          <a:noFill/>
        </p:spPr>
        <p:txBody>
          <a:bodyPr wrap="square" lIns="36576" rIns="36576" tIns="36576" bIns="36576" anchor="t">
            <a:spAutoFit/>
          </a:bodyPr>
          <a:lstStyle/>
          <a:p>
            <a:pPr algn="r">
              <a:spcAft>
                <a:spcPts val="0"/>
              </a:spcAft>
            </a:pPr>
            <a:r>
              <a:rPr sz="900" b="1" i="0">
                <a:solidFill>
                  <a:srgbClr val="667085"/>
                </a:solidFill>
                <a:latin typeface="Aptos"/>
              </a:rPr>
              <a:t>05</a:t>
            </a:r>
          </a:p>
        </p:txBody>
      </p:sp>
      <p:sp>
        <p:nvSpPr>
          <p:cNvPr id="4" name="Rectangle 3"/>
          <p:cNvSpPr/>
          <p:nvPr/>
        </p:nvSpPr>
        <p:spPr>
          <a:xfrm>
            <a:off x="502920" y="566928"/>
            <a:ext cx="420624" cy="50292"/>
          </a:xfrm>
          <a:prstGeom prst="rect">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93776"/>
            <a:ext cx="2743200" cy="201168"/>
          </a:xfrm>
          <a:prstGeom prst="rect">
            <a:avLst/>
          </a:prstGeom>
          <a:noFill/>
        </p:spPr>
        <p:txBody>
          <a:bodyPr wrap="square" lIns="36576" rIns="36576" tIns="36576" bIns="36576" anchor="t">
            <a:spAutoFit/>
          </a:bodyPr>
          <a:lstStyle/>
          <a:p>
            <a:pPr algn="l">
              <a:spcAft>
                <a:spcPts val="0"/>
              </a:spcAft>
            </a:pPr>
            <a:r>
              <a:rPr sz="819" b="1" i="0">
                <a:solidFill>
                  <a:srgbClr val="667085"/>
                </a:solidFill>
                <a:latin typeface="Aptos"/>
              </a:rPr>
              <a:t>CRITICAL LENS</a:t>
            </a:r>
          </a:p>
        </p:txBody>
      </p:sp>
      <p:sp>
        <p:nvSpPr>
          <p:cNvPr id="6" name="TextBox 5"/>
          <p:cNvSpPr txBox="1"/>
          <p:nvPr/>
        </p:nvSpPr>
        <p:spPr>
          <a:xfrm>
            <a:off x="502920" y="822960"/>
            <a:ext cx="10881360" cy="566928"/>
          </a:xfrm>
          <a:prstGeom prst="rect">
            <a:avLst/>
          </a:prstGeom>
          <a:noFill/>
        </p:spPr>
        <p:txBody>
          <a:bodyPr wrap="square" lIns="36576" rIns="36576" tIns="36576" bIns="36576" anchor="t">
            <a:spAutoFit/>
          </a:bodyPr>
          <a:lstStyle/>
          <a:p>
            <a:pPr algn="l">
              <a:spcAft>
                <a:spcPts val="0"/>
              </a:spcAft>
            </a:pPr>
            <a:r>
              <a:rPr sz="2500" b="1" i="0">
                <a:solidFill>
                  <a:srgbClr val="172B4D"/>
                </a:solidFill>
                <a:latin typeface="Aptos"/>
              </a:rPr>
              <a:t>What the comparison must not over-interpret</a:t>
            </a:r>
          </a:p>
        </p:txBody>
      </p:sp>
      <p:sp>
        <p:nvSpPr>
          <p:cNvPr id="7" name="TextBox 6"/>
          <p:cNvSpPr txBox="1"/>
          <p:nvPr/>
        </p:nvSpPr>
        <p:spPr>
          <a:xfrm>
            <a:off x="530352" y="1408176"/>
            <a:ext cx="10424160" cy="320040"/>
          </a:xfrm>
          <a:prstGeom prst="rect">
            <a:avLst/>
          </a:prstGeom>
          <a:noFill/>
        </p:spPr>
        <p:txBody>
          <a:bodyPr wrap="square" lIns="36576" rIns="36576" tIns="36576" bIns="36576" anchor="t">
            <a:spAutoFit/>
          </a:bodyPr>
          <a:lstStyle/>
          <a:p>
            <a:pPr algn="l">
              <a:spcAft>
                <a:spcPts val="0"/>
              </a:spcAft>
            </a:pPr>
            <a:r>
              <a:rPr sz="1100" b="0" i="1">
                <a:solidFill>
                  <a:srgbClr val="667085"/>
                </a:solidFill>
                <a:latin typeface="Aptos"/>
              </a:rPr>
              <a:t>Rigorous finance means stating the limits of the data and the model.</a:t>
            </a:r>
          </a:p>
        </p:txBody>
      </p:sp>
      <p:sp>
        <p:nvSpPr>
          <p:cNvPr id="8" name="Rounded Rectangle 7"/>
          <p:cNvSpPr/>
          <p:nvPr/>
        </p:nvSpPr>
        <p:spPr>
          <a:xfrm>
            <a:off x="594360" y="1965960"/>
            <a:ext cx="5230368" cy="3611880"/>
          </a:xfrm>
          <a:prstGeom prst="roundRect">
            <a:avLst/>
          </a:prstGeom>
          <a:solidFill>
            <a:srgbClr val="FFFFFF"/>
          </a:solidFill>
          <a:ln w="1016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13432"/>
            <a:ext cx="2011680" cy="219456"/>
          </a:xfrm>
          <a:prstGeom prst="rect">
            <a:avLst/>
          </a:prstGeom>
          <a:noFill/>
        </p:spPr>
        <p:txBody>
          <a:bodyPr wrap="square" lIns="36576" rIns="36576" tIns="36576" bIns="36576" anchor="t">
            <a:spAutoFit/>
          </a:bodyPr>
          <a:lstStyle/>
          <a:p>
            <a:pPr algn="l">
              <a:spcAft>
                <a:spcPts val="0"/>
              </a:spcAft>
            </a:pPr>
            <a:r>
              <a:rPr sz="850" b="1" i="0">
                <a:solidFill>
                  <a:srgbClr val="08A5BE"/>
                </a:solidFill>
                <a:latin typeface="Aptos"/>
              </a:rPr>
              <a:t>WHAT DIFFERS</a:t>
            </a:r>
          </a:p>
        </p:txBody>
      </p:sp>
      <p:sp>
        <p:nvSpPr>
          <p:cNvPr id="10" name="TextBox 9"/>
          <p:cNvSpPr txBox="1"/>
          <p:nvPr/>
        </p:nvSpPr>
        <p:spPr>
          <a:xfrm>
            <a:off x="914400" y="2724912"/>
            <a:ext cx="4343400" cy="1600200"/>
          </a:xfrm>
          <a:prstGeom prst="rect">
            <a:avLst/>
          </a:prstGeom>
          <a:noFill/>
        </p:spPr>
        <p:txBody>
          <a:bodyPr wrap="square" lIns="45720" rIns="45720">
            <a:spAutoFit/>
          </a:bodyPr>
          <a:lstStyle/>
          <a:p>
            <a:pPr>
              <a:lnSpc>
                <a:spcPct val="115000"/>
              </a:lnSpc>
              <a:spcAft>
                <a:spcPts val="500"/>
              </a:spcAft>
              <a:defRPr sz="1300">
                <a:solidFill>
                  <a:srgbClr val="1F2937"/>
                </a:solidFill>
                <a:latin typeface="Aptos"/>
              </a:defRPr>
            </a:pPr>
            <a:r>
              <a:t>• Scoring models and score ranges</a:t>
            </a:r>
          </a:p>
          <a:p>
            <a:pPr>
              <a:lnSpc>
                <a:spcPct val="115000"/>
              </a:lnSpc>
              <a:spcAft>
                <a:spcPts val="500"/>
              </a:spcAft>
              <a:defRPr sz="1300">
                <a:solidFill>
                  <a:srgbClr val="1F2937"/>
                </a:solidFill>
                <a:latin typeface="Aptos"/>
              </a:defRPr>
            </a:pPr>
            <a:r>
              <a:t>• Data coverage and reporting timing</a:t>
            </a:r>
          </a:p>
          <a:p>
            <a:pPr>
              <a:lnSpc>
                <a:spcPct val="115000"/>
              </a:lnSpc>
              <a:spcAft>
                <a:spcPts val="500"/>
              </a:spcAft>
              <a:defRPr sz="1300">
                <a:solidFill>
                  <a:srgbClr val="1F2937"/>
                </a:solidFill>
                <a:latin typeface="Aptos"/>
              </a:defRPr>
            </a:pPr>
            <a:r>
              <a:t>• Products, customers and geography</a:t>
            </a:r>
          </a:p>
          <a:p>
            <a:pPr>
              <a:lnSpc>
                <a:spcPct val="115000"/>
              </a:lnSpc>
              <a:spcAft>
                <a:spcPts val="500"/>
              </a:spcAft>
              <a:defRPr sz="1300">
                <a:solidFill>
                  <a:srgbClr val="1F2937"/>
                </a:solidFill>
                <a:latin typeface="Aptos"/>
              </a:defRPr>
            </a:pPr>
            <a:r>
              <a:t>• Lender policy and underwriting rules</a:t>
            </a:r>
          </a:p>
        </p:txBody>
      </p:sp>
      <p:sp>
        <p:nvSpPr>
          <p:cNvPr id="11" name="Rounded Rectangle 10"/>
          <p:cNvSpPr/>
          <p:nvPr/>
        </p:nvSpPr>
        <p:spPr>
          <a:xfrm>
            <a:off x="6327648" y="1965960"/>
            <a:ext cx="5230368" cy="3611880"/>
          </a:xfrm>
          <a:prstGeom prst="roundRect">
            <a:avLst/>
          </a:prstGeom>
          <a:solidFill>
            <a:srgbClr val="F8EEF5"/>
          </a:solidFill>
          <a:ln w="10160">
            <a:solidFill>
              <a:srgbClr val="F8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47688" y="2313432"/>
            <a:ext cx="2011680" cy="219456"/>
          </a:xfrm>
          <a:prstGeom prst="rect">
            <a:avLst/>
          </a:prstGeom>
          <a:noFill/>
        </p:spPr>
        <p:txBody>
          <a:bodyPr wrap="square" lIns="36576" rIns="36576" tIns="36576" bIns="36576" anchor="t">
            <a:spAutoFit/>
          </a:bodyPr>
          <a:lstStyle/>
          <a:p>
            <a:pPr algn="l">
              <a:spcAft>
                <a:spcPts val="0"/>
              </a:spcAft>
            </a:pPr>
            <a:r>
              <a:rPr sz="850" b="1" i="0">
                <a:solidFill>
                  <a:srgbClr val="9B1C3F"/>
                </a:solidFill>
                <a:latin typeface="Aptos"/>
              </a:rPr>
              <a:t>WHY IT MATTERS</a:t>
            </a:r>
          </a:p>
        </p:txBody>
      </p:sp>
      <p:sp>
        <p:nvSpPr>
          <p:cNvPr id="13" name="TextBox 12"/>
          <p:cNvSpPr txBox="1"/>
          <p:nvPr/>
        </p:nvSpPr>
        <p:spPr>
          <a:xfrm>
            <a:off x="6647688" y="2724912"/>
            <a:ext cx="4343400" cy="1600200"/>
          </a:xfrm>
          <a:prstGeom prst="rect">
            <a:avLst/>
          </a:prstGeom>
          <a:noFill/>
        </p:spPr>
        <p:txBody>
          <a:bodyPr wrap="square" lIns="45720" rIns="45720">
            <a:spAutoFit/>
          </a:bodyPr>
          <a:lstStyle/>
          <a:p>
            <a:pPr>
              <a:lnSpc>
                <a:spcPct val="115000"/>
              </a:lnSpc>
              <a:spcAft>
                <a:spcPts val="500"/>
              </a:spcAft>
              <a:defRPr sz="1300">
                <a:solidFill>
                  <a:srgbClr val="1F2937"/>
                </a:solidFill>
                <a:latin typeface="Aptos"/>
              </a:defRPr>
            </a:pPr>
            <a:r>
              <a:t>• Incomplete, outdated or incorrect data</a:t>
            </a:r>
          </a:p>
          <a:p>
            <a:pPr>
              <a:lnSpc>
                <a:spcPct val="115000"/>
              </a:lnSpc>
              <a:spcAft>
                <a:spcPts val="500"/>
              </a:spcAft>
              <a:defRPr sz="1300">
                <a:solidFill>
                  <a:srgbClr val="1F2937"/>
                </a:solidFill>
                <a:latin typeface="Aptos"/>
              </a:defRPr>
            </a:pPr>
            <a:r>
              <a:t>• Privacy, transparency and fairness</a:t>
            </a:r>
          </a:p>
          <a:p>
            <a:pPr>
              <a:lnSpc>
                <a:spcPct val="115000"/>
              </a:lnSpc>
              <a:spcAft>
                <a:spcPts val="500"/>
              </a:spcAft>
              <a:defRPr sz="1300">
                <a:solidFill>
                  <a:srgbClr val="1F2937"/>
                </a:solidFill>
                <a:latin typeface="Aptos"/>
              </a:defRPr>
            </a:pPr>
            <a:r>
              <a:t>• Potential bias in automated decisions</a:t>
            </a:r>
          </a:p>
          <a:p>
            <a:pPr>
              <a:lnSpc>
                <a:spcPct val="115000"/>
              </a:lnSpc>
              <a:spcAft>
                <a:spcPts val="500"/>
              </a:spcAft>
              <a:defRPr sz="1300">
                <a:solidFill>
                  <a:srgbClr val="1F2937"/>
                </a:solidFill>
                <a:latin typeface="Aptos"/>
              </a:defRPr>
            </a:pPr>
            <a:r>
              <a:t>• A score is not a full affordability assessment</a:t>
            </a:r>
          </a:p>
        </p:txBody>
      </p:sp>
      <p:sp>
        <p:nvSpPr>
          <p:cNvPr id="14" name="Rounded Rectangle 13"/>
          <p:cNvSpPr/>
          <p:nvPr/>
        </p:nvSpPr>
        <p:spPr>
          <a:xfrm>
            <a:off x="1536192" y="5715000"/>
            <a:ext cx="9125712" cy="365760"/>
          </a:xfrm>
          <a:prstGeom prst="roundRect">
            <a:avLst/>
          </a:prstGeom>
          <a:solidFill>
            <a:srgbClr val="172B4D"/>
          </a:solidFill>
          <a:ln w="10160">
            <a:solidFill>
              <a:srgbClr val="172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37360" y="5815584"/>
            <a:ext cx="8732520" cy="146304"/>
          </a:xfrm>
          <a:prstGeom prst="rect">
            <a:avLst/>
          </a:prstGeom>
          <a:noFill/>
        </p:spPr>
        <p:txBody>
          <a:bodyPr wrap="square" lIns="36576" rIns="36576" tIns="36576" bIns="36576" anchor="t">
            <a:spAutoFit/>
          </a:bodyPr>
          <a:lstStyle/>
          <a:p>
            <a:pPr algn="ctr">
              <a:spcAft>
                <a:spcPts val="0"/>
              </a:spcAft>
            </a:pPr>
            <a:r>
              <a:rPr sz="980" b="1" i="0">
                <a:solidFill>
                  <a:srgbClr val="FFFFFF"/>
                </a:solidFill>
                <a:latin typeface="Aptos"/>
              </a:rPr>
              <a:t>No universal score · no automatic ranking · no final decision without the lender</a:t>
            </a:r>
          </a:p>
        </p:txBody>
      </p:sp>
      <p:sp>
        <p:nvSpPr>
          <p:cNvPr id="16" name="Rectangle 15"/>
          <p:cNvSpPr/>
          <p:nvPr/>
        </p:nvSpPr>
        <p:spPr>
          <a:xfrm>
            <a:off x="502920" y="6446520"/>
            <a:ext cx="11155680"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6492240"/>
            <a:ext cx="10149840" cy="164592"/>
          </a:xfrm>
          <a:prstGeom prst="rect">
            <a:avLst/>
          </a:prstGeom>
          <a:noFill/>
        </p:spPr>
        <p:txBody>
          <a:bodyPr wrap="square" lIns="36576" rIns="36576" tIns="36576" bIns="36576" anchor="t">
            <a:spAutoFit/>
          </a:bodyPr>
          <a:lstStyle/>
          <a:p>
            <a:pPr algn="l">
              <a:spcAft>
                <a:spcPts val="0"/>
              </a:spcAft>
            </a:pPr>
            <a:r>
              <a:rPr sz="650" b="0" i="0">
                <a:solidFill>
                  <a:srgbClr val="667085"/>
                </a:solidFill>
                <a:latin typeface="Aptos"/>
              </a:rPr>
              <a:t>Sources: Consumer Financial Protection Bureau; FICO; official company pages. No score model or market ranking is inferred here.</a:t>
            </a:r>
          </a:p>
        </p:txBody>
      </p:sp>
      <p:sp>
        <p:nvSpPr>
          <p:cNvPr id="18" name="TextBox 17"/>
          <p:cNvSpPr txBox="1"/>
          <p:nvPr/>
        </p:nvSpPr>
        <p:spPr>
          <a:xfrm>
            <a:off x="11064240" y="6473952"/>
            <a:ext cx="566928" cy="164592"/>
          </a:xfrm>
          <a:prstGeom prst="rect">
            <a:avLst/>
          </a:prstGeom>
          <a:noFill/>
        </p:spPr>
        <p:txBody>
          <a:bodyPr wrap="square" lIns="36576" rIns="36576" tIns="36576" bIns="36576" anchor="t">
            <a:spAutoFit/>
          </a:bodyPr>
          <a:lstStyle/>
          <a:p>
            <a:pPr algn="r">
              <a:spcAft>
                <a:spcPts val="0"/>
              </a:spcAft>
            </a:pPr>
            <a:r>
              <a:rPr sz="700" b="0" i="0">
                <a:solidFill>
                  <a:srgbClr val="667085"/>
                </a:solidFill>
                <a:latin typeface="Aptos"/>
              </a:rPr>
              <a:t>5 / 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502920" y="256032"/>
            <a:ext cx="3657600" cy="201168"/>
          </a:xfrm>
          <a:prstGeom prst="rect">
            <a:avLst/>
          </a:prstGeom>
          <a:noFill/>
        </p:spPr>
        <p:txBody>
          <a:bodyPr wrap="square" lIns="36576" rIns="36576" tIns="36576" bIns="36576" anchor="t">
            <a:spAutoFit/>
          </a:bodyPr>
          <a:lstStyle/>
          <a:p>
            <a:pPr algn="l">
              <a:spcAft>
                <a:spcPts val="0"/>
              </a:spcAft>
            </a:pPr>
            <a:r>
              <a:rPr sz="850" b="1" i="0">
                <a:solidFill>
                  <a:srgbClr val="08A5BE"/>
                </a:solidFill>
                <a:latin typeface="Aptos"/>
              </a:rPr>
              <a:t>BONUS  ·  CREDIT BUREAUS</a:t>
            </a:r>
          </a:p>
        </p:txBody>
      </p:sp>
      <p:sp>
        <p:nvSpPr>
          <p:cNvPr id="3" name="TextBox 2"/>
          <p:cNvSpPr txBox="1"/>
          <p:nvPr/>
        </p:nvSpPr>
        <p:spPr>
          <a:xfrm>
            <a:off x="11109960" y="246888"/>
            <a:ext cx="502920" cy="256032"/>
          </a:xfrm>
          <a:prstGeom prst="rect">
            <a:avLst/>
          </a:prstGeom>
          <a:noFill/>
        </p:spPr>
        <p:txBody>
          <a:bodyPr wrap="square" lIns="36576" rIns="36576" tIns="36576" bIns="36576" anchor="t">
            <a:spAutoFit/>
          </a:bodyPr>
          <a:lstStyle/>
          <a:p>
            <a:pPr algn="r">
              <a:spcAft>
                <a:spcPts val="0"/>
              </a:spcAft>
            </a:pPr>
            <a:r>
              <a:rPr sz="900" b="1" i="0">
                <a:solidFill>
                  <a:srgbClr val="667085"/>
                </a:solidFill>
                <a:latin typeface="Aptos"/>
              </a:rPr>
              <a:t>06</a:t>
            </a:r>
          </a:p>
        </p:txBody>
      </p:sp>
      <p:sp>
        <p:nvSpPr>
          <p:cNvPr id="4" name="Rectangle 3"/>
          <p:cNvSpPr/>
          <p:nvPr/>
        </p:nvSpPr>
        <p:spPr>
          <a:xfrm>
            <a:off x="502920" y="566928"/>
            <a:ext cx="420624" cy="50292"/>
          </a:xfrm>
          <a:prstGeom prst="rect">
            <a:avLst/>
          </a:prstGeom>
          <a:solidFill>
            <a:srgbClr val="D6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93776"/>
            <a:ext cx="2743200" cy="201168"/>
          </a:xfrm>
          <a:prstGeom prst="rect">
            <a:avLst/>
          </a:prstGeom>
          <a:noFill/>
        </p:spPr>
        <p:txBody>
          <a:bodyPr wrap="square" lIns="36576" rIns="36576" tIns="36576" bIns="36576" anchor="t">
            <a:spAutoFit/>
          </a:bodyPr>
          <a:lstStyle/>
          <a:p>
            <a:pPr algn="l">
              <a:spcAft>
                <a:spcPts val="0"/>
              </a:spcAft>
            </a:pPr>
            <a:r>
              <a:rPr sz="819" b="1" i="0">
                <a:solidFill>
                  <a:srgbClr val="667085"/>
                </a:solidFill>
                <a:latin typeface="Aptos"/>
              </a:rPr>
              <a:t>CLOSE WITH THE LESSON</a:t>
            </a:r>
          </a:p>
        </p:txBody>
      </p:sp>
      <p:sp>
        <p:nvSpPr>
          <p:cNvPr id="6" name="TextBox 5"/>
          <p:cNvSpPr txBox="1"/>
          <p:nvPr/>
        </p:nvSpPr>
        <p:spPr>
          <a:xfrm>
            <a:off x="502920" y="822960"/>
            <a:ext cx="10881360" cy="566928"/>
          </a:xfrm>
          <a:prstGeom prst="rect">
            <a:avLst/>
          </a:prstGeom>
          <a:noFill/>
        </p:spPr>
        <p:txBody>
          <a:bodyPr wrap="square" lIns="36576" rIns="36576" tIns="36576" bIns="36576" anchor="t">
            <a:spAutoFit/>
          </a:bodyPr>
          <a:lstStyle/>
          <a:p>
            <a:pPr algn="l">
              <a:spcAft>
                <a:spcPts val="0"/>
              </a:spcAft>
            </a:pPr>
            <a:r>
              <a:rPr sz="2500" b="1" i="0">
                <a:solidFill>
                  <a:srgbClr val="172B4D"/>
                </a:solidFill>
                <a:latin typeface="Aptos"/>
              </a:rPr>
              <a:t>Information improves decisions — but it is not the decision</a:t>
            </a:r>
          </a:p>
        </p:txBody>
      </p:sp>
      <p:sp>
        <p:nvSpPr>
          <p:cNvPr id="7" name="TextBox 6"/>
          <p:cNvSpPr txBox="1"/>
          <p:nvPr/>
        </p:nvSpPr>
        <p:spPr>
          <a:xfrm>
            <a:off x="530352" y="1408176"/>
            <a:ext cx="10424160" cy="320040"/>
          </a:xfrm>
          <a:prstGeom prst="rect">
            <a:avLst/>
          </a:prstGeom>
          <a:noFill/>
        </p:spPr>
        <p:txBody>
          <a:bodyPr wrap="square" lIns="36576" rIns="36576" tIns="36576" bIns="36576" anchor="t">
            <a:spAutoFit/>
          </a:bodyPr>
          <a:lstStyle/>
          <a:p>
            <a:pPr algn="l">
              <a:spcAft>
                <a:spcPts val="0"/>
              </a:spcAft>
            </a:pPr>
            <a:r>
              <a:rPr sz="1100" b="0" i="1">
                <a:solidFill>
                  <a:srgbClr val="667085"/>
                </a:solidFill>
                <a:latin typeface="Aptos"/>
              </a:rPr>
              <a:t>A concise conclusion for the optional credit-bureaus exercise.</a:t>
            </a:r>
          </a:p>
        </p:txBody>
      </p:sp>
      <p:sp>
        <p:nvSpPr>
          <p:cNvPr id="8" name="Rounded Rectangle 7"/>
          <p:cNvSpPr/>
          <p:nvPr/>
        </p:nvSpPr>
        <p:spPr>
          <a:xfrm>
            <a:off x="594360" y="1920240"/>
            <a:ext cx="6446520" cy="2057400"/>
          </a:xfrm>
          <a:prstGeom prst="roundRect">
            <a:avLst/>
          </a:prstGeom>
          <a:solidFill>
            <a:srgbClr val="172B4D"/>
          </a:solidFill>
          <a:ln w="10160">
            <a:solidFill>
              <a:srgbClr val="172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258568"/>
            <a:ext cx="1417320" cy="219456"/>
          </a:xfrm>
          <a:prstGeom prst="rect">
            <a:avLst/>
          </a:prstGeom>
          <a:noFill/>
        </p:spPr>
        <p:txBody>
          <a:bodyPr wrap="square" lIns="36576" rIns="36576" tIns="36576" bIns="36576" anchor="t">
            <a:spAutoFit/>
          </a:bodyPr>
          <a:lstStyle/>
          <a:p>
            <a:pPr algn="l">
              <a:spcAft>
                <a:spcPts val="0"/>
              </a:spcAft>
            </a:pPr>
            <a:r>
              <a:rPr sz="819" b="1" i="0">
                <a:solidFill>
                  <a:srgbClr val="D6A33A"/>
                </a:solidFill>
                <a:latin typeface="Aptos"/>
              </a:rPr>
              <a:t>CONCLUSION</a:t>
            </a:r>
          </a:p>
        </p:txBody>
      </p:sp>
      <p:sp>
        <p:nvSpPr>
          <p:cNvPr id="10" name="TextBox 9"/>
          <p:cNvSpPr txBox="1"/>
          <p:nvPr/>
        </p:nvSpPr>
        <p:spPr>
          <a:xfrm>
            <a:off x="932688" y="2679192"/>
            <a:ext cx="5687568" cy="868680"/>
          </a:xfrm>
          <a:prstGeom prst="rect">
            <a:avLst/>
          </a:prstGeom>
          <a:noFill/>
        </p:spPr>
        <p:txBody>
          <a:bodyPr wrap="square" lIns="36576" rIns="36576" tIns="36576" bIns="36576" anchor="t">
            <a:spAutoFit/>
          </a:bodyPr>
          <a:lstStyle/>
          <a:p>
            <a:pPr algn="l">
              <a:spcAft>
                <a:spcPts val="0"/>
              </a:spcAft>
            </a:pPr>
            <a:r>
              <a:rPr sz="1600" b="1" i="0">
                <a:solidFill>
                  <a:srgbClr val="FFFFFF"/>
                </a:solidFill>
                <a:latin typeface="Aptos"/>
              </a:rPr>
              <a:t>Equifax, Experian and TransUnion use information and analytics to support credit and risk decisions, but they are not identical score providers. Their data, models, products and geographic perimeters differ. The final credit decision remains the responsibility of the lender.</a:t>
            </a:r>
          </a:p>
        </p:txBody>
      </p:sp>
      <p:sp>
        <p:nvSpPr>
          <p:cNvPr id="11" name="Rounded Rectangle 10"/>
          <p:cNvSpPr/>
          <p:nvPr/>
        </p:nvSpPr>
        <p:spPr>
          <a:xfrm>
            <a:off x="7360920" y="1920240"/>
            <a:ext cx="4187952" cy="2057400"/>
          </a:xfrm>
          <a:prstGeom prst="roundRect">
            <a:avLst/>
          </a:prstGeom>
          <a:solidFill>
            <a:srgbClr val="E8F5F3"/>
          </a:solidFill>
          <a:ln w="10160">
            <a:solidFill>
              <a:srgbClr val="E8F5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2258568"/>
            <a:ext cx="1417320" cy="219456"/>
          </a:xfrm>
          <a:prstGeom prst="rect">
            <a:avLst/>
          </a:prstGeom>
          <a:noFill/>
        </p:spPr>
        <p:txBody>
          <a:bodyPr wrap="square" lIns="36576" rIns="36576" tIns="36576" bIns="36576" anchor="t">
            <a:spAutoFit/>
          </a:bodyPr>
          <a:lstStyle/>
          <a:p>
            <a:pPr algn="l">
              <a:spcAft>
                <a:spcPts val="0"/>
              </a:spcAft>
            </a:pPr>
            <a:r>
              <a:rPr sz="819" b="1" i="0">
                <a:solidFill>
                  <a:srgbClr val="08A5BE"/>
                </a:solidFill>
                <a:latin typeface="Aptos"/>
              </a:rPr>
              <a:t>MAIN LESSON</a:t>
            </a:r>
          </a:p>
        </p:txBody>
      </p:sp>
      <p:sp>
        <p:nvSpPr>
          <p:cNvPr id="13" name="TextBox 12"/>
          <p:cNvSpPr txBox="1"/>
          <p:nvPr/>
        </p:nvSpPr>
        <p:spPr>
          <a:xfrm>
            <a:off x="7680960" y="2688336"/>
            <a:ext cx="3493008" cy="713232"/>
          </a:xfrm>
          <a:prstGeom prst="rect">
            <a:avLst/>
          </a:prstGeom>
          <a:noFill/>
        </p:spPr>
        <p:txBody>
          <a:bodyPr wrap="square" lIns="36576" rIns="36576" tIns="36576" bIns="36576" anchor="t">
            <a:spAutoFit/>
          </a:bodyPr>
          <a:lstStyle/>
          <a:p>
            <a:pPr algn="l">
              <a:spcAft>
                <a:spcPts val="0"/>
              </a:spcAft>
            </a:pPr>
            <a:r>
              <a:rPr sz="1400" b="1" i="0">
                <a:solidFill>
                  <a:srgbClr val="172B4D"/>
                </a:solidFill>
                <a:latin typeface="Aptos"/>
              </a:rPr>
              <a:t>A credit score is an input to risk assessment — not a complete measure of a borrower’s financial situation.</a:t>
            </a:r>
          </a:p>
        </p:txBody>
      </p:sp>
      <p:sp>
        <p:nvSpPr>
          <p:cNvPr id="14" name="TextBox 13"/>
          <p:cNvSpPr txBox="1"/>
          <p:nvPr/>
        </p:nvSpPr>
        <p:spPr>
          <a:xfrm>
            <a:off x="640080" y="4297680"/>
            <a:ext cx="1828800" cy="201168"/>
          </a:xfrm>
          <a:prstGeom prst="rect">
            <a:avLst/>
          </a:prstGeom>
          <a:noFill/>
        </p:spPr>
        <p:txBody>
          <a:bodyPr wrap="square" lIns="36576" rIns="36576" tIns="36576" bIns="36576" anchor="t">
            <a:spAutoFit/>
          </a:bodyPr>
          <a:lstStyle/>
          <a:p>
            <a:pPr algn="l">
              <a:spcAft>
                <a:spcPts val="0"/>
              </a:spcAft>
            </a:pPr>
            <a:r>
              <a:rPr sz="819" b="1" i="0">
                <a:solidFill>
                  <a:srgbClr val="667085"/>
                </a:solidFill>
                <a:latin typeface="Aptos"/>
              </a:rPr>
              <a:t>VERIFIED SOURCES</a:t>
            </a:r>
          </a:p>
        </p:txBody>
      </p:sp>
      <p:sp>
        <p:nvSpPr>
          <p:cNvPr id="15" name="TextBox 14"/>
          <p:cNvSpPr txBox="1"/>
          <p:nvPr/>
        </p:nvSpPr>
        <p:spPr>
          <a:xfrm>
            <a:off x="640080" y="4535424"/>
            <a:ext cx="10835640" cy="1417320"/>
          </a:xfrm>
          <a:prstGeom prst="rect">
            <a:avLst/>
          </a:prstGeom>
          <a:noFill/>
        </p:spPr>
        <p:txBody>
          <a:bodyPr wrap="square" lIns="45720" rIns="45720">
            <a:spAutoFit/>
          </a:bodyPr>
          <a:lstStyle/>
          <a:p>
            <a:pPr>
              <a:lnSpc>
                <a:spcPct val="88000"/>
              </a:lnSpc>
              <a:spcAft>
                <a:spcPts val="500"/>
              </a:spcAft>
              <a:defRPr sz="610">
                <a:solidFill>
                  <a:srgbClr val="667085"/>
                </a:solidFill>
                <a:latin typeface="Aptos"/>
              </a:defRPr>
            </a:pPr>
            <a:r>
              <a:t>Equifax: https://www.equifax.com/about-equifax/ | https://www.equifax.com/personal/credit-report-services/</a:t>
            </a:r>
          </a:p>
          <a:p>
            <a:pPr>
              <a:lnSpc>
                <a:spcPct val="88000"/>
              </a:lnSpc>
              <a:spcAft>
                <a:spcPts val="500"/>
              </a:spcAft>
              <a:defRPr sz="610">
                <a:solidFill>
                  <a:srgbClr val="667085"/>
                </a:solidFill>
                <a:latin typeface="Aptos"/>
              </a:defRPr>
            </a:pPr>
            <a:r>
              <a:t>Experian: https://www.experianplc.com/about-us/ | https://www.experian.com/consumer-information/</a:t>
            </a:r>
          </a:p>
          <a:p>
            <a:pPr>
              <a:lnSpc>
                <a:spcPct val="88000"/>
              </a:lnSpc>
              <a:spcAft>
                <a:spcPts val="500"/>
              </a:spcAft>
              <a:defRPr sz="610">
                <a:solidFill>
                  <a:srgbClr val="667085"/>
                </a:solidFill>
                <a:latin typeface="Aptos"/>
              </a:defRPr>
            </a:pPr>
            <a:r>
              <a:t>Experian score explainer: https://www.experian.com/blogs/ask-experian/what-is-a-credit-score/</a:t>
            </a:r>
          </a:p>
          <a:p>
            <a:pPr>
              <a:lnSpc>
                <a:spcPct val="88000"/>
              </a:lnSpc>
              <a:spcAft>
                <a:spcPts val="500"/>
              </a:spcAft>
              <a:defRPr sz="610">
                <a:solidFill>
                  <a:srgbClr val="667085"/>
                </a:solidFill>
                <a:latin typeface="Aptos"/>
              </a:defRPr>
            </a:pPr>
            <a:r>
              <a:t>TransUnion: https://www.transunion.com/about-us</a:t>
            </a:r>
          </a:p>
          <a:p>
            <a:pPr>
              <a:lnSpc>
                <a:spcPct val="88000"/>
              </a:lnSpc>
              <a:spcAft>
                <a:spcPts val="500"/>
              </a:spcAft>
              <a:defRPr sz="610">
                <a:solidFill>
                  <a:srgbClr val="667085"/>
                </a:solidFill>
                <a:latin typeface="Aptos"/>
              </a:defRPr>
            </a:pPr>
            <a:r>
              <a:t>TransUnion Information for Good: https://newsroom.transunion.com/transunion-announces-its-new-brand-platform--information-for-good/</a:t>
            </a:r>
          </a:p>
          <a:p>
            <a:pPr>
              <a:lnSpc>
                <a:spcPct val="88000"/>
              </a:lnSpc>
              <a:spcAft>
                <a:spcPts val="500"/>
              </a:spcAft>
              <a:defRPr sz="610">
                <a:solidFill>
                  <a:srgbClr val="667085"/>
                </a:solidFill>
                <a:latin typeface="Aptos"/>
              </a:defRPr>
            </a:pPr>
            <a:r>
              <a:t>FICO: https://www.myfico.com/credit-education/faq/scores/do-i-need-to-know-my-scores-for-all-bureaus</a:t>
            </a:r>
          </a:p>
          <a:p>
            <a:pPr>
              <a:lnSpc>
                <a:spcPct val="88000"/>
              </a:lnSpc>
              <a:spcAft>
                <a:spcPts val="500"/>
              </a:spcAft>
              <a:defRPr sz="610">
                <a:solidFill>
                  <a:srgbClr val="667085"/>
                </a:solidFill>
                <a:latin typeface="Aptos"/>
              </a:defRPr>
            </a:pPr>
            <a:r>
              <a:t>CFPB: https://www.consumerfinance.gov/consumer-tools/credit-reports-and-scores/</a:t>
            </a:r>
          </a:p>
        </p:txBody>
      </p:sp>
      <p:sp>
        <p:nvSpPr>
          <p:cNvPr id="16" name="Rectangle 15"/>
          <p:cNvSpPr/>
          <p:nvPr/>
        </p:nvSpPr>
        <p:spPr>
          <a:xfrm>
            <a:off x="502920" y="6446520"/>
            <a:ext cx="11155680" cy="10972"/>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6492240"/>
            <a:ext cx="10149840" cy="164592"/>
          </a:xfrm>
          <a:prstGeom prst="rect">
            <a:avLst/>
          </a:prstGeom>
          <a:noFill/>
        </p:spPr>
        <p:txBody>
          <a:bodyPr wrap="square" lIns="36576" rIns="36576" tIns="36576" bIns="36576" anchor="t">
            <a:spAutoFit/>
          </a:bodyPr>
          <a:lstStyle/>
          <a:p>
            <a:pPr algn="l">
              <a:spcAft>
                <a:spcPts val="0"/>
              </a:spcAft>
            </a:pPr>
            <a:r>
              <a:rPr sz="650" b="0" i="0">
                <a:solidFill>
                  <a:srgbClr val="667085"/>
                </a:solidFill>
                <a:latin typeface="Aptos"/>
              </a:rPr>
              <a:t>Accessed 10 October 2026. Official sources only; historical dates and unsupported statistics intentionally omitted.</a:t>
            </a:r>
          </a:p>
        </p:txBody>
      </p:sp>
      <p:sp>
        <p:nvSpPr>
          <p:cNvPr id="18" name="TextBox 17"/>
          <p:cNvSpPr txBox="1"/>
          <p:nvPr/>
        </p:nvSpPr>
        <p:spPr>
          <a:xfrm>
            <a:off x="11064240" y="6473952"/>
            <a:ext cx="566928" cy="164592"/>
          </a:xfrm>
          <a:prstGeom prst="rect">
            <a:avLst/>
          </a:prstGeom>
          <a:noFill/>
        </p:spPr>
        <p:txBody>
          <a:bodyPr wrap="square" lIns="36576" rIns="36576" tIns="36576" bIns="36576" anchor="t">
            <a:spAutoFit/>
          </a:bodyPr>
          <a:lstStyle/>
          <a:p>
            <a:pPr algn="r">
              <a:spcAft>
                <a:spcPts val="0"/>
              </a:spcAft>
            </a:pPr>
            <a:r>
              <a:rPr sz="700" b="0" i="0">
                <a:solidFill>
                  <a:srgbClr val="667085"/>
                </a:solidFill>
                <a:latin typeface="Aptos"/>
              </a:rPr>
              <a:t>6 / 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