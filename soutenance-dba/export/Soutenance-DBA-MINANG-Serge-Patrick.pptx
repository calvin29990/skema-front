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 « Monsieur le Président, Madame, Monsieur les membres du jury, je vous remercie de votre présence. Je présente une recherche Doctorate in Business Administration consacrée à la gouvernance des établissements privés d'enseignement supérieur gabonais, et à la manière dont deux capacités — technologiques et humaines — s'y articulent. » 45 secondes. Le titre est indicatif ; le travail est en cours, chapitres 5 et 6 préparatoires.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Situer le terrain sans nommer les établissements : l'anonymat est une exigence éthique du protocole. Question probable — « Pourquoi cinq cas et non un seul ? » : répondre par la variation (critères C1–C5) et par la logique de réplication théorique, pas par la représentativité statistique.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Insister sur « transversal » : la polycrise est le cadre d'analyse, pas un slogan d'époque. Ne pas dater ni quantifier des crises gabonaises non documentées dans le manuscrit.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problèmes, une seule recherche : le problème managérial justifie l'intérêt, le problème scientifique justifie la méthode. Question probable — « N'est-ce pas deux thèses en une ? » : non, l'articulation IA–IE est l'objet unique, la performance durable est le domaine d'effets.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question lentement : c'est la phrase que le jury doit pouvoir répéter après la soutenance. Chaque mot compte — « comment » (processus), « conditions » (contingence), « effets » (prudence).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QR1 à QR4 recouvrent les quatre piliers du cadre : contexte, technologie, humain, articulation. Question probable — « Où est la performance ? » : QR4 renvoie aux effets, traités aux propositions P5 et P6.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Souligner la cohérence verticale : objectif général → QR1–QR4 → P1–P7 → guide d'entretien → codes NVivo. Question probable — « Pourquoi pas d'hypothèses statistiques ? » : posture interprétativiste, propositions à confronter et non hypothèses causales.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Je ne propose pas une théorie de plus, je propose un modèle exploratoire situé, à éprouver. » Ne citer aucun auteur de mémoire : la bibliographie du manuscrit n'est pas encore arrêtée.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Ce schéma est une hypothèse de lecture, pas un résultat. Le jury doit pouvoir le contester : c'est prévu. » Question probable — « Pourquoi la polycrise en amont ? » : parce qu'elle déclenche et contraint les processus, sans les déterminer.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Insister sur le mot « proposition » : en recherche qualitative abductive, on ne teste pas des hypothèses, on confronte des propositions. Question probable — « P4 n'est-elle pas tautologique ? » : réponse dans le protocole de codage, on observe des scènes, pas des étiquettes.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la plus « méthode » du bloc conceptuel : elle prépare le codage. Question probable — « Comment passez-vous du concept au code ? » : annexe F et annexe G, alignement explicite.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Assumer la posture : elle est cohérente avec l'objet (processus, sens, conditions), pas un repli faute de données quantitatives. Question probable — « Quelle généralisation ? » : transférabilité analytique (§ 6.9).</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Redire « prévisionnel » : c'est un engagement de protocole, pas un résultat. Question probable — « Pourquoi 45 et pas 30 ou 60 ? » : suffisance informationnelle visée par catégories, révisable selon la saturation.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fort du protocole : triangulation et traitement des cas négatifs — ce qui protège des conclusions trop favorables. Question probable — « Comment évitez-vous de trouver ce que vous cherchez ? » : codage hybride, cas négatifs, explications rivales, mémos.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Anticiper la question classique du jury sur la double posture : la nommer avant qu'elle soit posée. Question probable — « Votre position de dirigeant ne biaise-t-elle pas les entretiens ? » : réflexivité, tiers, cas hors UPL, explications rivales.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Montrer la symétrie : contexte → cadre → résultats. Le chiffre 77 vient du plan, pas d'une estimation. Question probable — « Pourquoi la révision du modèle n'est-elle pas un chapitre ? » : pour éviter la redondance avec les chapitres 5 et 6.</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Assumer la réduction : un jury reproche plus souvent la surcharge que la sobriété. Question probable — « Pourquoi avoir supprimé 75 supports ? » : doublons, lisibilité, redondance entre tableaux de synthèse et texte.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de sincérité : elle protège la soutenance, le jury sait ce qui est attendu de lui. Question probable — « Quand le terrain est-il réalisé ? » : réponse de l'auteur, à préparer en amont ; ne rien inventer ici.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Ce chapitre est une architecture : je présente la structure d'analyse, pas des conclusions. » Question probable — « Comment gérerez-vous un cas où aucune IA n'est utilisée ? » : résultat analysable, comparaison inter-cas et explications rivales.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clause de prudence est un argument de crédibilité, pas une précaution oratoire. Question probable — « Et si vous ne trouvez rien ? » : c'est prévu au § 6.4 ; l'absence documentée est un résultat.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conditionnel n'est pas une faiblesse : c'est la signature d'une thèse qui ne confond pas intention et résultat.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Prendre les limites une par une, sans les minimiser : le jury attend cette diapositive. Question probable — « Comment atténuez-vous le risque déclaratif ? » : triangulation entretiens / observation / documents.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Terminer le bloc scientifique sur une ouverture maîtrisée : trois pistes, aucune promesse.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de contrôle : chaque chiffre est vérifiable dans le dossier, elle coupe court aux approximations. Question probable — « D'où vient le 77 ? » : 8 sections d'introduction + 61 sections de chapitres + 8 points de conclusion.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Annoncer le calendrier avec prudence, sans date inventée : dire ce qui est fait, ce qui vient, dans quel ordre.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Remercier, s'arrêter, laisser le jury poser ses questions. Ne pas meubler. Après la soutenance : consigner les remarques du jury, elles alimentent directement le chapitre 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1C26"/>
              </a:gs>
              <a:gs pos="100000">
                <a:srgbClr val="0B101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828739"/>
            <a:ext cx="12191695" cy="29260"/>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566928"/>
            <a:ext cx="6766560" cy="219456"/>
          </a:xfrm>
          <a:prstGeom prst="rect">
            <a:avLst/>
          </a:prstGeom>
          <a:noFill/>
        </p:spPr>
        <p:txBody>
          <a:bodyPr wrap="square" lIns="0" rIns="0" tIns="0" bIns="0" anchor="t">
            <a:spAutoFit/>
          </a:bodyPr>
          <a:lstStyle/>
          <a:p>
            <a:pPr algn="l">
              <a:lnSpc>
                <a:spcPct val="118000"/>
              </a:lnSpc>
              <a:spcBef>
                <a:spcPts val="0"/>
              </a:spcBef>
              <a:spcAft>
                <a:spcPts val="0"/>
              </a:spcAft>
            </a:pPr>
            <a:r>
              <a:rPr sz="950" b="1" i="0" spc="170">
                <a:solidFill>
                  <a:srgbClr val="E3C485"/>
                </a:solidFill>
                <a:latin typeface="Segoe UI"/>
              </a:rPr>
              <a:t>SOUTENANCE DE THÈSE DOCTORALE · DBA</a:t>
            </a:r>
          </a:p>
        </p:txBody>
      </p:sp>
      <p:sp>
        <p:nvSpPr>
          <p:cNvPr id="5" name="TextBox 4"/>
          <p:cNvSpPr txBox="1"/>
          <p:nvPr/>
        </p:nvSpPr>
        <p:spPr>
          <a:xfrm>
            <a:off x="658368" y="932688"/>
            <a:ext cx="7589520" cy="2286000"/>
          </a:xfrm>
          <a:prstGeom prst="rect">
            <a:avLst/>
          </a:prstGeom>
          <a:noFill/>
        </p:spPr>
        <p:txBody>
          <a:bodyPr wrap="square" lIns="0" rIns="0" tIns="0" bIns="0" anchor="t">
            <a:spAutoFit/>
          </a:bodyPr>
          <a:lstStyle/>
          <a:p>
            <a:pPr>
              <a:lnSpc>
                <a:spcPct val="104000"/>
              </a:lnSpc>
            </a:pPr>
            <a:r>
              <a:rPr sz="3300">
                <a:solidFill>
                  <a:srgbClr val="F3EFE7"/>
                </a:solidFill>
                <a:latin typeface="Georgia"/>
              </a:rPr>
              <a:t>La gouvernance augmentée des établissements privés d'enseignement supérieur au Gabon</a:t>
            </a:r>
          </a:p>
        </p:txBody>
      </p:sp>
      <p:sp>
        <p:nvSpPr>
          <p:cNvPr id="6" name="TextBox 5"/>
          <p:cNvSpPr txBox="1"/>
          <p:nvPr/>
        </p:nvSpPr>
        <p:spPr>
          <a:xfrm>
            <a:off x="658368" y="2999232"/>
            <a:ext cx="7223760" cy="914400"/>
          </a:xfrm>
          <a:prstGeom prst="rect">
            <a:avLst/>
          </a:prstGeom>
          <a:noFill/>
        </p:spPr>
        <p:txBody>
          <a:bodyPr wrap="square" lIns="0" rIns="0" tIns="0" bIns="0" anchor="t">
            <a:spAutoFit/>
          </a:bodyPr>
          <a:lstStyle/>
          <a:p>
            <a:pPr algn="l">
              <a:lnSpc>
                <a:spcPct val="140000"/>
              </a:lnSpc>
              <a:spcBef>
                <a:spcPts val="0"/>
              </a:spcBef>
              <a:spcAft>
                <a:spcPts val="0"/>
              </a:spcAft>
            </a:pPr>
            <a:r>
              <a:rPr sz="1250" b="0" i="0">
                <a:solidFill>
                  <a:srgbClr val="D5D0C5"/>
                </a:solidFill>
                <a:latin typeface="Segoe UI"/>
              </a:rPr>
              <a:t>Articulation entre intelligence artificielle et intelligence émotionnelle au service de la performance globale, de la responsabilité sociétale et du développement durable, en situation de polycrise.</a:t>
            </a:r>
          </a:p>
          <a:p>
            <a:pPr algn="l">
              <a:lnSpc>
                <a:spcPct val="118000"/>
              </a:lnSpc>
              <a:spcBef>
                <a:spcPts val="500"/>
              </a:spcBef>
              <a:spcAft>
                <a:spcPts val="0"/>
              </a:spcAft>
            </a:pPr>
            <a:r>
              <a:rPr sz="860" b="0" i="0">
                <a:solidFill>
                  <a:srgbClr val="708392"/>
                </a:solidFill>
                <a:latin typeface="Segoe UI"/>
              </a:rPr>
              <a:t>Titre indicatif — plan général harmonisé, septembre 2026.</a:t>
            </a:r>
          </a:p>
        </p:txBody>
      </p:sp>
      <p:pic>
        <p:nvPicPr>
          <p:cNvPr id="7" name="Picture 6" descr="logo-upl.png"/>
          <p:cNvPicPr>
            <a:picLocks noChangeAspect="1"/>
          </p:cNvPicPr>
          <p:nvPr/>
        </p:nvPicPr>
        <p:blipFill>
          <a:blip r:embed="rId2"/>
          <a:stretch>
            <a:fillRect/>
          </a:stretch>
        </p:blipFill>
        <p:spPr>
          <a:xfrm>
            <a:off x="8796528" y="786384"/>
            <a:ext cx="2326503" cy="1481328"/>
          </a:xfrm>
          <a:prstGeom prst="rect">
            <a:avLst/>
          </a:prstGeom>
        </p:spPr>
      </p:pic>
      <p:sp>
        <p:nvSpPr>
          <p:cNvPr id="8" name="TextBox 7"/>
          <p:cNvSpPr txBox="1"/>
          <p:nvPr/>
        </p:nvSpPr>
        <p:spPr>
          <a:xfrm>
            <a:off x="8796528" y="2395728"/>
            <a:ext cx="2697480" cy="640080"/>
          </a:xfrm>
          <a:prstGeom prst="rect">
            <a:avLst/>
          </a:prstGeom>
          <a:noFill/>
        </p:spPr>
        <p:txBody>
          <a:bodyPr wrap="square" lIns="0" rIns="0" tIns="0" bIns="0" anchor="t">
            <a:spAutoFit/>
          </a:bodyPr>
          <a:lstStyle/>
          <a:p>
            <a:pPr algn="l">
              <a:lnSpc>
                <a:spcPct val="140000"/>
              </a:lnSpc>
              <a:spcBef>
                <a:spcPts val="0"/>
              </a:spcBef>
              <a:spcAft>
                <a:spcPts val="0"/>
              </a:spcAft>
            </a:pPr>
            <a:r>
              <a:rPr sz="720" b="1" i="0" spc="130">
                <a:solidFill>
                  <a:srgbClr val="708392"/>
                </a:solidFill>
                <a:latin typeface="Segoe UI"/>
              </a:rPr>
              <a:t>DOCTORATE IN BUSINESS ADMINISTRATION</a:t>
            </a:r>
          </a:p>
        </p:txBody>
      </p:sp>
      <p:sp>
        <p:nvSpPr>
          <p:cNvPr id="9" name="Rectangle 8"/>
          <p:cNvSpPr/>
          <p:nvPr/>
        </p:nvSpPr>
        <p:spPr>
          <a:xfrm>
            <a:off x="658368" y="4791456"/>
            <a:ext cx="27432" cy="932688"/>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22959" y="4754880"/>
            <a:ext cx="5120640" cy="1051560"/>
          </a:xfrm>
          <a:prstGeom prst="rect">
            <a:avLst/>
          </a:prstGeom>
          <a:noFill/>
        </p:spPr>
        <p:txBody>
          <a:bodyPr wrap="square" lIns="0" rIns="0" tIns="0" bIns="0" anchor="t">
            <a:spAutoFit/>
          </a:bodyPr>
          <a:lstStyle/>
          <a:p>
            <a:pPr algn="l">
              <a:lnSpc>
                <a:spcPct val="115000"/>
              </a:lnSpc>
              <a:spcBef>
                <a:spcPts val="0"/>
              </a:spcBef>
              <a:spcAft>
                <a:spcPts val="0"/>
              </a:spcAft>
            </a:pPr>
            <a:r>
              <a:rPr sz="1700" b="0" i="0">
                <a:solidFill>
                  <a:srgbClr val="F3EFE7"/>
                </a:solidFill>
                <a:latin typeface="Georgia"/>
              </a:rPr>
              <a:t>Serge Patrick MINANG</a:t>
            </a:r>
          </a:p>
          <a:p>
            <a:pPr algn="l">
              <a:lnSpc>
                <a:spcPct val="118000"/>
              </a:lnSpc>
              <a:spcBef>
                <a:spcPts val="300"/>
              </a:spcBef>
              <a:spcAft>
                <a:spcPts val="0"/>
              </a:spcAft>
            </a:pPr>
            <a:r>
              <a:rPr sz="960" b="0" i="0">
                <a:solidFill>
                  <a:srgbClr val="93A5B4"/>
                </a:solidFill>
                <a:latin typeface="Segoe UI"/>
              </a:rPr>
              <a:t>Ingénieur · MBA · doctorant DBA — praticien-chercheur</a:t>
            </a:r>
          </a:p>
          <a:p>
            <a:pPr algn="l">
              <a:lnSpc>
                <a:spcPct val="130000"/>
              </a:lnSpc>
              <a:spcBef>
                <a:spcPts val="600"/>
              </a:spcBef>
              <a:spcAft>
                <a:spcPts val="0"/>
              </a:spcAft>
            </a:pPr>
            <a:r>
              <a:rPr sz="760" b="0" i="0">
                <a:solidFill>
                  <a:srgbClr val="708392"/>
                </a:solidFill>
                <a:latin typeface="Segoe UI"/>
              </a:rPr>
              <a:t>[à compléter par l'auteur : université d'inscription · direction de thèse · date de soutenance]</a:t>
            </a:r>
          </a:p>
        </p:txBody>
      </p:sp>
      <p:sp>
        <p:nvSpPr>
          <p:cNvPr id="11" name="TextBox 10"/>
          <p:cNvSpPr txBox="1"/>
          <p:nvPr/>
        </p:nvSpPr>
        <p:spPr>
          <a:xfrm>
            <a:off x="7772400" y="4846320"/>
            <a:ext cx="3749039" cy="914400"/>
          </a:xfrm>
          <a:prstGeom prst="rect">
            <a:avLst/>
          </a:prstGeom>
          <a:noFill/>
        </p:spPr>
        <p:txBody>
          <a:bodyPr wrap="square" lIns="0" rIns="0" tIns="0" bIns="0" anchor="t">
            <a:spAutoFit/>
          </a:bodyPr>
          <a:lstStyle/>
          <a:p>
            <a:pPr algn="r">
              <a:lnSpc>
                <a:spcPct val="118000"/>
              </a:lnSpc>
              <a:spcBef>
                <a:spcPts val="0"/>
              </a:spcBef>
              <a:spcAft>
                <a:spcPts val="0"/>
              </a:spcAft>
            </a:pPr>
            <a:r>
              <a:rPr sz="760" b="1" i="0" spc="130">
                <a:solidFill>
                  <a:srgbClr val="E3C485"/>
                </a:solidFill>
                <a:latin typeface="Segoe UI"/>
              </a:rPr>
              <a:t>DOCUMENT DE TRAVAIL · 22 OCTOBRE 2026</a:t>
            </a:r>
          </a:p>
          <a:p>
            <a:pPr algn="r">
              <a:lnSpc>
                <a:spcPct val="130000"/>
              </a:lnSpc>
              <a:spcBef>
                <a:spcPts val="600"/>
              </a:spcBef>
              <a:spcAft>
                <a:spcPts val="0"/>
              </a:spcAft>
            </a:pPr>
            <a:r>
              <a:rPr sz="840" b="0" i="0">
                <a:solidFill>
                  <a:srgbClr val="93A5B4"/>
                </a:solidFill>
                <a:latin typeface="Segoe UI"/>
              </a:rPr>
              <a:t>Chapitres 5 et 6 préparatoires : aucun résultat n'est présumé dans ce diaporama.</a:t>
            </a:r>
          </a:p>
        </p:txBody>
      </p:sp>
      <p:sp>
        <p:nvSpPr>
          <p:cNvPr id="12" name="Rectangle 11"/>
          <p:cNvSpPr/>
          <p:nvPr/>
        </p:nvSpPr>
        <p:spPr>
          <a:xfrm>
            <a:off x="658368" y="6199632"/>
            <a:ext cx="10874959" cy="7315"/>
          </a:xfrm>
          <a:prstGeom prst="rect">
            <a:avLst/>
          </a:prstGeom>
          <a:solidFill>
            <a:srgbClr val="2734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58368" y="6291072"/>
            <a:ext cx="10189159" cy="457200"/>
          </a:xfrm>
          <a:prstGeom prst="rect">
            <a:avLst/>
          </a:prstGeom>
          <a:noFill/>
        </p:spPr>
        <p:txBody>
          <a:bodyPr wrap="square" lIns="0" rIns="0" tIns="0" bIns="0" anchor="t">
            <a:spAutoFit/>
          </a:bodyPr>
          <a:lstStyle/>
          <a:p>
            <a:pPr algn="l">
              <a:lnSpc>
                <a:spcPct val="110000"/>
              </a:lnSpc>
              <a:spcBef>
                <a:spcPts val="0"/>
              </a:spcBef>
              <a:spcAft>
                <a:spcPts val="0"/>
              </a:spcAft>
            </a:pPr>
            <a:r>
              <a:rPr sz="740" b="1">
                <a:solidFill>
                  <a:srgbClr val="93A5B4"/>
                </a:solidFill>
                <a:latin typeface="Segoe UI"/>
              </a:rPr>
              <a:t>Sources : </a:t>
            </a:r>
            <a:r>
              <a:rPr sz="740" b="0">
                <a:solidFill>
                  <a:srgbClr val="708392"/>
                </a:solidFill>
                <a:latin typeface="Segoe UI"/>
              </a:rPr>
              <a:t>plan général harmonisé de la thèse et liste unique des tableaux et figures (septembre 2026). Provenance détaillée des chiffres et des visuels : page « Sources » du dossier.</a:t>
            </a:r>
          </a:p>
        </p:txBody>
      </p:sp>
      <p:sp>
        <p:nvSpPr>
          <p:cNvPr id="14" name="TextBox 13"/>
          <p:cNvSpPr txBox="1"/>
          <p:nvPr/>
        </p:nvSpPr>
        <p:spPr>
          <a:xfrm>
            <a:off x="10874959" y="6291072"/>
            <a:ext cx="658368" cy="274320"/>
          </a:xfrm>
          <a:prstGeom prst="rect">
            <a:avLst/>
          </a:prstGeom>
          <a:noFill/>
        </p:spPr>
        <p:txBody>
          <a:bodyPr wrap="square" lIns="0" rIns="0" tIns="0" bIns="0" anchor="t">
            <a:spAutoFit/>
          </a:bodyPr>
          <a:lstStyle/>
          <a:p>
            <a:pPr algn="r">
              <a:lnSpc>
                <a:spcPct val="118000"/>
              </a:lnSpc>
              <a:spcBef>
                <a:spcPts val="0"/>
              </a:spcBef>
              <a:spcAft>
                <a:spcPts val="0"/>
              </a:spcAft>
            </a:pPr>
            <a:r>
              <a:rPr sz="800" b="0" i="0">
                <a:solidFill>
                  <a:srgbClr val="93A5B4"/>
                </a:solidFill>
                <a:latin typeface="Consolas"/>
              </a:rPr>
              <a:t>1 / 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1C26"/>
              </a:gs>
              <a:gs pos="100000">
                <a:srgbClr val="0B101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828739"/>
            <a:ext cx="12191695" cy="29260"/>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75488"/>
            <a:ext cx="10874959"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spc="160">
                <a:solidFill>
                  <a:srgbClr val="E3C485"/>
                </a:solidFill>
                <a:latin typeface="Segoe UI"/>
              </a:rPr>
              <a:t>TERRAIN ET CONTEXTE</a:t>
            </a:r>
          </a:p>
        </p:txBody>
      </p:sp>
      <p:sp>
        <p:nvSpPr>
          <p:cNvPr id="5" name="TextBox 4"/>
          <p:cNvSpPr txBox="1"/>
          <p:nvPr/>
        </p:nvSpPr>
        <p:spPr>
          <a:xfrm>
            <a:off x="658368" y="713232"/>
            <a:ext cx="10692079" cy="914400"/>
          </a:xfrm>
          <a:prstGeom prst="rect">
            <a:avLst/>
          </a:prstGeom>
          <a:noFill/>
        </p:spPr>
        <p:txBody>
          <a:bodyPr wrap="square" lIns="0" rIns="0" tIns="0" bIns="0" anchor="t">
            <a:spAutoFit/>
          </a:bodyPr>
          <a:lstStyle/>
          <a:p>
            <a:pPr>
              <a:lnSpc>
                <a:spcPct val="105000"/>
              </a:lnSpc>
            </a:pPr>
            <a:r>
              <a:rPr sz="2250" b="0">
                <a:solidFill>
                  <a:srgbClr val="F3EFE7"/>
                </a:solidFill>
                <a:latin typeface="Georgia"/>
              </a:rPr>
              <a:t>Neuf provinces, un secteur privé d'enseignement supérieur à gouvernance contrainte</a:t>
            </a:r>
          </a:p>
        </p:txBody>
      </p:sp>
      <p:pic>
        <p:nvPicPr>
          <p:cNvPr id="6" name="Picture 5" descr="gabon.png"/>
          <p:cNvPicPr>
            <a:picLocks noChangeAspect="1"/>
          </p:cNvPicPr>
          <p:nvPr/>
        </p:nvPicPr>
        <p:blipFill>
          <a:blip r:embed="rId2"/>
          <a:stretch>
            <a:fillRect/>
          </a:stretch>
        </p:blipFill>
        <p:spPr>
          <a:xfrm>
            <a:off x="7223760" y="1298448"/>
            <a:ext cx="4638867" cy="5074920"/>
          </a:xfrm>
          <a:prstGeom prst="rect">
            <a:avLst/>
          </a:prstGeom>
        </p:spPr>
      </p:pic>
      <p:sp>
        <p:nvSpPr>
          <p:cNvPr id="7" name="TextBox 6"/>
          <p:cNvSpPr txBox="1"/>
          <p:nvPr/>
        </p:nvSpPr>
        <p:spPr>
          <a:xfrm>
            <a:off x="658368" y="1648206"/>
            <a:ext cx="6309360" cy="3931920"/>
          </a:xfrm>
          <a:prstGeom prst="rect">
            <a:avLst/>
          </a:prstGeom>
          <a:noFill/>
        </p:spPr>
        <p:txBody>
          <a:bodyPr wrap="square" lIns="0" rIns="0" tIns="0" bIns="0" anchor="t">
            <a:spAutoFit/>
          </a:bodyPr>
          <a:lstStyle/>
          <a:p>
            <a:pPr algn="l">
              <a:lnSpc>
                <a:spcPct val="130000"/>
              </a:lnSpc>
              <a:spcBef>
                <a:spcPts val="0"/>
              </a:spcBef>
              <a:spcAft>
                <a:spcPts val="0"/>
              </a:spcAft>
            </a:pPr>
            <a:r>
              <a:rPr sz="912" b="1">
                <a:solidFill>
                  <a:srgbClr val="C8A154"/>
                </a:solidFill>
                <a:latin typeface="Segoe UI"/>
              </a:rPr>
              <a:t>■  </a:t>
            </a:r>
            <a:r>
              <a:rPr sz="1140" b="1">
                <a:solidFill>
                  <a:srgbClr val="F3EFE7"/>
                </a:solidFill>
                <a:latin typeface="Segoe UI"/>
              </a:rPr>
              <a:t>Cinq établissements enquêtés</a:t>
            </a:r>
            <a:r>
              <a:rPr sz="1140" b="0">
                <a:solidFill>
                  <a:srgbClr val="D5D0C5"/>
                </a:solidFill>
                <a:latin typeface="Segoe UI"/>
              </a:rPr>
              <a:t>, présentés sous les codes EPES-A à EPES-E : régime de confidentialité appliqué à la version publique.</a:t>
            </a:r>
          </a:p>
          <a:p>
            <a:pPr algn="l">
              <a:lnSpc>
                <a:spcPct val="130000"/>
              </a:lnSpc>
              <a:spcBef>
                <a:spcPts val="900"/>
              </a:spcBef>
              <a:spcAft>
                <a:spcPts val="0"/>
              </a:spcAft>
            </a:pPr>
            <a:r>
              <a:rPr sz="912" b="1">
                <a:solidFill>
                  <a:srgbClr val="C8A154"/>
                </a:solidFill>
                <a:latin typeface="Segoe UI"/>
              </a:rPr>
              <a:t>■  </a:t>
            </a:r>
            <a:r>
              <a:rPr sz="1140" b="1">
                <a:solidFill>
                  <a:srgbClr val="F3EFE7"/>
                </a:solidFill>
                <a:latin typeface="Segoe UI"/>
              </a:rPr>
              <a:t>Un ancrage institutionnel</a:t>
            </a:r>
            <a:r>
              <a:rPr sz="1140" b="0">
                <a:solidFill>
                  <a:srgbClr val="D5D0C5"/>
                </a:solidFill>
                <a:latin typeface="Segoe UI"/>
              </a:rPr>
              <a:t> : l'UPL, siège à la Sablière (Libreville) — Executive MBA ouvert depuis 2022, cours du soir de 17 h à 21 h, appui académique de l'Université de Douala.</a:t>
            </a:r>
          </a:p>
          <a:p>
            <a:pPr algn="l">
              <a:lnSpc>
                <a:spcPct val="130000"/>
              </a:lnSpc>
              <a:spcBef>
                <a:spcPts val="900"/>
              </a:spcBef>
              <a:spcAft>
                <a:spcPts val="0"/>
              </a:spcAft>
            </a:pPr>
            <a:r>
              <a:rPr sz="912" b="1">
                <a:solidFill>
                  <a:srgbClr val="C8A154"/>
                </a:solidFill>
                <a:latin typeface="Segoe UI"/>
              </a:rPr>
              <a:t>■  </a:t>
            </a:r>
            <a:r>
              <a:rPr sz="1140" b="1">
                <a:solidFill>
                  <a:srgbClr val="F3EFE7"/>
                </a:solidFill>
                <a:latin typeface="Segoe UI"/>
              </a:rPr>
              <a:t>Un secteur sous contraintes</a:t>
            </a:r>
            <a:r>
              <a:rPr sz="1140" b="0">
                <a:solidFill>
                  <a:srgbClr val="D5D0C5"/>
                </a:solidFill>
                <a:latin typeface="Segoe UI"/>
              </a:rPr>
              <a:t> : cadre juridique et institutionnel, modèles économiques adossés aux droits de scolarité, parties prenantes aux attentes divergentes (chapitre 1).</a:t>
            </a:r>
          </a:p>
          <a:p>
            <a:pPr algn="l">
              <a:lnSpc>
                <a:spcPct val="135000"/>
              </a:lnSpc>
              <a:spcBef>
                <a:spcPts val="1400"/>
              </a:spcBef>
              <a:spcAft>
                <a:spcPts val="0"/>
              </a:spcAft>
            </a:pPr>
            <a:r>
              <a:rPr sz="940" b="0" i="0">
                <a:solidFill>
                  <a:srgbClr val="93A5B4"/>
                </a:solidFill>
                <a:latin typeface="Segoe UI"/>
              </a:rPr>
              <a:t>Le terrain gabonais n'est pas un décor : il fixe les contraintes de gouvernance que la thèse prend pour objet (chapitre 1), distinctes de la justification du choix des cas (section 4.3).</a:t>
            </a:r>
          </a:p>
        </p:txBody>
      </p:sp>
      <p:sp>
        <p:nvSpPr>
          <p:cNvPr id="8" name="Rectangle 7"/>
          <p:cNvSpPr/>
          <p:nvPr/>
        </p:nvSpPr>
        <p:spPr>
          <a:xfrm>
            <a:off x="658368" y="6199632"/>
            <a:ext cx="10874959" cy="7315"/>
          </a:xfrm>
          <a:prstGeom prst="rect">
            <a:avLst/>
          </a:prstGeom>
          <a:solidFill>
            <a:srgbClr val="2734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58368" y="6291072"/>
            <a:ext cx="10189159" cy="457200"/>
          </a:xfrm>
          <a:prstGeom prst="rect">
            <a:avLst/>
          </a:prstGeom>
          <a:noFill/>
        </p:spPr>
        <p:txBody>
          <a:bodyPr wrap="square" lIns="0" rIns="0" tIns="0" bIns="0" anchor="t">
            <a:spAutoFit/>
          </a:bodyPr>
          <a:lstStyle/>
          <a:p>
            <a:pPr algn="l">
              <a:lnSpc>
                <a:spcPct val="110000"/>
              </a:lnSpc>
              <a:spcBef>
                <a:spcPts val="0"/>
              </a:spcBef>
              <a:spcAft>
                <a:spcPts val="0"/>
              </a:spcAft>
            </a:pPr>
            <a:r>
              <a:rPr sz="740" b="1">
                <a:solidFill>
                  <a:srgbClr val="93A5B4"/>
                </a:solidFill>
                <a:latin typeface="Segoe UI"/>
              </a:rPr>
              <a:t>Sources : </a:t>
            </a:r>
            <a:r>
              <a:rPr sz="740" b="0">
                <a:solidFill>
                  <a:srgbClr val="708392"/>
                </a:solidFill>
                <a:latin typeface="Segoe UI"/>
              </a:rPr>
              <a:t>fond de carte geoBoundaries — GAB ADM1 (GAUL 2001), licence CC BY 4.0 ; repères institutionnels : upl-gabon.com (consulté le 22/10/2026) ; plan harmonisé, chapitre 1.</a:t>
            </a:r>
          </a:p>
        </p:txBody>
      </p:sp>
      <p:sp>
        <p:nvSpPr>
          <p:cNvPr id="10" name="TextBox 9"/>
          <p:cNvSpPr txBox="1"/>
          <p:nvPr/>
        </p:nvSpPr>
        <p:spPr>
          <a:xfrm>
            <a:off x="10874959" y="6291072"/>
            <a:ext cx="658368" cy="274320"/>
          </a:xfrm>
          <a:prstGeom prst="rect">
            <a:avLst/>
          </a:prstGeom>
          <a:noFill/>
        </p:spPr>
        <p:txBody>
          <a:bodyPr wrap="square" lIns="0" rIns="0" tIns="0" bIns="0" anchor="t">
            <a:spAutoFit/>
          </a:bodyPr>
          <a:lstStyle/>
          <a:p>
            <a:pPr algn="r">
              <a:lnSpc>
                <a:spcPct val="118000"/>
              </a:lnSpc>
              <a:spcBef>
                <a:spcPts val="0"/>
              </a:spcBef>
              <a:spcAft>
                <a:spcPts val="0"/>
              </a:spcAft>
            </a:pPr>
            <a:r>
              <a:rPr sz="800" b="0" i="0">
                <a:solidFill>
                  <a:srgbClr val="93A5B4"/>
                </a:solidFill>
                <a:latin typeface="Consolas"/>
              </a:rPr>
              <a:t>2 / 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1C26"/>
              </a:gs>
              <a:gs pos="100000">
                <a:srgbClr val="0B101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828739"/>
            <a:ext cx="12191695" cy="29260"/>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75488"/>
            <a:ext cx="10874959"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spc="160">
                <a:solidFill>
                  <a:srgbClr val="E3C485"/>
                </a:solidFill>
                <a:latin typeface="Segoe UI"/>
              </a:rPr>
              <a:t>CHAPITRE 1 · § 1.10</a:t>
            </a:r>
          </a:p>
        </p:txBody>
      </p:sp>
      <p:sp>
        <p:nvSpPr>
          <p:cNvPr id="5" name="TextBox 4"/>
          <p:cNvSpPr txBox="1"/>
          <p:nvPr/>
        </p:nvSpPr>
        <p:spPr>
          <a:xfrm>
            <a:off x="658368" y="713232"/>
            <a:ext cx="10692079" cy="914400"/>
          </a:xfrm>
          <a:prstGeom prst="rect">
            <a:avLst/>
          </a:prstGeom>
          <a:noFill/>
        </p:spPr>
        <p:txBody>
          <a:bodyPr wrap="square" lIns="0" rIns="0" tIns="0" bIns="0" anchor="t">
            <a:spAutoFit/>
          </a:bodyPr>
          <a:lstStyle/>
          <a:p>
            <a:pPr>
              <a:lnSpc>
                <a:spcPct val="105000"/>
              </a:lnSpc>
            </a:pPr>
            <a:r>
              <a:rPr sz="2250" b="0">
                <a:solidFill>
                  <a:srgbClr val="F3EFE7"/>
                </a:solidFill>
                <a:latin typeface="Georgia"/>
              </a:rPr>
              <a:t>La polycrise n'est pas une somme de crises : c'est un problème transversal de gouvernance</a:t>
            </a:r>
          </a:p>
        </p:txBody>
      </p:sp>
      <p:sp>
        <p:nvSpPr>
          <p:cNvPr id="6" name="TextBox 5"/>
          <p:cNvSpPr txBox="1"/>
          <p:nvPr/>
        </p:nvSpPr>
        <p:spPr>
          <a:xfrm>
            <a:off x="658368" y="1355598"/>
            <a:ext cx="9777679" cy="365760"/>
          </a:xfrm>
          <a:prstGeom prst="rect">
            <a:avLst/>
          </a:prstGeom>
          <a:noFill/>
        </p:spPr>
        <p:txBody>
          <a:bodyPr wrap="square" lIns="0" rIns="0" tIns="0" bIns="0" anchor="t">
            <a:spAutoFit/>
          </a:bodyPr>
          <a:lstStyle/>
          <a:p>
            <a:pPr algn="l">
              <a:lnSpc>
                <a:spcPct val="130000"/>
              </a:lnSpc>
              <a:spcBef>
                <a:spcPts val="0"/>
              </a:spcBef>
              <a:spcAft>
                <a:spcPts val="0"/>
              </a:spcAft>
            </a:pPr>
            <a:r>
              <a:rPr sz="1150" b="0" i="0">
                <a:solidFill>
                  <a:srgbClr val="93A5B4"/>
                </a:solidFill>
                <a:latin typeface="Segoe UI"/>
              </a:rPr>
              <a:t>Quatre familles de tensions qui se renforcent, et dont les effets se propagent d'un registre à l'autre.</a:t>
            </a:r>
          </a:p>
        </p:txBody>
      </p:sp>
      <p:sp>
        <p:nvSpPr>
          <p:cNvPr id="7" name="Rounded Rectangle 6"/>
          <p:cNvSpPr/>
          <p:nvPr/>
        </p:nvSpPr>
        <p:spPr>
          <a:xfrm>
            <a:off x="658368" y="1940814"/>
            <a:ext cx="2595295" cy="1371600"/>
          </a:xfrm>
          <a:prstGeom prst="roundRect">
            <a:avLst>
              <a:gd name="adj" fmla="val 55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86384" y="2041398"/>
            <a:ext cx="2339263" cy="1188720"/>
          </a:xfrm>
          <a:prstGeom prst="rect">
            <a:avLst/>
          </a:prstGeom>
          <a:noFill/>
        </p:spPr>
        <p:txBody>
          <a:bodyPr wrap="square" lIns="0" rIns="0" tIns="0" bIns="0" anchor="ctr">
            <a:spAutoFit/>
          </a:bodyPr>
          <a:lstStyle/>
          <a:p>
            <a:pPr algn="l">
              <a:lnSpc>
                <a:spcPct val="115000"/>
              </a:lnSpc>
              <a:spcBef>
                <a:spcPts val="0"/>
              </a:spcBef>
              <a:spcAft>
                <a:spcPts val="250"/>
              </a:spcAft>
            </a:pPr>
            <a:r>
              <a:rPr sz="900" b="1" i="0" spc="70">
                <a:solidFill>
                  <a:srgbClr val="E3C485"/>
                </a:solidFill>
                <a:latin typeface="Segoe UI"/>
              </a:rPr>
              <a:t>FINANCIÈRE</a:t>
            </a:r>
          </a:p>
          <a:p>
            <a:pPr algn="l">
              <a:lnSpc>
                <a:spcPct val="126000"/>
              </a:lnSpc>
              <a:spcBef>
                <a:spcPts val="0"/>
              </a:spcBef>
              <a:spcAft>
                <a:spcPts val="0"/>
              </a:spcAft>
            </a:pPr>
            <a:r>
              <a:rPr sz="980" b="0" i="0">
                <a:solidFill>
                  <a:srgbClr val="D5D0C5"/>
                </a:solidFill>
                <a:latin typeface="Segoe UI"/>
              </a:rPr>
              <a:t>Viabilité économique, dépendance aux droits de scolarité, échéanciers, trésorerie.</a:t>
            </a:r>
          </a:p>
        </p:txBody>
      </p:sp>
      <p:sp>
        <p:nvSpPr>
          <p:cNvPr id="9" name="Rounded Rectangle 8"/>
          <p:cNvSpPr/>
          <p:nvPr/>
        </p:nvSpPr>
        <p:spPr>
          <a:xfrm>
            <a:off x="3418255" y="1940814"/>
            <a:ext cx="2595295" cy="1371600"/>
          </a:xfrm>
          <a:prstGeom prst="roundRect">
            <a:avLst>
              <a:gd name="adj" fmla="val 55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546271" y="2041398"/>
            <a:ext cx="2339263" cy="1188720"/>
          </a:xfrm>
          <a:prstGeom prst="rect">
            <a:avLst/>
          </a:prstGeom>
          <a:noFill/>
        </p:spPr>
        <p:txBody>
          <a:bodyPr wrap="square" lIns="0" rIns="0" tIns="0" bIns="0" anchor="ctr">
            <a:spAutoFit/>
          </a:bodyPr>
          <a:lstStyle/>
          <a:p>
            <a:pPr algn="l">
              <a:lnSpc>
                <a:spcPct val="115000"/>
              </a:lnSpc>
              <a:spcBef>
                <a:spcPts val="0"/>
              </a:spcBef>
              <a:spcAft>
                <a:spcPts val="250"/>
              </a:spcAft>
            </a:pPr>
            <a:r>
              <a:rPr sz="900" b="1" i="0" spc="70">
                <a:solidFill>
                  <a:srgbClr val="E3C485"/>
                </a:solidFill>
                <a:latin typeface="Segoe UI"/>
              </a:rPr>
              <a:t>ACADÉMIQUE</a:t>
            </a:r>
          </a:p>
          <a:p>
            <a:pPr algn="l">
              <a:lnSpc>
                <a:spcPct val="126000"/>
              </a:lnSpc>
              <a:spcBef>
                <a:spcPts val="0"/>
              </a:spcBef>
              <a:spcAft>
                <a:spcPts val="0"/>
              </a:spcAft>
            </a:pPr>
            <a:r>
              <a:rPr sz="980" b="0" i="0">
                <a:solidFill>
                  <a:srgbClr val="D5D0C5"/>
                </a:solidFill>
                <a:latin typeface="Segoe UI"/>
              </a:rPr>
              <a:t>Qualité des enseignements, encadrement, ressources documentaires, accréditations.</a:t>
            </a:r>
          </a:p>
        </p:txBody>
      </p:sp>
      <p:sp>
        <p:nvSpPr>
          <p:cNvPr id="11" name="Rounded Rectangle 10"/>
          <p:cNvSpPr/>
          <p:nvPr/>
        </p:nvSpPr>
        <p:spPr>
          <a:xfrm>
            <a:off x="6178143" y="1940814"/>
            <a:ext cx="2595295" cy="1371600"/>
          </a:xfrm>
          <a:prstGeom prst="roundRect">
            <a:avLst>
              <a:gd name="adj" fmla="val 55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306159" y="2041398"/>
            <a:ext cx="2339263" cy="1188720"/>
          </a:xfrm>
          <a:prstGeom prst="rect">
            <a:avLst/>
          </a:prstGeom>
          <a:noFill/>
        </p:spPr>
        <p:txBody>
          <a:bodyPr wrap="square" lIns="0" rIns="0" tIns="0" bIns="0" anchor="ctr">
            <a:spAutoFit/>
          </a:bodyPr>
          <a:lstStyle/>
          <a:p>
            <a:pPr algn="l">
              <a:lnSpc>
                <a:spcPct val="115000"/>
              </a:lnSpc>
              <a:spcBef>
                <a:spcPts val="0"/>
              </a:spcBef>
              <a:spcAft>
                <a:spcPts val="250"/>
              </a:spcAft>
            </a:pPr>
            <a:r>
              <a:rPr sz="900" b="1" i="0" spc="70">
                <a:solidFill>
                  <a:srgbClr val="E3C485"/>
                </a:solidFill>
                <a:latin typeface="Segoe UI"/>
              </a:rPr>
              <a:t>HUMAINE ET SOCIALE</a:t>
            </a:r>
          </a:p>
          <a:p>
            <a:pPr algn="l">
              <a:lnSpc>
                <a:spcPct val="126000"/>
              </a:lnSpc>
              <a:spcBef>
                <a:spcPts val="0"/>
              </a:spcBef>
              <a:spcAft>
                <a:spcPts val="0"/>
              </a:spcAft>
            </a:pPr>
            <a:r>
              <a:rPr sz="980" b="0" i="0">
                <a:solidFill>
                  <a:srgbClr val="D5D0C5"/>
                </a:solidFill>
                <a:latin typeface="Segoe UI"/>
              </a:rPr>
              <a:t>Charge des équipes, compétences, climat interne, attentes des étudiants et des familles.</a:t>
            </a:r>
          </a:p>
        </p:txBody>
      </p:sp>
      <p:sp>
        <p:nvSpPr>
          <p:cNvPr id="13" name="Rounded Rectangle 12"/>
          <p:cNvSpPr/>
          <p:nvPr/>
        </p:nvSpPr>
        <p:spPr>
          <a:xfrm>
            <a:off x="8938031" y="1940814"/>
            <a:ext cx="2595295" cy="1371600"/>
          </a:xfrm>
          <a:prstGeom prst="roundRect">
            <a:avLst>
              <a:gd name="adj" fmla="val 55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066047" y="2041398"/>
            <a:ext cx="2339263" cy="1188720"/>
          </a:xfrm>
          <a:prstGeom prst="rect">
            <a:avLst/>
          </a:prstGeom>
          <a:noFill/>
        </p:spPr>
        <p:txBody>
          <a:bodyPr wrap="square" lIns="0" rIns="0" tIns="0" bIns="0" anchor="ctr">
            <a:spAutoFit/>
          </a:bodyPr>
          <a:lstStyle/>
          <a:p>
            <a:pPr algn="l">
              <a:lnSpc>
                <a:spcPct val="115000"/>
              </a:lnSpc>
              <a:spcBef>
                <a:spcPts val="0"/>
              </a:spcBef>
              <a:spcAft>
                <a:spcPts val="250"/>
              </a:spcAft>
            </a:pPr>
            <a:r>
              <a:rPr sz="900" b="1" i="0" spc="70">
                <a:solidFill>
                  <a:srgbClr val="E3C485"/>
                </a:solidFill>
                <a:latin typeface="Segoe UI"/>
              </a:rPr>
              <a:t>INSTITUTIONNELLE</a:t>
            </a:r>
          </a:p>
          <a:p>
            <a:pPr algn="l">
              <a:lnSpc>
                <a:spcPct val="126000"/>
              </a:lnSpc>
              <a:spcBef>
                <a:spcPts val="0"/>
              </a:spcBef>
              <a:spcAft>
                <a:spcPts val="0"/>
              </a:spcAft>
            </a:pPr>
            <a:r>
              <a:rPr sz="980" b="0" i="0">
                <a:solidFill>
                  <a:srgbClr val="D5D0C5"/>
                </a:solidFill>
                <a:latin typeface="Segoe UI"/>
              </a:rPr>
              <a:t>Agréments, contrôles des tutelles, fiscalité et obligations sociales, concurrence locale.</a:t>
            </a:r>
          </a:p>
        </p:txBody>
      </p:sp>
      <p:sp>
        <p:nvSpPr>
          <p:cNvPr id="15" name="Rounded Rectangle 14"/>
          <p:cNvSpPr/>
          <p:nvPr/>
        </p:nvSpPr>
        <p:spPr>
          <a:xfrm>
            <a:off x="658368" y="3513582"/>
            <a:ext cx="4909943" cy="1481328"/>
          </a:xfrm>
          <a:prstGeom prst="roundRect">
            <a:avLst>
              <a:gd name="adj" fmla="val 5500"/>
            </a:avLst>
          </a:prstGeom>
          <a:solidFill>
            <a:srgbClr val="2A2418"/>
          </a:solidFill>
          <a:ln w="11430">
            <a:solidFill>
              <a:srgbClr val="C8A15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32103" y="3650742"/>
            <a:ext cx="4562471" cy="1298448"/>
          </a:xfrm>
          <a:prstGeom prst="rect">
            <a:avLst/>
          </a:prstGeom>
          <a:noFill/>
        </p:spPr>
        <p:txBody>
          <a:bodyPr wrap="square" lIns="0" rIns="0" tIns="0" bIns="0" anchor="ctr">
            <a:spAutoFit/>
          </a:bodyPr>
          <a:lstStyle/>
          <a:p>
            <a:pPr algn="l">
              <a:lnSpc>
                <a:spcPct val="115000"/>
              </a:lnSpc>
              <a:spcBef>
                <a:spcPts val="0"/>
              </a:spcBef>
              <a:spcAft>
                <a:spcPts val="250"/>
              </a:spcAft>
            </a:pPr>
            <a:r>
              <a:rPr sz="900" b="1" i="0" spc="70">
                <a:solidFill>
                  <a:srgbClr val="E3C485"/>
                </a:solidFill>
                <a:latin typeface="Segoe UI"/>
              </a:rPr>
              <a:t>EFFETS DE CASCADE</a:t>
            </a:r>
          </a:p>
          <a:p>
            <a:pPr algn="l">
              <a:lnSpc>
                <a:spcPct val="126000"/>
              </a:lnSpc>
              <a:spcBef>
                <a:spcPts val="0"/>
              </a:spcBef>
              <a:spcAft>
                <a:spcPts val="0"/>
              </a:spcAft>
            </a:pPr>
            <a:r>
              <a:rPr sz="1040" b="0" i="0">
                <a:solidFill>
                  <a:srgbClr val="D5D0C5"/>
                </a:solidFill>
                <a:latin typeface="Segoe UI"/>
              </a:rPr>
              <a:t>Un incident de trésorerie dégrade la qualité perçue ; une tension sociale dégrade la réputation ; une exigence réglementaire nouvelle déplace l'arbitrage budgétaire. Les crises s'entretiennent.</a:t>
            </a:r>
          </a:p>
        </p:txBody>
      </p:sp>
      <p:sp>
        <p:nvSpPr>
          <p:cNvPr id="17" name="TextBox 16"/>
          <p:cNvSpPr txBox="1"/>
          <p:nvPr/>
        </p:nvSpPr>
        <p:spPr>
          <a:xfrm>
            <a:off x="5860919" y="3559302"/>
            <a:ext cx="5690695" cy="1463040"/>
          </a:xfrm>
          <a:prstGeom prst="rect">
            <a:avLst/>
          </a:prstGeom>
          <a:noFill/>
        </p:spPr>
        <p:txBody>
          <a:bodyPr wrap="square" lIns="0" rIns="0" tIns="0" bIns="0" anchor="t">
            <a:spAutoFit/>
          </a:bodyPr>
          <a:lstStyle/>
          <a:p>
            <a:pPr algn="l">
              <a:lnSpc>
                <a:spcPct val="128000"/>
              </a:lnSpc>
              <a:spcBef>
                <a:spcPts val="0"/>
              </a:spcBef>
              <a:spcAft>
                <a:spcPts val="0"/>
              </a:spcAft>
            </a:pPr>
            <a:r>
              <a:rPr sz="832" b="1">
                <a:solidFill>
                  <a:srgbClr val="C8A154"/>
                </a:solidFill>
                <a:latin typeface="Segoe UI"/>
              </a:rPr>
              <a:t>■  </a:t>
            </a:r>
            <a:r>
              <a:rPr sz="1040" b="0" i="0">
                <a:solidFill>
                  <a:srgbClr val="D5D0C5"/>
                </a:solidFill>
                <a:latin typeface="Segoe UI"/>
              </a:rPr>
              <a:t>Conséquence méthodologique : observer des séquences décisionnelles, pas seulement des états.</a:t>
            </a:r>
          </a:p>
          <a:p>
            <a:pPr algn="l">
              <a:lnSpc>
                <a:spcPct val="128000"/>
              </a:lnSpc>
              <a:spcBef>
                <a:spcPts val="700"/>
              </a:spcBef>
              <a:spcAft>
                <a:spcPts val="0"/>
              </a:spcAft>
            </a:pPr>
            <a:r>
              <a:rPr sz="832" b="1">
                <a:solidFill>
                  <a:srgbClr val="C8A154"/>
                </a:solidFill>
                <a:latin typeface="Segoe UI"/>
              </a:rPr>
              <a:t>■  </a:t>
            </a:r>
            <a:r>
              <a:rPr sz="1040" b="0" i="0">
                <a:solidFill>
                  <a:srgbClr val="D5D0C5"/>
                </a:solidFill>
                <a:latin typeface="Segoe UI"/>
              </a:rPr>
              <a:t>Conséquence théorique : les modèles classiques de gouvernance supposent une incertitude bornée.</a:t>
            </a:r>
          </a:p>
          <a:p>
            <a:pPr algn="l">
              <a:lnSpc>
                <a:spcPct val="128000"/>
              </a:lnSpc>
              <a:spcBef>
                <a:spcPts val="700"/>
              </a:spcBef>
              <a:spcAft>
                <a:spcPts val="0"/>
              </a:spcAft>
            </a:pPr>
            <a:r>
              <a:rPr sz="832" b="1">
                <a:solidFill>
                  <a:srgbClr val="C8A154"/>
                </a:solidFill>
                <a:latin typeface="Segoe UI"/>
              </a:rPr>
              <a:t>■  </a:t>
            </a:r>
            <a:r>
              <a:rPr sz="1040" b="0" i="0">
                <a:solidFill>
                  <a:srgbClr val="D5D0C5"/>
                </a:solidFill>
                <a:latin typeface="Segoe UI"/>
              </a:rPr>
              <a:t>Conséquence managériale : la décision devient un arbitrage entre exigences incommensurables.</a:t>
            </a:r>
          </a:p>
        </p:txBody>
      </p:sp>
      <p:sp>
        <p:nvSpPr>
          <p:cNvPr id="18" name="Rectangle 17"/>
          <p:cNvSpPr/>
          <p:nvPr/>
        </p:nvSpPr>
        <p:spPr>
          <a:xfrm>
            <a:off x="658368" y="6199632"/>
            <a:ext cx="10874959" cy="7315"/>
          </a:xfrm>
          <a:prstGeom prst="rect">
            <a:avLst/>
          </a:prstGeom>
          <a:solidFill>
            <a:srgbClr val="2734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58368" y="6291072"/>
            <a:ext cx="10189159" cy="457200"/>
          </a:xfrm>
          <a:prstGeom prst="rect">
            <a:avLst/>
          </a:prstGeom>
          <a:noFill/>
        </p:spPr>
        <p:txBody>
          <a:bodyPr wrap="square" lIns="0" rIns="0" tIns="0" bIns="0" anchor="t">
            <a:spAutoFit/>
          </a:bodyPr>
          <a:lstStyle/>
          <a:p>
            <a:pPr algn="l">
              <a:lnSpc>
                <a:spcPct val="110000"/>
              </a:lnSpc>
              <a:spcBef>
                <a:spcPts val="0"/>
              </a:spcBef>
              <a:spcAft>
                <a:spcPts val="0"/>
              </a:spcAft>
            </a:pPr>
            <a:r>
              <a:rPr sz="740" b="1">
                <a:solidFill>
                  <a:srgbClr val="93A5B4"/>
                </a:solidFill>
                <a:latin typeface="Segoe UI"/>
              </a:rPr>
              <a:t>Sources : </a:t>
            </a:r>
            <a:r>
              <a:rPr sz="740" b="0">
                <a:solidFill>
                  <a:srgbClr val="708392"/>
                </a:solidFill>
                <a:latin typeface="Segoe UI"/>
              </a:rPr>
              <a:t>plan harmonisé § 1.10 ; tableau 1.3 (dimensions de la polycrise et implications pour la gouvernance) ; figure 1.2 (interdépendance des tensions).</a:t>
            </a:r>
          </a:p>
        </p:txBody>
      </p:sp>
      <p:sp>
        <p:nvSpPr>
          <p:cNvPr id="20" name="TextBox 19"/>
          <p:cNvSpPr txBox="1"/>
          <p:nvPr/>
        </p:nvSpPr>
        <p:spPr>
          <a:xfrm>
            <a:off x="10874959" y="6291072"/>
            <a:ext cx="658368" cy="274320"/>
          </a:xfrm>
          <a:prstGeom prst="rect">
            <a:avLst/>
          </a:prstGeom>
          <a:noFill/>
        </p:spPr>
        <p:txBody>
          <a:bodyPr wrap="square" lIns="0" rIns="0" tIns="0" bIns="0" anchor="t">
            <a:spAutoFit/>
          </a:bodyPr>
          <a:lstStyle/>
          <a:p>
            <a:pPr algn="r">
              <a:lnSpc>
                <a:spcPct val="118000"/>
              </a:lnSpc>
              <a:spcBef>
                <a:spcPts val="0"/>
              </a:spcBef>
              <a:spcAft>
                <a:spcPts val="0"/>
              </a:spcAft>
            </a:pPr>
            <a:r>
              <a:rPr sz="800" b="0" i="0">
                <a:solidFill>
                  <a:srgbClr val="93A5B4"/>
                </a:solidFill>
                <a:latin typeface="Consolas"/>
              </a:rPr>
              <a:t>3 / 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1C26"/>
              </a:gs>
              <a:gs pos="100000">
                <a:srgbClr val="0B101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828739"/>
            <a:ext cx="12191695" cy="29260"/>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75488"/>
            <a:ext cx="10874959"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spc="160">
                <a:solidFill>
                  <a:srgbClr val="E3C485"/>
                </a:solidFill>
                <a:latin typeface="Segoe UI"/>
              </a:rPr>
              <a:t>PROBLÉMATIQUE</a:t>
            </a:r>
          </a:p>
        </p:txBody>
      </p:sp>
      <p:sp>
        <p:nvSpPr>
          <p:cNvPr id="5" name="TextBox 4"/>
          <p:cNvSpPr txBox="1"/>
          <p:nvPr/>
        </p:nvSpPr>
        <p:spPr>
          <a:xfrm>
            <a:off x="658368" y="713232"/>
            <a:ext cx="10692079" cy="914400"/>
          </a:xfrm>
          <a:prstGeom prst="rect">
            <a:avLst/>
          </a:prstGeom>
          <a:noFill/>
        </p:spPr>
        <p:txBody>
          <a:bodyPr wrap="square" lIns="0" rIns="0" tIns="0" bIns="0" anchor="t">
            <a:spAutoFit/>
          </a:bodyPr>
          <a:lstStyle/>
          <a:p>
            <a:pPr>
              <a:lnSpc>
                <a:spcPct val="105000"/>
              </a:lnSpc>
            </a:pPr>
            <a:r>
              <a:rPr sz="2450" b="0">
                <a:solidFill>
                  <a:srgbClr val="F3EFE7"/>
                </a:solidFill>
                <a:latin typeface="Georgia"/>
              </a:rPr>
              <a:t>Un problème managérial réel, un angle scientifique encore peu investi</a:t>
            </a:r>
          </a:p>
        </p:txBody>
      </p:sp>
      <p:sp>
        <p:nvSpPr>
          <p:cNvPr id="6" name="Rounded Rectangle 5"/>
          <p:cNvSpPr/>
          <p:nvPr/>
        </p:nvSpPr>
        <p:spPr>
          <a:xfrm>
            <a:off x="658368" y="1353947"/>
            <a:ext cx="5327751" cy="3566160"/>
          </a:xfrm>
          <a:prstGeom prst="roundRect">
            <a:avLst>
              <a:gd name="adj" fmla="val 55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32103" y="1491107"/>
            <a:ext cx="4980279" cy="3383279"/>
          </a:xfrm>
          <a:prstGeom prst="rect">
            <a:avLst/>
          </a:prstGeom>
          <a:noFill/>
        </p:spPr>
        <p:txBody>
          <a:bodyPr wrap="square" lIns="0" rIns="0" tIns="0" bIns="0" anchor="ctr">
            <a:spAutoFit/>
          </a:bodyPr>
          <a:lstStyle/>
          <a:p>
            <a:pPr algn="l">
              <a:lnSpc>
                <a:spcPct val="115000"/>
              </a:lnSpc>
              <a:spcBef>
                <a:spcPts val="0"/>
              </a:spcBef>
              <a:spcAft>
                <a:spcPts val="250"/>
              </a:spcAft>
            </a:pPr>
            <a:r>
              <a:rPr sz="900" b="1" i="0" spc="70">
                <a:solidFill>
                  <a:srgbClr val="E3C485"/>
                </a:solidFill>
                <a:latin typeface="Segoe UI"/>
              </a:rPr>
              <a:t>PROBLÈME MANAGÉRIAL</a:t>
            </a:r>
          </a:p>
          <a:p>
            <a:pPr algn="l">
              <a:lnSpc>
                <a:spcPct val="126000"/>
              </a:lnSpc>
              <a:spcBef>
                <a:spcPts val="0"/>
              </a:spcBef>
              <a:spcAft>
                <a:spcPts val="0"/>
              </a:spcAft>
            </a:pPr>
            <a:r>
              <a:rPr sz="1100" b="0" i="0">
                <a:solidFill>
                  <a:srgbClr val="D5D0C5"/>
                </a:solidFill>
                <a:latin typeface="Segoe UI"/>
              </a:rPr>
              <a:t>Les dirigeants d'EPES arbitrent en continu entre viabilité économique, qualité académique, attentes des parties prenantes, responsabilité sociétale et durabilité — sans commune mesure unique entre ces exigences.</a:t>
            </a:r>
          </a:p>
          <a:p>
            <a:pPr algn="l">
              <a:lnSpc>
                <a:spcPct val="124000"/>
              </a:lnSpc>
              <a:spcBef>
                <a:spcPts val="700"/>
              </a:spcBef>
              <a:spcAft>
                <a:spcPts val="0"/>
              </a:spcAft>
            </a:pPr>
            <a:r>
              <a:rPr sz="832" b="1">
                <a:solidFill>
                  <a:srgbClr val="C8A154"/>
                </a:solidFill>
                <a:latin typeface="Segoe UI"/>
              </a:rPr>
              <a:t>■  </a:t>
            </a:r>
            <a:r>
              <a:rPr sz="1040" b="0" i="0">
                <a:solidFill>
                  <a:srgbClr val="D5D0C5"/>
                </a:solidFill>
                <a:latin typeface="Segoe UI"/>
              </a:rPr>
              <a:t>Les outils numériques produisent des informations, mais ne tranchent pas l'arbitrage.</a:t>
            </a:r>
          </a:p>
          <a:p>
            <a:pPr algn="l">
              <a:lnSpc>
                <a:spcPct val="124000"/>
              </a:lnSpc>
              <a:spcBef>
                <a:spcPts val="700"/>
              </a:spcBef>
              <a:spcAft>
                <a:spcPts val="0"/>
              </a:spcAft>
            </a:pPr>
            <a:r>
              <a:rPr sz="832" b="1">
                <a:solidFill>
                  <a:srgbClr val="C8A154"/>
                </a:solidFill>
                <a:latin typeface="Segoe UI"/>
              </a:rPr>
              <a:t>■  </a:t>
            </a:r>
            <a:r>
              <a:rPr sz="1040" b="0" i="0">
                <a:solidFill>
                  <a:srgbClr val="D5D0C5"/>
                </a:solidFill>
                <a:latin typeface="Segoe UI"/>
              </a:rPr>
              <a:t>La dimension humaine de la décision (relation, confiance, régulation des tensions) reste peu outillée.</a:t>
            </a:r>
          </a:p>
          <a:p>
            <a:pPr algn="l">
              <a:lnSpc>
                <a:spcPct val="124000"/>
              </a:lnSpc>
              <a:spcBef>
                <a:spcPts val="700"/>
              </a:spcBef>
              <a:spcAft>
                <a:spcPts val="0"/>
              </a:spcAft>
            </a:pPr>
            <a:r>
              <a:rPr sz="832" b="1">
                <a:solidFill>
                  <a:srgbClr val="C8A154"/>
                </a:solidFill>
                <a:latin typeface="Segoe UI"/>
              </a:rPr>
              <a:t>■  </a:t>
            </a:r>
            <a:r>
              <a:rPr sz="1040" b="0" i="0">
                <a:solidFill>
                  <a:srgbClr val="D5D0C5"/>
                </a:solidFill>
                <a:latin typeface="Segoe UI"/>
              </a:rPr>
              <a:t>L'investissement technologique est parfois plus rapide que la capacité collective à s'en servir.</a:t>
            </a:r>
          </a:p>
        </p:txBody>
      </p:sp>
      <p:sp>
        <p:nvSpPr>
          <p:cNvPr id="8" name="Rounded Rectangle 7"/>
          <p:cNvSpPr/>
          <p:nvPr/>
        </p:nvSpPr>
        <p:spPr>
          <a:xfrm>
            <a:off x="6205575" y="1353947"/>
            <a:ext cx="5327751" cy="3566160"/>
          </a:xfrm>
          <a:prstGeom prst="roundRect">
            <a:avLst>
              <a:gd name="adj" fmla="val 55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379311" y="1491107"/>
            <a:ext cx="4980279" cy="3383279"/>
          </a:xfrm>
          <a:prstGeom prst="rect">
            <a:avLst/>
          </a:prstGeom>
          <a:noFill/>
        </p:spPr>
        <p:txBody>
          <a:bodyPr wrap="square" lIns="0" rIns="0" tIns="0" bIns="0" anchor="ctr">
            <a:spAutoFit/>
          </a:bodyPr>
          <a:lstStyle/>
          <a:p>
            <a:pPr algn="l">
              <a:lnSpc>
                <a:spcPct val="115000"/>
              </a:lnSpc>
              <a:spcBef>
                <a:spcPts val="0"/>
              </a:spcBef>
              <a:spcAft>
                <a:spcPts val="250"/>
              </a:spcAft>
            </a:pPr>
            <a:r>
              <a:rPr sz="900" b="1" i="0" spc="70">
                <a:solidFill>
                  <a:srgbClr val="E3C485"/>
                </a:solidFill>
                <a:latin typeface="Segoe UI"/>
              </a:rPr>
              <a:t>PROBLÈME SCIENTIFIQUE</a:t>
            </a:r>
          </a:p>
          <a:p>
            <a:pPr algn="l">
              <a:lnSpc>
                <a:spcPct val="126000"/>
              </a:lnSpc>
              <a:spcBef>
                <a:spcPts val="0"/>
              </a:spcBef>
              <a:spcAft>
                <a:spcPts val="0"/>
              </a:spcAft>
            </a:pPr>
            <a:r>
              <a:rPr sz="1100" b="0" i="0">
                <a:solidFill>
                  <a:srgbClr val="D5D0C5"/>
                </a:solidFill>
                <a:latin typeface="Segoe UI"/>
              </a:rPr>
              <a:t>La littérature traite séparément la gouvernance, l'intelligence artificielle, l'intelligence émotionnelle et la performance durable. Leur articulation est peu documentée, particulièrement en contexte africain et dans l'enseignement supérieur privé.</a:t>
            </a:r>
          </a:p>
          <a:p>
            <a:pPr algn="l">
              <a:lnSpc>
                <a:spcPct val="124000"/>
              </a:lnSpc>
              <a:spcBef>
                <a:spcPts val="700"/>
              </a:spcBef>
              <a:spcAft>
                <a:spcPts val="0"/>
              </a:spcAft>
            </a:pPr>
            <a:r>
              <a:rPr sz="832" b="1">
                <a:solidFill>
                  <a:srgbClr val="C8A154"/>
                </a:solidFill>
                <a:latin typeface="Segoe UI"/>
              </a:rPr>
              <a:t>■  </a:t>
            </a:r>
            <a:r>
              <a:rPr sz="1040" b="0" i="0">
                <a:solidFill>
                  <a:srgbClr val="D5D0C5"/>
                </a:solidFill>
                <a:latin typeface="Segoe UI"/>
              </a:rPr>
              <a:t>Lacune théorique : l'articulation IA–IE n'est pas modélisée comme un processus.</a:t>
            </a:r>
          </a:p>
          <a:p>
            <a:pPr algn="l">
              <a:lnSpc>
                <a:spcPct val="124000"/>
              </a:lnSpc>
              <a:spcBef>
                <a:spcPts val="700"/>
              </a:spcBef>
              <a:spcAft>
                <a:spcPts val="0"/>
              </a:spcAft>
            </a:pPr>
            <a:r>
              <a:rPr sz="832" b="1">
                <a:solidFill>
                  <a:srgbClr val="C8A154"/>
                </a:solidFill>
                <a:latin typeface="Segoe UI"/>
              </a:rPr>
              <a:t>■  </a:t>
            </a:r>
            <a:r>
              <a:rPr sz="1040" b="0" i="0">
                <a:solidFill>
                  <a:srgbClr val="D5D0C5"/>
                </a:solidFill>
                <a:latin typeface="Segoe UI"/>
              </a:rPr>
              <a:t>Lacune contextuelle : les EPES gabonais sont peu étudiés comme cas de gouvernance.</a:t>
            </a:r>
          </a:p>
          <a:p>
            <a:pPr algn="l">
              <a:lnSpc>
                <a:spcPct val="124000"/>
              </a:lnSpc>
              <a:spcBef>
                <a:spcPts val="700"/>
              </a:spcBef>
              <a:spcAft>
                <a:spcPts val="0"/>
              </a:spcAft>
            </a:pPr>
            <a:r>
              <a:rPr sz="832" b="1">
                <a:solidFill>
                  <a:srgbClr val="C8A154"/>
                </a:solidFill>
                <a:latin typeface="Segoe UI"/>
              </a:rPr>
              <a:t>■  </a:t>
            </a:r>
            <a:r>
              <a:rPr sz="1040" b="0" i="0">
                <a:solidFill>
                  <a:srgbClr val="D5D0C5"/>
                </a:solidFill>
                <a:latin typeface="Segoe UI"/>
              </a:rPr>
              <a:t>Lacune méthodologique : peu d'études multi-cas longitudinales sur les scènes de décision.</a:t>
            </a:r>
          </a:p>
        </p:txBody>
      </p:sp>
      <p:sp>
        <p:nvSpPr>
          <p:cNvPr id="10" name="Rectangle 9"/>
          <p:cNvSpPr/>
          <p:nvPr/>
        </p:nvSpPr>
        <p:spPr>
          <a:xfrm>
            <a:off x="658368" y="6199632"/>
            <a:ext cx="10874959" cy="7315"/>
          </a:xfrm>
          <a:prstGeom prst="rect">
            <a:avLst/>
          </a:prstGeom>
          <a:solidFill>
            <a:srgbClr val="2734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58368" y="6291072"/>
            <a:ext cx="10189159" cy="457200"/>
          </a:xfrm>
          <a:prstGeom prst="rect">
            <a:avLst/>
          </a:prstGeom>
          <a:noFill/>
        </p:spPr>
        <p:txBody>
          <a:bodyPr wrap="square" lIns="0" rIns="0" tIns="0" bIns="0" anchor="t">
            <a:spAutoFit/>
          </a:bodyPr>
          <a:lstStyle/>
          <a:p>
            <a:pPr algn="l">
              <a:lnSpc>
                <a:spcPct val="110000"/>
              </a:lnSpc>
              <a:spcBef>
                <a:spcPts val="0"/>
              </a:spcBef>
              <a:spcAft>
                <a:spcPts val="0"/>
              </a:spcAft>
            </a:pPr>
            <a:r>
              <a:rPr sz="740" b="1">
                <a:solidFill>
                  <a:srgbClr val="93A5B4"/>
                </a:solidFill>
                <a:latin typeface="Segoe UI"/>
              </a:rPr>
              <a:t>Sources : </a:t>
            </a:r>
            <a:r>
              <a:rPr sz="740" b="0">
                <a:solidFill>
                  <a:srgbClr val="708392"/>
                </a:solidFill>
                <a:latin typeface="Segoe UI"/>
              </a:rPr>
              <a:t>plan harmonisé — introduction (contexte et justification, problématique) ; § 2.10 (synthèse critique et lacunes) ; tableau 2.5.</a:t>
            </a:r>
          </a:p>
        </p:txBody>
      </p:sp>
      <p:sp>
        <p:nvSpPr>
          <p:cNvPr id="12" name="TextBox 11"/>
          <p:cNvSpPr txBox="1"/>
          <p:nvPr/>
        </p:nvSpPr>
        <p:spPr>
          <a:xfrm>
            <a:off x="10874959" y="6291072"/>
            <a:ext cx="658368" cy="274320"/>
          </a:xfrm>
          <a:prstGeom prst="rect">
            <a:avLst/>
          </a:prstGeom>
          <a:noFill/>
        </p:spPr>
        <p:txBody>
          <a:bodyPr wrap="square" lIns="0" rIns="0" tIns="0" bIns="0" anchor="t">
            <a:spAutoFit/>
          </a:bodyPr>
          <a:lstStyle/>
          <a:p>
            <a:pPr algn="r">
              <a:lnSpc>
                <a:spcPct val="118000"/>
              </a:lnSpc>
              <a:spcBef>
                <a:spcPts val="0"/>
              </a:spcBef>
              <a:spcAft>
                <a:spcPts val="0"/>
              </a:spcAft>
            </a:pPr>
            <a:r>
              <a:rPr sz="800" b="0" i="0">
                <a:solidFill>
                  <a:srgbClr val="93A5B4"/>
                </a:solidFill>
                <a:latin typeface="Consolas"/>
              </a:rPr>
              <a:t>4 / 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1C26"/>
              </a:gs>
              <a:gs pos="100000">
                <a:srgbClr val="0B101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828739"/>
            <a:ext cx="12191695" cy="29260"/>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75488"/>
            <a:ext cx="10874959"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spc="160">
                <a:solidFill>
                  <a:srgbClr val="E3C485"/>
                </a:solidFill>
                <a:latin typeface="Segoe UI"/>
              </a:rPr>
              <a:t>QUESTION CENTRALE</a:t>
            </a:r>
          </a:p>
        </p:txBody>
      </p:sp>
      <p:sp>
        <p:nvSpPr>
          <p:cNvPr id="5" name="TextBox 4"/>
          <p:cNvSpPr txBox="1"/>
          <p:nvPr/>
        </p:nvSpPr>
        <p:spPr>
          <a:xfrm>
            <a:off x="658368" y="713232"/>
            <a:ext cx="10692079" cy="914400"/>
          </a:xfrm>
          <a:prstGeom prst="rect">
            <a:avLst/>
          </a:prstGeom>
          <a:noFill/>
        </p:spPr>
        <p:txBody>
          <a:bodyPr wrap="square" lIns="0" rIns="0" tIns="0" bIns="0" anchor="t">
            <a:spAutoFit/>
          </a:bodyPr>
          <a:lstStyle/>
          <a:p>
            <a:pPr>
              <a:lnSpc>
                <a:spcPct val="105000"/>
              </a:lnSpc>
            </a:pPr>
            <a:r>
              <a:rPr sz="2450" b="0">
                <a:solidFill>
                  <a:srgbClr val="F3EFE7"/>
                </a:solidFill>
                <a:latin typeface="Georgia"/>
              </a:rPr>
              <a:t>Une seule question, formulée à l'identique dans les six chapitres</a:t>
            </a:r>
          </a:p>
        </p:txBody>
      </p:sp>
      <p:sp>
        <p:nvSpPr>
          <p:cNvPr id="6" name="Rectangle 5"/>
          <p:cNvSpPr/>
          <p:nvPr/>
        </p:nvSpPr>
        <p:spPr>
          <a:xfrm>
            <a:off x="658368" y="1353947"/>
            <a:ext cx="10874959" cy="1847088"/>
          </a:xfrm>
          <a:prstGeom prst="rect">
            <a:avLst/>
          </a:prstGeom>
          <a:solidFill>
            <a:srgbClr val="2A24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58368" y="1353947"/>
            <a:ext cx="41148" cy="1847088"/>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69264" y="1399667"/>
            <a:ext cx="10234879" cy="1755648"/>
          </a:xfrm>
          <a:prstGeom prst="rect">
            <a:avLst/>
          </a:prstGeom>
          <a:noFill/>
        </p:spPr>
        <p:txBody>
          <a:bodyPr wrap="square" lIns="0" rIns="0" tIns="0" bIns="0" anchor="ctr">
            <a:spAutoFit/>
          </a:bodyPr>
          <a:lstStyle/>
          <a:p>
            <a:pPr algn="l">
              <a:lnSpc>
                <a:spcPct val="134000"/>
              </a:lnSpc>
              <a:spcBef>
                <a:spcPts val="0"/>
              </a:spcBef>
              <a:spcAft>
                <a:spcPts val="0"/>
              </a:spcAft>
            </a:pPr>
            <a:r>
              <a:rPr sz="1460" b="0" i="0">
                <a:solidFill>
                  <a:srgbClr val="F3EFE7"/>
                </a:solidFill>
                <a:latin typeface="Georgia"/>
              </a:rPr>
              <a:t>« Comment et sous quelles conditions l'articulation entre l'intelligence artificielle et l'intelligence émotionnelle transforme-t-elle la gouvernance des EPES gabonais en situation de polycrise, et quels effets produit-elle sur leur performance globale, leur RSE et leur contribution au développement durable ? »</a:t>
            </a:r>
          </a:p>
          <a:p>
            <a:pPr algn="l">
              <a:lnSpc>
                <a:spcPct val="118000"/>
              </a:lnSpc>
              <a:spcBef>
                <a:spcPts val="800"/>
              </a:spcBef>
              <a:spcAft>
                <a:spcPts val="0"/>
              </a:spcAft>
            </a:pPr>
            <a:r>
              <a:rPr sz="840" b="0" i="0">
                <a:solidFill>
                  <a:srgbClr val="93A5B4"/>
                </a:solidFill>
                <a:latin typeface="Segoe UI"/>
              </a:rPr>
              <a:t>Plan général harmonisé — § 1.3, repris sans reformulation dans l'ensemble de la thèse.</a:t>
            </a:r>
          </a:p>
        </p:txBody>
      </p:sp>
      <p:sp>
        <p:nvSpPr>
          <p:cNvPr id="9" name="Rounded Rectangle 8"/>
          <p:cNvSpPr/>
          <p:nvPr/>
        </p:nvSpPr>
        <p:spPr>
          <a:xfrm>
            <a:off x="658368" y="3475355"/>
            <a:ext cx="3515258" cy="1481328"/>
          </a:xfrm>
          <a:prstGeom prst="roundRect">
            <a:avLst>
              <a:gd name="adj" fmla="val 55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3658234"/>
            <a:ext cx="3259226" cy="1133856"/>
          </a:xfrm>
          <a:prstGeom prst="rect">
            <a:avLst/>
          </a:prstGeom>
          <a:noFill/>
        </p:spPr>
        <p:txBody>
          <a:bodyPr wrap="square" lIns="0" rIns="0" tIns="0" bIns="0" anchor="t">
            <a:spAutoFit/>
          </a:bodyPr>
          <a:lstStyle/>
          <a:p>
            <a:pPr algn="l">
              <a:lnSpc>
                <a:spcPct val="115000"/>
              </a:lnSpc>
              <a:spcBef>
                <a:spcPts val="0"/>
              </a:spcBef>
              <a:spcAft>
                <a:spcPts val="250"/>
              </a:spcAft>
            </a:pPr>
            <a:r>
              <a:rPr sz="900" b="1" i="0" spc="70">
                <a:solidFill>
                  <a:srgbClr val="E3C485"/>
                </a:solidFill>
                <a:latin typeface="Segoe UI"/>
              </a:rPr>
              <a:t>« COMMENT »</a:t>
            </a:r>
          </a:p>
          <a:p>
            <a:pPr algn="l">
              <a:lnSpc>
                <a:spcPct val="128000"/>
              </a:lnSpc>
              <a:spcBef>
                <a:spcPts val="0"/>
              </a:spcBef>
              <a:spcAft>
                <a:spcPts val="0"/>
              </a:spcAft>
            </a:pPr>
            <a:r>
              <a:rPr sz="1060" b="0" i="0">
                <a:solidFill>
                  <a:srgbClr val="D5D0C5"/>
                </a:solidFill>
                <a:latin typeface="Segoe UI"/>
              </a:rPr>
              <a:t>Un processus à décrire : les scènes de préparation, de délibération, de décision et de suivi.</a:t>
            </a:r>
          </a:p>
        </p:txBody>
      </p:sp>
      <p:sp>
        <p:nvSpPr>
          <p:cNvPr id="11" name="Rounded Rectangle 10"/>
          <p:cNvSpPr/>
          <p:nvPr/>
        </p:nvSpPr>
        <p:spPr>
          <a:xfrm>
            <a:off x="4338218" y="3475355"/>
            <a:ext cx="3515258" cy="1481328"/>
          </a:xfrm>
          <a:prstGeom prst="roundRect">
            <a:avLst>
              <a:gd name="adj" fmla="val 55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466234" y="3658234"/>
            <a:ext cx="3259226" cy="1133856"/>
          </a:xfrm>
          <a:prstGeom prst="rect">
            <a:avLst/>
          </a:prstGeom>
          <a:noFill/>
        </p:spPr>
        <p:txBody>
          <a:bodyPr wrap="square" lIns="0" rIns="0" tIns="0" bIns="0" anchor="t">
            <a:spAutoFit/>
          </a:bodyPr>
          <a:lstStyle/>
          <a:p>
            <a:pPr algn="l">
              <a:lnSpc>
                <a:spcPct val="115000"/>
              </a:lnSpc>
              <a:spcBef>
                <a:spcPts val="0"/>
              </a:spcBef>
              <a:spcAft>
                <a:spcPts val="250"/>
              </a:spcAft>
            </a:pPr>
            <a:r>
              <a:rPr sz="900" b="1" i="0" spc="70">
                <a:solidFill>
                  <a:srgbClr val="E3C485"/>
                </a:solidFill>
                <a:latin typeface="Segoe UI"/>
              </a:rPr>
              <a:t>« SOUS QUELLES CONDITIONS »</a:t>
            </a:r>
          </a:p>
          <a:p>
            <a:pPr algn="l">
              <a:lnSpc>
                <a:spcPct val="128000"/>
              </a:lnSpc>
              <a:spcBef>
                <a:spcPts val="0"/>
              </a:spcBef>
              <a:spcAft>
                <a:spcPts val="0"/>
              </a:spcAft>
            </a:pPr>
            <a:r>
              <a:rPr sz="1060" b="0" i="0">
                <a:solidFill>
                  <a:srgbClr val="D5D0C5"/>
                </a:solidFill>
                <a:latin typeface="Segoe UI"/>
              </a:rPr>
              <a:t>Des conditions organisationnelles et institutionnelles à identifier, non des effets supposés acquis.</a:t>
            </a:r>
          </a:p>
        </p:txBody>
      </p:sp>
      <p:sp>
        <p:nvSpPr>
          <p:cNvPr id="13" name="Rounded Rectangle 12"/>
          <p:cNvSpPr/>
          <p:nvPr/>
        </p:nvSpPr>
        <p:spPr>
          <a:xfrm>
            <a:off x="8018068" y="3475355"/>
            <a:ext cx="3515258" cy="1481328"/>
          </a:xfrm>
          <a:prstGeom prst="roundRect">
            <a:avLst>
              <a:gd name="adj" fmla="val 55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146084" y="3658234"/>
            <a:ext cx="3259226" cy="1133856"/>
          </a:xfrm>
          <a:prstGeom prst="rect">
            <a:avLst/>
          </a:prstGeom>
          <a:noFill/>
        </p:spPr>
        <p:txBody>
          <a:bodyPr wrap="square" lIns="0" rIns="0" tIns="0" bIns="0" anchor="t">
            <a:spAutoFit/>
          </a:bodyPr>
          <a:lstStyle/>
          <a:p>
            <a:pPr algn="l">
              <a:lnSpc>
                <a:spcPct val="115000"/>
              </a:lnSpc>
              <a:spcBef>
                <a:spcPts val="0"/>
              </a:spcBef>
              <a:spcAft>
                <a:spcPts val="250"/>
              </a:spcAft>
            </a:pPr>
            <a:r>
              <a:rPr sz="900" b="1" i="0" spc="70">
                <a:solidFill>
                  <a:srgbClr val="E3C485"/>
                </a:solidFill>
                <a:latin typeface="Segoe UI"/>
              </a:rPr>
              <a:t>« QUELS EFFETS »</a:t>
            </a:r>
          </a:p>
          <a:p>
            <a:pPr algn="l">
              <a:lnSpc>
                <a:spcPct val="128000"/>
              </a:lnSpc>
              <a:spcBef>
                <a:spcPts val="0"/>
              </a:spcBef>
              <a:spcAft>
                <a:spcPts val="0"/>
              </a:spcAft>
            </a:pPr>
            <a:r>
              <a:rPr sz="1060" b="0" i="0">
                <a:solidFill>
                  <a:srgbClr val="D5D0C5"/>
                </a:solidFill>
                <a:latin typeface="Segoe UI"/>
              </a:rPr>
              <a:t>Des effets à documenter, favorables, défavorables ou non établis.</a:t>
            </a:r>
          </a:p>
        </p:txBody>
      </p:sp>
      <p:sp>
        <p:nvSpPr>
          <p:cNvPr id="15" name="Rectangle 14"/>
          <p:cNvSpPr/>
          <p:nvPr/>
        </p:nvSpPr>
        <p:spPr>
          <a:xfrm>
            <a:off x="658368" y="6199632"/>
            <a:ext cx="10874959" cy="7315"/>
          </a:xfrm>
          <a:prstGeom prst="rect">
            <a:avLst/>
          </a:prstGeom>
          <a:solidFill>
            <a:srgbClr val="2734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58368" y="6291072"/>
            <a:ext cx="10189159" cy="457200"/>
          </a:xfrm>
          <a:prstGeom prst="rect">
            <a:avLst/>
          </a:prstGeom>
          <a:noFill/>
        </p:spPr>
        <p:txBody>
          <a:bodyPr wrap="square" lIns="0" rIns="0" tIns="0" bIns="0" anchor="t">
            <a:spAutoFit/>
          </a:bodyPr>
          <a:lstStyle/>
          <a:p>
            <a:pPr algn="l">
              <a:lnSpc>
                <a:spcPct val="110000"/>
              </a:lnSpc>
              <a:spcBef>
                <a:spcPts val="0"/>
              </a:spcBef>
              <a:spcAft>
                <a:spcPts val="0"/>
              </a:spcAft>
            </a:pPr>
            <a:r>
              <a:rPr sz="740" b="1">
                <a:solidFill>
                  <a:srgbClr val="93A5B4"/>
                </a:solidFill>
                <a:latin typeface="Segoe UI"/>
              </a:rPr>
              <a:t>Sources : </a:t>
            </a:r>
            <a:r>
              <a:rPr sz="740" b="0">
                <a:solidFill>
                  <a:srgbClr val="708392"/>
                </a:solidFill>
                <a:latin typeface="Segoe UI"/>
              </a:rPr>
              <a:t>plan harmonisé, introduction § 1.3 ; alignement questions–propositions–sources–codes : tableau 3.4 et annexe G.</a:t>
            </a:r>
          </a:p>
        </p:txBody>
      </p:sp>
      <p:sp>
        <p:nvSpPr>
          <p:cNvPr id="17" name="TextBox 16"/>
          <p:cNvSpPr txBox="1"/>
          <p:nvPr/>
        </p:nvSpPr>
        <p:spPr>
          <a:xfrm>
            <a:off x="10874959" y="6291072"/>
            <a:ext cx="658368" cy="274320"/>
          </a:xfrm>
          <a:prstGeom prst="rect">
            <a:avLst/>
          </a:prstGeom>
          <a:noFill/>
        </p:spPr>
        <p:txBody>
          <a:bodyPr wrap="square" lIns="0" rIns="0" tIns="0" bIns="0" anchor="t">
            <a:spAutoFit/>
          </a:bodyPr>
          <a:lstStyle/>
          <a:p>
            <a:pPr algn="r">
              <a:lnSpc>
                <a:spcPct val="118000"/>
              </a:lnSpc>
              <a:spcBef>
                <a:spcPts val="0"/>
              </a:spcBef>
              <a:spcAft>
                <a:spcPts val="0"/>
              </a:spcAft>
            </a:pPr>
            <a:r>
              <a:rPr sz="800" b="0" i="0">
                <a:solidFill>
                  <a:srgbClr val="93A5B4"/>
                </a:solidFill>
                <a:latin typeface="Consolas"/>
              </a:rPr>
              <a:t>5 / 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1C26"/>
              </a:gs>
              <a:gs pos="100000">
                <a:srgbClr val="0B101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828739"/>
            <a:ext cx="12191695" cy="29260"/>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75488"/>
            <a:ext cx="10874959"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spc="160">
                <a:solidFill>
                  <a:srgbClr val="E3C485"/>
                </a:solidFill>
                <a:latin typeface="Segoe UI"/>
              </a:rPr>
              <a:t>OPÉRATIONNALISATION</a:t>
            </a:r>
          </a:p>
        </p:txBody>
      </p:sp>
      <p:sp>
        <p:nvSpPr>
          <p:cNvPr id="5" name="TextBox 4"/>
          <p:cNvSpPr txBox="1"/>
          <p:nvPr/>
        </p:nvSpPr>
        <p:spPr>
          <a:xfrm>
            <a:off x="658368" y="713232"/>
            <a:ext cx="10692079" cy="914400"/>
          </a:xfrm>
          <a:prstGeom prst="rect">
            <a:avLst/>
          </a:prstGeom>
          <a:noFill/>
        </p:spPr>
        <p:txBody>
          <a:bodyPr wrap="square" lIns="0" rIns="0" tIns="0" bIns="0" anchor="t">
            <a:spAutoFit/>
          </a:bodyPr>
          <a:lstStyle/>
          <a:p>
            <a:pPr>
              <a:lnSpc>
                <a:spcPct val="105000"/>
              </a:lnSpc>
            </a:pPr>
            <a:r>
              <a:rPr sz="2450" b="0">
                <a:solidFill>
                  <a:srgbClr val="F3EFE7"/>
                </a:solidFill>
                <a:latin typeface="Georgia"/>
              </a:rPr>
              <a:t>Quatre questions spécifiques, quatre objets d'enquête</a:t>
            </a:r>
          </a:p>
        </p:txBody>
      </p:sp>
      <p:sp>
        <p:nvSpPr>
          <p:cNvPr id="6" name="Rounded Rectangle 5"/>
          <p:cNvSpPr/>
          <p:nvPr/>
        </p:nvSpPr>
        <p:spPr>
          <a:xfrm>
            <a:off x="658368" y="1353947"/>
            <a:ext cx="2595295" cy="1993392"/>
          </a:xfrm>
          <a:prstGeom prst="roundRect">
            <a:avLst>
              <a:gd name="adj" fmla="val 6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41247" y="1536827"/>
            <a:ext cx="2229535" cy="1700784"/>
          </a:xfrm>
          <a:prstGeom prst="rect">
            <a:avLst/>
          </a:prstGeom>
          <a:noFill/>
        </p:spPr>
        <p:txBody>
          <a:bodyPr wrap="square" lIns="0" rIns="0" tIns="0" bIns="0" anchor="t">
            <a:spAutoFit/>
          </a:bodyPr>
          <a:lstStyle/>
          <a:p>
            <a:pPr algn="l">
              <a:lnSpc>
                <a:spcPct val="118000"/>
              </a:lnSpc>
              <a:spcBef>
                <a:spcPts val="0"/>
              </a:spcBef>
              <a:spcAft>
                <a:spcPts val="600"/>
              </a:spcAft>
            </a:pPr>
            <a:r>
              <a:rPr sz="1060" b="1" i="0">
                <a:solidFill>
                  <a:srgbClr val="E3C485"/>
                </a:solidFill>
                <a:latin typeface="Consolas"/>
              </a:rPr>
              <a:t>QR1</a:t>
            </a:r>
          </a:p>
          <a:p>
            <a:pPr algn="l">
              <a:lnSpc>
                <a:spcPct val="115000"/>
              </a:lnSpc>
              <a:spcBef>
                <a:spcPts val="0"/>
              </a:spcBef>
              <a:spcAft>
                <a:spcPts val="700"/>
              </a:spcAft>
            </a:pPr>
            <a:r>
              <a:rPr sz="1040" b="1" i="0" spc="40">
                <a:solidFill>
                  <a:srgbClr val="F3EFE7"/>
                </a:solidFill>
                <a:latin typeface="Segoe UI"/>
              </a:rPr>
              <a:t>GOUVERNANCE EN POLYCRISE</a:t>
            </a:r>
          </a:p>
          <a:p>
            <a:pPr algn="l">
              <a:lnSpc>
                <a:spcPct val="132000"/>
              </a:lnSpc>
              <a:spcBef>
                <a:spcPts val="0"/>
              </a:spcBef>
              <a:spcAft>
                <a:spcPts val="0"/>
              </a:spcAft>
            </a:pPr>
            <a:r>
              <a:rPr sz="1090" b="0" i="0">
                <a:solidFill>
                  <a:srgbClr val="D5D0C5"/>
                </a:solidFill>
                <a:latin typeface="Segoe UI"/>
              </a:rPr>
              <a:t>Comprendre comment les EPES gouvernent en situation de polycrise : arbitrages, instances, pratiques.</a:t>
            </a:r>
          </a:p>
        </p:txBody>
      </p:sp>
      <p:sp>
        <p:nvSpPr>
          <p:cNvPr id="8" name="Rounded Rectangle 7"/>
          <p:cNvSpPr/>
          <p:nvPr/>
        </p:nvSpPr>
        <p:spPr>
          <a:xfrm>
            <a:off x="3418255" y="1353947"/>
            <a:ext cx="2595295" cy="1993392"/>
          </a:xfrm>
          <a:prstGeom prst="roundRect">
            <a:avLst>
              <a:gd name="adj" fmla="val 6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601135" y="1536827"/>
            <a:ext cx="2229535" cy="1700784"/>
          </a:xfrm>
          <a:prstGeom prst="rect">
            <a:avLst/>
          </a:prstGeom>
          <a:noFill/>
        </p:spPr>
        <p:txBody>
          <a:bodyPr wrap="square" lIns="0" rIns="0" tIns="0" bIns="0" anchor="t">
            <a:spAutoFit/>
          </a:bodyPr>
          <a:lstStyle/>
          <a:p>
            <a:pPr algn="l">
              <a:lnSpc>
                <a:spcPct val="118000"/>
              </a:lnSpc>
              <a:spcBef>
                <a:spcPts val="0"/>
              </a:spcBef>
              <a:spcAft>
                <a:spcPts val="600"/>
              </a:spcAft>
            </a:pPr>
            <a:r>
              <a:rPr sz="1060" b="1" i="0">
                <a:solidFill>
                  <a:srgbClr val="E3C485"/>
                </a:solidFill>
                <a:latin typeface="Consolas"/>
              </a:rPr>
              <a:t>QR2</a:t>
            </a:r>
          </a:p>
          <a:p>
            <a:pPr algn="l">
              <a:lnSpc>
                <a:spcPct val="115000"/>
              </a:lnSpc>
              <a:spcBef>
                <a:spcPts val="0"/>
              </a:spcBef>
              <a:spcAft>
                <a:spcPts val="700"/>
              </a:spcAft>
            </a:pPr>
            <a:r>
              <a:rPr sz="1040" b="1" i="0" spc="40">
                <a:solidFill>
                  <a:srgbClr val="F3EFE7"/>
                </a:solidFill>
                <a:latin typeface="Segoe UI"/>
              </a:rPr>
              <a:t>USAGES DE L'IA</a:t>
            </a:r>
          </a:p>
          <a:p>
            <a:pPr algn="l">
              <a:lnSpc>
                <a:spcPct val="132000"/>
              </a:lnSpc>
              <a:spcBef>
                <a:spcPts val="0"/>
              </a:spcBef>
              <a:spcAft>
                <a:spcPts val="0"/>
              </a:spcAft>
            </a:pPr>
            <a:r>
              <a:rPr sz="1090" b="0" i="0">
                <a:solidFill>
                  <a:srgbClr val="D5D0C5"/>
                </a:solidFill>
                <a:latin typeface="Segoe UI"/>
              </a:rPr>
              <a:t>Caractériser les usages réels de l'intelligence artificielle dans les décisions de gouvernance.</a:t>
            </a:r>
          </a:p>
        </p:txBody>
      </p:sp>
      <p:sp>
        <p:nvSpPr>
          <p:cNvPr id="10" name="Rounded Rectangle 9"/>
          <p:cNvSpPr/>
          <p:nvPr/>
        </p:nvSpPr>
        <p:spPr>
          <a:xfrm>
            <a:off x="6178143" y="1353947"/>
            <a:ext cx="2595295" cy="1993392"/>
          </a:xfrm>
          <a:prstGeom prst="roundRect">
            <a:avLst>
              <a:gd name="adj" fmla="val 6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361023" y="1536827"/>
            <a:ext cx="2229535" cy="1700784"/>
          </a:xfrm>
          <a:prstGeom prst="rect">
            <a:avLst/>
          </a:prstGeom>
          <a:noFill/>
        </p:spPr>
        <p:txBody>
          <a:bodyPr wrap="square" lIns="0" rIns="0" tIns="0" bIns="0" anchor="t">
            <a:spAutoFit/>
          </a:bodyPr>
          <a:lstStyle/>
          <a:p>
            <a:pPr algn="l">
              <a:lnSpc>
                <a:spcPct val="118000"/>
              </a:lnSpc>
              <a:spcBef>
                <a:spcPts val="0"/>
              </a:spcBef>
              <a:spcAft>
                <a:spcPts val="600"/>
              </a:spcAft>
            </a:pPr>
            <a:r>
              <a:rPr sz="1060" b="1" i="0">
                <a:solidFill>
                  <a:srgbClr val="E3C485"/>
                </a:solidFill>
                <a:latin typeface="Consolas"/>
              </a:rPr>
              <a:t>QR3</a:t>
            </a:r>
          </a:p>
          <a:p>
            <a:pPr algn="l">
              <a:lnSpc>
                <a:spcPct val="115000"/>
              </a:lnSpc>
              <a:spcBef>
                <a:spcPts val="0"/>
              </a:spcBef>
              <a:spcAft>
                <a:spcPts val="700"/>
              </a:spcAft>
            </a:pPr>
            <a:r>
              <a:rPr sz="1040" b="1" i="0" spc="40">
                <a:solidFill>
                  <a:srgbClr val="F3EFE7"/>
                </a:solidFill>
                <a:latin typeface="Segoe UI"/>
              </a:rPr>
              <a:t>RÔLE DE L'IE</a:t>
            </a:r>
          </a:p>
          <a:p>
            <a:pPr algn="l">
              <a:lnSpc>
                <a:spcPct val="132000"/>
              </a:lnSpc>
              <a:spcBef>
                <a:spcPts val="0"/>
              </a:spcBef>
              <a:spcAft>
                <a:spcPts val="0"/>
              </a:spcAft>
            </a:pPr>
            <a:r>
              <a:rPr sz="1090" b="0" i="0">
                <a:solidFill>
                  <a:srgbClr val="D5D0C5"/>
                </a:solidFill>
                <a:latin typeface="Segoe UI"/>
              </a:rPr>
              <a:t>Examiner le rôle de l'intelligence émotionnelle dans le jugement et l'action collective.</a:t>
            </a:r>
          </a:p>
        </p:txBody>
      </p:sp>
      <p:sp>
        <p:nvSpPr>
          <p:cNvPr id="12" name="Rounded Rectangle 11"/>
          <p:cNvSpPr/>
          <p:nvPr/>
        </p:nvSpPr>
        <p:spPr>
          <a:xfrm>
            <a:off x="8938031" y="1353947"/>
            <a:ext cx="2595295" cy="1993392"/>
          </a:xfrm>
          <a:prstGeom prst="roundRect">
            <a:avLst>
              <a:gd name="adj" fmla="val 6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120911" y="1536827"/>
            <a:ext cx="2229535" cy="1700784"/>
          </a:xfrm>
          <a:prstGeom prst="rect">
            <a:avLst/>
          </a:prstGeom>
          <a:noFill/>
        </p:spPr>
        <p:txBody>
          <a:bodyPr wrap="square" lIns="0" rIns="0" tIns="0" bIns="0" anchor="t">
            <a:spAutoFit/>
          </a:bodyPr>
          <a:lstStyle/>
          <a:p>
            <a:pPr algn="l">
              <a:lnSpc>
                <a:spcPct val="118000"/>
              </a:lnSpc>
              <a:spcBef>
                <a:spcPts val="0"/>
              </a:spcBef>
              <a:spcAft>
                <a:spcPts val="600"/>
              </a:spcAft>
            </a:pPr>
            <a:r>
              <a:rPr sz="1060" b="1" i="0">
                <a:solidFill>
                  <a:srgbClr val="E3C485"/>
                </a:solidFill>
                <a:latin typeface="Consolas"/>
              </a:rPr>
              <a:t>QR4</a:t>
            </a:r>
          </a:p>
          <a:p>
            <a:pPr algn="l">
              <a:lnSpc>
                <a:spcPct val="115000"/>
              </a:lnSpc>
              <a:spcBef>
                <a:spcPts val="0"/>
              </a:spcBef>
              <a:spcAft>
                <a:spcPts val="700"/>
              </a:spcAft>
            </a:pPr>
            <a:r>
              <a:rPr sz="1040" b="1" i="0" spc="40">
                <a:solidFill>
                  <a:srgbClr val="F3EFE7"/>
                </a:solidFill>
                <a:latin typeface="Segoe UI"/>
              </a:rPr>
              <a:t>ARTICULATION ET EFFETS</a:t>
            </a:r>
          </a:p>
          <a:p>
            <a:pPr algn="l">
              <a:lnSpc>
                <a:spcPct val="132000"/>
              </a:lnSpc>
              <a:spcBef>
                <a:spcPts val="0"/>
              </a:spcBef>
              <a:spcAft>
                <a:spcPts val="0"/>
              </a:spcAft>
            </a:pPr>
            <a:r>
              <a:rPr sz="1090" b="0" i="0">
                <a:solidFill>
                  <a:srgbClr val="D5D0C5"/>
                </a:solidFill>
                <a:latin typeface="Segoe UI"/>
              </a:rPr>
              <a:t>Analyser les conditions et les effets de leur articulation éventuelle.</a:t>
            </a:r>
          </a:p>
        </p:txBody>
      </p:sp>
      <p:sp>
        <p:nvSpPr>
          <p:cNvPr id="14" name="Rounded Rectangle 13"/>
          <p:cNvSpPr/>
          <p:nvPr/>
        </p:nvSpPr>
        <p:spPr>
          <a:xfrm>
            <a:off x="658368" y="3566795"/>
            <a:ext cx="10874959" cy="1024128"/>
          </a:xfrm>
          <a:prstGeom prst="roundRect">
            <a:avLst>
              <a:gd name="adj" fmla="val 5500"/>
            </a:avLst>
          </a:prstGeom>
          <a:solidFill>
            <a:srgbClr val="2A2418"/>
          </a:solidFill>
          <a:ln w="11430">
            <a:solidFill>
              <a:srgbClr val="C8A15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86384" y="3667379"/>
            <a:ext cx="10618927" cy="841248"/>
          </a:xfrm>
          <a:prstGeom prst="rect">
            <a:avLst/>
          </a:prstGeom>
          <a:noFill/>
        </p:spPr>
        <p:txBody>
          <a:bodyPr wrap="square" lIns="0" rIns="0" tIns="0" bIns="0" anchor="ctr">
            <a:spAutoFit/>
          </a:bodyPr>
          <a:lstStyle/>
          <a:p>
            <a:pPr algn="l">
              <a:lnSpc>
                <a:spcPct val="115000"/>
              </a:lnSpc>
              <a:spcBef>
                <a:spcPts val="0"/>
              </a:spcBef>
              <a:spcAft>
                <a:spcPts val="250"/>
              </a:spcAft>
            </a:pPr>
            <a:r>
              <a:rPr sz="900" b="1" i="0" spc="70">
                <a:solidFill>
                  <a:srgbClr val="E3C485"/>
                </a:solidFill>
                <a:latin typeface="Segoe UI"/>
              </a:rPr>
              <a:t>CE QUE LE PROTOCOLE NE FAIT PAS</a:t>
            </a:r>
          </a:p>
          <a:p>
            <a:pPr algn="l">
              <a:lnSpc>
                <a:spcPct val="126000"/>
              </a:lnSpc>
              <a:spcBef>
                <a:spcPts val="0"/>
              </a:spcBef>
              <a:spcAft>
                <a:spcPts val="0"/>
              </a:spcAft>
            </a:pPr>
            <a:r>
              <a:rPr sz="1100" b="0" i="0">
                <a:solidFill>
                  <a:srgbClr val="D5D0C5"/>
                </a:solidFill>
                <a:latin typeface="Segoe UI"/>
              </a:rPr>
              <a:t>Aucune question ne présuppose que l'IA améliore la gouvernance, ni que l'IE soit le facteur déterminant. Une absence d'articulation — ou une articulation limitée — est une issue possible et analysable.</a:t>
            </a:r>
          </a:p>
        </p:txBody>
      </p:sp>
      <p:sp>
        <p:nvSpPr>
          <p:cNvPr id="16" name="Rectangle 15"/>
          <p:cNvSpPr/>
          <p:nvPr/>
        </p:nvSpPr>
        <p:spPr>
          <a:xfrm>
            <a:off x="658368" y="6199632"/>
            <a:ext cx="10874959" cy="7315"/>
          </a:xfrm>
          <a:prstGeom prst="rect">
            <a:avLst/>
          </a:prstGeom>
          <a:solidFill>
            <a:srgbClr val="2734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58368" y="6291072"/>
            <a:ext cx="10189159" cy="457200"/>
          </a:xfrm>
          <a:prstGeom prst="rect">
            <a:avLst/>
          </a:prstGeom>
          <a:noFill/>
        </p:spPr>
        <p:txBody>
          <a:bodyPr wrap="square" lIns="0" rIns="0" tIns="0" bIns="0" anchor="t">
            <a:spAutoFit/>
          </a:bodyPr>
          <a:lstStyle/>
          <a:p>
            <a:pPr algn="l">
              <a:lnSpc>
                <a:spcPct val="110000"/>
              </a:lnSpc>
              <a:spcBef>
                <a:spcPts val="0"/>
              </a:spcBef>
              <a:spcAft>
                <a:spcPts val="0"/>
              </a:spcAft>
            </a:pPr>
            <a:r>
              <a:rPr sz="740" b="1">
                <a:solidFill>
                  <a:srgbClr val="93A5B4"/>
                </a:solidFill>
                <a:latin typeface="Segoe UI"/>
              </a:rPr>
              <a:t>Sources : </a:t>
            </a:r>
            <a:r>
              <a:rPr sz="740" b="0">
                <a:solidFill>
                  <a:srgbClr val="708392"/>
                </a:solidFill>
                <a:latin typeface="Segoe UI"/>
              </a:rPr>
              <a:t>plan harmonisé, introduction § 1.3 et § 3.4 ; tableau 3.4 (alignement questions / propositions / collecte / codes).</a:t>
            </a:r>
          </a:p>
        </p:txBody>
      </p:sp>
      <p:sp>
        <p:nvSpPr>
          <p:cNvPr id="18" name="TextBox 17"/>
          <p:cNvSpPr txBox="1"/>
          <p:nvPr/>
        </p:nvSpPr>
        <p:spPr>
          <a:xfrm>
            <a:off x="10874959" y="6291072"/>
            <a:ext cx="658368" cy="274320"/>
          </a:xfrm>
          <a:prstGeom prst="rect">
            <a:avLst/>
          </a:prstGeom>
          <a:noFill/>
        </p:spPr>
        <p:txBody>
          <a:bodyPr wrap="square" lIns="0" rIns="0" tIns="0" bIns="0" anchor="t">
            <a:spAutoFit/>
          </a:bodyPr>
          <a:lstStyle/>
          <a:p>
            <a:pPr algn="r">
              <a:lnSpc>
                <a:spcPct val="118000"/>
              </a:lnSpc>
              <a:spcBef>
                <a:spcPts val="0"/>
              </a:spcBef>
              <a:spcAft>
                <a:spcPts val="0"/>
              </a:spcAft>
            </a:pPr>
            <a:r>
              <a:rPr sz="800" b="0" i="0">
                <a:solidFill>
                  <a:srgbClr val="93A5B4"/>
                </a:solidFill>
                <a:latin typeface="Consolas"/>
              </a:rPr>
              <a:t>6 / 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1C26"/>
              </a:gs>
              <a:gs pos="100000">
                <a:srgbClr val="0B101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828739"/>
            <a:ext cx="12191695" cy="29260"/>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75488"/>
            <a:ext cx="10874959"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spc="160">
                <a:solidFill>
                  <a:srgbClr val="E3C485"/>
                </a:solidFill>
                <a:latin typeface="Segoe UI"/>
              </a:rPr>
              <a:t>OBJECTIFS</a:t>
            </a:r>
          </a:p>
        </p:txBody>
      </p:sp>
      <p:sp>
        <p:nvSpPr>
          <p:cNvPr id="5" name="TextBox 4"/>
          <p:cNvSpPr txBox="1"/>
          <p:nvPr/>
        </p:nvSpPr>
        <p:spPr>
          <a:xfrm>
            <a:off x="658368" y="713232"/>
            <a:ext cx="10692079" cy="914400"/>
          </a:xfrm>
          <a:prstGeom prst="rect">
            <a:avLst/>
          </a:prstGeom>
          <a:noFill/>
        </p:spPr>
        <p:txBody>
          <a:bodyPr wrap="square" lIns="0" rIns="0" tIns="0" bIns="0" anchor="t">
            <a:spAutoFit/>
          </a:bodyPr>
          <a:lstStyle/>
          <a:p>
            <a:pPr>
              <a:lnSpc>
                <a:spcPct val="105000"/>
              </a:lnSpc>
            </a:pPr>
            <a:r>
              <a:rPr sz="2250" b="0">
                <a:solidFill>
                  <a:srgbClr val="F3EFE7"/>
                </a:solidFill>
                <a:latin typeface="Georgia"/>
              </a:rPr>
              <a:t>Un objectif général, quatre objectifs spécifiques alignés sur les questions</a:t>
            </a:r>
          </a:p>
        </p:txBody>
      </p:sp>
      <p:sp>
        <p:nvSpPr>
          <p:cNvPr id="6" name="Rounded Rectangle 5"/>
          <p:cNvSpPr/>
          <p:nvPr/>
        </p:nvSpPr>
        <p:spPr>
          <a:xfrm>
            <a:off x="658368" y="1327023"/>
            <a:ext cx="4567482" cy="3566160"/>
          </a:xfrm>
          <a:prstGeom prst="roundRect">
            <a:avLst>
              <a:gd name="adj" fmla="val 5000"/>
            </a:avLst>
          </a:prstGeom>
          <a:solidFill>
            <a:srgbClr val="2A2418"/>
          </a:solidFill>
          <a:ln w="11430">
            <a:solidFill>
              <a:srgbClr val="C8A15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41247" y="1491615"/>
            <a:ext cx="4201722" cy="3291840"/>
          </a:xfrm>
          <a:prstGeom prst="rect">
            <a:avLst/>
          </a:prstGeom>
          <a:noFill/>
        </p:spPr>
        <p:txBody>
          <a:bodyPr wrap="square" lIns="0" rIns="0" tIns="0" bIns="0" anchor="t">
            <a:spAutoFit/>
          </a:bodyPr>
          <a:lstStyle/>
          <a:p>
            <a:pPr algn="l">
              <a:lnSpc>
                <a:spcPct val="118000"/>
              </a:lnSpc>
              <a:spcBef>
                <a:spcPts val="0"/>
              </a:spcBef>
              <a:spcAft>
                <a:spcPts val="0"/>
              </a:spcAft>
            </a:pPr>
            <a:r>
              <a:rPr sz="880" b="1" i="0" spc="70">
                <a:solidFill>
                  <a:srgbClr val="E3C485"/>
                </a:solidFill>
                <a:latin typeface="Segoe UI"/>
              </a:rPr>
              <a:t>OBJECTIF GÉNÉRAL</a:t>
            </a:r>
          </a:p>
          <a:p>
            <a:pPr algn="l">
              <a:lnSpc>
                <a:spcPct val="134000"/>
              </a:lnSpc>
              <a:spcBef>
                <a:spcPts val="800"/>
              </a:spcBef>
              <a:spcAft>
                <a:spcPts val="0"/>
              </a:spcAft>
            </a:pPr>
            <a:r>
              <a:rPr sz="1160" b="0" i="0">
                <a:solidFill>
                  <a:srgbClr val="D5D0C5"/>
                </a:solidFill>
                <a:latin typeface="Segoe UI"/>
              </a:rPr>
              <a:t>Comprendre comment et sous quelles conditions l'articulation entre intelligence artificielle et intelligence émotionnelle transforme la gouvernance des EPES gabonais en situation de polycrise, et quels effets en résultent sur la performance globale, la RSE et le développement durable.</a:t>
            </a:r>
          </a:p>
          <a:p>
            <a:pPr algn="l">
              <a:lnSpc>
                <a:spcPct val="130000"/>
              </a:lnSpc>
              <a:spcBef>
                <a:spcPts val="1000"/>
              </a:spcBef>
              <a:spcAft>
                <a:spcPts val="0"/>
              </a:spcAft>
            </a:pPr>
            <a:r>
              <a:rPr sz="919" b="0" i="0">
                <a:solidFill>
                  <a:srgbClr val="93A5B4"/>
                </a:solidFill>
                <a:latin typeface="Segoe UI"/>
              </a:rPr>
              <a:t>Objectif de compréhension, non de démonstration d'efficacité : le design est qualitatif et abductif.</a:t>
            </a:r>
          </a:p>
        </p:txBody>
      </p:sp>
      <p:sp>
        <p:nvSpPr>
          <p:cNvPr id="8" name="Rectangle 7"/>
          <p:cNvSpPr/>
          <p:nvPr/>
        </p:nvSpPr>
        <p:spPr>
          <a:xfrm>
            <a:off x="841247" y="3759327"/>
            <a:ext cx="4201722" cy="7315"/>
          </a:xfrm>
          <a:prstGeom prst="rect">
            <a:avLst/>
          </a:prstGeom>
          <a:solidFill>
            <a:srgbClr val="2734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9" name="Table 8"/>
          <p:cNvGraphicFramePr>
            <a:graphicFrameLocks noGrp="1"/>
          </p:cNvGraphicFramePr>
          <p:nvPr/>
        </p:nvGraphicFramePr>
        <p:xfrm>
          <a:off x="5536746" y="1372743"/>
          <a:ext cx="5996580" cy="2926080"/>
        </p:xfrm>
        <a:graphic>
          <a:graphicData uri="http://schemas.openxmlformats.org/drawingml/2006/table">
            <a:tbl>
              <a:tblPr firstRow="1">
                <a:tableStyleId>{5C22544A-7EE6-4342-B048-85BDC9FD1C3A}</a:tableStyleId>
              </a:tblPr>
              <a:tblGrid>
                <a:gridCol w="4797264"/>
                <a:gridCol w="1199316"/>
              </a:tblGrid>
              <a:tr h="585216">
                <a:tc>
                  <a:txBody>
                    <a:bodyPr wrap="square"/>
                    <a:lstStyle/>
                    <a:p>
                      <a:pPr>
                        <a:lnSpc>
                          <a:spcPct val="112000"/>
                        </a:lnSpc>
                      </a:pPr>
                      <a:r>
                        <a:rPr sz="780" b="1" spc="110">
                          <a:solidFill>
                            <a:srgbClr val="93A5B4"/>
                          </a:solidFill>
                          <a:latin typeface="Segoe UI"/>
                        </a:rPr>
                        <a:t>OBJECTIF SPÉCIFIQUE</a:t>
                      </a:r>
                    </a:p>
                  </a:txBody>
                  <a:tcPr marL="91440" marR="91440" marT="27432" marB="27432" anchor="ctr">
                    <a:solidFill>
                      <a:srgbClr val="1E2A36"/>
                    </a:solidFill>
                  </a:tcPr>
                </a:tc>
                <a:tc>
                  <a:txBody>
                    <a:bodyPr wrap="square"/>
                    <a:lstStyle/>
                    <a:p>
                      <a:pPr>
                        <a:lnSpc>
                          <a:spcPct val="112000"/>
                        </a:lnSpc>
                      </a:pPr>
                      <a:r>
                        <a:rPr sz="780" b="1" spc="110">
                          <a:solidFill>
                            <a:srgbClr val="93A5B4"/>
                          </a:solidFill>
                          <a:latin typeface="Segoe UI"/>
                        </a:rPr>
                        <a:t>QUESTION</a:t>
                      </a:r>
                    </a:p>
                  </a:txBody>
                  <a:tcPr marL="91440" marR="91440" marT="27432" marB="27432" anchor="ctr">
                    <a:solidFill>
                      <a:srgbClr val="1E2A36"/>
                    </a:solidFill>
                  </a:tcPr>
                </a:tc>
              </a:tr>
              <a:tr h="585216">
                <a:tc>
                  <a:txBody>
                    <a:bodyPr wrap="square"/>
                    <a:lstStyle/>
                    <a:p>
                      <a:pPr>
                        <a:lnSpc>
                          <a:spcPct val="112000"/>
                        </a:lnSpc>
                      </a:pPr>
                      <a:r>
                        <a:rPr sz="1080">
                          <a:solidFill>
                            <a:srgbClr val="F3EFE7"/>
                          </a:solidFill>
                          <a:latin typeface="Segoe UI"/>
                        </a:rPr>
                        <a:t>Comprendre la gouvernance des EPES en situation de polycrise</a:t>
                      </a:r>
                    </a:p>
                  </a:txBody>
                  <a:tcPr marL="91440" marR="91440" marT="27432" marB="27432" anchor="ctr">
                    <a:solidFill>
                      <a:srgbClr val="121C26"/>
                    </a:solidFill>
                  </a:tcPr>
                </a:tc>
                <a:tc>
                  <a:txBody>
                    <a:bodyPr wrap="square"/>
                    <a:lstStyle/>
                    <a:p>
                      <a:pPr>
                        <a:lnSpc>
                          <a:spcPct val="112000"/>
                        </a:lnSpc>
                      </a:pPr>
                      <a:r>
                        <a:rPr sz="1080">
                          <a:solidFill>
                            <a:srgbClr val="D5D0C5"/>
                          </a:solidFill>
                          <a:latin typeface="Segoe UI"/>
                        </a:rPr>
                        <a:t>QR1</a:t>
                      </a:r>
                    </a:p>
                  </a:txBody>
                  <a:tcPr marL="91440" marR="91440" marT="27432" marB="27432" anchor="ctr">
                    <a:solidFill>
                      <a:srgbClr val="121C26"/>
                    </a:solidFill>
                  </a:tcPr>
                </a:tc>
              </a:tr>
              <a:tr h="585216">
                <a:tc>
                  <a:txBody>
                    <a:bodyPr wrap="square"/>
                    <a:lstStyle/>
                    <a:p>
                      <a:pPr>
                        <a:lnSpc>
                          <a:spcPct val="112000"/>
                        </a:lnSpc>
                      </a:pPr>
                      <a:r>
                        <a:rPr sz="1080">
                          <a:solidFill>
                            <a:srgbClr val="F3EFE7"/>
                          </a:solidFill>
                          <a:latin typeface="Segoe UI"/>
                        </a:rPr>
                        <a:t>Caractériser les usages de l'intelligence artificielle</a:t>
                      </a:r>
                    </a:p>
                  </a:txBody>
                  <a:tcPr marL="91440" marR="91440" marT="27432" marB="27432" anchor="ctr">
                    <a:solidFill>
                      <a:srgbClr val="16212C"/>
                    </a:solidFill>
                  </a:tcPr>
                </a:tc>
                <a:tc>
                  <a:txBody>
                    <a:bodyPr wrap="square"/>
                    <a:lstStyle/>
                    <a:p>
                      <a:pPr>
                        <a:lnSpc>
                          <a:spcPct val="112000"/>
                        </a:lnSpc>
                      </a:pPr>
                      <a:r>
                        <a:rPr sz="1080">
                          <a:solidFill>
                            <a:srgbClr val="D5D0C5"/>
                          </a:solidFill>
                          <a:latin typeface="Segoe UI"/>
                        </a:rPr>
                        <a:t>QR2</a:t>
                      </a:r>
                    </a:p>
                  </a:txBody>
                  <a:tcPr marL="91440" marR="91440" marT="27432" marB="27432" anchor="ctr">
                    <a:solidFill>
                      <a:srgbClr val="16212C"/>
                    </a:solidFill>
                  </a:tcPr>
                </a:tc>
              </a:tr>
              <a:tr h="585216">
                <a:tc>
                  <a:txBody>
                    <a:bodyPr wrap="square"/>
                    <a:lstStyle/>
                    <a:p>
                      <a:pPr>
                        <a:lnSpc>
                          <a:spcPct val="112000"/>
                        </a:lnSpc>
                      </a:pPr>
                      <a:r>
                        <a:rPr sz="1080">
                          <a:solidFill>
                            <a:srgbClr val="F3EFE7"/>
                          </a:solidFill>
                          <a:latin typeface="Segoe UI"/>
                        </a:rPr>
                        <a:t>Examiner le rôle de l'intelligence émotionnelle</a:t>
                      </a:r>
                    </a:p>
                  </a:txBody>
                  <a:tcPr marL="91440" marR="91440" marT="27432" marB="27432" anchor="ctr">
                    <a:solidFill>
                      <a:srgbClr val="121C26"/>
                    </a:solidFill>
                  </a:tcPr>
                </a:tc>
                <a:tc>
                  <a:txBody>
                    <a:bodyPr wrap="square"/>
                    <a:lstStyle/>
                    <a:p>
                      <a:pPr>
                        <a:lnSpc>
                          <a:spcPct val="112000"/>
                        </a:lnSpc>
                      </a:pPr>
                      <a:r>
                        <a:rPr sz="1080">
                          <a:solidFill>
                            <a:srgbClr val="D5D0C5"/>
                          </a:solidFill>
                          <a:latin typeface="Segoe UI"/>
                        </a:rPr>
                        <a:t>QR3</a:t>
                      </a:r>
                    </a:p>
                  </a:txBody>
                  <a:tcPr marL="91440" marR="91440" marT="27432" marB="27432" anchor="ctr">
                    <a:solidFill>
                      <a:srgbClr val="121C26"/>
                    </a:solidFill>
                  </a:tcPr>
                </a:tc>
              </a:tr>
              <a:tr h="585216">
                <a:tc>
                  <a:txBody>
                    <a:bodyPr wrap="square"/>
                    <a:lstStyle/>
                    <a:p>
                      <a:pPr>
                        <a:lnSpc>
                          <a:spcPct val="112000"/>
                        </a:lnSpc>
                      </a:pPr>
                      <a:r>
                        <a:rPr sz="1080">
                          <a:solidFill>
                            <a:srgbClr val="F3EFE7"/>
                          </a:solidFill>
                          <a:latin typeface="Segoe UI"/>
                        </a:rPr>
                        <a:t>Analyser les conditions et les effets de leur articulation</a:t>
                      </a:r>
                    </a:p>
                  </a:txBody>
                  <a:tcPr marL="91440" marR="91440" marT="27432" marB="27432" anchor="ctr">
                    <a:solidFill>
                      <a:srgbClr val="16212C"/>
                    </a:solidFill>
                  </a:tcPr>
                </a:tc>
                <a:tc>
                  <a:txBody>
                    <a:bodyPr wrap="square"/>
                    <a:lstStyle/>
                    <a:p>
                      <a:pPr>
                        <a:lnSpc>
                          <a:spcPct val="112000"/>
                        </a:lnSpc>
                      </a:pPr>
                      <a:r>
                        <a:rPr sz="1080">
                          <a:solidFill>
                            <a:srgbClr val="D5D0C5"/>
                          </a:solidFill>
                          <a:latin typeface="Segoe UI"/>
                        </a:rPr>
                        <a:t>QR4</a:t>
                      </a:r>
                    </a:p>
                  </a:txBody>
                  <a:tcPr marL="91440" marR="91440" marT="27432" marB="27432" anchor="ctr">
                    <a:solidFill>
                      <a:srgbClr val="16212C"/>
                    </a:solidFill>
                  </a:tcPr>
                </a:tc>
              </a:tr>
            </a:tbl>
          </a:graphicData>
        </a:graphic>
      </p:graphicFrame>
      <p:sp>
        <p:nvSpPr>
          <p:cNvPr id="10" name="TextBox 9"/>
          <p:cNvSpPr txBox="1"/>
          <p:nvPr/>
        </p:nvSpPr>
        <p:spPr>
          <a:xfrm>
            <a:off x="5536746" y="4381119"/>
            <a:ext cx="5996580" cy="822960"/>
          </a:xfrm>
          <a:prstGeom prst="rect">
            <a:avLst/>
          </a:prstGeom>
          <a:noFill/>
        </p:spPr>
        <p:txBody>
          <a:bodyPr wrap="square" lIns="0" rIns="0" tIns="0" bIns="0" anchor="t">
            <a:spAutoFit/>
          </a:bodyPr>
          <a:lstStyle/>
          <a:p>
            <a:pPr algn="l">
              <a:lnSpc>
                <a:spcPct val="130000"/>
              </a:lnSpc>
              <a:spcBef>
                <a:spcPts val="0"/>
              </a:spcBef>
              <a:spcAft>
                <a:spcPts val="0"/>
              </a:spcAft>
            </a:pPr>
            <a:r>
              <a:rPr sz="919" b="0" i="0">
                <a:solidFill>
                  <a:srgbClr val="93A5B4"/>
                </a:solidFill>
                <a:latin typeface="Segoe UI"/>
              </a:rPr>
              <a:t>Intérêts scientifique, managérial et sociétal : annoncés comme des contributions recherchées, jamais comme des apports déjà démontrés (introduction § 1.6).</a:t>
            </a:r>
          </a:p>
        </p:txBody>
      </p:sp>
      <p:sp>
        <p:nvSpPr>
          <p:cNvPr id="11" name="Rectangle 10"/>
          <p:cNvSpPr/>
          <p:nvPr/>
        </p:nvSpPr>
        <p:spPr>
          <a:xfrm>
            <a:off x="658368" y="6199632"/>
            <a:ext cx="10874959" cy="7315"/>
          </a:xfrm>
          <a:prstGeom prst="rect">
            <a:avLst/>
          </a:prstGeom>
          <a:solidFill>
            <a:srgbClr val="2734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58368" y="6291072"/>
            <a:ext cx="10189159" cy="457200"/>
          </a:xfrm>
          <a:prstGeom prst="rect">
            <a:avLst/>
          </a:prstGeom>
          <a:noFill/>
        </p:spPr>
        <p:txBody>
          <a:bodyPr wrap="square" lIns="0" rIns="0" tIns="0" bIns="0" anchor="t">
            <a:spAutoFit/>
          </a:bodyPr>
          <a:lstStyle/>
          <a:p>
            <a:pPr algn="l">
              <a:lnSpc>
                <a:spcPct val="110000"/>
              </a:lnSpc>
              <a:spcBef>
                <a:spcPts val="0"/>
              </a:spcBef>
              <a:spcAft>
                <a:spcPts val="0"/>
              </a:spcAft>
            </a:pPr>
            <a:r>
              <a:rPr sz="740" b="1">
                <a:solidFill>
                  <a:srgbClr val="93A5B4"/>
                </a:solidFill>
                <a:latin typeface="Segoe UI"/>
              </a:rPr>
              <a:t>Sources : </a:t>
            </a:r>
            <a:r>
              <a:rPr sz="740" b="0">
                <a:solidFill>
                  <a:srgbClr val="708392"/>
                </a:solidFill>
                <a:latin typeface="Segoe UI"/>
              </a:rPr>
              <a:t>plan harmonisé, introduction § 1.4 (objectifs) et § 1.6 (intérêts scientifique, managérial, sociétal).</a:t>
            </a:r>
          </a:p>
        </p:txBody>
      </p:sp>
      <p:sp>
        <p:nvSpPr>
          <p:cNvPr id="13" name="TextBox 12"/>
          <p:cNvSpPr txBox="1"/>
          <p:nvPr/>
        </p:nvSpPr>
        <p:spPr>
          <a:xfrm>
            <a:off x="10874959" y="6291072"/>
            <a:ext cx="658368" cy="274320"/>
          </a:xfrm>
          <a:prstGeom prst="rect">
            <a:avLst/>
          </a:prstGeom>
          <a:noFill/>
        </p:spPr>
        <p:txBody>
          <a:bodyPr wrap="square" lIns="0" rIns="0" tIns="0" bIns="0" anchor="t">
            <a:spAutoFit/>
          </a:bodyPr>
          <a:lstStyle/>
          <a:p>
            <a:pPr algn="r">
              <a:lnSpc>
                <a:spcPct val="118000"/>
              </a:lnSpc>
              <a:spcBef>
                <a:spcPts val="0"/>
              </a:spcBef>
              <a:spcAft>
                <a:spcPts val="0"/>
              </a:spcAft>
            </a:pPr>
            <a:r>
              <a:rPr sz="800" b="0" i="0">
                <a:solidFill>
                  <a:srgbClr val="93A5B4"/>
                </a:solidFill>
                <a:latin typeface="Consolas"/>
              </a:rPr>
              <a:t>7 / 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1C26"/>
              </a:gs>
              <a:gs pos="100000">
                <a:srgbClr val="0B101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828739"/>
            <a:ext cx="12191695" cy="29260"/>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75488"/>
            <a:ext cx="10874959"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spc="160">
                <a:solidFill>
                  <a:srgbClr val="E3C485"/>
                </a:solidFill>
                <a:latin typeface="Segoe UI"/>
              </a:rPr>
              <a:t>CHAPITRE 2 · REVUE CRITIQUE</a:t>
            </a:r>
          </a:p>
        </p:txBody>
      </p:sp>
      <p:sp>
        <p:nvSpPr>
          <p:cNvPr id="5" name="TextBox 4"/>
          <p:cNvSpPr txBox="1"/>
          <p:nvPr/>
        </p:nvSpPr>
        <p:spPr>
          <a:xfrm>
            <a:off x="658368" y="713232"/>
            <a:ext cx="10692079" cy="914400"/>
          </a:xfrm>
          <a:prstGeom prst="rect">
            <a:avLst/>
          </a:prstGeom>
          <a:noFill/>
        </p:spPr>
        <p:txBody>
          <a:bodyPr wrap="square" lIns="0" rIns="0" tIns="0" bIns="0" anchor="t">
            <a:spAutoFit/>
          </a:bodyPr>
          <a:lstStyle/>
          <a:p>
            <a:pPr>
              <a:lnSpc>
                <a:spcPct val="105000"/>
              </a:lnSpc>
            </a:pPr>
            <a:r>
              <a:rPr sz="2450" b="0">
                <a:solidFill>
                  <a:srgbClr val="F3EFE7"/>
                </a:solidFill>
                <a:latin typeface="Georgia"/>
              </a:rPr>
              <a:t>Quatre courants mobilisés, une intersection à construire</a:t>
            </a:r>
          </a:p>
        </p:txBody>
      </p:sp>
      <p:sp>
        <p:nvSpPr>
          <p:cNvPr id="6" name="TextBox 5"/>
          <p:cNvSpPr txBox="1"/>
          <p:nvPr/>
        </p:nvSpPr>
        <p:spPr>
          <a:xfrm>
            <a:off x="658368" y="1079627"/>
            <a:ext cx="9777679" cy="365760"/>
          </a:xfrm>
          <a:prstGeom prst="rect">
            <a:avLst/>
          </a:prstGeom>
          <a:noFill/>
        </p:spPr>
        <p:txBody>
          <a:bodyPr wrap="square" lIns="0" rIns="0" tIns="0" bIns="0" anchor="t">
            <a:spAutoFit/>
          </a:bodyPr>
          <a:lstStyle/>
          <a:p>
            <a:pPr algn="l">
              <a:lnSpc>
                <a:spcPct val="130000"/>
              </a:lnSpc>
              <a:spcBef>
                <a:spcPts val="0"/>
              </a:spcBef>
              <a:spcAft>
                <a:spcPts val="0"/>
              </a:spcAft>
            </a:pPr>
            <a:r>
              <a:rPr sz="1150" b="0" i="0">
                <a:solidFill>
                  <a:srgbClr val="93A5B4"/>
                </a:solidFill>
                <a:latin typeface="Segoe UI"/>
              </a:rPr>
              <a:t>La revue n'accumule pas les références : elle organise la convergence vers un objet non traité — l'articulation.</a:t>
            </a:r>
          </a:p>
        </p:txBody>
      </p:sp>
      <p:sp>
        <p:nvSpPr>
          <p:cNvPr id="7" name="Rounded Rectangle 6"/>
          <p:cNvSpPr/>
          <p:nvPr/>
        </p:nvSpPr>
        <p:spPr>
          <a:xfrm>
            <a:off x="658368" y="1664843"/>
            <a:ext cx="5346039" cy="896112"/>
          </a:xfrm>
          <a:prstGeom prst="roundRect">
            <a:avLst>
              <a:gd name="adj" fmla="val 55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86384" y="1765427"/>
            <a:ext cx="5090007" cy="713232"/>
          </a:xfrm>
          <a:prstGeom prst="rect">
            <a:avLst/>
          </a:prstGeom>
          <a:noFill/>
        </p:spPr>
        <p:txBody>
          <a:bodyPr wrap="square" lIns="0" rIns="0" tIns="0" bIns="0" anchor="ctr">
            <a:spAutoFit/>
          </a:bodyPr>
          <a:lstStyle/>
          <a:p>
            <a:pPr algn="l">
              <a:lnSpc>
                <a:spcPct val="115000"/>
              </a:lnSpc>
              <a:spcBef>
                <a:spcPts val="0"/>
              </a:spcBef>
              <a:spcAft>
                <a:spcPts val="250"/>
              </a:spcAft>
            </a:pPr>
            <a:r>
              <a:rPr sz="819" b="1" i="0" spc="70">
                <a:solidFill>
                  <a:srgbClr val="E3C485"/>
                </a:solidFill>
                <a:latin typeface="Segoe UI"/>
              </a:rPr>
              <a:t>1 · GOUVERNANCE ORGANISATIONNELLE ET UNIVERSITAIRE</a:t>
            </a:r>
          </a:p>
          <a:p>
            <a:pPr algn="l">
              <a:lnSpc>
                <a:spcPct val="126000"/>
              </a:lnSpc>
              <a:spcBef>
                <a:spcPts val="0"/>
              </a:spcBef>
              <a:spcAft>
                <a:spcPts val="0"/>
              </a:spcAft>
            </a:pPr>
            <a:r>
              <a:rPr sz="960" b="0" i="0">
                <a:solidFill>
                  <a:srgbClr val="D5D0C5"/>
                </a:solidFill>
                <a:latin typeface="Segoe UI"/>
              </a:rPr>
              <a:t>Registres collégial et managérial, spécificités de l'établissement d'enseignement, limites des modèles classiques face à l'incertitude (§ 2.2–2.3).</a:t>
            </a:r>
          </a:p>
        </p:txBody>
      </p:sp>
      <p:sp>
        <p:nvSpPr>
          <p:cNvPr id="9" name="Rounded Rectangle 8"/>
          <p:cNvSpPr/>
          <p:nvPr/>
        </p:nvSpPr>
        <p:spPr>
          <a:xfrm>
            <a:off x="6187287" y="1664843"/>
            <a:ext cx="5346039" cy="896112"/>
          </a:xfrm>
          <a:prstGeom prst="roundRect">
            <a:avLst>
              <a:gd name="adj" fmla="val 55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315303" y="1765427"/>
            <a:ext cx="5090007" cy="713232"/>
          </a:xfrm>
          <a:prstGeom prst="rect">
            <a:avLst/>
          </a:prstGeom>
          <a:noFill/>
        </p:spPr>
        <p:txBody>
          <a:bodyPr wrap="square" lIns="0" rIns="0" tIns="0" bIns="0" anchor="ctr">
            <a:spAutoFit/>
          </a:bodyPr>
          <a:lstStyle/>
          <a:p>
            <a:pPr algn="l">
              <a:lnSpc>
                <a:spcPct val="115000"/>
              </a:lnSpc>
              <a:spcBef>
                <a:spcPts val="0"/>
              </a:spcBef>
              <a:spcAft>
                <a:spcPts val="250"/>
              </a:spcAft>
            </a:pPr>
            <a:r>
              <a:rPr sz="819" b="1" i="0" spc="70">
                <a:solidFill>
                  <a:srgbClr val="E3C485"/>
                </a:solidFill>
                <a:latin typeface="Segoe UI"/>
              </a:rPr>
              <a:t>2 · INTELLIGENCE ARTIFICIELLE ET DÉCISION</a:t>
            </a:r>
          </a:p>
          <a:p>
            <a:pPr algn="l">
              <a:lnSpc>
                <a:spcPct val="126000"/>
              </a:lnSpc>
              <a:spcBef>
                <a:spcPts val="0"/>
              </a:spcBef>
              <a:spcAft>
                <a:spcPts val="0"/>
              </a:spcAft>
            </a:pPr>
            <a:r>
              <a:rPr sz="960" b="0" i="0">
                <a:solidFill>
                  <a:srgbClr val="D5D0C5"/>
                </a:solidFill>
                <a:latin typeface="Segoe UI"/>
              </a:rPr>
              <a:t>Contributions, conditions d'usage, limites et risques ; distinction stricte avec la numérisation, l'automatisation et l'analyse de données (§ 2.5).</a:t>
            </a:r>
          </a:p>
        </p:txBody>
      </p:sp>
      <p:sp>
        <p:nvSpPr>
          <p:cNvPr id="11" name="Rounded Rectangle 10"/>
          <p:cNvSpPr/>
          <p:nvPr/>
        </p:nvSpPr>
        <p:spPr>
          <a:xfrm>
            <a:off x="658368" y="2688971"/>
            <a:ext cx="5346039" cy="896112"/>
          </a:xfrm>
          <a:prstGeom prst="roundRect">
            <a:avLst>
              <a:gd name="adj" fmla="val 55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86384" y="2789555"/>
            <a:ext cx="5090007" cy="713232"/>
          </a:xfrm>
          <a:prstGeom prst="rect">
            <a:avLst/>
          </a:prstGeom>
          <a:noFill/>
        </p:spPr>
        <p:txBody>
          <a:bodyPr wrap="square" lIns="0" rIns="0" tIns="0" bIns="0" anchor="ctr">
            <a:spAutoFit/>
          </a:bodyPr>
          <a:lstStyle/>
          <a:p>
            <a:pPr algn="l">
              <a:lnSpc>
                <a:spcPct val="115000"/>
              </a:lnSpc>
              <a:spcBef>
                <a:spcPts val="0"/>
              </a:spcBef>
              <a:spcAft>
                <a:spcPts val="250"/>
              </a:spcAft>
            </a:pPr>
            <a:r>
              <a:rPr sz="819" b="1" i="0" spc="70">
                <a:solidFill>
                  <a:srgbClr val="E3C485"/>
                </a:solidFill>
                <a:latin typeface="Segoe UI"/>
              </a:rPr>
              <a:t>3 · INTELLIGENCE ÉMOTIONNELLE ET LEADERSHIP</a:t>
            </a:r>
          </a:p>
          <a:p>
            <a:pPr algn="l">
              <a:lnSpc>
                <a:spcPct val="126000"/>
              </a:lnSpc>
              <a:spcBef>
                <a:spcPts val="0"/>
              </a:spcBef>
              <a:spcAft>
                <a:spcPts val="0"/>
              </a:spcAft>
            </a:pPr>
            <a:r>
              <a:rPr sz="960" b="0" i="0">
                <a:solidFill>
                  <a:srgbClr val="D5D0C5"/>
                </a:solidFill>
                <a:latin typeface="Segoe UI"/>
              </a:rPr>
              <a:t>Modèles, apports et limites : perception, régulation, relations, gestion des tensions dans le jugement (§ 2.6).</a:t>
            </a:r>
          </a:p>
        </p:txBody>
      </p:sp>
      <p:sp>
        <p:nvSpPr>
          <p:cNvPr id="13" name="Rounded Rectangle 12"/>
          <p:cNvSpPr/>
          <p:nvPr/>
        </p:nvSpPr>
        <p:spPr>
          <a:xfrm>
            <a:off x="6187287" y="2688971"/>
            <a:ext cx="5346039" cy="896112"/>
          </a:xfrm>
          <a:prstGeom prst="roundRect">
            <a:avLst>
              <a:gd name="adj" fmla="val 55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315303" y="2789555"/>
            <a:ext cx="5090007" cy="713232"/>
          </a:xfrm>
          <a:prstGeom prst="rect">
            <a:avLst/>
          </a:prstGeom>
          <a:noFill/>
        </p:spPr>
        <p:txBody>
          <a:bodyPr wrap="square" lIns="0" rIns="0" tIns="0" bIns="0" anchor="ctr">
            <a:spAutoFit/>
          </a:bodyPr>
          <a:lstStyle/>
          <a:p>
            <a:pPr algn="l">
              <a:lnSpc>
                <a:spcPct val="115000"/>
              </a:lnSpc>
              <a:spcBef>
                <a:spcPts val="0"/>
              </a:spcBef>
              <a:spcAft>
                <a:spcPts val="250"/>
              </a:spcAft>
            </a:pPr>
            <a:r>
              <a:rPr sz="819" b="1" i="0" spc="70">
                <a:solidFill>
                  <a:srgbClr val="E3C485"/>
                </a:solidFill>
                <a:latin typeface="Segoe UI"/>
              </a:rPr>
              <a:t>4 · PERFORMANCE GLOBALE, RSE, DURABILITÉ</a:t>
            </a:r>
          </a:p>
          <a:p>
            <a:pPr algn="l">
              <a:lnSpc>
                <a:spcPct val="126000"/>
              </a:lnSpc>
              <a:spcBef>
                <a:spcPts val="0"/>
              </a:spcBef>
              <a:spcAft>
                <a:spcPts val="0"/>
              </a:spcAft>
            </a:pPr>
            <a:r>
              <a:rPr sz="960" b="0" i="0">
                <a:solidFill>
                  <a:srgbClr val="D5D0C5"/>
                </a:solidFill>
                <a:latin typeface="Segoe UI"/>
              </a:rPr>
              <a:t>Dimensions économiques, académiques, humaines, sociales, environnementales ; arbitrages et limites de l'évaluation (§ 2.8–2.9).</a:t>
            </a:r>
          </a:p>
        </p:txBody>
      </p:sp>
      <p:sp>
        <p:nvSpPr>
          <p:cNvPr id="15" name="Rounded Rectangle 14"/>
          <p:cNvSpPr/>
          <p:nvPr/>
        </p:nvSpPr>
        <p:spPr>
          <a:xfrm>
            <a:off x="658368" y="3786251"/>
            <a:ext cx="10874959" cy="1060704"/>
          </a:xfrm>
          <a:prstGeom prst="roundRect">
            <a:avLst>
              <a:gd name="adj" fmla="val 5500"/>
            </a:avLst>
          </a:prstGeom>
          <a:solidFill>
            <a:srgbClr val="2A2418"/>
          </a:solidFill>
          <a:ln w="11430">
            <a:solidFill>
              <a:srgbClr val="C8A15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32103" y="3923411"/>
            <a:ext cx="10527487" cy="877824"/>
          </a:xfrm>
          <a:prstGeom prst="rect">
            <a:avLst/>
          </a:prstGeom>
          <a:noFill/>
        </p:spPr>
        <p:txBody>
          <a:bodyPr wrap="square" lIns="0" rIns="0" tIns="0" bIns="0" anchor="ctr">
            <a:spAutoFit/>
          </a:bodyPr>
          <a:lstStyle/>
          <a:p>
            <a:pPr algn="l">
              <a:lnSpc>
                <a:spcPct val="115000"/>
              </a:lnSpc>
              <a:spcBef>
                <a:spcPts val="0"/>
              </a:spcBef>
              <a:spcAft>
                <a:spcPts val="250"/>
              </a:spcAft>
            </a:pPr>
            <a:r>
              <a:rPr sz="900" b="1" i="0" spc="70">
                <a:solidFill>
                  <a:srgbClr val="E3C485"/>
                </a:solidFill>
                <a:latin typeface="Segoe UI"/>
              </a:rPr>
              <a:t>LE POINT D'INTERSECTION — ET LA LACUNE</a:t>
            </a:r>
          </a:p>
          <a:p>
            <a:pPr algn="l">
              <a:lnSpc>
                <a:spcPct val="126000"/>
              </a:lnSpc>
              <a:spcBef>
                <a:spcPts val="0"/>
              </a:spcBef>
              <a:spcAft>
                <a:spcPts val="0"/>
              </a:spcAft>
            </a:pPr>
            <a:r>
              <a:rPr sz="1060" b="0" i="0">
                <a:solidFill>
                  <a:srgbClr val="D5D0C5"/>
                </a:solidFill>
                <a:latin typeface="Segoe UI"/>
              </a:rPr>
              <a:t>Les travaux sur la complémentarité IA–IE (§ 2.7) restent prescriptifs et rarement situés. Aucun cadre ne décrit l'articulation comme un processus de gouvernance observable dans un établissement, a fortiori en contexte gabonais. C'est cette lacune que la recherche investit.</a:t>
            </a:r>
          </a:p>
        </p:txBody>
      </p:sp>
      <p:sp>
        <p:nvSpPr>
          <p:cNvPr id="17" name="Rectangle 16"/>
          <p:cNvSpPr/>
          <p:nvPr/>
        </p:nvSpPr>
        <p:spPr>
          <a:xfrm>
            <a:off x="658368" y="6199632"/>
            <a:ext cx="10874959" cy="7315"/>
          </a:xfrm>
          <a:prstGeom prst="rect">
            <a:avLst/>
          </a:prstGeom>
          <a:solidFill>
            <a:srgbClr val="2734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58368" y="6291072"/>
            <a:ext cx="10189159" cy="457200"/>
          </a:xfrm>
          <a:prstGeom prst="rect">
            <a:avLst/>
          </a:prstGeom>
          <a:noFill/>
        </p:spPr>
        <p:txBody>
          <a:bodyPr wrap="square" lIns="0" rIns="0" tIns="0" bIns="0" anchor="t">
            <a:spAutoFit/>
          </a:bodyPr>
          <a:lstStyle/>
          <a:p>
            <a:pPr algn="l">
              <a:lnSpc>
                <a:spcPct val="110000"/>
              </a:lnSpc>
              <a:spcBef>
                <a:spcPts val="0"/>
              </a:spcBef>
              <a:spcAft>
                <a:spcPts val="0"/>
              </a:spcAft>
            </a:pPr>
            <a:r>
              <a:rPr sz="740" b="1">
                <a:solidFill>
                  <a:srgbClr val="93A5B4"/>
                </a:solidFill>
                <a:latin typeface="Segoe UI"/>
              </a:rPr>
              <a:t>Sources : </a:t>
            </a:r>
            <a:r>
              <a:rPr sz="740" b="0">
                <a:solidFill>
                  <a:srgbClr val="708392"/>
                </a:solidFill>
                <a:latin typeface="Segoe UI"/>
              </a:rPr>
              <a:t>plan harmonisé, chapitre 2 (§ 2.1–2.10) ; figure 2.1 (convergence des courants) ; tableaux 2.1 à 2.5. Les références bibliographiques seront celles effectivement mobilisées dans le manuscrit.</a:t>
            </a:r>
          </a:p>
        </p:txBody>
      </p:sp>
      <p:sp>
        <p:nvSpPr>
          <p:cNvPr id="19" name="TextBox 18"/>
          <p:cNvSpPr txBox="1"/>
          <p:nvPr/>
        </p:nvSpPr>
        <p:spPr>
          <a:xfrm>
            <a:off x="10874959" y="6291072"/>
            <a:ext cx="658368" cy="274320"/>
          </a:xfrm>
          <a:prstGeom prst="rect">
            <a:avLst/>
          </a:prstGeom>
          <a:noFill/>
        </p:spPr>
        <p:txBody>
          <a:bodyPr wrap="square" lIns="0" rIns="0" tIns="0" bIns="0" anchor="t">
            <a:spAutoFit/>
          </a:bodyPr>
          <a:lstStyle/>
          <a:p>
            <a:pPr algn="r">
              <a:lnSpc>
                <a:spcPct val="118000"/>
              </a:lnSpc>
              <a:spcBef>
                <a:spcPts val="0"/>
              </a:spcBef>
              <a:spcAft>
                <a:spcPts val="0"/>
              </a:spcAft>
            </a:pPr>
            <a:r>
              <a:rPr sz="800" b="0" i="0">
                <a:solidFill>
                  <a:srgbClr val="93A5B4"/>
                </a:solidFill>
                <a:latin typeface="Consolas"/>
              </a:rPr>
              <a:t>8 / 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1C26"/>
              </a:gs>
              <a:gs pos="100000">
                <a:srgbClr val="0B101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828739"/>
            <a:ext cx="12191695" cy="29260"/>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75488"/>
            <a:ext cx="10874959"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spc="160">
                <a:solidFill>
                  <a:srgbClr val="E3C485"/>
                </a:solidFill>
                <a:latin typeface="Segoe UI"/>
              </a:rPr>
              <a:t>CHAPITRE 3 · § 3.4</a:t>
            </a:r>
          </a:p>
        </p:txBody>
      </p:sp>
      <p:sp>
        <p:nvSpPr>
          <p:cNvPr id="5" name="TextBox 4"/>
          <p:cNvSpPr txBox="1"/>
          <p:nvPr/>
        </p:nvSpPr>
        <p:spPr>
          <a:xfrm>
            <a:off x="658368" y="713232"/>
            <a:ext cx="10692079" cy="914400"/>
          </a:xfrm>
          <a:prstGeom prst="rect">
            <a:avLst/>
          </a:prstGeom>
          <a:noFill/>
        </p:spPr>
        <p:txBody>
          <a:bodyPr wrap="square" lIns="0" rIns="0" tIns="0" bIns="0" anchor="t">
            <a:spAutoFit/>
          </a:bodyPr>
          <a:lstStyle/>
          <a:p>
            <a:pPr>
              <a:lnSpc>
                <a:spcPct val="105000"/>
              </a:lnSpc>
            </a:pPr>
            <a:r>
              <a:rPr sz="2450" b="0">
                <a:solidFill>
                  <a:srgbClr val="F3EFE7"/>
                </a:solidFill>
                <a:latin typeface="Georgia"/>
              </a:rPr>
              <a:t>Le modèle exploratoire : une configuration de processus, pas un outil</a:t>
            </a:r>
          </a:p>
        </p:txBody>
      </p:sp>
      <p:sp>
        <p:nvSpPr>
          <p:cNvPr id="6" name="Rounded Rectangle 5"/>
          <p:cNvSpPr/>
          <p:nvPr/>
        </p:nvSpPr>
        <p:spPr>
          <a:xfrm>
            <a:off x="3813048" y="1372235"/>
            <a:ext cx="4480560" cy="384048"/>
          </a:xfrm>
          <a:prstGeom prst="roundRect">
            <a:avLst>
              <a:gd name="adj" fmla="val 12000"/>
            </a:avLst>
          </a:prstGeom>
          <a:solidFill>
            <a:srgbClr val="1E2A36"/>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3904487" y="1463675"/>
            <a:ext cx="4297680" cy="219456"/>
          </a:xfrm>
          <a:prstGeom prst="rect">
            <a:avLst/>
          </a:prstGeom>
          <a:noFill/>
        </p:spPr>
        <p:txBody>
          <a:bodyPr wrap="square" lIns="0" rIns="0" tIns="0" bIns="0" anchor="t">
            <a:spAutoFit/>
          </a:bodyPr>
          <a:lstStyle/>
          <a:p>
            <a:pPr algn="ctr">
              <a:lnSpc>
                <a:spcPct val="118000"/>
              </a:lnSpc>
              <a:spcBef>
                <a:spcPts val="0"/>
              </a:spcBef>
              <a:spcAft>
                <a:spcPts val="0"/>
              </a:spcAft>
            </a:pPr>
            <a:r>
              <a:rPr sz="860" b="1" i="0" spc="110">
                <a:solidFill>
                  <a:srgbClr val="E3C485"/>
                </a:solidFill>
                <a:latin typeface="Segoe UI"/>
              </a:rPr>
              <a:t>SITUATION DE POLYCRISE — P1</a:t>
            </a:r>
          </a:p>
        </p:txBody>
      </p:sp>
      <p:cxnSp>
        <p:nvCxnSpPr>
          <p:cNvPr id="8" name="Connector 7"/>
          <p:cNvCxnSpPr/>
          <p:nvPr/>
        </p:nvCxnSpPr>
        <p:spPr>
          <a:xfrm>
            <a:off x="6053328" y="1774571"/>
            <a:ext cx="0" cy="237743"/>
          </a:xfrm>
          <a:prstGeom prst="line">
            <a:avLst/>
          </a:prstGeom>
          <a:ln w="13970">
            <a:solidFill>
              <a:srgbClr val="C8A1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58368" y="2030602"/>
            <a:ext cx="2743200" cy="1737360"/>
          </a:xfrm>
          <a:prstGeom prst="roundRect">
            <a:avLst>
              <a:gd name="adj" fmla="val 6000"/>
            </a:avLst>
          </a:prstGeom>
          <a:solidFill>
            <a:srgbClr val="16212C"/>
          </a:solidFill>
          <a:ln w="11430">
            <a:solidFill>
              <a:srgbClr val="C8A15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95528" y="2158619"/>
            <a:ext cx="2468880" cy="1508760"/>
          </a:xfrm>
          <a:prstGeom prst="rect">
            <a:avLst/>
          </a:prstGeom>
          <a:noFill/>
        </p:spPr>
        <p:txBody>
          <a:bodyPr wrap="square" lIns="0" rIns="0" tIns="0" bIns="0" anchor="t">
            <a:spAutoFit/>
          </a:bodyPr>
          <a:lstStyle/>
          <a:p>
            <a:pPr algn="l">
              <a:lnSpc>
                <a:spcPct val="118000"/>
              </a:lnSpc>
              <a:spcBef>
                <a:spcPts val="0"/>
              </a:spcBef>
              <a:spcAft>
                <a:spcPts val="500"/>
              </a:spcAft>
            </a:pPr>
            <a:r>
              <a:rPr sz="760" b="1" i="0" spc="60">
                <a:solidFill>
                  <a:srgbClr val="E3C485"/>
                </a:solidFill>
                <a:latin typeface="Segoe UI"/>
              </a:rPr>
              <a:t>INTELLIGENCE ARTIFICIELLE</a:t>
            </a:r>
          </a:p>
          <a:p>
            <a:pPr algn="l">
              <a:lnSpc>
                <a:spcPct val="118000"/>
              </a:lnSpc>
              <a:spcBef>
                <a:spcPts val="0"/>
              </a:spcBef>
              <a:spcAft>
                <a:spcPts val="300"/>
              </a:spcAft>
            </a:pPr>
            <a:r>
              <a:rPr sz="1019" b="1" i="0">
                <a:solidFill>
                  <a:srgbClr val="F3EFE7"/>
                </a:solidFill>
                <a:latin typeface="Segoe UI"/>
              </a:rPr>
              <a:t>Usages effectifs</a:t>
            </a:r>
          </a:p>
          <a:p>
            <a:pPr algn="l">
              <a:lnSpc>
                <a:spcPct val="128000"/>
              </a:lnSpc>
              <a:spcBef>
                <a:spcPts val="0"/>
              </a:spcBef>
              <a:spcAft>
                <a:spcPts val="0"/>
              </a:spcAft>
            </a:pPr>
            <a:r>
              <a:rPr sz="919" b="0" i="0">
                <a:solidFill>
                  <a:srgbClr val="93A5B4"/>
                </a:solidFill>
                <a:latin typeface="Segoe UI"/>
              </a:rPr>
              <a:t>outils, données, analyses, alertes entrant réellement dans la décision — P2</a:t>
            </a:r>
          </a:p>
        </p:txBody>
      </p:sp>
      <p:sp>
        <p:nvSpPr>
          <p:cNvPr id="11" name="Rounded Rectangle 10"/>
          <p:cNvSpPr/>
          <p:nvPr/>
        </p:nvSpPr>
        <p:spPr>
          <a:xfrm>
            <a:off x="3904487" y="1920874"/>
            <a:ext cx="4382719" cy="1956815"/>
          </a:xfrm>
          <a:prstGeom prst="roundRect">
            <a:avLst>
              <a:gd name="adj" fmla="val 5000"/>
            </a:avLst>
          </a:prstGeom>
          <a:solidFill>
            <a:srgbClr val="2A2418"/>
          </a:solidFill>
          <a:ln w="17780">
            <a:solidFill>
              <a:srgbClr val="C8A15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069079" y="2048891"/>
            <a:ext cx="4053535" cy="1737360"/>
          </a:xfrm>
          <a:prstGeom prst="rect">
            <a:avLst/>
          </a:prstGeom>
          <a:noFill/>
        </p:spPr>
        <p:txBody>
          <a:bodyPr wrap="square" lIns="0" rIns="0" tIns="0" bIns="0" anchor="t">
            <a:spAutoFit/>
          </a:bodyPr>
          <a:lstStyle/>
          <a:p>
            <a:pPr algn="ctr">
              <a:lnSpc>
                <a:spcPct val="118000"/>
              </a:lnSpc>
              <a:spcBef>
                <a:spcPts val="0"/>
              </a:spcBef>
              <a:spcAft>
                <a:spcPts val="600"/>
              </a:spcAft>
            </a:pPr>
            <a:r>
              <a:rPr sz="800" b="1" i="0" spc="100">
                <a:solidFill>
                  <a:srgbClr val="E3C485"/>
                </a:solidFill>
                <a:latin typeface="Segoe UI"/>
              </a:rPr>
              <a:t>GOUVERNANCE AUGMENTÉE — P4</a:t>
            </a:r>
          </a:p>
          <a:p>
            <a:pPr algn="ctr">
              <a:lnSpc>
                <a:spcPct val="118000"/>
              </a:lnSpc>
              <a:spcBef>
                <a:spcPts val="0"/>
              </a:spcBef>
              <a:spcAft>
                <a:spcPts val="300"/>
              </a:spcAft>
            </a:pPr>
            <a:r>
              <a:rPr sz="1040" b="1" i="0">
                <a:solidFill>
                  <a:srgbClr val="F3EFE7"/>
                </a:solidFill>
                <a:latin typeface="Segoe UI"/>
              </a:rPr>
              <a:t>Configuration des processus</a:t>
            </a:r>
          </a:p>
          <a:p>
            <a:pPr algn="ctr">
              <a:lnSpc>
                <a:spcPct val="118000"/>
              </a:lnSpc>
              <a:spcBef>
                <a:spcPts val="0"/>
              </a:spcBef>
              <a:spcAft>
                <a:spcPts val="600"/>
              </a:spcAft>
            </a:pPr>
            <a:r>
              <a:rPr sz="940" b="0" i="0">
                <a:solidFill>
                  <a:srgbClr val="93A5B4"/>
                </a:solidFill>
                <a:latin typeface="Segoe UI"/>
              </a:rPr>
              <a:t>préparation → délibération → décision → suivi</a:t>
            </a:r>
          </a:p>
          <a:p>
            <a:pPr algn="ctr">
              <a:lnSpc>
                <a:spcPct val="125000"/>
              </a:lnSpc>
              <a:spcBef>
                <a:spcPts val="0"/>
              </a:spcBef>
              <a:spcAft>
                <a:spcPts val="0"/>
              </a:spcAft>
            </a:pPr>
            <a:r>
              <a:rPr sz="860" b="0" i="0">
                <a:solidFill>
                  <a:srgbClr val="E3C485"/>
                </a:solidFill>
                <a:latin typeface="Segoe UI"/>
              </a:rPr>
              <a:t>articulation délibérée, décision et responsabilité humaines</a:t>
            </a:r>
          </a:p>
        </p:txBody>
      </p:sp>
      <p:sp>
        <p:nvSpPr>
          <p:cNvPr id="13" name="Rounded Rectangle 12"/>
          <p:cNvSpPr/>
          <p:nvPr/>
        </p:nvSpPr>
        <p:spPr>
          <a:xfrm>
            <a:off x="8790127" y="2030602"/>
            <a:ext cx="2743200" cy="1737360"/>
          </a:xfrm>
          <a:prstGeom prst="roundRect">
            <a:avLst>
              <a:gd name="adj" fmla="val 6000"/>
            </a:avLst>
          </a:prstGeom>
          <a:solidFill>
            <a:srgbClr val="16212C"/>
          </a:solidFill>
          <a:ln w="11430">
            <a:solidFill>
              <a:srgbClr val="5FB3A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927287" y="2158619"/>
            <a:ext cx="2468880" cy="1508760"/>
          </a:xfrm>
          <a:prstGeom prst="rect">
            <a:avLst/>
          </a:prstGeom>
          <a:noFill/>
        </p:spPr>
        <p:txBody>
          <a:bodyPr wrap="square" lIns="0" rIns="0" tIns="0" bIns="0" anchor="t">
            <a:spAutoFit/>
          </a:bodyPr>
          <a:lstStyle/>
          <a:p>
            <a:pPr algn="l">
              <a:lnSpc>
                <a:spcPct val="118000"/>
              </a:lnSpc>
              <a:spcBef>
                <a:spcPts val="0"/>
              </a:spcBef>
              <a:spcAft>
                <a:spcPts val="500"/>
              </a:spcAft>
            </a:pPr>
            <a:r>
              <a:rPr sz="760" b="1" i="0" spc="60">
                <a:solidFill>
                  <a:srgbClr val="5FB3A1"/>
                </a:solidFill>
                <a:latin typeface="Segoe UI"/>
              </a:rPr>
              <a:t>INTELLIGENCE ÉMOTIONNELLE</a:t>
            </a:r>
          </a:p>
          <a:p>
            <a:pPr algn="l">
              <a:lnSpc>
                <a:spcPct val="118000"/>
              </a:lnSpc>
              <a:spcBef>
                <a:spcPts val="0"/>
              </a:spcBef>
              <a:spcAft>
                <a:spcPts val="300"/>
              </a:spcAft>
            </a:pPr>
            <a:r>
              <a:rPr sz="1019" b="1" i="0">
                <a:solidFill>
                  <a:srgbClr val="F3EFE7"/>
                </a:solidFill>
                <a:latin typeface="Segoe UI"/>
              </a:rPr>
              <a:t>Jugement et relations</a:t>
            </a:r>
          </a:p>
          <a:p>
            <a:pPr algn="l">
              <a:lnSpc>
                <a:spcPct val="128000"/>
              </a:lnSpc>
              <a:spcBef>
                <a:spcPts val="0"/>
              </a:spcBef>
              <a:spcAft>
                <a:spcPts val="0"/>
              </a:spcAft>
            </a:pPr>
            <a:r>
              <a:rPr sz="919" b="0" i="0">
                <a:solidFill>
                  <a:srgbClr val="93A5B4"/>
                </a:solidFill>
                <a:latin typeface="Segoe UI"/>
              </a:rPr>
              <a:t>écoute, régulation des tensions, annonces, confiance — P3</a:t>
            </a:r>
          </a:p>
        </p:txBody>
      </p:sp>
      <p:cxnSp>
        <p:nvCxnSpPr>
          <p:cNvPr id="15" name="Connector 14"/>
          <p:cNvCxnSpPr/>
          <p:nvPr/>
        </p:nvCxnSpPr>
        <p:spPr>
          <a:xfrm>
            <a:off x="3438144" y="2899282"/>
            <a:ext cx="411480" cy="0"/>
          </a:xfrm>
          <a:prstGeom prst="line">
            <a:avLst/>
          </a:prstGeom>
          <a:ln w="13970">
            <a:solidFill>
              <a:srgbClr val="C8A15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8314639" y="2899282"/>
            <a:ext cx="438912" cy="0"/>
          </a:xfrm>
          <a:prstGeom prst="line">
            <a:avLst/>
          </a:prstGeom>
          <a:ln w="13970">
            <a:solidFill>
              <a:srgbClr val="C8A15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3493007" y="3786250"/>
            <a:ext cx="914400" cy="329184"/>
          </a:xfrm>
          <a:prstGeom prst="line">
            <a:avLst/>
          </a:prstGeom>
          <a:ln w="13970">
            <a:solidFill>
              <a:srgbClr val="C8A15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784287" y="3786250"/>
            <a:ext cx="914400" cy="329184"/>
          </a:xfrm>
          <a:prstGeom prst="line">
            <a:avLst/>
          </a:prstGeom>
          <a:ln w="13970">
            <a:solidFill>
              <a:srgbClr val="C8A1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49807" y="4152010"/>
            <a:ext cx="3017520" cy="914400"/>
          </a:xfrm>
          <a:prstGeom prst="roundRect">
            <a:avLst>
              <a:gd name="adj" fmla="val 6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59535" y="4197731"/>
            <a:ext cx="2798063" cy="822960"/>
          </a:xfrm>
          <a:prstGeom prst="rect">
            <a:avLst/>
          </a:prstGeom>
          <a:noFill/>
        </p:spPr>
        <p:txBody>
          <a:bodyPr wrap="square" lIns="0" rIns="0" tIns="0" bIns="0" anchor="ctr">
            <a:spAutoFit/>
          </a:bodyPr>
          <a:lstStyle/>
          <a:p>
            <a:pPr algn="ctr">
              <a:lnSpc>
                <a:spcPct val="118000"/>
              </a:lnSpc>
              <a:spcBef>
                <a:spcPts val="0"/>
              </a:spcBef>
              <a:spcAft>
                <a:spcPts val="400"/>
              </a:spcAft>
            </a:pPr>
            <a:r>
              <a:rPr sz="780" b="1" i="0" spc="60">
                <a:solidFill>
                  <a:srgbClr val="E3C485"/>
                </a:solidFill>
                <a:latin typeface="Segoe UI"/>
              </a:rPr>
              <a:t>PERFORMANCE GLOBALE — P5</a:t>
            </a:r>
          </a:p>
          <a:p>
            <a:pPr algn="ctr">
              <a:lnSpc>
                <a:spcPct val="130000"/>
              </a:lnSpc>
              <a:spcBef>
                <a:spcPts val="0"/>
              </a:spcBef>
              <a:spcAft>
                <a:spcPts val="0"/>
              </a:spcAft>
            </a:pPr>
            <a:r>
              <a:rPr sz="860" b="0" i="0">
                <a:solidFill>
                  <a:srgbClr val="93A5B4"/>
                </a:solidFill>
                <a:latin typeface="Segoe UI"/>
              </a:rPr>
              <a:t>économique · académique · humaine</a:t>
            </a:r>
          </a:p>
          <a:p>
            <a:pPr algn="ctr">
              <a:lnSpc>
                <a:spcPct val="130000"/>
              </a:lnSpc>
              <a:spcBef>
                <a:spcPts val="0"/>
              </a:spcBef>
              <a:spcAft>
                <a:spcPts val="0"/>
              </a:spcAft>
            </a:pPr>
            <a:r>
              <a:rPr sz="860" b="0" i="0">
                <a:solidFill>
                  <a:srgbClr val="93A5B4"/>
                </a:solidFill>
                <a:latin typeface="Segoe UI"/>
              </a:rPr>
              <a:t>sociale · environnementale</a:t>
            </a:r>
          </a:p>
        </p:txBody>
      </p:sp>
      <p:sp>
        <p:nvSpPr>
          <p:cNvPr id="21" name="Rounded Rectangle 20"/>
          <p:cNvSpPr/>
          <p:nvPr/>
        </p:nvSpPr>
        <p:spPr>
          <a:xfrm>
            <a:off x="8424367" y="4152010"/>
            <a:ext cx="3017520" cy="914400"/>
          </a:xfrm>
          <a:prstGeom prst="roundRect">
            <a:avLst>
              <a:gd name="adj" fmla="val 6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534095" y="4197731"/>
            <a:ext cx="2798063" cy="822960"/>
          </a:xfrm>
          <a:prstGeom prst="rect">
            <a:avLst/>
          </a:prstGeom>
          <a:noFill/>
        </p:spPr>
        <p:txBody>
          <a:bodyPr wrap="square" lIns="0" rIns="0" tIns="0" bIns="0" anchor="ctr">
            <a:spAutoFit/>
          </a:bodyPr>
          <a:lstStyle/>
          <a:p>
            <a:pPr algn="ctr">
              <a:lnSpc>
                <a:spcPct val="118000"/>
              </a:lnSpc>
              <a:spcBef>
                <a:spcPts val="0"/>
              </a:spcBef>
              <a:spcAft>
                <a:spcPts val="400"/>
              </a:spcAft>
            </a:pPr>
            <a:r>
              <a:rPr sz="780" b="1" i="0" spc="60">
                <a:solidFill>
                  <a:srgbClr val="E3C485"/>
                </a:solidFill>
                <a:latin typeface="Segoe UI"/>
              </a:rPr>
              <a:t>RSE ET DURABILITÉ — P6</a:t>
            </a:r>
          </a:p>
          <a:p>
            <a:pPr algn="ctr">
              <a:lnSpc>
                <a:spcPct val="130000"/>
              </a:lnSpc>
              <a:spcBef>
                <a:spcPts val="0"/>
              </a:spcBef>
              <a:spcAft>
                <a:spcPts val="0"/>
              </a:spcAft>
            </a:pPr>
            <a:r>
              <a:rPr sz="860" b="0" i="0">
                <a:solidFill>
                  <a:srgbClr val="93A5B4"/>
                </a:solidFill>
                <a:latin typeface="Segoe UI"/>
              </a:rPr>
              <a:t>engagements et pratiques</a:t>
            </a:r>
          </a:p>
          <a:p>
            <a:pPr algn="ctr">
              <a:lnSpc>
                <a:spcPct val="130000"/>
              </a:lnSpc>
              <a:spcBef>
                <a:spcPts val="0"/>
              </a:spcBef>
              <a:spcAft>
                <a:spcPts val="0"/>
              </a:spcAft>
            </a:pPr>
            <a:r>
              <a:rPr sz="860" b="0" i="0">
                <a:solidFill>
                  <a:srgbClr val="93A5B4"/>
                </a:solidFill>
                <a:latin typeface="Segoe UI"/>
              </a:rPr>
              <a:t>finalités de long terme</a:t>
            </a:r>
          </a:p>
        </p:txBody>
      </p:sp>
      <p:sp>
        <p:nvSpPr>
          <p:cNvPr id="23" name="TextBox 22"/>
          <p:cNvSpPr txBox="1"/>
          <p:nvPr/>
        </p:nvSpPr>
        <p:spPr>
          <a:xfrm>
            <a:off x="658368" y="5121275"/>
            <a:ext cx="10874959" cy="457200"/>
          </a:xfrm>
          <a:prstGeom prst="rect">
            <a:avLst/>
          </a:prstGeom>
          <a:noFill/>
        </p:spPr>
        <p:txBody>
          <a:bodyPr wrap="square" lIns="0" rIns="0" tIns="0" bIns="0" anchor="t">
            <a:spAutoFit/>
          </a:bodyPr>
          <a:lstStyle/>
          <a:p>
            <a:pPr algn="l">
              <a:lnSpc>
                <a:spcPct val="118000"/>
              </a:lnSpc>
              <a:spcBef>
                <a:spcPts val="0"/>
              </a:spcBef>
              <a:spcAft>
                <a:spcPts val="0"/>
              </a:spcAft>
            </a:pPr>
            <a:r>
              <a:rPr sz="860" b="0" i="0">
                <a:solidFill>
                  <a:srgbClr val="708392"/>
                </a:solidFill>
                <a:latin typeface="Segoe UI"/>
              </a:rPr>
              <a:t>Conditions organisationnelles et institutionnelles — effet modérateur (P7) · garde-fous : transparence, responsabilité, prévention des effets défavorables.</a:t>
            </a:r>
          </a:p>
        </p:txBody>
      </p:sp>
      <p:sp>
        <p:nvSpPr>
          <p:cNvPr id="24" name="TextBox 23"/>
          <p:cNvSpPr txBox="1"/>
          <p:nvPr/>
        </p:nvSpPr>
        <p:spPr>
          <a:xfrm>
            <a:off x="658368" y="5340731"/>
            <a:ext cx="10874959" cy="365760"/>
          </a:xfrm>
          <a:prstGeom prst="rect">
            <a:avLst/>
          </a:prstGeom>
          <a:noFill/>
        </p:spPr>
        <p:txBody>
          <a:bodyPr wrap="square" lIns="0" rIns="0" tIns="0" bIns="0" anchor="t">
            <a:spAutoFit/>
          </a:bodyPr>
          <a:lstStyle/>
          <a:p>
            <a:pPr algn="l">
              <a:lnSpc>
                <a:spcPct val="118000"/>
              </a:lnSpc>
              <a:spcBef>
                <a:spcPts val="0"/>
              </a:spcBef>
              <a:spcAft>
                <a:spcPts val="0"/>
              </a:spcAft>
            </a:pPr>
            <a:r>
              <a:rPr sz="840" b="0" i="0">
                <a:solidFill>
                  <a:srgbClr val="708392"/>
                </a:solidFill>
                <a:latin typeface="Segoe UI"/>
              </a:rPr>
              <a:t>Modèle exploratoire : construit avant l'enquête, il ne représente aucune relation comme démontrée. Sa révision relève du chapitre 6 ; sa confrontation empirique, du chapitre 5.</a:t>
            </a:r>
          </a:p>
        </p:txBody>
      </p:sp>
      <p:sp>
        <p:nvSpPr>
          <p:cNvPr id="25" name="Rectangle 24"/>
          <p:cNvSpPr/>
          <p:nvPr/>
        </p:nvSpPr>
        <p:spPr>
          <a:xfrm>
            <a:off x="658368" y="6199632"/>
            <a:ext cx="10874959" cy="7315"/>
          </a:xfrm>
          <a:prstGeom prst="rect">
            <a:avLst/>
          </a:prstGeom>
          <a:solidFill>
            <a:srgbClr val="2734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58368" y="6291072"/>
            <a:ext cx="10189159" cy="457200"/>
          </a:xfrm>
          <a:prstGeom prst="rect">
            <a:avLst/>
          </a:prstGeom>
          <a:noFill/>
        </p:spPr>
        <p:txBody>
          <a:bodyPr wrap="square" lIns="0" rIns="0" tIns="0" bIns="0" anchor="t">
            <a:spAutoFit/>
          </a:bodyPr>
          <a:lstStyle/>
          <a:p>
            <a:pPr algn="l">
              <a:lnSpc>
                <a:spcPct val="110000"/>
              </a:lnSpc>
              <a:spcBef>
                <a:spcPts val="0"/>
              </a:spcBef>
              <a:spcAft>
                <a:spcPts val="0"/>
              </a:spcAft>
            </a:pPr>
            <a:r>
              <a:rPr sz="740" b="1">
                <a:solidFill>
                  <a:srgbClr val="93A5B4"/>
                </a:solidFill>
                <a:latin typeface="Segoe UI"/>
              </a:rPr>
              <a:t>Sources : </a:t>
            </a:r>
            <a:r>
              <a:rPr sz="740" b="0">
                <a:solidFill>
                  <a:srgbClr val="708392"/>
                </a:solidFill>
                <a:latin typeface="Segoe UI"/>
              </a:rPr>
              <a:t>plan harmonisé § 3.4–3.5 et figure 3.1 (modèle conceptuel exploratoire). Reprise graphique du dossier de travail, non une validation empirique.</a:t>
            </a:r>
          </a:p>
        </p:txBody>
      </p:sp>
      <p:sp>
        <p:nvSpPr>
          <p:cNvPr id="27" name="TextBox 26"/>
          <p:cNvSpPr txBox="1"/>
          <p:nvPr/>
        </p:nvSpPr>
        <p:spPr>
          <a:xfrm>
            <a:off x="10874959" y="6291072"/>
            <a:ext cx="658368" cy="274320"/>
          </a:xfrm>
          <a:prstGeom prst="rect">
            <a:avLst/>
          </a:prstGeom>
          <a:noFill/>
        </p:spPr>
        <p:txBody>
          <a:bodyPr wrap="square" lIns="0" rIns="0" tIns="0" bIns="0" anchor="t">
            <a:spAutoFit/>
          </a:bodyPr>
          <a:lstStyle/>
          <a:p>
            <a:pPr algn="r">
              <a:lnSpc>
                <a:spcPct val="118000"/>
              </a:lnSpc>
              <a:spcBef>
                <a:spcPts val="0"/>
              </a:spcBef>
              <a:spcAft>
                <a:spcPts val="0"/>
              </a:spcAft>
            </a:pPr>
            <a:r>
              <a:rPr sz="800" b="0" i="0">
                <a:solidFill>
                  <a:srgbClr val="93A5B4"/>
                </a:solidFill>
                <a:latin typeface="Consolas"/>
              </a:rPr>
              <a:t>9 / 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1C26"/>
              </a:gs>
              <a:gs pos="100000">
                <a:srgbClr val="0B101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828739"/>
            <a:ext cx="12191695" cy="29260"/>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75488"/>
            <a:ext cx="10874959"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spc="160">
                <a:solidFill>
                  <a:srgbClr val="E3C485"/>
                </a:solidFill>
                <a:latin typeface="Segoe UI"/>
              </a:rPr>
              <a:t>CHAPITRE 3 · § 3.6</a:t>
            </a:r>
          </a:p>
        </p:txBody>
      </p:sp>
      <p:sp>
        <p:nvSpPr>
          <p:cNvPr id="5" name="TextBox 4"/>
          <p:cNvSpPr txBox="1"/>
          <p:nvPr/>
        </p:nvSpPr>
        <p:spPr>
          <a:xfrm>
            <a:off x="658368" y="713232"/>
            <a:ext cx="10692079" cy="914400"/>
          </a:xfrm>
          <a:prstGeom prst="rect">
            <a:avLst/>
          </a:prstGeom>
          <a:noFill/>
        </p:spPr>
        <p:txBody>
          <a:bodyPr wrap="square" lIns="0" rIns="0" tIns="0" bIns="0" anchor="t">
            <a:spAutoFit/>
          </a:bodyPr>
          <a:lstStyle/>
          <a:p>
            <a:pPr>
              <a:lnSpc>
                <a:spcPct val="105000"/>
              </a:lnSpc>
            </a:pPr>
            <a:r>
              <a:rPr sz="2250" b="0">
                <a:solidFill>
                  <a:srgbClr val="F3EFE7"/>
                </a:solidFill>
                <a:latin typeface="Georgia"/>
              </a:rPr>
              <a:t>Sept propositions, formulées pour être confrontées — et possiblement contredites</a:t>
            </a:r>
          </a:p>
        </p:txBody>
      </p:sp>
      <p:graphicFrame>
        <p:nvGraphicFramePr>
          <p:cNvPr id="6" name="Table 5"/>
          <p:cNvGraphicFramePr>
            <a:graphicFrameLocks noGrp="1"/>
          </p:cNvGraphicFramePr>
          <p:nvPr/>
        </p:nvGraphicFramePr>
        <p:xfrm>
          <a:off x="658368" y="1629918"/>
          <a:ext cx="10874958" cy="3803904"/>
        </p:xfrm>
        <a:graphic>
          <a:graphicData uri="http://schemas.openxmlformats.org/drawingml/2006/table">
            <a:tbl>
              <a:tblPr firstRow="1">
                <a:tableStyleId>{5C22544A-7EE6-4342-B048-85BDC9FD1C3A}</a:tableStyleId>
              </a:tblPr>
              <a:tblGrid>
                <a:gridCol w="801312"/>
                <a:gridCol w="5952609"/>
                <a:gridCol w="4121037"/>
              </a:tblGrid>
              <a:tr h="475488">
                <a:tc>
                  <a:txBody>
                    <a:bodyPr wrap="square"/>
                    <a:lstStyle/>
                    <a:p>
                      <a:pPr>
                        <a:lnSpc>
                          <a:spcPct val="112000"/>
                        </a:lnSpc>
                      </a:pPr>
                      <a:r>
                        <a:rPr sz="780" b="1" spc="110">
                          <a:solidFill>
                            <a:srgbClr val="93A5B4"/>
                          </a:solidFill>
                          <a:latin typeface="Segoe UI"/>
                        </a:rPr>
                        <a:t>CODE</a:t>
                      </a:r>
                    </a:p>
                  </a:txBody>
                  <a:tcPr marL="91440" marR="91440" marT="27432" marB="27432" anchor="ctr">
                    <a:solidFill>
                      <a:srgbClr val="1E2A36"/>
                    </a:solidFill>
                  </a:tcPr>
                </a:tc>
                <a:tc>
                  <a:txBody>
                    <a:bodyPr wrap="square"/>
                    <a:lstStyle/>
                    <a:p>
                      <a:pPr>
                        <a:lnSpc>
                          <a:spcPct val="112000"/>
                        </a:lnSpc>
                      </a:pPr>
                      <a:r>
                        <a:rPr sz="780" b="1" spc="110">
                          <a:solidFill>
                            <a:srgbClr val="93A5B4"/>
                          </a:solidFill>
                          <a:latin typeface="Segoe UI"/>
                        </a:rPr>
                        <a:t>PROPOSITION</a:t>
                      </a:r>
                    </a:p>
                  </a:txBody>
                  <a:tcPr marL="91440" marR="91440" marT="27432" marB="27432" anchor="ctr">
                    <a:solidFill>
                      <a:srgbClr val="1E2A36"/>
                    </a:solidFill>
                  </a:tcPr>
                </a:tc>
                <a:tc>
                  <a:txBody>
                    <a:bodyPr wrap="square"/>
                    <a:lstStyle/>
                    <a:p>
                      <a:pPr>
                        <a:lnSpc>
                          <a:spcPct val="112000"/>
                        </a:lnSpc>
                      </a:pPr>
                      <a:r>
                        <a:rPr sz="780" b="1" spc="110">
                          <a:solidFill>
                            <a:srgbClr val="93A5B4"/>
                          </a:solidFill>
                          <a:latin typeface="Segoe UI"/>
                        </a:rPr>
                        <a:t>MÉCANISME ATTENDU</a:t>
                      </a:r>
                    </a:p>
                  </a:txBody>
                  <a:tcPr marL="91440" marR="91440" marT="27432" marB="27432" anchor="ctr">
                    <a:solidFill>
                      <a:srgbClr val="1E2A36"/>
                    </a:solidFill>
                  </a:tcPr>
                </a:tc>
              </a:tr>
              <a:tr h="475488">
                <a:tc>
                  <a:txBody>
                    <a:bodyPr wrap="square"/>
                    <a:lstStyle/>
                    <a:p>
                      <a:pPr>
                        <a:lnSpc>
                          <a:spcPct val="112000"/>
                        </a:lnSpc>
                      </a:pPr>
                      <a:r>
                        <a:rPr sz="1000" b="1">
                          <a:solidFill>
                            <a:srgbClr val="E3C485"/>
                          </a:solidFill>
                          <a:latin typeface="Consolas"/>
                        </a:rPr>
                        <a:t>P1</a:t>
                      </a:r>
                    </a:p>
                  </a:txBody>
                  <a:tcPr marL="91440" marR="91440" marT="27432" marB="27432" anchor="ctr">
                    <a:solidFill>
                      <a:srgbClr val="121C26"/>
                    </a:solidFill>
                  </a:tcPr>
                </a:tc>
                <a:tc>
                  <a:txBody>
                    <a:bodyPr wrap="square"/>
                    <a:lstStyle/>
                    <a:p>
                      <a:pPr>
                        <a:lnSpc>
                          <a:spcPct val="112000"/>
                        </a:lnSpc>
                      </a:pPr>
                      <a:r>
                        <a:rPr sz="1000">
                          <a:solidFill>
                            <a:srgbClr val="D5D0C5"/>
                          </a:solidFill>
                          <a:latin typeface="Segoe UI"/>
                        </a:rPr>
                        <a:t>Polycrise et transformation des pratiques de gouvernance</a:t>
                      </a:r>
                    </a:p>
                  </a:txBody>
                  <a:tcPr marL="91440" marR="91440" marT="27432" marB="27432" anchor="ctr">
                    <a:solidFill>
                      <a:srgbClr val="121C26"/>
                    </a:solidFill>
                  </a:tcPr>
                </a:tc>
                <a:tc>
                  <a:txBody>
                    <a:bodyPr wrap="square"/>
                    <a:lstStyle/>
                    <a:p>
                      <a:pPr>
                        <a:lnSpc>
                          <a:spcPct val="112000"/>
                        </a:lnSpc>
                      </a:pPr>
                      <a:r>
                        <a:rPr sz="1000">
                          <a:solidFill>
                            <a:srgbClr val="D5D0C5"/>
                          </a:solidFill>
                          <a:latin typeface="Segoe UI"/>
                        </a:rPr>
                        <a:t>La polycrise reconfigure les arbitrages et les instances</a:t>
                      </a:r>
                    </a:p>
                  </a:txBody>
                  <a:tcPr marL="91440" marR="91440" marT="27432" marB="27432" anchor="ctr">
                    <a:solidFill>
                      <a:srgbClr val="121C26"/>
                    </a:solidFill>
                  </a:tcPr>
                </a:tc>
              </a:tr>
              <a:tr h="475488">
                <a:tc>
                  <a:txBody>
                    <a:bodyPr wrap="square"/>
                    <a:lstStyle/>
                    <a:p>
                      <a:pPr>
                        <a:lnSpc>
                          <a:spcPct val="112000"/>
                        </a:lnSpc>
                      </a:pPr>
                      <a:r>
                        <a:rPr sz="1000" b="1">
                          <a:solidFill>
                            <a:srgbClr val="E3C485"/>
                          </a:solidFill>
                          <a:latin typeface="Consolas"/>
                        </a:rPr>
                        <a:t>P2</a:t>
                      </a:r>
                    </a:p>
                  </a:txBody>
                  <a:tcPr marL="91440" marR="91440" marT="27432" marB="27432" anchor="ctr">
                    <a:solidFill>
                      <a:srgbClr val="16212C"/>
                    </a:solidFill>
                  </a:tcPr>
                </a:tc>
                <a:tc>
                  <a:txBody>
                    <a:bodyPr wrap="square"/>
                    <a:lstStyle/>
                    <a:p>
                      <a:pPr>
                        <a:lnSpc>
                          <a:spcPct val="112000"/>
                        </a:lnSpc>
                      </a:pPr>
                      <a:r>
                        <a:rPr sz="1000">
                          <a:solidFill>
                            <a:srgbClr val="D5D0C5"/>
                          </a:solidFill>
                          <a:latin typeface="Segoe UI"/>
                        </a:rPr>
                        <a:t>Contribution conditionnelle de l'intelligence artificielle</a:t>
                      </a:r>
                    </a:p>
                  </a:txBody>
                  <a:tcPr marL="91440" marR="91440" marT="27432" marB="27432" anchor="ctr">
                    <a:solidFill>
                      <a:srgbClr val="16212C"/>
                    </a:solidFill>
                  </a:tcPr>
                </a:tc>
                <a:tc>
                  <a:txBody>
                    <a:bodyPr wrap="square"/>
                    <a:lstStyle/>
                    <a:p>
                      <a:pPr>
                        <a:lnSpc>
                          <a:spcPct val="112000"/>
                        </a:lnSpc>
                      </a:pPr>
                      <a:r>
                        <a:rPr sz="1000">
                          <a:solidFill>
                            <a:srgbClr val="D5D0C5"/>
                          </a:solidFill>
                          <a:latin typeface="Segoe UI"/>
                        </a:rPr>
                        <a:t>Détection, anticipation, lecture des signaux</a:t>
                      </a:r>
                    </a:p>
                  </a:txBody>
                  <a:tcPr marL="91440" marR="91440" marT="27432" marB="27432" anchor="ctr">
                    <a:solidFill>
                      <a:srgbClr val="16212C"/>
                    </a:solidFill>
                  </a:tcPr>
                </a:tc>
              </a:tr>
              <a:tr h="475488">
                <a:tc>
                  <a:txBody>
                    <a:bodyPr wrap="square"/>
                    <a:lstStyle/>
                    <a:p>
                      <a:pPr>
                        <a:lnSpc>
                          <a:spcPct val="112000"/>
                        </a:lnSpc>
                      </a:pPr>
                      <a:r>
                        <a:rPr sz="1000" b="1">
                          <a:solidFill>
                            <a:srgbClr val="E3C485"/>
                          </a:solidFill>
                          <a:latin typeface="Consolas"/>
                        </a:rPr>
                        <a:t>P3</a:t>
                      </a:r>
                    </a:p>
                  </a:txBody>
                  <a:tcPr marL="91440" marR="91440" marT="27432" marB="27432" anchor="ctr">
                    <a:solidFill>
                      <a:srgbClr val="121C26"/>
                    </a:solidFill>
                  </a:tcPr>
                </a:tc>
                <a:tc>
                  <a:txBody>
                    <a:bodyPr wrap="square"/>
                    <a:lstStyle/>
                    <a:p>
                      <a:pPr>
                        <a:lnSpc>
                          <a:spcPct val="112000"/>
                        </a:lnSpc>
                      </a:pPr>
                      <a:r>
                        <a:rPr sz="1000">
                          <a:solidFill>
                            <a:srgbClr val="D5D0C5"/>
                          </a:solidFill>
                          <a:latin typeface="Segoe UI"/>
                        </a:rPr>
                        <a:t>Contribution de l'intelligence émotionnelle au jugement et à l'action collective</a:t>
                      </a:r>
                    </a:p>
                  </a:txBody>
                  <a:tcPr marL="91440" marR="91440" marT="27432" marB="27432" anchor="ctr">
                    <a:solidFill>
                      <a:srgbClr val="121C26"/>
                    </a:solidFill>
                  </a:tcPr>
                </a:tc>
                <a:tc>
                  <a:txBody>
                    <a:bodyPr wrap="square"/>
                    <a:lstStyle/>
                    <a:p>
                      <a:pPr>
                        <a:lnSpc>
                          <a:spcPct val="112000"/>
                        </a:lnSpc>
                      </a:pPr>
                      <a:r>
                        <a:rPr sz="1000">
                          <a:solidFill>
                            <a:srgbClr val="D5D0C5"/>
                          </a:solidFill>
                          <a:latin typeface="Segoe UI"/>
                        </a:rPr>
                        <a:t>Interprétation, coordination, régulation des tensions</a:t>
                      </a:r>
                    </a:p>
                  </a:txBody>
                  <a:tcPr marL="91440" marR="91440" marT="27432" marB="27432" anchor="ctr">
                    <a:solidFill>
                      <a:srgbClr val="121C26"/>
                    </a:solidFill>
                  </a:tcPr>
                </a:tc>
              </a:tr>
              <a:tr h="475488">
                <a:tc>
                  <a:txBody>
                    <a:bodyPr wrap="square"/>
                    <a:lstStyle/>
                    <a:p>
                      <a:pPr>
                        <a:lnSpc>
                          <a:spcPct val="112000"/>
                        </a:lnSpc>
                      </a:pPr>
                      <a:r>
                        <a:rPr sz="1000" b="1">
                          <a:solidFill>
                            <a:srgbClr val="E3C485"/>
                          </a:solidFill>
                          <a:latin typeface="Consolas"/>
                        </a:rPr>
                        <a:t>P4</a:t>
                      </a:r>
                    </a:p>
                  </a:txBody>
                  <a:tcPr marL="91440" marR="91440" marT="27432" marB="27432" anchor="ctr">
                    <a:solidFill>
                      <a:srgbClr val="16212C"/>
                    </a:solidFill>
                  </a:tcPr>
                </a:tc>
                <a:tc>
                  <a:txBody>
                    <a:bodyPr wrap="square"/>
                    <a:lstStyle/>
                    <a:p>
                      <a:pPr>
                        <a:lnSpc>
                          <a:spcPct val="112000"/>
                        </a:lnSpc>
                      </a:pPr>
                      <a:r>
                        <a:rPr sz="1000">
                          <a:solidFill>
                            <a:srgbClr val="D5D0C5"/>
                          </a:solidFill>
                          <a:latin typeface="Segoe UI"/>
                        </a:rPr>
                        <a:t>Orchestration IA–IE et émergence de la gouvernance augmentée</a:t>
                      </a:r>
                    </a:p>
                  </a:txBody>
                  <a:tcPr marL="91440" marR="91440" marT="27432" marB="27432" anchor="ctr">
                    <a:solidFill>
                      <a:srgbClr val="16212C"/>
                    </a:solidFill>
                  </a:tcPr>
                </a:tc>
                <a:tc>
                  <a:txBody>
                    <a:bodyPr wrap="square"/>
                    <a:lstStyle/>
                    <a:p>
                      <a:pPr>
                        <a:lnSpc>
                          <a:spcPct val="112000"/>
                        </a:lnSpc>
                      </a:pPr>
                      <a:r>
                        <a:rPr sz="1000">
                          <a:solidFill>
                            <a:srgbClr val="D5D0C5"/>
                          </a:solidFill>
                          <a:latin typeface="Segoe UI"/>
                        </a:rPr>
                        <a:t>Délibération, arbitrage éthique, suivi et apprentissage</a:t>
                      </a:r>
                    </a:p>
                  </a:txBody>
                  <a:tcPr marL="91440" marR="91440" marT="27432" marB="27432" anchor="ctr">
                    <a:solidFill>
                      <a:srgbClr val="16212C"/>
                    </a:solidFill>
                  </a:tcPr>
                </a:tc>
              </a:tr>
              <a:tr h="475488">
                <a:tc>
                  <a:txBody>
                    <a:bodyPr wrap="square"/>
                    <a:lstStyle/>
                    <a:p>
                      <a:pPr>
                        <a:lnSpc>
                          <a:spcPct val="112000"/>
                        </a:lnSpc>
                      </a:pPr>
                      <a:r>
                        <a:rPr sz="1000" b="1">
                          <a:solidFill>
                            <a:srgbClr val="E3C485"/>
                          </a:solidFill>
                          <a:latin typeface="Consolas"/>
                        </a:rPr>
                        <a:t>P5</a:t>
                      </a:r>
                    </a:p>
                  </a:txBody>
                  <a:tcPr marL="91440" marR="91440" marT="27432" marB="27432" anchor="ctr">
                    <a:solidFill>
                      <a:srgbClr val="121C26"/>
                    </a:solidFill>
                  </a:tcPr>
                </a:tc>
                <a:tc>
                  <a:txBody>
                    <a:bodyPr wrap="square"/>
                    <a:lstStyle/>
                    <a:p>
                      <a:pPr>
                        <a:lnSpc>
                          <a:spcPct val="112000"/>
                        </a:lnSpc>
                      </a:pPr>
                      <a:r>
                        <a:rPr sz="1000">
                          <a:solidFill>
                            <a:srgbClr val="D5D0C5"/>
                          </a:solidFill>
                          <a:latin typeface="Segoe UI"/>
                        </a:rPr>
                        <a:t>Gouvernance augmentée et performance globale</a:t>
                      </a:r>
                    </a:p>
                  </a:txBody>
                  <a:tcPr marL="91440" marR="91440" marT="27432" marB="27432" anchor="ctr">
                    <a:solidFill>
                      <a:srgbClr val="121C26"/>
                    </a:solidFill>
                  </a:tcPr>
                </a:tc>
                <a:tc>
                  <a:txBody>
                    <a:bodyPr wrap="square"/>
                    <a:lstStyle/>
                    <a:p>
                      <a:pPr>
                        <a:lnSpc>
                          <a:spcPct val="112000"/>
                        </a:lnSpc>
                      </a:pPr>
                      <a:r>
                        <a:rPr sz="1000">
                          <a:solidFill>
                            <a:srgbClr val="D5D0C5"/>
                          </a:solidFill>
                          <a:latin typeface="Segoe UI"/>
                        </a:rPr>
                        <a:t>Effets à documenter, y compris défavorables</a:t>
                      </a:r>
                    </a:p>
                  </a:txBody>
                  <a:tcPr marL="91440" marR="91440" marT="27432" marB="27432" anchor="ctr">
                    <a:solidFill>
                      <a:srgbClr val="121C26"/>
                    </a:solidFill>
                  </a:tcPr>
                </a:tc>
              </a:tr>
              <a:tr h="475488">
                <a:tc>
                  <a:txBody>
                    <a:bodyPr wrap="square"/>
                    <a:lstStyle/>
                    <a:p>
                      <a:pPr>
                        <a:lnSpc>
                          <a:spcPct val="112000"/>
                        </a:lnSpc>
                      </a:pPr>
                      <a:r>
                        <a:rPr sz="1000" b="1">
                          <a:solidFill>
                            <a:srgbClr val="E3C485"/>
                          </a:solidFill>
                          <a:latin typeface="Consolas"/>
                        </a:rPr>
                        <a:t>P6</a:t>
                      </a:r>
                    </a:p>
                  </a:txBody>
                  <a:tcPr marL="91440" marR="91440" marT="27432" marB="27432" anchor="ctr">
                    <a:solidFill>
                      <a:srgbClr val="16212C"/>
                    </a:solidFill>
                  </a:tcPr>
                </a:tc>
                <a:tc>
                  <a:txBody>
                    <a:bodyPr wrap="square"/>
                    <a:lstStyle/>
                    <a:p>
                      <a:pPr>
                        <a:lnSpc>
                          <a:spcPct val="112000"/>
                        </a:lnSpc>
                      </a:pPr>
                      <a:r>
                        <a:rPr sz="1000">
                          <a:solidFill>
                            <a:srgbClr val="D5D0C5"/>
                          </a:solidFill>
                          <a:latin typeface="Segoe UI"/>
                        </a:rPr>
                        <a:t>Gouvernance augmentée, RSE et développement durable</a:t>
                      </a:r>
                    </a:p>
                  </a:txBody>
                  <a:tcPr marL="91440" marR="91440" marT="27432" marB="27432" anchor="ctr">
                    <a:solidFill>
                      <a:srgbClr val="16212C"/>
                    </a:solidFill>
                  </a:tcPr>
                </a:tc>
                <a:tc>
                  <a:txBody>
                    <a:bodyPr wrap="square"/>
                    <a:lstStyle/>
                    <a:p>
                      <a:pPr>
                        <a:lnSpc>
                          <a:spcPct val="112000"/>
                        </a:lnSpc>
                      </a:pPr>
                      <a:r>
                        <a:rPr sz="1000">
                          <a:solidFill>
                            <a:srgbClr val="D5D0C5"/>
                          </a:solidFill>
                          <a:latin typeface="Segoe UI"/>
                        </a:rPr>
                        <a:t>Engagements, pratiques, finalités de long terme</a:t>
                      </a:r>
                    </a:p>
                  </a:txBody>
                  <a:tcPr marL="91440" marR="91440" marT="27432" marB="27432" anchor="ctr">
                    <a:solidFill>
                      <a:srgbClr val="16212C"/>
                    </a:solidFill>
                  </a:tcPr>
                </a:tc>
              </a:tr>
              <a:tr h="475488">
                <a:tc>
                  <a:txBody>
                    <a:bodyPr wrap="square"/>
                    <a:lstStyle/>
                    <a:p>
                      <a:pPr>
                        <a:lnSpc>
                          <a:spcPct val="112000"/>
                        </a:lnSpc>
                      </a:pPr>
                      <a:r>
                        <a:rPr sz="1000" b="1">
                          <a:solidFill>
                            <a:srgbClr val="E3C485"/>
                          </a:solidFill>
                          <a:latin typeface="Consolas"/>
                        </a:rPr>
                        <a:t>P7</a:t>
                      </a:r>
                    </a:p>
                  </a:txBody>
                  <a:tcPr marL="91440" marR="91440" marT="27432" marB="27432" anchor="ctr">
                    <a:solidFill>
                      <a:srgbClr val="121C26"/>
                    </a:solidFill>
                  </a:tcPr>
                </a:tc>
                <a:tc>
                  <a:txBody>
                    <a:bodyPr wrap="square"/>
                    <a:lstStyle/>
                    <a:p>
                      <a:pPr>
                        <a:lnSpc>
                          <a:spcPct val="112000"/>
                        </a:lnSpc>
                      </a:pPr>
                      <a:r>
                        <a:rPr sz="1000">
                          <a:solidFill>
                            <a:srgbClr val="D5D0C5"/>
                          </a:solidFill>
                          <a:latin typeface="Segoe UI"/>
                        </a:rPr>
                        <a:t>Effet des conditions organisationnelles et institutionnelles</a:t>
                      </a:r>
                    </a:p>
                  </a:txBody>
                  <a:tcPr marL="91440" marR="91440" marT="27432" marB="27432" anchor="ctr">
                    <a:solidFill>
                      <a:srgbClr val="121C26"/>
                    </a:solidFill>
                  </a:tcPr>
                </a:tc>
                <a:tc>
                  <a:txBody>
                    <a:bodyPr wrap="square"/>
                    <a:lstStyle/>
                    <a:p>
                      <a:pPr>
                        <a:lnSpc>
                          <a:spcPct val="112000"/>
                        </a:lnSpc>
                      </a:pPr>
                      <a:r>
                        <a:rPr sz="1000">
                          <a:solidFill>
                            <a:srgbClr val="D5D0C5"/>
                          </a:solidFill>
                          <a:latin typeface="Segoe UI"/>
                        </a:rPr>
                        <a:t>Conditions de possibilité, freins, effets de contexte</a:t>
                      </a:r>
                    </a:p>
                  </a:txBody>
                  <a:tcPr marL="91440" marR="91440" marT="27432" marB="27432" anchor="ctr">
                    <a:solidFill>
                      <a:srgbClr val="121C26"/>
                    </a:solidFill>
                  </a:tcPr>
                </a:tc>
              </a:tr>
            </a:tbl>
          </a:graphicData>
        </a:graphic>
      </p:graphicFrame>
      <p:sp>
        <p:nvSpPr>
          <p:cNvPr id="7" name="TextBox 6"/>
          <p:cNvSpPr txBox="1"/>
          <p:nvPr/>
        </p:nvSpPr>
        <p:spPr>
          <a:xfrm>
            <a:off x="658368" y="5616702"/>
            <a:ext cx="10874959" cy="548640"/>
          </a:xfrm>
          <a:prstGeom prst="rect">
            <a:avLst/>
          </a:prstGeom>
          <a:noFill/>
        </p:spPr>
        <p:txBody>
          <a:bodyPr wrap="square" lIns="0" rIns="0" tIns="0" bIns="0" anchor="t">
            <a:spAutoFit/>
          </a:bodyPr>
          <a:lstStyle/>
          <a:p>
            <a:pPr algn="l">
              <a:lnSpc>
                <a:spcPct val="130000"/>
              </a:lnSpc>
              <a:spcBef>
                <a:spcPts val="0"/>
              </a:spcBef>
              <a:spcAft>
                <a:spcPts val="0"/>
              </a:spcAft>
            </a:pPr>
            <a:r>
              <a:rPr sz="940" b="0" i="0">
                <a:solidFill>
                  <a:srgbClr val="93A5B4"/>
                </a:solidFill>
                <a:latin typeface="Segoe UI"/>
              </a:rPr>
              <a:t>Chaque proposition est confrontée au corpus : soutiens, nuances, contradictions et insuffisances documentaires (tableau 5.5). Aucune n'est présentée comme validée avant l'analyse.</a:t>
            </a:r>
          </a:p>
        </p:txBody>
      </p:sp>
      <p:sp>
        <p:nvSpPr>
          <p:cNvPr id="8" name="Rectangle 7"/>
          <p:cNvSpPr/>
          <p:nvPr/>
        </p:nvSpPr>
        <p:spPr>
          <a:xfrm>
            <a:off x="658368" y="6199632"/>
            <a:ext cx="10874959" cy="7315"/>
          </a:xfrm>
          <a:prstGeom prst="rect">
            <a:avLst/>
          </a:prstGeom>
          <a:solidFill>
            <a:srgbClr val="2734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58368" y="6291072"/>
            <a:ext cx="10189159" cy="457200"/>
          </a:xfrm>
          <a:prstGeom prst="rect">
            <a:avLst/>
          </a:prstGeom>
          <a:noFill/>
        </p:spPr>
        <p:txBody>
          <a:bodyPr wrap="square" lIns="0" rIns="0" tIns="0" bIns="0" anchor="t">
            <a:spAutoFit/>
          </a:bodyPr>
          <a:lstStyle/>
          <a:p>
            <a:pPr algn="l">
              <a:lnSpc>
                <a:spcPct val="110000"/>
              </a:lnSpc>
              <a:spcBef>
                <a:spcPts val="0"/>
              </a:spcBef>
              <a:spcAft>
                <a:spcPts val="0"/>
              </a:spcAft>
            </a:pPr>
            <a:r>
              <a:rPr sz="740" b="1">
                <a:solidFill>
                  <a:srgbClr val="93A5B4"/>
                </a:solidFill>
                <a:latin typeface="Segoe UI"/>
              </a:rPr>
              <a:t>Sources : </a:t>
            </a:r>
            <a:r>
              <a:rPr sz="740" b="0">
                <a:solidFill>
                  <a:srgbClr val="708392"/>
                </a:solidFill>
                <a:latin typeface="Segoe UI"/>
              </a:rPr>
              <a:t>plan harmonisé § 3.6 ; tableau 3.2 (propositions et mécanismes attendus) ; annexe G (matrice d'alignement).</a:t>
            </a:r>
          </a:p>
        </p:txBody>
      </p:sp>
      <p:sp>
        <p:nvSpPr>
          <p:cNvPr id="10" name="TextBox 9"/>
          <p:cNvSpPr txBox="1"/>
          <p:nvPr/>
        </p:nvSpPr>
        <p:spPr>
          <a:xfrm>
            <a:off x="10874959" y="6291072"/>
            <a:ext cx="658368" cy="274320"/>
          </a:xfrm>
          <a:prstGeom prst="rect">
            <a:avLst/>
          </a:prstGeom>
          <a:noFill/>
        </p:spPr>
        <p:txBody>
          <a:bodyPr wrap="square" lIns="0" rIns="0" tIns="0" bIns="0" anchor="t">
            <a:spAutoFit/>
          </a:bodyPr>
          <a:lstStyle/>
          <a:p>
            <a:pPr algn="r">
              <a:lnSpc>
                <a:spcPct val="118000"/>
              </a:lnSpc>
              <a:spcBef>
                <a:spcPts val="0"/>
              </a:spcBef>
              <a:spcAft>
                <a:spcPts val="0"/>
              </a:spcAft>
            </a:pPr>
            <a:r>
              <a:rPr sz="800" b="0" i="0">
                <a:solidFill>
                  <a:srgbClr val="93A5B4"/>
                </a:solidFill>
                <a:latin typeface="Consolas"/>
              </a:rPr>
              <a:t>10 / 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1C26"/>
              </a:gs>
              <a:gs pos="100000">
                <a:srgbClr val="0B101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828739"/>
            <a:ext cx="12191695" cy="29260"/>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75488"/>
            <a:ext cx="10874959"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spc="160">
                <a:solidFill>
                  <a:srgbClr val="E3C485"/>
                </a:solidFill>
                <a:latin typeface="Segoe UI"/>
              </a:rPr>
              <a:t>CHAPITRE 3 · § 3.5</a:t>
            </a:r>
          </a:p>
        </p:txBody>
      </p:sp>
      <p:sp>
        <p:nvSpPr>
          <p:cNvPr id="5" name="TextBox 4"/>
          <p:cNvSpPr txBox="1"/>
          <p:nvPr/>
        </p:nvSpPr>
        <p:spPr>
          <a:xfrm>
            <a:off x="658368" y="713232"/>
            <a:ext cx="10692079" cy="914400"/>
          </a:xfrm>
          <a:prstGeom prst="rect">
            <a:avLst/>
          </a:prstGeom>
          <a:noFill/>
        </p:spPr>
        <p:txBody>
          <a:bodyPr wrap="square" lIns="0" rIns="0" tIns="0" bIns="0" anchor="t">
            <a:spAutoFit/>
          </a:bodyPr>
          <a:lstStyle/>
          <a:p>
            <a:pPr>
              <a:lnSpc>
                <a:spcPct val="105000"/>
              </a:lnSpc>
            </a:pPr>
            <a:r>
              <a:rPr sz="2450" b="0">
                <a:solidFill>
                  <a:srgbClr val="F3EFE7"/>
                </a:solidFill>
                <a:latin typeface="Georgia"/>
              </a:rPr>
              <a:t>Sept mécanismes à observer dans les scènes de décision</a:t>
            </a:r>
          </a:p>
        </p:txBody>
      </p:sp>
      <p:sp>
        <p:nvSpPr>
          <p:cNvPr id="6" name="TextBox 5"/>
          <p:cNvSpPr txBox="1"/>
          <p:nvPr/>
        </p:nvSpPr>
        <p:spPr>
          <a:xfrm>
            <a:off x="658368" y="1079627"/>
            <a:ext cx="9777679" cy="365760"/>
          </a:xfrm>
          <a:prstGeom prst="rect">
            <a:avLst/>
          </a:prstGeom>
          <a:noFill/>
        </p:spPr>
        <p:txBody>
          <a:bodyPr wrap="square" lIns="0" rIns="0" tIns="0" bIns="0" anchor="t">
            <a:spAutoFit/>
          </a:bodyPr>
          <a:lstStyle/>
          <a:p>
            <a:pPr algn="l">
              <a:lnSpc>
                <a:spcPct val="130000"/>
              </a:lnSpc>
              <a:spcBef>
                <a:spcPts val="0"/>
              </a:spcBef>
              <a:spcAft>
                <a:spcPts val="0"/>
              </a:spcAft>
            </a:pPr>
            <a:r>
              <a:rPr sz="1150" b="0" i="0">
                <a:solidFill>
                  <a:srgbClr val="93A5B4"/>
                </a:solidFill>
                <a:latin typeface="Segoe UI"/>
              </a:rPr>
              <a:t>L'articulation n'est pas un état : c'est une chaîne d'opérations cognitives, relationnelles et organisationnelles.</a:t>
            </a:r>
          </a:p>
        </p:txBody>
      </p:sp>
      <p:sp>
        <p:nvSpPr>
          <p:cNvPr id="7" name="Rounded Rectangle 6"/>
          <p:cNvSpPr/>
          <p:nvPr/>
        </p:nvSpPr>
        <p:spPr>
          <a:xfrm>
            <a:off x="658368" y="1664843"/>
            <a:ext cx="2595295" cy="1426464"/>
          </a:xfrm>
          <a:prstGeom prst="roundRect">
            <a:avLst>
              <a:gd name="adj" fmla="val 7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13816" y="1756283"/>
            <a:ext cx="2284399" cy="1243584"/>
          </a:xfrm>
          <a:prstGeom prst="rect">
            <a:avLst/>
          </a:prstGeom>
          <a:noFill/>
        </p:spPr>
        <p:txBody>
          <a:bodyPr wrap="square" lIns="0" rIns="0" tIns="0" bIns="0" anchor="t">
            <a:spAutoFit/>
          </a:bodyPr>
          <a:lstStyle/>
          <a:p>
            <a:pPr algn="l">
              <a:lnSpc>
                <a:spcPct val="118000"/>
              </a:lnSpc>
              <a:spcBef>
                <a:spcPts val="0"/>
              </a:spcBef>
              <a:spcAft>
                <a:spcPts val="400"/>
              </a:spcAft>
            </a:pPr>
            <a:r>
              <a:rPr sz="1250" b="0" i="0">
                <a:solidFill>
                  <a:srgbClr val="E3C485"/>
                </a:solidFill>
                <a:latin typeface="Georgia"/>
              </a:rPr>
              <a:t>01</a:t>
            </a:r>
          </a:p>
          <a:p>
            <a:pPr algn="l">
              <a:lnSpc>
                <a:spcPct val="116000"/>
              </a:lnSpc>
              <a:spcBef>
                <a:spcPts val="0"/>
              </a:spcBef>
              <a:spcAft>
                <a:spcPts val="400"/>
              </a:spcAft>
            </a:pPr>
            <a:r>
              <a:rPr sz="1019" b="1" i="0">
                <a:solidFill>
                  <a:srgbClr val="F3EFE7"/>
                </a:solidFill>
                <a:latin typeface="Segoe UI"/>
              </a:rPr>
              <a:t>Détection et anticipation</a:t>
            </a:r>
          </a:p>
          <a:p>
            <a:pPr algn="l">
              <a:lnSpc>
                <a:spcPct val="128000"/>
              </a:lnSpc>
              <a:spcBef>
                <a:spcPts val="0"/>
              </a:spcBef>
              <a:spcAft>
                <a:spcPts val="0"/>
              </a:spcAft>
            </a:pPr>
            <a:r>
              <a:rPr sz="940" b="0" i="0">
                <a:solidFill>
                  <a:srgbClr val="93A5B4"/>
                </a:solidFill>
                <a:latin typeface="Segoe UI"/>
              </a:rPr>
              <a:t>Voir venir : signaux faibles, scénarios, alertes.</a:t>
            </a:r>
          </a:p>
        </p:txBody>
      </p:sp>
      <p:sp>
        <p:nvSpPr>
          <p:cNvPr id="9" name="Rounded Rectangle 8"/>
          <p:cNvSpPr/>
          <p:nvPr/>
        </p:nvSpPr>
        <p:spPr>
          <a:xfrm>
            <a:off x="3418255" y="1664843"/>
            <a:ext cx="2595295" cy="1426464"/>
          </a:xfrm>
          <a:prstGeom prst="roundRect">
            <a:avLst>
              <a:gd name="adj" fmla="val 7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573703" y="1756283"/>
            <a:ext cx="2284399" cy="1243584"/>
          </a:xfrm>
          <a:prstGeom prst="rect">
            <a:avLst/>
          </a:prstGeom>
          <a:noFill/>
        </p:spPr>
        <p:txBody>
          <a:bodyPr wrap="square" lIns="0" rIns="0" tIns="0" bIns="0" anchor="t">
            <a:spAutoFit/>
          </a:bodyPr>
          <a:lstStyle/>
          <a:p>
            <a:pPr algn="l">
              <a:lnSpc>
                <a:spcPct val="118000"/>
              </a:lnSpc>
              <a:spcBef>
                <a:spcPts val="0"/>
              </a:spcBef>
              <a:spcAft>
                <a:spcPts val="400"/>
              </a:spcAft>
            </a:pPr>
            <a:r>
              <a:rPr sz="1250" b="0" i="0">
                <a:solidFill>
                  <a:srgbClr val="E3C485"/>
                </a:solidFill>
                <a:latin typeface="Georgia"/>
              </a:rPr>
              <a:t>02</a:t>
            </a:r>
          </a:p>
          <a:p>
            <a:pPr algn="l">
              <a:lnSpc>
                <a:spcPct val="116000"/>
              </a:lnSpc>
              <a:spcBef>
                <a:spcPts val="0"/>
              </a:spcBef>
              <a:spcAft>
                <a:spcPts val="400"/>
              </a:spcAft>
            </a:pPr>
            <a:r>
              <a:rPr sz="1019" b="1" i="0">
                <a:solidFill>
                  <a:srgbClr val="F3EFE7"/>
                </a:solidFill>
                <a:latin typeface="Segoe UI"/>
              </a:rPr>
              <a:t>Interprétation et sens</a:t>
            </a:r>
          </a:p>
          <a:p>
            <a:pPr algn="l">
              <a:lnSpc>
                <a:spcPct val="128000"/>
              </a:lnSpc>
              <a:spcBef>
                <a:spcPts val="0"/>
              </a:spcBef>
              <a:spcAft>
                <a:spcPts val="0"/>
              </a:spcAft>
            </a:pPr>
            <a:r>
              <a:rPr sz="940" b="0" i="0">
                <a:solidFill>
                  <a:srgbClr val="93A5B4"/>
                </a:solidFill>
                <a:latin typeface="Segoe UI"/>
              </a:rPr>
              <a:t>Donner un sens situé aux données produites.</a:t>
            </a:r>
          </a:p>
        </p:txBody>
      </p:sp>
      <p:sp>
        <p:nvSpPr>
          <p:cNvPr id="11" name="Rounded Rectangle 10"/>
          <p:cNvSpPr/>
          <p:nvPr/>
        </p:nvSpPr>
        <p:spPr>
          <a:xfrm>
            <a:off x="6178143" y="1664843"/>
            <a:ext cx="2595295" cy="1426464"/>
          </a:xfrm>
          <a:prstGeom prst="roundRect">
            <a:avLst>
              <a:gd name="adj" fmla="val 7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333591" y="1756283"/>
            <a:ext cx="2284399" cy="1243584"/>
          </a:xfrm>
          <a:prstGeom prst="rect">
            <a:avLst/>
          </a:prstGeom>
          <a:noFill/>
        </p:spPr>
        <p:txBody>
          <a:bodyPr wrap="square" lIns="0" rIns="0" tIns="0" bIns="0" anchor="t">
            <a:spAutoFit/>
          </a:bodyPr>
          <a:lstStyle/>
          <a:p>
            <a:pPr algn="l">
              <a:lnSpc>
                <a:spcPct val="118000"/>
              </a:lnSpc>
              <a:spcBef>
                <a:spcPts val="0"/>
              </a:spcBef>
              <a:spcAft>
                <a:spcPts val="400"/>
              </a:spcAft>
            </a:pPr>
            <a:r>
              <a:rPr sz="1250" b="0" i="0">
                <a:solidFill>
                  <a:srgbClr val="E3C485"/>
                </a:solidFill>
                <a:latin typeface="Georgia"/>
              </a:rPr>
              <a:t>03</a:t>
            </a:r>
          </a:p>
          <a:p>
            <a:pPr algn="l">
              <a:lnSpc>
                <a:spcPct val="116000"/>
              </a:lnSpc>
              <a:spcBef>
                <a:spcPts val="0"/>
              </a:spcBef>
              <a:spcAft>
                <a:spcPts val="400"/>
              </a:spcAft>
            </a:pPr>
            <a:r>
              <a:rPr sz="1019" b="1" i="0">
                <a:solidFill>
                  <a:srgbClr val="F3EFE7"/>
                </a:solidFill>
                <a:latin typeface="Segoe UI"/>
              </a:rPr>
              <a:t>Délibération et arbitrage éthique</a:t>
            </a:r>
          </a:p>
          <a:p>
            <a:pPr algn="l">
              <a:lnSpc>
                <a:spcPct val="128000"/>
              </a:lnSpc>
              <a:spcBef>
                <a:spcPts val="0"/>
              </a:spcBef>
              <a:spcAft>
                <a:spcPts val="0"/>
              </a:spcAft>
            </a:pPr>
            <a:r>
              <a:rPr sz="940" b="0" i="0">
                <a:solidFill>
                  <a:srgbClr val="93A5B4"/>
                </a:solidFill>
                <a:latin typeface="Segoe UI"/>
              </a:rPr>
              <a:t>Trancher entre exigences incommensurables.</a:t>
            </a:r>
          </a:p>
        </p:txBody>
      </p:sp>
      <p:sp>
        <p:nvSpPr>
          <p:cNvPr id="13" name="Rounded Rectangle 12"/>
          <p:cNvSpPr/>
          <p:nvPr/>
        </p:nvSpPr>
        <p:spPr>
          <a:xfrm>
            <a:off x="8938031" y="1664843"/>
            <a:ext cx="2595295" cy="1426464"/>
          </a:xfrm>
          <a:prstGeom prst="roundRect">
            <a:avLst>
              <a:gd name="adj" fmla="val 7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093479" y="1756283"/>
            <a:ext cx="2284399" cy="1243584"/>
          </a:xfrm>
          <a:prstGeom prst="rect">
            <a:avLst/>
          </a:prstGeom>
          <a:noFill/>
        </p:spPr>
        <p:txBody>
          <a:bodyPr wrap="square" lIns="0" rIns="0" tIns="0" bIns="0" anchor="t">
            <a:spAutoFit/>
          </a:bodyPr>
          <a:lstStyle/>
          <a:p>
            <a:pPr algn="l">
              <a:lnSpc>
                <a:spcPct val="118000"/>
              </a:lnSpc>
              <a:spcBef>
                <a:spcPts val="0"/>
              </a:spcBef>
              <a:spcAft>
                <a:spcPts val="400"/>
              </a:spcAft>
            </a:pPr>
            <a:r>
              <a:rPr sz="1250" b="0" i="0">
                <a:solidFill>
                  <a:srgbClr val="E3C485"/>
                </a:solidFill>
                <a:latin typeface="Georgia"/>
              </a:rPr>
              <a:t>04</a:t>
            </a:r>
          </a:p>
          <a:p>
            <a:pPr algn="l">
              <a:lnSpc>
                <a:spcPct val="116000"/>
              </a:lnSpc>
              <a:spcBef>
                <a:spcPts val="0"/>
              </a:spcBef>
              <a:spcAft>
                <a:spcPts val="400"/>
              </a:spcAft>
            </a:pPr>
            <a:r>
              <a:rPr sz="1019" b="1" i="0">
                <a:solidFill>
                  <a:srgbClr val="F3EFE7"/>
                </a:solidFill>
                <a:latin typeface="Segoe UI"/>
              </a:rPr>
              <a:t>Coordination et mobilisation</a:t>
            </a:r>
          </a:p>
          <a:p>
            <a:pPr algn="l">
              <a:lnSpc>
                <a:spcPct val="128000"/>
              </a:lnSpc>
              <a:spcBef>
                <a:spcPts val="0"/>
              </a:spcBef>
              <a:spcAft>
                <a:spcPts val="0"/>
              </a:spcAft>
            </a:pPr>
            <a:r>
              <a:rPr sz="940" b="0" i="0">
                <a:solidFill>
                  <a:srgbClr val="93A5B4"/>
                </a:solidFill>
                <a:latin typeface="Segoe UI"/>
              </a:rPr>
              <a:t>Faire agir ensemble des acteurs aux logiques distinctes.</a:t>
            </a:r>
          </a:p>
        </p:txBody>
      </p:sp>
      <p:sp>
        <p:nvSpPr>
          <p:cNvPr id="15" name="Rounded Rectangle 14"/>
          <p:cNvSpPr/>
          <p:nvPr/>
        </p:nvSpPr>
        <p:spPr>
          <a:xfrm>
            <a:off x="658368" y="3255899"/>
            <a:ext cx="2595295" cy="1426464"/>
          </a:xfrm>
          <a:prstGeom prst="roundRect">
            <a:avLst>
              <a:gd name="adj" fmla="val 7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13816" y="3347339"/>
            <a:ext cx="2284399" cy="1243584"/>
          </a:xfrm>
          <a:prstGeom prst="rect">
            <a:avLst/>
          </a:prstGeom>
          <a:noFill/>
        </p:spPr>
        <p:txBody>
          <a:bodyPr wrap="square" lIns="0" rIns="0" tIns="0" bIns="0" anchor="t">
            <a:spAutoFit/>
          </a:bodyPr>
          <a:lstStyle/>
          <a:p>
            <a:pPr algn="l">
              <a:lnSpc>
                <a:spcPct val="118000"/>
              </a:lnSpc>
              <a:spcBef>
                <a:spcPts val="0"/>
              </a:spcBef>
              <a:spcAft>
                <a:spcPts val="400"/>
              </a:spcAft>
            </a:pPr>
            <a:r>
              <a:rPr sz="1250" b="0" i="0">
                <a:solidFill>
                  <a:srgbClr val="E3C485"/>
                </a:solidFill>
                <a:latin typeface="Georgia"/>
              </a:rPr>
              <a:t>05</a:t>
            </a:r>
          </a:p>
          <a:p>
            <a:pPr algn="l">
              <a:lnSpc>
                <a:spcPct val="116000"/>
              </a:lnSpc>
              <a:spcBef>
                <a:spcPts val="0"/>
              </a:spcBef>
              <a:spcAft>
                <a:spcPts val="400"/>
              </a:spcAft>
            </a:pPr>
            <a:r>
              <a:rPr sz="1019" b="1" i="0">
                <a:solidFill>
                  <a:srgbClr val="F3EFE7"/>
                </a:solidFill>
                <a:latin typeface="Segoe UI"/>
              </a:rPr>
              <a:t>Suivi et apprentissage</a:t>
            </a:r>
          </a:p>
          <a:p>
            <a:pPr algn="l">
              <a:lnSpc>
                <a:spcPct val="128000"/>
              </a:lnSpc>
              <a:spcBef>
                <a:spcPts val="0"/>
              </a:spcBef>
              <a:spcAft>
                <a:spcPts val="0"/>
              </a:spcAft>
            </a:pPr>
            <a:r>
              <a:rPr sz="940" b="0" i="0">
                <a:solidFill>
                  <a:srgbClr val="93A5B4"/>
                </a:solidFill>
                <a:latin typeface="Segoe UI"/>
              </a:rPr>
              <a:t>Capitaliser : ce qui a marché, ce qui a échoué, pourquoi.</a:t>
            </a:r>
          </a:p>
        </p:txBody>
      </p:sp>
      <p:sp>
        <p:nvSpPr>
          <p:cNvPr id="17" name="Rounded Rectangle 16"/>
          <p:cNvSpPr/>
          <p:nvPr/>
        </p:nvSpPr>
        <p:spPr>
          <a:xfrm>
            <a:off x="3418255" y="3255899"/>
            <a:ext cx="2595295" cy="1426464"/>
          </a:xfrm>
          <a:prstGeom prst="roundRect">
            <a:avLst>
              <a:gd name="adj" fmla="val 7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73703" y="3347339"/>
            <a:ext cx="2284399" cy="1243584"/>
          </a:xfrm>
          <a:prstGeom prst="rect">
            <a:avLst/>
          </a:prstGeom>
          <a:noFill/>
        </p:spPr>
        <p:txBody>
          <a:bodyPr wrap="square" lIns="0" rIns="0" tIns="0" bIns="0" anchor="t">
            <a:spAutoFit/>
          </a:bodyPr>
          <a:lstStyle/>
          <a:p>
            <a:pPr algn="l">
              <a:lnSpc>
                <a:spcPct val="118000"/>
              </a:lnSpc>
              <a:spcBef>
                <a:spcPts val="0"/>
              </a:spcBef>
              <a:spcAft>
                <a:spcPts val="400"/>
              </a:spcAft>
            </a:pPr>
            <a:r>
              <a:rPr sz="1250" b="0" i="0">
                <a:solidFill>
                  <a:srgbClr val="E3C485"/>
                </a:solidFill>
                <a:latin typeface="Georgia"/>
              </a:rPr>
              <a:t>06</a:t>
            </a:r>
          </a:p>
          <a:p>
            <a:pPr algn="l">
              <a:lnSpc>
                <a:spcPct val="116000"/>
              </a:lnSpc>
              <a:spcBef>
                <a:spcPts val="0"/>
              </a:spcBef>
              <a:spcAft>
                <a:spcPts val="400"/>
              </a:spcAft>
            </a:pPr>
            <a:r>
              <a:rPr sz="1019" b="1" i="0">
                <a:solidFill>
                  <a:srgbClr val="F3EFE7"/>
                </a:solidFill>
                <a:latin typeface="Segoe UI"/>
              </a:rPr>
              <a:t>Confiance et transparence</a:t>
            </a:r>
          </a:p>
          <a:p>
            <a:pPr algn="l">
              <a:lnSpc>
                <a:spcPct val="128000"/>
              </a:lnSpc>
              <a:spcBef>
                <a:spcPts val="0"/>
              </a:spcBef>
              <a:spcAft>
                <a:spcPts val="0"/>
              </a:spcAft>
            </a:pPr>
            <a:r>
              <a:rPr sz="940" b="0" i="0">
                <a:solidFill>
                  <a:srgbClr val="93A5B4"/>
                </a:solidFill>
                <a:latin typeface="Segoe UI"/>
              </a:rPr>
              <a:t>Rendre identifiable ce que fait la machine, et assumer le reste.</a:t>
            </a:r>
          </a:p>
        </p:txBody>
      </p:sp>
      <p:sp>
        <p:nvSpPr>
          <p:cNvPr id="19" name="Rounded Rectangle 18"/>
          <p:cNvSpPr/>
          <p:nvPr/>
        </p:nvSpPr>
        <p:spPr>
          <a:xfrm>
            <a:off x="6178143" y="3255899"/>
            <a:ext cx="2595295" cy="1426464"/>
          </a:xfrm>
          <a:prstGeom prst="roundRect">
            <a:avLst>
              <a:gd name="adj" fmla="val 7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333591" y="3347339"/>
            <a:ext cx="2284399" cy="1243584"/>
          </a:xfrm>
          <a:prstGeom prst="rect">
            <a:avLst/>
          </a:prstGeom>
          <a:noFill/>
        </p:spPr>
        <p:txBody>
          <a:bodyPr wrap="square" lIns="0" rIns="0" tIns="0" bIns="0" anchor="t">
            <a:spAutoFit/>
          </a:bodyPr>
          <a:lstStyle/>
          <a:p>
            <a:pPr algn="l">
              <a:lnSpc>
                <a:spcPct val="118000"/>
              </a:lnSpc>
              <a:spcBef>
                <a:spcPts val="0"/>
              </a:spcBef>
              <a:spcAft>
                <a:spcPts val="400"/>
              </a:spcAft>
            </a:pPr>
            <a:r>
              <a:rPr sz="1250" b="0" i="0">
                <a:solidFill>
                  <a:srgbClr val="E3C485"/>
                </a:solidFill>
                <a:latin typeface="Georgia"/>
              </a:rPr>
              <a:t>07</a:t>
            </a:r>
          </a:p>
          <a:p>
            <a:pPr algn="l">
              <a:lnSpc>
                <a:spcPct val="116000"/>
              </a:lnSpc>
              <a:spcBef>
                <a:spcPts val="0"/>
              </a:spcBef>
              <a:spcAft>
                <a:spcPts val="400"/>
              </a:spcAft>
            </a:pPr>
            <a:r>
              <a:rPr sz="1019" b="1" i="0">
                <a:solidFill>
                  <a:srgbClr val="F3EFE7"/>
                </a:solidFill>
                <a:latin typeface="Segoe UI"/>
              </a:rPr>
              <a:t>Prévention des effets défavorables</a:t>
            </a:r>
          </a:p>
          <a:p>
            <a:pPr algn="l">
              <a:lnSpc>
                <a:spcPct val="128000"/>
              </a:lnSpc>
              <a:spcBef>
                <a:spcPts val="0"/>
              </a:spcBef>
              <a:spcAft>
                <a:spcPts val="0"/>
              </a:spcAft>
            </a:pPr>
            <a:r>
              <a:rPr sz="940" b="0" i="0">
                <a:solidFill>
                  <a:srgbClr val="93A5B4"/>
                </a:solidFill>
                <a:latin typeface="Segoe UI"/>
              </a:rPr>
              <a:t>Repérer dépendance, biais, perte de jugement.</a:t>
            </a:r>
          </a:p>
        </p:txBody>
      </p:sp>
      <p:sp>
        <p:nvSpPr>
          <p:cNvPr id="21" name="Rounded Rectangle 20"/>
          <p:cNvSpPr/>
          <p:nvPr/>
        </p:nvSpPr>
        <p:spPr>
          <a:xfrm>
            <a:off x="8938031" y="3255899"/>
            <a:ext cx="2595295" cy="1426464"/>
          </a:xfrm>
          <a:prstGeom prst="roundRect">
            <a:avLst>
              <a:gd name="adj" fmla="val 7000"/>
            </a:avLst>
          </a:prstGeom>
          <a:solidFill>
            <a:srgbClr val="2A2418"/>
          </a:solidFill>
          <a:ln w="11430">
            <a:solidFill>
              <a:srgbClr val="C8A15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093479" y="3347339"/>
            <a:ext cx="2284399" cy="1243584"/>
          </a:xfrm>
          <a:prstGeom prst="rect">
            <a:avLst/>
          </a:prstGeom>
          <a:noFill/>
        </p:spPr>
        <p:txBody>
          <a:bodyPr wrap="square" lIns="0" rIns="0" tIns="0" bIns="0" anchor="t">
            <a:spAutoFit/>
          </a:bodyPr>
          <a:lstStyle/>
          <a:p>
            <a:pPr algn="l">
              <a:lnSpc>
                <a:spcPct val="118000"/>
              </a:lnSpc>
              <a:spcBef>
                <a:spcPts val="0"/>
              </a:spcBef>
              <a:spcAft>
                <a:spcPts val="600"/>
              </a:spcAft>
            </a:pPr>
            <a:r>
              <a:rPr sz="860" b="1" i="0" spc="60">
                <a:solidFill>
                  <a:srgbClr val="E3C485"/>
                </a:solidFill>
                <a:latin typeface="Segoe UI"/>
              </a:rPr>
              <a:t>USAGE ANALYTIQUE</a:t>
            </a:r>
          </a:p>
          <a:p>
            <a:pPr algn="l">
              <a:lnSpc>
                <a:spcPct val="130000"/>
              </a:lnSpc>
              <a:spcBef>
                <a:spcPts val="0"/>
              </a:spcBef>
              <a:spcAft>
                <a:spcPts val="0"/>
              </a:spcAft>
            </a:pPr>
            <a:r>
              <a:rPr sz="940" b="0" i="0">
                <a:solidFill>
                  <a:srgbClr val="D5D0C5"/>
                </a:solidFill>
                <a:latin typeface="Segoe UI"/>
              </a:rPr>
              <a:t>Ces sept mécanismes servent de grille de lecture pour coder les scènes : ils rendent le modèle observable.</a:t>
            </a:r>
          </a:p>
        </p:txBody>
      </p:sp>
      <p:sp>
        <p:nvSpPr>
          <p:cNvPr id="23" name="Rectangle 22"/>
          <p:cNvSpPr/>
          <p:nvPr/>
        </p:nvSpPr>
        <p:spPr>
          <a:xfrm>
            <a:off x="658368" y="6199632"/>
            <a:ext cx="10874959" cy="7315"/>
          </a:xfrm>
          <a:prstGeom prst="rect">
            <a:avLst/>
          </a:prstGeom>
          <a:solidFill>
            <a:srgbClr val="2734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58368" y="6291072"/>
            <a:ext cx="10189159" cy="457200"/>
          </a:xfrm>
          <a:prstGeom prst="rect">
            <a:avLst/>
          </a:prstGeom>
          <a:noFill/>
        </p:spPr>
        <p:txBody>
          <a:bodyPr wrap="square" lIns="0" rIns="0" tIns="0" bIns="0" anchor="t">
            <a:spAutoFit/>
          </a:bodyPr>
          <a:lstStyle/>
          <a:p>
            <a:pPr algn="l">
              <a:lnSpc>
                <a:spcPct val="110000"/>
              </a:lnSpc>
              <a:spcBef>
                <a:spcPts val="0"/>
              </a:spcBef>
              <a:spcAft>
                <a:spcPts val="0"/>
              </a:spcAft>
            </a:pPr>
            <a:r>
              <a:rPr sz="740" b="1">
                <a:solidFill>
                  <a:srgbClr val="93A5B4"/>
                </a:solidFill>
                <a:latin typeface="Segoe UI"/>
              </a:rPr>
              <a:t>Sources : </a:t>
            </a:r>
            <a:r>
              <a:rPr sz="740" b="0">
                <a:solidFill>
                  <a:srgbClr val="708392"/>
                </a:solidFill>
                <a:latin typeface="Segoe UI"/>
              </a:rPr>
              <a:t>plan harmonisé § 3.5 (mécanismes attendus) ; dictionnaire de codes et arborescence NVivo : annexe F.</a:t>
            </a:r>
          </a:p>
        </p:txBody>
      </p:sp>
      <p:sp>
        <p:nvSpPr>
          <p:cNvPr id="25" name="TextBox 24"/>
          <p:cNvSpPr txBox="1"/>
          <p:nvPr/>
        </p:nvSpPr>
        <p:spPr>
          <a:xfrm>
            <a:off x="10874959" y="6291072"/>
            <a:ext cx="658368" cy="274320"/>
          </a:xfrm>
          <a:prstGeom prst="rect">
            <a:avLst/>
          </a:prstGeom>
          <a:noFill/>
        </p:spPr>
        <p:txBody>
          <a:bodyPr wrap="square" lIns="0" rIns="0" tIns="0" bIns="0" anchor="t">
            <a:spAutoFit/>
          </a:bodyPr>
          <a:lstStyle/>
          <a:p>
            <a:pPr algn="r">
              <a:lnSpc>
                <a:spcPct val="118000"/>
              </a:lnSpc>
              <a:spcBef>
                <a:spcPts val="0"/>
              </a:spcBef>
              <a:spcAft>
                <a:spcPts val="0"/>
              </a:spcAft>
            </a:pPr>
            <a:r>
              <a:rPr sz="800" b="0" i="0">
                <a:solidFill>
                  <a:srgbClr val="93A5B4"/>
                </a:solidFill>
                <a:latin typeface="Consolas"/>
              </a:rPr>
              <a:t>11 / 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1C26"/>
              </a:gs>
              <a:gs pos="100000">
                <a:srgbClr val="0B101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828739"/>
            <a:ext cx="12191695" cy="29260"/>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75488"/>
            <a:ext cx="10874959"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spc="160">
                <a:solidFill>
                  <a:srgbClr val="E3C485"/>
                </a:solidFill>
                <a:latin typeface="Segoe UI"/>
              </a:rPr>
              <a:t>CHAPITRE 4 · § 4.1–4.2</a:t>
            </a:r>
          </a:p>
        </p:txBody>
      </p:sp>
      <p:sp>
        <p:nvSpPr>
          <p:cNvPr id="5" name="TextBox 4"/>
          <p:cNvSpPr txBox="1"/>
          <p:nvPr/>
        </p:nvSpPr>
        <p:spPr>
          <a:xfrm>
            <a:off x="658368" y="713232"/>
            <a:ext cx="10692079" cy="914400"/>
          </a:xfrm>
          <a:prstGeom prst="rect">
            <a:avLst/>
          </a:prstGeom>
          <a:noFill/>
        </p:spPr>
        <p:txBody>
          <a:bodyPr wrap="square" lIns="0" rIns="0" tIns="0" bIns="0" anchor="t">
            <a:spAutoFit/>
          </a:bodyPr>
          <a:lstStyle/>
          <a:p>
            <a:pPr>
              <a:lnSpc>
                <a:spcPct val="105000"/>
              </a:lnSpc>
            </a:pPr>
            <a:r>
              <a:rPr sz="2250" b="0">
                <a:solidFill>
                  <a:srgbClr val="F3EFE7"/>
                </a:solidFill>
                <a:latin typeface="Georgia"/>
              </a:rPr>
              <a:t>Une posture interprétativiste, une logique abductive, un design multi-cas</a:t>
            </a:r>
          </a:p>
        </p:txBody>
      </p:sp>
      <p:sp>
        <p:nvSpPr>
          <p:cNvPr id="6" name="Rounded Rectangle 5"/>
          <p:cNvSpPr/>
          <p:nvPr/>
        </p:nvSpPr>
        <p:spPr>
          <a:xfrm>
            <a:off x="658368" y="1327023"/>
            <a:ext cx="3503066" cy="3383280"/>
          </a:xfrm>
          <a:prstGeom prst="roundRect">
            <a:avLst>
              <a:gd name="adj" fmla="val 5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41247" y="1509903"/>
            <a:ext cx="3137306" cy="3017520"/>
          </a:xfrm>
          <a:prstGeom prst="rect">
            <a:avLst/>
          </a:prstGeom>
          <a:noFill/>
        </p:spPr>
        <p:txBody>
          <a:bodyPr wrap="square" lIns="0" rIns="0" tIns="0" bIns="0" anchor="t">
            <a:spAutoFit/>
          </a:bodyPr>
          <a:lstStyle/>
          <a:p>
            <a:pPr algn="l">
              <a:lnSpc>
                <a:spcPct val="118000"/>
              </a:lnSpc>
              <a:spcBef>
                <a:spcPts val="0"/>
              </a:spcBef>
              <a:spcAft>
                <a:spcPts val="800"/>
              </a:spcAft>
            </a:pPr>
            <a:r>
              <a:rPr sz="880" b="1" i="0" spc="70">
                <a:solidFill>
                  <a:srgbClr val="E3C485"/>
                </a:solidFill>
                <a:latin typeface="Segoe UI"/>
              </a:rPr>
              <a:t>POSITIONNEMENT</a:t>
            </a:r>
          </a:p>
          <a:p>
            <a:pPr algn="l">
              <a:lnSpc>
                <a:spcPct val="134000"/>
              </a:lnSpc>
              <a:spcBef>
                <a:spcPts val="0"/>
              </a:spcBef>
              <a:spcAft>
                <a:spcPts val="0"/>
              </a:spcAft>
            </a:pPr>
            <a:r>
              <a:rPr sz="1100" b="0" i="0">
                <a:solidFill>
                  <a:srgbClr val="D5D0C5"/>
                </a:solidFill>
                <a:latin typeface="Segoe UI"/>
              </a:rPr>
              <a:t>Interprétativisme à sensibilité constructiviste : la gouvernance est saisie à travers le sens que les acteurs donnent à leurs décisions.</a:t>
            </a:r>
          </a:p>
          <a:p>
            <a:pPr algn="l">
              <a:lnSpc>
                <a:spcPct val="130000"/>
              </a:lnSpc>
              <a:spcBef>
                <a:spcPts val="1200"/>
              </a:spcBef>
              <a:spcAft>
                <a:spcPts val="0"/>
              </a:spcAft>
            </a:pPr>
            <a:r>
              <a:rPr sz="919" b="0" i="0">
                <a:solidFill>
                  <a:srgbClr val="93A5B4"/>
                </a:solidFill>
                <a:latin typeface="Segoe UI"/>
              </a:rPr>
              <a:t>Conséquence : pas de mesure d'efficacité, mais une analyse de processus et de conditions.</a:t>
            </a:r>
          </a:p>
        </p:txBody>
      </p:sp>
      <p:sp>
        <p:nvSpPr>
          <p:cNvPr id="8" name="Rectangle 7"/>
          <p:cNvSpPr/>
          <p:nvPr/>
        </p:nvSpPr>
        <p:spPr>
          <a:xfrm>
            <a:off x="841247" y="3539871"/>
            <a:ext cx="3137306" cy="7315"/>
          </a:xfrm>
          <a:prstGeom prst="rect">
            <a:avLst/>
          </a:prstGeom>
          <a:solidFill>
            <a:srgbClr val="2734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4344314" y="1327023"/>
            <a:ext cx="3503066" cy="3383280"/>
          </a:xfrm>
          <a:prstGeom prst="roundRect">
            <a:avLst>
              <a:gd name="adj" fmla="val 5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27194" y="1509903"/>
            <a:ext cx="3137306" cy="3017520"/>
          </a:xfrm>
          <a:prstGeom prst="rect">
            <a:avLst/>
          </a:prstGeom>
          <a:noFill/>
        </p:spPr>
        <p:txBody>
          <a:bodyPr wrap="square" lIns="0" rIns="0" tIns="0" bIns="0" anchor="t">
            <a:spAutoFit/>
          </a:bodyPr>
          <a:lstStyle/>
          <a:p>
            <a:pPr algn="l">
              <a:lnSpc>
                <a:spcPct val="118000"/>
              </a:lnSpc>
              <a:spcBef>
                <a:spcPts val="0"/>
              </a:spcBef>
              <a:spcAft>
                <a:spcPts val="800"/>
              </a:spcAft>
            </a:pPr>
            <a:r>
              <a:rPr sz="880" b="1" i="0" spc="70">
                <a:solidFill>
                  <a:srgbClr val="E3C485"/>
                </a:solidFill>
                <a:latin typeface="Segoe UI"/>
              </a:rPr>
              <a:t>LOGIQUE</a:t>
            </a:r>
          </a:p>
          <a:p>
            <a:pPr algn="l">
              <a:lnSpc>
                <a:spcPct val="134000"/>
              </a:lnSpc>
              <a:spcBef>
                <a:spcPts val="0"/>
              </a:spcBef>
              <a:spcAft>
                <a:spcPts val="0"/>
              </a:spcAft>
            </a:pPr>
            <a:r>
              <a:rPr sz="1100" b="0" i="0">
                <a:solidFill>
                  <a:srgbClr val="D5D0C5"/>
                </a:solidFill>
                <a:latin typeface="Segoe UI"/>
              </a:rPr>
              <a:t>Abduction : aller-retour entre cadre théorique et terrain, sans présumer la direction des effets.</a:t>
            </a:r>
          </a:p>
          <a:p>
            <a:pPr algn="l">
              <a:lnSpc>
                <a:spcPct val="130000"/>
              </a:lnSpc>
              <a:spcBef>
                <a:spcPts val="1200"/>
              </a:spcBef>
              <a:spcAft>
                <a:spcPts val="0"/>
              </a:spcAft>
            </a:pPr>
            <a:r>
              <a:rPr sz="919" b="0" i="0">
                <a:solidFill>
                  <a:srgbClr val="93A5B4"/>
                </a:solidFill>
                <a:latin typeface="Segoe UI"/>
              </a:rPr>
              <a:t>Les propositions peuvent être nuancées, déplacées ou abandonnées en cours d'analyse.</a:t>
            </a:r>
          </a:p>
        </p:txBody>
      </p:sp>
      <p:sp>
        <p:nvSpPr>
          <p:cNvPr id="11" name="Rectangle 10"/>
          <p:cNvSpPr/>
          <p:nvPr/>
        </p:nvSpPr>
        <p:spPr>
          <a:xfrm>
            <a:off x="4527194" y="3539871"/>
            <a:ext cx="3137306" cy="7315"/>
          </a:xfrm>
          <a:prstGeom prst="rect">
            <a:avLst/>
          </a:prstGeom>
          <a:solidFill>
            <a:srgbClr val="2734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8030260" y="1327023"/>
            <a:ext cx="3503066" cy="3383280"/>
          </a:xfrm>
          <a:prstGeom prst="roundRect">
            <a:avLst>
              <a:gd name="adj" fmla="val 5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213140" y="1509903"/>
            <a:ext cx="3137306" cy="3017520"/>
          </a:xfrm>
          <a:prstGeom prst="rect">
            <a:avLst/>
          </a:prstGeom>
          <a:noFill/>
        </p:spPr>
        <p:txBody>
          <a:bodyPr wrap="square" lIns="0" rIns="0" tIns="0" bIns="0" anchor="t">
            <a:spAutoFit/>
          </a:bodyPr>
          <a:lstStyle/>
          <a:p>
            <a:pPr algn="l">
              <a:lnSpc>
                <a:spcPct val="118000"/>
              </a:lnSpc>
              <a:spcBef>
                <a:spcPts val="0"/>
              </a:spcBef>
              <a:spcAft>
                <a:spcPts val="800"/>
              </a:spcAft>
            </a:pPr>
            <a:r>
              <a:rPr sz="880" b="1" i="0" spc="70">
                <a:solidFill>
                  <a:srgbClr val="E3C485"/>
                </a:solidFill>
                <a:latin typeface="Segoe UI"/>
              </a:rPr>
              <a:t>DESIGN</a:t>
            </a:r>
          </a:p>
          <a:p>
            <a:pPr algn="l">
              <a:lnSpc>
                <a:spcPct val="134000"/>
              </a:lnSpc>
              <a:spcBef>
                <a:spcPts val="0"/>
              </a:spcBef>
              <a:spcAft>
                <a:spcPts val="0"/>
              </a:spcAft>
            </a:pPr>
            <a:r>
              <a:rPr sz="1100" b="0" i="0">
                <a:solidFill>
                  <a:srgbClr val="D5D0C5"/>
                </a:solidFill>
                <a:latin typeface="Segoe UI"/>
              </a:rPr>
              <a:t>Étude de cas multiples : cinq EPES (EPES-A à EPES-E), analyses intra-cas puis inter-cas.</a:t>
            </a:r>
          </a:p>
          <a:p>
            <a:pPr algn="l">
              <a:lnSpc>
                <a:spcPct val="130000"/>
              </a:lnSpc>
              <a:spcBef>
                <a:spcPts val="1200"/>
              </a:spcBef>
              <a:spcAft>
                <a:spcPts val="0"/>
              </a:spcAft>
            </a:pPr>
            <a:r>
              <a:rPr sz="919" b="0" i="0">
                <a:solidFill>
                  <a:srgbClr val="93A5B4"/>
                </a:solidFill>
                <a:latin typeface="Segoe UI"/>
              </a:rPr>
              <a:t>Objectif : variation et réplication théorique, non représentativité statistique.</a:t>
            </a:r>
          </a:p>
        </p:txBody>
      </p:sp>
      <p:sp>
        <p:nvSpPr>
          <p:cNvPr id="14" name="Rectangle 13"/>
          <p:cNvSpPr/>
          <p:nvPr/>
        </p:nvSpPr>
        <p:spPr>
          <a:xfrm>
            <a:off x="8213140" y="3539871"/>
            <a:ext cx="3137306" cy="7315"/>
          </a:xfrm>
          <a:prstGeom prst="rect">
            <a:avLst/>
          </a:prstGeom>
          <a:solidFill>
            <a:srgbClr val="2734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58368" y="6199632"/>
            <a:ext cx="10874959" cy="7315"/>
          </a:xfrm>
          <a:prstGeom prst="rect">
            <a:avLst/>
          </a:prstGeom>
          <a:solidFill>
            <a:srgbClr val="2734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58368" y="6291072"/>
            <a:ext cx="10189159" cy="457200"/>
          </a:xfrm>
          <a:prstGeom prst="rect">
            <a:avLst/>
          </a:prstGeom>
          <a:noFill/>
        </p:spPr>
        <p:txBody>
          <a:bodyPr wrap="square" lIns="0" rIns="0" tIns="0" bIns="0" anchor="t">
            <a:spAutoFit/>
          </a:bodyPr>
          <a:lstStyle/>
          <a:p>
            <a:pPr algn="l">
              <a:lnSpc>
                <a:spcPct val="110000"/>
              </a:lnSpc>
              <a:spcBef>
                <a:spcPts val="0"/>
              </a:spcBef>
              <a:spcAft>
                <a:spcPts val="0"/>
              </a:spcAft>
            </a:pPr>
            <a:r>
              <a:rPr sz="740" b="1">
                <a:solidFill>
                  <a:srgbClr val="93A5B4"/>
                </a:solidFill>
                <a:latin typeface="Segoe UI"/>
              </a:rPr>
              <a:t>Sources : </a:t>
            </a:r>
            <a:r>
              <a:rPr sz="740" b="0">
                <a:solidFill>
                  <a:srgbClr val="708392"/>
                </a:solidFill>
                <a:latin typeface="Segoe UI"/>
              </a:rPr>
              <a:t>plan harmonisé § 4.1–4.2 ; tableau 4.1 (positionnement épistémologique et cohérence du dispositif méthodologique).</a:t>
            </a:r>
          </a:p>
        </p:txBody>
      </p:sp>
      <p:sp>
        <p:nvSpPr>
          <p:cNvPr id="17" name="TextBox 16"/>
          <p:cNvSpPr txBox="1"/>
          <p:nvPr/>
        </p:nvSpPr>
        <p:spPr>
          <a:xfrm>
            <a:off x="10874959" y="6291072"/>
            <a:ext cx="658368" cy="274320"/>
          </a:xfrm>
          <a:prstGeom prst="rect">
            <a:avLst/>
          </a:prstGeom>
          <a:noFill/>
        </p:spPr>
        <p:txBody>
          <a:bodyPr wrap="square" lIns="0" rIns="0" tIns="0" bIns="0" anchor="t">
            <a:spAutoFit/>
          </a:bodyPr>
          <a:lstStyle/>
          <a:p>
            <a:pPr algn="r">
              <a:lnSpc>
                <a:spcPct val="118000"/>
              </a:lnSpc>
              <a:spcBef>
                <a:spcPts val="0"/>
              </a:spcBef>
              <a:spcAft>
                <a:spcPts val="0"/>
              </a:spcAft>
            </a:pPr>
            <a:r>
              <a:rPr sz="800" b="0" i="0">
                <a:solidFill>
                  <a:srgbClr val="93A5B4"/>
                </a:solidFill>
                <a:latin typeface="Consolas"/>
              </a:rPr>
              <a:t>12 / 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1C26"/>
              </a:gs>
              <a:gs pos="100000">
                <a:srgbClr val="0B101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828739"/>
            <a:ext cx="12191695" cy="29260"/>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75488"/>
            <a:ext cx="10874959"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spc="160">
                <a:solidFill>
                  <a:srgbClr val="E3C485"/>
                </a:solidFill>
                <a:latin typeface="Segoe UI"/>
              </a:rPr>
              <a:t>CHAPITRE 4 · § 4.3</a:t>
            </a:r>
          </a:p>
        </p:txBody>
      </p:sp>
      <p:sp>
        <p:nvSpPr>
          <p:cNvPr id="5" name="TextBox 4"/>
          <p:cNvSpPr txBox="1"/>
          <p:nvPr/>
        </p:nvSpPr>
        <p:spPr>
          <a:xfrm>
            <a:off x="658368" y="713232"/>
            <a:ext cx="10692079" cy="914400"/>
          </a:xfrm>
          <a:prstGeom prst="rect">
            <a:avLst/>
          </a:prstGeom>
          <a:noFill/>
        </p:spPr>
        <p:txBody>
          <a:bodyPr wrap="square" lIns="0" rIns="0" tIns="0" bIns="0" anchor="t">
            <a:spAutoFit/>
          </a:bodyPr>
          <a:lstStyle/>
          <a:p>
            <a:pPr>
              <a:lnSpc>
                <a:spcPct val="105000"/>
              </a:lnSpc>
            </a:pPr>
            <a:r>
              <a:rPr sz="2450" b="0">
                <a:solidFill>
                  <a:srgbClr val="F3EFE7"/>
                </a:solidFill>
                <a:latin typeface="Georgia"/>
              </a:rPr>
              <a:t>Cinq cas choisis sur cinq critères, quarante-cinq participants prévus</a:t>
            </a:r>
          </a:p>
        </p:txBody>
      </p:sp>
      <p:sp>
        <p:nvSpPr>
          <p:cNvPr id="6" name="TextBox 5"/>
          <p:cNvSpPr txBox="1"/>
          <p:nvPr/>
        </p:nvSpPr>
        <p:spPr>
          <a:xfrm>
            <a:off x="658368" y="1399667"/>
            <a:ext cx="4893731" cy="3566160"/>
          </a:xfrm>
          <a:prstGeom prst="rect">
            <a:avLst/>
          </a:prstGeom>
          <a:noFill/>
        </p:spPr>
        <p:txBody>
          <a:bodyPr wrap="square" lIns="0" rIns="0" tIns="0" bIns="0" anchor="t">
            <a:spAutoFit/>
          </a:bodyPr>
          <a:lstStyle/>
          <a:p>
            <a:pPr algn="l">
              <a:lnSpc>
                <a:spcPct val="118000"/>
              </a:lnSpc>
              <a:spcBef>
                <a:spcPts val="0"/>
              </a:spcBef>
              <a:spcAft>
                <a:spcPts val="800"/>
              </a:spcAft>
            </a:pPr>
            <a:r>
              <a:rPr sz="860" b="1" i="0" spc="80">
                <a:solidFill>
                  <a:srgbClr val="E3C485"/>
                </a:solidFill>
                <a:latin typeface="Segoe UI"/>
              </a:rPr>
              <a:t>CRITÈRES DE SÉLECTION</a:t>
            </a:r>
          </a:p>
          <a:p>
            <a:pPr algn="l">
              <a:lnSpc>
                <a:spcPct val="128000"/>
              </a:lnSpc>
              <a:spcBef>
                <a:spcPts val="700"/>
              </a:spcBef>
              <a:spcAft>
                <a:spcPts val="0"/>
              </a:spcAft>
            </a:pPr>
            <a:r>
              <a:rPr sz="832" b="1">
                <a:solidFill>
                  <a:srgbClr val="C8A154"/>
                </a:solidFill>
                <a:latin typeface="Segoe UI"/>
              </a:rPr>
              <a:t>■  </a:t>
            </a:r>
            <a:r>
              <a:rPr sz="1040" b="1">
                <a:solidFill>
                  <a:srgbClr val="E3C485"/>
                </a:solidFill>
                <a:latin typeface="Segoe UI"/>
              </a:rPr>
              <a:t>C1 — </a:t>
            </a:r>
            <a:r>
              <a:rPr sz="1040" b="0">
                <a:solidFill>
                  <a:srgbClr val="D5D0C5"/>
                </a:solidFill>
                <a:latin typeface="Segoe UI"/>
              </a:rPr>
              <a:t>ancienneté et trajectoire institutionnelle</a:t>
            </a:r>
          </a:p>
          <a:p>
            <a:pPr algn="l">
              <a:lnSpc>
                <a:spcPct val="128000"/>
              </a:lnSpc>
              <a:spcBef>
                <a:spcPts val="700"/>
              </a:spcBef>
              <a:spcAft>
                <a:spcPts val="0"/>
              </a:spcAft>
            </a:pPr>
            <a:r>
              <a:rPr sz="832" b="1">
                <a:solidFill>
                  <a:srgbClr val="C8A154"/>
                </a:solidFill>
                <a:latin typeface="Segoe UI"/>
              </a:rPr>
              <a:t>■  </a:t>
            </a:r>
            <a:r>
              <a:rPr sz="1040" b="1">
                <a:solidFill>
                  <a:srgbClr val="E3C485"/>
                </a:solidFill>
                <a:latin typeface="Segoe UI"/>
              </a:rPr>
              <a:t>C2 — </a:t>
            </a:r>
            <a:r>
              <a:rPr sz="1040" b="0">
                <a:solidFill>
                  <a:srgbClr val="D5D0C5"/>
                </a:solidFill>
                <a:latin typeface="Segoe UI"/>
              </a:rPr>
              <a:t>diversité de l'offre académique</a:t>
            </a:r>
          </a:p>
          <a:p>
            <a:pPr algn="l">
              <a:lnSpc>
                <a:spcPct val="128000"/>
              </a:lnSpc>
              <a:spcBef>
                <a:spcPts val="700"/>
              </a:spcBef>
              <a:spcAft>
                <a:spcPts val="0"/>
              </a:spcAft>
            </a:pPr>
            <a:r>
              <a:rPr sz="832" b="1">
                <a:solidFill>
                  <a:srgbClr val="C8A154"/>
                </a:solidFill>
                <a:latin typeface="Segoe UI"/>
              </a:rPr>
              <a:t>■  </a:t>
            </a:r>
            <a:r>
              <a:rPr sz="1040" b="1">
                <a:solidFill>
                  <a:srgbClr val="E3C485"/>
                </a:solidFill>
                <a:latin typeface="Segoe UI"/>
              </a:rPr>
              <a:t>C3 — </a:t>
            </a:r>
            <a:r>
              <a:rPr sz="1040" b="0">
                <a:solidFill>
                  <a:srgbClr val="D5D0C5"/>
                </a:solidFill>
                <a:latin typeface="Segoe UI"/>
              </a:rPr>
              <a:t>configuration de gouvernance et modèle de financement</a:t>
            </a:r>
          </a:p>
          <a:p>
            <a:pPr algn="l">
              <a:lnSpc>
                <a:spcPct val="128000"/>
              </a:lnSpc>
              <a:spcBef>
                <a:spcPts val="700"/>
              </a:spcBef>
              <a:spcAft>
                <a:spcPts val="0"/>
              </a:spcAft>
            </a:pPr>
            <a:r>
              <a:rPr sz="832" b="1">
                <a:solidFill>
                  <a:srgbClr val="C8A154"/>
                </a:solidFill>
                <a:latin typeface="Segoe UI"/>
              </a:rPr>
              <a:t>■  </a:t>
            </a:r>
            <a:r>
              <a:rPr sz="1040" b="1">
                <a:solidFill>
                  <a:srgbClr val="E3C485"/>
                </a:solidFill>
                <a:latin typeface="Segoe UI"/>
              </a:rPr>
              <a:t>C4 — </a:t>
            </a:r>
            <a:r>
              <a:rPr sz="1040" b="0">
                <a:solidFill>
                  <a:srgbClr val="D5D0C5"/>
                </a:solidFill>
                <a:latin typeface="Segoe UI"/>
              </a:rPr>
              <a:t>taille, implantation et partenariats</a:t>
            </a:r>
          </a:p>
          <a:p>
            <a:pPr algn="l">
              <a:lnSpc>
                <a:spcPct val="128000"/>
              </a:lnSpc>
              <a:spcBef>
                <a:spcPts val="700"/>
              </a:spcBef>
              <a:spcAft>
                <a:spcPts val="0"/>
              </a:spcAft>
            </a:pPr>
            <a:r>
              <a:rPr sz="832" b="1">
                <a:solidFill>
                  <a:srgbClr val="C8A154"/>
                </a:solidFill>
                <a:latin typeface="Segoe UI"/>
              </a:rPr>
              <a:t>■  </a:t>
            </a:r>
            <a:r>
              <a:rPr sz="1040" b="1">
                <a:solidFill>
                  <a:srgbClr val="E3C485"/>
                </a:solidFill>
                <a:latin typeface="Segoe UI"/>
              </a:rPr>
              <a:t>C5 — </a:t>
            </a:r>
            <a:r>
              <a:rPr sz="1040" b="0">
                <a:solidFill>
                  <a:srgbClr val="D5D0C5"/>
                </a:solidFill>
                <a:latin typeface="Segoe UI"/>
              </a:rPr>
              <a:t>accessibilité du terrain et richesse des données</a:t>
            </a:r>
          </a:p>
          <a:p>
            <a:pPr algn="l">
              <a:lnSpc>
                <a:spcPct val="130000"/>
              </a:lnSpc>
              <a:spcBef>
                <a:spcPts val="1400"/>
              </a:spcBef>
              <a:spcAft>
                <a:spcPts val="0"/>
              </a:spcAft>
            </a:pPr>
            <a:r>
              <a:rPr sz="919" b="0" i="0">
                <a:solidFill>
                  <a:srgbClr val="93A5B4"/>
                </a:solidFill>
                <a:latin typeface="Segoe UI"/>
              </a:rPr>
              <a:t>Chiffres prévisionnels : le corpus effectif et les écarts au protocole seront présentés au chapitre 5 (tableau 5.1).</a:t>
            </a:r>
          </a:p>
        </p:txBody>
      </p:sp>
      <p:sp>
        <p:nvSpPr>
          <p:cNvPr id="7" name="Rounded Rectangle 6"/>
          <p:cNvSpPr/>
          <p:nvPr/>
        </p:nvSpPr>
        <p:spPr>
          <a:xfrm>
            <a:off x="5826419" y="1353947"/>
            <a:ext cx="2771157" cy="932688"/>
          </a:xfrm>
          <a:prstGeom prst="roundRect">
            <a:avLst>
              <a:gd name="adj" fmla="val 9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954435" y="1427099"/>
            <a:ext cx="2515125" cy="786384"/>
          </a:xfrm>
          <a:prstGeom prst="rect">
            <a:avLst/>
          </a:prstGeom>
          <a:noFill/>
        </p:spPr>
        <p:txBody>
          <a:bodyPr wrap="square" lIns="0" rIns="0" tIns="0" bIns="0" anchor="ctr">
            <a:spAutoFit/>
          </a:bodyPr>
          <a:lstStyle/>
          <a:p>
            <a:pPr>
              <a:lnSpc>
                <a:spcPct val="100000"/>
              </a:lnSpc>
            </a:pPr>
            <a:r>
              <a:rPr sz="2600">
                <a:solidFill>
                  <a:srgbClr val="F3EFE7"/>
                </a:solidFill>
                <a:latin typeface="Georgia"/>
              </a:rPr>
              <a:t>5</a:t>
            </a:r>
          </a:p>
          <a:p>
            <a:pPr algn="l">
              <a:lnSpc>
                <a:spcPct val="120000"/>
              </a:lnSpc>
              <a:spcBef>
                <a:spcPts val="300"/>
              </a:spcBef>
              <a:spcAft>
                <a:spcPts val="0"/>
              </a:spcAft>
            </a:pPr>
            <a:r>
              <a:rPr sz="880" b="0" i="0">
                <a:solidFill>
                  <a:srgbClr val="93A5B4"/>
                </a:solidFill>
                <a:latin typeface="Segoe UI"/>
              </a:rPr>
              <a:t>établissements</a:t>
            </a:r>
          </a:p>
          <a:p>
            <a:pPr algn="l">
              <a:lnSpc>
                <a:spcPct val="118000"/>
              </a:lnSpc>
              <a:spcBef>
                <a:spcPts val="250"/>
              </a:spcBef>
              <a:spcAft>
                <a:spcPts val="0"/>
              </a:spcAft>
            </a:pPr>
            <a:r>
              <a:rPr sz="680" b="0" i="0" spc="120">
                <a:solidFill>
                  <a:srgbClr val="708392"/>
                </a:solidFill>
                <a:latin typeface="Segoe UI"/>
              </a:rPr>
              <a:t>EPES-A À EPES-E</a:t>
            </a:r>
          </a:p>
        </p:txBody>
      </p:sp>
      <p:sp>
        <p:nvSpPr>
          <p:cNvPr id="9" name="Rounded Rectangle 8"/>
          <p:cNvSpPr/>
          <p:nvPr/>
        </p:nvSpPr>
        <p:spPr>
          <a:xfrm>
            <a:off x="8762169" y="1353947"/>
            <a:ext cx="2771157" cy="932688"/>
          </a:xfrm>
          <a:prstGeom prst="roundRect">
            <a:avLst>
              <a:gd name="adj" fmla="val 9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890185" y="1427099"/>
            <a:ext cx="2515125" cy="786384"/>
          </a:xfrm>
          <a:prstGeom prst="rect">
            <a:avLst/>
          </a:prstGeom>
          <a:noFill/>
        </p:spPr>
        <p:txBody>
          <a:bodyPr wrap="square" lIns="0" rIns="0" tIns="0" bIns="0" anchor="ctr">
            <a:spAutoFit/>
          </a:bodyPr>
          <a:lstStyle/>
          <a:p>
            <a:pPr>
              <a:lnSpc>
                <a:spcPct val="100000"/>
              </a:lnSpc>
            </a:pPr>
            <a:r>
              <a:rPr sz="2600">
                <a:solidFill>
                  <a:srgbClr val="F3EFE7"/>
                </a:solidFill>
                <a:latin typeface="Georgia"/>
              </a:rPr>
              <a:t>45</a:t>
            </a:r>
          </a:p>
          <a:p>
            <a:pPr algn="l">
              <a:lnSpc>
                <a:spcPct val="120000"/>
              </a:lnSpc>
              <a:spcBef>
                <a:spcPts val="300"/>
              </a:spcBef>
              <a:spcAft>
                <a:spcPts val="0"/>
              </a:spcAft>
            </a:pPr>
            <a:r>
              <a:rPr sz="880" b="0" i="0">
                <a:solidFill>
                  <a:srgbClr val="93A5B4"/>
                </a:solidFill>
                <a:latin typeface="Segoe UI"/>
              </a:rPr>
              <a:t>participants prévisionnels</a:t>
            </a:r>
          </a:p>
          <a:p>
            <a:pPr algn="l">
              <a:lnSpc>
                <a:spcPct val="118000"/>
              </a:lnSpc>
              <a:spcBef>
                <a:spcPts val="250"/>
              </a:spcBef>
              <a:spcAft>
                <a:spcPts val="0"/>
              </a:spcAft>
            </a:pPr>
            <a:r>
              <a:rPr sz="680" b="0" i="0" spc="120">
                <a:solidFill>
                  <a:srgbClr val="708392"/>
                </a:solidFill>
                <a:latin typeface="Segoe UI"/>
              </a:rPr>
              <a:t>ÉCHANTILLON CIBLÉ</a:t>
            </a:r>
          </a:p>
        </p:txBody>
      </p:sp>
      <p:graphicFrame>
        <p:nvGraphicFramePr>
          <p:cNvPr id="11" name="Table 10"/>
          <p:cNvGraphicFramePr>
            <a:graphicFrameLocks noGrp="1"/>
          </p:cNvGraphicFramePr>
          <p:nvPr/>
        </p:nvGraphicFramePr>
        <p:xfrm>
          <a:off x="5826419" y="2451227"/>
          <a:ext cx="5706906" cy="2377440"/>
        </p:xfrm>
        <a:graphic>
          <a:graphicData uri="http://schemas.openxmlformats.org/drawingml/2006/table">
            <a:tbl>
              <a:tblPr firstRow="1">
                <a:tableStyleId>{5C22544A-7EE6-4342-B048-85BDC9FD1C3A}</a:tableStyleId>
              </a:tblPr>
              <a:tblGrid>
                <a:gridCol w="3487554"/>
                <a:gridCol w="713363"/>
                <a:gridCol w="1505989"/>
              </a:tblGrid>
              <a:tr h="475488">
                <a:tc>
                  <a:txBody>
                    <a:bodyPr wrap="square"/>
                    <a:lstStyle/>
                    <a:p>
                      <a:pPr>
                        <a:lnSpc>
                          <a:spcPct val="112000"/>
                        </a:lnSpc>
                      </a:pPr>
                      <a:r>
                        <a:rPr sz="780" b="1" spc="110">
                          <a:solidFill>
                            <a:srgbClr val="93A5B4"/>
                          </a:solidFill>
                          <a:latin typeface="Segoe UI"/>
                        </a:rPr>
                        <a:t>CATÉGORIE</a:t>
                      </a:r>
                    </a:p>
                  </a:txBody>
                  <a:tcPr marL="91440" marR="91440" marT="27432" marB="27432" anchor="ctr">
                    <a:solidFill>
                      <a:srgbClr val="1E2A36"/>
                    </a:solidFill>
                  </a:tcPr>
                </a:tc>
                <a:tc>
                  <a:txBody>
                    <a:bodyPr wrap="square"/>
                    <a:lstStyle/>
                    <a:p>
                      <a:pPr>
                        <a:lnSpc>
                          <a:spcPct val="112000"/>
                        </a:lnSpc>
                      </a:pPr>
                      <a:r>
                        <a:rPr sz="780" b="1" spc="110">
                          <a:solidFill>
                            <a:srgbClr val="93A5B4"/>
                          </a:solidFill>
                          <a:latin typeface="Segoe UI"/>
                        </a:rPr>
                        <a:t>EFFECTIF</a:t>
                      </a:r>
                    </a:p>
                  </a:txBody>
                  <a:tcPr marL="91440" marR="91440" marT="27432" marB="27432" anchor="ctr">
                    <a:solidFill>
                      <a:srgbClr val="1E2A36"/>
                    </a:solidFill>
                  </a:tcPr>
                </a:tc>
                <a:tc>
                  <a:txBody>
                    <a:bodyPr wrap="square"/>
                    <a:lstStyle/>
                    <a:p>
                      <a:pPr>
                        <a:lnSpc>
                          <a:spcPct val="112000"/>
                        </a:lnSpc>
                      </a:pPr>
                      <a:r>
                        <a:rPr sz="780" b="1" spc="110">
                          <a:solidFill>
                            <a:srgbClr val="93A5B4"/>
                          </a:solidFill>
                          <a:latin typeface="Segoe UI"/>
                        </a:rPr>
                        <a:t>CODE</a:t>
                      </a:r>
                    </a:p>
                  </a:txBody>
                  <a:tcPr marL="91440" marR="91440" marT="27432" marB="27432" anchor="ctr">
                    <a:solidFill>
                      <a:srgbClr val="1E2A36"/>
                    </a:solidFill>
                  </a:tcPr>
                </a:tc>
              </a:tr>
              <a:tr h="475488">
                <a:tc>
                  <a:txBody>
                    <a:bodyPr wrap="square"/>
                    <a:lstStyle/>
                    <a:p>
                      <a:pPr>
                        <a:lnSpc>
                          <a:spcPct val="112000"/>
                        </a:lnSpc>
                      </a:pPr>
                      <a:r>
                        <a:rPr sz="960">
                          <a:solidFill>
                            <a:srgbClr val="F3EFE7"/>
                          </a:solidFill>
                          <a:latin typeface="Segoe UI"/>
                        </a:rPr>
                        <a:t>Dirigeants</a:t>
                      </a:r>
                    </a:p>
                  </a:txBody>
                  <a:tcPr marL="91440" marR="91440" marT="27432" marB="27432" anchor="ctr">
                    <a:solidFill>
                      <a:srgbClr val="121C26"/>
                    </a:solidFill>
                  </a:tcPr>
                </a:tc>
                <a:tc>
                  <a:txBody>
                    <a:bodyPr wrap="square"/>
                    <a:lstStyle/>
                    <a:p>
                      <a:pPr>
                        <a:lnSpc>
                          <a:spcPct val="112000"/>
                        </a:lnSpc>
                      </a:pPr>
                      <a:r>
                        <a:rPr sz="960">
                          <a:solidFill>
                            <a:srgbClr val="D5D0C5"/>
                          </a:solidFill>
                          <a:latin typeface="Segoe UI"/>
                        </a:rPr>
                        <a:t>15</a:t>
                      </a:r>
                    </a:p>
                  </a:txBody>
                  <a:tcPr marL="91440" marR="91440" marT="27432" marB="27432" anchor="ctr">
                    <a:solidFill>
                      <a:srgbClr val="121C26"/>
                    </a:solidFill>
                  </a:tcPr>
                </a:tc>
                <a:tc>
                  <a:txBody>
                    <a:bodyPr wrap="square"/>
                    <a:lstStyle/>
                    <a:p>
                      <a:pPr>
                        <a:lnSpc>
                          <a:spcPct val="112000"/>
                        </a:lnSpc>
                      </a:pPr>
                      <a:r>
                        <a:rPr sz="960">
                          <a:solidFill>
                            <a:srgbClr val="D5D0C5"/>
                          </a:solidFill>
                          <a:latin typeface="Segoe UI"/>
                        </a:rPr>
                        <a:t>DIR</a:t>
                      </a:r>
                    </a:p>
                  </a:txBody>
                  <a:tcPr marL="91440" marR="91440" marT="27432" marB="27432" anchor="ctr">
                    <a:solidFill>
                      <a:srgbClr val="121C26"/>
                    </a:solidFill>
                  </a:tcPr>
                </a:tc>
              </a:tr>
              <a:tr h="475488">
                <a:tc>
                  <a:txBody>
                    <a:bodyPr wrap="square"/>
                    <a:lstStyle/>
                    <a:p>
                      <a:pPr>
                        <a:lnSpc>
                          <a:spcPct val="112000"/>
                        </a:lnSpc>
                      </a:pPr>
                      <a:r>
                        <a:rPr sz="960">
                          <a:solidFill>
                            <a:srgbClr val="F3EFE7"/>
                          </a:solidFill>
                          <a:latin typeface="Segoe UI"/>
                        </a:rPr>
                        <a:t>Acteurs académiques et enseignants impliqués dans les décisions</a:t>
                      </a:r>
                    </a:p>
                  </a:txBody>
                  <a:tcPr marL="91440" marR="91440" marT="27432" marB="27432" anchor="ctr">
                    <a:solidFill>
                      <a:srgbClr val="16212C"/>
                    </a:solidFill>
                  </a:tcPr>
                </a:tc>
                <a:tc>
                  <a:txBody>
                    <a:bodyPr wrap="square"/>
                    <a:lstStyle/>
                    <a:p>
                      <a:pPr>
                        <a:lnSpc>
                          <a:spcPct val="112000"/>
                        </a:lnSpc>
                      </a:pPr>
                      <a:r>
                        <a:rPr sz="960">
                          <a:solidFill>
                            <a:srgbClr val="D5D0C5"/>
                          </a:solidFill>
                          <a:latin typeface="Segoe UI"/>
                        </a:rPr>
                        <a:t>20</a:t>
                      </a:r>
                    </a:p>
                  </a:txBody>
                  <a:tcPr marL="91440" marR="91440" marT="27432" marB="27432" anchor="ctr">
                    <a:solidFill>
                      <a:srgbClr val="16212C"/>
                    </a:solidFill>
                  </a:tcPr>
                </a:tc>
                <a:tc>
                  <a:txBody>
                    <a:bodyPr wrap="square"/>
                    <a:lstStyle/>
                    <a:p>
                      <a:pPr>
                        <a:lnSpc>
                          <a:spcPct val="112000"/>
                        </a:lnSpc>
                      </a:pPr>
                      <a:r>
                        <a:rPr sz="960">
                          <a:solidFill>
                            <a:srgbClr val="D5D0C5"/>
                          </a:solidFill>
                          <a:latin typeface="Segoe UI"/>
                        </a:rPr>
                        <a:t>ACA</a:t>
                      </a:r>
                    </a:p>
                  </a:txBody>
                  <a:tcPr marL="91440" marR="91440" marT="27432" marB="27432" anchor="ctr">
                    <a:solidFill>
                      <a:srgbClr val="16212C"/>
                    </a:solidFill>
                  </a:tcPr>
                </a:tc>
              </a:tr>
              <a:tr h="475488">
                <a:tc>
                  <a:txBody>
                    <a:bodyPr wrap="square"/>
                    <a:lstStyle/>
                    <a:p>
                      <a:pPr>
                        <a:lnSpc>
                          <a:spcPct val="112000"/>
                        </a:lnSpc>
                      </a:pPr>
                      <a:r>
                        <a:rPr sz="960">
                          <a:solidFill>
                            <a:srgbClr val="F3EFE7"/>
                          </a:solidFill>
                          <a:latin typeface="Segoe UI"/>
                        </a:rPr>
                        <a:t>Responsables administratifs, humains, numériques, qualité ou RSE</a:t>
                      </a:r>
                    </a:p>
                  </a:txBody>
                  <a:tcPr marL="91440" marR="91440" marT="27432" marB="27432" anchor="ctr">
                    <a:solidFill>
                      <a:srgbClr val="121C26"/>
                    </a:solidFill>
                  </a:tcPr>
                </a:tc>
                <a:tc>
                  <a:txBody>
                    <a:bodyPr wrap="square"/>
                    <a:lstStyle/>
                    <a:p>
                      <a:pPr>
                        <a:lnSpc>
                          <a:spcPct val="112000"/>
                        </a:lnSpc>
                      </a:pPr>
                      <a:r>
                        <a:rPr sz="960">
                          <a:solidFill>
                            <a:srgbClr val="D5D0C5"/>
                          </a:solidFill>
                          <a:latin typeface="Segoe UI"/>
                        </a:rPr>
                        <a:t>10</a:t>
                      </a:r>
                    </a:p>
                  </a:txBody>
                  <a:tcPr marL="91440" marR="91440" marT="27432" marB="27432" anchor="ctr">
                    <a:solidFill>
                      <a:srgbClr val="121C26"/>
                    </a:solidFill>
                  </a:tcPr>
                </a:tc>
                <a:tc>
                  <a:txBody>
                    <a:bodyPr wrap="square"/>
                    <a:lstStyle/>
                    <a:p>
                      <a:pPr>
                        <a:lnSpc>
                          <a:spcPct val="112000"/>
                        </a:lnSpc>
                      </a:pPr>
                      <a:r>
                        <a:rPr sz="960">
                          <a:solidFill>
                            <a:srgbClr val="D5D0C5"/>
                          </a:solidFill>
                          <a:latin typeface="Segoe UI"/>
                        </a:rPr>
                        <a:t>ADM · RH · NUM-QRSE</a:t>
                      </a:r>
                    </a:p>
                  </a:txBody>
                  <a:tcPr marL="91440" marR="91440" marT="27432" marB="27432" anchor="ctr">
                    <a:solidFill>
                      <a:srgbClr val="121C26"/>
                    </a:solidFill>
                  </a:tcPr>
                </a:tc>
              </a:tr>
              <a:tr h="475488">
                <a:tc>
                  <a:txBody>
                    <a:bodyPr wrap="square"/>
                    <a:lstStyle/>
                    <a:p>
                      <a:pPr>
                        <a:lnSpc>
                          <a:spcPct val="112000"/>
                        </a:lnSpc>
                      </a:pPr>
                      <a:r>
                        <a:rPr sz="960">
                          <a:solidFill>
                            <a:srgbClr val="F3EFE7"/>
                          </a:solidFill>
                          <a:latin typeface="Segoe UI"/>
                        </a:rPr>
                        <a:t>Total prévisionnel</a:t>
                      </a:r>
                    </a:p>
                  </a:txBody>
                  <a:tcPr marL="91440" marR="91440" marT="27432" marB="27432" anchor="ctr">
                    <a:solidFill>
                      <a:srgbClr val="16212C"/>
                    </a:solidFill>
                  </a:tcPr>
                </a:tc>
                <a:tc>
                  <a:txBody>
                    <a:bodyPr wrap="square"/>
                    <a:lstStyle/>
                    <a:p>
                      <a:pPr>
                        <a:lnSpc>
                          <a:spcPct val="112000"/>
                        </a:lnSpc>
                      </a:pPr>
                      <a:r>
                        <a:rPr sz="960">
                          <a:solidFill>
                            <a:srgbClr val="D5D0C5"/>
                          </a:solidFill>
                          <a:latin typeface="Segoe UI"/>
                        </a:rPr>
                        <a:t>45</a:t>
                      </a:r>
                    </a:p>
                  </a:txBody>
                  <a:tcPr marL="91440" marR="91440" marT="27432" marB="27432" anchor="ctr">
                    <a:solidFill>
                      <a:srgbClr val="16212C"/>
                    </a:solidFill>
                  </a:tcPr>
                </a:tc>
                <a:tc>
                  <a:txBody>
                    <a:bodyPr wrap="square"/>
                    <a:lstStyle/>
                    <a:p>
                      <a:pPr>
                        <a:lnSpc>
                          <a:spcPct val="112000"/>
                        </a:lnSpc>
                      </a:pPr>
                      <a:r>
                        <a:rPr sz="960">
                          <a:solidFill>
                            <a:srgbClr val="D5D0C5"/>
                          </a:solidFill>
                          <a:latin typeface="Segoe UI"/>
                        </a:rPr>
                        <a:t/>
                      </a:r>
                    </a:p>
                  </a:txBody>
                  <a:tcPr marL="91440" marR="91440" marT="27432" marB="27432" anchor="ctr">
                    <a:solidFill>
                      <a:srgbClr val="16212C"/>
                    </a:solidFill>
                  </a:tcPr>
                </a:tc>
              </a:tr>
            </a:tbl>
          </a:graphicData>
        </a:graphic>
      </p:graphicFrame>
      <p:sp>
        <p:nvSpPr>
          <p:cNvPr id="12" name="TextBox 11"/>
          <p:cNvSpPr txBox="1"/>
          <p:nvPr/>
        </p:nvSpPr>
        <p:spPr>
          <a:xfrm>
            <a:off x="5826419" y="4956683"/>
            <a:ext cx="5706907" cy="457200"/>
          </a:xfrm>
          <a:prstGeom prst="rect">
            <a:avLst/>
          </a:prstGeom>
          <a:noFill/>
        </p:spPr>
        <p:txBody>
          <a:bodyPr wrap="square" lIns="0" rIns="0" tIns="0" bIns="0" anchor="t">
            <a:spAutoFit/>
          </a:bodyPr>
          <a:lstStyle/>
          <a:p>
            <a:pPr algn="l">
              <a:lnSpc>
                <a:spcPct val="125000"/>
              </a:lnSpc>
              <a:spcBef>
                <a:spcPts val="0"/>
              </a:spcBef>
              <a:spcAft>
                <a:spcPts val="0"/>
              </a:spcAft>
            </a:pPr>
            <a:r>
              <a:rPr sz="880" b="0" i="0">
                <a:solidFill>
                  <a:srgbClr val="93A5B4"/>
                </a:solidFill>
                <a:latin typeface="Segoe UI"/>
              </a:rPr>
              <a:t>Recrutement, saturation et suffisance informationnelle documentés (annexes C et H).</a:t>
            </a:r>
          </a:p>
        </p:txBody>
      </p:sp>
      <p:sp>
        <p:nvSpPr>
          <p:cNvPr id="13" name="Rectangle 12"/>
          <p:cNvSpPr/>
          <p:nvPr/>
        </p:nvSpPr>
        <p:spPr>
          <a:xfrm>
            <a:off x="658368" y="6199632"/>
            <a:ext cx="10874959" cy="7315"/>
          </a:xfrm>
          <a:prstGeom prst="rect">
            <a:avLst/>
          </a:prstGeom>
          <a:solidFill>
            <a:srgbClr val="2734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58368" y="6291072"/>
            <a:ext cx="10189159" cy="457200"/>
          </a:xfrm>
          <a:prstGeom prst="rect">
            <a:avLst/>
          </a:prstGeom>
          <a:noFill/>
        </p:spPr>
        <p:txBody>
          <a:bodyPr wrap="square" lIns="0" rIns="0" tIns="0" bIns="0" anchor="t">
            <a:spAutoFit/>
          </a:bodyPr>
          <a:lstStyle/>
          <a:p>
            <a:pPr algn="l">
              <a:lnSpc>
                <a:spcPct val="110000"/>
              </a:lnSpc>
              <a:spcBef>
                <a:spcPts val="0"/>
              </a:spcBef>
              <a:spcAft>
                <a:spcPts val="0"/>
              </a:spcAft>
            </a:pPr>
            <a:r>
              <a:rPr sz="740" b="1">
                <a:solidFill>
                  <a:srgbClr val="93A5B4"/>
                </a:solidFill>
                <a:latin typeface="Segoe UI"/>
              </a:rPr>
              <a:t>Sources : </a:t>
            </a:r>
            <a:r>
              <a:rPr sz="740" b="0">
                <a:solidFill>
                  <a:srgbClr val="708392"/>
                </a:solidFill>
                <a:latin typeface="Segoe UI"/>
              </a:rPr>
              <a:t>plan harmonisé § 4.3 ; tableaux 4.2 (critères et dimensions de variation) et 4.3 (cas pressentis, échantillonnage prévisionnel) ; annexe E (tableau pseudonymisé).</a:t>
            </a:r>
          </a:p>
        </p:txBody>
      </p:sp>
      <p:sp>
        <p:nvSpPr>
          <p:cNvPr id="15" name="TextBox 14"/>
          <p:cNvSpPr txBox="1"/>
          <p:nvPr/>
        </p:nvSpPr>
        <p:spPr>
          <a:xfrm>
            <a:off x="10874959" y="6291072"/>
            <a:ext cx="658368" cy="274320"/>
          </a:xfrm>
          <a:prstGeom prst="rect">
            <a:avLst/>
          </a:prstGeom>
          <a:noFill/>
        </p:spPr>
        <p:txBody>
          <a:bodyPr wrap="square" lIns="0" rIns="0" tIns="0" bIns="0" anchor="t">
            <a:spAutoFit/>
          </a:bodyPr>
          <a:lstStyle/>
          <a:p>
            <a:pPr algn="r">
              <a:lnSpc>
                <a:spcPct val="118000"/>
              </a:lnSpc>
              <a:spcBef>
                <a:spcPts val="0"/>
              </a:spcBef>
              <a:spcAft>
                <a:spcPts val="0"/>
              </a:spcAft>
            </a:pPr>
            <a:r>
              <a:rPr sz="800" b="0" i="0">
                <a:solidFill>
                  <a:srgbClr val="93A5B4"/>
                </a:solidFill>
                <a:latin typeface="Consolas"/>
              </a:rPr>
              <a:t>13 / 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1C26"/>
              </a:gs>
              <a:gs pos="100000">
                <a:srgbClr val="0B101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828739"/>
            <a:ext cx="12191695" cy="29260"/>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75488"/>
            <a:ext cx="10874959"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spc="160">
                <a:solidFill>
                  <a:srgbClr val="E3C485"/>
                </a:solidFill>
                <a:latin typeface="Segoe UI"/>
              </a:rPr>
              <a:t>CHAPITRE 4 · § 4.4 ET 4.6</a:t>
            </a:r>
          </a:p>
        </p:txBody>
      </p:sp>
      <p:sp>
        <p:nvSpPr>
          <p:cNvPr id="5" name="TextBox 4"/>
          <p:cNvSpPr txBox="1"/>
          <p:nvPr/>
        </p:nvSpPr>
        <p:spPr>
          <a:xfrm>
            <a:off x="658368" y="713232"/>
            <a:ext cx="10692079" cy="914400"/>
          </a:xfrm>
          <a:prstGeom prst="rect">
            <a:avLst/>
          </a:prstGeom>
          <a:noFill/>
        </p:spPr>
        <p:txBody>
          <a:bodyPr wrap="square" lIns="0" rIns="0" tIns="0" bIns="0" anchor="t">
            <a:spAutoFit/>
          </a:bodyPr>
          <a:lstStyle/>
          <a:p>
            <a:pPr>
              <a:lnSpc>
                <a:spcPct val="105000"/>
              </a:lnSpc>
            </a:pPr>
            <a:r>
              <a:rPr sz="2450" b="0">
                <a:solidFill>
                  <a:srgbClr val="F3EFE7"/>
                </a:solidFill>
                <a:latin typeface="Georgia"/>
              </a:rPr>
              <a:t>Cinq instruments, une analyse thématique hybride</a:t>
            </a:r>
          </a:p>
        </p:txBody>
      </p:sp>
      <p:sp>
        <p:nvSpPr>
          <p:cNvPr id="6" name="Rounded Rectangle 5"/>
          <p:cNvSpPr/>
          <p:nvPr/>
        </p:nvSpPr>
        <p:spPr>
          <a:xfrm>
            <a:off x="658368" y="1353947"/>
            <a:ext cx="5327751" cy="2331720"/>
          </a:xfrm>
          <a:prstGeom prst="roundRect">
            <a:avLst>
              <a:gd name="adj" fmla="val 55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32103" y="1491107"/>
            <a:ext cx="4980279" cy="2148839"/>
          </a:xfrm>
          <a:prstGeom prst="rect">
            <a:avLst/>
          </a:prstGeom>
          <a:noFill/>
        </p:spPr>
        <p:txBody>
          <a:bodyPr wrap="square" lIns="0" rIns="0" tIns="0" bIns="0" anchor="ctr">
            <a:spAutoFit/>
          </a:bodyPr>
          <a:lstStyle/>
          <a:p>
            <a:pPr algn="l">
              <a:lnSpc>
                <a:spcPct val="115000"/>
              </a:lnSpc>
              <a:spcBef>
                <a:spcPts val="0"/>
              </a:spcBef>
              <a:spcAft>
                <a:spcPts val="250"/>
              </a:spcAft>
            </a:pPr>
            <a:r>
              <a:rPr sz="900" b="1" i="0" spc="70">
                <a:solidFill>
                  <a:srgbClr val="E3C485"/>
                </a:solidFill>
                <a:latin typeface="Segoe UI"/>
              </a:rPr>
              <a:t>COLLECTE</a:t>
            </a:r>
          </a:p>
          <a:p>
            <a:pPr algn="l">
              <a:lnSpc>
                <a:spcPct val="124000"/>
              </a:lnSpc>
              <a:spcBef>
                <a:spcPts val="700"/>
              </a:spcBef>
              <a:spcAft>
                <a:spcPts val="0"/>
              </a:spcAft>
            </a:pPr>
            <a:r>
              <a:rPr sz="856" b="1">
                <a:solidFill>
                  <a:srgbClr val="C8A154"/>
                </a:solidFill>
                <a:latin typeface="Segoe UI"/>
              </a:rPr>
              <a:t>■  </a:t>
            </a:r>
            <a:r>
              <a:rPr sz="1070" b="0" i="0">
                <a:solidFill>
                  <a:srgbClr val="D5D0C5"/>
                </a:solidFill>
                <a:latin typeface="Segoe UI"/>
              </a:rPr>
              <a:t>Entretiens semi-directifs — guide harmonisé de 14 questions, avec relances (annexe A).</a:t>
            </a:r>
          </a:p>
          <a:p>
            <a:pPr algn="l">
              <a:lnSpc>
                <a:spcPct val="124000"/>
              </a:lnSpc>
              <a:spcBef>
                <a:spcPts val="700"/>
              </a:spcBef>
              <a:spcAft>
                <a:spcPts val="0"/>
              </a:spcAft>
            </a:pPr>
            <a:r>
              <a:rPr sz="856" b="1">
                <a:solidFill>
                  <a:srgbClr val="C8A154"/>
                </a:solidFill>
                <a:latin typeface="Segoe UI"/>
              </a:rPr>
              <a:t>■  </a:t>
            </a:r>
            <a:r>
              <a:rPr sz="1070" b="0" i="0">
                <a:solidFill>
                  <a:srgbClr val="D5D0C5"/>
                </a:solidFill>
                <a:latin typeface="Segoe UI"/>
              </a:rPr>
              <a:t>Observation directe à dominante non participante des scènes de décision.</a:t>
            </a:r>
          </a:p>
          <a:p>
            <a:pPr algn="l">
              <a:lnSpc>
                <a:spcPct val="124000"/>
              </a:lnSpc>
              <a:spcBef>
                <a:spcPts val="700"/>
              </a:spcBef>
              <a:spcAft>
                <a:spcPts val="0"/>
              </a:spcAft>
            </a:pPr>
            <a:r>
              <a:rPr sz="856" b="1">
                <a:solidFill>
                  <a:srgbClr val="C8A154"/>
                </a:solidFill>
                <a:latin typeface="Segoe UI"/>
              </a:rPr>
              <a:t>■  </a:t>
            </a:r>
            <a:r>
              <a:rPr sz="1070" b="0" i="0">
                <a:solidFill>
                  <a:srgbClr val="D5D0C5"/>
                </a:solidFill>
                <a:latin typeface="Segoe UI"/>
              </a:rPr>
              <a:t>Analyse documentaire — documents institutionnels autorisés.</a:t>
            </a:r>
          </a:p>
          <a:p>
            <a:pPr algn="l">
              <a:lnSpc>
                <a:spcPct val="124000"/>
              </a:lnSpc>
              <a:spcBef>
                <a:spcPts val="700"/>
              </a:spcBef>
              <a:spcAft>
                <a:spcPts val="0"/>
              </a:spcAft>
            </a:pPr>
            <a:r>
              <a:rPr sz="856" b="1">
                <a:solidFill>
                  <a:srgbClr val="C8A154"/>
                </a:solidFill>
                <a:latin typeface="Segoe UI"/>
              </a:rPr>
              <a:t>■  </a:t>
            </a:r>
            <a:r>
              <a:rPr sz="1070" b="0" i="0">
                <a:solidFill>
                  <a:srgbClr val="D5D0C5"/>
                </a:solidFill>
                <a:latin typeface="Segoe UI"/>
              </a:rPr>
              <a:t>Journal de terrain et mémos réflexifs.</a:t>
            </a:r>
          </a:p>
        </p:txBody>
      </p:sp>
      <p:sp>
        <p:nvSpPr>
          <p:cNvPr id="8" name="Rounded Rectangle 7"/>
          <p:cNvSpPr/>
          <p:nvPr/>
        </p:nvSpPr>
        <p:spPr>
          <a:xfrm>
            <a:off x="6205575" y="1353947"/>
            <a:ext cx="5327751" cy="2331720"/>
          </a:xfrm>
          <a:prstGeom prst="roundRect">
            <a:avLst>
              <a:gd name="adj" fmla="val 55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379311" y="1491107"/>
            <a:ext cx="4980279" cy="2148839"/>
          </a:xfrm>
          <a:prstGeom prst="rect">
            <a:avLst/>
          </a:prstGeom>
          <a:noFill/>
        </p:spPr>
        <p:txBody>
          <a:bodyPr wrap="square" lIns="0" rIns="0" tIns="0" bIns="0" anchor="ctr">
            <a:spAutoFit/>
          </a:bodyPr>
          <a:lstStyle/>
          <a:p>
            <a:pPr algn="l">
              <a:lnSpc>
                <a:spcPct val="115000"/>
              </a:lnSpc>
              <a:spcBef>
                <a:spcPts val="0"/>
              </a:spcBef>
              <a:spcAft>
                <a:spcPts val="250"/>
              </a:spcAft>
            </a:pPr>
            <a:r>
              <a:rPr sz="900" b="1" i="0" spc="70">
                <a:solidFill>
                  <a:srgbClr val="E3C485"/>
                </a:solidFill>
                <a:latin typeface="Segoe UI"/>
              </a:rPr>
              <a:t>ANALYSE</a:t>
            </a:r>
          </a:p>
          <a:p>
            <a:pPr algn="l">
              <a:lnSpc>
                <a:spcPct val="124000"/>
              </a:lnSpc>
              <a:spcBef>
                <a:spcPts val="700"/>
              </a:spcBef>
              <a:spcAft>
                <a:spcPts val="0"/>
              </a:spcAft>
            </a:pPr>
            <a:r>
              <a:rPr sz="856" b="1">
                <a:solidFill>
                  <a:srgbClr val="C8A154"/>
                </a:solidFill>
                <a:latin typeface="Segoe UI"/>
              </a:rPr>
              <a:t>■  </a:t>
            </a:r>
            <a:r>
              <a:rPr sz="1070" b="0" i="0">
                <a:solidFill>
                  <a:srgbClr val="D5D0C5"/>
                </a:solidFill>
                <a:latin typeface="Segoe UI"/>
              </a:rPr>
              <a:t>Codage hybride : déductif (cadre, propositions) et inductif (thèmes émergents).</a:t>
            </a:r>
          </a:p>
          <a:p>
            <a:pPr algn="l">
              <a:lnSpc>
                <a:spcPct val="124000"/>
              </a:lnSpc>
              <a:spcBef>
                <a:spcPts val="700"/>
              </a:spcBef>
              <a:spcAft>
                <a:spcPts val="0"/>
              </a:spcAft>
            </a:pPr>
            <a:r>
              <a:rPr sz="856" b="1">
                <a:solidFill>
                  <a:srgbClr val="C8A154"/>
                </a:solidFill>
                <a:latin typeface="Segoe UI"/>
              </a:rPr>
              <a:t>■  </a:t>
            </a:r>
            <a:r>
              <a:rPr sz="1070" b="0" i="0">
                <a:solidFill>
                  <a:srgbClr val="D5D0C5"/>
                </a:solidFill>
                <a:latin typeface="Segoe UI"/>
              </a:rPr>
              <a:t>Intra-cas (monographies) puis inter-cas (configurations).</a:t>
            </a:r>
          </a:p>
          <a:p>
            <a:pPr algn="l">
              <a:lnSpc>
                <a:spcPct val="124000"/>
              </a:lnSpc>
              <a:spcBef>
                <a:spcPts val="700"/>
              </a:spcBef>
              <a:spcAft>
                <a:spcPts val="0"/>
              </a:spcAft>
            </a:pPr>
            <a:r>
              <a:rPr sz="856" b="1">
                <a:solidFill>
                  <a:srgbClr val="C8A154"/>
                </a:solidFill>
                <a:latin typeface="Segoe UI"/>
              </a:rPr>
              <a:t>■  </a:t>
            </a:r>
            <a:r>
              <a:rPr sz="1070" b="0" i="0">
                <a:solidFill>
                  <a:srgbClr val="D5D0C5"/>
                </a:solidFill>
                <a:latin typeface="Segoe UI"/>
              </a:rPr>
              <a:t>Triangulation des sources et des moments de collecte.</a:t>
            </a:r>
          </a:p>
          <a:p>
            <a:pPr algn="l">
              <a:lnSpc>
                <a:spcPct val="124000"/>
              </a:lnSpc>
              <a:spcBef>
                <a:spcPts val="700"/>
              </a:spcBef>
              <a:spcAft>
                <a:spcPts val="0"/>
              </a:spcAft>
            </a:pPr>
            <a:r>
              <a:rPr sz="856" b="1">
                <a:solidFill>
                  <a:srgbClr val="C8A154"/>
                </a:solidFill>
                <a:latin typeface="Segoe UI"/>
              </a:rPr>
              <a:t>■  </a:t>
            </a:r>
            <a:r>
              <a:rPr sz="1070" b="0" i="0">
                <a:solidFill>
                  <a:srgbClr val="D5D0C5"/>
                </a:solidFill>
                <a:latin typeface="Segoe UI"/>
              </a:rPr>
              <a:t>Cas négatifs et explications rivales traités explicitement.</a:t>
            </a:r>
          </a:p>
        </p:txBody>
      </p:sp>
      <p:sp>
        <p:nvSpPr>
          <p:cNvPr id="10" name="Rounded Rectangle 9"/>
          <p:cNvSpPr/>
          <p:nvPr/>
        </p:nvSpPr>
        <p:spPr>
          <a:xfrm>
            <a:off x="658368" y="3895979"/>
            <a:ext cx="3515258" cy="1115568"/>
          </a:xfrm>
          <a:prstGeom prst="roundRect">
            <a:avLst>
              <a:gd name="adj" fmla="val 55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86384" y="3996563"/>
            <a:ext cx="3259226" cy="932688"/>
          </a:xfrm>
          <a:prstGeom prst="rect">
            <a:avLst/>
          </a:prstGeom>
          <a:noFill/>
        </p:spPr>
        <p:txBody>
          <a:bodyPr wrap="square" lIns="0" rIns="0" tIns="0" bIns="0" anchor="ctr">
            <a:spAutoFit/>
          </a:bodyPr>
          <a:lstStyle/>
          <a:p>
            <a:pPr algn="l">
              <a:lnSpc>
                <a:spcPct val="115000"/>
              </a:lnSpc>
              <a:spcBef>
                <a:spcPts val="0"/>
              </a:spcBef>
              <a:spcAft>
                <a:spcPts val="250"/>
              </a:spcAft>
            </a:pPr>
            <a:r>
              <a:rPr sz="900" b="1" i="0" spc="70">
                <a:solidFill>
                  <a:srgbClr val="E3C485"/>
                </a:solidFill>
                <a:latin typeface="Segoe UI"/>
              </a:rPr>
              <a:t>OUTILLAGE</a:t>
            </a:r>
          </a:p>
          <a:p>
            <a:pPr algn="l">
              <a:lnSpc>
                <a:spcPct val="126000"/>
              </a:lnSpc>
              <a:spcBef>
                <a:spcPts val="0"/>
              </a:spcBef>
              <a:spcAft>
                <a:spcPts val="0"/>
              </a:spcAft>
            </a:pPr>
            <a:r>
              <a:rPr sz="960" b="0" i="0">
                <a:solidFill>
                  <a:srgbClr val="D5D0C5"/>
                </a:solidFill>
                <a:latin typeface="Segoe UI"/>
              </a:rPr>
              <a:t>NVivo : arborescence de codes versionnée (annexe F).</a:t>
            </a:r>
          </a:p>
        </p:txBody>
      </p:sp>
      <p:sp>
        <p:nvSpPr>
          <p:cNvPr id="12" name="Rounded Rectangle 11"/>
          <p:cNvSpPr/>
          <p:nvPr/>
        </p:nvSpPr>
        <p:spPr>
          <a:xfrm>
            <a:off x="4338218" y="3895979"/>
            <a:ext cx="3515258" cy="1115568"/>
          </a:xfrm>
          <a:prstGeom prst="roundRect">
            <a:avLst>
              <a:gd name="adj" fmla="val 55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466234" y="3996563"/>
            <a:ext cx="3259226" cy="932688"/>
          </a:xfrm>
          <a:prstGeom prst="rect">
            <a:avLst/>
          </a:prstGeom>
          <a:noFill/>
        </p:spPr>
        <p:txBody>
          <a:bodyPr wrap="square" lIns="0" rIns="0" tIns="0" bIns="0" anchor="ctr">
            <a:spAutoFit/>
          </a:bodyPr>
          <a:lstStyle/>
          <a:p>
            <a:pPr algn="l">
              <a:lnSpc>
                <a:spcPct val="115000"/>
              </a:lnSpc>
              <a:spcBef>
                <a:spcPts val="0"/>
              </a:spcBef>
              <a:spcAft>
                <a:spcPts val="250"/>
              </a:spcAft>
            </a:pPr>
            <a:r>
              <a:rPr sz="900" b="1" i="0" spc="70">
                <a:solidFill>
                  <a:srgbClr val="E3C485"/>
                </a:solidFill>
                <a:latin typeface="Segoe UI"/>
              </a:rPr>
              <a:t>TRAÇABILITÉ</a:t>
            </a:r>
          </a:p>
          <a:p>
            <a:pPr algn="l">
              <a:lnSpc>
                <a:spcPct val="126000"/>
              </a:lnSpc>
              <a:spcBef>
                <a:spcPts val="0"/>
              </a:spcBef>
              <a:spcAft>
                <a:spcPts val="0"/>
              </a:spcAft>
            </a:pPr>
            <a:r>
              <a:rPr sz="960" b="0" i="0">
                <a:solidFill>
                  <a:srgbClr val="D5D0C5"/>
                </a:solidFill>
                <a:latin typeface="Segoe UI"/>
              </a:rPr>
              <a:t>Matrices de saturation, de triangulation, d'analyse comparative (annexe H).</a:t>
            </a:r>
          </a:p>
        </p:txBody>
      </p:sp>
      <p:sp>
        <p:nvSpPr>
          <p:cNvPr id="14" name="Rounded Rectangle 13"/>
          <p:cNvSpPr/>
          <p:nvPr/>
        </p:nvSpPr>
        <p:spPr>
          <a:xfrm>
            <a:off x="8018068" y="3895979"/>
            <a:ext cx="3515258" cy="1115568"/>
          </a:xfrm>
          <a:prstGeom prst="roundRect">
            <a:avLst>
              <a:gd name="adj" fmla="val 55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146084" y="3996563"/>
            <a:ext cx="3259226" cy="932688"/>
          </a:xfrm>
          <a:prstGeom prst="rect">
            <a:avLst/>
          </a:prstGeom>
          <a:noFill/>
        </p:spPr>
        <p:txBody>
          <a:bodyPr wrap="square" lIns="0" rIns="0" tIns="0" bIns="0" anchor="ctr">
            <a:spAutoFit/>
          </a:bodyPr>
          <a:lstStyle/>
          <a:p>
            <a:pPr algn="l">
              <a:lnSpc>
                <a:spcPct val="115000"/>
              </a:lnSpc>
              <a:spcBef>
                <a:spcPts val="0"/>
              </a:spcBef>
              <a:spcAft>
                <a:spcPts val="250"/>
              </a:spcAft>
            </a:pPr>
            <a:r>
              <a:rPr sz="900" b="1" i="0" spc="70">
                <a:solidFill>
                  <a:srgbClr val="E3C485"/>
                </a:solidFill>
                <a:latin typeface="Segoe UI"/>
              </a:rPr>
              <a:t>RESTITUTION</a:t>
            </a:r>
          </a:p>
          <a:p>
            <a:pPr algn="l">
              <a:lnSpc>
                <a:spcPct val="126000"/>
              </a:lnSpc>
              <a:spcBef>
                <a:spcPts val="0"/>
              </a:spcBef>
              <a:spcAft>
                <a:spcPts val="0"/>
              </a:spcAft>
            </a:pPr>
            <a:r>
              <a:rPr sz="960" b="0" i="0">
                <a:solidFill>
                  <a:srgbClr val="D5D0C5"/>
                </a:solidFill>
                <a:latin typeface="Segoe UI"/>
              </a:rPr>
              <a:t>Verbatims authentiques, anonymisés et contextualisés (annexe I) — jamais reconstitués.</a:t>
            </a:r>
          </a:p>
        </p:txBody>
      </p:sp>
      <p:sp>
        <p:nvSpPr>
          <p:cNvPr id="16" name="Rectangle 15"/>
          <p:cNvSpPr/>
          <p:nvPr/>
        </p:nvSpPr>
        <p:spPr>
          <a:xfrm>
            <a:off x="658368" y="6199632"/>
            <a:ext cx="10874959" cy="7315"/>
          </a:xfrm>
          <a:prstGeom prst="rect">
            <a:avLst/>
          </a:prstGeom>
          <a:solidFill>
            <a:srgbClr val="2734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58368" y="6291072"/>
            <a:ext cx="10189159" cy="457200"/>
          </a:xfrm>
          <a:prstGeom prst="rect">
            <a:avLst/>
          </a:prstGeom>
          <a:noFill/>
        </p:spPr>
        <p:txBody>
          <a:bodyPr wrap="square" lIns="0" rIns="0" tIns="0" bIns="0" anchor="t">
            <a:spAutoFit/>
          </a:bodyPr>
          <a:lstStyle/>
          <a:p>
            <a:pPr algn="l">
              <a:lnSpc>
                <a:spcPct val="110000"/>
              </a:lnSpc>
              <a:spcBef>
                <a:spcPts val="0"/>
              </a:spcBef>
              <a:spcAft>
                <a:spcPts val="0"/>
              </a:spcAft>
            </a:pPr>
            <a:r>
              <a:rPr sz="740" b="1">
                <a:solidFill>
                  <a:srgbClr val="93A5B4"/>
                </a:solidFill>
                <a:latin typeface="Segoe UI"/>
              </a:rPr>
              <a:t>Sources : </a:t>
            </a:r>
            <a:r>
              <a:rPr sz="740" b="0">
                <a:solidFill>
                  <a:srgbClr val="708392"/>
                </a:solidFill>
                <a:latin typeface="Segoe UI"/>
              </a:rPr>
              <a:t>plan harmonisé § 4.4, § 4.6 ; tableau 4.4 (sources, instruments, triangulation) ; annexes A, D, F, H, I.</a:t>
            </a:r>
          </a:p>
        </p:txBody>
      </p:sp>
      <p:sp>
        <p:nvSpPr>
          <p:cNvPr id="18" name="TextBox 17"/>
          <p:cNvSpPr txBox="1"/>
          <p:nvPr/>
        </p:nvSpPr>
        <p:spPr>
          <a:xfrm>
            <a:off x="10874959" y="6291072"/>
            <a:ext cx="658368" cy="274320"/>
          </a:xfrm>
          <a:prstGeom prst="rect">
            <a:avLst/>
          </a:prstGeom>
          <a:noFill/>
        </p:spPr>
        <p:txBody>
          <a:bodyPr wrap="square" lIns="0" rIns="0" tIns="0" bIns="0" anchor="t">
            <a:spAutoFit/>
          </a:bodyPr>
          <a:lstStyle/>
          <a:p>
            <a:pPr algn="r">
              <a:lnSpc>
                <a:spcPct val="118000"/>
              </a:lnSpc>
              <a:spcBef>
                <a:spcPts val="0"/>
              </a:spcBef>
              <a:spcAft>
                <a:spcPts val="0"/>
              </a:spcAft>
            </a:pPr>
            <a:r>
              <a:rPr sz="800" b="0" i="0">
                <a:solidFill>
                  <a:srgbClr val="93A5B4"/>
                </a:solidFill>
                <a:latin typeface="Consolas"/>
              </a:rPr>
              <a:t>14 / 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1C26"/>
              </a:gs>
              <a:gs pos="100000">
                <a:srgbClr val="0B101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828739"/>
            <a:ext cx="12191695" cy="29260"/>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75488"/>
            <a:ext cx="10874959"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spc="160">
                <a:solidFill>
                  <a:srgbClr val="E3C485"/>
                </a:solidFill>
                <a:latin typeface="Segoe UI"/>
              </a:rPr>
              <a:t>CHAPITRE 4 · § 4.7–4.8</a:t>
            </a:r>
          </a:p>
        </p:txBody>
      </p:sp>
      <p:sp>
        <p:nvSpPr>
          <p:cNvPr id="5" name="TextBox 4"/>
          <p:cNvSpPr txBox="1"/>
          <p:nvPr/>
        </p:nvSpPr>
        <p:spPr>
          <a:xfrm>
            <a:off x="658368" y="713232"/>
            <a:ext cx="10692079" cy="914400"/>
          </a:xfrm>
          <a:prstGeom prst="rect">
            <a:avLst/>
          </a:prstGeom>
          <a:noFill/>
        </p:spPr>
        <p:txBody>
          <a:bodyPr wrap="square" lIns="0" rIns="0" tIns="0" bIns="0" anchor="t">
            <a:spAutoFit/>
          </a:bodyPr>
          <a:lstStyle/>
          <a:p>
            <a:pPr>
              <a:lnSpc>
                <a:spcPct val="105000"/>
              </a:lnSpc>
            </a:pPr>
            <a:r>
              <a:rPr sz="2450" b="0">
                <a:solidFill>
                  <a:srgbClr val="F3EFE7"/>
                </a:solidFill>
                <a:latin typeface="Georgia"/>
              </a:rPr>
              <a:t>Rigueur scientifique et protection des participants</a:t>
            </a:r>
          </a:p>
        </p:txBody>
      </p:sp>
      <p:sp>
        <p:nvSpPr>
          <p:cNvPr id="6" name="Rounded Rectangle 5"/>
          <p:cNvSpPr/>
          <p:nvPr/>
        </p:nvSpPr>
        <p:spPr>
          <a:xfrm>
            <a:off x="658368" y="1353947"/>
            <a:ext cx="5327751" cy="2286000"/>
          </a:xfrm>
          <a:prstGeom prst="roundRect">
            <a:avLst>
              <a:gd name="adj" fmla="val 55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32103" y="1491107"/>
            <a:ext cx="4980279" cy="2103120"/>
          </a:xfrm>
          <a:prstGeom prst="rect">
            <a:avLst/>
          </a:prstGeom>
          <a:noFill/>
        </p:spPr>
        <p:txBody>
          <a:bodyPr wrap="square" lIns="0" rIns="0" tIns="0" bIns="0" anchor="ctr">
            <a:spAutoFit/>
          </a:bodyPr>
          <a:lstStyle/>
          <a:p>
            <a:pPr algn="l">
              <a:lnSpc>
                <a:spcPct val="115000"/>
              </a:lnSpc>
              <a:spcBef>
                <a:spcPts val="0"/>
              </a:spcBef>
              <a:spcAft>
                <a:spcPts val="250"/>
              </a:spcAft>
            </a:pPr>
            <a:r>
              <a:rPr sz="900" b="1" i="0" spc="70">
                <a:solidFill>
                  <a:srgbClr val="E3C485"/>
                </a:solidFill>
                <a:latin typeface="Segoe UI"/>
              </a:rPr>
              <a:t>CRITÈRES DE RIGUEUR</a:t>
            </a:r>
          </a:p>
          <a:p>
            <a:pPr algn="l">
              <a:lnSpc>
                <a:spcPct val="124000"/>
              </a:lnSpc>
              <a:spcBef>
                <a:spcPts val="700"/>
              </a:spcBef>
              <a:spcAft>
                <a:spcPts val="0"/>
              </a:spcAft>
            </a:pPr>
            <a:r>
              <a:rPr sz="856" b="1">
                <a:solidFill>
                  <a:srgbClr val="C8A154"/>
                </a:solidFill>
                <a:latin typeface="Segoe UI"/>
              </a:rPr>
              <a:t>■  </a:t>
            </a:r>
            <a:r>
              <a:rPr sz="1070" b="0" i="0">
                <a:solidFill>
                  <a:srgbClr val="D5D0C5"/>
                </a:solidFill>
                <a:latin typeface="Segoe UI"/>
              </a:rPr>
              <a:t>Crédibilité : triangulation, restitution aux acteurs.</a:t>
            </a:r>
          </a:p>
          <a:p>
            <a:pPr algn="l">
              <a:lnSpc>
                <a:spcPct val="124000"/>
              </a:lnSpc>
              <a:spcBef>
                <a:spcPts val="700"/>
              </a:spcBef>
              <a:spcAft>
                <a:spcPts val="0"/>
              </a:spcAft>
            </a:pPr>
            <a:r>
              <a:rPr sz="856" b="1">
                <a:solidFill>
                  <a:srgbClr val="C8A154"/>
                </a:solidFill>
                <a:latin typeface="Segoe UI"/>
              </a:rPr>
              <a:t>■  </a:t>
            </a:r>
            <a:r>
              <a:rPr sz="1070" b="0" i="0">
                <a:solidFill>
                  <a:srgbClr val="D5D0C5"/>
                </a:solidFill>
                <a:latin typeface="Segoe UI"/>
              </a:rPr>
              <a:t>Transférabilité : description dense du contexte et des cas.</a:t>
            </a:r>
          </a:p>
          <a:p>
            <a:pPr algn="l">
              <a:lnSpc>
                <a:spcPct val="124000"/>
              </a:lnSpc>
              <a:spcBef>
                <a:spcPts val="700"/>
              </a:spcBef>
              <a:spcAft>
                <a:spcPts val="0"/>
              </a:spcAft>
            </a:pPr>
            <a:r>
              <a:rPr sz="856" b="1">
                <a:solidFill>
                  <a:srgbClr val="C8A154"/>
                </a:solidFill>
                <a:latin typeface="Segoe UI"/>
              </a:rPr>
              <a:t>■  </a:t>
            </a:r>
            <a:r>
              <a:rPr sz="1070" b="0" i="0">
                <a:solidFill>
                  <a:srgbClr val="D5D0C5"/>
                </a:solidFill>
                <a:latin typeface="Segoe UI"/>
              </a:rPr>
              <a:t>Fiabilité : protocole tracé, versions datées, journal de terrain.</a:t>
            </a:r>
          </a:p>
          <a:p>
            <a:pPr algn="l">
              <a:lnSpc>
                <a:spcPct val="124000"/>
              </a:lnSpc>
              <a:spcBef>
                <a:spcPts val="700"/>
              </a:spcBef>
              <a:spcAft>
                <a:spcPts val="0"/>
              </a:spcAft>
            </a:pPr>
            <a:r>
              <a:rPr sz="856" b="1">
                <a:solidFill>
                  <a:srgbClr val="C8A154"/>
                </a:solidFill>
                <a:latin typeface="Segoe UI"/>
              </a:rPr>
              <a:t>■  </a:t>
            </a:r>
            <a:r>
              <a:rPr sz="1070" b="0" i="0">
                <a:solidFill>
                  <a:srgbClr val="D5D0C5"/>
                </a:solidFill>
                <a:latin typeface="Segoe UI"/>
              </a:rPr>
              <a:t>Confirmabilité : chaîne de preuves auditable, mémos réflexifs.</a:t>
            </a:r>
          </a:p>
        </p:txBody>
      </p:sp>
      <p:sp>
        <p:nvSpPr>
          <p:cNvPr id="8" name="Rounded Rectangle 7"/>
          <p:cNvSpPr/>
          <p:nvPr/>
        </p:nvSpPr>
        <p:spPr>
          <a:xfrm>
            <a:off x="6205575" y="1353947"/>
            <a:ext cx="5327751" cy="2286000"/>
          </a:xfrm>
          <a:prstGeom prst="roundRect">
            <a:avLst>
              <a:gd name="adj" fmla="val 55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379311" y="1491107"/>
            <a:ext cx="4980279" cy="2103120"/>
          </a:xfrm>
          <a:prstGeom prst="rect">
            <a:avLst/>
          </a:prstGeom>
          <a:noFill/>
        </p:spPr>
        <p:txBody>
          <a:bodyPr wrap="square" lIns="0" rIns="0" tIns="0" bIns="0" anchor="ctr">
            <a:spAutoFit/>
          </a:bodyPr>
          <a:lstStyle/>
          <a:p>
            <a:pPr algn="l">
              <a:lnSpc>
                <a:spcPct val="115000"/>
              </a:lnSpc>
              <a:spcBef>
                <a:spcPts val="0"/>
              </a:spcBef>
              <a:spcAft>
                <a:spcPts val="250"/>
              </a:spcAft>
            </a:pPr>
            <a:r>
              <a:rPr sz="900" b="1" i="0" spc="70">
                <a:solidFill>
                  <a:srgbClr val="E3C485"/>
                </a:solidFill>
                <a:latin typeface="Segoe UI"/>
              </a:rPr>
              <a:t>ÉTHIQUE ET CONFIDENTIALITÉ</a:t>
            </a:r>
          </a:p>
          <a:p>
            <a:pPr algn="l">
              <a:lnSpc>
                <a:spcPct val="124000"/>
              </a:lnSpc>
              <a:spcBef>
                <a:spcPts val="700"/>
              </a:spcBef>
              <a:spcAft>
                <a:spcPts val="0"/>
              </a:spcAft>
            </a:pPr>
            <a:r>
              <a:rPr sz="856" b="1">
                <a:solidFill>
                  <a:srgbClr val="C8A154"/>
                </a:solidFill>
                <a:latin typeface="Segoe UI"/>
              </a:rPr>
              <a:t>■  </a:t>
            </a:r>
            <a:r>
              <a:rPr sz="1070" b="0" i="0">
                <a:solidFill>
                  <a:srgbClr val="D5D0C5"/>
                </a:solidFill>
                <a:latin typeface="Segoe UI"/>
              </a:rPr>
              <a:t>Codes EPES-A à EPES-E en version publique ; participants pseudonymisés.</a:t>
            </a:r>
          </a:p>
          <a:p>
            <a:pPr algn="l">
              <a:lnSpc>
                <a:spcPct val="124000"/>
              </a:lnSpc>
              <a:spcBef>
                <a:spcPts val="700"/>
              </a:spcBef>
              <a:spcAft>
                <a:spcPts val="0"/>
              </a:spcAft>
            </a:pPr>
            <a:r>
              <a:rPr sz="856" b="1">
                <a:solidFill>
                  <a:srgbClr val="C8A154"/>
                </a:solidFill>
                <a:latin typeface="Segoe UI"/>
              </a:rPr>
              <a:t>■  </a:t>
            </a:r>
            <a:r>
              <a:rPr sz="1070" b="0" i="0">
                <a:solidFill>
                  <a:srgbClr val="D5D0C5"/>
                </a:solidFill>
                <a:latin typeface="Segoe UI"/>
              </a:rPr>
              <a:t>Consentement libre et éclairé, note d'information, droit de retrait (annexe B).</a:t>
            </a:r>
          </a:p>
          <a:p>
            <a:pPr algn="l">
              <a:lnSpc>
                <a:spcPct val="124000"/>
              </a:lnSpc>
              <a:spcBef>
                <a:spcPts val="700"/>
              </a:spcBef>
              <a:spcAft>
                <a:spcPts val="0"/>
              </a:spcAft>
            </a:pPr>
            <a:r>
              <a:rPr sz="856" b="1">
                <a:solidFill>
                  <a:srgbClr val="C8A154"/>
                </a:solidFill>
                <a:latin typeface="Segoe UI"/>
              </a:rPr>
              <a:t>■  </a:t>
            </a:r>
            <a:r>
              <a:rPr sz="1070" b="0" i="0">
                <a:solidFill>
                  <a:srgbClr val="D5D0C5"/>
                </a:solidFill>
                <a:latin typeface="Segoe UI"/>
              </a:rPr>
              <a:t>Dossier sécurisé : table de correspondance, formulaires signés, enregistrements — jamais en ligne.</a:t>
            </a:r>
          </a:p>
          <a:p>
            <a:pPr algn="l">
              <a:lnSpc>
                <a:spcPct val="124000"/>
              </a:lnSpc>
              <a:spcBef>
                <a:spcPts val="700"/>
              </a:spcBef>
              <a:spcAft>
                <a:spcPts val="0"/>
              </a:spcAft>
            </a:pPr>
            <a:r>
              <a:rPr sz="856" b="1">
                <a:solidFill>
                  <a:srgbClr val="C8A154"/>
                </a:solidFill>
                <a:latin typeface="Segoe UI"/>
              </a:rPr>
              <a:t>■  </a:t>
            </a:r>
            <a:r>
              <a:rPr sz="1070" b="0" i="0">
                <a:solidFill>
                  <a:srgbClr val="D5D0C5"/>
                </a:solidFill>
                <a:latin typeface="Segoe UI"/>
              </a:rPr>
              <a:t>Verbatims publiés uniquement après anonymisation et contextualisation.</a:t>
            </a:r>
          </a:p>
        </p:txBody>
      </p:sp>
      <p:sp>
        <p:nvSpPr>
          <p:cNvPr id="10" name="Rounded Rectangle 9"/>
          <p:cNvSpPr/>
          <p:nvPr/>
        </p:nvSpPr>
        <p:spPr>
          <a:xfrm>
            <a:off x="658368" y="3841115"/>
            <a:ext cx="10874959" cy="960120"/>
          </a:xfrm>
          <a:prstGeom prst="roundRect">
            <a:avLst>
              <a:gd name="adj" fmla="val 5500"/>
            </a:avLst>
          </a:prstGeom>
          <a:solidFill>
            <a:srgbClr val="2A2418"/>
          </a:solidFill>
          <a:ln w="11430">
            <a:solidFill>
              <a:srgbClr val="C8A15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86384" y="3941699"/>
            <a:ext cx="10618927" cy="777240"/>
          </a:xfrm>
          <a:prstGeom prst="rect">
            <a:avLst/>
          </a:prstGeom>
          <a:noFill/>
        </p:spPr>
        <p:txBody>
          <a:bodyPr wrap="square" lIns="0" rIns="0" tIns="0" bIns="0" anchor="ctr">
            <a:spAutoFit/>
          </a:bodyPr>
          <a:lstStyle/>
          <a:p>
            <a:pPr algn="l">
              <a:lnSpc>
                <a:spcPct val="115000"/>
              </a:lnSpc>
              <a:spcBef>
                <a:spcPts val="0"/>
              </a:spcBef>
              <a:spcAft>
                <a:spcPts val="250"/>
              </a:spcAft>
            </a:pPr>
            <a:r>
              <a:rPr sz="900" b="1" i="0" spc="70">
                <a:solidFill>
                  <a:srgbClr val="E3C485"/>
                </a:solidFill>
                <a:latin typeface="Segoe UI"/>
              </a:rPr>
              <a:t>DOUBLE POSTURE ASSUMÉE</a:t>
            </a:r>
          </a:p>
          <a:p>
            <a:pPr algn="l">
              <a:lnSpc>
                <a:spcPct val="126000"/>
              </a:lnSpc>
              <a:spcBef>
                <a:spcPts val="0"/>
              </a:spcBef>
              <a:spcAft>
                <a:spcPts val="0"/>
              </a:spcAft>
            </a:pPr>
            <a:r>
              <a:rPr sz="1060" b="0" i="0">
                <a:solidFill>
                  <a:srgbClr val="D5D0C5"/>
                </a:solidFill>
                <a:latin typeface="Segoe UI"/>
              </a:rPr>
              <a:t>Praticien-chercheur : la réflexivité sur cette position fait partie du dispositif méthodologique (§ 4.9), elle n'est pas traitée comme un biais résiduel passé sous silence.</a:t>
            </a:r>
          </a:p>
        </p:txBody>
      </p:sp>
      <p:sp>
        <p:nvSpPr>
          <p:cNvPr id="12" name="Rectangle 11"/>
          <p:cNvSpPr/>
          <p:nvPr/>
        </p:nvSpPr>
        <p:spPr>
          <a:xfrm>
            <a:off x="658368" y="6199632"/>
            <a:ext cx="10874959" cy="7315"/>
          </a:xfrm>
          <a:prstGeom prst="rect">
            <a:avLst/>
          </a:prstGeom>
          <a:solidFill>
            <a:srgbClr val="2734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58368" y="6291072"/>
            <a:ext cx="10189159" cy="457200"/>
          </a:xfrm>
          <a:prstGeom prst="rect">
            <a:avLst/>
          </a:prstGeom>
          <a:noFill/>
        </p:spPr>
        <p:txBody>
          <a:bodyPr wrap="square" lIns="0" rIns="0" tIns="0" bIns="0" anchor="t">
            <a:spAutoFit/>
          </a:bodyPr>
          <a:lstStyle/>
          <a:p>
            <a:pPr algn="l">
              <a:lnSpc>
                <a:spcPct val="110000"/>
              </a:lnSpc>
              <a:spcBef>
                <a:spcPts val="0"/>
              </a:spcBef>
              <a:spcAft>
                <a:spcPts val="0"/>
              </a:spcAft>
            </a:pPr>
            <a:r>
              <a:rPr sz="740" b="1">
                <a:solidFill>
                  <a:srgbClr val="93A5B4"/>
                </a:solidFill>
                <a:latin typeface="Segoe UI"/>
              </a:rPr>
              <a:t>Sources : </a:t>
            </a:r>
            <a:r>
              <a:rPr sz="740" b="0">
                <a:solidFill>
                  <a:srgbClr val="708392"/>
                </a:solidFill>
                <a:latin typeface="Segoe UI"/>
              </a:rPr>
              <a:t>plan harmonisé § 4.7–4.9 ; tableau 4.5 (rigueur, risques, protection des participants) ; annexes B, E, J.</a:t>
            </a:r>
          </a:p>
        </p:txBody>
      </p:sp>
      <p:sp>
        <p:nvSpPr>
          <p:cNvPr id="14" name="TextBox 13"/>
          <p:cNvSpPr txBox="1"/>
          <p:nvPr/>
        </p:nvSpPr>
        <p:spPr>
          <a:xfrm>
            <a:off x="10874959" y="6291072"/>
            <a:ext cx="658368" cy="274320"/>
          </a:xfrm>
          <a:prstGeom prst="rect">
            <a:avLst/>
          </a:prstGeom>
          <a:noFill/>
        </p:spPr>
        <p:txBody>
          <a:bodyPr wrap="square" lIns="0" rIns="0" tIns="0" bIns="0" anchor="t">
            <a:spAutoFit/>
          </a:bodyPr>
          <a:lstStyle/>
          <a:p>
            <a:pPr algn="r">
              <a:lnSpc>
                <a:spcPct val="118000"/>
              </a:lnSpc>
              <a:spcBef>
                <a:spcPts val="0"/>
              </a:spcBef>
              <a:spcAft>
                <a:spcPts val="0"/>
              </a:spcAft>
            </a:pPr>
            <a:r>
              <a:rPr sz="800" b="0" i="0">
                <a:solidFill>
                  <a:srgbClr val="93A5B4"/>
                </a:solidFill>
                <a:latin typeface="Consolas"/>
              </a:rPr>
              <a:t>15 / 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1C26"/>
              </a:gs>
              <a:gs pos="100000">
                <a:srgbClr val="0B101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828739"/>
            <a:ext cx="12191695" cy="29260"/>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75488"/>
            <a:ext cx="10874959"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spc="160">
                <a:solidFill>
                  <a:srgbClr val="E3C485"/>
                </a:solidFill>
                <a:latin typeface="Segoe UI"/>
              </a:rPr>
              <a:t>ARCHITECTURE</a:t>
            </a:r>
          </a:p>
        </p:txBody>
      </p:sp>
      <p:sp>
        <p:nvSpPr>
          <p:cNvPr id="5" name="TextBox 4"/>
          <p:cNvSpPr txBox="1"/>
          <p:nvPr/>
        </p:nvSpPr>
        <p:spPr>
          <a:xfrm>
            <a:off x="658368" y="713232"/>
            <a:ext cx="10692079" cy="914400"/>
          </a:xfrm>
          <a:prstGeom prst="rect">
            <a:avLst/>
          </a:prstGeom>
          <a:noFill/>
        </p:spPr>
        <p:txBody>
          <a:bodyPr wrap="square" lIns="0" rIns="0" tIns="0" bIns="0" anchor="t">
            <a:spAutoFit/>
          </a:bodyPr>
          <a:lstStyle/>
          <a:p>
            <a:pPr>
              <a:lnSpc>
                <a:spcPct val="105000"/>
              </a:lnSpc>
            </a:pPr>
            <a:r>
              <a:rPr sz="2450" b="0">
                <a:solidFill>
                  <a:srgbClr val="F3EFE7"/>
                </a:solidFill>
                <a:latin typeface="Georgia"/>
              </a:rPr>
              <a:t>Trois parties, six chapitres, 77 sections numérotées</a:t>
            </a:r>
          </a:p>
        </p:txBody>
      </p:sp>
      <p:sp>
        <p:nvSpPr>
          <p:cNvPr id="6" name="TextBox 5"/>
          <p:cNvSpPr txBox="1"/>
          <p:nvPr/>
        </p:nvSpPr>
        <p:spPr>
          <a:xfrm>
            <a:off x="658368" y="1353947"/>
            <a:ext cx="3490874" cy="228600"/>
          </a:xfrm>
          <a:prstGeom prst="rect">
            <a:avLst/>
          </a:prstGeom>
          <a:noFill/>
        </p:spPr>
        <p:txBody>
          <a:bodyPr wrap="square" lIns="0" rIns="0" tIns="0" bIns="0" anchor="t">
            <a:spAutoFit/>
          </a:bodyPr>
          <a:lstStyle/>
          <a:p>
            <a:pPr algn="l">
              <a:lnSpc>
                <a:spcPct val="118000"/>
              </a:lnSpc>
              <a:spcBef>
                <a:spcPts val="0"/>
              </a:spcBef>
              <a:spcAft>
                <a:spcPts val="0"/>
              </a:spcAft>
            </a:pPr>
            <a:r>
              <a:rPr sz="780" b="1" i="0" spc="80">
                <a:solidFill>
                  <a:srgbClr val="93A5B4"/>
                </a:solidFill>
                <a:latin typeface="Segoe UI"/>
              </a:rPr>
              <a:t>PARTIE I · CONTEXTE ET FONDEMENTS</a:t>
            </a:r>
          </a:p>
        </p:txBody>
      </p:sp>
      <p:sp>
        <p:nvSpPr>
          <p:cNvPr id="7" name="Rounded Rectangle 6"/>
          <p:cNvSpPr/>
          <p:nvPr/>
        </p:nvSpPr>
        <p:spPr>
          <a:xfrm>
            <a:off x="658368" y="1664843"/>
            <a:ext cx="3490874" cy="1024128"/>
          </a:xfrm>
          <a:prstGeom prst="roundRect">
            <a:avLst>
              <a:gd name="adj" fmla="val 6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04672" y="1737995"/>
            <a:ext cx="3198266" cy="877824"/>
          </a:xfrm>
          <a:prstGeom prst="rect">
            <a:avLst/>
          </a:prstGeom>
          <a:noFill/>
        </p:spPr>
        <p:txBody>
          <a:bodyPr wrap="square" lIns="0" rIns="0" tIns="0" bIns="0" anchor="ctr">
            <a:spAutoFit/>
          </a:bodyPr>
          <a:lstStyle/>
          <a:p>
            <a:pPr algn="l">
              <a:lnSpc>
                <a:spcPct val="118000"/>
              </a:lnSpc>
              <a:spcBef>
                <a:spcPts val="0"/>
              </a:spcBef>
              <a:spcAft>
                <a:spcPts val="400"/>
              </a:spcAft>
            </a:pPr>
            <a:r>
              <a:rPr sz="960" b="1" i="0">
                <a:solidFill>
                  <a:srgbClr val="E3C485"/>
                </a:solidFill>
                <a:latin typeface="Segoe UI"/>
              </a:rPr>
              <a:t>Chapitre 1 · 10 §</a:t>
            </a:r>
          </a:p>
          <a:p>
            <a:pPr algn="l">
              <a:lnSpc>
                <a:spcPct val="128000"/>
              </a:lnSpc>
              <a:spcBef>
                <a:spcPts val="0"/>
              </a:spcBef>
              <a:spcAft>
                <a:spcPts val="0"/>
              </a:spcAft>
            </a:pPr>
            <a:r>
              <a:rPr sz="900" b="0" i="0">
                <a:solidFill>
                  <a:srgbClr val="D5D0C5"/>
                </a:solidFill>
                <a:latin typeface="Segoe UI"/>
              </a:rPr>
              <a:t>Les EPES gabonais face à la polycrise : cadre institutionnel, gouvernance, financement, partenariats, ancrage territorial.</a:t>
            </a:r>
          </a:p>
        </p:txBody>
      </p:sp>
      <p:sp>
        <p:nvSpPr>
          <p:cNvPr id="9" name="Rounded Rectangle 8"/>
          <p:cNvSpPr/>
          <p:nvPr/>
        </p:nvSpPr>
        <p:spPr>
          <a:xfrm>
            <a:off x="658368" y="2816987"/>
            <a:ext cx="3490874" cy="1024128"/>
          </a:xfrm>
          <a:prstGeom prst="roundRect">
            <a:avLst>
              <a:gd name="adj" fmla="val 6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04672" y="2890139"/>
            <a:ext cx="3198266" cy="877824"/>
          </a:xfrm>
          <a:prstGeom prst="rect">
            <a:avLst/>
          </a:prstGeom>
          <a:noFill/>
        </p:spPr>
        <p:txBody>
          <a:bodyPr wrap="square" lIns="0" rIns="0" tIns="0" bIns="0" anchor="ctr">
            <a:spAutoFit/>
          </a:bodyPr>
          <a:lstStyle/>
          <a:p>
            <a:pPr algn="l">
              <a:lnSpc>
                <a:spcPct val="118000"/>
              </a:lnSpc>
              <a:spcBef>
                <a:spcPts val="0"/>
              </a:spcBef>
              <a:spcAft>
                <a:spcPts val="400"/>
              </a:spcAft>
            </a:pPr>
            <a:r>
              <a:rPr sz="960" b="1" i="0">
                <a:solidFill>
                  <a:srgbClr val="E3C485"/>
                </a:solidFill>
                <a:latin typeface="Segoe UI"/>
              </a:rPr>
              <a:t>Chapitre 2 · 10 §</a:t>
            </a:r>
          </a:p>
          <a:p>
            <a:pPr algn="l">
              <a:lnSpc>
                <a:spcPct val="128000"/>
              </a:lnSpc>
              <a:spcBef>
                <a:spcPts val="0"/>
              </a:spcBef>
              <a:spcAft>
                <a:spcPts val="0"/>
              </a:spcAft>
            </a:pPr>
            <a:r>
              <a:rPr sz="900" b="0" i="0">
                <a:solidFill>
                  <a:srgbClr val="D5D0C5"/>
                </a:solidFill>
                <a:latin typeface="Segoe UI"/>
              </a:rPr>
              <a:t>Revue critique : gouvernance, IA, IE, performance durable, RSE ; synthèse des lacunes.</a:t>
            </a:r>
          </a:p>
        </p:txBody>
      </p:sp>
      <p:sp>
        <p:nvSpPr>
          <p:cNvPr id="11" name="TextBox 10"/>
          <p:cNvSpPr txBox="1"/>
          <p:nvPr/>
        </p:nvSpPr>
        <p:spPr>
          <a:xfrm>
            <a:off x="4350410" y="1353947"/>
            <a:ext cx="3490874" cy="228600"/>
          </a:xfrm>
          <a:prstGeom prst="rect">
            <a:avLst/>
          </a:prstGeom>
          <a:noFill/>
        </p:spPr>
        <p:txBody>
          <a:bodyPr wrap="square" lIns="0" rIns="0" tIns="0" bIns="0" anchor="t">
            <a:spAutoFit/>
          </a:bodyPr>
          <a:lstStyle/>
          <a:p>
            <a:pPr algn="l">
              <a:lnSpc>
                <a:spcPct val="118000"/>
              </a:lnSpc>
              <a:spcBef>
                <a:spcPts val="0"/>
              </a:spcBef>
              <a:spcAft>
                <a:spcPts val="0"/>
              </a:spcAft>
            </a:pPr>
            <a:r>
              <a:rPr sz="780" b="1" i="0" spc="80">
                <a:solidFill>
                  <a:srgbClr val="93A5B4"/>
                </a:solidFill>
                <a:latin typeface="Segoe UI"/>
              </a:rPr>
              <a:t>PARTIE II · CADRE ET MÉTHODE</a:t>
            </a:r>
          </a:p>
        </p:txBody>
      </p:sp>
      <p:sp>
        <p:nvSpPr>
          <p:cNvPr id="12" name="Rounded Rectangle 11"/>
          <p:cNvSpPr/>
          <p:nvPr/>
        </p:nvSpPr>
        <p:spPr>
          <a:xfrm>
            <a:off x="4350410" y="1664843"/>
            <a:ext cx="3490874" cy="1024128"/>
          </a:xfrm>
          <a:prstGeom prst="roundRect">
            <a:avLst>
              <a:gd name="adj" fmla="val 6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496714" y="1737995"/>
            <a:ext cx="3198266" cy="877824"/>
          </a:xfrm>
          <a:prstGeom prst="rect">
            <a:avLst/>
          </a:prstGeom>
          <a:noFill/>
        </p:spPr>
        <p:txBody>
          <a:bodyPr wrap="square" lIns="0" rIns="0" tIns="0" bIns="0" anchor="ctr">
            <a:spAutoFit/>
          </a:bodyPr>
          <a:lstStyle/>
          <a:p>
            <a:pPr algn="l">
              <a:lnSpc>
                <a:spcPct val="118000"/>
              </a:lnSpc>
              <a:spcBef>
                <a:spcPts val="0"/>
              </a:spcBef>
              <a:spcAft>
                <a:spcPts val="400"/>
              </a:spcAft>
            </a:pPr>
            <a:r>
              <a:rPr sz="960" b="1" i="0">
                <a:solidFill>
                  <a:srgbClr val="E3C485"/>
                </a:solidFill>
                <a:latin typeface="Segoe UI"/>
              </a:rPr>
              <a:t>Chapitre 3 · 9 §</a:t>
            </a:r>
          </a:p>
          <a:p>
            <a:pPr algn="l">
              <a:lnSpc>
                <a:spcPct val="128000"/>
              </a:lnSpc>
              <a:spcBef>
                <a:spcPts val="0"/>
              </a:spcBef>
              <a:spcAft>
                <a:spcPts val="0"/>
              </a:spcAft>
            </a:pPr>
            <a:r>
              <a:rPr sz="900" b="0" i="0">
                <a:solidFill>
                  <a:srgbClr val="D5D0C5"/>
                </a:solidFill>
                <a:latin typeface="Segoe UI"/>
              </a:rPr>
              <a:t>Modèle exploratoire, sept propositions, opérationnalisation, alignement des instruments.</a:t>
            </a:r>
          </a:p>
        </p:txBody>
      </p:sp>
      <p:sp>
        <p:nvSpPr>
          <p:cNvPr id="14" name="Rounded Rectangle 13"/>
          <p:cNvSpPr/>
          <p:nvPr/>
        </p:nvSpPr>
        <p:spPr>
          <a:xfrm>
            <a:off x="4350410" y="2816987"/>
            <a:ext cx="3490874" cy="1024128"/>
          </a:xfrm>
          <a:prstGeom prst="roundRect">
            <a:avLst>
              <a:gd name="adj" fmla="val 6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496714" y="2890139"/>
            <a:ext cx="3198266" cy="877824"/>
          </a:xfrm>
          <a:prstGeom prst="rect">
            <a:avLst/>
          </a:prstGeom>
          <a:noFill/>
        </p:spPr>
        <p:txBody>
          <a:bodyPr wrap="square" lIns="0" rIns="0" tIns="0" bIns="0" anchor="ctr">
            <a:spAutoFit/>
          </a:bodyPr>
          <a:lstStyle/>
          <a:p>
            <a:pPr algn="l">
              <a:lnSpc>
                <a:spcPct val="118000"/>
              </a:lnSpc>
              <a:spcBef>
                <a:spcPts val="0"/>
              </a:spcBef>
              <a:spcAft>
                <a:spcPts val="400"/>
              </a:spcAft>
            </a:pPr>
            <a:r>
              <a:rPr sz="960" b="1" i="0">
                <a:solidFill>
                  <a:srgbClr val="E3C485"/>
                </a:solidFill>
                <a:latin typeface="Segoe UI"/>
              </a:rPr>
              <a:t>Chapitre 4 · 11 §</a:t>
            </a:r>
          </a:p>
          <a:p>
            <a:pPr algn="l">
              <a:lnSpc>
                <a:spcPct val="128000"/>
              </a:lnSpc>
              <a:spcBef>
                <a:spcPts val="0"/>
              </a:spcBef>
              <a:spcAft>
                <a:spcPts val="0"/>
              </a:spcAft>
            </a:pPr>
            <a:r>
              <a:rPr sz="900" b="0" i="0">
                <a:solidFill>
                  <a:srgbClr val="D5D0C5"/>
                </a:solidFill>
                <a:latin typeface="Segoe UI"/>
              </a:rPr>
              <a:t>Méthodologie : posture, design multi-cas, instruments, analyse, rigueur, éthique, limites.</a:t>
            </a:r>
          </a:p>
        </p:txBody>
      </p:sp>
      <p:sp>
        <p:nvSpPr>
          <p:cNvPr id="16" name="TextBox 15"/>
          <p:cNvSpPr txBox="1"/>
          <p:nvPr/>
        </p:nvSpPr>
        <p:spPr>
          <a:xfrm>
            <a:off x="8042452" y="1353947"/>
            <a:ext cx="3490874" cy="228600"/>
          </a:xfrm>
          <a:prstGeom prst="rect">
            <a:avLst/>
          </a:prstGeom>
          <a:noFill/>
        </p:spPr>
        <p:txBody>
          <a:bodyPr wrap="square" lIns="0" rIns="0" tIns="0" bIns="0" anchor="t">
            <a:spAutoFit/>
          </a:bodyPr>
          <a:lstStyle/>
          <a:p>
            <a:pPr algn="l">
              <a:lnSpc>
                <a:spcPct val="118000"/>
              </a:lnSpc>
              <a:spcBef>
                <a:spcPts val="0"/>
              </a:spcBef>
              <a:spcAft>
                <a:spcPts val="0"/>
              </a:spcAft>
            </a:pPr>
            <a:r>
              <a:rPr sz="780" b="1" i="0" spc="80">
                <a:solidFill>
                  <a:srgbClr val="93A5B4"/>
                </a:solidFill>
                <a:latin typeface="Segoe UI"/>
              </a:rPr>
              <a:t>PARTIE III · RÉSULTATS ET DISCUSSION</a:t>
            </a:r>
          </a:p>
        </p:txBody>
      </p:sp>
      <p:sp>
        <p:nvSpPr>
          <p:cNvPr id="17" name="Rounded Rectangle 16"/>
          <p:cNvSpPr/>
          <p:nvPr/>
        </p:nvSpPr>
        <p:spPr>
          <a:xfrm>
            <a:off x="8042452" y="1664843"/>
            <a:ext cx="3490874" cy="1024128"/>
          </a:xfrm>
          <a:prstGeom prst="roundRect">
            <a:avLst>
              <a:gd name="adj" fmla="val 6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188756" y="1737995"/>
            <a:ext cx="3198266" cy="877824"/>
          </a:xfrm>
          <a:prstGeom prst="rect">
            <a:avLst/>
          </a:prstGeom>
          <a:noFill/>
        </p:spPr>
        <p:txBody>
          <a:bodyPr wrap="square" lIns="0" rIns="0" tIns="0" bIns="0" anchor="ctr">
            <a:spAutoFit/>
          </a:bodyPr>
          <a:lstStyle/>
          <a:p>
            <a:pPr algn="l">
              <a:lnSpc>
                <a:spcPct val="118000"/>
              </a:lnSpc>
              <a:spcBef>
                <a:spcPts val="0"/>
              </a:spcBef>
              <a:spcAft>
                <a:spcPts val="400"/>
              </a:spcAft>
            </a:pPr>
            <a:r>
              <a:rPr sz="960" b="1" i="0">
                <a:solidFill>
                  <a:srgbClr val="E3C485"/>
                </a:solidFill>
                <a:latin typeface="Segoe UI"/>
              </a:rPr>
              <a:t>Chapitre 5 · 10 §</a:t>
            </a:r>
          </a:p>
          <a:p>
            <a:pPr algn="l">
              <a:lnSpc>
                <a:spcPct val="128000"/>
              </a:lnSpc>
              <a:spcBef>
                <a:spcPts val="0"/>
              </a:spcBef>
              <a:spcAft>
                <a:spcPts val="0"/>
              </a:spcAft>
            </a:pPr>
            <a:r>
              <a:rPr sz="900" b="0" i="0">
                <a:solidFill>
                  <a:srgbClr val="D5D0C5"/>
                </a:solidFill>
                <a:latin typeface="Segoe UI"/>
              </a:rPr>
              <a:t>Présentation et analyse des résultats — architecture préparatoire, subordonnée au terrain réel.</a:t>
            </a:r>
          </a:p>
        </p:txBody>
      </p:sp>
      <p:sp>
        <p:nvSpPr>
          <p:cNvPr id="19" name="Rounded Rectangle 18"/>
          <p:cNvSpPr/>
          <p:nvPr/>
        </p:nvSpPr>
        <p:spPr>
          <a:xfrm>
            <a:off x="8042452" y="2816987"/>
            <a:ext cx="3490874" cy="1024128"/>
          </a:xfrm>
          <a:prstGeom prst="roundRect">
            <a:avLst>
              <a:gd name="adj" fmla="val 6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188756" y="2890139"/>
            <a:ext cx="3198266" cy="877824"/>
          </a:xfrm>
          <a:prstGeom prst="rect">
            <a:avLst/>
          </a:prstGeom>
          <a:noFill/>
        </p:spPr>
        <p:txBody>
          <a:bodyPr wrap="square" lIns="0" rIns="0" tIns="0" bIns="0" anchor="ctr">
            <a:spAutoFit/>
          </a:bodyPr>
          <a:lstStyle/>
          <a:p>
            <a:pPr algn="l">
              <a:lnSpc>
                <a:spcPct val="118000"/>
              </a:lnSpc>
              <a:spcBef>
                <a:spcPts val="0"/>
              </a:spcBef>
              <a:spcAft>
                <a:spcPts val="400"/>
              </a:spcAft>
            </a:pPr>
            <a:r>
              <a:rPr sz="960" b="1" i="0">
                <a:solidFill>
                  <a:srgbClr val="E3C485"/>
                </a:solidFill>
                <a:latin typeface="Segoe UI"/>
              </a:rPr>
              <a:t>Chapitre 6 · 11 §</a:t>
            </a:r>
          </a:p>
          <a:p>
            <a:pPr algn="l">
              <a:lnSpc>
                <a:spcPct val="128000"/>
              </a:lnSpc>
              <a:spcBef>
                <a:spcPts val="0"/>
              </a:spcBef>
              <a:spcAft>
                <a:spcPts val="0"/>
              </a:spcAft>
            </a:pPr>
            <a:r>
              <a:rPr sz="900" b="0" i="0">
                <a:solidFill>
                  <a:srgbClr val="D5D0C5"/>
                </a:solidFill>
                <a:latin typeface="Segoe UI"/>
              </a:rPr>
              <a:t>Discussion, réexamen du modèle, contributions, recommandations, limites, perspectives.</a:t>
            </a:r>
          </a:p>
        </p:txBody>
      </p:sp>
      <p:sp>
        <p:nvSpPr>
          <p:cNvPr id="21" name="Rounded Rectangle 20"/>
          <p:cNvSpPr/>
          <p:nvPr/>
        </p:nvSpPr>
        <p:spPr>
          <a:xfrm>
            <a:off x="658368" y="4408043"/>
            <a:ext cx="1965960" cy="365760"/>
          </a:xfrm>
          <a:prstGeom prst="roundRect">
            <a:avLst>
              <a:gd name="adj" fmla="val 20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31519" y="4508627"/>
            <a:ext cx="1819656" cy="219456"/>
          </a:xfrm>
          <a:prstGeom prst="rect">
            <a:avLst/>
          </a:prstGeom>
          <a:noFill/>
        </p:spPr>
        <p:txBody>
          <a:bodyPr wrap="square" lIns="0" rIns="0" tIns="0" bIns="0" anchor="t">
            <a:spAutoFit/>
          </a:bodyPr>
          <a:lstStyle/>
          <a:p>
            <a:pPr algn="ctr">
              <a:lnSpc>
                <a:spcPct val="118000"/>
              </a:lnSpc>
              <a:spcBef>
                <a:spcPts val="0"/>
              </a:spcBef>
              <a:spcAft>
                <a:spcPts val="0"/>
              </a:spcAft>
            </a:pPr>
            <a:r>
              <a:rPr sz="760" b="1" i="0">
                <a:solidFill>
                  <a:srgbClr val="93A5B4"/>
                </a:solidFill>
                <a:latin typeface="Segoe UI"/>
              </a:rPr>
              <a:t>Introduction générale · 8 §</a:t>
            </a:r>
          </a:p>
        </p:txBody>
      </p:sp>
      <p:sp>
        <p:nvSpPr>
          <p:cNvPr id="23" name="TextBox 22"/>
          <p:cNvSpPr txBox="1"/>
          <p:nvPr/>
        </p:nvSpPr>
        <p:spPr>
          <a:xfrm>
            <a:off x="2660904" y="4499483"/>
            <a:ext cx="219456" cy="219456"/>
          </a:xfrm>
          <a:prstGeom prst="rect">
            <a:avLst/>
          </a:prstGeom>
          <a:noFill/>
        </p:spPr>
        <p:txBody>
          <a:bodyPr wrap="square" lIns="0" rIns="0" tIns="0" bIns="0" anchor="t">
            <a:spAutoFit/>
          </a:bodyPr>
          <a:lstStyle/>
          <a:p>
            <a:pPr algn="l">
              <a:lnSpc>
                <a:spcPct val="118000"/>
              </a:lnSpc>
              <a:spcBef>
                <a:spcPts val="0"/>
              </a:spcBef>
              <a:spcAft>
                <a:spcPts val="0"/>
              </a:spcAft>
            </a:pPr>
            <a:r>
              <a:rPr sz="900" b="0" i="0">
                <a:solidFill>
                  <a:srgbClr val="708392"/>
                </a:solidFill>
                <a:latin typeface="Segoe UI"/>
              </a:rPr>
              <a:t>→</a:t>
            </a:r>
          </a:p>
        </p:txBody>
      </p:sp>
      <p:sp>
        <p:nvSpPr>
          <p:cNvPr id="24" name="Rounded Rectangle 23"/>
          <p:cNvSpPr/>
          <p:nvPr/>
        </p:nvSpPr>
        <p:spPr>
          <a:xfrm>
            <a:off x="2898648" y="4408043"/>
            <a:ext cx="1965960" cy="365760"/>
          </a:xfrm>
          <a:prstGeom prst="roundRect">
            <a:avLst>
              <a:gd name="adj" fmla="val 20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971800" y="4508627"/>
            <a:ext cx="1819656" cy="219456"/>
          </a:xfrm>
          <a:prstGeom prst="rect">
            <a:avLst/>
          </a:prstGeom>
          <a:noFill/>
        </p:spPr>
        <p:txBody>
          <a:bodyPr wrap="square" lIns="0" rIns="0" tIns="0" bIns="0" anchor="t">
            <a:spAutoFit/>
          </a:bodyPr>
          <a:lstStyle/>
          <a:p>
            <a:pPr algn="ctr">
              <a:lnSpc>
                <a:spcPct val="118000"/>
              </a:lnSpc>
              <a:spcBef>
                <a:spcPts val="0"/>
              </a:spcBef>
              <a:spcAft>
                <a:spcPts val="0"/>
              </a:spcAft>
            </a:pPr>
            <a:r>
              <a:rPr sz="760" b="1" i="0">
                <a:solidFill>
                  <a:srgbClr val="93A5B4"/>
                </a:solidFill>
                <a:latin typeface="Segoe UI"/>
              </a:rPr>
              <a:t>Chapitres 1 à 6</a:t>
            </a:r>
          </a:p>
        </p:txBody>
      </p:sp>
      <p:sp>
        <p:nvSpPr>
          <p:cNvPr id="26" name="TextBox 25"/>
          <p:cNvSpPr txBox="1"/>
          <p:nvPr/>
        </p:nvSpPr>
        <p:spPr>
          <a:xfrm>
            <a:off x="4901184" y="4499483"/>
            <a:ext cx="219456" cy="219456"/>
          </a:xfrm>
          <a:prstGeom prst="rect">
            <a:avLst/>
          </a:prstGeom>
          <a:noFill/>
        </p:spPr>
        <p:txBody>
          <a:bodyPr wrap="square" lIns="0" rIns="0" tIns="0" bIns="0" anchor="t">
            <a:spAutoFit/>
          </a:bodyPr>
          <a:lstStyle/>
          <a:p>
            <a:pPr algn="l">
              <a:lnSpc>
                <a:spcPct val="118000"/>
              </a:lnSpc>
              <a:spcBef>
                <a:spcPts val="0"/>
              </a:spcBef>
              <a:spcAft>
                <a:spcPts val="0"/>
              </a:spcAft>
            </a:pPr>
            <a:r>
              <a:rPr sz="900" b="0" i="0">
                <a:solidFill>
                  <a:srgbClr val="708392"/>
                </a:solidFill>
                <a:latin typeface="Segoe UI"/>
              </a:rPr>
              <a:t>→</a:t>
            </a:r>
          </a:p>
        </p:txBody>
      </p:sp>
      <p:sp>
        <p:nvSpPr>
          <p:cNvPr id="27" name="Rounded Rectangle 26"/>
          <p:cNvSpPr/>
          <p:nvPr/>
        </p:nvSpPr>
        <p:spPr>
          <a:xfrm>
            <a:off x="5138928" y="4408043"/>
            <a:ext cx="1965960" cy="365760"/>
          </a:xfrm>
          <a:prstGeom prst="roundRect">
            <a:avLst>
              <a:gd name="adj" fmla="val 20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5212080" y="4508627"/>
            <a:ext cx="1819656" cy="219456"/>
          </a:xfrm>
          <a:prstGeom prst="rect">
            <a:avLst/>
          </a:prstGeom>
          <a:noFill/>
        </p:spPr>
        <p:txBody>
          <a:bodyPr wrap="square" lIns="0" rIns="0" tIns="0" bIns="0" anchor="t">
            <a:spAutoFit/>
          </a:bodyPr>
          <a:lstStyle/>
          <a:p>
            <a:pPr algn="ctr">
              <a:lnSpc>
                <a:spcPct val="118000"/>
              </a:lnSpc>
              <a:spcBef>
                <a:spcPts val="0"/>
              </a:spcBef>
              <a:spcAft>
                <a:spcPts val="0"/>
              </a:spcAft>
            </a:pPr>
            <a:r>
              <a:rPr sz="760" b="1" i="0">
                <a:solidFill>
                  <a:srgbClr val="93A5B4"/>
                </a:solidFill>
                <a:latin typeface="Segoe UI"/>
              </a:rPr>
              <a:t>Conclusion · 8 points</a:t>
            </a:r>
          </a:p>
        </p:txBody>
      </p:sp>
      <p:sp>
        <p:nvSpPr>
          <p:cNvPr id="29" name="TextBox 28"/>
          <p:cNvSpPr txBox="1"/>
          <p:nvPr/>
        </p:nvSpPr>
        <p:spPr>
          <a:xfrm>
            <a:off x="7141464" y="4499483"/>
            <a:ext cx="219456" cy="219456"/>
          </a:xfrm>
          <a:prstGeom prst="rect">
            <a:avLst/>
          </a:prstGeom>
          <a:noFill/>
        </p:spPr>
        <p:txBody>
          <a:bodyPr wrap="square" lIns="0" rIns="0" tIns="0" bIns="0" anchor="t">
            <a:spAutoFit/>
          </a:bodyPr>
          <a:lstStyle/>
          <a:p>
            <a:pPr algn="l">
              <a:lnSpc>
                <a:spcPct val="118000"/>
              </a:lnSpc>
              <a:spcBef>
                <a:spcPts val="0"/>
              </a:spcBef>
              <a:spcAft>
                <a:spcPts val="0"/>
              </a:spcAft>
            </a:pPr>
            <a:r>
              <a:rPr sz="900" b="0" i="0">
                <a:solidFill>
                  <a:srgbClr val="708392"/>
                </a:solidFill>
                <a:latin typeface="Segoe UI"/>
              </a:rPr>
              <a:t>→</a:t>
            </a:r>
          </a:p>
        </p:txBody>
      </p:sp>
      <p:sp>
        <p:nvSpPr>
          <p:cNvPr id="30" name="Rounded Rectangle 29"/>
          <p:cNvSpPr/>
          <p:nvPr/>
        </p:nvSpPr>
        <p:spPr>
          <a:xfrm>
            <a:off x="7379208" y="4408043"/>
            <a:ext cx="1965960" cy="365760"/>
          </a:xfrm>
          <a:prstGeom prst="roundRect">
            <a:avLst>
              <a:gd name="adj" fmla="val 20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452360" y="4508627"/>
            <a:ext cx="1819656" cy="219456"/>
          </a:xfrm>
          <a:prstGeom prst="rect">
            <a:avLst/>
          </a:prstGeom>
          <a:noFill/>
        </p:spPr>
        <p:txBody>
          <a:bodyPr wrap="square" lIns="0" rIns="0" tIns="0" bIns="0" anchor="t">
            <a:spAutoFit/>
          </a:bodyPr>
          <a:lstStyle/>
          <a:p>
            <a:pPr algn="ctr">
              <a:lnSpc>
                <a:spcPct val="118000"/>
              </a:lnSpc>
              <a:spcBef>
                <a:spcPts val="0"/>
              </a:spcBef>
              <a:spcAft>
                <a:spcPts val="0"/>
              </a:spcAft>
            </a:pPr>
            <a:r>
              <a:rPr sz="760" b="1" i="0">
                <a:solidFill>
                  <a:srgbClr val="93A5B4"/>
                </a:solidFill>
                <a:latin typeface="Segoe UI"/>
              </a:rPr>
              <a:t>Bibliographie</a:t>
            </a:r>
          </a:p>
        </p:txBody>
      </p:sp>
      <p:sp>
        <p:nvSpPr>
          <p:cNvPr id="32" name="TextBox 31"/>
          <p:cNvSpPr txBox="1"/>
          <p:nvPr/>
        </p:nvSpPr>
        <p:spPr>
          <a:xfrm>
            <a:off x="9381744" y="4499483"/>
            <a:ext cx="219456" cy="219456"/>
          </a:xfrm>
          <a:prstGeom prst="rect">
            <a:avLst/>
          </a:prstGeom>
          <a:noFill/>
        </p:spPr>
        <p:txBody>
          <a:bodyPr wrap="square" lIns="0" rIns="0" tIns="0" bIns="0" anchor="t">
            <a:spAutoFit/>
          </a:bodyPr>
          <a:lstStyle/>
          <a:p>
            <a:pPr algn="l">
              <a:lnSpc>
                <a:spcPct val="118000"/>
              </a:lnSpc>
              <a:spcBef>
                <a:spcPts val="0"/>
              </a:spcBef>
              <a:spcAft>
                <a:spcPts val="0"/>
              </a:spcAft>
            </a:pPr>
            <a:r>
              <a:rPr sz="900" b="0" i="0">
                <a:solidFill>
                  <a:srgbClr val="708392"/>
                </a:solidFill>
                <a:latin typeface="Segoe UI"/>
              </a:rPr>
              <a:t>→</a:t>
            </a:r>
          </a:p>
        </p:txBody>
      </p:sp>
      <p:sp>
        <p:nvSpPr>
          <p:cNvPr id="33" name="Rounded Rectangle 32"/>
          <p:cNvSpPr/>
          <p:nvPr/>
        </p:nvSpPr>
        <p:spPr>
          <a:xfrm>
            <a:off x="9619488" y="4408043"/>
            <a:ext cx="1737360" cy="365760"/>
          </a:xfrm>
          <a:prstGeom prst="roundRect">
            <a:avLst>
              <a:gd name="adj" fmla="val 20000"/>
            </a:avLst>
          </a:prstGeom>
          <a:solidFill>
            <a:srgbClr val="2A2418"/>
          </a:solidFill>
          <a:ln w="11430">
            <a:solidFill>
              <a:srgbClr val="C8A15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692640" y="4508627"/>
            <a:ext cx="1591056" cy="219456"/>
          </a:xfrm>
          <a:prstGeom prst="rect">
            <a:avLst/>
          </a:prstGeom>
          <a:noFill/>
        </p:spPr>
        <p:txBody>
          <a:bodyPr wrap="square" lIns="0" rIns="0" tIns="0" bIns="0" anchor="t">
            <a:spAutoFit/>
          </a:bodyPr>
          <a:lstStyle/>
          <a:p>
            <a:pPr algn="ctr">
              <a:lnSpc>
                <a:spcPct val="118000"/>
              </a:lnSpc>
              <a:spcBef>
                <a:spcPts val="0"/>
              </a:spcBef>
              <a:spcAft>
                <a:spcPts val="0"/>
              </a:spcAft>
            </a:pPr>
            <a:r>
              <a:rPr sz="760" b="1" i="0">
                <a:solidFill>
                  <a:srgbClr val="E3C485"/>
                </a:solidFill>
                <a:latin typeface="Segoe UI"/>
              </a:rPr>
              <a:t>Annexes A à K</a:t>
            </a:r>
          </a:p>
        </p:txBody>
      </p:sp>
      <p:sp>
        <p:nvSpPr>
          <p:cNvPr id="35" name="Rounded Rectangle 34"/>
          <p:cNvSpPr/>
          <p:nvPr/>
        </p:nvSpPr>
        <p:spPr>
          <a:xfrm>
            <a:off x="658368" y="4883531"/>
            <a:ext cx="10874959" cy="566928"/>
          </a:xfrm>
          <a:prstGeom prst="roundRect">
            <a:avLst>
              <a:gd name="adj" fmla="val 8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22959" y="4938395"/>
            <a:ext cx="10545775" cy="457200"/>
          </a:xfrm>
          <a:prstGeom prst="rect">
            <a:avLst/>
          </a:prstGeom>
          <a:noFill/>
        </p:spPr>
        <p:txBody>
          <a:bodyPr wrap="square" lIns="0" rIns="0" tIns="0" bIns="0" anchor="ctr">
            <a:spAutoFit/>
          </a:bodyPr>
          <a:lstStyle/>
          <a:p>
            <a:pPr algn="l">
              <a:lnSpc>
                <a:spcPct val="130000"/>
              </a:lnSpc>
              <a:spcBef>
                <a:spcPts val="0"/>
              </a:spcBef>
              <a:spcAft>
                <a:spcPts val="0"/>
              </a:spcAft>
            </a:pPr>
            <a:r>
              <a:rPr sz="900" b="0" i="0">
                <a:solidFill>
                  <a:srgbClr val="93A5B4"/>
                </a:solidFill>
                <a:latin typeface="Segoe UI"/>
              </a:rPr>
              <a:t>Un seul fil : contexte (1–2) → cadre et méthode (3–4) → résultats et discussion (5–6). Aucun chapitre autonome de « réexamen du modèle » : la révision est intégrée au chapitre 6.</a:t>
            </a:r>
          </a:p>
        </p:txBody>
      </p:sp>
      <p:sp>
        <p:nvSpPr>
          <p:cNvPr id="37" name="Rectangle 36"/>
          <p:cNvSpPr/>
          <p:nvPr/>
        </p:nvSpPr>
        <p:spPr>
          <a:xfrm>
            <a:off x="658368" y="6199632"/>
            <a:ext cx="10874959" cy="7315"/>
          </a:xfrm>
          <a:prstGeom prst="rect">
            <a:avLst/>
          </a:prstGeom>
          <a:solidFill>
            <a:srgbClr val="2734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58368" y="6291072"/>
            <a:ext cx="10189159" cy="457200"/>
          </a:xfrm>
          <a:prstGeom prst="rect">
            <a:avLst/>
          </a:prstGeom>
          <a:noFill/>
        </p:spPr>
        <p:txBody>
          <a:bodyPr wrap="square" lIns="0" rIns="0" tIns="0" bIns="0" anchor="t">
            <a:spAutoFit/>
          </a:bodyPr>
          <a:lstStyle/>
          <a:p>
            <a:pPr algn="l">
              <a:lnSpc>
                <a:spcPct val="110000"/>
              </a:lnSpc>
              <a:spcBef>
                <a:spcPts val="0"/>
              </a:spcBef>
              <a:spcAft>
                <a:spcPts val="0"/>
              </a:spcAft>
            </a:pPr>
            <a:r>
              <a:rPr sz="740" b="1">
                <a:solidFill>
                  <a:srgbClr val="93A5B4"/>
                </a:solidFill>
                <a:latin typeface="Segoe UI"/>
              </a:rPr>
              <a:t>Sources : </a:t>
            </a:r>
            <a:r>
              <a:rPr sz="740" b="0">
                <a:solidFill>
                  <a:srgbClr val="708392"/>
                </a:solidFill>
                <a:latin typeface="Segoe UI"/>
              </a:rPr>
              <a:t>plan général harmonisé (septembre 2026) — décompte effectué sur le plan lui-même : 8 + (10 + 10 + 9 + 11 + 10 + 11) + 8 = 77.</a:t>
            </a:r>
          </a:p>
        </p:txBody>
      </p:sp>
      <p:sp>
        <p:nvSpPr>
          <p:cNvPr id="39" name="TextBox 38"/>
          <p:cNvSpPr txBox="1"/>
          <p:nvPr/>
        </p:nvSpPr>
        <p:spPr>
          <a:xfrm>
            <a:off x="10874959" y="6291072"/>
            <a:ext cx="658368" cy="274320"/>
          </a:xfrm>
          <a:prstGeom prst="rect">
            <a:avLst/>
          </a:prstGeom>
          <a:noFill/>
        </p:spPr>
        <p:txBody>
          <a:bodyPr wrap="square" lIns="0" rIns="0" tIns="0" bIns="0" anchor="t">
            <a:spAutoFit/>
          </a:bodyPr>
          <a:lstStyle/>
          <a:p>
            <a:pPr algn="r">
              <a:lnSpc>
                <a:spcPct val="118000"/>
              </a:lnSpc>
              <a:spcBef>
                <a:spcPts val="0"/>
              </a:spcBef>
              <a:spcAft>
                <a:spcPts val="0"/>
              </a:spcAft>
            </a:pPr>
            <a:r>
              <a:rPr sz="800" b="0" i="0">
                <a:solidFill>
                  <a:srgbClr val="93A5B4"/>
                </a:solidFill>
                <a:latin typeface="Consolas"/>
              </a:rPr>
              <a:t>16 / 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1C26"/>
              </a:gs>
              <a:gs pos="100000">
                <a:srgbClr val="0B101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828739"/>
            <a:ext cx="12191695" cy="29260"/>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75488"/>
            <a:ext cx="10874959"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spc="160">
                <a:solidFill>
                  <a:srgbClr val="E3C485"/>
                </a:solidFill>
                <a:latin typeface="Segoe UI"/>
              </a:rPr>
              <a:t>SUPPORTS · LISTE UNIQUE SYNTHÉTISÉE</a:t>
            </a:r>
          </a:p>
        </p:txBody>
      </p:sp>
      <p:sp>
        <p:nvSpPr>
          <p:cNvPr id="5" name="TextBox 4"/>
          <p:cNvSpPr txBox="1"/>
          <p:nvPr/>
        </p:nvSpPr>
        <p:spPr>
          <a:xfrm>
            <a:off x="658368" y="713232"/>
            <a:ext cx="10692079" cy="914400"/>
          </a:xfrm>
          <a:prstGeom prst="rect">
            <a:avLst/>
          </a:prstGeom>
          <a:noFill/>
        </p:spPr>
        <p:txBody>
          <a:bodyPr wrap="square" lIns="0" rIns="0" tIns="0" bIns="0" anchor="t">
            <a:spAutoFit/>
          </a:bodyPr>
          <a:lstStyle/>
          <a:p>
            <a:pPr>
              <a:lnSpc>
                <a:spcPct val="105000"/>
              </a:lnSpc>
            </a:pPr>
            <a:r>
              <a:rPr sz="2450" b="0">
                <a:solidFill>
                  <a:srgbClr val="F3EFE7"/>
                </a:solidFill>
                <a:latin typeface="Georgia"/>
              </a:rPr>
              <a:t>De 115 supports de travail à 40 supports retenus</a:t>
            </a:r>
          </a:p>
        </p:txBody>
      </p:sp>
      <p:sp>
        <p:nvSpPr>
          <p:cNvPr id="6" name="TextBox 5"/>
          <p:cNvSpPr txBox="1"/>
          <p:nvPr/>
        </p:nvSpPr>
        <p:spPr>
          <a:xfrm>
            <a:off x="658368" y="1079627"/>
            <a:ext cx="9777679" cy="365760"/>
          </a:xfrm>
          <a:prstGeom prst="rect">
            <a:avLst/>
          </a:prstGeom>
          <a:noFill/>
        </p:spPr>
        <p:txBody>
          <a:bodyPr wrap="square" lIns="0" rIns="0" tIns="0" bIns="0" anchor="t">
            <a:spAutoFit/>
          </a:bodyPr>
          <a:lstStyle/>
          <a:p>
            <a:pPr algn="l">
              <a:lnSpc>
                <a:spcPct val="130000"/>
              </a:lnSpc>
              <a:spcBef>
                <a:spcPts val="0"/>
              </a:spcBef>
              <a:spcAft>
                <a:spcPts val="0"/>
              </a:spcAft>
            </a:pPr>
            <a:r>
              <a:rPr sz="1150" b="0" i="0">
                <a:solidFill>
                  <a:srgbClr val="93A5B4"/>
                </a:solidFill>
                <a:latin typeface="Segoe UI"/>
              </a:rPr>
              <a:t>Une réorganisation éditoriale (≈ 65 % de réduction), non une modification du protocole.</a:t>
            </a:r>
          </a:p>
        </p:txBody>
      </p:sp>
      <p:sp>
        <p:nvSpPr>
          <p:cNvPr id="7" name="TextBox 6"/>
          <p:cNvSpPr txBox="1"/>
          <p:nvPr/>
        </p:nvSpPr>
        <p:spPr>
          <a:xfrm>
            <a:off x="658368" y="1902587"/>
            <a:ext cx="2194560" cy="256032"/>
          </a:xfrm>
          <a:prstGeom prst="rect">
            <a:avLst/>
          </a:prstGeom>
          <a:noFill/>
        </p:spPr>
        <p:txBody>
          <a:bodyPr wrap="square" lIns="0" rIns="0" tIns="0" bIns="0" anchor="t">
            <a:spAutoFit/>
          </a:bodyPr>
          <a:lstStyle/>
          <a:p>
            <a:pPr algn="r">
              <a:lnSpc>
                <a:spcPct val="118000"/>
              </a:lnSpc>
              <a:spcBef>
                <a:spcPts val="0"/>
              </a:spcBef>
              <a:spcAft>
                <a:spcPts val="0"/>
              </a:spcAft>
            </a:pPr>
            <a:r>
              <a:rPr sz="900" b="0" i="0">
                <a:solidFill>
                  <a:srgbClr val="93A5B4"/>
                </a:solidFill>
                <a:latin typeface="Segoe UI"/>
              </a:rPr>
              <a:t>Introduction</a:t>
            </a:r>
          </a:p>
        </p:txBody>
      </p:sp>
      <p:sp>
        <p:nvSpPr>
          <p:cNvPr id="8" name="Rectangle 7"/>
          <p:cNvSpPr/>
          <p:nvPr/>
        </p:nvSpPr>
        <p:spPr>
          <a:xfrm>
            <a:off x="2990087" y="1792859"/>
            <a:ext cx="665683" cy="182880"/>
          </a:xfrm>
          <a:prstGeom prst="rect">
            <a:avLst/>
          </a:prstGeom>
          <a:solidFill>
            <a:srgbClr val="3E4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747211" y="1765427"/>
            <a:ext cx="548640" cy="237744"/>
          </a:xfrm>
          <a:prstGeom prst="rect">
            <a:avLst/>
          </a:prstGeom>
          <a:noFill/>
        </p:spPr>
        <p:txBody>
          <a:bodyPr wrap="square" lIns="0" rIns="0" tIns="0" bIns="0" anchor="t">
            <a:spAutoFit/>
          </a:bodyPr>
          <a:lstStyle/>
          <a:p>
            <a:pPr algn="l">
              <a:lnSpc>
                <a:spcPct val="118000"/>
              </a:lnSpc>
              <a:spcBef>
                <a:spcPts val="0"/>
              </a:spcBef>
              <a:spcAft>
                <a:spcPts val="0"/>
              </a:spcAft>
            </a:pPr>
            <a:r>
              <a:rPr sz="840" b="0" i="0">
                <a:solidFill>
                  <a:srgbClr val="93A5B4"/>
                </a:solidFill>
                <a:latin typeface="Consolas"/>
              </a:rPr>
              <a:t>4</a:t>
            </a:r>
          </a:p>
        </p:txBody>
      </p:sp>
      <p:sp>
        <p:nvSpPr>
          <p:cNvPr id="10" name="Rectangle 9"/>
          <p:cNvSpPr/>
          <p:nvPr/>
        </p:nvSpPr>
        <p:spPr>
          <a:xfrm>
            <a:off x="2990087" y="2048891"/>
            <a:ext cx="166420" cy="182880"/>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3247948" y="2021459"/>
            <a:ext cx="548640" cy="237744"/>
          </a:xfrm>
          <a:prstGeom prst="rect">
            <a:avLst/>
          </a:prstGeom>
          <a:noFill/>
        </p:spPr>
        <p:txBody>
          <a:bodyPr wrap="square" lIns="0" rIns="0" tIns="0" bIns="0" anchor="t">
            <a:spAutoFit/>
          </a:bodyPr>
          <a:lstStyle/>
          <a:p>
            <a:pPr algn="l">
              <a:lnSpc>
                <a:spcPct val="118000"/>
              </a:lnSpc>
              <a:spcBef>
                <a:spcPts val="0"/>
              </a:spcBef>
              <a:spcAft>
                <a:spcPts val="0"/>
              </a:spcAft>
            </a:pPr>
            <a:r>
              <a:rPr sz="860" b="1" i="0">
                <a:solidFill>
                  <a:srgbClr val="E3C485"/>
                </a:solidFill>
                <a:latin typeface="Consolas"/>
              </a:rPr>
              <a:t>1</a:t>
            </a:r>
          </a:p>
        </p:txBody>
      </p:sp>
      <p:sp>
        <p:nvSpPr>
          <p:cNvPr id="12" name="TextBox 11"/>
          <p:cNvSpPr txBox="1"/>
          <p:nvPr/>
        </p:nvSpPr>
        <p:spPr>
          <a:xfrm>
            <a:off x="658368" y="2506091"/>
            <a:ext cx="2194560" cy="256032"/>
          </a:xfrm>
          <a:prstGeom prst="rect">
            <a:avLst/>
          </a:prstGeom>
          <a:noFill/>
        </p:spPr>
        <p:txBody>
          <a:bodyPr wrap="square" lIns="0" rIns="0" tIns="0" bIns="0" anchor="t">
            <a:spAutoFit/>
          </a:bodyPr>
          <a:lstStyle/>
          <a:p>
            <a:pPr algn="r">
              <a:lnSpc>
                <a:spcPct val="118000"/>
              </a:lnSpc>
              <a:spcBef>
                <a:spcPts val="0"/>
              </a:spcBef>
              <a:spcAft>
                <a:spcPts val="0"/>
              </a:spcAft>
            </a:pPr>
            <a:r>
              <a:rPr sz="900" b="0" i="0">
                <a:solidFill>
                  <a:srgbClr val="93A5B4"/>
                </a:solidFill>
                <a:latin typeface="Segoe UI"/>
              </a:rPr>
              <a:t>Chapitre 1</a:t>
            </a:r>
          </a:p>
        </p:txBody>
      </p:sp>
      <p:sp>
        <p:nvSpPr>
          <p:cNvPr id="13" name="Rectangle 12"/>
          <p:cNvSpPr/>
          <p:nvPr/>
        </p:nvSpPr>
        <p:spPr>
          <a:xfrm>
            <a:off x="2990087" y="2396363"/>
            <a:ext cx="1664207" cy="182880"/>
          </a:xfrm>
          <a:prstGeom prst="rect">
            <a:avLst/>
          </a:prstGeom>
          <a:solidFill>
            <a:srgbClr val="3E4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745736" y="2368931"/>
            <a:ext cx="548640" cy="237744"/>
          </a:xfrm>
          <a:prstGeom prst="rect">
            <a:avLst/>
          </a:prstGeom>
          <a:noFill/>
        </p:spPr>
        <p:txBody>
          <a:bodyPr wrap="square" lIns="0" rIns="0" tIns="0" bIns="0" anchor="t">
            <a:spAutoFit/>
          </a:bodyPr>
          <a:lstStyle/>
          <a:p>
            <a:pPr algn="l">
              <a:lnSpc>
                <a:spcPct val="118000"/>
              </a:lnSpc>
              <a:spcBef>
                <a:spcPts val="0"/>
              </a:spcBef>
              <a:spcAft>
                <a:spcPts val="0"/>
              </a:spcAft>
            </a:pPr>
            <a:r>
              <a:rPr sz="840" b="0" i="0">
                <a:solidFill>
                  <a:srgbClr val="93A5B4"/>
                </a:solidFill>
                <a:latin typeface="Consolas"/>
              </a:rPr>
              <a:t>10</a:t>
            </a:r>
          </a:p>
        </p:txBody>
      </p:sp>
      <p:sp>
        <p:nvSpPr>
          <p:cNvPr id="15" name="Rectangle 14"/>
          <p:cNvSpPr/>
          <p:nvPr/>
        </p:nvSpPr>
        <p:spPr>
          <a:xfrm>
            <a:off x="2990087" y="2652395"/>
            <a:ext cx="832103" cy="182880"/>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913631" y="2624963"/>
            <a:ext cx="548640" cy="237744"/>
          </a:xfrm>
          <a:prstGeom prst="rect">
            <a:avLst/>
          </a:prstGeom>
          <a:noFill/>
        </p:spPr>
        <p:txBody>
          <a:bodyPr wrap="square" lIns="0" rIns="0" tIns="0" bIns="0" anchor="t">
            <a:spAutoFit/>
          </a:bodyPr>
          <a:lstStyle/>
          <a:p>
            <a:pPr algn="l">
              <a:lnSpc>
                <a:spcPct val="118000"/>
              </a:lnSpc>
              <a:spcBef>
                <a:spcPts val="0"/>
              </a:spcBef>
              <a:spcAft>
                <a:spcPts val="0"/>
              </a:spcAft>
            </a:pPr>
            <a:r>
              <a:rPr sz="860" b="1" i="0">
                <a:solidFill>
                  <a:srgbClr val="E3C485"/>
                </a:solidFill>
                <a:latin typeface="Consolas"/>
              </a:rPr>
              <a:t>5</a:t>
            </a:r>
          </a:p>
        </p:txBody>
      </p:sp>
      <p:sp>
        <p:nvSpPr>
          <p:cNvPr id="17" name="TextBox 16"/>
          <p:cNvSpPr txBox="1"/>
          <p:nvPr/>
        </p:nvSpPr>
        <p:spPr>
          <a:xfrm>
            <a:off x="658368" y="3109595"/>
            <a:ext cx="2194560" cy="256032"/>
          </a:xfrm>
          <a:prstGeom prst="rect">
            <a:avLst/>
          </a:prstGeom>
          <a:noFill/>
        </p:spPr>
        <p:txBody>
          <a:bodyPr wrap="square" lIns="0" rIns="0" tIns="0" bIns="0" anchor="t">
            <a:spAutoFit/>
          </a:bodyPr>
          <a:lstStyle/>
          <a:p>
            <a:pPr algn="r">
              <a:lnSpc>
                <a:spcPct val="118000"/>
              </a:lnSpc>
              <a:spcBef>
                <a:spcPts val="0"/>
              </a:spcBef>
              <a:spcAft>
                <a:spcPts val="0"/>
              </a:spcAft>
            </a:pPr>
            <a:r>
              <a:rPr sz="900" b="0" i="0">
                <a:solidFill>
                  <a:srgbClr val="93A5B4"/>
                </a:solidFill>
                <a:latin typeface="Segoe UI"/>
              </a:rPr>
              <a:t>Chapitre 2</a:t>
            </a:r>
          </a:p>
        </p:txBody>
      </p:sp>
      <p:sp>
        <p:nvSpPr>
          <p:cNvPr id="18" name="Rectangle 17"/>
          <p:cNvSpPr/>
          <p:nvPr/>
        </p:nvSpPr>
        <p:spPr>
          <a:xfrm>
            <a:off x="2990087" y="2999867"/>
            <a:ext cx="2829153" cy="182880"/>
          </a:xfrm>
          <a:prstGeom prst="rect">
            <a:avLst/>
          </a:prstGeom>
          <a:solidFill>
            <a:srgbClr val="3E4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910681" y="2972435"/>
            <a:ext cx="548640" cy="237744"/>
          </a:xfrm>
          <a:prstGeom prst="rect">
            <a:avLst/>
          </a:prstGeom>
          <a:noFill/>
        </p:spPr>
        <p:txBody>
          <a:bodyPr wrap="square" lIns="0" rIns="0" tIns="0" bIns="0" anchor="t">
            <a:spAutoFit/>
          </a:bodyPr>
          <a:lstStyle/>
          <a:p>
            <a:pPr algn="l">
              <a:lnSpc>
                <a:spcPct val="118000"/>
              </a:lnSpc>
              <a:spcBef>
                <a:spcPts val="0"/>
              </a:spcBef>
              <a:spcAft>
                <a:spcPts val="0"/>
              </a:spcAft>
            </a:pPr>
            <a:r>
              <a:rPr sz="840" b="0" i="0">
                <a:solidFill>
                  <a:srgbClr val="93A5B4"/>
                </a:solidFill>
                <a:latin typeface="Consolas"/>
              </a:rPr>
              <a:t>17</a:t>
            </a:r>
          </a:p>
        </p:txBody>
      </p:sp>
      <p:sp>
        <p:nvSpPr>
          <p:cNvPr id="20" name="Rectangle 19"/>
          <p:cNvSpPr/>
          <p:nvPr/>
        </p:nvSpPr>
        <p:spPr>
          <a:xfrm>
            <a:off x="2990087" y="3255899"/>
            <a:ext cx="998524" cy="182880"/>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080052" y="3228467"/>
            <a:ext cx="548640" cy="237744"/>
          </a:xfrm>
          <a:prstGeom prst="rect">
            <a:avLst/>
          </a:prstGeom>
          <a:noFill/>
        </p:spPr>
        <p:txBody>
          <a:bodyPr wrap="square" lIns="0" rIns="0" tIns="0" bIns="0" anchor="t">
            <a:spAutoFit/>
          </a:bodyPr>
          <a:lstStyle/>
          <a:p>
            <a:pPr algn="l">
              <a:lnSpc>
                <a:spcPct val="118000"/>
              </a:lnSpc>
              <a:spcBef>
                <a:spcPts val="0"/>
              </a:spcBef>
              <a:spcAft>
                <a:spcPts val="0"/>
              </a:spcAft>
            </a:pPr>
            <a:r>
              <a:rPr sz="860" b="1" i="0">
                <a:solidFill>
                  <a:srgbClr val="E3C485"/>
                </a:solidFill>
                <a:latin typeface="Consolas"/>
              </a:rPr>
              <a:t>6</a:t>
            </a:r>
          </a:p>
        </p:txBody>
      </p:sp>
      <p:sp>
        <p:nvSpPr>
          <p:cNvPr id="22" name="TextBox 21"/>
          <p:cNvSpPr txBox="1"/>
          <p:nvPr/>
        </p:nvSpPr>
        <p:spPr>
          <a:xfrm>
            <a:off x="658368" y="3713099"/>
            <a:ext cx="2194560" cy="256032"/>
          </a:xfrm>
          <a:prstGeom prst="rect">
            <a:avLst/>
          </a:prstGeom>
          <a:noFill/>
        </p:spPr>
        <p:txBody>
          <a:bodyPr wrap="square" lIns="0" rIns="0" tIns="0" bIns="0" anchor="t">
            <a:spAutoFit/>
          </a:bodyPr>
          <a:lstStyle/>
          <a:p>
            <a:pPr algn="r">
              <a:lnSpc>
                <a:spcPct val="118000"/>
              </a:lnSpc>
              <a:spcBef>
                <a:spcPts val="0"/>
              </a:spcBef>
              <a:spcAft>
                <a:spcPts val="0"/>
              </a:spcAft>
            </a:pPr>
            <a:r>
              <a:rPr sz="900" b="0" i="0">
                <a:solidFill>
                  <a:srgbClr val="93A5B4"/>
                </a:solidFill>
                <a:latin typeface="Segoe UI"/>
              </a:rPr>
              <a:t>Chapitre 3</a:t>
            </a:r>
          </a:p>
        </p:txBody>
      </p:sp>
      <p:sp>
        <p:nvSpPr>
          <p:cNvPr id="23" name="Rectangle 22"/>
          <p:cNvSpPr/>
          <p:nvPr/>
        </p:nvSpPr>
        <p:spPr>
          <a:xfrm>
            <a:off x="2990087" y="3603371"/>
            <a:ext cx="2829153" cy="182880"/>
          </a:xfrm>
          <a:prstGeom prst="rect">
            <a:avLst/>
          </a:prstGeom>
          <a:solidFill>
            <a:srgbClr val="3E4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910681" y="3575939"/>
            <a:ext cx="548640" cy="237744"/>
          </a:xfrm>
          <a:prstGeom prst="rect">
            <a:avLst/>
          </a:prstGeom>
          <a:noFill/>
        </p:spPr>
        <p:txBody>
          <a:bodyPr wrap="square" lIns="0" rIns="0" tIns="0" bIns="0" anchor="t">
            <a:spAutoFit/>
          </a:bodyPr>
          <a:lstStyle/>
          <a:p>
            <a:pPr algn="l">
              <a:lnSpc>
                <a:spcPct val="118000"/>
              </a:lnSpc>
              <a:spcBef>
                <a:spcPts val="0"/>
              </a:spcBef>
              <a:spcAft>
                <a:spcPts val="0"/>
              </a:spcAft>
            </a:pPr>
            <a:r>
              <a:rPr sz="840" b="0" i="0">
                <a:solidFill>
                  <a:srgbClr val="93A5B4"/>
                </a:solidFill>
                <a:latin typeface="Consolas"/>
              </a:rPr>
              <a:t>17</a:t>
            </a:r>
          </a:p>
        </p:txBody>
      </p:sp>
      <p:sp>
        <p:nvSpPr>
          <p:cNvPr id="25" name="Rectangle 24"/>
          <p:cNvSpPr/>
          <p:nvPr/>
        </p:nvSpPr>
        <p:spPr>
          <a:xfrm>
            <a:off x="2990087" y="3859403"/>
            <a:ext cx="998524" cy="182880"/>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080052" y="3831971"/>
            <a:ext cx="548640" cy="237744"/>
          </a:xfrm>
          <a:prstGeom prst="rect">
            <a:avLst/>
          </a:prstGeom>
          <a:noFill/>
        </p:spPr>
        <p:txBody>
          <a:bodyPr wrap="square" lIns="0" rIns="0" tIns="0" bIns="0" anchor="t">
            <a:spAutoFit/>
          </a:bodyPr>
          <a:lstStyle/>
          <a:p>
            <a:pPr algn="l">
              <a:lnSpc>
                <a:spcPct val="118000"/>
              </a:lnSpc>
              <a:spcBef>
                <a:spcPts val="0"/>
              </a:spcBef>
              <a:spcAft>
                <a:spcPts val="0"/>
              </a:spcAft>
            </a:pPr>
            <a:r>
              <a:rPr sz="860" b="1" i="0">
                <a:solidFill>
                  <a:srgbClr val="E3C485"/>
                </a:solidFill>
                <a:latin typeface="Consolas"/>
              </a:rPr>
              <a:t>6</a:t>
            </a:r>
          </a:p>
        </p:txBody>
      </p:sp>
      <p:sp>
        <p:nvSpPr>
          <p:cNvPr id="27" name="TextBox 26"/>
          <p:cNvSpPr txBox="1"/>
          <p:nvPr/>
        </p:nvSpPr>
        <p:spPr>
          <a:xfrm>
            <a:off x="658368" y="4316603"/>
            <a:ext cx="2194560" cy="256032"/>
          </a:xfrm>
          <a:prstGeom prst="rect">
            <a:avLst/>
          </a:prstGeom>
          <a:noFill/>
        </p:spPr>
        <p:txBody>
          <a:bodyPr wrap="square" lIns="0" rIns="0" tIns="0" bIns="0" anchor="t">
            <a:spAutoFit/>
          </a:bodyPr>
          <a:lstStyle/>
          <a:p>
            <a:pPr algn="r">
              <a:lnSpc>
                <a:spcPct val="118000"/>
              </a:lnSpc>
              <a:spcBef>
                <a:spcPts val="0"/>
              </a:spcBef>
              <a:spcAft>
                <a:spcPts val="0"/>
              </a:spcAft>
            </a:pPr>
            <a:r>
              <a:rPr sz="900" b="0" i="0">
                <a:solidFill>
                  <a:srgbClr val="93A5B4"/>
                </a:solidFill>
                <a:latin typeface="Segoe UI"/>
              </a:rPr>
              <a:t>Chapitre 4</a:t>
            </a:r>
          </a:p>
        </p:txBody>
      </p:sp>
      <p:sp>
        <p:nvSpPr>
          <p:cNvPr id="28" name="Rectangle 27"/>
          <p:cNvSpPr/>
          <p:nvPr/>
        </p:nvSpPr>
        <p:spPr>
          <a:xfrm>
            <a:off x="2990087" y="4206875"/>
            <a:ext cx="3661257" cy="182880"/>
          </a:xfrm>
          <a:prstGeom prst="rect">
            <a:avLst/>
          </a:prstGeom>
          <a:solidFill>
            <a:srgbClr val="3E4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742785" y="4179443"/>
            <a:ext cx="548640" cy="237744"/>
          </a:xfrm>
          <a:prstGeom prst="rect">
            <a:avLst/>
          </a:prstGeom>
          <a:noFill/>
        </p:spPr>
        <p:txBody>
          <a:bodyPr wrap="square" lIns="0" rIns="0" tIns="0" bIns="0" anchor="t">
            <a:spAutoFit/>
          </a:bodyPr>
          <a:lstStyle/>
          <a:p>
            <a:pPr algn="l">
              <a:lnSpc>
                <a:spcPct val="118000"/>
              </a:lnSpc>
              <a:spcBef>
                <a:spcPts val="0"/>
              </a:spcBef>
              <a:spcAft>
                <a:spcPts val="0"/>
              </a:spcAft>
            </a:pPr>
            <a:r>
              <a:rPr sz="840" b="0" i="0">
                <a:solidFill>
                  <a:srgbClr val="93A5B4"/>
                </a:solidFill>
                <a:latin typeface="Consolas"/>
              </a:rPr>
              <a:t>22</a:t>
            </a:r>
          </a:p>
        </p:txBody>
      </p:sp>
      <p:sp>
        <p:nvSpPr>
          <p:cNvPr id="30" name="Rectangle 29"/>
          <p:cNvSpPr/>
          <p:nvPr/>
        </p:nvSpPr>
        <p:spPr>
          <a:xfrm>
            <a:off x="2990087" y="4462907"/>
            <a:ext cx="1164945" cy="182880"/>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4246473" y="4435475"/>
            <a:ext cx="548640" cy="237744"/>
          </a:xfrm>
          <a:prstGeom prst="rect">
            <a:avLst/>
          </a:prstGeom>
          <a:noFill/>
        </p:spPr>
        <p:txBody>
          <a:bodyPr wrap="square" lIns="0" rIns="0" tIns="0" bIns="0" anchor="t">
            <a:spAutoFit/>
          </a:bodyPr>
          <a:lstStyle/>
          <a:p>
            <a:pPr algn="l">
              <a:lnSpc>
                <a:spcPct val="118000"/>
              </a:lnSpc>
              <a:spcBef>
                <a:spcPts val="0"/>
              </a:spcBef>
              <a:spcAft>
                <a:spcPts val="0"/>
              </a:spcAft>
            </a:pPr>
            <a:r>
              <a:rPr sz="860" b="1" i="0">
                <a:solidFill>
                  <a:srgbClr val="E3C485"/>
                </a:solidFill>
                <a:latin typeface="Consolas"/>
              </a:rPr>
              <a:t>7</a:t>
            </a:r>
          </a:p>
        </p:txBody>
      </p:sp>
      <p:sp>
        <p:nvSpPr>
          <p:cNvPr id="32" name="TextBox 31"/>
          <p:cNvSpPr txBox="1"/>
          <p:nvPr/>
        </p:nvSpPr>
        <p:spPr>
          <a:xfrm>
            <a:off x="658368" y="4920107"/>
            <a:ext cx="2194560" cy="256032"/>
          </a:xfrm>
          <a:prstGeom prst="rect">
            <a:avLst/>
          </a:prstGeom>
          <a:noFill/>
        </p:spPr>
        <p:txBody>
          <a:bodyPr wrap="square" lIns="0" rIns="0" tIns="0" bIns="0" anchor="t">
            <a:spAutoFit/>
          </a:bodyPr>
          <a:lstStyle/>
          <a:p>
            <a:pPr algn="r">
              <a:lnSpc>
                <a:spcPct val="118000"/>
              </a:lnSpc>
              <a:spcBef>
                <a:spcPts val="0"/>
              </a:spcBef>
              <a:spcAft>
                <a:spcPts val="0"/>
              </a:spcAft>
            </a:pPr>
            <a:r>
              <a:rPr sz="900" b="0" i="0">
                <a:solidFill>
                  <a:srgbClr val="93A5B4"/>
                </a:solidFill>
                <a:latin typeface="Segoe UI"/>
              </a:rPr>
              <a:t>Chapitre 5</a:t>
            </a:r>
          </a:p>
        </p:txBody>
      </p:sp>
      <p:sp>
        <p:nvSpPr>
          <p:cNvPr id="33" name="Rectangle 32"/>
          <p:cNvSpPr/>
          <p:nvPr/>
        </p:nvSpPr>
        <p:spPr>
          <a:xfrm>
            <a:off x="2990087" y="4810379"/>
            <a:ext cx="4160520" cy="182880"/>
          </a:xfrm>
          <a:prstGeom prst="rect">
            <a:avLst/>
          </a:prstGeom>
          <a:solidFill>
            <a:srgbClr val="3E4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242047" y="4782947"/>
            <a:ext cx="548640" cy="237744"/>
          </a:xfrm>
          <a:prstGeom prst="rect">
            <a:avLst/>
          </a:prstGeom>
          <a:noFill/>
        </p:spPr>
        <p:txBody>
          <a:bodyPr wrap="square" lIns="0" rIns="0" tIns="0" bIns="0" anchor="t">
            <a:spAutoFit/>
          </a:bodyPr>
          <a:lstStyle/>
          <a:p>
            <a:pPr algn="l">
              <a:lnSpc>
                <a:spcPct val="118000"/>
              </a:lnSpc>
              <a:spcBef>
                <a:spcPts val="0"/>
              </a:spcBef>
              <a:spcAft>
                <a:spcPts val="0"/>
              </a:spcAft>
            </a:pPr>
            <a:r>
              <a:rPr sz="840" b="0" i="0">
                <a:solidFill>
                  <a:srgbClr val="93A5B4"/>
                </a:solidFill>
                <a:latin typeface="Consolas"/>
              </a:rPr>
              <a:t>25</a:t>
            </a:r>
          </a:p>
        </p:txBody>
      </p:sp>
      <p:sp>
        <p:nvSpPr>
          <p:cNvPr id="35" name="Rectangle 34"/>
          <p:cNvSpPr/>
          <p:nvPr/>
        </p:nvSpPr>
        <p:spPr>
          <a:xfrm>
            <a:off x="2990087" y="5066411"/>
            <a:ext cx="1497787" cy="182880"/>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579315" y="5038979"/>
            <a:ext cx="548640" cy="237744"/>
          </a:xfrm>
          <a:prstGeom prst="rect">
            <a:avLst/>
          </a:prstGeom>
          <a:noFill/>
        </p:spPr>
        <p:txBody>
          <a:bodyPr wrap="square" lIns="0" rIns="0" tIns="0" bIns="0" anchor="t">
            <a:spAutoFit/>
          </a:bodyPr>
          <a:lstStyle/>
          <a:p>
            <a:pPr algn="l">
              <a:lnSpc>
                <a:spcPct val="118000"/>
              </a:lnSpc>
              <a:spcBef>
                <a:spcPts val="0"/>
              </a:spcBef>
              <a:spcAft>
                <a:spcPts val="0"/>
              </a:spcAft>
            </a:pPr>
            <a:r>
              <a:rPr sz="860" b="1" i="0">
                <a:solidFill>
                  <a:srgbClr val="E3C485"/>
                </a:solidFill>
                <a:latin typeface="Consolas"/>
              </a:rPr>
              <a:t>9</a:t>
            </a:r>
          </a:p>
        </p:txBody>
      </p:sp>
      <p:sp>
        <p:nvSpPr>
          <p:cNvPr id="37" name="TextBox 36"/>
          <p:cNvSpPr txBox="1"/>
          <p:nvPr/>
        </p:nvSpPr>
        <p:spPr>
          <a:xfrm>
            <a:off x="658368" y="5523611"/>
            <a:ext cx="2194560" cy="256032"/>
          </a:xfrm>
          <a:prstGeom prst="rect">
            <a:avLst/>
          </a:prstGeom>
          <a:noFill/>
        </p:spPr>
        <p:txBody>
          <a:bodyPr wrap="square" lIns="0" rIns="0" tIns="0" bIns="0" anchor="t">
            <a:spAutoFit/>
          </a:bodyPr>
          <a:lstStyle/>
          <a:p>
            <a:pPr algn="r">
              <a:lnSpc>
                <a:spcPct val="118000"/>
              </a:lnSpc>
              <a:spcBef>
                <a:spcPts val="0"/>
              </a:spcBef>
              <a:spcAft>
                <a:spcPts val="0"/>
              </a:spcAft>
            </a:pPr>
            <a:r>
              <a:rPr sz="900" b="0" i="0">
                <a:solidFill>
                  <a:srgbClr val="93A5B4"/>
                </a:solidFill>
                <a:latin typeface="Segoe UI"/>
              </a:rPr>
              <a:t>Chapitre 6</a:t>
            </a:r>
          </a:p>
        </p:txBody>
      </p:sp>
      <p:sp>
        <p:nvSpPr>
          <p:cNvPr id="38" name="Rectangle 37"/>
          <p:cNvSpPr/>
          <p:nvPr/>
        </p:nvSpPr>
        <p:spPr>
          <a:xfrm>
            <a:off x="2990087" y="5413883"/>
            <a:ext cx="3328415" cy="182880"/>
          </a:xfrm>
          <a:prstGeom prst="rect">
            <a:avLst/>
          </a:prstGeom>
          <a:solidFill>
            <a:srgbClr val="3E4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409943" y="5386451"/>
            <a:ext cx="548640" cy="237744"/>
          </a:xfrm>
          <a:prstGeom prst="rect">
            <a:avLst/>
          </a:prstGeom>
          <a:noFill/>
        </p:spPr>
        <p:txBody>
          <a:bodyPr wrap="square" lIns="0" rIns="0" tIns="0" bIns="0" anchor="t">
            <a:spAutoFit/>
          </a:bodyPr>
          <a:lstStyle/>
          <a:p>
            <a:pPr algn="l">
              <a:lnSpc>
                <a:spcPct val="118000"/>
              </a:lnSpc>
              <a:spcBef>
                <a:spcPts val="0"/>
              </a:spcBef>
              <a:spcAft>
                <a:spcPts val="0"/>
              </a:spcAft>
            </a:pPr>
            <a:r>
              <a:rPr sz="840" b="0" i="0">
                <a:solidFill>
                  <a:srgbClr val="93A5B4"/>
                </a:solidFill>
                <a:latin typeface="Consolas"/>
              </a:rPr>
              <a:t>20</a:t>
            </a:r>
          </a:p>
        </p:txBody>
      </p:sp>
      <p:sp>
        <p:nvSpPr>
          <p:cNvPr id="40" name="Rectangle 39"/>
          <p:cNvSpPr/>
          <p:nvPr/>
        </p:nvSpPr>
        <p:spPr>
          <a:xfrm>
            <a:off x="2990087" y="5669915"/>
            <a:ext cx="998524" cy="182880"/>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080052" y="5642483"/>
            <a:ext cx="548640" cy="237744"/>
          </a:xfrm>
          <a:prstGeom prst="rect">
            <a:avLst/>
          </a:prstGeom>
          <a:noFill/>
        </p:spPr>
        <p:txBody>
          <a:bodyPr wrap="square" lIns="0" rIns="0" tIns="0" bIns="0" anchor="t">
            <a:spAutoFit/>
          </a:bodyPr>
          <a:lstStyle/>
          <a:p>
            <a:pPr algn="l">
              <a:lnSpc>
                <a:spcPct val="118000"/>
              </a:lnSpc>
              <a:spcBef>
                <a:spcPts val="0"/>
              </a:spcBef>
              <a:spcAft>
                <a:spcPts val="0"/>
              </a:spcAft>
            </a:pPr>
            <a:r>
              <a:rPr sz="860" b="1" i="0">
                <a:solidFill>
                  <a:srgbClr val="E3C485"/>
                </a:solidFill>
                <a:latin typeface="Consolas"/>
              </a:rPr>
              <a:t>6</a:t>
            </a:r>
          </a:p>
        </p:txBody>
      </p:sp>
      <p:sp>
        <p:nvSpPr>
          <p:cNvPr id="42" name="Rectangle 41"/>
          <p:cNvSpPr/>
          <p:nvPr/>
        </p:nvSpPr>
        <p:spPr>
          <a:xfrm>
            <a:off x="2990087" y="6090539"/>
            <a:ext cx="146304" cy="109728"/>
          </a:xfrm>
          <a:prstGeom prst="rect">
            <a:avLst/>
          </a:prstGeom>
          <a:solidFill>
            <a:srgbClr val="3E4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3209544" y="6044819"/>
            <a:ext cx="2011680" cy="219456"/>
          </a:xfrm>
          <a:prstGeom prst="rect">
            <a:avLst/>
          </a:prstGeom>
          <a:noFill/>
        </p:spPr>
        <p:txBody>
          <a:bodyPr wrap="square" lIns="0" rIns="0" tIns="0" bIns="0" anchor="t">
            <a:spAutoFit/>
          </a:bodyPr>
          <a:lstStyle/>
          <a:p>
            <a:pPr algn="l">
              <a:lnSpc>
                <a:spcPct val="118000"/>
              </a:lnSpc>
              <a:spcBef>
                <a:spcPts val="0"/>
              </a:spcBef>
              <a:spcAft>
                <a:spcPts val="0"/>
              </a:spcAft>
            </a:pPr>
            <a:r>
              <a:rPr sz="819" b="0" i="0">
                <a:solidFill>
                  <a:srgbClr val="93A5B4"/>
                </a:solidFill>
                <a:latin typeface="Segoe UI"/>
              </a:rPr>
              <a:t>Programme de travail (115)</a:t>
            </a:r>
          </a:p>
        </p:txBody>
      </p:sp>
      <p:sp>
        <p:nvSpPr>
          <p:cNvPr id="44" name="Rectangle 43"/>
          <p:cNvSpPr/>
          <p:nvPr/>
        </p:nvSpPr>
        <p:spPr>
          <a:xfrm>
            <a:off x="5276088" y="6090539"/>
            <a:ext cx="146304" cy="109728"/>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5495544" y="6044819"/>
            <a:ext cx="2011680" cy="219456"/>
          </a:xfrm>
          <a:prstGeom prst="rect">
            <a:avLst/>
          </a:prstGeom>
          <a:noFill/>
        </p:spPr>
        <p:txBody>
          <a:bodyPr wrap="square" lIns="0" rIns="0" tIns="0" bIns="0" anchor="t">
            <a:spAutoFit/>
          </a:bodyPr>
          <a:lstStyle/>
          <a:p>
            <a:pPr algn="l">
              <a:lnSpc>
                <a:spcPct val="118000"/>
              </a:lnSpc>
              <a:spcBef>
                <a:spcPts val="0"/>
              </a:spcBef>
              <a:spcAft>
                <a:spcPts val="0"/>
              </a:spcAft>
            </a:pPr>
            <a:r>
              <a:rPr sz="819" b="0" i="0">
                <a:solidFill>
                  <a:srgbClr val="93A5B4"/>
                </a:solidFill>
                <a:latin typeface="Segoe UI"/>
              </a:rPr>
              <a:t>Supports retenus (40)</a:t>
            </a:r>
          </a:p>
        </p:txBody>
      </p:sp>
      <p:sp>
        <p:nvSpPr>
          <p:cNvPr id="46" name="Rounded Rectangle 45"/>
          <p:cNvSpPr/>
          <p:nvPr/>
        </p:nvSpPr>
        <p:spPr>
          <a:xfrm>
            <a:off x="7744968" y="1664843"/>
            <a:ext cx="1811883" cy="896112"/>
          </a:xfrm>
          <a:prstGeom prst="roundRect">
            <a:avLst>
              <a:gd name="adj" fmla="val 9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7872984" y="1737995"/>
            <a:ext cx="1555851" cy="749808"/>
          </a:xfrm>
          <a:prstGeom prst="rect">
            <a:avLst/>
          </a:prstGeom>
          <a:noFill/>
        </p:spPr>
        <p:txBody>
          <a:bodyPr wrap="square" lIns="0" rIns="0" tIns="0" bIns="0" anchor="ctr">
            <a:spAutoFit/>
          </a:bodyPr>
          <a:lstStyle/>
          <a:p>
            <a:pPr>
              <a:lnSpc>
                <a:spcPct val="100000"/>
              </a:lnSpc>
            </a:pPr>
            <a:r>
              <a:rPr sz="2600">
                <a:solidFill>
                  <a:srgbClr val="F3EFE7"/>
                </a:solidFill>
                <a:latin typeface="Georgia"/>
              </a:rPr>
              <a:t>27</a:t>
            </a:r>
          </a:p>
          <a:p>
            <a:pPr algn="l">
              <a:lnSpc>
                <a:spcPct val="120000"/>
              </a:lnSpc>
              <a:spcBef>
                <a:spcPts val="300"/>
              </a:spcBef>
              <a:spcAft>
                <a:spcPts val="0"/>
              </a:spcAft>
            </a:pPr>
            <a:r>
              <a:rPr sz="880" b="0" i="0">
                <a:solidFill>
                  <a:srgbClr val="93A5B4"/>
                </a:solidFill>
                <a:latin typeface="Segoe UI"/>
              </a:rPr>
              <a:t>tableaux</a:t>
            </a:r>
          </a:p>
          <a:p>
            <a:pPr algn="l">
              <a:lnSpc>
                <a:spcPct val="118000"/>
              </a:lnSpc>
              <a:spcBef>
                <a:spcPts val="250"/>
              </a:spcBef>
              <a:spcAft>
                <a:spcPts val="0"/>
              </a:spcAft>
            </a:pPr>
            <a:r>
              <a:rPr sz="680" b="0" i="0" spc="120">
                <a:solidFill>
                  <a:srgbClr val="708392"/>
                </a:solidFill>
                <a:latin typeface="Segoe UI"/>
              </a:rPr>
              <a:t>SÉRIE « TABLEAU »</a:t>
            </a:r>
          </a:p>
        </p:txBody>
      </p:sp>
      <p:sp>
        <p:nvSpPr>
          <p:cNvPr id="48" name="Rounded Rectangle 47"/>
          <p:cNvSpPr/>
          <p:nvPr/>
        </p:nvSpPr>
        <p:spPr>
          <a:xfrm>
            <a:off x="9721443" y="1664843"/>
            <a:ext cx="1811883" cy="896112"/>
          </a:xfrm>
          <a:prstGeom prst="roundRect">
            <a:avLst>
              <a:gd name="adj" fmla="val 9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9849459" y="1737995"/>
            <a:ext cx="1555851" cy="749808"/>
          </a:xfrm>
          <a:prstGeom prst="rect">
            <a:avLst/>
          </a:prstGeom>
          <a:noFill/>
        </p:spPr>
        <p:txBody>
          <a:bodyPr wrap="square" lIns="0" rIns="0" tIns="0" bIns="0" anchor="ctr">
            <a:spAutoFit/>
          </a:bodyPr>
          <a:lstStyle/>
          <a:p>
            <a:pPr>
              <a:lnSpc>
                <a:spcPct val="100000"/>
              </a:lnSpc>
            </a:pPr>
            <a:r>
              <a:rPr sz="2600">
                <a:solidFill>
                  <a:srgbClr val="F3EFE7"/>
                </a:solidFill>
                <a:latin typeface="Georgia"/>
              </a:rPr>
              <a:t>13</a:t>
            </a:r>
          </a:p>
          <a:p>
            <a:pPr algn="l">
              <a:lnSpc>
                <a:spcPct val="120000"/>
              </a:lnSpc>
              <a:spcBef>
                <a:spcPts val="300"/>
              </a:spcBef>
              <a:spcAft>
                <a:spcPts val="0"/>
              </a:spcAft>
            </a:pPr>
            <a:r>
              <a:rPr sz="880" b="0" i="0">
                <a:solidFill>
                  <a:srgbClr val="93A5B4"/>
                </a:solidFill>
                <a:latin typeface="Segoe UI"/>
              </a:rPr>
              <a:t>figures</a:t>
            </a:r>
          </a:p>
          <a:p>
            <a:pPr algn="l">
              <a:lnSpc>
                <a:spcPct val="118000"/>
              </a:lnSpc>
              <a:spcBef>
                <a:spcPts val="250"/>
              </a:spcBef>
              <a:spcAft>
                <a:spcPts val="0"/>
              </a:spcAft>
            </a:pPr>
            <a:r>
              <a:rPr sz="680" b="0" i="0" spc="120">
                <a:solidFill>
                  <a:srgbClr val="708392"/>
                </a:solidFill>
                <a:latin typeface="Segoe UI"/>
              </a:rPr>
              <a:t>SÉRIE « FIGURE »</a:t>
            </a:r>
          </a:p>
        </p:txBody>
      </p:sp>
      <p:sp>
        <p:nvSpPr>
          <p:cNvPr id="50" name="TextBox 49"/>
          <p:cNvSpPr txBox="1"/>
          <p:nvPr/>
        </p:nvSpPr>
        <p:spPr>
          <a:xfrm>
            <a:off x="7744968" y="2762123"/>
            <a:ext cx="3788359" cy="2377440"/>
          </a:xfrm>
          <a:prstGeom prst="rect">
            <a:avLst/>
          </a:prstGeom>
          <a:noFill/>
        </p:spPr>
        <p:txBody>
          <a:bodyPr wrap="square" lIns="0" rIns="0" tIns="0" bIns="0" anchor="t">
            <a:spAutoFit/>
          </a:bodyPr>
          <a:lstStyle/>
          <a:p>
            <a:pPr algn="l">
              <a:lnSpc>
                <a:spcPct val="128000"/>
              </a:lnSpc>
              <a:spcBef>
                <a:spcPts val="0"/>
              </a:spcBef>
              <a:spcAft>
                <a:spcPts val="0"/>
              </a:spcAft>
            </a:pPr>
            <a:r>
              <a:rPr sz="768" b="1">
                <a:solidFill>
                  <a:srgbClr val="C8A154"/>
                </a:solidFill>
                <a:latin typeface="Segoe UI"/>
              </a:rPr>
              <a:t>■  </a:t>
            </a:r>
            <a:r>
              <a:rPr sz="960" b="0" i="0">
                <a:solidFill>
                  <a:srgbClr val="D5D0C5"/>
                </a:solidFill>
                <a:latin typeface="Segoe UI"/>
              </a:rPr>
              <a:t>Un tableau compare, classe ou documente ; une figure montre des relations ou un processus.</a:t>
            </a:r>
          </a:p>
          <a:p>
            <a:pPr algn="l">
              <a:lnSpc>
                <a:spcPct val="128000"/>
              </a:lnSpc>
              <a:spcBef>
                <a:spcPts val="800"/>
              </a:spcBef>
              <a:spcAft>
                <a:spcPts val="0"/>
              </a:spcAft>
            </a:pPr>
            <a:r>
              <a:rPr sz="768" b="1">
                <a:solidFill>
                  <a:srgbClr val="C8A154"/>
                </a:solidFill>
                <a:latin typeface="Segoe UI"/>
              </a:rPr>
              <a:t>■  </a:t>
            </a:r>
            <a:r>
              <a:rPr sz="960" b="0" i="0">
                <a:solidFill>
                  <a:srgbClr val="D5D0C5"/>
                </a:solidFill>
                <a:latin typeface="Segoe UI"/>
              </a:rPr>
              <a:t>Fusions ciblées, sans fusionner des concepts distincts.</a:t>
            </a:r>
          </a:p>
          <a:p>
            <a:pPr algn="l">
              <a:lnSpc>
                <a:spcPct val="128000"/>
              </a:lnSpc>
              <a:spcBef>
                <a:spcPts val="800"/>
              </a:spcBef>
              <a:spcAft>
                <a:spcPts val="0"/>
              </a:spcAft>
            </a:pPr>
            <a:r>
              <a:rPr sz="768" b="1">
                <a:solidFill>
                  <a:srgbClr val="C8A154"/>
                </a:solidFill>
                <a:latin typeface="Segoe UI"/>
              </a:rPr>
              <a:t>■  </a:t>
            </a:r>
            <a:r>
              <a:rPr sz="960" b="0" i="0">
                <a:solidFill>
                  <a:srgbClr val="D5D0C5"/>
                </a:solidFill>
                <a:latin typeface="Segoe UI"/>
              </a:rPr>
              <a:t>40 supports = une cible éditoriale, pas un quota.</a:t>
            </a:r>
          </a:p>
          <a:p>
            <a:pPr algn="l">
              <a:lnSpc>
                <a:spcPct val="130000"/>
              </a:lnSpc>
              <a:spcBef>
                <a:spcPts val="1200"/>
              </a:spcBef>
              <a:spcAft>
                <a:spcPts val="0"/>
              </a:spcAft>
            </a:pPr>
            <a:r>
              <a:rPr sz="880" b="0" i="0">
                <a:solidFill>
                  <a:srgbClr val="93A5B4"/>
                </a:solidFill>
                <a:latin typeface="Segoe UI"/>
              </a:rPr>
              <a:t>Trois représentations à ne pas confondre : figure 3.1 (modèle exploratoire), figure 5.3 (synthèse empirique), figure 6.1 (modèle révisé).</a:t>
            </a:r>
          </a:p>
        </p:txBody>
      </p:sp>
      <p:sp>
        <p:nvSpPr>
          <p:cNvPr id="51" name="Rectangle 50"/>
          <p:cNvSpPr/>
          <p:nvPr/>
        </p:nvSpPr>
        <p:spPr>
          <a:xfrm>
            <a:off x="658368" y="6199632"/>
            <a:ext cx="10874959" cy="7315"/>
          </a:xfrm>
          <a:prstGeom prst="rect">
            <a:avLst/>
          </a:prstGeom>
          <a:solidFill>
            <a:srgbClr val="2734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658368" y="6291072"/>
            <a:ext cx="10189159" cy="457200"/>
          </a:xfrm>
          <a:prstGeom prst="rect">
            <a:avLst/>
          </a:prstGeom>
          <a:noFill/>
        </p:spPr>
        <p:txBody>
          <a:bodyPr wrap="square" lIns="0" rIns="0" tIns="0" bIns="0" anchor="t">
            <a:spAutoFit/>
          </a:bodyPr>
          <a:lstStyle/>
          <a:p>
            <a:pPr algn="l">
              <a:lnSpc>
                <a:spcPct val="110000"/>
              </a:lnSpc>
              <a:spcBef>
                <a:spcPts val="0"/>
              </a:spcBef>
              <a:spcAft>
                <a:spcPts val="0"/>
              </a:spcAft>
            </a:pPr>
            <a:r>
              <a:rPr sz="740" b="1">
                <a:solidFill>
                  <a:srgbClr val="93A5B4"/>
                </a:solidFill>
                <a:latin typeface="Segoe UI"/>
              </a:rPr>
              <a:t>Sources : </a:t>
            </a:r>
            <a:r>
              <a:rPr sz="740" b="0">
                <a:solidFill>
                  <a:srgbClr val="708392"/>
                </a:solidFill>
                <a:latin typeface="Segoe UI"/>
              </a:rPr>
              <a:t>liste unique synthétisée des tableaux et des figures (septembre 2026) ; base de travail : 115 entrées (76 tableaux, 39 figures).</a:t>
            </a:r>
          </a:p>
        </p:txBody>
      </p:sp>
      <p:sp>
        <p:nvSpPr>
          <p:cNvPr id="53" name="TextBox 52"/>
          <p:cNvSpPr txBox="1"/>
          <p:nvPr/>
        </p:nvSpPr>
        <p:spPr>
          <a:xfrm>
            <a:off x="10874959" y="6291072"/>
            <a:ext cx="658368" cy="274320"/>
          </a:xfrm>
          <a:prstGeom prst="rect">
            <a:avLst/>
          </a:prstGeom>
          <a:noFill/>
        </p:spPr>
        <p:txBody>
          <a:bodyPr wrap="square" lIns="0" rIns="0" tIns="0" bIns="0" anchor="t">
            <a:spAutoFit/>
          </a:bodyPr>
          <a:lstStyle/>
          <a:p>
            <a:pPr algn="r">
              <a:lnSpc>
                <a:spcPct val="118000"/>
              </a:lnSpc>
              <a:spcBef>
                <a:spcPts val="0"/>
              </a:spcBef>
              <a:spcAft>
                <a:spcPts val="0"/>
              </a:spcAft>
            </a:pPr>
            <a:r>
              <a:rPr sz="800" b="0" i="0">
                <a:solidFill>
                  <a:srgbClr val="93A5B4"/>
                </a:solidFill>
                <a:latin typeface="Consolas"/>
              </a:rPr>
              <a:t>17 / 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1C26"/>
              </a:gs>
              <a:gs pos="100000">
                <a:srgbClr val="0B101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828739"/>
            <a:ext cx="12191695" cy="29260"/>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75488"/>
            <a:ext cx="10874959"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spc="160">
                <a:solidFill>
                  <a:srgbClr val="E3C485"/>
                </a:solidFill>
                <a:latin typeface="Segoe UI"/>
              </a:rPr>
              <a:t>ÉTAT DU TRAVAIL · 22 OCTOBRE 2026</a:t>
            </a:r>
          </a:p>
        </p:txBody>
      </p:sp>
      <p:sp>
        <p:nvSpPr>
          <p:cNvPr id="5" name="TextBox 4"/>
          <p:cNvSpPr txBox="1"/>
          <p:nvPr/>
        </p:nvSpPr>
        <p:spPr>
          <a:xfrm>
            <a:off x="658368" y="713232"/>
            <a:ext cx="10692079" cy="914400"/>
          </a:xfrm>
          <a:prstGeom prst="rect">
            <a:avLst/>
          </a:prstGeom>
          <a:noFill/>
        </p:spPr>
        <p:txBody>
          <a:bodyPr wrap="square" lIns="0" rIns="0" tIns="0" bIns="0" anchor="t">
            <a:spAutoFit/>
          </a:bodyPr>
          <a:lstStyle/>
          <a:p>
            <a:pPr>
              <a:lnSpc>
                <a:spcPct val="105000"/>
              </a:lnSpc>
            </a:pPr>
            <a:r>
              <a:rPr sz="2450" b="0">
                <a:solidFill>
                  <a:srgbClr val="F3EFE7"/>
                </a:solidFill>
                <a:latin typeface="Georgia"/>
              </a:rPr>
              <a:t>Ce qui est stabilisé, ce qui reste préparatoire</a:t>
            </a:r>
          </a:p>
        </p:txBody>
      </p:sp>
      <p:sp>
        <p:nvSpPr>
          <p:cNvPr id="6" name="TextBox 5"/>
          <p:cNvSpPr txBox="1"/>
          <p:nvPr/>
        </p:nvSpPr>
        <p:spPr>
          <a:xfrm>
            <a:off x="658368" y="1079627"/>
            <a:ext cx="9777679" cy="365760"/>
          </a:xfrm>
          <a:prstGeom prst="rect">
            <a:avLst/>
          </a:prstGeom>
          <a:noFill/>
        </p:spPr>
        <p:txBody>
          <a:bodyPr wrap="square" lIns="0" rIns="0" tIns="0" bIns="0" anchor="t">
            <a:spAutoFit/>
          </a:bodyPr>
          <a:lstStyle/>
          <a:p>
            <a:pPr algn="l">
              <a:lnSpc>
                <a:spcPct val="130000"/>
              </a:lnSpc>
              <a:spcBef>
                <a:spcPts val="0"/>
              </a:spcBef>
              <a:spcAft>
                <a:spcPts val="0"/>
              </a:spcAft>
            </a:pPr>
            <a:r>
              <a:rPr sz="1150" b="0" i="0">
                <a:solidFill>
                  <a:srgbClr val="93A5B4"/>
                </a:solidFill>
                <a:latin typeface="Segoe UI"/>
              </a:rPr>
              <a:t>Un point d'étape sans embellissement : le jury évalue une démarche, pas une promesse.</a:t>
            </a:r>
          </a:p>
        </p:txBody>
      </p:sp>
      <p:sp>
        <p:nvSpPr>
          <p:cNvPr id="7" name="Rounded Rectangle 6"/>
          <p:cNvSpPr/>
          <p:nvPr/>
        </p:nvSpPr>
        <p:spPr>
          <a:xfrm>
            <a:off x="658368" y="1664843"/>
            <a:ext cx="3503066" cy="3200400"/>
          </a:xfrm>
          <a:prstGeom prst="roundRect">
            <a:avLst>
              <a:gd name="adj" fmla="val 55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32103" y="1802003"/>
            <a:ext cx="3155594" cy="3017520"/>
          </a:xfrm>
          <a:prstGeom prst="rect">
            <a:avLst/>
          </a:prstGeom>
          <a:noFill/>
        </p:spPr>
        <p:txBody>
          <a:bodyPr wrap="square" lIns="0" rIns="0" tIns="0" bIns="0" anchor="ctr">
            <a:spAutoFit/>
          </a:bodyPr>
          <a:lstStyle/>
          <a:p>
            <a:pPr algn="l">
              <a:lnSpc>
                <a:spcPct val="115000"/>
              </a:lnSpc>
              <a:spcBef>
                <a:spcPts val="0"/>
              </a:spcBef>
              <a:spcAft>
                <a:spcPts val="250"/>
              </a:spcAft>
            </a:pPr>
            <a:r>
              <a:rPr sz="900" b="1" i="0" spc="70">
                <a:solidFill>
                  <a:srgbClr val="E3C485"/>
                </a:solidFill>
                <a:latin typeface="Segoe UI"/>
              </a:rPr>
              <a:t>STABILISÉ</a:t>
            </a:r>
          </a:p>
          <a:p>
            <a:pPr algn="l">
              <a:lnSpc>
                <a:spcPct val="124000"/>
              </a:lnSpc>
              <a:spcBef>
                <a:spcPts val="700"/>
              </a:spcBef>
              <a:spcAft>
                <a:spcPts val="0"/>
              </a:spcAft>
            </a:pPr>
            <a:r>
              <a:rPr sz="856" b="1">
                <a:solidFill>
                  <a:srgbClr val="C8A154"/>
                </a:solidFill>
                <a:latin typeface="Segoe UI"/>
              </a:rPr>
              <a:t>■  </a:t>
            </a:r>
            <a:r>
              <a:rPr sz="1070" b="0" i="0">
                <a:solidFill>
                  <a:srgbClr val="D5D0C5"/>
                </a:solidFill>
                <a:latin typeface="Segoe UI"/>
              </a:rPr>
              <a:t>Plan général harmonisé (3 parties, 6 chapitres, 77 sections).</a:t>
            </a:r>
          </a:p>
          <a:p>
            <a:pPr algn="l">
              <a:lnSpc>
                <a:spcPct val="124000"/>
              </a:lnSpc>
              <a:spcBef>
                <a:spcPts val="700"/>
              </a:spcBef>
              <a:spcAft>
                <a:spcPts val="0"/>
              </a:spcAft>
            </a:pPr>
            <a:r>
              <a:rPr sz="856" b="1">
                <a:solidFill>
                  <a:srgbClr val="C8A154"/>
                </a:solidFill>
                <a:latin typeface="Segoe UI"/>
              </a:rPr>
              <a:t>■  </a:t>
            </a:r>
            <a:r>
              <a:rPr sz="1070" b="0" i="0">
                <a:solidFill>
                  <a:srgbClr val="D5D0C5"/>
                </a:solidFill>
                <a:latin typeface="Segoe UI"/>
              </a:rPr>
              <a:t>Question centrale, QR1–QR4, P1–P7.</a:t>
            </a:r>
          </a:p>
          <a:p>
            <a:pPr algn="l">
              <a:lnSpc>
                <a:spcPct val="124000"/>
              </a:lnSpc>
              <a:spcBef>
                <a:spcPts val="700"/>
              </a:spcBef>
              <a:spcAft>
                <a:spcPts val="0"/>
              </a:spcAft>
            </a:pPr>
            <a:r>
              <a:rPr sz="856" b="1">
                <a:solidFill>
                  <a:srgbClr val="C8A154"/>
                </a:solidFill>
                <a:latin typeface="Segoe UI"/>
              </a:rPr>
              <a:t>■  </a:t>
            </a:r>
            <a:r>
              <a:rPr sz="1070" b="0" i="0">
                <a:solidFill>
                  <a:srgbClr val="D5D0C5"/>
                </a:solidFill>
                <a:latin typeface="Segoe UI"/>
              </a:rPr>
              <a:t>Architecture méthodologique et éthique.</a:t>
            </a:r>
          </a:p>
          <a:p>
            <a:pPr algn="l">
              <a:lnSpc>
                <a:spcPct val="124000"/>
              </a:lnSpc>
              <a:spcBef>
                <a:spcPts val="700"/>
              </a:spcBef>
              <a:spcAft>
                <a:spcPts val="0"/>
              </a:spcAft>
            </a:pPr>
            <a:r>
              <a:rPr sz="856" b="1">
                <a:solidFill>
                  <a:srgbClr val="C8A154"/>
                </a:solidFill>
                <a:latin typeface="Segoe UI"/>
              </a:rPr>
              <a:t>■  </a:t>
            </a:r>
            <a:r>
              <a:rPr sz="1070" b="0" i="0">
                <a:solidFill>
                  <a:srgbClr val="D5D0C5"/>
                </a:solidFill>
                <a:latin typeface="Segoe UI"/>
              </a:rPr>
              <a:t>Liste unique des supports (27 tableaux, 13 figures).</a:t>
            </a:r>
          </a:p>
          <a:p>
            <a:pPr algn="l">
              <a:lnSpc>
                <a:spcPct val="124000"/>
              </a:lnSpc>
              <a:spcBef>
                <a:spcPts val="700"/>
              </a:spcBef>
              <a:spcAft>
                <a:spcPts val="0"/>
              </a:spcAft>
            </a:pPr>
            <a:r>
              <a:rPr sz="856" b="1">
                <a:solidFill>
                  <a:srgbClr val="C8A154"/>
                </a:solidFill>
                <a:latin typeface="Segoe UI"/>
              </a:rPr>
              <a:t>■  </a:t>
            </a:r>
            <a:r>
              <a:rPr sz="1070" b="0" i="0">
                <a:solidFill>
                  <a:srgbClr val="D5D0C5"/>
                </a:solidFill>
                <a:latin typeface="Segoe UI"/>
              </a:rPr>
              <a:t>Bibliographie en cours d'harmonisation.</a:t>
            </a:r>
          </a:p>
        </p:txBody>
      </p:sp>
      <p:sp>
        <p:nvSpPr>
          <p:cNvPr id="9" name="Rounded Rectangle 8"/>
          <p:cNvSpPr/>
          <p:nvPr/>
        </p:nvSpPr>
        <p:spPr>
          <a:xfrm>
            <a:off x="4344314" y="1664843"/>
            <a:ext cx="3503066" cy="3200400"/>
          </a:xfrm>
          <a:prstGeom prst="roundRect">
            <a:avLst>
              <a:gd name="adj" fmla="val 55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18050" y="1802003"/>
            <a:ext cx="3155594" cy="3017520"/>
          </a:xfrm>
          <a:prstGeom prst="rect">
            <a:avLst/>
          </a:prstGeom>
          <a:noFill/>
        </p:spPr>
        <p:txBody>
          <a:bodyPr wrap="square" lIns="0" rIns="0" tIns="0" bIns="0" anchor="ctr">
            <a:spAutoFit/>
          </a:bodyPr>
          <a:lstStyle/>
          <a:p>
            <a:pPr algn="l">
              <a:lnSpc>
                <a:spcPct val="115000"/>
              </a:lnSpc>
              <a:spcBef>
                <a:spcPts val="0"/>
              </a:spcBef>
              <a:spcAft>
                <a:spcPts val="250"/>
              </a:spcAft>
            </a:pPr>
            <a:r>
              <a:rPr sz="900" b="1" i="0" spc="70">
                <a:solidFill>
                  <a:srgbClr val="E3C485"/>
                </a:solidFill>
                <a:latin typeface="Segoe UI"/>
              </a:rPr>
              <a:t>EN PRÉPARATION</a:t>
            </a:r>
          </a:p>
          <a:p>
            <a:pPr algn="l">
              <a:lnSpc>
                <a:spcPct val="124000"/>
              </a:lnSpc>
              <a:spcBef>
                <a:spcPts val="700"/>
              </a:spcBef>
              <a:spcAft>
                <a:spcPts val="0"/>
              </a:spcAft>
            </a:pPr>
            <a:r>
              <a:rPr sz="856" b="1">
                <a:solidFill>
                  <a:srgbClr val="C8A154"/>
                </a:solidFill>
                <a:latin typeface="Segoe UI"/>
              </a:rPr>
              <a:t>■  </a:t>
            </a:r>
            <a:r>
              <a:rPr sz="1070" b="0" i="0">
                <a:solidFill>
                  <a:srgbClr val="D5D0C5"/>
                </a:solidFill>
                <a:latin typeface="Segoe UI"/>
              </a:rPr>
              <a:t>Chapitre 5 : architecture d'analyse arrêtée, contenus subordonnés au corpus réel.</a:t>
            </a:r>
          </a:p>
          <a:p>
            <a:pPr algn="l">
              <a:lnSpc>
                <a:spcPct val="124000"/>
              </a:lnSpc>
              <a:spcBef>
                <a:spcPts val="700"/>
              </a:spcBef>
              <a:spcAft>
                <a:spcPts val="0"/>
              </a:spcAft>
            </a:pPr>
            <a:r>
              <a:rPr sz="856" b="1">
                <a:solidFill>
                  <a:srgbClr val="C8A154"/>
                </a:solidFill>
                <a:latin typeface="Segoe UI"/>
              </a:rPr>
              <a:t>■  </a:t>
            </a:r>
            <a:r>
              <a:rPr sz="1070" b="0" i="0">
                <a:solidFill>
                  <a:srgbClr val="D5D0C5"/>
                </a:solidFill>
                <a:latin typeface="Segoe UI"/>
              </a:rPr>
              <a:t>Chapitre 6 : discussion et recommandations indicatives.</a:t>
            </a:r>
          </a:p>
          <a:p>
            <a:pPr algn="l">
              <a:lnSpc>
                <a:spcPct val="124000"/>
              </a:lnSpc>
              <a:spcBef>
                <a:spcPts val="700"/>
              </a:spcBef>
              <a:spcAft>
                <a:spcPts val="0"/>
              </a:spcAft>
            </a:pPr>
            <a:r>
              <a:rPr sz="856" b="1">
                <a:solidFill>
                  <a:srgbClr val="C8A154"/>
                </a:solidFill>
                <a:latin typeface="Segoe UI"/>
              </a:rPr>
              <a:t>■  </a:t>
            </a:r>
            <a:r>
              <a:rPr sz="1070" b="0" i="0">
                <a:solidFill>
                  <a:srgbClr val="D5D0C5"/>
                </a:solidFill>
                <a:latin typeface="Segoe UI"/>
              </a:rPr>
              <a:t>Protocole de cas : grilles et saturation à finaliser.</a:t>
            </a:r>
          </a:p>
        </p:txBody>
      </p:sp>
      <p:sp>
        <p:nvSpPr>
          <p:cNvPr id="11" name="Rounded Rectangle 10"/>
          <p:cNvSpPr/>
          <p:nvPr/>
        </p:nvSpPr>
        <p:spPr>
          <a:xfrm>
            <a:off x="8030260" y="1664843"/>
            <a:ext cx="3503066" cy="3200400"/>
          </a:xfrm>
          <a:prstGeom prst="roundRect">
            <a:avLst>
              <a:gd name="adj" fmla="val 5500"/>
            </a:avLst>
          </a:prstGeom>
          <a:solidFill>
            <a:srgbClr val="2A2418"/>
          </a:solidFill>
          <a:ln w="11430">
            <a:solidFill>
              <a:srgbClr val="C8A15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03996" y="1802003"/>
            <a:ext cx="3155594" cy="3017520"/>
          </a:xfrm>
          <a:prstGeom prst="rect">
            <a:avLst/>
          </a:prstGeom>
          <a:noFill/>
        </p:spPr>
        <p:txBody>
          <a:bodyPr wrap="square" lIns="0" rIns="0" tIns="0" bIns="0" anchor="ctr">
            <a:spAutoFit/>
          </a:bodyPr>
          <a:lstStyle/>
          <a:p>
            <a:pPr algn="l">
              <a:lnSpc>
                <a:spcPct val="115000"/>
              </a:lnSpc>
              <a:spcBef>
                <a:spcPts val="0"/>
              </a:spcBef>
              <a:spcAft>
                <a:spcPts val="250"/>
              </a:spcAft>
            </a:pPr>
            <a:r>
              <a:rPr sz="900" b="1" i="0" spc="70">
                <a:solidFill>
                  <a:srgbClr val="E3C485"/>
                </a:solidFill>
                <a:latin typeface="Segoe UI"/>
              </a:rPr>
              <a:t>RÈGLE TENUE</a:t>
            </a:r>
          </a:p>
          <a:p>
            <a:pPr algn="l">
              <a:lnSpc>
                <a:spcPct val="126000"/>
              </a:lnSpc>
              <a:spcBef>
                <a:spcPts val="0"/>
              </a:spcBef>
              <a:spcAft>
                <a:spcPts val="0"/>
              </a:spcAft>
            </a:pPr>
            <a:r>
              <a:rPr sz="1040" b="0" i="0">
                <a:solidFill>
                  <a:srgbClr val="D5D0C5"/>
                </a:solidFill>
                <a:latin typeface="Segoe UI"/>
              </a:rPr>
              <a:t>Aucune donnée de terrain n'est inventée, aucun verbatim n'est reconstitué, aucune référence bibliographique n'est citée sans avoir été lue. Un trou reste un trou : il est signalé comme tel.</a:t>
            </a:r>
          </a:p>
        </p:txBody>
      </p:sp>
      <p:sp>
        <p:nvSpPr>
          <p:cNvPr id="13" name="TextBox 12"/>
          <p:cNvSpPr txBox="1"/>
          <p:nvPr/>
        </p:nvSpPr>
        <p:spPr>
          <a:xfrm>
            <a:off x="8203996" y="4270883"/>
            <a:ext cx="3155594" cy="457200"/>
          </a:xfrm>
          <a:prstGeom prst="rect">
            <a:avLst/>
          </a:prstGeom>
          <a:noFill/>
        </p:spPr>
        <p:txBody>
          <a:bodyPr wrap="square" lIns="0" rIns="0" tIns="0" bIns="0" anchor="t">
            <a:spAutoFit/>
          </a:bodyPr>
          <a:lstStyle/>
          <a:p>
            <a:pPr algn="l">
              <a:lnSpc>
                <a:spcPct val="125000"/>
              </a:lnSpc>
              <a:spcBef>
                <a:spcPts val="0"/>
              </a:spcBef>
              <a:spcAft>
                <a:spcPts val="0"/>
              </a:spcAft>
            </a:pPr>
            <a:r>
              <a:rPr sz="860" b="0" i="0">
                <a:solidFill>
                  <a:srgbClr val="93A5B4"/>
                </a:solidFill>
                <a:latin typeface="Segoe UI"/>
              </a:rPr>
              <a:t>Cette règle s'applique aussi au présent diaporama et à ses visuels.</a:t>
            </a:r>
          </a:p>
        </p:txBody>
      </p:sp>
      <p:sp>
        <p:nvSpPr>
          <p:cNvPr id="14" name="Rectangle 13"/>
          <p:cNvSpPr/>
          <p:nvPr/>
        </p:nvSpPr>
        <p:spPr>
          <a:xfrm>
            <a:off x="658368" y="6199632"/>
            <a:ext cx="10874959" cy="7315"/>
          </a:xfrm>
          <a:prstGeom prst="rect">
            <a:avLst/>
          </a:prstGeom>
          <a:solidFill>
            <a:srgbClr val="2734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58368" y="6291072"/>
            <a:ext cx="10189159" cy="457200"/>
          </a:xfrm>
          <a:prstGeom prst="rect">
            <a:avLst/>
          </a:prstGeom>
          <a:noFill/>
        </p:spPr>
        <p:txBody>
          <a:bodyPr wrap="square" lIns="0" rIns="0" tIns="0" bIns="0" anchor="t">
            <a:spAutoFit/>
          </a:bodyPr>
          <a:lstStyle/>
          <a:p>
            <a:pPr algn="l">
              <a:lnSpc>
                <a:spcPct val="110000"/>
              </a:lnSpc>
              <a:spcBef>
                <a:spcPts val="0"/>
              </a:spcBef>
              <a:spcAft>
                <a:spcPts val="0"/>
              </a:spcAft>
            </a:pPr>
            <a:r>
              <a:rPr sz="740" b="1">
                <a:solidFill>
                  <a:srgbClr val="93A5B4"/>
                </a:solidFill>
                <a:latin typeface="Segoe UI"/>
              </a:rPr>
              <a:t>Sources : </a:t>
            </a:r>
            <a:r>
              <a:rPr sz="740" b="0">
                <a:solidFill>
                  <a:srgbClr val="708392"/>
                </a:solidFill>
                <a:latin typeface="Segoe UI"/>
              </a:rPr>
              <a:t>dossier de travail de l'auteur, 8 septembre – 22 octobre 2026 ; plan harmonisé ; liste des supports.</a:t>
            </a:r>
          </a:p>
        </p:txBody>
      </p:sp>
      <p:sp>
        <p:nvSpPr>
          <p:cNvPr id="16" name="TextBox 15"/>
          <p:cNvSpPr txBox="1"/>
          <p:nvPr/>
        </p:nvSpPr>
        <p:spPr>
          <a:xfrm>
            <a:off x="10874959" y="6291072"/>
            <a:ext cx="658368" cy="274320"/>
          </a:xfrm>
          <a:prstGeom prst="rect">
            <a:avLst/>
          </a:prstGeom>
          <a:noFill/>
        </p:spPr>
        <p:txBody>
          <a:bodyPr wrap="square" lIns="0" rIns="0" tIns="0" bIns="0" anchor="t">
            <a:spAutoFit/>
          </a:bodyPr>
          <a:lstStyle/>
          <a:p>
            <a:pPr algn="r">
              <a:lnSpc>
                <a:spcPct val="118000"/>
              </a:lnSpc>
              <a:spcBef>
                <a:spcPts val="0"/>
              </a:spcBef>
              <a:spcAft>
                <a:spcPts val="0"/>
              </a:spcAft>
            </a:pPr>
            <a:r>
              <a:rPr sz="800" b="0" i="0">
                <a:solidFill>
                  <a:srgbClr val="93A5B4"/>
                </a:solidFill>
                <a:latin typeface="Consolas"/>
              </a:rPr>
              <a:t>18 / 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1C26"/>
              </a:gs>
              <a:gs pos="100000">
                <a:srgbClr val="0B101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828739"/>
            <a:ext cx="12191695" cy="29260"/>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75488"/>
            <a:ext cx="10874959"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spc="160">
                <a:solidFill>
                  <a:srgbClr val="E3C485"/>
                </a:solidFill>
                <a:latin typeface="Segoe UI"/>
              </a:rPr>
              <a:t>CHAPITRE 5 · ARCHITECTURE PRÉPARATOIRE</a:t>
            </a:r>
          </a:p>
        </p:txBody>
      </p:sp>
      <p:sp>
        <p:nvSpPr>
          <p:cNvPr id="5" name="TextBox 4"/>
          <p:cNvSpPr txBox="1"/>
          <p:nvPr/>
        </p:nvSpPr>
        <p:spPr>
          <a:xfrm>
            <a:off x="658368" y="713232"/>
            <a:ext cx="10692079" cy="914400"/>
          </a:xfrm>
          <a:prstGeom prst="rect">
            <a:avLst/>
          </a:prstGeom>
          <a:noFill/>
        </p:spPr>
        <p:txBody>
          <a:bodyPr wrap="square" lIns="0" rIns="0" tIns="0" bIns="0" anchor="t">
            <a:spAutoFit/>
          </a:bodyPr>
          <a:lstStyle/>
          <a:p>
            <a:pPr>
              <a:lnSpc>
                <a:spcPct val="105000"/>
              </a:lnSpc>
            </a:pPr>
            <a:r>
              <a:rPr sz="2450" b="0">
                <a:solidFill>
                  <a:srgbClr val="F3EFE7"/>
                </a:solidFill>
                <a:latin typeface="Georgia"/>
              </a:rPr>
              <a:t>Les résultats seront organisés par scènes, cas et propositions</a:t>
            </a:r>
          </a:p>
        </p:txBody>
      </p:sp>
      <p:sp>
        <p:nvSpPr>
          <p:cNvPr id="6" name="TextBox 5"/>
          <p:cNvSpPr txBox="1"/>
          <p:nvPr/>
        </p:nvSpPr>
        <p:spPr>
          <a:xfrm>
            <a:off x="658368" y="1079627"/>
            <a:ext cx="9777679" cy="365760"/>
          </a:xfrm>
          <a:prstGeom prst="rect">
            <a:avLst/>
          </a:prstGeom>
          <a:noFill/>
        </p:spPr>
        <p:txBody>
          <a:bodyPr wrap="square" lIns="0" rIns="0" tIns="0" bIns="0" anchor="t">
            <a:spAutoFit/>
          </a:bodyPr>
          <a:lstStyle/>
          <a:p>
            <a:pPr algn="l">
              <a:lnSpc>
                <a:spcPct val="130000"/>
              </a:lnSpc>
              <a:spcBef>
                <a:spcPts val="0"/>
              </a:spcBef>
              <a:spcAft>
                <a:spcPts val="0"/>
              </a:spcAft>
            </a:pPr>
            <a:r>
              <a:rPr sz="1150" b="0" i="0">
                <a:solidFill>
                  <a:srgbClr val="93A5B4"/>
                </a:solidFill>
                <a:latin typeface="Segoe UI"/>
              </a:rPr>
              <a:t>Les intitulés indiquent des objets d'analyse, non des résultats acquis.</a:t>
            </a:r>
          </a:p>
        </p:txBody>
      </p:sp>
      <p:sp>
        <p:nvSpPr>
          <p:cNvPr id="7" name="Rounded Rectangle 6"/>
          <p:cNvSpPr/>
          <p:nvPr/>
        </p:nvSpPr>
        <p:spPr>
          <a:xfrm>
            <a:off x="658368" y="1664843"/>
            <a:ext cx="5346039" cy="841248"/>
          </a:xfrm>
          <a:prstGeom prst="roundRect">
            <a:avLst>
              <a:gd name="adj" fmla="val 55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86384" y="1765427"/>
            <a:ext cx="5090007" cy="658368"/>
          </a:xfrm>
          <a:prstGeom prst="rect">
            <a:avLst/>
          </a:prstGeom>
          <a:noFill/>
        </p:spPr>
        <p:txBody>
          <a:bodyPr wrap="square" lIns="0" rIns="0" tIns="0" bIns="0" anchor="ctr">
            <a:spAutoFit/>
          </a:bodyPr>
          <a:lstStyle/>
          <a:p>
            <a:pPr algn="l">
              <a:lnSpc>
                <a:spcPct val="115000"/>
              </a:lnSpc>
              <a:spcBef>
                <a:spcPts val="0"/>
              </a:spcBef>
              <a:spcAft>
                <a:spcPts val="250"/>
              </a:spcAft>
            </a:pPr>
            <a:r>
              <a:rPr sz="819" b="1" i="0" spc="70">
                <a:solidFill>
                  <a:srgbClr val="E3C485"/>
                </a:solidFill>
                <a:latin typeface="Segoe UI"/>
              </a:rPr>
              <a:t>5.1 – 5.2 · CORPUS ET MONOGRAPHIES</a:t>
            </a:r>
          </a:p>
          <a:p>
            <a:pPr algn="l">
              <a:lnSpc>
                <a:spcPct val="126000"/>
              </a:lnSpc>
              <a:spcBef>
                <a:spcPts val="0"/>
              </a:spcBef>
              <a:spcAft>
                <a:spcPts val="0"/>
              </a:spcAft>
            </a:pPr>
            <a:r>
              <a:rPr sz="980" b="0" i="0">
                <a:solidFill>
                  <a:srgbClr val="D5D0C5"/>
                </a:solidFill>
                <a:latin typeface="Segoe UI"/>
              </a:rPr>
              <a:t>Corpus effectif, écarts au protocole, suffisance informationnelle ; analyse intra-cas sous codes.</a:t>
            </a:r>
          </a:p>
        </p:txBody>
      </p:sp>
      <p:sp>
        <p:nvSpPr>
          <p:cNvPr id="9" name="Rounded Rectangle 8"/>
          <p:cNvSpPr/>
          <p:nvPr/>
        </p:nvSpPr>
        <p:spPr>
          <a:xfrm>
            <a:off x="6187287" y="1664843"/>
            <a:ext cx="5346039" cy="841248"/>
          </a:xfrm>
          <a:prstGeom prst="roundRect">
            <a:avLst>
              <a:gd name="adj" fmla="val 55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315303" y="1765427"/>
            <a:ext cx="5090007" cy="658368"/>
          </a:xfrm>
          <a:prstGeom prst="rect">
            <a:avLst/>
          </a:prstGeom>
          <a:noFill/>
        </p:spPr>
        <p:txBody>
          <a:bodyPr wrap="square" lIns="0" rIns="0" tIns="0" bIns="0" anchor="ctr">
            <a:spAutoFit/>
          </a:bodyPr>
          <a:lstStyle/>
          <a:p>
            <a:pPr algn="l">
              <a:lnSpc>
                <a:spcPct val="115000"/>
              </a:lnSpc>
              <a:spcBef>
                <a:spcPts val="0"/>
              </a:spcBef>
              <a:spcAft>
                <a:spcPts val="250"/>
              </a:spcAft>
            </a:pPr>
            <a:r>
              <a:rPr sz="819" b="1" i="0" spc="70">
                <a:solidFill>
                  <a:srgbClr val="E3C485"/>
                </a:solidFill>
                <a:latin typeface="Segoe UI"/>
              </a:rPr>
              <a:t>5.3 – 5.4 · POLYCRISE ET IA</a:t>
            </a:r>
          </a:p>
          <a:p>
            <a:pPr algn="l">
              <a:lnSpc>
                <a:spcPct val="126000"/>
              </a:lnSpc>
              <a:spcBef>
                <a:spcPts val="0"/>
              </a:spcBef>
              <a:spcAft>
                <a:spcPts val="0"/>
              </a:spcAft>
            </a:pPr>
            <a:r>
              <a:rPr sz="980" b="0" i="0">
                <a:solidFill>
                  <a:srgbClr val="D5D0C5"/>
                </a:solidFill>
                <a:latin typeface="Segoe UI"/>
              </a:rPr>
              <a:t>Configurations de gouvernance actuelles ; usages numériques et contribution de l'intelligence artificielle.</a:t>
            </a:r>
          </a:p>
        </p:txBody>
      </p:sp>
      <p:sp>
        <p:nvSpPr>
          <p:cNvPr id="11" name="Rounded Rectangle 10"/>
          <p:cNvSpPr/>
          <p:nvPr/>
        </p:nvSpPr>
        <p:spPr>
          <a:xfrm>
            <a:off x="658368" y="2624963"/>
            <a:ext cx="5346039" cy="841248"/>
          </a:xfrm>
          <a:prstGeom prst="roundRect">
            <a:avLst>
              <a:gd name="adj" fmla="val 55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86384" y="2725547"/>
            <a:ext cx="5090007" cy="658368"/>
          </a:xfrm>
          <a:prstGeom prst="rect">
            <a:avLst/>
          </a:prstGeom>
          <a:noFill/>
        </p:spPr>
        <p:txBody>
          <a:bodyPr wrap="square" lIns="0" rIns="0" tIns="0" bIns="0" anchor="ctr">
            <a:spAutoFit/>
          </a:bodyPr>
          <a:lstStyle/>
          <a:p>
            <a:pPr algn="l">
              <a:lnSpc>
                <a:spcPct val="115000"/>
              </a:lnSpc>
              <a:spcBef>
                <a:spcPts val="0"/>
              </a:spcBef>
              <a:spcAft>
                <a:spcPts val="250"/>
              </a:spcAft>
            </a:pPr>
            <a:r>
              <a:rPr sz="819" b="1" i="0" spc="70">
                <a:solidFill>
                  <a:srgbClr val="E3C485"/>
                </a:solidFill>
                <a:latin typeface="Segoe UI"/>
              </a:rPr>
              <a:t>5.5 – 5.6 · IE ET ARTICULATION</a:t>
            </a:r>
          </a:p>
          <a:p>
            <a:pPr algn="l">
              <a:lnSpc>
                <a:spcPct val="126000"/>
              </a:lnSpc>
              <a:spcBef>
                <a:spcPts val="0"/>
              </a:spcBef>
              <a:spcAft>
                <a:spcPts val="0"/>
              </a:spcAft>
            </a:pPr>
            <a:r>
              <a:rPr sz="980" b="0" i="0">
                <a:solidFill>
                  <a:srgbClr val="D5D0C5"/>
                </a:solidFill>
                <a:latin typeface="Segoe UI"/>
              </a:rPr>
              <a:t>Dimensions humaines de la décision ; articulation IA–IE dans les processus de gouvernance.</a:t>
            </a:r>
          </a:p>
        </p:txBody>
      </p:sp>
      <p:sp>
        <p:nvSpPr>
          <p:cNvPr id="13" name="Rounded Rectangle 12"/>
          <p:cNvSpPr/>
          <p:nvPr/>
        </p:nvSpPr>
        <p:spPr>
          <a:xfrm>
            <a:off x="6187287" y="2624963"/>
            <a:ext cx="5346039" cy="841248"/>
          </a:xfrm>
          <a:prstGeom prst="roundRect">
            <a:avLst>
              <a:gd name="adj" fmla="val 55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315303" y="2725547"/>
            <a:ext cx="5090007" cy="658368"/>
          </a:xfrm>
          <a:prstGeom prst="rect">
            <a:avLst/>
          </a:prstGeom>
          <a:noFill/>
        </p:spPr>
        <p:txBody>
          <a:bodyPr wrap="square" lIns="0" rIns="0" tIns="0" bIns="0" anchor="ctr">
            <a:spAutoFit/>
          </a:bodyPr>
          <a:lstStyle/>
          <a:p>
            <a:pPr algn="l">
              <a:lnSpc>
                <a:spcPct val="115000"/>
              </a:lnSpc>
              <a:spcBef>
                <a:spcPts val="0"/>
              </a:spcBef>
              <a:spcAft>
                <a:spcPts val="250"/>
              </a:spcAft>
            </a:pPr>
            <a:r>
              <a:rPr sz="819" b="1" i="0" spc="70">
                <a:solidFill>
                  <a:srgbClr val="E3C485"/>
                </a:solidFill>
                <a:latin typeface="Segoe UI"/>
              </a:rPr>
              <a:t>5.7 – 5.8 · EFFETS ET INTER-CAS</a:t>
            </a:r>
          </a:p>
          <a:p>
            <a:pPr algn="l">
              <a:lnSpc>
                <a:spcPct val="126000"/>
              </a:lnSpc>
              <a:spcBef>
                <a:spcPts val="0"/>
              </a:spcBef>
              <a:spcAft>
                <a:spcPts val="0"/>
              </a:spcAft>
            </a:pPr>
            <a:r>
              <a:rPr sz="980" b="0" i="0">
                <a:solidFill>
                  <a:srgbClr val="D5D0C5"/>
                </a:solidFill>
                <a:latin typeface="Segoe UI"/>
              </a:rPr>
              <a:t>Effets perçus ou documentés sur la performance, la RSE et la durabilité ; thèmes émergents et configurations.</a:t>
            </a:r>
          </a:p>
        </p:txBody>
      </p:sp>
      <p:sp>
        <p:nvSpPr>
          <p:cNvPr id="15" name="Rounded Rectangle 14"/>
          <p:cNvSpPr/>
          <p:nvPr/>
        </p:nvSpPr>
        <p:spPr>
          <a:xfrm>
            <a:off x="658368" y="3694811"/>
            <a:ext cx="5346039" cy="1097280"/>
          </a:xfrm>
          <a:prstGeom prst="roundRect">
            <a:avLst>
              <a:gd name="adj" fmla="val 5500"/>
            </a:avLst>
          </a:prstGeom>
          <a:solidFill>
            <a:srgbClr val="2A2418"/>
          </a:solidFill>
          <a:ln w="11430">
            <a:solidFill>
              <a:srgbClr val="C8A15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32103" y="3831971"/>
            <a:ext cx="4998567" cy="914400"/>
          </a:xfrm>
          <a:prstGeom prst="rect">
            <a:avLst/>
          </a:prstGeom>
          <a:noFill/>
        </p:spPr>
        <p:txBody>
          <a:bodyPr wrap="square" lIns="0" rIns="0" tIns="0" bIns="0" anchor="ctr">
            <a:spAutoFit/>
          </a:bodyPr>
          <a:lstStyle/>
          <a:p>
            <a:pPr algn="l">
              <a:lnSpc>
                <a:spcPct val="115000"/>
              </a:lnSpc>
              <a:spcBef>
                <a:spcPts val="0"/>
              </a:spcBef>
              <a:spcAft>
                <a:spcPts val="250"/>
              </a:spcAft>
            </a:pPr>
            <a:r>
              <a:rPr sz="900" b="1" i="0" spc="70">
                <a:solidFill>
                  <a:srgbClr val="E3C485"/>
                </a:solidFill>
                <a:latin typeface="Segoe UI"/>
              </a:rPr>
              <a:t>5.9 · CONFRONTATION DES SEPT PROPOSITIONS</a:t>
            </a:r>
          </a:p>
          <a:p>
            <a:pPr algn="l">
              <a:lnSpc>
                <a:spcPct val="126000"/>
              </a:lnSpc>
              <a:spcBef>
                <a:spcPts val="0"/>
              </a:spcBef>
              <a:spcAft>
                <a:spcPts val="0"/>
              </a:spcAft>
            </a:pPr>
            <a:r>
              <a:rPr sz="1019" b="0" i="0">
                <a:solidFill>
                  <a:srgbClr val="D5D0C5"/>
                </a:solidFill>
                <a:latin typeface="Segoe UI"/>
              </a:rPr>
              <a:t>Soutiens, conditions, nuances, contradictions, explications rivales et insuffisances documentaires — présentés avec la même exigence, y compris lorsqu'ils affaiblissent le modèle.</a:t>
            </a:r>
          </a:p>
        </p:txBody>
      </p:sp>
      <p:sp>
        <p:nvSpPr>
          <p:cNvPr id="17" name="Rounded Rectangle 16"/>
          <p:cNvSpPr/>
          <p:nvPr/>
        </p:nvSpPr>
        <p:spPr>
          <a:xfrm>
            <a:off x="6187287" y="3694811"/>
            <a:ext cx="5346039" cy="1097280"/>
          </a:xfrm>
          <a:prstGeom prst="roundRect">
            <a:avLst>
              <a:gd name="adj" fmla="val 55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361023" y="3831971"/>
            <a:ext cx="4998567" cy="914400"/>
          </a:xfrm>
          <a:prstGeom prst="rect">
            <a:avLst/>
          </a:prstGeom>
          <a:noFill/>
        </p:spPr>
        <p:txBody>
          <a:bodyPr wrap="square" lIns="0" rIns="0" tIns="0" bIns="0" anchor="ctr">
            <a:spAutoFit/>
          </a:bodyPr>
          <a:lstStyle/>
          <a:p>
            <a:pPr algn="l">
              <a:lnSpc>
                <a:spcPct val="115000"/>
              </a:lnSpc>
              <a:spcBef>
                <a:spcPts val="0"/>
              </a:spcBef>
              <a:spcAft>
                <a:spcPts val="250"/>
              </a:spcAft>
            </a:pPr>
            <a:r>
              <a:rPr sz="900" b="1" i="0" spc="70">
                <a:solidFill>
                  <a:srgbClr val="E3C485"/>
                </a:solidFill>
                <a:latin typeface="Segoe UI"/>
              </a:rPr>
              <a:t>RÈGLE D'ÉCRITURE DU CHAPITRE</a:t>
            </a:r>
          </a:p>
          <a:p>
            <a:pPr algn="l">
              <a:lnSpc>
                <a:spcPct val="126000"/>
              </a:lnSpc>
              <a:spcBef>
                <a:spcPts val="0"/>
              </a:spcBef>
              <a:spcAft>
                <a:spcPts val="0"/>
              </a:spcAft>
            </a:pPr>
            <a:r>
              <a:rPr sz="1019" b="0" i="0">
                <a:solidFill>
                  <a:srgbClr val="D5D0C5"/>
                </a:solidFill>
                <a:latin typeface="Segoe UI"/>
              </a:rPr>
              <a:t>Le chapitre ne présuppose ni l'efficacité de l'IA, ni la supériorité d'une configuration de gouvernance. Une articulation absente reste un résultat.</a:t>
            </a:r>
          </a:p>
        </p:txBody>
      </p:sp>
      <p:sp>
        <p:nvSpPr>
          <p:cNvPr id="19" name="Rectangle 18"/>
          <p:cNvSpPr/>
          <p:nvPr/>
        </p:nvSpPr>
        <p:spPr>
          <a:xfrm>
            <a:off x="658368" y="6199632"/>
            <a:ext cx="10874959" cy="7315"/>
          </a:xfrm>
          <a:prstGeom prst="rect">
            <a:avLst/>
          </a:prstGeom>
          <a:solidFill>
            <a:srgbClr val="2734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8368" y="6291072"/>
            <a:ext cx="10189159" cy="457200"/>
          </a:xfrm>
          <a:prstGeom prst="rect">
            <a:avLst/>
          </a:prstGeom>
          <a:noFill/>
        </p:spPr>
        <p:txBody>
          <a:bodyPr wrap="square" lIns="0" rIns="0" tIns="0" bIns="0" anchor="t">
            <a:spAutoFit/>
          </a:bodyPr>
          <a:lstStyle/>
          <a:p>
            <a:pPr algn="l">
              <a:lnSpc>
                <a:spcPct val="110000"/>
              </a:lnSpc>
              <a:spcBef>
                <a:spcPts val="0"/>
              </a:spcBef>
              <a:spcAft>
                <a:spcPts val="0"/>
              </a:spcAft>
            </a:pPr>
            <a:r>
              <a:rPr sz="740" b="1">
                <a:solidFill>
                  <a:srgbClr val="93A5B4"/>
                </a:solidFill>
                <a:latin typeface="Segoe UI"/>
              </a:rPr>
              <a:t>Sources : </a:t>
            </a:r>
            <a:r>
              <a:rPr sz="740" b="0">
                <a:solidFill>
                  <a:srgbClr val="708392"/>
                </a:solidFill>
                <a:latin typeface="Segoe UI"/>
              </a:rPr>
              <a:t>plan harmonisé, chapitre 5 (§ 5.1–5.10) ; tableaux 5.1 à 5.6 ; figures 5.1 à 5.3.</a:t>
            </a:r>
          </a:p>
        </p:txBody>
      </p:sp>
      <p:sp>
        <p:nvSpPr>
          <p:cNvPr id="21" name="TextBox 20"/>
          <p:cNvSpPr txBox="1"/>
          <p:nvPr/>
        </p:nvSpPr>
        <p:spPr>
          <a:xfrm>
            <a:off x="10874959" y="6291072"/>
            <a:ext cx="658368" cy="274320"/>
          </a:xfrm>
          <a:prstGeom prst="rect">
            <a:avLst/>
          </a:prstGeom>
          <a:noFill/>
        </p:spPr>
        <p:txBody>
          <a:bodyPr wrap="square" lIns="0" rIns="0" tIns="0" bIns="0" anchor="t">
            <a:spAutoFit/>
          </a:bodyPr>
          <a:lstStyle/>
          <a:p>
            <a:pPr algn="r">
              <a:lnSpc>
                <a:spcPct val="118000"/>
              </a:lnSpc>
              <a:spcBef>
                <a:spcPts val="0"/>
              </a:spcBef>
              <a:spcAft>
                <a:spcPts val="0"/>
              </a:spcAft>
            </a:pPr>
            <a:r>
              <a:rPr sz="800" b="0" i="0">
                <a:solidFill>
                  <a:srgbClr val="93A5B4"/>
                </a:solidFill>
                <a:latin typeface="Consolas"/>
              </a:rPr>
              <a:t>19 / 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1C26"/>
              </a:gs>
              <a:gs pos="100000">
                <a:srgbClr val="0B101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828739"/>
            <a:ext cx="12191695" cy="29260"/>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75488"/>
            <a:ext cx="10874959"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spc="160">
                <a:solidFill>
                  <a:srgbClr val="E3C485"/>
                </a:solidFill>
                <a:latin typeface="Segoe UI"/>
              </a:rPr>
              <a:t>CHAPITRE 6 · VERSION INDICATIVE</a:t>
            </a:r>
          </a:p>
        </p:txBody>
      </p:sp>
      <p:sp>
        <p:nvSpPr>
          <p:cNvPr id="5" name="TextBox 4"/>
          <p:cNvSpPr txBox="1"/>
          <p:nvPr/>
        </p:nvSpPr>
        <p:spPr>
          <a:xfrm>
            <a:off x="658368" y="713232"/>
            <a:ext cx="10692079" cy="914400"/>
          </a:xfrm>
          <a:prstGeom prst="rect">
            <a:avLst/>
          </a:prstGeom>
          <a:noFill/>
        </p:spPr>
        <p:txBody>
          <a:bodyPr wrap="square" lIns="0" rIns="0" tIns="0" bIns="0" anchor="t">
            <a:spAutoFit/>
          </a:bodyPr>
          <a:lstStyle/>
          <a:p>
            <a:pPr>
              <a:lnSpc>
                <a:spcPct val="105000"/>
              </a:lnSpc>
            </a:pPr>
            <a:r>
              <a:rPr sz="2450" b="0">
                <a:solidFill>
                  <a:srgbClr val="F3EFE7"/>
                </a:solidFill>
                <a:latin typeface="Georgia"/>
              </a:rPr>
              <a:t>Discuter, réviser, recommander — sans jamais surpromettre</a:t>
            </a:r>
          </a:p>
        </p:txBody>
      </p:sp>
      <p:sp>
        <p:nvSpPr>
          <p:cNvPr id="6" name="TextBox 5"/>
          <p:cNvSpPr txBox="1"/>
          <p:nvPr/>
        </p:nvSpPr>
        <p:spPr>
          <a:xfrm>
            <a:off x="658368" y="1399667"/>
            <a:ext cx="6089977" cy="4023360"/>
          </a:xfrm>
          <a:prstGeom prst="rect">
            <a:avLst/>
          </a:prstGeom>
          <a:noFill/>
        </p:spPr>
        <p:txBody>
          <a:bodyPr wrap="square" lIns="0" rIns="0" tIns="0" bIns="0" anchor="t">
            <a:spAutoFit/>
          </a:bodyPr>
          <a:lstStyle/>
          <a:p>
            <a:pPr algn="l">
              <a:lnSpc>
                <a:spcPct val="134000"/>
              </a:lnSpc>
              <a:spcBef>
                <a:spcPts val="0"/>
              </a:spcBef>
              <a:spcAft>
                <a:spcPts val="0"/>
              </a:spcAft>
            </a:pPr>
            <a:r>
              <a:rPr sz="992" b="1">
                <a:solidFill>
                  <a:srgbClr val="C8A154"/>
                </a:solidFill>
                <a:latin typeface="Segoe UI"/>
              </a:rPr>
              <a:t>■  </a:t>
            </a:r>
            <a:r>
              <a:rPr sz="1240" b="1">
                <a:solidFill>
                  <a:srgbClr val="E3C485"/>
                </a:solidFill>
                <a:latin typeface="Segoe UI"/>
              </a:rPr>
              <a:t>6.1–6.3</a:t>
            </a:r>
            <a:r>
              <a:rPr sz="1240" b="0">
                <a:solidFill>
                  <a:srgbClr val="D5D0C5"/>
                </a:solidFill>
                <a:latin typeface="Segoe UI"/>
              </a:rPr>
              <a:t> — Discussion des résultats et des sept propositions au regard de la littérature.</a:t>
            </a:r>
          </a:p>
          <a:p>
            <a:pPr algn="l">
              <a:lnSpc>
                <a:spcPct val="134000"/>
              </a:lnSpc>
              <a:spcBef>
                <a:spcPts val="1700"/>
              </a:spcBef>
              <a:spcAft>
                <a:spcPts val="0"/>
              </a:spcAft>
            </a:pPr>
            <a:r>
              <a:rPr sz="992" b="1">
                <a:solidFill>
                  <a:srgbClr val="C8A154"/>
                </a:solidFill>
                <a:latin typeface="Segoe UI"/>
              </a:rPr>
              <a:t>■  </a:t>
            </a:r>
            <a:r>
              <a:rPr sz="1240" b="1">
                <a:solidFill>
                  <a:srgbClr val="E3C485"/>
                </a:solidFill>
                <a:latin typeface="Segoe UI"/>
              </a:rPr>
              <a:t>6.4</a:t>
            </a:r>
            <a:r>
              <a:rPr sz="1240" b="0">
                <a:solidFill>
                  <a:srgbClr val="D5D0C5"/>
                </a:solidFill>
                <a:latin typeface="Segoe UI"/>
              </a:rPr>
              <a:t> — Réexamen du modèle : modèle exploratoire, modèle empirique, outil d'action ; règles de révision ; </a:t>
            </a:r>
            <a:r>
              <a:rPr sz="1240" b="1">
                <a:solidFill>
                  <a:srgbClr val="F3EFE7"/>
                </a:solidFill>
                <a:latin typeface="Segoe UI"/>
              </a:rPr>
              <a:t>issue possible en l'absence de gouvernance augmentée documentée.</a:t>
            </a:r>
          </a:p>
          <a:p>
            <a:pPr algn="l">
              <a:lnSpc>
                <a:spcPct val="134000"/>
              </a:lnSpc>
              <a:spcBef>
                <a:spcPts val="1700"/>
              </a:spcBef>
              <a:spcAft>
                <a:spcPts val="0"/>
              </a:spcAft>
            </a:pPr>
            <a:r>
              <a:rPr sz="992" b="1">
                <a:solidFill>
                  <a:srgbClr val="C8A154"/>
                </a:solidFill>
                <a:latin typeface="Segoe UI"/>
              </a:rPr>
              <a:t>■  </a:t>
            </a:r>
            <a:r>
              <a:rPr sz="1240" b="1">
                <a:solidFill>
                  <a:srgbClr val="E3C485"/>
                </a:solidFill>
                <a:latin typeface="Segoe UI"/>
              </a:rPr>
              <a:t>6.5</a:t>
            </a:r>
            <a:r>
              <a:rPr sz="1240" b="0">
                <a:solidFill>
                  <a:srgbClr val="D5D0C5"/>
                </a:solidFill>
                <a:latin typeface="Segoe UI"/>
              </a:rPr>
              <a:t> — Contributions scientifiques et managériales susceptibles d'être dégagées.</a:t>
            </a:r>
          </a:p>
          <a:p>
            <a:pPr algn="l">
              <a:lnSpc>
                <a:spcPct val="134000"/>
              </a:lnSpc>
              <a:spcBef>
                <a:spcPts val="1700"/>
              </a:spcBef>
              <a:spcAft>
                <a:spcPts val="0"/>
              </a:spcAft>
            </a:pPr>
            <a:r>
              <a:rPr sz="992" b="1">
                <a:solidFill>
                  <a:srgbClr val="C8A154"/>
                </a:solidFill>
                <a:latin typeface="Segoe UI"/>
              </a:rPr>
              <a:t>■  </a:t>
            </a:r>
            <a:r>
              <a:rPr sz="1240" b="1">
                <a:solidFill>
                  <a:srgbClr val="E3C485"/>
                </a:solidFill>
                <a:latin typeface="Segoe UI"/>
              </a:rPr>
              <a:t>6.6–6.8</a:t>
            </a:r>
            <a:r>
              <a:rPr sz="1240" b="0">
                <a:solidFill>
                  <a:srgbClr val="D5D0C5"/>
                </a:solidFill>
                <a:latin typeface="Segoe UI"/>
              </a:rPr>
              <a:t> — Recommandations managériales et institutionnelles, proportionnées aux besoins, ressources et risques documentés ; feuille de route et outils de pilotage.</a:t>
            </a:r>
          </a:p>
          <a:p>
            <a:pPr algn="l">
              <a:lnSpc>
                <a:spcPct val="134000"/>
              </a:lnSpc>
              <a:spcBef>
                <a:spcPts val="1700"/>
              </a:spcBef>
              <a:spcAft>
                <a:spcPts val="0"/>
              </a:spcAft>
            </a:pPr>
            <a:r>
              <a:rPr sz="992" b="1">
                <a:solidFill>
                  <a:srgbClr val="C8A154"/>
                </a:solidFill>
                <a:latin typeface="Segoe UI"/>
              </a:rPr>
              <a:t>■  </a:t>
            </a:r>
            <a:r>
              <a:rPr sz="1240" b="1">
                <a:solidFill>
                  <a:srgbClr val="E3C485"/>
                </a:solidFill>
                <a:latin typeface="Segoe UI"/>
              </a:rPr>
              <a:t>6.9–6.11</a:t>
            </a:r>
            <a:r>
              <a:rPr sz="1240" b="0">
                <a:solidFill>
                  <a:srgbClr val="D5D0C5"/>
                </a:solidFill>
                <a:latin typeface="Segoe UI"/>
              </a:rPr>
              <a:t> — Limites, portée des interprétations, perspectives.</a:t>
            </a:r>
          </a:p>
        </p:txBody>
      </p:sp>
      <p:sp>
        <p:nvSpPr>
          <p:cNvPr id="7" name="Rounded Rectangle 6"/>
          <p:cNvSpPr/>
          <p:nvPr/>
        </p:nvSpPr>
        <p:spPr>
          <a:xfrm>
            <a:off x="6965844" y="1353947"/>
            <a:ext cx="4567482" cy="2011680"/>
          </a:xfrm>
          <a:prstGeom prst="roundRect">
            <a:avLst>
              <a:gd name="adj" fmla="val 5500"/>
            </a:avLst>
          </a:prstGeom>
          <a:solidFill>
            <a:srgbClr val="2A2418"/>
          </a:solidFill>
          <a:ln w="11430">
            <a:solidFill>
              <a:srgbClr val="C8A15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139580" y="1491107"/>
            <a:ext cx="4220010" cy="1828800"/>
          </a:xfrm>
          <a:prstGeom prst="rect">
            <a:avLst/>
          </a:prstGeom>
          <a:noFill/>
        </p:spPr>
        <p:txBody>
          <a:bodyPr wrap="square" lIns="0" rIns="0" tIns="0" bIns="0" anchor="ctr">
            <a:spAutoFit/>
          </a:bodyPr>
          <a:lstStyle/>
          <a:p>
            <a:pPr algn="l">
              <a:lnSpc>
                <a:spcPct val="115000"/>
              </a:lnSpc>
              <a:spcBef>
                <a:spcPts val="0"/>
              </a:spcBef>
              <a:spcAft>
                <a:spcPts val="250"/>
              </a:spcAft>
            </a:pPr>
            <a:r>
              <a:rPr sz="900" b="1" i="0" spc="70">
                <a:solidFill>
                  <a:srgbClr val="E3C485"/>
                </a:solidFill>
                <a:latin typeface="Segoe UI"/>
              </a:rPr>
              <a:t>LA CLAUSE DE PRUDENCE, ÉNONCÉE D'EMBLÉE</a:t>
            </a:r>
          </a:p>
          <a:p>
            <a:pPr algn="l">
              <a:lnSpc>
                <a:spcPct val="126000"/>
              </a:lnSpc>
              <a:spcBef>
                <a:spcPts val="0"/>
              </a:spcBef>
              <a:spcAft>
                <a:spcPts val="0"/>
              </a:spcAft>
            </a:pPr>
            <a:r>
              <a:rPr sz="980" b="0" i="0">
                <a:solidFill>
                  <a:srgbClr val="D5D0C5"/>
                </a:solidFill>
                <a:latin typeface="Segoe UI"/>
              </a:rPr>
              <a:t>« La gouvernance augmentée est envisagée comme une proposition à examiner empiriquement, et non comme une solution dont l'efficacité serait acquise. »</a:t>
            </a:r>
          </a:p>
        </p:txBody>
      </p:sp>
      <p:sp>
        <p:nvSpPr>
          <p:cNvPr id="9" name="TextBox 8"/>
          <p:cNvSpPr txBox="1"/>
          <p:nvPr/>
        </p:nvSpPr>
        <p:spPr>
          <a:xfrm>
            <a:off x="7148724" y="2981579"/>
            <a:ext cx="4201722" cy="274320"/>
          </a:xfrm>
          <a:prstGeom prst="rect">
            <a:avLst/>
          </a:prstGeom>
          <a:noFill/>
        </p:spPr>
        <p:txBody>
          <a:bodyPr wrap="square" lIns="0" rIns="0" tIns="0" bIns="0" anchor="t">
            <a:spAutoFit/>
          </a:bodyPr>
          <a:lstStyle/>
          <a:p>
            <a:pPr algn="l">
              <a:lnSpc>
                <a:spcPct val="118000"/>
              </a:lnSpc>
              <a:spcBef>
                <a:spcPts val="0"/>
              </a:spcBef>
              <a:spcAft>
                <a:spcPts val="0"/>
              </a:spcAft>
            </a:pPr>
            <a:r>
              <a:rPr sz="780" b="0" i="0">
                <a:solidFill>
                  <a:srgbClr val="708392"/>
                </a:solidFill>
                <a:latin typeface="Segoe UI"/>
              </a:rPr>
              <a:t>Formulation du plan général harmonisé, reprise dans le chapitre 6.</a:t>
            </a:r>
          </a:p>
        </p:txBody>
      </p:sp>
      <p:sp>
        <p:nvSpPr>
          <p:cNvPr id="10" name="Rounded Rectangle 9"/>
          <p:cNvSpPr/>
          <p:nvPr/>
        </p:nvSpPr>
        <p:spPr>
          <a:xfrm>
            <a:off x="6965844" y="3566795"/>
            <a:ext cx="4567482" cy="1417320"/>
          </a:xfrm>
          <a:prstGeom prst="roundRect">
            <a:avLst>
              <a:gd name="adj" fmla="val 55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139580" y="3703955"/>
            <a:ext cx="4220010" cy="1234440"/>
          </a:xfrm>
          <a:prstGeom prst="rect">
            <a:avLst/>
          </a:prstGeom>
          <a:noFill/>
        </p:spPr>
        <p:txBody>
          <a:bodyPr wrap="square" lIns="0" rIns="0" tIns="0" bIns="0" anchor="ctr">
            <a:spAutoFit/>
          </a:bodyPr>
          <a:lstStyle/>
          <a:p>
            <a:pPr algn="l">
              <a:lnSpc>
                <a:spcPct val="115000"/>
              </a:lnSpc>
              <a:spcBef>
                <a:spcPts val="0"/>
              </a:spcBef>
              <a:spcAft>
                <a:spcPts val="250"/>
              </a:spcAft>
            </a:pPr>
            <a:r>
              <a:rPr sz="900" b="1" i="0" spc="70">
                <a:solidFill>
                  <a:srgbClr val="E3C485"/>
                </a:solidFill>
                <a:latin typeface="Segoe UI"/>
              </a:rPr>
              <a:t>TROIS FIGURES, TROIS STATUTS</a:t>
            </a:r>
          </a:p>
          <a:p>
            <a:pPr algn="l">
              <a:lnSpc>
                <a:spcPct val="126000"/>
              </a:lnSpc>
              <a:spcBef>
                <a:spcPts val="0"/>
              </a:spcBef>
              <a:spcAft>
                <a:spcPts val="0"/>
              </a:spcAft>
            </a:pPr>
            <a:r>
              <a:rPr sz="960" b="0" i="0">
                <a:solidFill>
                  <a:srgbClr val="D5D0C5"/>
                </a:solidFill>
                <a:latin typeface="Segoe UI"/>
              </a:rPr>
              <a:t>3.1 modèle exploratoire (avant terrain) · 5.3 synthèse empirique (issue du corpus) · 6.1 modèle révisé (discussion). Elles ne sont jamais fusionnées.</a:t>
            </a:r>
          </a:p>
        </p:txBody>
      </p:sp>
      <p:sp>
        <p:nvSpPr>
          <p:cNvPr id="12" name="Rectangle 11"/>
          <p:cNvSpPr/>
          <p:nvPr/>
        </p:nvSpPr>
        <p:spPr>
          <a:xfrm>
            <a:off x="658368" y="6199632"/>
            <a:ext cx="10874959" cy="7315"/>
          </a:xfrm>
          <a:prstGeom prst="rect">
            <a:avLst/>
          </a:prstGeom>
          <a:solidFill>
            <a:srgbClr val="2734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58368" y="6291072"/>
            <a:ext cx="10189159" cy="457200"/>
          </a:xfrm>
          <a:prstGeom prst="rect">
            <a:avLst/>
          </a:prstGeom>
          <a:noFill/>
        </p:spPr>
        <p:txBody>
          <a:bodyPr wrap="square" lIns="0" rIns="0" tIns="0" bIns="0" anchor="t">
            <a:spAutoFit/>
          </a:bodyPr>
          <a:lstStyle/>
          <a:p>
            <a:pPr algn="l">
              <a:lnSpc>
                <a:spcPct val="110000"/>
              </a:lnSpc>
              <a:spcBef>
                <a:spcPts val="0"/>
              </a:spcBef>
              <a:spcAft>
                <a:spcPts val="0"/>
              </a:spcAft>
            </a:pPr>
            <a:r>
              <a:rPr sz="740" b="1">
                <a:solidFill>
                  <a:srgbClr val="93A5B4"/>
                </a:solidFill>
                <a:latin typeface="Segoe UI"/>
              </a:rPr>
              <a:t>Sources : </a:t>
            </a:r>
            <a:r>
              <a:rPr sz="740" b="0">
                <a:solidFill>
                  <a:srgbClr val="708392"/>
                </a:solidFill>
                <a:latin typeface="Segoe UI"/>
              </a:rPr>
              <a:t>plan harmonisé, chapitre 6 (§ 6.1–6.11) ; § 6.4 (issue possible en l'absence de gouvernance augmentée) ; tableaux 6.1 à 6.4 et figures 6.1–6.2.</a:t>
            </a:r>
          </a:p>
        </p:txBody>
      </p:sp>
      <p:sp>
        <p:nvSpPr>
          <p:cNvPr id="14" name="TextBox 13"/>
          <p:cNvSpPr txBox="1"/>
          <p:nvPr/>
        </p:nvSpPr>
        <p:spPr>
          <a:xfrm>
            <a:off x="10874959" y="6291072"/>
            <a:ext cx="658368" cy="274320"/>
          </a:xfrm>
          <a:prstGeom prst="rect">
            <a:avLst/>
          </a:prstGeom>
          <a:noFill/>
        </p:spPr>
        <p:txBody>
          <a:bodyPr wrap="square" lIns="0" rIns="0" tIns="0" bIns="0" anchor="t">
            <a:spAutoFit/>
          </a:bodyPr>
          <a:lstStyle/>
          <a:p>
            <a:pPr algn="r">
              <a:lnSpc>
                <a:spcPct val="118000"/>
              </a:lnSpc>
              <a:spcBef>
                <a:spcPts val="0"/>
              </a:spcBef>
              <a:spcAft>
                <a:spcPts val="0"/>
              </a:spcAft>
            </a:pPr>
            <a:r>
              <a:rPr sz="800" b="0" i="0">
                <a:solidFill>
                  <a:srgbClr val="93A5B4"/>
                </a:solidFill>
                <a:latin typeface="Consolas"/>
              </a:rPr>
              <a:t>20 / 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1C26"/>
              </a:gs>
              <a:gs pos="100000">
                <a:srgbClr val="0B101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828739"/>
            <a:ext cx="12191695" cy="29260"/>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75488"/>
            <a:ext cx="10874959"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spc="160">
                <a:solidFill>
                  <a:srgbClr val="E3C485"/>
                </a:solidFill>
                <a:latin typeface="Segoe UI"/>
              </a:rPr>
              <a:t>CONTRIBUTIONS · CONDITIONNELLES</a:t>
            </a:r>
          </a:p>
        </p:txBody>
      </p:sp>
      <p:sp>
        <p:nvSpPr>
          <p:cNvPr id="5" name="TextBox 4"/>
          <p:cNvSpPr txBox="1"/>
          <p:nvPr/>
        </p:nvSpPr>
        <p:spPr>
          <a:xfrm>
            <a:off x="658368" y="713232"/>
            <a:ext cx="10692079" cy="914400"/>
          </a:xfrm>
          <a:prstGeom prst="rect">
            <a:avLst/>
          </a:prstGeom>
          <a:noFill/>
        </p:spPr>
        <p:txBody>
          <a:bodyPr wrap="square" lIns="0" rIns="0" tIns="0" bIns="0" anchor="t">
            <a:spAutoFit/>
          </a:bodyPr>
          <a:lstStyle/>
          <a:p>
            <a:pPr>
              <a:lnSpc>
                <a:spcPct val="105000"/>
              </a:lnSpc>
            </a:pPr>
            <a:r>
              <a:rPr sz="2450" b="0">
                <a:solidFill>
                  <a:srgbClr val="F3EFE7"/>
                </a:solidFill>
                <a:latin typeface="Georgia"/>
              </a:rPr>
              <a:t>Trois contributions recherchées — au conditionnel, jusqu'à l'analyse</a:t>
            </a:r>
          </a:p>
        </p:txBody>
      </p:sp>
      <p:sp>
        <p:nvSpPr>
          <p:cNvPr id="6" name="Rounded Rectangle 5"/>
          <p:cNvSpPr/>
          <p:nvPr/>
        </p:nvSpPr>
        <p:spPr>
          <a:xfrm>
            <a:off x="658368" y="1353947"/>
            <a:ext cx="3503066" cy="3017520"/>
          </a:xfrm>
          <a:prstGeom prst="roundRect">
            <a:avLst>
              <a:gd name="adj" fmla="val 5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41247" y="1536827"/>
            <a:ext cx="3137306" cy="2651760"/>
          </a:xfrm>
          <a:prstGeom prst="rect">
            <a:avLst/>
          </a:prstGeom>
          <a:noFill/>
        </p:spPr>
        <p:txBody>
          <a:bodyPr wrap="square" lIns="0" rIns="0" tIns="0" bIns="0" anchor="t">
            <a:spAutoFit/>
          </a:bodyPr>
          <a:lstStyle/>
          <a:p>
            <a:pPr algn="l">
              <a:lnSpc>
                <a:spcPct val="118000"/>
              </a:lnSpc>
              <a:spcBef>
                <a:spcPts val="0"/>
              </a:spcBef>
              <a:spcAft>
                <a:spcPts val="800"/>
              </a:spcAft>
            </a:pPr>
            <a:r>
              <a:rPr sz="880" b="1" i="0" spc="70">
                <a:solidFill>
                  <a:srgbClr val="E3C485"/>
                </a:solidFill>
                <a:latin typeface="Segoe UI"/>
              </a:rPr>
              <a:t>SCIENTIFIQUE</a:t>
            </a:r>
          </a:p>
          <a:p>
            <a:pPr algn="l">
              <a:lnSpc>
                <a:spcPct val="134000"/>
              </a:lnSpc>
              <a:spcBef>
                <a:spcPts val="0"/>
              </a:spcBef>
              <a:spcAft>
                <a:spcPts val="0"/>
              </a:spcAft>
            </a:pPr>
            <a:r>
              <a:rPr sz="1080" b="0" i="0">
                <a:solidFill>
                  <a:srgbClr val="D5D0C5"/>
                </a:solidFill>
                <a:latin typeface="Segoe UI"/>
              </a:rPr>
              <a:t>Proposer un cadre qui traite l'articulation IA–IE comme un processus de gouvernance observable, et non comme une vertu du dirigeant.</a:t>
            </a:r>
          </a:p>
          <a:p>
            <a:pPr algn="l">
              <a:lnSpc>
                <a:spcPct val="130000"/>
              </a:lnSpc>
              <a:spcBef>
                <a:spcPts val="1200"/>
              </a:spcBef>
              <a:spcAft>
                <a:spcPts val="0"/>
              </a:spcAft>
            </a:pPr>
            <a:r>
              <a:rPr sz="900" b="0" i="0">
                <a:solidFill>
                  <a:srgbClr val="93A5B4"/>
                </a:solidFill>
                <a:latin typeface="Segoe UI"/>
              </a:rPr>
              <a:t>Apport théorique visé : un modèle exploratoire situé, révisable.</a:t>
            </a:r>
          </a:p>
        </p:txBody>
      </p:sp>
      <p:sp>
        <p:nvSpPr>
          <p:cNvPr id="8" name="Rectangle 7"/>
          <p:cNvSpPr/>
          <p:nvPr/>
        </p:nvSpPr>
        <p:spPr>
          <a:xfrm>
            <a:off x="841247" y="3475355"/>
            <a:ext cx="3137306" cy="7315"/>
          </a:xfrm>
          <a:prstGeom prst="rect">
            <a:avLst/>
          </a:prstGeom>
          <a:solidFill>
            <a:srgbClr val="2734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4344314" y="1353947"/>
            <a:ext cx="3503066" cy="3017520"/>
          </a:xfrm>
          <a:prstGeom prst="roundRect">
            <a:avLst>
              <a:gd name="adj" fmla="val 5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27194" y="1536827"/>
            <a:ext cx="3137306" cy="2651760"/>
          </a:xfrm>
          <a:prstGeom prst="rect">
            <a:avLst/>
          </a:prstGeom>
          <a:noFill/>
        </p:spPr>
        <p:txBody>
          <a:bodyPr wrap="square" lIns="0" rIns="0" tIns="0" bIns="0" anchor="t">
            <a:spAutoFit/>
          </a:bodyPr>
          <a:lstStyle/>
          <a:p>
            <a:pPr algn="l">
              <a:lnSpc>
                <a:spcPct val="118000"/>
              </a:lnSpc>
              <a:spcBef>
                <a:spcPts val="0"/>
              </a:spcBef>
              <a:spcAft>
                <a:spcPts val="800"/>
              </a:spcAft>
            </a:pPr>
            <a:r>
              <a:rPr sz="880" b="1" i="0" spc="70">
                <a:solidFill>
                  <a:srgbClr val="E3C485"/>
                </a:solidFill>
                <a:latin typeface="Segoe UI"/>
              </a:rPr>
              <a:t>MANAGÉRIALE</a:t>
            </a:r>
          </a:p>
          <a:p>
            <a:pPr algn="l">
              <a:lnSpc>
                <a:spcPct val="134000"/>
              </a:lnSpc>
              <a:spcBef>
                <a:spcPts val="0"/>
              </a:spcBef>
              <a:spcAft>
                <a:spcPts val="0"/>
              </a:spcAft>
            </a:pPr>
            <a:r>
              <a:rPr sz="1080" b="0" i="0">
                <a:solidFill>
                  <a:srgbClr val="D5D0C5"/>
                </a:solidFill>
                <a:latin typeface="Segoe UI"/>
              </a:rPr>
              <a:t>Outiller les dirigeants et instances d'EPES : séquences de décision, points de contrôle, conditions de prudence dans les usages décisionnels de l'IA.</a:t>
            </a:r>
          </a:p>
          <a:p>
            <a:pPr algn="l">
              <a:lnSpc>
                <a:spcPct val="130000"/>
              </a:lnSpc>
              <a:spcBef>
                <a:spcPts val="1200"/>
              </a:spcBef>
              <a:spcAft>
                <a:spcPts val="0"/>
              </a:spcAft>
            </a:pPr>
            <a:r>
              <a:rPr sz="900" b="0" i="0">
                <a:solidFill>
                  <a:srgbClr val="93A5B4"/>
                </a:solidFill>
                <a:latin typeface="Segoe UI"/>
              </a:rPr>
              <a:t>Apport visé : recommandations proportionnées, pas une méthode universelle.</a:t>
            </a:r>
          </a:p>
        </p:txBody>
      </p:sp>
      <p:sp>
        <p:nvSpPr>
          <p:cNvPr id="11" name="Rectangle 10"/>
          <p:cNvSpPr/>
          <p:nvPr/>
        </p:nvSpPr>
        <p:spPr>
          <a:xfrm>
            <a:off x="4527194" y="3475355"/>
            <a:ext cx="3137306" cy="7315"/>
          </a:xfrm>
          <a:prstGeom prst="rect">
            <a:avLst/>
          </a:prstGeom>
          <a:solidFill>
            <a:srgbClr val="2734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8030260" y="1353947"/>
            <a:ext cx="3503066" cy="3017520"/>
          </a:xfrm>
          <a:prstGeom prst="roundRect">
            <a:avLst>
              <a:gd name="adj" fmla="val 5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213140" y="1536827"/>
            <a:ext cx="3137306" cy="2651760"/>
          </a:xfrm>
          <a:prstGeom prst="rect">
            <a:avLst/>
          </a:prstGeom>
          <a:noFill/>
        </p:spPr>
        <p:txBody>
          <a:bodyPr wrap="square" lIns="0" rIns="0" tIns="0" bIns="0" anchor="t">
            <a:spAutoFit/>
          </a:bodyPr>
          <a:lstStyle/>
          <a:p>
            <a:pPr algn="l">
              <a:lnSpc>
                <a:spcPct val="118000"/>
              </a:lnSpc>
              <a:spcBef>
                <a:spcPts val="0"/>
              </a:spcBef>
              <a:spcAft>
                <a:spcPts val="800"/>
              </a:spcAft>
            </a:pPr>
            <a:r>
              <a:rPr sz="880" b="1" i="0" spc="70">
                <a:solidFill>
                  <a:srgbClr val="E3C485"/>
                </a:solidFill>
                <a:latin typeface="Segoe UI"/>
              </a:rPr>
              <a:t>SOCIÉTALE</a:t>
            </a:r>
          </a:p>
          <a:p>
            <a:pPr algn="l">
              <a:lnSpc>
                <a:spcPct val="134000"/>
              </a:lnSpc>
              <a:spcBef>
                <a:spcPts val="0"/>
              </a:spcBef>
              <a:spcAft>
                <a:spcPts val="0"/>
              </a:spcAft>
            </a:pPr>
            <a:r>
              <a:rPr sz="1080" b="0" i="0">
                <a:solidFill>
                  <a:srgbClr val="D5D0C5"/>
                </a:solidFill>
                <a:latin typeface="Segoe UI"/>
              </a:rPr>
              <a:t>Éclairer la contribution des EPES au développement durable et à la RSE — au Gabon et, plus largement, en Afrique centrale.</a:t>
            </a:r>
          </a:p>
          <a:p>
            <a:pPr algn="l">
              <a:lnSpc>
                <a:spcPct val="130000"/>
              </a:lnSpc>
              <a:spcBef>
                <a:spcPts val="1200"/>
              </a:spcBef>
              <a:spcAft>
                <a:spcPts val="0"/>
              </a:spcAft>
            </a:pPr>
            <a:r>
              <a:rPr sz="900" b="0" i="0">
                <a:solidFill>
                  <a:srgbClr val="93A5B4"/>
                </a:solidFill>
                <a:latin typeface="Segoe UI"/>
              </a:rPr>
              <a:t>Apport visé : un langage commun entre gouvernance, qualité et durabilité.</a:t>
            </a:r>
          </a:p>
        </p:txBody>
      </p:sp>
      <p:sp>
        <p:nvSpPr>
          <p:cNvPr id="14" name="Rectangle 13"/>
          <p:cNvSpPr/>
          <p:nvPr/>
        </p:nvSpPr>
        <p:spPr>
          <a:xfrm>
            <a:off x="8213140" y="3475355"/>
            <a:ext cx="3137306" cy="7315"/>
          </a:xfrm>
          <a:prstGeom prst="rect">
            <a:avLst/>
          </a:prstGeom>
          <a:solidFill>
            <a:srgbClr val="2734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58368" y="4572635"/>
            <a:ext cx="10874959" cy="640080"/>
          </a:xfrm>
          <a:prstGeom prst="rect">
            <a:avLst/>
          </a:prstGeom>
          <a:noFill/>
        </p:spPr>
        <p:txBody>
          <a:bodyPr wrap="square" lIns="0" rIns="0" tIns="0" bIns="0" anchor="t">
            <a:spAutoFit/>
          </a:bodyPr>
          <a:lstStyle/>
          <a:p>
            <a:pPr algn="l">
              <a:lnSpc>
                <a:spcPct val="130000"/>
              </a:lnSpc>
              <a:spcBef>
                <a:spcPts val="0"/>
              </a:spcBef>
              <a:spcAft>
                <a:spcPts val="0"/>
              </a:spcAft>
            </a:pPr>
            <a:r>
              <a:rPr sz="919" b="0" i="0">
                <a:solidFill>
                  <a:srgbClr val="93A5B4"/>
                </a:solidFill>
                <a:latin typeface="Segoe UI"/>
              </a:rPr>
              <a:t>Ces contributions ne seront présentées comme acquises qu'au chapitre 6, après analyse du corpus. Le protocole prévoit explicitement le cas où elles ne seraient que partielles.</a:t>
            </a:r>
          </a:p>
        </p:txBody>
      </p:sp>
      <p:sp>
        <p:nvSpPr>
          <p:cNvPr id="16" name="Rectangle 15"/>
          <p:cNvSpPr/>
          <p:nvPr/>
        </p:nvSpPr>
        <p:spPr>
          <a:xfrm>
            <a:off x="658368" y="6199632"/>
            <a:ext cx="10874959" cy="7315"/>
          </a:xfrm>
          <a:prstGeom prst="rect">
            <a:avLst/>
          </a:prstGeom>
          <a:solidFill>
            <a:srgbClr val="2734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58368" y="6291072"/>
            <a:ext cx="10189159" cy="457200"/>
          </a:xfrm>
          <a:prstGeom prst="rect">
            <a:avLst/>
          </a:prstGeom>
          <a:noFill/>
        </p:spPr>
        <p:txBody>
          <a:bodyPr wrap="square" lIns="0" rIns="0" tIns="0" bIns="0" anchor="t">
            <a:spAutoFit/>
          </a:bodyPr>
          <a:lstStyle/>
          <a:p>
            <a:pPr algn="l">
              <a:lnSpc>
                <a:spcPct val="110000"/>
              </a:lnSpc>
              <a:spcBef>
                <a:spcPts val="0"/>
              </a:spcBef>
              <a:spcAft>
                <a:spcPts val="0"/>
              </a:spcAft>
            </a:pPr>
            <a:r>
              <a:rPr sz="740" b="1">
                <a:solidFill>
                  <a:srgbClr val="93A5B4"/>
                </a:solidFill>
                <a:latin typeface="Segoe UI"/>
              </a:rPr>
              <a:t>Sources : </a:t>
            </a:r>
            <a:r>
              <a:rPr sz="740" b="0">
                <a:solidFill>
                  <a:srgbClr val="708392"/>
                </a:solidFill>
                <a:latin typeface="Segoe UI"/>
              </a:rPr>
              <a:t>plan harmonisé § 6.5 ; introduction § 1.6 (intérêts scientifique, managérial et sociétal).</a:t>
            </a:r>
          </a:p>
        </p:txBody>
      </p:sp>
      <p:sp>
        <p:nvSpPr>
          <p:cNvPr id="18" name="TextBox 17"/>
          <p:cNvSpPr txBox="1"/>
          <p:nvPr/>
        </p:nvSpPr>
        <p:spPr>
          <a:xfrm>
            <a:off x="10874959" y="6291072"/>
            <a:ext cx="658368" cy="274320"/>
          </a:xfrm>
          <a:prstGeom prst="rect">
            <a:avLst/>
          </a:prstGeom>
          <a:noFill/>
        </p:spPr>
        <p:txBody>
          <a:bodyPr wrap="square" lIns="0" rIns="0" tIns="0" bIns="0" anchor="t">
            <a:spAutoFit/>
          </a:bodyPr>
          <a:lstStyle/>
          <a:p>
            <a:pPr algn="r">
              <a:lnSpc>
                <a:spcPct val="118000"/>
              </a:lnSpc>
              <a:spcBef>
                <a:spcPts val="0"/>
              </a:spcBef>
              <a:spcAft>
                <a:spcPts val="0"/>
              </a:spcAft>
            </a:pPr>
            <a:r>
              <a:rPr sz="800" b="0" i="0">
                <a:solidFill>
                  <a:srgbClr val="93A5B4"/>
                </a:solidFill>
                <a:latin typeface="Consolas"/>
              </a:rPr>
              <a:t>21 / 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1C26"/>
              </a:gs>
              <a:gs pos="100000">
                <a:srgbClr val="0B101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828739"/>
            <a:ext cx="12191695" cy="29260"/>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75488"/>
            <a:ext cx="10874959"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spc="160">
                <a:solidFill>
                  <a:srgbClr val="E3C485"/>
                </a:solidFill>
                <a:latin typeface="Segoe UI"/>
              </a:rPr>
              <a:t>LIMITES · § 6.9</a:t>
            </a:r>
          </a:p>
        </p:txBody>
      </p:sp>
      <p:sp>
        <p:nvSpPr>
          <p:cNvPr id="5" name="TextBox 4"/>
          <p:cNvSpPr txBox="1"/>
          <p:nvPr/>
        </p:nvSpPr>
        <p:spPr>
          <a:xfrm>
            <a:off x="658368" y="713232"/>
            <a:ext cx="10692079" cy="914400"/>
          </a:xfrm>
          <a:prstGeom prst="rect">
            <a:avLst/>
          </a:prstGeom>
          <a:noFill/>
        </p:spPr>
        <p:txBody>
          <a:bodyPr wrap="square" lIns="0" rIns="0" tIns="0" bIns="0" anchor="t">
            <a:spAutoFit/>
          </a:bodyPr>
          <a:lstStyle/>
          <a:p>
            <a:pPr>
              <a:lnSpc>
                <a:spcPct val="105000"/>
              </a:lnSpc>
            </a:pPr>
            <a:r>
              <a:rPr sz="2450" b="0">
                <a:solidFill>
                  <a:srgbClr val="F3EFE7"/>
                </a:solidFill>
                <a:latin typeface="Georgia"/>
              </a:rPr>
              <a:t>Limites assumées et conditions de transférabilité</a:t>
            </a:r>
          </a:p>
        </p:txBody>
      </p:sp>
      <p:sp>
        <p:nvSpPr>
          <p:cNvPr id="6" name="Rounded Rectangle 5"/>
          <p:cNvSpPr/>
          <p:nvPr/>
        </p:nvSpPr>
        <p:spPr>
          <a:xfrm>
            <a:off x="658368" y="1353947"/>
            <a:ext cx="5327751" cy="3566160"/>
          </a:xfrm>
          <a:prstGeom prst="roundRect">
            <a:avLst>
              <a:gd name="adj" fmla="val 55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32103" y="1491107"/>
            <a:ext cx="4980279" cy="3383279"/>
          </a:xfrm>
          <a:prstGeom prst="rect">
            <a:avLst/>
          </a:prstGeom>
          <a:noFill/>
        </p:spPr>
        <p:txBody>
          <a:bodyPr wrap="square" lIns="0" rIns="0" tIns="0" bIns="0" anchor="ctr">
            <a:spAutoFit/>
          </a:bodyPr>
          <a:lstStyle/>
          <a:p>
            <a:pPr algn="l">
              <a:lnSpc>
                <a:spcPct val="115000"/>
              </a:lnSpc>
              <a:spcBef>
                <a:spcPts val="0"/>
              </a:spcBef>
              <a:spcAft>
                <a:spcPts val="250"/>
              </a:spcAft>
            </a:pPr>
            <a:r>
              <a:rPr sz="900" b="1" i="0" spc="70">
                <a:solidFill>
                  <a:srgbClr val="E3C485"/>
                </a:solidFill>
                <a:latin typeface="Segoe UI"/>
              </a:rPr>
              <a:t>LIMITES DE LA RECHERCHE</a:t>
            </a:r>
          </a:p>
          <a:p>
            <a:pPr algn="l">
              <a:lnSpc>
                <a:spcPct val="124000"/>
              </a:lnSpc>
              <a:spcBef>
                <a:spcPts val="700"/>
              </a:spcBef>
              <a:spcAft>
                <a:spcPts val="0"/>
              </a:spcAft>
            </a:pPr>
            <a:r>
              <a:rPr sz="856" b="1">
                <a:solidFill>
                  <a:srgbClr val="C8A154"/>
                </a:solidFill>
                <a:latin typeface="Segoe UI"/>
              </a:rPr>
              <a:t>■  </a:t>
            </a:r>
            <a:r>
              <a:rPr sz="1070" b="0" i="0">
                <a:solidFill>
                  <a:srgbClr val="D5D0C5"/>
                </a:solidFill>
                <a:latin typeface="Segoe UI"/>
              </a:rPr>
              <a:t>Portée : cinq cas, un secteur, un pays — pas de généralisation statistique.</a:t>
            </a:r>
          </a:p>
          <a:p>
            <a:pPr algn="l">
              <a:lnSpc>
                <a:spcPct val="124000"/>
              </a:lnSpc>
              <a:spcBef>
                <a:spcPts val="700"/>
              </a:spcBef>
              <a:spcAft>
                <a:spcPts val="0"/>
              </a:spcAft>
            </a:pPr>
            <a:r>
              <a:rPr sz="856" b="1">
                <a:solidFill>
                  <a:srgbClr val="C8A154"/>
                </a:solidFill>
                <a:latin typeface="Segoe UI"/>
              </a:rPr>
              <a:t>■  </a:t>
            </a:r>
            <a:r>
              <a:rPr sz="1070" b="0" i="0">
                <a:solidFill>
                  <a:srgbClr val="D5D0C5"/>
                </a:solidFill>
                <a:latin typeface="Segoe UI"/>
              </a:rPr>
              <a:t>Données déclaratives : risque d'écart entre discours et pratiques, traité par triangulation.</a:t>
            </a:r>
          </a:p>
          <a:p>
            <a:pPr algn="l">
              <a:lnSpc>
                <a:spcPct val="124000"/>
              </a:lnSpc>
              <a:spcBef>
                <a:spcPts val="700"/>
              </a:spcBef>
              <a:spcAft>
                <a:spcPts val="0"/>
              </a:spcAft>
            </a:pPr>
            <a:r>
              <a:rPr sz="856" b="1">
                <a:solidFill>
                  <a:srgbClr val="C8A154"/>
                </a:solidFill>
                <a:latin typeface="Segoe UI"/>
              </a:rPr>
              <a:t>■  </a:t>
            </a:r>
            <a:r>
              <a:rPr sz="1070" b="0" i="0">
                <a:solidFill>
                  <a:srgbClr val="D5D0C5"/>
                </a:solidFill>
                <a:latin typeface="Segoe UI"/>
              </a:rPr>
              <a:t>Temporalité : la polycrise est un processus ; l'enquête en saisit une fenêtre.</a:t>
            </a:r>
          </a:p>
          <a:p>
            <a:pPr algn="l">
              <a:lnSpc>
                <a:spcPct val="124000"/>
              </a:lnSpc>
              <a:spcBef>
                <a:spcPts val="700"/>
              </a:spcBef>
              <a:spcAft>
                <a:spcPts val="0"/>
              </a:spcAft>
            </a:pPr>
            <a:r>
              <a:rPr sz="856" b="1">
                <a:solidFill>
                  <a:srgbClr val="C8A154"/>
                </a:solidFill>
                <a:latin typeface="Segoe UI"/>
              </a:rPr>
              <a:t>■  </a:t>
            </a:r>
            <a:r>
              <a:rPr sz="1070" b="0" i="0">
                <a:solidFill>
                  <a:srgbClr val="D5D0C5"/>
                </a:solidFill>
                <a:latin typeface="Segoe UI"/>
              </a:rPr>
              <a:t>Posture : praticien-chercheur, avec les effets de position que cela implique.</a:t>
            </a:r>
          </a:p>
          <a:p>
            <a:pPr algn="l">
              <a:lnSpc>
                <a:spcPct val="124000"/>
              </a:lnSpc>
              <a:spcBef>
                <a:spcPts val="700"/>
              </a:spcBef>
              <a:spcAft>
                <a:spcPts val="0"/>
              </a:spcAft>
            </a:pPr>
            <a:r>
              <a:rPr sz="856" b="1">
                <a:solidFill>
                  <a:srgbClr val="C8A154"/>
                </a:solidFill>
                <a:latin typeface="Segoe UI"/>
              </a:rPr>
              <a:t>■  </a:t>
            </a:r>
            <a:r>
              <a:rPr sz="1070" b="0" i="0">
                <a:solidFill>
                  <a:srgbClr val="D5D0C5"/>
                </a:solidFill>
                <a:latin typeface="Segoe UI"/>
              </a:rPr>
              <a:t>Accès : confidentialité et disponibilité des acteurs contraignent le corpus.</a:t>
            </a:r>
          </a:p>
        </p:txBody>
      </p:sp>
      <p:sp>
        <p:nvSpPr>
          <p:cNvPr id="8" name="Rounded Rectangle 7"/>
          <p:cNvSpPr/>
          <p:nvPr/>
        </p:nvSpPr>
        <p:spPr>
          <a:xfrm>
            <a:off x="6205575" y="1353947"/>
            <a:ext cx="5327751" cy="3566160"/>
          </a:xfrm>
          <a:prstGeom prst="roundRect">
            <a:avLst>
              <a:gd name="adj" fmla="val 55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379311" y="1491107"/>
            <a:ext cx="4980279" cy="3383279"/>
          </a:xfrm>
          <a:prstGeom prst="rect">
            <a:avLst/>
          </a:prstGeom>
          <a:noFill/>
        </p:spPr>
        <p:txBody>
          <a:bodyPr wrap="square" lIns="0" rIns="0" tIns="0" bIns="0" anchor="ctr">
            <a:spAutoFit/>
          </a:bodyPr>
          <a:lstStyle/>
          <a:p>
            <a:pPr algn="l">
              <a:lnSpc>
                <a:spcPct val="115000"/>
              </a:lnSpc>
              <a:spcBef>
                <a:spcPts val="0"/>
              </a:spcBef>
              <a:spcAft>
                <a:spcPts val="250"/>
              </a:spcAft>
            </a:pPr>
            <a:r>
              <a:rPr sz="900" b="1" i="0" spc="70">
                <a:solidFill>
                  <a:srgbClr val="E3C485"/>
                </a:solidFill>
                <a:latin typeface="Segoe UI"/>
              </a:rPr>
              <a:t>CE QUE LA THÈSE PEUT TRANSFÉRER</a:t>
            </a:r>
          </a:p>
          <a:p>
            <a:pPr algn="l">
              <a:lnSpc>
                <a:spcPct val="124000"/>
              </a:lnSpc>
              <a:spcBef>
                <a:spcPts val="700"/>
              </a:spcBef>
              <a:spcAft>
                <a:spcPts val="0"/>
              </a:spcAft>
            </a:pPr>
            <a:r>
              <a:rPr sz="856" b="1">
                <a:solidFill>
                  <a:srgbClr val="C8A154"/>
                </a:solidFill>
                <a:latin typeface="Segoe UI"/>
              </a:rPr>
              <a:t>■  </a:t>
            </a:r>
            <a:r>
              <a:rPr sz="1070" b="0" i="0">
                <a:solidFill>
                  <a:srgbClr val="D5D0C5"/>
                </a:solidFill>
                <a:latin typeface="Segoe UI"/>
              </a:rPr>
              <a:t>Une grille d'analyse des scènes de décision instrumentées.</a:t>
            </a:r>
          </a:p>
          <a:p>
            <a:pPr algn="l">
              <a:lnSpc>
                <a:spcPct val="124000"/>
              </a:lnSpc>
              <a:spcBef>
                <a:spcPts val="700"/>
              </a:spcBef>
              <a:spcAft>
                <a:spcPts val="0"/>
              </a:spcAft>
            </a:pPr>
            <a:r>
              <a:rPr sz="856" b="1">
                <a:solidFill>
                  <a:srgbClr val="C8A154"/>
                </a:solidFill>
                <a:latin typeface="Segoe UI"/>
              </a:rPr>
              <a:t>■  </a:t>
            </a:r>
            <a:r>
              <a:rPr sz="1070" b="0" i="0">
                <a:solidFill>
                  <a:srgbClr val="D5D0C5"/>
                </a:solidFill>
                <a:latin typeface="Segoe UI"/>
              </a:rPr>
              <a:t>Des conditions de possibilité, pas des recettes.</a:t>
            </a:r>
          </a:p>
          <a:p>
            <a:pPr algn="l">
              <a:lnSpc>
                <a:spcPct val="124000"/>
              </a:lnSpc>
              <a:spcBef>
                <a:spcPts val="700"/>
              </a:spcBef>
              <a:spcAft>
                <a:spcPts val="0"/>
              </a:spcAft>
            </a:pPr>
            <a:r>
              <a:rPr sz="856" b="1">
                <a:solidFill>
                  <a:srgbClr val="C8A154"/>
                </a:solidFill>
                <a:latin typeface="Segoe UI"/>
              </a:rPr>
              <a:t>■  </a:t>
            </a:r>
            <a:r>
              <a:rPr sz="1070" b="0" i="0">
                <a:solidFill>
                  <a:srgbClr val="D5D0C5"/>
                </a:solidFill>
                <a:latin typeface="Segoe UI"/>
              </a:rPr>
              <a:t>Un vocabulaire commun entre gouvernance, usages de l'IA et dimensions humaines.</a:t>
            </a:r>
          </a:p>
          <a:p>
            <a:pPr algn="l">
              <a:lnSpc>
                <a:spcPct val="124000"/>
              </a:lnSpc>
              <a:spcBef>
                <a:spcPts val="700"/>
              </a:spcBef>
              <a:spcAft>
                <a:spcPts val="0"/>
              </a:spcAft>
            </a:pPr>
            <a:r>
              <a:rPr sz="856" b="1">
                <a:solidFill>
                  <a:srgbClr val="C8A154"/>
                </a:solidFill>
                <a:latin typeface="Segoe UI"/>
              </a:rPr>
              <a:t>■  </a:t>
            </a:r>
            <a:r>
              <a:rPr sz="1070" b="0" i="0">
                <a:solidFill>
                  <a:srgbClr val="D5D0C5"/>
                </a:solidFill>
                <a:latin typeface="Segoe UI"/>
              </a:rPr>
              <a:t>Une méthode réutilisable dans d'autres EPES d'Afrique centrale.</a:t>
            </a:r>
          </a:p>
        </p:txBody>
      </p:sp>
      <p:sp>
        <p:nvSpPr>
          <p:cNvPr id="10" name="Rectangle 9"/>
          <p:cNvSpPr/>
          <p:nvPr/>
        </p:nvSpPr>
        <p:spPr>
          <a:xfrm>
            <a:off x="6379311" y="4234307"/>
            <a:ext cx="4980279" cy="7315"/>
          </a:xfrm>
          <a:prstGeom prst="rect">
            <a:avLst/>
          </a:prstGeom>
          <a:solidFill>
            <a:srgbClr val="2734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379311" y="4353179"/>
            <a:ext cx="4980279" cy="457200"/>
          </a:xfrm>
          <a:prstGeom prst="rect">
            <a:avLst/>
          </a:prstGeom>
          <a:noFill/>
        </p:spPr>
        <p:txBody>
          <a:bodyPr wrap="square" lIns="0" rIns="0" tIns="0" bIns="0" anchor="t">
            <a:spAutoFit/>
          </a:bodyPr>
          <a:lstStyle/>
          <a:p>
            <a:pPr algn="l">
              <a:lnSpc>
                <a:spcPct val="125000"/>
              </a:lnSpc>
              <a:spcBef>
                <a:spcPts val="0"/>
              </a:spcBef>
              <a:spcAft>
                <a:spcPts val="0"/>
              </a:spcAft>
            </a:pPr>
            <a:r>
              <a:rPr sz="860" b="0" i="0">
                <a:solidFill>
                  <a:srgbClr val="93A5B4"/>
                </a:solidFill>
                <a:latin typeface="Segoe UI"/>
              </a:rPr>
              <a:t>Transférabilité analytique : le lecteur juge de la pertinence du transfert, la thèse documente le contexte.</a:t>
            </a:r>
          </a:p>
        </p:txBody>
      </p:sp>
      <p:sp>
        <p:nvSpPr>
          <p:cNvPr id="12" name="Rectangle 11"/>
          <p:cNvSpPr/>
          <p:nvPr/>
        </p:nvSpPr>
        <p:spPr>
          <a:xfrm>
            <a:off x="658368" y="6199632"/>
            <a:ext cx="10874959" cy="7315"/>
          </a:xfrm>
          <a:prstGeom prst="rect">
            <a:avLst/>
          </a:prstGeom>
          <a:solidFill>
            <a:srgbClr val="2734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58368" y="6291072"/>
            <a:ext cx="10189159" cy="457200"/>
          </a:xfrm>
          <a:prstGeom prst="rect">
            <a:avLst/>
          </a:prstGeom>
          <a:noFill/>
        </p:spPr>
        <p:txBody>
          <a:bodyPr wrap="square" lIns="0" rIns="0" tIns="0" bIns="0" anchor="t">
            <a:spAutoFit/>
          </a:bodyPr>
          <a:lstStyle/>
          <a:p>
            <a:pPr algn="l">
              <a:lnSpc>
                <a:spcPct val="110000"/>
              </a:lnSpc>
              <a:spcBef>
                <a:spcPts val="0"/>
              </a:spcBef>
              <a:spcAft>
                <a:spcPts val="0"/>
              </a:spcAft>
            </a:pPr>
            <a:r>
              <a:rPr sz="740" b="1">
                <a:solidFill>
                  <a:srgbClr val="93A5B4"/>
                </a:solidFill>
                <a:latin typeface="Segoe UI"/>
              </a:rPr>
              <a:t>Sources : </a:t>
            </a:r>
            <a:r>
              <a:rPr sz="740" b="0">
                <a:solidFill>
                  <a:srgbClr val="708392"/>
                </a:solidFill>
                <a:latin typeface="Segoe UI"/>
              </a:rPr>
              <a:t>plan harmonisé § 6.9 et § 4.10 (limites méthodologiques et stratégies d'atténuation) ; annexe J.</a:t>
            </a:r>
          </a:p>
        </p:txBody>
      </p:sp>
      <p:sp>
        <p:nvSpPr>
          <p:cNvPr id="14" name="TextBox 13"/>
          <p:cNvSpPr txBox="1"/>
          <p:nvPr/>
        </p:nvSpPr>
        <p:spPr>
          <a:xfrm>
            <a:off x="10874959" y="6291072"/>
            <a:ext cx="658368" cy="274320"/>
          </a:xfrm>
          <a:prstGeom prst="rect">
            <a:avLst/>
          </a:prstGeom>
          <a:noFill/>
        </p:spPr>
        <p:txBody>
          <a:bodyPr wrap="square" lIns="0" rIns="0" tIns="0" bIns="0" anchor="t">
            <a:spAutoFit/>
          </a:bodyPr>
          <a:lstStyle/>
          <a:p>
            <a:pPr algn="r">
              <a:lnSpc>
                <a:spcPct val="118000"/>
              </a:lnSpc>
              <a:spcBef>
                <a:spcPts val="0"/>
              </a:spcBef>
              <a:spcAft>
                <a:spcPts val="0"/>
              </a:spcAft>
            </a:pPr>
            <a:r>
              <a:rPr sz="800" b="0" i="0">
                <a:solidFill>
                  <a:srgbClr val="93A5B4"/>
                </a:solidFill>
                <a:latin typeface="Consolas"/>
              </a:rPr>
              <a:t>22 / 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1C26"/>
              </a:gs>
              <a:gs pos="100000">
                <a:srgbClr val="0B101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828739"/>
            <a:ext cx="12191695" cy="29260"/>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75488"/>
            <a:ext cx="10874959"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spc="160">
                <a:solidFill>
                  <a:srgbClr val="E3C485"/>
                </a:solidFill>
                <a:latin typeface="Segoe UI"/>
              </a:rPr>
              <a:t>PERSPECTIVES · § 6.10</a:t>
            </a:r>
          </a:p>
        </p:txBody>
      </p:sp>
      <p:sp>
        <p:nvSpPr>
          <p:cNvPr id="5" name="TextBox 4"/>
          <p:cNvSpPr txBox="1"/>
          <p:nvPr/>
        </p:nvSpPr>
        <p:spPr>
          <a:xfrm>
            <a:off x="658368" y="713232"/>
            <a:ext cx="10692079" cy="914400"/>
          </a:xfrm>
          <a:prstGeom prst="rect">
            <a:avLst/>
          </a:prstGeom>
          <a:noFill/>
        </p:spPr>
        <p:txBody>
          <a:bodyPr wrap="square" lIns="0" rIns="0" tIns="0" bIns="0" anchor="t">
            <a:spAutoFit/>
          </a:bodyPr>
          <a:lstStyle/>
          <a:p>
            <a:pPr>
              <a:lnSpc>
                <a:spcPct val="105000"/>
              </a:lnSpc>
            </a:pPr>
            <a:r>
              <a:rPr sz="2450" b="0">
                <a:solidFill>
                  <a:srgbClr val="F3EFE7"/>
                </a:solidFill>
                <a:latin typeface="Georgia"/>
              </a:rPr>
              <a:t>Après la thèse : trois prolongements possibles</a:t>
            </a:r>
          </a:p>
        </p:txBody>
      </p:sp>
      <p:sp>
        <p:nvSpPr>
          <p:cNvPr id="6" name="Rounded Rectangle 5"/>
          <p:cNvSpPr/>
          <p:nvPr/>
        </p:nvSpPr>
        <p:spPr>
          <a:xfrm>
            <a:off x="658368" y="1353947"/>
            <a:ext cx="3503066" cy="2286000"/>
          </a:xfrm>
          <a:prstGeom prst="roundRect">
            <a:avLst>
              <a:gd name="adj" fmla="val 5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41247" y="1518539"/>
            <a:ext cx="548640" cy="365760"/>
          </a:xfrm>
          <a:prstGeom prst="rect">
            <a:avLst/>
          </a:prstGeom>
          <a:noFill/>
        </p:spPr>
        <p:txBody>
          <a:bodyPr wrap="square" lIns="0" rIns="0" tIns="0" bIns="0" anchor="t">
            <a:spAutoFit/>
          </a:bodyPr>
          <a:lstStyle/>
          <a:p>
            <a:pPr algn="l">
              <a:lnSpc>
                <a:spcPct val="118000"/>
              </a:lnSpc>
              <a:spcBef>
                <a:spcPts val="0"/>
              </a:spcBef>
              <a:spcAft>
                <a:spcPts val="0"/>
              </a:spcAft>
            </a:pPr>
            <a:r>
              <a:rPr sz="1500" b="0" i="0">
                <a:solidFill>
                  <a:srgbClr val="E3C485"/>
                </a:solidFill>
                <a:latin typeface="Georgia"/>
              </a:rPr>
              <a:t>1</a:t>
            </a:r>
          </a:p>
        </p:txBody>
      </p:sp>
      <p:sp>
        <p:nvSpPr>
          <p:cNvPr id="8" name="TextBox 7"/>
          <p:cNvSpPr txBox="1"/>
          <p:nvPr/>
        </p:nvSpPr>
        <p:spPr>
          <a:xfrm>
            <a:off x="841247" y="2012314"/>
            <a:ext cx="3137306" cy="320040"/>
          </a:xfrm>
          <a:prstGeom prst="rect">
            <a:avLst/>
          </a:prstGeom>
          <a:noFill/>
        </p:spPr>
        <p:txBody>
          <a:bodyPr wrap="square" lIns="0" rIns="0" tIns="0" bIns="0" anchor="t">
            <a:spAutoFit/>
          </a:bodyPr>
          <a:lstStyle/>
          <a:p>
            <a:pPr algn="l">
              <a:lnSpc>
                <a:spcPct val="118000"/>
              </a:lnSpc>
              <a:spcBef>
                <a:spcPts val="0"/>
              </a:spcBef>
              <a:spcAft>
                <a:spcPts val="0"/>
              </a:spcAft>
            </a:pPr>
            <a:r>
              <a:rPr sz="1000" b="1" i="0">
                <a:solidFill>
                  <a:srgbClr val="F3EFE7"/>
                </a:solidFill>
                <a:latin typeface="Segoe UI"/>
              </a:rPr>
              <a:t>Élargir le terrain</a:t>
            </a:r>
          </a:p>
        </p:txBody>
      </p:sp>
      <p:sp>
        <p:nvSpPr>
          <p:cNvPr id="9" name="TextBox 8"/>
          <p:cNvSpPr txBox="1"/>
          <p:nvPr/>
        </p:nvSpPr>
        <p:spPr>
          <a:xfrm>
            <a:off x="841247" y="2378075"/>
            <a:ext cx="3137306" cy="1097280"/>
          </a:xfrm>
          <a:prstGeom prst="rect">
            <a:avLst/>
          </a:prstGeom>
          <a:noFill/>
        </p:spPr>
        <p:txBody>
          <a:bodyPr wrap="square" lIns="0" rIns="0" tIns="0" bIns="0" anchor="t">
            <a:spAutoFit/>
          </a:bodyPr>
          <a:lstStyle/>
          <a:p>
            <a:pPr algn="l">
              <a:lnSpc>
                <a:spcPct val="130000"/>
              </a:lnSpc>
              <a:spcBef>
                <a:spcPts val="0"/>
              </a:spcBef>
              <a:spcAft>
                <a:spcPts val="0"/>
              </a:spcAft>
            </a:pPr>
            <a:r>
              <a:rPr sz="960" b="0" i="0">
                <a:solidFill>
                  <a:srgbClr val="D5D0C5"/>
                </a:solidFill>
                <a:latin typeface="Segoe UI"/>
              </a:rPr>
              <a:t>Comparer les EPES gabonais à d'autres établissements d'Afrique centrale : conditions institutionnelles contrastées, mêmes questions.</a:t>
            </a:r>
          </a:p>
        </p:txBody>
      </p:sp>
      <p:sp>
        <p:nvSpPr>
          <p:cNvPr id="10" name="Rounded Rectangle 9"/>
          <p:cNvSpPr/>
          <p:nvPr/>
        </p:nvSpPr>
        <p:spPr>
          <a:xfrm>
            <a:off x="4344314" y="1353947"/>
            <a:ext cx="3503066" cy="2286000"/>
          </a:xfrm>
          <a:prstGeom prst="roundRect">
            <a:avLst>
              <a:gd name="adj" fmla="val 5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27194" y="1518539"/>
            <a:ext cx="548640" cy="365760"/>
          </a:xfrm>
          <a:prstGeom prst="rect">
            <a:avLst/>
          </a:prstGeom>
          <a:noFill/>
        </p:spPr>
        <p:txBody>
          <a:bodyPr wrap="square" lIns="0" rIns="0" tIns="0" bIns="0" anchor="t">
            <a:spAutoFit/>
          </a:bodyPr>
          <a:lstStyle/>
          <a:p>
            <a:pPr algn="l">
              <a:lnSpc>
                <a:spcPct val="118000"/>
              </a:lnSpc>
              <a:spcBef>
                <a:spcPts val="0"/>
              </a:spcBef>
              <a:spcAft>
                <a:spcPts val="0"/>
              </a:spcAft>
            </a:pPr>
            <a:r>
              <a:rPr sz="1500" b="0" i="0">
                <a:solidFill>
                  <a:srgbClr val="E3C485"/>
                </a:solidFill>
                <a:latin typeface="Georgia"/>
              </a:rPr>
              <a:t>2</a:t>
            </a:r>
          </a:p>
        </p:txBody>
      </p:sp>
      <p:sp>
        <p:nvSpPr>
          <p:cNvPr id="12" name="TextBox 11"/>
          <p:cNvSpPr txBox="1"/>
          <p:nvPr/>
        </p:nvSpPr>
        <p:spPr>
          <a:xfrm>
            <a:off x="4527194" y="2012314"/>
            <a:ext cx="3137306" cy="320040"/>
          </a:xfrm>
          <a:prstGeom prst="rect">
            <a:avLst/>
          </a:prstGeom>
          <a:noFill/>
        </p:spPr>
        <p:txBody>
          <a:bodyPr wrap="square" lIns="0" rIns="0" tIns="0" bIns="0" anchor="t">
            <a:spAutoFit/>
          </a:bodyPr>
          <a:lstStyle/>
          <a:p>
            <a:pPr algn="l">
              <a:lnSpc>
                <a:spcPct val="118000"/>
              </a:lnSpc>
              <a:spcBef>
                <a:spcPts val="0"/>
              </a:spcBef>
              <a:spcAft>
                <a:spcPts val="0"/>
              </a:spcAft>
            </a:pPr>
            <a:r>
              <a:rPr sz="1000" b="1" i="0">
                <a:solidFill>
                  <a:srgbClr val="F3EFE7"/>
                </a:solidFill>
                <a:latin typeface="Segoe UI"/>
              </a:rPr>
              <a:t>Suivre dans le temps</a:t>
            </a:r>
          </a:p>
        </p:txBody>
      </p:sp>
      <p:sp>
        <p:nvSpPr>
          <p:cNvPr id="13" name="TextBox 12"/>
          <p:cNvSpPr txBox="1"/>
          <p:nvPr/>
        </p:nvSpPr>
        <p:spPr>
          <a:xfrm>
            <a:off x="4527194" y="2378075"/>
            <a:ext cx="3137306" cy="1097280"/>
          </a:xfrm>
          <a:prstGeom prst="rect">
            <a:avLst/>
          </a:prstGeom>
          <a:noFill/>
        </p:spPr>
        <p:txBody>
          <a:bodyPr wrap="square" lIns="0" rIns="0" tIns="0" bIns="0" anchor="t">
            <a:spAutoFit/>
          </a:bodyPr>
          <a:lstStyle/>
          <a:p>
            <a:pPr algn="l">
              <a:lnSpc>
                <a:spcPct val="130000"/>
              </a:lnSpc>
              <a:spcBef>
                <a:spcPts val="0"/>
              </a:spcBef>
              <a:spcAft>
                <a:spcPts val="0"/>
              </a:spcAft>
            </a:pPr>
            <a:r>
              <a:rPr sz="960" b="0" i="0">
                <a:solidFill>
                  <a:srgbClr val="D5D0C5"/>
                </a:solidFill>
                <a:latin typeface="Segoe UI"/>
              </a:rPr>
              <a:t>Reprendre les mêmes scènes de décision à intervalles réguliers : ce qui se maintient, ce qui s'abandonne, ce qui se transforme.</a:t>
            </a:r>
          </a:p>
        </p:txBody>
      </p:sp>
      <p:sp>
        <p:nvSpPr>
          <p:cNvPr id="14" name="Rounded Rectangle 13"/>
          <p:cNvSpPr/>
          <p:nvPr/>
        </p:nvSpPr>
        <p:spPr>
          <a:xfrm>
            <a:off x="8030260" y="1353947"/>
            <a:ext cx="3503066" cy="2286000"/>
          </a:xfrm>
          <a:prstGeom prst="roundRect">
            <a:avLst>
              <a:gd name="adj" fmla="val 5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3140" y="1518539"/>
            <a:ext cx="548640" cy="365760"/>
          </a:xfrm>
          <a:prstGeom prst="rect">
            <a:avLst/>
          </a:prstGeom>
          <a:noFill/>
        </p:spPr>
        <p:txBody>
          <a:bodyPr wrap="square" lIns="0" rIns="0" tIns="0" bIns="0" anchor="t">
            <a:spAutoFit/>
          </a:bodyPr>
          <a:lstStyle/>
          <a:p>
            <a:pPr algn="l">
              <a:lnSpc>
                <a:spcPct val="118000"/>
              </a:lnSpc>
              <a:spcBef>
                <a:spcPts val="0"/>
              </a:spcBef>
              <a:spcAft>
                <a:spcPts val="0"/>
              </a:spcAft>
            </a:pPr>
            <a:r>
              <a:rPr sz="1500" b="0" i="0">
                <a:solidFill>
                  <a:srgbClr val="E3C485"/>
                </a:solidFill>
                <a:latin typeface="Georgia"/>
              </a:rPr>
              <a:t>3</a:t>
            </a:r>
          </a:p>
        </p:txBody>
      </p:sp>
      <p:sp>
        <p:nvSpPr>
          <p:cNvPr id="16" name="TextBox 15"/>
          <p:cNvSpPr txBox="1"/>
          <p:nvPr/>
        </p:nvSpPr>
        <p:spPr>
          <a:xfrm>
            <a:off x="8213140" y="2012314"/>
            <a:ext cx="3137306" cy="320040"/>
          </a:xfrm>
          <a:prstGeom prst="rect">
            <a:avLst/>
          </a:prstGeom>
          <a:noFill/>
        </p:spPr>
        <p:txBody>
          <a:bodyPr wrap="square" lIns="0" rIns="0" tIns="0" bIns="0" anchor="t">
            <a:spAutoFit/>
          </a:bodyPr>
          <a:lstStyle/>
          <a:p>
            <a:pPr algn="l">
              <a:lnSpc>
                <a:spcPct val="118000"/>
              </a:lnSpc>
              <a:spcBef>
                <a:spcPts val="0"/>
              </a:spcBef>
              <a:spcAft>
                <a:spcPts val="0"/>
              </a:spcAft>
            </a:pPr>
            <a:r>
              <a:rPr sz="1000" b="1" i="0">
                <a:solidFill>
                  <a:srgbClr val="F3EFE7"/>
                </a:solidFill>
                <a:latin typeface="Segoe UI"/>
              </a:rPr>
              <a:t>Outiller et évaluer</a:t>
            </a:r>
          </a:p>
        </p:txBody>
      </p:sp>
      <p:sp>
        <p:nvSpPr>
          <p:cNvPr id="17" name="TextBox 16"/>
          <p:cNvSpPr txBox="1"/>
          <p:nvPr/>
        </p:nvSpPr>
        <p:spPr>
          <a:xfrm>
            <a:off x="8213140" y="2378075"/>
            <a:ext cx="3137306" cy="1097280"/>
          </a:xfrm>
          <a:prstGeom prst="rect">
            <a:avLst/>
          </a:prstGeom>
          <a:noFill/>
        </p:spPr>
        <p:txBody>
          <a:bodyPr wrap="square" lIns="0" rIns="0" tIns="0" bIns="0" anchor="t">
            <a:spAutoFit/>
          </a:bodyPr>
          <a:lstStyle/>
          <a:p>
            <a:pPr algn="l">
              <a:lnSpc>
                <a:spcPct val="130000"/>
              </a:lnSpc>
              <a:spcBef>
                <a:spcPts val="0"/>
              </a:spcBef>
              <a:spcAft>
                <a:spcPts val="0"/>
              </a:spcAft>
            </a:pPr>
            <a:r>
              <a:rPr sz="960" b="0" i="0">
                <a:solidFill>
                  <a:srgbClr val="D5D0C5"/>
                </a:solidFill>
                <a:latin typeface="Segoe UI"/>
              </a:rPr>
              <a:t>Tester la grille comme outil de pilotage en situation réelle, avec évaluation des effets — y compris des effets défavorables.</a:t>
            </a:r>
          </a:p>
        </p:txBody>
      </p:sp>
      <p:sp>
        <p:nvSpPr>
          <p:cNvPr id="18" name="Rounded Rectangle 17"/>
          <p:cNvSpPr/>
          <p:nvPr/>
        </p:nvSpPr>
        <p:spPr>
          <a:xfrm>
            <a:off x="658368" y="3841115"/>
            <a:ext cx="10874959" cy="1005840"/>
          </a:xfrm>
          <a:prstGeom prst="roundRect">
            <a:avLst>
              <a:gd name="adj" fmla="val 5500"/>
            </a:avLst>
          </a:prstGeom>
          <a:solidFill>
            <a:srgbClr val="2A2418"/>
          </a:solidFill>
          <a:ln w="11430">
            <a:solidFill>
              <a:srgbClr val="C8A15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86384" y="3941699"/>
            <a:ext cx="10618927" cy="822960"/>
          </a:xfrm>
          <a:prstGeom prst="rect">
            <a:avLst/>
          </a:prstGeom>
          <a:noFill/>
        </p:spPr>
        <p:txBody>
          <a:bodyPr wrap="square" lIns="0" rIns="0" tIns="0" bIns="0" anchor="ctr">
            <a:spAutoFit/>
          </a:bodyPr>
          <a:lstStyle/>
          <a:p>
            <a:pPr algn="l">
              <a:lnSpc>
                <a:spcPct val="115000"/>
              </a:lnSpc>
              <a:spcBef>
                <a:spcPts val="0"/>
              </a:spcBef>
              <a:spcAft>
                <a:spcPts val="250"/>
              </a:spcAft>
            </a:pPr>
            <a:r>
              <a:rPr sz="900" b="1" i="0" spc="70">
                <a:solidFill>
                  <a:srgbClr val="E3C485"/>
                </a:solidFill>
                <a:latin typeface="Segoe UI"/>
              </a:rPr>
              <a:t>CE QUE CES PROLONGEMENTS SUPPOSENT</a:t>
            </a:r>
          </a:p>
          <a:p>
            <a:pPr algn="l">
              <a:lnSpc>
                <a:spcPct val="126000"/>
              </a:lnSpc>
              <a:spcBef>
                <a:spcPts val="0"/>
              </a:spcBef>
              <a:spcAft>
                <a:spcPts val="0"/>
              </a:spcAft>
            </a:pPr>
            <a:r>
              <a:rPr sz="1040" b="0" i="0">
                <a:solidFill>
                  <a:srgbClr val="D5D0C5"/>
                </a:solidFill>
                <a:latin typeface="Segoe UI"/>
              </a:rPr>
              <a:t>Un ancrage institutionnel stable, des autorisations de terrain, et la possibilité de publier des résultats sans exposer les établissements ni les personnes. La confidentialité n'est pas une contrainte technique : c'est une condition de la recherche.</a:t>
            </a:r>
          </a:p>
        </p:txBody>
      </p:sp>
      <p:sp>
        <p:nvSpPr>
          <p:cNvPr id="20" name="Rectangle 19"/>
          <p:cNvSpPr/>
          <p:nvPr/>
        </p:nvSpPr>
        <p:spPr>
          <a:xfrm>
            <a:off x="658368" y="6199632"/>
            <a:ext cx="10874959" cy="7315"/>
          </a:xfrm>
          <a:prstGeom prst="rect">
            <a:avLst/>
          </a:prstGeom>
          <a:solidFill>
            <a:srgbClr val="2734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58368" y="6291072"/>
            <a:ext cx="10189159" cy="457200"/>
          </a:xfrm>
          <a:prstGeom prst="rect">
            <a:avLst/>
          </a:prstGeom>
          <a:noFill/>
        </p:spPr>
        <p:txBody>
          <a:bodyPr wrap="square" lIns="0" rIns="0" tIns="0" bIns="0" anchor="t">
            <a:spAutoFit/>
          </a:bodyPr>
          <a:lstStyle/>
          <a:p>
            <a:pPr algn="l">
              <a:lnSpc>
                <a:spcPct val="110000"/>
              </a:lnSpc>
              <a:spcBef>
                <a:spcPts val="0"/>
              </a:spcBef>
              <a:spcAft>
                <a:spcPts val="0"/>
              </a:spcAft>
            </a:pPr>
            <a:r>
              <a:rPr sz="740" b="1">
                <a:solidFill>
                  <a:srgbClr val="93A5B4"/>
                </a:solidFill>
                <a:latin typeface="Segoe UI"/>
              </a:rPr>
              <a:t>Sources : </a:t>
            </a:r>
            <a:r>
              <a:rPr sz="740" b="0">
                <a:solidFill>
                  <a:srgbClr val="708392"/>
                </a:solidFill>
                <a:latin typeface="Segoe UI"/>
              </a:rPr>
              <a:t>plan harmonisé § 6.10 (perspectives de recherche et prolongements possibles) ; § 4.8 (considérations éthiques).</a:t>
            </a:r>
          </a:p>
        </p:txBody>
      </p:sp>
      <p:sp>
        <p:nvSpPr>
          <p:cNvPr id="22" name="TextBox 21"/>
          <p:cNvSpPr txBox="1"/>
          <p:nvPr/>
        </p:nvSpPr>
        <p:spPr>
          <a:xfrm>
            <a:off x="10874959" y="6291072"/>
            <a:ext cx="658368" cy="274320"/>
          </a:xfrm>
          <a:prstGeom prst="rect">
            <a:avLst/>
          </a:prstGeom>
          <a:noFill/>
        </p:spPr>
        <p:txBody>
          <a:bodyPr wrap="square" lIns="0" rIns="0" tIns="0" bIns="0" anchor="t">
            <a:spAutoFit/>
          </a:bodyPr>
          <a:lstStyle/>
          <a:p>
            <a:pPr algn="r">
              <a:lnSpc>
                <a:spcPct val="118000"/>
              </a:lnSpc>
              <a:spcBef>
                <a:spcPts val="0"/>
              </a:spcBef>
              <a:spcAft>
                <a:spcPts val="0"/>
              </a:spcAft>
            </a:pPr>
            <a:r>
              <a:rPr sz="800" b="0" i="0">
                <a:solidFill>
                  <a:srgbClr val="93A5B4"/>
                </a:solidFill>
                <a:latin typeface="Consolas"/>
              </a:rPr>
              <a:t>23 / 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1C26"/>
              </a:gs>
              <a:gs pos="100000">
                <a:srgbClr val="0B101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828739"/>
            <a:ext cx="12191695" cy="29260"/>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75488"/>
            <a:ext cx="10874959"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spc="160">
                <a:solidFill>
                  <a:srgbClr val="E3C485"/>
                </a:solidFill>
                <a:latin typeface="Segoe UI"/>
              </a:rPr>
              <a:t>REPÈRES CHIFFRÉS</a:t>
            </a:r>
          </a:p>
        </p:txBody>
      </p:sp>
      <p:sp>
        <p:nvSpPr>
          <p:cNvPr id="5" name="TextBox 4"/>
          <p:cNvSpPr txBox="1"/>
          <p:nvPr/>
        </p:nvSpPr>
        <p:spPr>
          <a:xfrm>
            <a:off x="658368" y="713232"/>
            <a:ext cx="10692079" cy="914400"/>
          </a:xfrm>
          <a:prstGeom prst="rect">
            <a:avLst/>
          </a:prstGeom>
          <a:noFill/>
        </p:spPr>
        <p:txBody>
          <a:bodyPr wrap="square" lIns="0" rIns="0" tIns="0" bIns="0" anchor="t">
            <a:spAutoFit/>
          </a:bodyPr>
          <a:lstStyle/>
          <a:p>
            <a:pPr>
              <a:lnSpc>
                <a:spcPct val="105000"/>
              </a:lnSpc>
            </a:pPr>
            <a:r>
              <a:rPr sz="2450" b="0">
                <a:solidFill>
                  <a:srgbClr val="F3EFE7"/>
                </a:solidFill>
                <a:latin typeface="Georgia"/>
              </a:rPr>
              <a:t>Huit chiffres, tous traçables dans le dossier de recherche</a:t>
            </a:r>
          </a:p>
        </p:txBody>
      </p:sp>
      <p:sp>
        <p:nvSpPr>
          <p:cNvPr id="6" name="Rounded Rectangle 5"/>
          <p:cNvSpPr/>
          <p:nvPr/>
        </p:nvSpPr>
        <p:spPr>
          <a:xfrm>
            <a:off x="658368" y="1353947"/>
            <a:ext cx="2609011" cy="1005840"/>
          </a:xfrm>
          <a:prstGeom prst="roundRect">
            <a:avLst>
              <a:gd name="adj" fmla="val 9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86384" y="1427099"/>
            <a:ext cx="2352979" cy="859536"/>
          </a:xfrm>
          <a:prstGeom prst="rect">
            <a:avLst/>
          </a:prstGeom>
          <a:noFill/>
        </p:spPr>
        <p:txBody>
          <a:bodyPr wrap="square" lIns="0" rIns="0" tIns="0" bIns="0" anchor="ctr">
            <a:spAutoFit/>
          </a:bodyPr>
          <a:lstStyle/>
          <a:p>
            <a:pPr>
              <a:lnSpc>
                <a:spcPct val="100000"/>
              </a:lnSpc>
            </a:pPr>
            <a:r>
              <a:rPr sz="2600">
                <a:solidFill>
                  <a:srgbClr val="F3EFE7"/>
                </a:solidFill>
                <a:latin typeface="Georgia"/>
              </a:rPr>
              <a:t>3</a:t>
            </a:r>
          </a:p>
          <a:p>
            <a:pPr algn="l">
              <a:lnSpc>
                <a:spcPct val="120000"/>
              </a:lnSpc>
              <a:spcBef>
                <a:spcPts val="300"/>
              </a:spcBef>
              <a:spcAft>
                <a:spcPts val="0"/>
              </a:spcAft>
            </a:pPr>
            <a:r>
              <a:rPr sz="880" b="0" i="0">
                <a:solidFill>
                  <a:srgbClr val="93A5B4"/>
                </a:solidFill>
                <a:latin typeface="Segoe UI"/>
              </a:rPr>
              <a:t>parties</a:t>
            </a:r>
          </a:p>
          <a:p>
            <a:pPr algn="l">
              <a:lnSpc>
                <a:spcPct val="118000"/>
              </a:lnSpc>
              <a:spcBef>
                <a:spcPts val="250"/>
              </a:spcBef>
              <a:spcAft>
                <a:spcPts val="0"/>
              </a:spcAft>
            </a:pPr>
            <a:r>
              <a:rPr sz="680" b="0" i="0" spc="120">
                <a:solidFill>
                  <a:srgbClr val="708392"/>
                </a:solidFill>
                <a:latin typeface="Segoe UI"/>
              </a:rPr>
              <a:t>CONTEXTE · CADRE · RÉSULTATS</a:t>
            </a:r>
          </a:p>
        </p:txBody>
      </p:sp>
      <p:sp>
        <p:nvSpPr>
          <p:cNvPr id="8" name="Rounded Rectangle 7"/>
          <p:cNvSpPr/>
          <p:nvPr/>
        </p:nvSpPr>
        <p:spPr>
          <a:xfrm>
            <a:off x="3413683" y="1353947"/>
            <a:ext cx="2609011" cy="1005840"/>
          </a:xfrm>
          <a:prstGeom prst="roundRect">
            <a:avLst>
              <a:gd name="adj" fmla="val 9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541699" y="1427099"/>
            <a:ext cx="2352979" cy="859536"/>
          </a:xfrm>
          <a:prstGeom prst="rect">
            <a:avLst/>
          </a:prstGeom>
          <a:noFill/>
        </p:spPr>
        <p:txBody>
          <a:bodyPr wrap="square" lIns="0" rIns="0" tIns="0" bIns="0" anchor="ctr">
            <a:spAutoFit/>
          </a:bodyPr>
          <a:lstStyle/>
          <a:p>
            <a:pPr>
              <a:lnSpc>
                <a:spcPct val="100000"/>
              </a:lnSpc>
            </a:pPr>
            <a:r>
              <a:rPr sz="2600">
                <a:solidFill>
                  <a:srgbClr val="F3EFE7"/>
                </a:solidFill>
                <a:latin typeface="Georgia"/>
              </a:rPr>
              <a:t>6</a:t>
            </a:r>
          </a:p>
          <a:p>
            <a:pPr algn="l">
              <a:lnSpc>
                <a:spcPct val="120000"/>
              </a:lnSpc>
              <a:spcBef>
                <a:spcPts val="300"/>
              </a:spcBef>
              <a:spcAft>
                <a:spcPts val="0"/>
              </a:spcAft>
            </a:pPr>
            <a:r>
              <a:rPr sz="880" b="0" i="0">
                <a:solidFill>
                  <a:srgbClr val="93A5B4"/>
                </a:solidFill>
                <a:latin typeface="Segoe UI"/>
              </a:rPr>
              <a:t>chapitres</a:t>
            </a:r>
          </a:p>
          <a:p>
            <a:pPr algn="l">
              <a:lnSpc>
                <a:spcPct val="118000"/>
              </a:lnSpc>
              <a:spcBef>
                <a:spcPts val="250"/>
              </a:spcBef>
              <a:spcAft>
                <a:spcPts val="0"/>
              </a:spcAft>
            </a:pPr>
            <a:r>
              <a:rPr sz="680" b="0" i="0" spc="120">
                <a:solidFill>
                  <a:srgbClr val="708392"/>
                </a:solidFill>
                <a:latin typeface="Segoe UI"/>
              </a:rPr>
              <a:t>PLAN HARMONISÉ</a:t>
            </a:r>
          </a:p>
        </p:txBody>
      </p:sp>
      <p:sp>
        <p:nvSpPr>
          <p:cNvPr id="10" name="Rounded Rectangle 9"/>
          <p:cNvSpPr/>
          <p:nvPr/>
        </p:nvSpPr>
        <p:spPr>
          <a:xfrm>
            <a:off x="6168999" y="1353947"/>
            <a:ext cx="2609011" cy="1005840"/>
          </a:xfrm>
          <a:prstGeom prst="roundRect">
            <a:avLst>
              <a:gd name="adj" fmla="val 9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297015" y="1427099"/>
            <a:ext cx="2352979" cy="859536"/>
          </a:xfrm>
          <a:prstGeom prst="rect">
            <a:avLst/>
          </a:prstGeom>
          <a:noFill/>
        </p:spPr>
        <p:txBody>
          <a:bodyPr wrap="square" lIns="0" rIns="0" tIns="0" bIns="0" anchor="ctr">
            <a:spAutoFit/>
          </a:bodyPr>
          <a:lstStyle/>
          <a:p>
            <a:pPr>
              <a:lnSpc>
                <a:spcPct val="100000"/>
              </a:lnSpc>
            </a:pPr>
            <a:r>
              <a:rPr sz="2600">
                <a:solidFill>
                  <a:srgbClr val="F3EFE7"/>
                </a:solidFill>
                <a:latin typeface="Georgia"/>
              </a:rPr>
              <a:t>77</a:t>
            </a:r>
          </a:p>
          <a:p>
            <a:pPr algn="l">
              <a:lnSpc>
                <a:spcPct val="120000"/>
              </a:lnSpc>
              <a:spcBef>
                <a:spcPts val="300"/>
              </a:spcBef>
              <a:spcAft>
                <a:spcPts val="0"/>
              </a:spcAft>
            </a:pPr>
            <a:r>
              <a:rPr sz="880" b="0" i="0">
                <a:solidFill>
                  <a:srgbClr val="93A5B4"/>
                </a:solidFill>
                <a:latin typeface="Segoe UI"/>
              </a:rPr>
              <a:t>sections numérotées</a:t>
            </a:r>
          </a:p>
          <a:p>
            <a:pPr algn="l">
              <a:lnSpc>
                <a:spcPct val="118000"/>
              </a:lnSpc>
              <a:spcBef>
                <a:spcPts val="250"/>
              </a:spcBef>
              <a:spcAft>
                <a:spcPts val="0"/>
              </a:spcAft>
            </a:pPr>
            <a:r>
              <a:rPr sz="680" b="0" i="0" spc="120">
                <a:solidFill>
                  <a:srgbClr val="708392"/>
                </a:solidFill>
                <a:latin typeface="Segoe UI"/>
              </a:rPr>
              <a:t>8 + 61 + 8</a:t>
            </a:r>
          </a:p>
        </p:txBody>
      </p:sp>
      <p:sp>
        <p:nvSpPr>
          <p:cNvPr id="12" name="Rounded Rectangle 11"/>
          <p:cNvSpPr/>
          <p:nvPr/>
        </p:nvSpPr>
        <p:spPr>
          <a:xfrm>
            <a:off x="8924315" y="1353947"/>
            <a:ext cx="2609011" cy="1005840"/>
          </a:xfrm>
          <a:prstGeom prst="roundRect">
            <a:avLst>
              <a:gd name="adj" fmla="val 9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052331" y="1427099"/>
            <a:ext cx="2352979" cy="859536"/>
          </a:xfrm>
          <a:prstGeom prst="rect">
            <a:avLst/>
          </a:prstGeom>
          <a:noFill/>
        </p:spPr>
        <p:txBody>
          <a:bodyPr wrap="square" lIns="0" rIns="0" tIns="0" bIns="0" anchor="ctr">
            <a:spAutoFit/>
          </a:bodyPr>
          <a:lstStyle/>
          <a:p>
            <a:pPr>
              <a:lnSpc>
                <a:spcPct val="100000"/>
              </a:lnSpc>
            </a:pPr>
            <a:r>
              <a:rPr sz="2600">
                <a:solidFill>
                  <a:srgbClr val="F3EFE7"/>
                </a:solidFill>
                <a:latin typeface="Georgia"/>
              </a:rPr>
              <a:t>4</a:t>
            </a:r>
          </a:p>
          <a:p>
            <a:pPr algn="l">
              <a:lnSpc>
                <a:spcPct val="120000"/>
              </a:lnSpc>
              <a:spcBef>
                <a:spcPts val="300"/>
              </a:spcBef>
              <a:spcAft>
                <a:spcPts val="0"/>
              </a:spcAft>
            </a:pPr>
            <a:r>
              <a:rPr sz="880" b="0" i="0">
                <a:solidFill>
                  <a:srgbClr val="93A5B4"/>
                </a:solidFill>
                <a:latin typeface="Segoe UI"/>
              </a:rPr>
              <a:t>questions spécifiques</a:t>
            </a:r>
          </a:p>
          <a:p>
            <a:pPr algn="l">
              <a:lnSpc>
                <a:spcPct val="118000"/>
              </a:lnSpc>
              <a:spcBef>
                <a:spcPts val="250"/>
              </a:spcBef>
              <a:spcAft>
                <a:spcPts val="0"/>
              </a:spcAft>
            </a:pPr>
            <a:r>
              <a:rPr sz="680" b="0" i="0" spc="120">
                <a:solidFill>
                  <a:srgbClr val="708392"/>
                </a:solidFill>
                <a:latin typeface="Segoe UI"/>
              </a:rPr>
              <a:t>QR1 – QR4</a:t>
            </a:r>
          </a:p>
        </p:txBody>
      </p:sp>
      <p:sp>
        <p:nvSpPr>
          <p:cNvPr id="14" name="Rounded Rectangle 13"/>
          <p:cNvSpPr/>
          <p:nvPr/>
        </p:nvSpPr>
        <p:spPr>
          <a:xfrm>
            <a:off x="658368" y="2487803"/>
            <a:ext cx="2609011" cy="1005840"/>
          </a:xfrm>
          <a:prstGeom prst="roundRect">
            <a:avLst>
              <a:gd name="adj" fmla="val 9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86384" y="2560955"/>
            <a:ext cx="2352979" cy="859536"/>
          </a:xfrm>
          <a:prstGeom prst="rect">
            <a:avLst/>
          </a:prstGeom>
          <a:noFill/>
        </p:spPr>
        <p:txBody>
          <a:bodyPr wrap="square" lIns="0" rIns="0" tIns="0" bIns="0" anchor="ctr">
            <a:spAutoFit/>
          </a:bodyPr>
          <a:lstStyle/>
          <a:p>
            <a:pPr>
              <a:lnSpc>
                <a:spcPct val="100000"/>
              </a:lnSpc>
            </a:pPr>
            <a:r>
              <a:rPr sz="2600">
                <a:solidFill>
                  <a:srgbClr val="F3EFE7"/>
                </a:solidFill>
                <a:latin typeface="Georgia"/>
              </a:rPr>
              <a:t>7</a:t>
            </a:r>
          </a:p>
          <a:p>
            <a:pPr algn="l">
              <a:lnSpc>
                <a:spcPct val="120000"/>
              </a:lnSpc>
              <a:spcBef>
                <a:spcPts val="300"/>
              </a:spcBef>
              <a:spcAft>
                <a:spcPts val="0"/>
              </a:spcAft>
            </a:pPr>
            <a:r>
              <a:rPr sz="880" b="0" i="0">
                <a:solidFill>
                  <a:srgbClr val="93A5B4"/>
                </a:solidFill>
                <a:latin typeface="Segoe UI"/>
              </a:rPr>
              <a:t>propositions</a:t>
            </a:r>
          </a:p>
          <a:p>
            <a:pPr algn="l">
              <a:lnSpc>
                <a:spcPct val="118000"/>
              </a:lnSpc>
              <a:spcBef>
                <a:spcPts val="250"/>
              </a:spcBef>
              <a:spcAft>
                <a:spcPts val="0"/>
              </a:spcAft>
            </a:pPr>
            <a:r>
              <a:rPr sz="680" b="0" i="0" spc="120">
                <a:solidFill>
                  <a:srgbClr val="708392"/>
                </a:solidFill>
                <a:latin typeface="Segoe UI"/>
              </a:rPr>
              <a:t>P1 – P7</a:t>
            </a:r>
          </a:p>
        </p:txBody>
      </p:sp>
      <p:sp>
        <p:nvSpPr>
          <p:cNvPr id="16" name="Rounded Rectangle 15"/>
          <p:cNvSpPr/>
          <p:nvPr/>
        </p:nvSpPr>
        <p:spPr>
          <a:xfrm>
            <a:off x="3413683" y="2487803"/>
            <a:ext cx="2609011" cy="1005840"/>
          </a:xfrm>
          <a:prstGeom prst="roundRect">
            <a:avLst>
              <a:gd name="adj" fmla="val 9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541699" y="2560955"/>
            <a:ext cx="2352979" cy="859536"/>
          </a:xfrm>
          <a:prstGeom prst="rect">
            <a:avLst/>
          </a:prstGeom>
          <a:noFill/>
        </p:spPr>
        <p:txBody>
          <a:bodyPr wrap="square" lIns="0" rIns="0" tIns="0" bIns="0" anchor="ctr">
            <a:spAutoFit/>
          </a:bodyPr>
          <a:lstStyle/>
          <a:p>
            <a:pPr>
              <a:lnSpc>
                <a:spcPct val="100000"/>
              </a:lnSpc>
            </a:pPr>
            <a:r>
              <a:rPr sz="2600">
                <a:solidFill>
                  <a:srgbClr val="F3EFE7"/>
                </a:solidFill>
                <a:latin typeface="Georgia"/>
              </a:rPr>
              <a:t>40</a:t>
            </a:r>
          </a:p>
          <a:p>
            <a:pPr algn="l">
              <a:lnSpc>
                <a:spcPct val="120000"/>
              </a:lnSpc>
              <a:spcBef>
                <a:spcPts val="300"/>
              </a:spcBef>
              <a:spcAft>
                <a:spcPts val="0"/>
              </a:spcAft>
            </a:pPr>
            <a:r>
              <a:rPr sz="880" b="0" i="0">
                <a:solidFill>
                  <a:srgbClr val="93A5B4"/>
                </a:solidFill>
                <a:latin typeface="Segoe UI"/>
              </a:rPr>
              <a:t>supports retenus</a:t>
            </a:r>
          </a:p>
          <a:p>
            <a:pPr algn="l">
              <a:lnSpc>
                <a:spcPct val="118000"/>
              </a:lnSpc>
              <a:spcBef>
                <a:spcPts val="250"/>
              </a:spcBef>
              <a:spcAft>
                <a:spcPts val="0"/>
              </a:spcAft>
            </a:pPr>
            <a:r>
              <a:rPr sz="680" b="0" i="0" spc="120">
                <a:solidFill>
                  <a:srgbClr val="708392"/>
                </a:solidFill>
                <a:latin typeface="Segoe UI"/>
              </a:rPr>
              <a:t>27 TABLEAUX · 13 FIGURES</a:t>
            </a:r>
          </a:p>
        </p:txBody>
      </p:sp>
      <p:sp>
        <p:nvSpPr>
          <p:cNvPr id="18" name="Rounded Rectangle 17"/>
          <p:cNvSpPr/>
          <p:nvPr/>
        </p:nvSpPr>
        <p:spPr>
          <a:xfrm>
            <a:off x="6168999" y="2487803"/>
            <a:ext cx="2609011" cy="1005840"/>
          </a:xfrm>
          <a:prstGeom prst="roundRect">
            <a:avLst>
              <a:gd name="adj" fmla="val 9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297015" y="2560955"/>
            <a:ext cx="2352979" cy="859536"/>
          </a:xfrm>
          <a:prstGeom prst="rect">
            <a:avLst/>
          </a:prstGeom>
          <a:noFill/>
        </p:spPr>
        <p:txBody>
          <a:bodyPr wrap="square" lIns="0" rIns="0" tIns="0" bIns="0" anchor="ctr">
            <a:spAutoFit/>
          </a:bodyPr>
          <a:lstStyle/>
          <a:p>
            <a:pPr>
              <a:lnSpc>
                <a:spcPct val="100000"/>
              </a:lnSpc>
            </a:pPr>
            <a:r>
              <a:rPr sz="2600">
                <a:solidFill>
                  <a:srgbClr val="F3EFE7"/>
                </a:solidFill>
                <a:latin typeface="Georgia"/>
              </a:rPr>
              <a:t>5</a:t>
            </a:r>
          </a:p>
          <a:p>
            <a:pPr algn="l">
              <a:lnSpc>
                <a:spcPct val="120000"/>
              </a:lnSpc>
              <a:spcBef>
                <a:spcPts val="300"/>
              </a:spcBef>
              <a:spcAft>
                <a:spcPts val="0"/>
              </a:spcAft>
            </a:pPr>
            <a:r>
              <a:rPr sz="880" b="0" i="0">
                <a:solidFill>
                  <a:srgbClr val="93A5B4"/>
                </a:solidFill>
                <a:latin typeface="Segoe UI"/>
              </a:rPr>
              <a:t>cas</a:t>
            </a:r>
          </a:p>
          <a:p>
            <a:pPr algn="l">
              <a:lnSpc>
                <a:spcPct val="118000"/>
              </a:lnSpc>
              <a:spcBef>
                <a:spcPts val="250"/>
              </a:spcBef>
              <a:spcAft>
                <a:spcPts val="0"/>
              </a:spcAft>
            </a:pPr>
            <a:r>
              <a:rPr sz="680" b="0" i="0" spc="120">
                <a:solidFill>
                  <a:srgbClr val="708392"/>
                </a:solidFill>
                <a:latin typeface="Segoe UI"/>
              </a:rPr>
              <a:t>EPES-A À EPES-E</a:t>
            </a:r>
          </a:p>
        </p:txBody>
      </p:sp>
      <p:sp>
        <p:nvSpPr>
          <p:cNvPr id="20" name="Rounded Rectangle 19"/>
          <p:cNvSpPr/>
          <p:nvPr/>
        </p:nvSpPr>
        <p:spPr>
          <a:xfrm>
            <a:off x="8924315" y="2487803"/>
            <a:ext cx="2609011" cy="1005840"/>
          </a:xfrm>
          <a:prstGeom prst="roundRect">
            <a:avLst>
              <a:gd name="adj" fmla="val 9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052331" y="2560955"/>
            <a:ext cx="2352979" cy="859536"/>
          </a:xfrm>
          <a:prstGeom prst="rect">
            <a:avLst/>
          </a:prstGeom>
          <a:noFill/>
        </p:spPr>
        <p:txBody>
          <a:bodyPr wrap="square" lIns="0" rIns="0" tIns="0" bIns="0" anchor="ctr">
            <a:spAutoFit/>
          </a:bodyPr>
          <a:lstStyle/>
          <a:p>
            <a:pPr>
              <a:lnSpc>
                <a:spcPct val="100000"/>
              </a:lnSpc>
            </a:pPr>
            <a:r>
              <a:rPr sz="2600">
                <a:solidFill>
                  <a:srgbClr val="F3EFE7"/>
                </a:solidFill>
                <a:latin typeface="Georgia"/>
              </a:rPr>
              <a:t>45</a:t>
            </a:r>
          </a:p>
          <a:p>
            <a:pPr algn="l">
              <a:lnSpc>
                <a:spcPct val="120000"/>
              </a:lnSpc>
              <a:spcBef>
                <a:spcPts val="300"/>
              </a:spcBef>
              <a:spcAft>
                <a:spcPts val="0"/>
              </a:spcAft>
            </a:pPr>
            <a:r>
              <a:rPr sz="880" b="0" i="0">
                <a:solidFill>
                  <a:srgbClr val="93A5B4"/>
                </a:solidFill>
                <a:latin typeface="Segoe UI"/>
              </a:rPr>
              <a:t>participants prévus</a:t>
            </a:r>
          </a:p>
          <a:p>
            <a:pPr algn="l">
              <a:lnSpc>
                <a:spcPct val="118000"/>
              </a:lnSpc>
              <a:spcBef>
                <a:spcPts val="250"/>
              </a:spcBef>
              <a:spcAft>
                <a:spcPts val="0"/>
              </a:spcAft>
            </a:pPr>
            <a:r>
              <a:rPr sz="680" b="0" i="0" spc="120">
                <a:solidFill>
                  <a:srgbClr val="708392"/>
                </a:solidFill>
                <a:latin typeface="Segoe UI"/>
              </a:rPr>
              <a:t>15 · 20 · 10</a:t>
            </a:r>
          </a:p>
        </p:txBody>
      </p:sp>
      <p:sp>
        <p:nvSpPr>
          <p:cNvPr id="22" name="Rounded Rectangle 21"/>
          <p:cNvSpPr/>
          <p:nvPr/>
        </p:nvSpPr>
        <p:spPr>
          <a:xfrm>
            <a:off x="658368" y="3786251"/>
            <a:ext cx="3515258" cy="1115568"/>
          </a:xfrm>
          <a:prstGeom prst="roundRect">
            <a:avLst>
              <a:gd name="adj" fmla="val 7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41247" y="3895979"/>
            <a:ext cx="3149498" cy="914400"/>
          </a:xfrm>
          <a:prstGeom prst="rect">
            <a:avLst/>
          </a:prstGeom>
          <a:noFill/>
        </p:spPr>
        <p:txBody>
          <a:bodyPr wrap="square" lIns="0" rIns="0" tIns="0" bIns="0" anchor="ctr">
            <a:spAutoFit/>
          </a:bodyPr>
          <a:lstStyle/>
          <a:p>
            <a:pPr algn="l">
              <a:lnSpc>
                <a:spcPct val="100000"/>
              </a:lnSpc>
              <a:spcBef>
                <a:spcPts val="0"/>
              </a:spcBef>
              <a:spcAft>
                <a:spcPts val="400"/>
              </a:spcAft>
            </a:pPr>
            <a:r>
              <a:rPr sz="1700" b="0" i="0">
                <a:solidFill>
                  <a:srgbClr val="E3C485"/>
                </a:solidFill>
                <a:latin typeface="Georgia"/>
              </a:rPr>
              <a:t>115</a:t>
            </a:r>
          </a:p>
          <a:p>
            <a:pPr algn="l">
              <a:lnSpc>
                <a:spcPct val="128000"/>
              </a:lnSpc>
              <a:spcBef>
                <a:spcPts val="0"/>
              </a:spcBef>
              <a:spcAft>
                <a:spcPts val="0"/>
              </a:spcAft>
            </a:pPr>
            <a:r>
              <a:rPr sz="860" b="0" i="0">
                <a:solidFill>
                  <a:srgbClr val="93A5B4"/>
                </a:solidFill>
                <a:latin typeface="Segoe UI"/>
              </a:rPr>
              <a:t>supports dans le programme de travail initial (76 tableaux, 39 figures).</a:t>
            </a:r>
          </a:p>
        </p:txBody>
      </p:sp>
      <p:sp>
        <p:nvSpPr>
          <p:cNvPr id="24" name="Rounded Rectangle 23"/>
          <p:cNvSpPr/>
          <p:nvPr/>
        </p:nvSpPr>
        <p:spPr>
          <a:xfrm>
            <a:off x="4338218" y="3786251"/>
            <a:ext cx="3515258" cy="1115568"/>
          </a:xfrm>
          <a:prstGeom prst="roundRect">
            <a:avLst>
              <a:gd name="adj" fmla="val 7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4521098" y="3895979"/>
            <a:ext cx="3149498" cy="914400"/>
          </a:xfrm>
          <a:prstGeom prst="rect">
            <a:avLst/>
          </a:prstGeom>
          <a:noFill/>
        </p:spPr>
        <p:txBody>
          <a:bodyPr wrap="square" lIns="0" rIns="0" tIns="0" bIns="0" anchor="ctr">
            <a:spAutoFit/>
          </a:bodyPr>
          <a:lstStyle/>
          <a:p>
            <a:pPr algn="l">
              <a:lnSpc>
                <a:spcPct val="100000"/>
              </a:lnSpc>
              <a:spcBef>
                <a:spcPts val="0"/>
              </a:spcBef>
              <a:spcAft>
                <a:spcPts val="400"/>
              </a:spcAft>
            </a:pPr>
            <a:r>
              <a:rPr sz="1700" b="0" i="0">
                <a:solidFill>
                  <a:srgbClr val="E3C485"/>
                </a:solidFill>
                <a:latin typeface="Georgia"/>
              </a:rPr>
              <a:t>14</a:t>
            </a:r>
          </a:p>
          <a:p>
            <a:pPr algn="l">
              <a:lnSpc>
                <a:spcPct val="128000"/>
              </a:lnSpc>
              <a:spcBef>
                <a:spcPts val="0"/>
              </a:spcBef>
              <a:spcAft>
                <a:spcPts val="0"/>
              </a:spcAft>
            </a:pPr>
            <a:r>
              <a:rPr sz="860" b="0" i="0">
                <a:solidFill>
                  <a:srgbClr val="93A5B4"/>
                </a:solidFill>
                <a:latin typeface="Segoe UI"/>
              </a:rPr>
              <a:t>questions du guide d'entretien semi-directif harmonisé (annexe A).</a:t>
            </a:r>
          </a:p>
        </p:txBody>
      </p:sp>
      <p:sp>
        <p:nvSpPr>
          <p:cNvPr id="26" name="Rounded Rectangle 25"/>
          <p:cNvSpPr/>
          <p:nvPr/>
        </p:nvSpPr>
        <p:spPr>
          <a:xfrm>
            <a:off x="8018068" y="3786251"/>
            <a:ext cx="3515258" cy="1115568"/>
          </a:xfrm>
          <a:prstGeom prst="roundRect">
            <a:avLst>
              <a:gd name="adj" fmla="val 70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200948" y="3895979"/>
            <a:ext cx="3149498" cy="914400"/>
          </a:xfrm>
          <a:prstGeom prst="rect">
            <a:avLst/>
          </a:prstGeom>
          <a:noFill/>
        </p:spPr>
        <p:txBody>
          <a:bodyPr wrap="square" lIns="0" rIns="0" tIns="0" bIns="0" anchor="ctr">
            <a:spAutoFit/>
          </a:bodyPr>
          <a:lstStyle/>
          <a:p>
            <a:pPr algn="l">
              <a:lnSpc>
                <a:spcPct val="100000"/>
              </a:lnSpc>
              <a:spcBef>
                <a:spcPts val="0"/>
              </a:spcBef>
              <a:spcAft>
                <a:spcPts val="400"/>
              </a:spcAft>
            </a:pPr>
            <a:r>
              <a:rPr sz="1700" b="0" i="0">
                <a:solidFill>
                  <a:srgbClr val="E3C485"/>
                </a:solidFill>
                <a:latin typeface="Georgia"/>
              </a:rPr>
              <a:t>11</a:t>
            </a:r>
          </a:p>
          <a:p>
            <a:pPr algn="l">
              <a:lnSpc>
                <a:spcPct val="128000"/>
              </a:lnSpc>
              <a:spcBef>
                <a:spcPts val="0"/>
              </a:spcBef>
              <a:spcAft>
                <a:spcPts val="0"/>
              </a:spcAft>
            </a:pPr>
            <a:r>
              <a:rPr sz="860" b="0" i="0">
                <a:solidFill>
                  <a:srgbClr val="93A5B4"/>
                </a:solidFill>
                <a:latin typeface="Segoe UI"/>
              </a:rPr>
              <a:t>annexes, de A à K, dont le dictionnaire de codes et les matrices de saturation.</a:t>
            </a:r>
          </a:p>
        </p:txBody>
      </p:sp>
      <p:sp>
        <p:nvSpPr>
          <p:cNvPr id="28" name="TextBox 27"/>
          <p:cNvSpPr txBox="1"/>
          <p:nvPr/>
        </p:nvSpPr>
        <p:spPr>
          <a:xfrm>
            <a:off x="658368" y="5029835"/>
            <a:ext cx="10874959" cy="548640"/>
          </a:xfrm>
          <a:prstGeom prst="rect">
            <a:avLst/>
          </a:prstGeom>
          <a:noFill/>
        </p:spPr>
        <p:txBody>
          <a:bodyPr wrap="square" lIns="0" rIns="0" tIns="0" bIns="0" anchor="t">
            <a:spAutoFit/>
          </a:bodyPr>
          <a:lstStyle/>
          <a:p>
            <a:pPr algn="l">
              <a:lnSpc>
                <a:spcPct val="130000"/>
              </a:lnSpc>
              <a:spcBef>
                <a:spcPts val="0"/>
              </a:spcBef>
              <a:spcAft>
                <a:spcPts val="0"/>
              </a:spcAft>
            </a:pPr>
            <a:r>
              <a:rPr sz="880" b="0" i="0">
                <a:solidFill>
                  <a:srgbClr val="93A5B4"/>
                </a:solidFill>
                <a:latin typeface="Segoe UI"/>
              </a:rPr>
              <a:t>Aucun de ces nombres n'est une estimation : ils sont décomptés sur le plan général harmonisé et la liste unique des supports (septembre 2026). Les effectifs de terrain restent prévisionnels jusqu'à la clôture du corpus.</a:t>
            </a:r>
          </a:p>
        </p:txBody>
      </p:sp>
      <p:sp>
        <p:nvSpPr>
          <p:cNvPr id="29" name="Rectangle 28"/>
          <p:cNvSpPr/>
          <p:nvPr/>
        </p:nvSpPr>
        <p:spPr>
          <a:xfrm>
            <a:off x="658368" y="6199632"/>
            <a:ext cx="10874959" cy="7315"/>
          </a:xfrm>
          <a:prstGeom prst="rect">
            <a:avLst/>
          </a:prstGeom>
          <a:solidFill>
            <a:srgbClr val="2734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58368" y="6291072"/>
            <a:ext cx="10189159" cy="457200"/>
          </a:xfrm>
          <a:prstGeom prst="rect">
            <a:avLst/>
          </a:prstGeom>
          <a:noFill/>
        </p:spPr>
        <p:txBody>
          <a:bodyPr wrap="square" lIns="0" rIns="0" tIns="0" bIns="0" anchor="t">
            <a:spAutoFit/>
          </a:bodyPr>
          <a:lstStyle/>
          <a:p>
            <a:pPr algn="l">
              <a:lnSpc>
                <a:spcPct val="110000"/>
              </a:lnSpc>
              <a:spcBef>
                <a:spcPts val="0"/>
              </a:spcBef>
              <a:spcAft>
                <a:spcPts val="0"/>
              </a:spcAft>
            </a:pPr>
            <a:r>
              <a:rPr sz="740" b="1">
                <a:solidFill>
                  <a:srgbClr val="93A5B4"/>
                </a:solidFill>
                <a:latin typeface="Segoe UI"/>
              </a:rPr>
              <a:t>Sources : </a:t>
            </a:r>
            <a:r>
              <a:rPr sz="740" b="0">
                <a:solidFill>
                  <a:srgbClr val="708392"/>
                </a:solidFill>
                <a:latin typeface="Segoe UI"/>
              </a:rPr>
              <a:t>plan général harmonisé (architecture, questions, propositions, annexes) ; liste unique synthétisée des tableaux et figures ; § 4.3 pour l'échantillon prévisionnel.</a:t>
            </a:r>
          </a:p>
        </p:txBody>
      </p:sp>
      <p:sp>
        <p:nvSpPr>
          <p:cNvPr id="31" name="TextBox 30"/>
          <p:cNvSpPr txBox="1"/>
          <p:nvPr/>
        </p:nvSpPr>
        <p:spPr>
          <a:xfrm>
            <a:off x="10874959" y="6291072"/>
            <a:ext cx="658368" cy="274320"/>
          </a:xfrm>
          <a:prstGeom prst="rect">
            <a:avLst/>
          </a:prstGeom>
          <a:noFill/>
        </p:spPr>
        <p:txBody>
          <a:bodyPr wrap="square" lIns="0" rIns="0" tIns="0" bIns="0" anchor="t">
            <a:spAutoFit/>
          </a:bodyPr>
          <a:lstStyle/>
          <a:p>
            <a:pPr algn="r">
              <a:lnSpc>
                <a:spcPct val="118000"/>
              </a:lnSpc>
              <a:spcBef>
                <a:spcPts val="0"/>
              </a:spcBef>
              <a:spcAft>
                <a:spcPts val="0"/>
              </a:spcAft>
            </a:pPr>
            <a:r>
              <a:rPr sz="800" b="0" i="0">
                <a:solidFill>
                  <a:srgbClr val="93A5B4"/>
                </a:solidFill>
                <a:latin typeface="Consolas"/>
              </a:rPr>
              <a:t>24 / 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1C26"/>
              </a:gs>
              <a:gs pos="100000">
                <a:srgbClr val="0B101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828739"/>
            <a:ext cx="12191695" cy="29260"/>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75488"/>
            <a:ext cx="10874959"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spc="160">
                <a:solidFill>
                  <a:srgbClr val="E3C485"/>
                </a:solidFill>
                <a:latin typeface="Segoe UI"/>
              </a:rPr>
              <a:t>PROCHAINES ÉTAPES</a:t>
            </a:r>
          </a:p>
        </p:txBody>
      </p:sp>
      <p:sp>
        <p:nvSpPr>
          <p:cNvPr id="5" name="TextBox 4"/>
          <p:cNvSpPr txBox="1"/>
          <p:nvPr/>
        </p:nvSpPr>
        <p:spPr>
          <a:xfrm>
            <a:off x="658368" y="713232"/>
            <a:ext cx="10692079" cy="914400"/>
          </a:xfrm>
          <a:prstGeom prst="rect">
            <a:avLst/>
          </a:prstGeom>
          <a:noFill/>
        </p:spPr>
        <p:txBody>
          <a:bodyPr wrap="square" lIns="0" rIns="0" tIns="0" bIns="0" anchor="t">
            <a:spAutoFit/>
          </a:bodyPr>
          <a:lstStyle/>
          <a:p>
            <a:pPr>
              <a:lnSpc>
                <a:spcPct val="105000"/>
              </a:lnSpc>
            </a:pPr>
            <a:r>
              <a:rPr sz="2450" b="0">
                <a:solidFill>
                  <a:srgbClr val="F3EFE7"/>
                </a:solidFill>
                <a:latin typeface="Georgia"/>
              </a:rPr>
              <a:t>Ce qui reste à produire, dans l'ordre des blocages</a:t>
            </a:r>
          </a:p>
        </p:txBody>
      </p:sp>
      <p:graphicFrame>
        <p:nvGraphicFramePr>
          <p:cNvPr id="6" name="Table 5"/>
          <p:cNvGraphicFramePr>
            <a:graphicFrameLocks noGrp="1"/>
          </p:cNvGraphicFramePr>
          <p:nvPr/>
        </p:nvGraphicFramePr>
        <p:xfrm>
          <a:off x="658368" y="1353947"/>
          <a:ext cx="10874957" cy="3072384"/>
        </p:xfrm>
        <a:graphic>
          <a:graphicData uri="http://schemas.openxmlformats.org/drawingml/2006/table">
            <a:tbl>
              <a:tblPr firstRow="1">
                <a:tableStyleId>{5C22544A-7EE6-4342-B048-85BDC9FD1C3A}</a:tableStyleId>
              </a:tblPr>
              <a:tblGrid>
                <a:gridCol w="489863"/>
                <a:gridCol w="3233095"/>
                <a:gridCol w="5290520"/>
                <a:gridCol w="1861479"/>
              </a:tblGrid>
              <a:tr h="512064">
                <a:tc>
                  <a:txBody>
                    <a:bodyPr wrap="square"/>
                    <a:lstStyle/>
                    <a:p>
                      <a:pPr>
                        <a:lnSpc>
                          <a:spcPct val="112000"/>
                        </a:lnSpc>
                      </a:pPr>
                      <a:r>
                        <a:rPr sz="780" b="1" spc="110">
                          <a:solidFill>
                            <a:srgbClr val="93A5B4"/>
                          </a:solidFill>
                          <a:latin typeface="Segoe UI"/>
                        </a:rPr>
                        <a:t>#</a:t>
                      </a:r>
                    </a:p>
                  </a:txBody>
                  <a:tcPr marL="91440" marR="91440" marT="27432" marB="27432" anchor="ctr">
                    <a:solidFill>
                      <a:srgbClr val="1E2A36"/>
                    </a:solidFill>
                  </a:tcPr>
                </a:tc>
                <a:tc>
                  <a:txBody>
                    <a:bodyPr wrap="square"/>
                    <a:lstStyle/>
                    <a:p>
                      <a:pPr>
                        <a:lnSpc>
                          <a:spcPct val="112000"/>
                        </a:lnSpc>
                      </a:pPr>
                      <a:r>
                        <a:rPr sz="780" b="1" spc="110">
                          <a:solidFill>
                            <a:srgbClr val="93A5B4"/>
                          </a:solidFill>
                          <a:latin typeface="Segoe UI"/>
                        </a:rPr>
                        <a:t>CHANTIER</a:t>
                      </a:r>
                    </a:p>
                  </a:txBody>
                  <a:tcPr marL="91440" marR="91440" marT="27432" marB="27432" anchor="ctr">
                    <a:solidFill>
                      <a:srgbClr val="1E2A36"/>
                    </a:solidFill>
                  </a:tcPr>
                </a:tc>
                <a:tc>
                  <a:txBody>
                    <a:bodyPr wrap="square"/>
                    <a:lstStyle/>
                    <a:p>
                      <a:pPr>
                        <a:lnSpc>
                          <a:spcPct val="112000"/>
                        </a:lnSpc>
                      </a:pPr>
                      <a:r>
                        <a:rPr sz="780" b="1" spc="110">
                          <a:solidFill>
                            <a:srgbClr val="93A5B4"/>
                          </a:solidFill>
                          <a:latin typeface="Segoe UI"/>
                        </a:rPr>
                        <a:t>CONTENU ATTENDU</a:t>
                      </a:r>
                    </a:p>
                  </a:txBody>
                  <a:tcPr marL="91440" marR="91440" marT="27432" marB="27432" anchor="ctr">
                    <a:solidFill>
                      <a:srgbClr val="1E2A36"/>
                    </a:solidFill>
                  </a:tcPr>
                </a:tc>
                <a:tc>
                  <a:txBody>
                    <a:bodyPr wrap="square"/>
                    <a:lstStyle/>
                    <a:p>
                      <a:pPr>
                        <a:lnSpc>
                          <a:spcPct val="112000"/>
                        </a:lnSpc>
                      </a:pPr>
                      <a:r>
                        <a:rPr sz="780" b="1" spc="110">
                          <a:solidFill>
                            <a:srgbClr val="93A5B4"/>
                          </a:solidFill>
                          <a:latin typeface="Segoe UI"/>
                        </a:rPr>
                        <a:t>STATUT</a:t>
                      </a:r>
                    </a:p>
                  </a:txBody>
                  <a:tcPr marL="91440" marR="91440" marT="27432" marB="27432" anchor="ctr">
                    <a:solidFill>
                      <a:srgbClr val="1E2A36"/>
                    </a:solidFill>
                  </a:tcPr>
                </a:tc>
              </a:tr>
              <a:tr h="512064">
                <a:tc>
                  <a:txBody>
                    <a:bodyPr wrap="square"/>
                    <a:lstStyle/>
                    <a:p>
                      <a:pPr>
                        <a:lnSpc>
                          <a:spcPct val="112000"/>
                        </a:lnSpc>
                      </a:pPr>
                      <a:r>
                        <a:rPr sz="980" b="1">
                          <a:solidFill>
                            <a:srgbClr val="E3C485"/>
                          </a:solidFill>
                          <a:latin typeface="Consolas"/>
                        </a:rPr>
                        <a:t>1</a:t>
                      </a:r>
                    </a:p>
                  </a:txBody>
                  <a:tcPr marL="91440" marR="91440" marT="27432" marB="27432" anchor="ctr">
                    <a:solidFill>
                      <a:srgbClr val="121C26"/>
                    </a:solidFill>
                  </a:tcPr>
                </a:tc>
                <a:tc>
                  <a:txBody>
                    <a:bodyPr wrap="square"/>
                    <a:lstStyle/>
                    <a:p>
                      <a:pPr>
                        <a:lnSpc>
                          <a:spcPct val="112000"/>
                        </a:lnSpc>
                      </a:pPr>
                      <a:r>
                        <a:rPr sz="980">
                          <a:solidFill>
                            <a:srgbClr val="D5D0C5"/>
                          </a:solidFill>
                          <a:latin typeface="Segoe UI"/>
                        </a:rPr>
                        <a:t>Protocole de cas (annexes C–D)</a:t>
                      </a:r>
                    </a:p>
                  </a:txBody>
                  <a:tcPr marL="91440" marR="91440" marT="27432" marB="27432" anchor="ctr">
                    <a:solidFill>
                      <a:srgbClr val="121C26"/>
                    </a:solidFill>
                  </a:tcPr>
                </a:tc>
                <a:tc>
                  <a:txBody>
                    <a:bodyPr wrap="square"/>
                    <a:lstStyle/>
                    <a:p>
                      <a:pPr>
                        <a:lnSpc>
                          <a:spcPct val="112000"/>
                        </a:lnSpc>
                      </a:pPr>
                      <a:r>
                        <a:rPr sz="980">
                          <a:solidFill>
                            <a:srgbClr val="D5D0C5"/>
                          </a:solidFill>
                          <a:latin typeface="Segoe UI"/>
                        </a:rPr>
                        <a:t>Grilles d'observation, règles de saturation, conventions datées</a:t>
                      </a:r>
                    </a:p>
                  </a:txBody>
                  <a:tcPr marL="91440" marR="91440" marT="27432" marB="27432" anchor="ctr">
                    <a:solidFill>
                      <a:srgbClr val="121C26"/>
                    </a:solidFill>
                  </a:tcPr>
                </a:tc>
                <a:tc>
                  <a:txBody>
                    <a:bodyPr wrap="square"/>
                    <a:lstStyle/>
                    <a:p>
                      <a:pPr>
                        <a:lnSpc>
                          <a:spcPct val="112000"/>
                        </a:lnSpc>
                      </a:pPr>
                      <a:r>
                        <a:rPr sz="980">
                          <a:solidFill>
                            <a:srgbClr val="D5D0C5"/>
                          </a:solidFill>
                          <a:latin typeface="Segoe UI"/>
                        </a:rPr>
                        <a:t>En cours</a:t>
                      </a:r>
                    </a:p>
                  </a:txBody>
                  <a:tcPr marL="91440" marR="91440" marT="27432" marB="27432" anchor="ctr">
                    <a:solidFill>
                      <a:srgbClr val="121C26"/>
                    </a:solidFill>
                  </a:tcPr>
                </a:tc>
              </a:tr>
              <a:tr h="512064">
                <a:tc>
                  <a:txBody>
                    <a:bodyPr wrap="square"/>
                    <a:lstStyle/>
                    <a:p>
                      <a:pPr>
                        <a:lnSpc>
                          <a:spcPct val="112000"/>
                        </a:lnSpc>
                      </a:pPr>
                      <a:r>
                        <a:rPr sz="980" b="1">
                          <a:solidFill>
                            <a:srgbClr val="E3C485"/>
                          </a:solidFill>
                          <a:latin typeface="Consolas"/>
                        </a:rPr>
                        <a:t>2</a:t>
                      </a:r>
                    </a:p>
                  </a:txBody>
                  <a:tcPr marL="91440" marR="91440" marT="27432" marB="27432" anchor="ctr">
                    <a:solidFill>
                      <a:srgbClr val="16212C"/>
                    </a:solidFill>
                  </a:tcPr>
                </a:tc>
                <a:tc>
                  <a:txBody>
                    <a:bodyPr wrap="square"/>
                    <a:lstStyle/>
                    <a:p>
                      <a:pPr>
                        <a:lnSpc>
                          <a:spcPct val="112000"/>
                        </a:lnSpc>
                      </a:pPr>
                      <a:r>
                        <a:rPr sz="980">
                          <a:solidFill>
                            <a:srgbClr val="D5D0C5"/>
                          </a:solidFill>
                          <a:latin typeface="Segoe UI"/>
                        </a:rPr>
                        <a:t>Dictionnaire de codes (annexe F)</a:t>
                      </a:r>
                    </a:p>
                  </a:txBody>
                  <a:tcPr marL="91440" marR="91440" marT="27432" marB="27432" anchor="ctr">
                    <a:solidFill>
                      <a:srgbClr val="16212C"/>
                    </a:solidFill>
                  </a:tcPr>
                </a:tc>
                <a:tc>
                  <a:txBody>
                    <a:bodyPr wrap="square"/>
                    <a:lstStyle/>
                    <a:p>
                      <a:pPr>
                        <a:lnSpc>
                          <a:spcPct val="112000"/>
                        </a:lnSpc>
                      </a:pPr>
                      <a:r>
                        <a:rPr sz="980">
                          <a:solidFill>
                            <a:srgbClr val="D5D0C5"/>
                          </a:solidFill>
                          <a:latin typeface="Segoe UI"/>
                        </a:rPr>
                        <a:t>Codes déductifs et inductifs, arborescence NVivo, historique des versions</a:t>
                      </a:r>
                    </a:p>
                  </a:txBody>
                  <a:tcPr marL="91440" marR="91440" marT="27432" marB="27432" anchor="ctr">
                    <a:solidFill>
                      <a:srgbClr val="16212C"/>
                    </a:solidFill>
                  </a:tcPr>
                </a:tc>
                <a:tc>
                  <a:txBody>
                    <a:bodyPr wrap="square"/>
                    <a:lstStyle/>
                    <a:p>
                      <a:pPr>
                        <a:lnSpc>
                          <a:spcPct val="112000"/>
                        </a:lnSpc>
                      </a:pPr>
                      <a:r>
                        <a:rPr sz="980">
                          <a:solidFill>
                            <a:srgbClr val="D5D0C5"/>
                          </a:solidFill>
                          <a:latin typeface="Segoe UI"/>
                        </a:rPr>
                        <a:t>À finaliser</a:t>
                      </a:r>
                    </a:p>
                  </a:txBody>
                  <a:tcPr marL="91440" marR="91440" marT="27432" marB="27432" anchor="ctr">
                    <a:solidFill>
                      <a:srgbClr val="16212C"/>
                    </a:solidFill>
                  </a:tcPr>
                </a:tc>
              </a:tr>
              <a:tr h="512064">
                <a:tc>
                  <a:txBody>
                    <a:bodyPr wrap="square"/>
                    <a:lstStyle/>
                    <a:p>
                      <a:pPr>
                        <a:lnSpc>
                          <a:spcPct val="112000"/>
                        </a:lnSpc>
                      </a:pPr>
                      <a:r>
                        <a:rPr sz="980" b="1">
                          <a:solidFill>
                            <a:srgbClr val="E3C485"/>
                          </a:solidFill>
                          <a:latin typeface="Consolas"/>
                        </a:rPr>
                        <a:t>3</a:t>
                      </a:r>
                    </a:p>
                  </a:txBody>
                  <a:tcPr marL="91440" marR="91440" marT="27432" marB="27432" anchor="ctr">
                    <a:solidFill>
                      <a:srgbClr val="121C26"/>
                    </a:solidFill>
                  </a:tcPr>
                </a:tc>
                <a:tc>
                  <a:txBody>
                    <a:bodyPr wrap="square"/>
                    <a:lstStyle/>
                    <a:p>
                      <a:pPr>
                        <a:lnSpc>
                          <a:spcPct val="112000"/>
                        </a:lnSpc>
                      </a:pPr>
                      <a:r>
                        <a:rPr sz="980">
                          <a:solidFill>
                            <a:srgbClr val="D5D0C5"/>
                          </a:solidFill>
                          <a:latin typeface="Segoe UI"/>
                        </a:rPr>
                        <a:t>Terrain et corpus (chapitre 5)</a:t>
                      </a:r>
                    </a:p>
                  </a:txBody>
                  <a:tcPr marL="91440" marR="91440" marT="27432" marB="27432" anchor="ctr">
                    <a:solidFill>
                      <a:srgbClr val="121C26"/>
                    </a:solidFill>
                  </a:tcPr>
                </a:tc>
                <a:tc>
                  <a:txBody>
                    <a:bodyPr wrap="square"/>
                    <a:lstStyle/>
                    <a:p>
                      <a:pPr>
                        <a:lnSpc>
                          <a:spcPct val="112000"/>
                        </a:lnSpc>
                      </a:pPr>
                      <a:r>
                        <a:rPr sz="980">
                          <a:solidFill>
                            <a:srgbClr val="D5D0C5"/>
                          </a:solidFill>
                          <a:latin typeface="Segoe UI"/>
                        </a:rPr>
                        <a:t>Entretiens, observations, documents autorisés, journal de terrain</a:t>
                      </a:r>
                    </a:p>
                  </a:txBody>
                  <a:tcPr marL="91440" marR="91440" marT="27432" marB="27432" anchor="ctr">
                    <a:solidFill>
                      <a:srgbClr val="121C26"/>
                    </a:solidFill>
                  </a:tcPr>
                </a:tc>
                <a:tc>
                  <a:txBody>
                    <a:bodyPr wrap="square"/>
                    <a:lstStyle/>
                    <a:p>
                      <a:pPr>
                        <a:lnSpc>
                          <a:spcPct val="112000"/>
                        </a:lnSpc>
                      </a:pPr>
                      <a:r>
                        <a:rPr sz="980">
                          <a:solidFill>
                            <a:srgbClr val="D5D0C5"/>
                          </a:solidFill>
                          <a:latin typeface="Segoe UI"/>
                        </a:rPr>
                        <a:t>À engager</a:t>
                      </a:r>
                    </a:p>
                  </a:txBody>
                  <a:tcPr marL="91440" marR="91440" marT="27432" marB="27432" anchor="ctr">
                    <a:solidFill>
                      <a:srgbClr val="121C26"/>
                    </a:solidFill>
                  </a:tcPr>
                </a:tc>
              </a:tr>
              <a:tr h="512064">
                <a:tc>
                  <a:txBody>
                    <a:bodyPr wrap="square"/>
                    <a:lstStyle/>
                    <a:p>
                      <a:pPr>
                        <a:lnSpc>
                          <a:spcPct val="112000"/>
                        </a:lnSpc>
                      </a:pPr>
                      <a:r>
                        <a:rPr sz="980" b="1">
                          <a:solidFill>
                            <a:srgbClr val="E3C485"/>
                          </a:solidFill>
                          <a:latin typeface="Consolas"/>
                        </a:rPr>
                        <a:t>4</a:t>
                      </a:r>
                    </a:p>
                  </a:txBody>
                  <a:tcPr marL="91440" marR="91440" marT="27432" marB="27432" anchor="ctr">
                    <a:solidFill>
                      <a:srgbClr val="16212C"/>
                    </a:solidFill>
                  </a:tcPr>
                </a:tc>
                <a:tc>
                  <a:txBody>
                    <a:bodyPr wrap="square"/>
                    <a:lstStyle/>
                    <a:p>
                      <a:pPr>
                        <a:lnSpc>
                          <a:spcPct val="112000"/>
                        </a:lnSpc>
                      </a:pPr>
                      <a:r>
                        <a:rPr sz="980">
                          <a:solidFill>
                            <a:srgbClr val="D5D0C5"/>
                          </a:solidFill>
                          <a:latin typeface="Segoe UI"/>
                        </a:rPr>
                        <a:t>Analyse et rédaction (chapitres 5–6)</a:t>
                      </a:r>
                    </a:p>
                  </a:txBody>
                  <a:tcPr marL="91440" marR="91440" marT="27432" marB="27432" anchor="ctr">
                    <a:solidFill>
                      <a:srgbClr val="16212C"/>
                    </a:solidFill>
                  </a:tcPr>
                </a:tc>
                <a:tc>
                  <a:txBody>
                    <a:bodyPr wrap="square"/>
                    <a:lstStyle/>
                    <a:p>
                      <a:pPr>
                        <a:lnSpc>
                          <a:spcPct val="112000"/>
                        </a:lnSpc>
                      </a:pPr>
                      <a:r>
                        <a:rPr sz="980">
                          <a:solidFill>
                            <a:srgbClr val="D5D0C5"/>
                          </a:solidFill>
                          <a:latin typeface="Segoe UI"/>
                        </a:rPr>
                        <a:t>Analyses intra et inter-cas, confrontation des propositions, discussion</a:t>
                      </a:r>
                    </a:p>
                  </a:txBody>
                  <a:tcPr marL="91440" marR="91440" marT="27432" marB="27432" anchor="ctr">
                    <a:solidFill>
                      <a:srgbClr val="16212C"/>
                    </a:solidFill>
                  </a:tcPr>
                </a:tc>
                <a:tc>
                  <a:txBody>
                    <a:bodyPr wrap="square"/>
                    <a:lstStyle/>
                    <a:p>
                      <a:pPr>
                        <a:lnSpc>
                          <a:spcPct val="112000"/>
                        </a:lnSpc>
                      </a:pPr>
                      <a:r>
                        <a:rPr sz="980">
                          <a:solidFill>
                            <a:srgbClr val="D5D0C5"/>
                          </a:solidFill>
                          <a:latin typeface="Segoe UI"/>
                        </a:rPr>
                        <a:t>Subordonné au corpus</a:t>
                      </a:r>
                    </a:p>
                  </a:txBody>
                  <a:tcPr marL="91440" marR="91440" marT="27432" marB="27432" anchor="ctr">
                    <a:solidFill>
                      <a:srgbClr val="16212C"/>
                    </a:solidFill>
                  </a:tcPr>
                </a:tc>
              </a:tr>
              <a:tr h="512064">
                <a:tc>
                  <a:txBody>
                    <a:bodyPr wrap="square"/>
                    <a:lstStyle/>
                    <a:p>
                      <a:pPr>
                        <a:lnSpc>
                          <a:spcPct val="112000"/>
                        </a:lnSpc>
                      </a:pPr>
                      <a:r>
                        <a:rPr sz="980" b="1">
                          <a:solidFill>
                            <a:srgbClr val="E3C485"/>
                          </a:solidFill>
                          <a:latin typeface="Consolas"/>
                        </a:rPr>
                        <a:t>5</a:t>
                      </a:r>
                    </a:p>
                  </a:txBody>
                  <a:tcPr marL="91440" marR="91440" marT="27432" marB="27432" anchor="ctr">
                    <a:solidFill>
                      <a:srgbClr val="121C26"/>
                    </a:solidFill>
                  </a:tcPr>
                </a:tc>
                <a:tc>
                  <a:txBody>
                    <a:bodyPr wrap="square"/>
                    <a:lstStyle/>
                    <a:p>
                      <a:pPr>
                        <a:lnSpc>
                          <a:spcPct val="112000"/>
                        </a:lnSpc>
                      </a:pPr>
                      <a:r>
                        <a:rPr sz="980">
                          <a:solidFill>
                            <a:srgbClr val="D5D0C5"/>
                          </a:solidFill>
                          <a:latin typeface="Segoe UI"/>
                        </a:rPr>
                        <a:t>Bibliographie harmonisée</a:t>
                      </a:r>
                    </a:p>
                  </a:txBody>
                  <a:tcPr marL="91440" marR="91440" marT="27432" marB="27432" anchor="ctr">
                    <a:solidFill>
                      <a:srgbClr val="121C26"/>
                    </a:solidFill>
                  </a:tcPr>
                </a:tc>
                <a:tc>
                  <a:txBody>
                    <a:bodyPr wrap="square"/>
                    <a:lstStyle/>
                    <a:p>
                      <a:pPr>
                        <a:lnSpc>
                          <a:spcPct val="112000"/>
                        </a:lnSpc>
                      </a:pPr>
                      <a:r>
                        <a:rPr sz="980">
                          <a:solidFill>
                            <a:srgbClr val="D5D0C5"/>
                          </a:solidFill>
                          <a:latin typeface="Segoe UI"/>
                        </a:rPr>
                        <a:t>Références effectivement mobilisées, dédoublonnées, vérifiées</a:t>
                      </a:r>
                    </a:p>
                  </a:txBody>
                  <a:tcPr marL="91440" marR="91440" marT="27432" marB="27432" anchor="ctr">
                    <a:solidFill>
                      <a:srgbClr val="121C26"/>
                    </a:solidFill>
                  </a:tcPr>
                </a:tc>
                <a:tc>
                  <a:txBody>
                    <a:bodyPr wrap="square"/>
                    <a:lstStyle/>
                    <a:p>
                      <a:pPr>
                        <a:lnSpc>
                          <a:spcPct val="112000"/>
                        </a:lnSpc>
                      </a:pPr>
                      <a:r>
                        <a:rPr sz="980">
                          <a:solidFill>
                            <a:srgbClr val="D5D0C5"/>
                          </a:solidFill>
                          <a:latin typeface="Segoe UI"/>
                        </a:rPr>
                        <a:t>En cours</a:t>
                      </a:r>
                    </a:p>
                  </a:txBody>
                  <a:tcPr marL="91440" marR="91440" marT="27432" marB="27432" anchor="ctr">
                    <a:solidFill>
                      <a:srgbClr val="121C26"/>
                    </a:solidFill>
                  </a:tcPr>
                </a:tc>
              </a:tr>
            </a:tbl>
          </a:graphicData>
        </a:graphic>
      </p:graphicFrame>
      <p:sp>
        <p:nvSpPr>
          <p:cNvPr id="7" name="Rounded Rectangle 6"/>
          <p:cNvSpPr/>
          <p:nvPr/>
        </p:nvSpPr>
        <p:spPr>
          <a:xfrm>
            <a:off x="658368" y="4664075"/>
            <a:ext cx="10874959" cy="914400"/>
          </a:xfrm>
          <a:prstGeom prst="roundRect">
            <a:avLst>
              <a:gd name="adj" fmla="val 5500"/>
            </a:avLst>
          </a:prstGeom>
          <a:solidFill>
            <a:srgbClr val="2A2418"/>
          </a:solidFill>
          <a:ln w="11430">
            <a:solidFill>
              <a:srgbClr val="C8A15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86384" y="4764659"/>
            <a:ext cx="10618927" cy="731520"/>
          </a:xfrm>
          <a:prstGeom prst="rect">
            <a:avLst/>
          </a:prstGeom>
          <a:noFill/>
        </p:spPr>
        <p:txBody>
          <a:bodyPr wrap="square" lIns="0" rIns="0" tIns="0" bIns="0" anchor="ctr">
            <a:spAutoFit/>
          </a:bodyPr>
          <a:lstStyle/>
          <a:p>
            <a:pPr algn="l">
              <a:lnSpc>
                <a:spcPct val="115000"/>
              </a:lnSpc>
              <a:spcBef>
                <a:spcPts val="0"/>
              </a:spcBef>
              <a:spcAft>
                <a:spcPts val="250"/>
              </a:spcAft>
            </a:pPr>
            <a:r>
              <a:rPr sz="900" b="1" i="0" spc="70">
                <a:solidFill>
                  <a:srgbClr val="E3C485"/>
                </a:solidFill>
                <a:latin typeface="Segoe UI"/>
              </a:rPr>
              <a:t>DEUX DÉCISIONS QUI N'APPARTIENNENT QU'À L'AUTEUR</a:t>
            </a:r>
          </a:p>
          <a:p>
            <a:pPr algn="l">
              <a:lnSpc>
                <a:spcPct val="126000"/>
              </a:lnSpc>
              <a:spcBef>
                <a:spcPts val="0"/>
              </a:spcBef>
              <a:spcAft>
                <a:spcPts val="0"/>
              </a:spcAft>
            </a:pPr>
            <a:r>
              <a:rPr sz="1060" b="0" i="0">
                <a:solidFill>
                  <a:srgbClr val="D5D0C5"/>
                </a:solidFill>
                <a:latin typeface="Segoe UI"/>
              </a:rPr>
              <a:t>La validation du fond scientifique du modèle et l'engagement du terrain. Aucune de ces deux décisions ne peut être déléguée à un outil — ni à une intelligence artificielle.</a:t>
            </a:r>
          </a:p>
        </p:txBody>
      </p:sp>
      <p:sp>
        <p:nvSpPr>
          <p:cNvPr id="9" name="Rectangle 8"/>
          <p:cNvSpPr/>
          <p:nvPr/>
        </p:nvSpPr>
        <p:spPr>
          <a:xfrm>
            <a:off x="658368" y="6199632"/>
            <a:ext cx="10874959" cy="7315"/>
          </a:xfrm>
          <a:prstGeom prst="rect">
            <a:avLst/>
          </a:prstGeom>
          <a:solidFill>
            <a:srgbClr val="2734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8368" y="6291072"/>
            <a:ext cx="10189159" cy="457200"/>
          </a:xfrm>
          <a:prstGeom prst="rect">
            <a:avLst/>
          </a:prstGeom>
          <a:noFill/>
        </p:spPr>
        <p:txBody>
          <a:bodyPr wrap="square" lIns="0" rIns="0" tIns="0" bIns="0" anchor="t">
            <a:spAutoFit/>
          </a:bodyPr>
          <a:lstStyle/>
          <a:p>
            <a:pPr algn="l">
              <a:lnSpc>
                <a:spcPct val="110000"/>
              </a:lnSpc>
              <a:spcBef>
                <a:spcPts val="0"/>
              </a:spcBef>
              <a:spcAft>
                <a:spcPts val="0"/>
              </a:spcAft>
            </a:pPr>
            <a:r>
              <a:rPr sz="740" b="1">
                <a:solidFill>
                  <a:srgbClr val="93A5B4"/>
                </a:solidFill>
                <a:latin typeface="Segoe UI"/>
              </a:rPr>
              <a:t>Sources : </a:t>
            </a:r>
            <a:r>
              <a:rPr sz="740" b="0">
                <a:solidFill>
                  <a:srgbClr val="708392"/>
                </a:solidFill>
                <a:latin typeface="Segoe UI"/>
              </a:rPr>
              <a:t>dossier de travail de l'auteur (chantiers ouverts au 22 octobre 2026) ; plan harmonisé, annexes A–K.</a:t>
            </a:r>
          </a:p>
        </p:txBody>
      </p:sp>
      <p:sp>
        <p:nvSpPr>
          <p:cNvPr id="11" name="TextBox 10"/>
          <p:cNvSpPr txBox="1"/>
          <p:nvPr/>
        </p:nvSpPr>
        <p:spPr>
          <a:xfrm>
            <a:off x="10874959" y="6291072"/>
            <a:ext cx="658368" cy="274320"/>
          </a:xfrm>
          <a:prstGeom prst="rect">
            <a:avLst/>
          </a:prstGeom>
          <a:noFill/>
        </p:spPr>
        <p:txBody>
          <a:bodyPr wrap="square" lIns="0" rIns="0" tIns="0" bIns="0" anchor="t">
            <a:spAutoFit/>
          </a:bodyPr>
          <a:lstStyle/>
          <a:p>
            <a:pPr algn="r">
              <a:lnSpc>
                <a:spcPct val="118000"/>
              </a:lnSpc>
              <a:spcBef>
                <a:spcPts val="0"/>
              </a:spcBef>
              <a:spcAft>
                <a:spcPts val="0"/>
              </a:spcAft>
            </a:pPr>
            <a:r>
              <a:rPr sz="800" b="0" i="0">
                <a:solidFill>
                  <a:srgbClr val="93A5B4"/>
                </a:solidFill>
                <a:latin typeface="Consolas"/>
              </a:rPr>
              <a:t>25 / 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1C26"/>
              </a:gs>
              <a:gs pos="100000">
                <a:srgbClr val="0B101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828739"/>
            <a:ext cx="12191695" cy="29260"/>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75488"/>
            <a:ext cx="10874959" cy="201168"/>
          </a:xfrm>
          <a:prstGeom prst="rect">
            <a:avLst/>
          </a:prstGeom>
          <a:noFill/>
        </p:spPr>
        <p:txBody>
          <a:bodyPr wrap="square" lIns="0" rIns="0" tIns="0" bIns="0" anchor="t">
            <a:spAutoFit/>
          </a:bodyPr>
          <a:lstStyle/>
          <a:p>
            <a:pPr algn="l">
              <a:lnSpc>
                <a:spcPct val="118000"/>
              </a:lnSpc>
              <a:spcBef>
                <a:spcPts val="0"/>
              </a:spcBef>
              <a:spcAft>
                <a:spcPts val="0"/>
              </a:spcAft>
            </a:pPr>
            <a:r>
              <a:rPr sz="950" b="1" i="0" spc="160">
                <a:solidFill>
                  <a:srgbClr val="E3C485"/>
                </a:solidFill>
                <a:latin typeface="Segoe UI"/>
              </a:rPr>
              <a:t>POUR CONCLURE</a:t>
            </a:r>
          </a:p>
        </p:txBody>
      </p:sp>
      <p:sp>
        <p:nvSpPr>
          <p:cNvPr id="5" name="TextBox 4"/>
          <p:cNvSpPr txBox="1"/>
          <p:nvPr/>
        </p:nvSpPr>
        <p:spPr>
          <a:xfrm>
            <a:off x="658368" y="713232"/>
            <a:ext cx="10692079" cy="914400"/>
          </a:xfrm>
          <a:prstGeom prst="rect">
            <a:avLst/>
          </a:prstGeom>
          <a:noFill/>
        </p:spPr>
        <p:txBody>
          <a:bodyPr wrap="square" lIns="0" rIns="0" tIns="0" bIns="0" anchor="t">
            <a:spAutoFit/>
          </a:bodyPr>
          <a:lstStyle/>
          <a:p>
            <a:pPr>
              <a:lnSpc>
                <a:spcPct val="105000"/>
              </a:lnSpc>
            </a:pPr>
            <a:r>
              <a:rPr sz="2450" b="0">
                <a:solidFill>
                  <a:srgbClr val="F3EFE7"/>
                </a:solidFill>
                <a:latin typeface="Georgia"/>
              </a:rPr>
              <a:t>Une recherche qui outille la décision sans prétendre la remplacer</a:t>
            </a:r>
          </a:p>
        </p:txBody>
      </p:sp>
      <p:sp>
        <p:nvSpPr>
          <p:cNvPr id="6" name="Rectangle 5"/>
          <p:cNvSpPr/>
          <p:nvPr/>
        </p:nvSpPr>
        <p:spPr>
          <a:xfrm>
            <a:off x="658368" y="1353947"/>
            <a:ext cx="10874959" cy="1481328"/>
          </a:xfrm>
          <a:prstGeom prst="rect">
            <a:avLst/>
          </a:prstGeom>
          <a:solidFill>
            <a:srgbClr val="2A24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58368" y="1353947"/>
            <a:ext cx="41148" cy="1481328"/>
          </a:xfrm>
          <a:prstGeom prst="rect">
            <a:avLst/>
          </a:prstGeom>
          <a:solidFill>
            <a:srgbClr val="C8A1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69264" y="1555115"/>
            <a:ext cx="10234879" cy="1115568"/>
          </a:xfrm>
          <a:prstGeom prst="rect">
            <a:avLst/>
          </a:prstGeom>
          <a:noFill/>
        </p:spPr>
        <p:txBody>
          <a:bodyPr wrap="square" lIns="0" rIns="0" tIns="0" bIns="0" anchor="t">
            <a:spAutoFit/>
          </a:bodyPr>
          <a:lstStyle/>
          <a:p>
            <a:pPr algn="l">
              <a:lnSpc>
                <a:spcPct val="130000"/>
              </a:lnSpc>
              <a:spcBef>
                <a:spcPts val="0"/>
              </a:spcBef>
              <a:spcAft>
                <a:spcPts val="0"/>
              </a:spcAft>
            </a:pPr>
            <a:r>
              <a:rPr sz="1850" b="0" i="0">
                <a:solidFill>
                  <a:srgbClr val="F3EFE7"/>
                </a:solidFill>
                <a:latin typeface="Georgia"/>
              </a:rPr>
              <a:t>« La meilleure façon de prédire l'avenir, c'est de le créer. »</a:t>
            </a:r>
          </a:p>
          <a:p>
            <a:pPr algn="l">
              <a:lnSpc>
                <a:spcPct val="118000"/>
              </a:lnSpc>
              <a:spcBef>
                <a:spcPts val="600"/>
              </a:spcBef>
              <a:spcAft>
                <a:spcPts val="0"/>
              </a:spcAft>
            </a:pPr>
            <a:r>
              <a:rPr sz="860" b="0" i="0">
                <a:solidFill>
                  <a:srgbClr val="93A5B4"/>
                </a:solidFill>
                <a:latin typeface="Segoe UI"/>
              </a:rPr>
              <a:t>Peter Drucker — devise reprise par l'Université Privée de Libreville.</a:t>
            </a:r>
          </a:p>
        </p:txBody>
      </p:sp>
      <p:sp>
        <p:nvSpPr>
          <p:cNvPr id="9" name="Rounded Rectangle 8"/>
          <p:cNvSpPr/>
          <p:nvPr/>
        </p:nvSpPr>
        <p:spPr>
          <a:xfrm>
            <a:off x="658368" y="3146171"/>
            <a:ext cx="3515258" cy="1234440"/>
          </a:xfrm>
          <a:prstGeom prst="roundRect">
            <a:avLst>
              <a:gd name="adj" fmla="val 55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3246755"/>
            <a:ext cx="3259226" cy="1051560"/>
          </a:xfrm>
          <a:prstGeom prst="rect">
            <a:avLst/>
          </a:prstGeom>
          <a:noFill/>
        </p:spPr>
        <p:txBody>
          <a:bodyPr wrap="square" lIns="0" rIns="0" tIns="0" bIns="0" anchor="ctr">
            <a:spAutoFit/>
          </a:bodyPr>
          <a:lstStyle/>
          <a:p>
            <a:pPr algn="l">
              <a:lnSpc>
                <a:spcPct val="115000"/>
              </a:lnSpc>
              <a:spcBef>
                <a:spcPts val="0"/>
              </a:spcBef>
              <a:spcAft>
                <a:spcPts val="250"/>
              </a:spcAft>
            </a:pPr>
            <a:r>
              <a:rPr sz="900" b="1" i="0" spc="70">
                <a:solidFill>
                  <a:srgbClr val="E3C485"/>
                </a:solidFill>
                <a:latin typeface="Segoe UI"/>
              </a:rPr>
              <a:t>MERCI</a:t>
            </a:r>
          </a:p>
          <a:p>
            <a:pPr algn="l">
              <a:lnSpc>
                <a:spcPct val="126000"/>
              </a:lnSpc>
              <a:spcBef>
                <a:spcPts val="0"/>
              </a:spcBef>
              <a:spcAft>
                <a:spcPts val="0"/>
              </a:spcAft>
            </a:pPr>
            <a:r>
              <a:rPr sz="1019" b="0" i="0">
                <a:solidFill>
                  <a:srgbClr val="D5D0C5"/>
                </a:solidFill>
                <a:latin typeface="Segoe UI"/>
              </a:rPr>
              <a:t>Au jury, pour le temps et l'exigence.</a:t>
            </a:r>
          </a:p>
        </p:txBody>
      </p:sp>
      <p:sp>
        <p:nvSpPr>
          <p:cNvPr id="11" name="Rounded Rectangle 10"/>
          <p:cNvSpPr/>
          <p:nvPr/>
        </p:nvSpPr>
        <p:spPr>
          <a:xfrm>
            <a:off x="4338218" y="3146171"/>
            <a:ext cx="3515258" cy="1234440"/>
          </a:xfrm>
          <a:prstGeom prst="roundRect">
            <a:avLst>
              <a:gd name="adj" fmla="val 55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466234" y="3246755"/>
            <a:ext cx="3259226" cy="1051560"/>
          </a:xfrm>
          <a:prstGeom prst="rect">
            <a:avLst/>
          </a:prstGeom>
          <a:noFill/>
        </p:spPr>
        <p:txBody>
          <a:bodyPr wrap="square" lIns="0" rIns="0" tIns="0" bIns="0" anchor="ctr">
            <a:spAutoFit/>
          </a:bodyPr>
          <a:lstStyle/>
          <a:p>
            <a:pPr algn="l">
              <a:lnSpc>
                <a:spcPct val="115000"/>
              </a:lnSpc>
              <a:spcBef>
                <a:spcPts val="0"/>
              </a:spcBef>
              <a:spcAft>
                <a:spcPts val="250"/>
              </a:spcAft>
            </a:pPr>
            <a:r>
              <a:rPr sz="900" b="1" i="0" spc="70">
                <a:solidFill>
                  <a:srgbClr val="E3C485"/>
                </a:solidFill>
                <a:latin typeface="Segoe UI"/>
              </a:rPr>
              <a:t>ÉCHANGES</a:t>
            </a:r>
          </a:p>
          <a:p>
            <a:pPr algn="l">
              <a:lnSpc>
                <a:spcPct val="126000"/>
              </a:lnSpc>
              <a:spcBef>
                <a:spcPts val="0"/>
              </a:spcBef>
              <a:spcAft>
                <a:spcPts val="0"/>
              </a:spcAft>
            </a:pPr>
            <a:r>
              <a:rPr sz="1019" b="0" i="0">
                <a:solidFill>
                  <a:srgbClr val="D5D0C5"/>
                </a:solidFill>
                <a:latin typeface="Segoe UI"/>
              </a:rPr>
              <a:t>contact@upl-gabon.com — objet « Recherche doctorale ».</a:t>
            </a:r>
          </a:p>
        </p:txBody>
      </p:sp>
      <p:sp>
        <p:nvSpPr>
          <p:cNvPr id="13" name="Rounded Rectangle 12"/>
          <p:cNvSpPr/>
          <p:nvPr/>
        </p:nvSpPr>
        <p:spPr>
          <a:xfrm>
            <a:off x="8018068" y="3146171"/>
            <a:ext cx="3515258" cy="1234440"/>
          </a:xfrm>
          <a:prstGeom prst="roundRect">
            <a:avLst>
              <a:gd name="adj" fmla="val 5500"/>
            </a:avLst>
          </a:prstGeom>
          <a:solidFill>
            <a:srgbClr val="16212C"/>
          </a:solidFill>
          <a:ln w="11430">
            <a:solidFill>
              <a:srgbClr val="2734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146084" y="3246755"/>
            <a:ext cx="3259226" cy="1051560"/>
          </a:xfrm>
          <a:prstGeom prst="rect">
            <a:avLst/>
          </a:prstGeom>
          <a:noFill/>
        </p:spPr>
        <p:txBody>
          <a:bodyPr wrap="square" lIns="0" rIns="0" tIns="0" bIns="0" anchor="ctr">
            <a:spAutoFit/>
          </a:bodyPr>
          <a:lstStyle/>
          <a:p>
            <a:pPr algn="l">
              <a:lnSpc>
                <a:spcPct val="115000"/>
              </a:lnSpc>
              <a:spcBef>
                <a:spcPts val="0"/>
              </a:spcBef>
              <a:spcAft>
                <a:spcPts val="250"/>
              </a:spcAft>
            </a:pPr>
            <a:r>
              <a:rPr sz="900" b="1" i="0" spc="70">
                <a:solidFill>
                  <a:srgbClr val="E3C485"/>
                </a:solidFill>
                <a:latin typeface="Segoe UI"/>
              </a:rPr>
              <a:t>STATUT</a:t>
            </a:r>
          </a:p>
          <a:p>
            <a:pPr algn="l">
              <a:lnSpc>
                <a:spcPct val="126000"/>
              </a:lnSpc>
              <a:spcBef>
                <a:spcPts val="0"/>
              </a:spcBef>
              <a:spcAft>
                <a:spcPts val="0"/>
              </a:spcAft>
            </a:pPr>
            <a:r>
              <a:rPr sz="1019" b="0" i="0">
                <a:solidFill>
                  <a:srgbClr val="D5D0C5"/>
                </a:solidFill>
                <a:latin typeface="Segoe UI"/>
              </a:rPr>
              <a:t>Document de travail, 22 octobre 2026. Aucun résultat n'est présumé.</a:t>
            </a:r>
          </a:p>
        </p:txBody>
      </p:sp>
      <p:sp>
        <p:nvSpPr>
          <p:cNvPr id="15" name="TextBox 14"/>
          <p:cNvSpPr txBox="1"/>
          <p:nvPr/>
        </p:nvSpPr>
        <p:spPr>
          <a:xfrm>
            <a:off x="658368" y="4627499"/>
            <a:ext cx="10874959" cy="822960"/>
          </a:xfrm>
          <a:prstGeom prst="rect">
            <a:avLst/>
          </a:prstGeom>
          <a:noFill/>
        </p:spPr>
        <p:txBody>
          <a:bodyPr wrap="square" lIns="0" rIns="0" tIns="0" bIns="0" anchor="t">
            <a:spAutoFit/>
          </a:bodyPr>
          <a:lstStyle/>
          <a:p>
            <a:pPr algn="l">
              <a:lnSpc>
                <a:spcPct val="135000"/>
              </a:lnSpc>
              <a:spcBef>
                <a:spcPts val="0"/>
              </a:spcBef>
              <a:spcAft>
                <a:spcPts val="0"/>
              </a:spcAft>
            </a:pPr>
            <a:r>
              <a:rPr sz="919" b="0" i="0">
                <a:solidFill>
                  <a:srgbClr val="93A5B4"/>
                </a:solidFill>
                <a:latin typeface="Segoe UI"/>
              </a:rPr>
              <a:t>Serge Patrick MINANG — ingénieur · MBA · doctorant DBA · Président-Fondateur de l'Université Privée de Libreville. Cette recherche est conduite à titre personnel ; elle est distincte du site institutionnel de l'UPL.</a:t>
            </a:r>
          </a:p>
        </p:txBody>
      </p:sp>
      <p:sp>
        <p:nvSpPr>
          <p:cNvPr id="16" name="Rectangle 15"/>
          <p:cNvSpPr/>
          <p:nvPr/>
        </p:nvSpPr>
        <p:spPr>
          <a:xfrm>
            <a:off x="658368" y="6199632"/>
            <a:ext cx="10874959" cy="7315"/>
          </a:xfrm>
          <a:prstGeom prst="rect">
            <a:avLst/>
          </a:prstGeom>
          <a:solidFill>
            <a:srgbClr val="2734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58368" y="6291072"/>
            <a:ext cx="10189159" cy="457200"/>
          </a:xfrm>
          <a:prstGeom prst="rect">
            <a:avLst/>
          </a:prstGeom>
          <a:noFill/>
        </p:spPr>
        <p:txBody>
          <a:bodyPr wrap="square" lIns="0" rIns="0" tIns="0" bIns="0" anchor="t">
            <a:spAutoFit/>
          </a:bodyPr>
          <a:lstStyle/>
          <a:p>
            <a:pPr algn="l">
              <a:lnSpc>
                <a:spcPct val="110000"/>
              </a:lnSpc>
              <a:spcBef>
                <a:spcPts val="0"/>
              </a:spcBef>
              <a:spcAft>
                <a:spcPts val="0"/>
              </a:spcAft>
            </a:pPr>
            <a:r>
              <a:rPr sz="740" b="1">
                <a:solidFill>
                  <a:srgbClr val="93A5B4"/>
                </a:solidFill>
                <a:latin typeface="Segoe UI"/>
              </a:rPr>
              <a:t>Sources : </a:t>
            </a:r>
            <a:r>
              <a:rPr sz="740" b="0">
                <a:solidFill>
                  <a:srgbClr val="708392"/>
                </a:solidFill>
                <a:latin typeface="Segoe UI"/>
              </a:rPr>
              <a:t>citation affichée sur upl-gabon.com (consulté le 22/10/2026) ; coordonnées publiques de l'UPL.</a:t>
            </a:r>
          </a:p>
        </p:txBody>
      </p:sp>
      <p:sp>
        <p:nvSpPr>
          <p:cNvPr id="18" name="TextBox 17"/>
          <p:cNvSpPr txBox="1"/>
          <p:nvPr/>
        </p:nvSpPr>
        <p:spPr>
          <a:xfrm>
            <a:off x="10874959" y="6291072"/>
            <a:ext cx="658368" cy="274320"/>
          </a:xfrm>
          <a:prstGeom prst="rect">
            <a:avLst/>
          </a:prstGeom>
          <a:noFill/>
        </p:spPr>
        <p:txBody>
          <a:bodyPr wrap="square" lIns="0" rIns="0" tIns="0" bIns="0" anchor="t">
            <a:spAutoFit/>
          </a:bodyPr>
          <a:lstStyle/>
          <a:p>
            <a:pPr algn="r">
              <a:lnSpc>
                <a:spcPct val="118000"/>
              </a:lnSpc>
              <a:spcBef>
                <a:spcPts val="0"/>
              </a:spcBef>
              <a:spcAft>
                <a:spcPts val="0"/>
              </a:spcAft>
            </a:pPr>
            <a:r>
              <a:rPr sz="800" b="0" i="0">
                <a:solidFill>
                  <a:srgbClr val="93A5B4"/>
                </a:solidFill>
                <a:latin typeface="Consolas"/>
              </a:rPr>
              <a:t>26 / 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DBA — Gouvernance augmentée des EPES gabonais</dc:title>
  <dc:subject>Diaporama de soutenance doctorale (DBA)</dc:subject>
  <dc:creator>Serge Patrick MINANG</dc:creator>
  <cp:keywords>DBA, gouvernance augmentée, IA, intelligence émotionnelle, EPES, Gabon</cp:keywords>
  <dc:description>Document de travail du 22/10/2026. Chapitres 5 et 6 préparatoires : aucun résultat présumé. Provenance des chiffres : page « Sources » du dossier.</dc:description>
  <cp:lastModifiedBy>Steve Canny</cp:lastModifiedBy>
  <cp:revision>1</cp:revision>
  <dcterms:created xsi:type="dcterms:W3CDTF">2013-01-27T09:14:16Z</dcterms:created>
  <dcterms:modified xsi:type="dcterms:W3CDTF">2013-01-27T09:15:58Z</dcterms:modified>
  <cp:category/>
</cp:coreProperties>
</file>