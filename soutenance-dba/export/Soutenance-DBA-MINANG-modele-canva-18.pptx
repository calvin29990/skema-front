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Couverture. Annoncer le titre, se nommer, puis le plan en une phrase : contexte, question, cadre, modèle, méthode, contributions.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Contexte : la polycrise gabonaise n'est pas une somme de crises, c'est leur interaction. Carte du Gabon, neuf provinces ; l'étude porte sur des EPES, non sur l'État.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centrale : la lire lentement, c'est la phrase que le jury doit pouvoir répéter.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QR1 à QR4 : chaque question ouvre un objet d'enquête distinct. Ne pas présupposer que l'IA améliore la gouvernance.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Agence (contrôle, incitations) et parties prenantes (légitimité, confiance) : l'IA outille le contrôle, l'IE travaille la légitimité.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Résilience et capacités dynamiques : détecter, absorber, reconfigurer. C'est le pont entre le cadre théorique et le modèle.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Modèle conceptuel : quatre piliers, quatre effets attendus. Insister sur « attendus » : le terrain n'est pas clos.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Articulation IA–IE : deux registres complémentaires, jamais substituables.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Sept propositions, formulées pour être contredites. Si le terrain les infirme, c'est un résultat.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Méthodologie : qualitatif multi-cas. 5 EPES, 45 participants (15 / 20 / 10), triangulation.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Protocole : collecte, puis analyse et validation. Assumer le terrain en contexte de polycrise.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Contributions scientifiques : elles restent conditionnelles jusqu'à l'analyse.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Contributions managériales : outils de décision, compétences IE, coordination institutionnelle.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Contributions sociétales : résilience collective et inclusion.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Limites et perspectives : les énoncer soi-même désarme la question du jury.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Conclusion : trois idées, puis s'arrêter.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Bibliographie : les pères fondateurs et les auteurs de méthode, pas une liste exhaustive.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Remercier le jury, s'arrêter, laisser venir les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86998" y="393055"/>
            <a:ext cx="1792112" cy="6817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4583"/>
              </a:lnSpc>
            </a:pPr>
            <a:r>
              <a:rPr sz="767" b="1">
                <a:solidFill>
                  <a:srgbClr val="000000"/>
                </a:solidFill>
                <a:latin typeface="Arial"/>
              </a:rPr>
              <a:t>Objectif : Analyser comment la</a:t>
            </a:r>
          </a:p>
          <a:p>
            <a:pPr algn="l">
              <a:lnSpc>
                <a:spcPct val="114583"/>
              </a:lnSpc>
            </a:pPr>
            <a:r>
              <a:rPr sz="767" b="1">
                <a:solidFill>
                  <a:srgbClr val="000000"/>
                </a:solidFill>
                <a:latin typeface="Arial"/>
              </a:rPr>
              <a:t>gouvernance augmentée, intégrant</a:t>
            </a:r>
          </a:p>
          <a:p>
            <a:pPr algn="l">
              <a:lnSpc>
                <a:spcPct val="114583"/>
              </a:lnSpc>
            </a:pPr>
            <a:r>
              <a:rPr sz="767" b="1">
                <a:solidFill>
                  <a:srgbClr val="000000"/>
                </a:solidFill>
                <a:latin typeface="Arial"/>
              </a:rPr>
              <a:t>IA et intelligence émotionnelle,</a:t>
            </a:r>
          </a:p>
          <a:p>
            <a:pPr algn="l">
              <a:lnSpc>
                <a:spcPct val="114583"/>
              </a:lnSpc>
            </a:pPr>
            <a:r>
              <a:rPr sz="767" b="1">
                <a:solidFill>
                  <a:srgbClr val="000000"/>
                </a:solidFill>
                <a:latin typeface="Arial"/>
              </a:rPr>
              <a:t>peut répondre aux défis de la</a:t>
            </a:r>
          </a:p>
          <a:p>
            <a:pPr algn="l">
              <a:lnSpc>
                <a:spcPct val="114583"/>
              </a:lnSpc>
            </a:pPr>
            <a:r>
              <a:rPr sz="767" b="1">
                <a:solidFill>
                  <a:srgbClr val="000000"/>
                </a:solidFill>
                <a:latin typeface="Arial"/>
              </a:rPr>
              <a:t>polycrise gabonaise.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59256" y="290610"/>
            <a:ext cx="2157021" cy="6334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583"/>
              </a:lnSpc>
            </a:pPr>
            <a:r>
              <a:rPr sz="799" b="0">
                <a:solidFill>
                  <a:srgbClr val="000000"/>
                </a:solidFill>
                <a:latin typeface="Arial"/>
              </a:rPr>
              <a:t>Doctorant : Serge Patrick MINANG</a:t>
            </a:r>
          </a:p>
          <a:p>
            <a:pPr algn="l">
              <a:lnSpc>
                <a:spcPct val="114583"/>
              </a:lnSpc>
            </a:pPr>
            <a:r>
              <a:rPr sz="799" b="0">
                <a:solidFill>
                  <a:srgbClr val="000000"/>
                </a:solidFill>
                <a:latin typeface="Arial"/>
              </a:rPr>
              <a:t>Soutenance de thèse doctorale (DBA)</a:t>
            </a:r>
          </a:p>
          <a:p>
            <a:pPr algn="l">
              <a:lnSpc>
                <a:spcPct val="114583"/>
              </a:lnSpc>
            </a:pPr>
            <a:r>
              <a:rPr sz="799" b="0">
                <a:solidFill>
                  <a:srgbClr val="000000"/>
                </a:solidFill>
                <a:latin typeface="Arial"/>
              </a:rPr>
              <a:t>Directeur de thèse : [à compléter]</a:t>
            </a:r>
          </a:p>
          <a:p>
            <a:pPr algn="l">
              <a:lnSpc>
                <a:spcPct val="114583"/>
              </a:lnSpc>
            </a:pPr>
            <a:r>
              <a:rPr sz="799" b="0">
                <a:solidFill>
                  <a:srgbClr val="000000"/>
                </a:solidFill>
                <a:latin typeface="Arial"/>
              </a:rPr>
              <a:t>Date de soutenance : [à compléter]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7532" y="4198164"/>
            <a:ext cx="1018058" cy="243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8611"/>
              </a:lnSpc>
            </a:pPr>
            <a:r>
              <a:rPr sz="751" b="1">
                <a:solidFill>
                  <a:srgbClr val="00355E"/>
                </a:solidFill>
                <a:latin typeface="Arial"/>
              </a:rPr>
              <a:t>Université Paris-Est</a:t>
            </a:r>
          </a:p>
          <a:p>
            <a:pPr algn="l">
              <a:lnSpc>
                <a:spcPct val="98611"/>
              </a:lnSpc>
            </a:pPr>
            <a:r>
              <a:rPr sz="751" b="1">
                <a:solidFill>
                  <a:srgbClr val="00355E"/>
                </a:solidFill>
                <a:latin typeface="Arial"/>
              </a:rPr>
              <a:t>Créteil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389" y="4814732"/>
            <a:ext cx="8172751" cy="164582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473"/>
              </a:lnSpc>
            </a:pPr>
            <a:r>
              <a:rPr sz="2309" b="0">
                <a:solidFill>
                  <a:srgbClr val="00355E"/>
                </a:solidFill>
                <a:latin typeface="Arial Black"/>
              </a:rPr>
              <a:t>Gouvernance augmentée : articulation de</a:t>
            </a:r>
          </a:p>
          <a:p>
            <a:pPr algn="l">
              <a:lnSpc>
                <a:spcPct val="115473"/>
              </a:lnSpc>
            </a:pPr>
            <a:r>
              <a:rPr sz="2309" b="0">
                <a:solidFill>
                  <a:srgbClr val="00355E"/>
                </a:solidFill>
                <a:latin typeface="Arial Black"/>
              </a:rPr>
              <a:t>l'intelligence artificielle et de l'intelligence</a:t>
            </a:r>
          </a:p>
          <a:p>
            <a:pPr algn="l">
              <a:lnSpc>
                <a:spcPct val="115473"/>
              </a:lnSpc>
            </a:pPr>
            <a:r>
              <a:rPr sz="2309" b="0">
                <a:solidFill>
                  <a:srgbClr val="00355E"/>
                </a:solidFill>
                <a:latin typeface="Arial Black"/>
              </a:rPr>
              <a:t>émotionnelle dans le contexte gabonais de</a:t>
            </a:r>
          </a:p>
          <a:p>
            <a:pPr algn="l">
              <a:lnSpc>
                <a:spcPct val="115473"/>
              </a:lnSpc>
            </a:pPr>
            <a:r>
              <a:rPr sz="2309" b="0">
                <a:solidFill>
                  <a:srgbClr val="00355E"/>
                </a:solidFill>
                <a:latin typeface="Arial Black"/>
              </a:rPr>
              <a:t>polycrise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6389" y="340187"/>
            <a:ext cx="4881978" cy="1129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923"/>
              </a:lnSpc>
            </a:pPr>
            <a:r>
              <a:rPr sz="3124" b="0">
                <a:solidFill>
                  <a:srgbClr val="00355E"/>
                </a:solidFill>
                <a:latin typeface="Arial Black"/>
              </a:rPr>
              <a:t>Contexte gabonais</a:t>
            </a:r>
          </a:p>
          <a:p>
            <a:pPr algn="l">
              <a:lnSpc>
                <a:spcPct val="115923"/>
              </a:lnSpc>
            </a:pPr>
            <a:r>
              <a:rPr sz="3124" b="0">
                <a:solidFill>
                  <a:srgbClr val="00355E"/>
                </a:solidFill>
                <a:latin typeface="Arial Black"/>
              </a:rPr>
              <a:t>et polycrise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81647" y="2593787"/>
            <a:ext cx="4587173" cy="4376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652"/>
              </a:lnSpc>
            </a:pPr>
            <a:r>
              <a:rPr sz="864" b="0">
                <a:solidFill>
                  <a:srgbClr val="000000"/>
                </a:solidFill>
                <a:latin typeface="Arial"/>
              </a:rPr>
              <a:t>Le Gabon traverse une polycrise inédite combinant des crises simultanées qui fragilisent</a:t>
            </a:r>
          </a:p>
          <a:p>
            <a:pPr algn="l">
              <a:lnSpc>
                <a:spcPct val="115652"/>
              </a:lnSpc>
            </a:pPr>
            <a:r>
              <a:rPr sz="864" b="0">
                <a:solidFill>
                  <a:srgbClr val="000000"/>
                </a:solidFill>
                <a:latin typeface="Arial"/>
              </a:rPr>
              <a:t>profondément les structures de gouvernance et imposent une refondation des pratiques</a:t>
            </a:r>
          </a:p>
          <a:p>
            <a:pPr algn="l">
              <a:lnSpc>
                <a:spcPct val="115652"/>
              </a:lnSpc>
            </a:pPr>
            <a:r>
              <a:rPr sz="864" b="0">
                <a:solidFill>
                  <a:srgbClr val="000000"/>
                </a:solidFill>
                <a:latin typeface="Arial"/>
              </a:rPr>
              <a:t>institutionnelles.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81647" y="3650137"/>
            <a:ext cx="1480871" cy="1328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1">
                <a:solidFill>
                  <a:srgbClr val="000000"/>
                </a:solidFill>
                <a:latin typeface="Arial"/>
              </a:rPr>
              <a:t>Impact sur la gouvernance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0945" y="4303388"/>
            <a:ext cx="208744" cy="132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64" b="1">
                <a:solidFill>
                  <a:srgbClr val="00355E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91455" y="4339109"/>
            <a:ext cx="5443258" cy="2852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652"/>
              </a:lnSpc>
            </a:pPr>
            <a:r>
              <a:rPr sz="864" b="0">
                <a:solidFill>
                  <a:srgbClr val="000000"/>
                </a:solidFill>
                <a:latin typeface="Arial"/>
              </a:rPr>
              <a:t>Crises économique et sociale : chute des recettes pétrolières, inégalités persistantes, chômage structurel</a:t>
            </a:r>
          </a:p>
          <a:p>
            <a:pPr algn="l">
              <a:lnSpc>
                <a:spcPct val="115652"/>
              </a:lnSpc>
            </a:pPr>
            <a:r>
              <a:rPr sz="864" b="0">
                <a:solidFill>
                  <a:srgbClr val="000000"/>
                </a:solidFill>
                <a:latin typeface="Arial"/>
              </a:rPr>
              <a:t>et fragilisation du tissu social gabonais.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29933" y="4963040"/>
            <a:ext cx="230811" cy="132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64" b="1">
                <a:solidFill>
                  <a:srgbClr val="00355E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91455" y="4998762"/>
            <a:ext cx="5399237" cy="2852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652"/>
              </a:lnSpc>
            </a:pPr>
            <a:r>
              <a:rPr sz="864" b="0">
                <a:solidFill>
                  <a:srgbClr val="000000"/>
                </a:solidFill>
                <a:latin typeface="Arial"/>
              </a:rPr>
              <a:t>Crises environnementale et politique : pression sur les ressources naturelles, instabilité institutionnelle et</a:t>
            </a:r>
          </a:p>
          <a:p>
            <a:pPr algn="l">
              <a:lnSpc>
                <a:spcPct val="115652"/>
              </a:lnSpc>
            </a:pPr>
            <a:r>
              <a:rPr sz="864" b="0">
                <a:solidFill>
                  <a:srgbClr val="000000"/>
                </a:solidFill>
                <a:latin typeface="Arial"/>
              </a:rPr>
              <a:t>rupture de confiance entre gouvernants et citoyens.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9040" y="5622692"/>
            <a:ext cx="232567" cy="132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64" b="1">
                <a:solidFill>
                  <a:srgbClr val="00355E"/>
                </a:solidFill>
                <a:latin typeface="Arial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1455" y="5658413"/>
            <a:ext cx="4792873" cy="2852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652"/>
              </a:lnSpc>
            </a:pPr>
            <a:r>
              <a:rPr sz="864" b="0">
                <a:solidFill>
                  <a:srgbClr val="000000"/>
                </a:solidFill>
                <a:latin typeface="Arial"/>
              </a:rPr>
              <a:t>Effets sur la gouvernance : affaiblissement des capacités décisionnelles, déficit de résilience</a:t>
            </a:r>
          </a:p>
          <a:p>
            <a:pPr algn="l">
              <a:lnSpc>
                <a:spcPct val="115652"/>
              </a:lnSpc>
            </a:pPr>
            <a:r>
              <a:rPr sz="864" b="0">
                <a:solidFill>
                  <a:srgbClr val="000000"/>
                </a:solidFill>
                <a:latin typeface="Arial"/>
              </a:rPr>
              <a:t>organisationnelle et nécessité d'un nouveau paradigme de gouvernance augmentée.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6389" y="326153"/>
            <a:ext cx="3619508" cy="20100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6154"/>
              </a:lnSpc>
            </a:pPr>
            <a:r>
              <a:rPr sz="3730" b="0">
                <a:solidFill>
                  <a:srgbClr val="00355E"/>
                </a:solidFill>
                <a:latin typeface="Arial Black"/>
              </a:rPr>
              <a:t>Question</a:t>
            </a:r>
          </a:p>
          <a:p>
            <a:pPr algn="l">
              <a:lnSpc>
                <a:spcPct val="116154"/>
              </a:lnSpc>
            </a:pPr>
            <a:r>
              <a:rPr sz="3730" b="0">
                <a:solidFill>
                  <a:srgbClr val="00355E"/>
                </a:solidFill>
                <a:latin typeface="Arial Black"/>
              </a:rPr>
              <a:t>Centrale de</a:t>
            </a:r>
          </a:p>
          <a:p>
            <a:pPr algn="l">
              <a:lnSpc>
                <a:spcPct val="116154"/>
              </a:lnSpc>
            </a:pPr>
            <a:r>
              <a:rPr sz="3730" b="0">
                <a:solidFill>
                  <a:srgbClr val="00355E"/>
                </a:solidFill>
                <a:latin typeface="Arial Black"/>
              </a:rPr>
              <a:t>Recherche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81647" y="831607"/>
            <a:ext cx="2328834" cy="15857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22" b="1">
                <a:solidFill>
                  <a:srgbClr val="000000"/>
                </a:solidFill>
                <a:latin typeface="Arial"/>
              </a:rPr>
              <a:t>Enjeux Scientifiques &amp; Managériaux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29635" y="1484850"/>
            <a:ext cx="231452" cy="15857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31" b="1">
                <a:solidFill>
                  <a:srgbClr val="00355E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91455" y="1367377"/>
            <a:ext cx="2326196" cy="16255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049"/>
              </a:lnSpc>
            </a:pPr>
            <a:r>
              <a:rPr sz="1031" b="0">
                <a:solidFill>
                  <a:srgbClr val="000000"/>
                </a:solidFill>
                <a:latin typeface="Arial"/>
              </a:rPr>
              <a:t>Comment l'articulation IA–IE transforme-t-elle la gouvernance des EPES gabonais en polycrise, et avec quels effets sur la performance, la RSE et la durabilité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71916" y="1484850"/>
            <a:ext cx="257795" cy="15857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31" b="1">
                <a:solidFill>
                  <a:srgbClr val="00355E"/>
                </a:solidFill>
                <a:latin typeface="Arial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46890" y="1367377"/>
            <a:ext cx="2321641" cy="869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3049"/>
              </a:lnSpc>
            </a:pPr>
            <a:r>
              <a:rPr sz="1031" b="0">
                <a:solidFill>
                  <a:srgbClr val="000000"/>
                </a:solidFill>
                <a:latin typeface="Arial"/>
              </a:rPr>
              <a:t>Enjeux : articuler IA et IE pour</a:t>
            </a:r>
          </a:p>
          <a:p>
            <a:pPr algn="l">
              <a:lnSpc>
                <a:spcPct val="113049"/>
              </a:lnSpc>
            </a:pPr>
            <a:r>
              <a:rPr sz="1031" b="0">
                <a:solidFill>
                  <a:srgbClr val="000000"/>
                </a:solidFill>
                <a:latin typeface="Arial"/>
              </a:rPr>
              <a:t>renforcer la résilience institutionnelle</a:t>
            </a:r>
          </a:p>
          <a:p>
            <a:pPr algn="l">
              <a:lnSpc>
                <a:spcPct val="113049"/>
              </a:lnSpc>
            </a:pPr>
            <a:r>
              <a:rPr sz="1031" b="0">
                <a:solidFill>
                  <a:srgbClr val="000000"/>
                </a:solidFill>
                <a:latin typeface="Arial"/>
              </a:rPr>
              <a:t>et managériale dans un contexte de</a:t>
            </a:r>
          </a:p>
          <a:p>
            <a:pPr algn="l">
              <a:lnSpc>
                <a:spcPct val="113049"/>
              </a:lnSpc>
            </a:pPr>
            <a:r>
              <a:rPr sz="1031" b="0">
                <a:solidFill>
                  <a:srgbClr val="000000"/>
                </a:solidFill>
                <a:latin typeface="Arial"/>
              </a:rPr>
              <a:t>crises multidimensionnelles au</a:t>
            </a:r>
          </a:p>
          <a:p>
            <a:pPr algn="l">
              <a:lnSpc>
                <a:spcPct val="113049"/>
              </a:lnSpc>
            </a:pPr>
            <a:r>
              <a:rPr sz="1031" b="0">
                <a:solidFill>
                  <a:srgbClr val="000000"/>
                </a:solidFill>
                <a:latin typeface="Arial"/>
              </a:rPr>
              <a:t>Gabon.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6389" y="342040"/>
            <a:ext cx="3856023" cy="14667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6650"/>
              </a:lnSpc>
            </a:pPr>
            <a:r>
              <a:rPr sz="2714" b="0">
                <a:solidFill>
                  <a:srgbClr val="00355E"/>
                </a:solidFill>
                <a:latin typeface="Arial Black"/>
              </a:rPr>
              <a:t>Quatre Questions</a:t>
            </a:r>
          </a:p>
          <a:p>
            <a:pPr algn="l">
              <a:lnSpc>
                <a:spcPct val="116650"/>
              </a:lnSpc>
            </a:pPr>
            <a:r>
              <a:rPr sz="2714" b="0">
                <a:solidFill>
                  <a:srgbClr val="00355E"/>
                </a:solidFill>
                <a:latin typeface="Arial Black"/>
              </a:rPr>
              <a:t>Spécifiques de</a:t>
            </a:r>
          </a:p>
          <a:p>
            <a:pPr algn="l">
              <a:lnSpc>
                <a:spcPct val="116650"/>
              </a:lnSpc>
            </a:pPr>
            <a:r>
              <a:rPr sz="2714" b="0">
                <a:solidFill>
                  <a:srgbClr val="00355E"/>
                </a:solidFill>
                <a:latin typeface="Arial Black"/>
              </a:rPr>
              <a:t>Recherche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6389" y="2106755"/>
            <a:ext cx="1181147" cy="15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90" b="1">
                <a:solidFill>
                  <a:srgbClr val="000000"/>
                </a:solidFill>
                <a:latin typeface="Arial"/>
              </a:rPr>
              <a:t>Question Centrale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389" y="2666820"/>
            <a:ext cx="4203888" cy="7705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598"/>
              </a:lnSpc>
            </a:pPr>
            <a:r>
              <a:rPr sz="996" b="0">
                <a:solidFill>
                  <a:srgbClr val="000000"/>
                </a:solidFill>
                <a:latin typeface="Arial"/>
              </a:rPr>
              <a:t>Comment l'articulation entre intelligence artificielle et intelligence émotionnelle transforme-t-elle la gouvernance des EPES gabonais en situation de polycrise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389" y="3479661"/>
            <a:ext cx="2039115" cy="15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86" b="1">
                <a:solidFill>
                  <a:srgbClr val="000000"/>
                </a:solidFill>
                <a:latin typeface="Arial"/>
              </a:rPr>
              <a:t>Questions Spécifiques (Q1 à Q4)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9559" y="4132912"/>
            <a:ext cx="240972" cy="15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96" b="1">
                <a:solidFill>
                  <a:srgbClr val="00355E"/>
                </a:solidFill>
                <a:latin typeface="Arial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202" y="4133908"/>
            <a:ext cx="4612809" cy="61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598"/>
              </a:lnSpc>
            </a:pPr>
            <a:r>
              <a:rPr sz="996" b="0">
                <a:solidFill>
                  <a:srgbClr val="000000"/>
                </a:solidFill>
                <a:latin typeface="Arial"/>
              </a:rPr>
              <a:t>Comment les EPES gabonais gouvernent-ils en situation de polycrise : arbitrages, instances, pratiques de décision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6859" y="4792564"/>
            <a:ext cx="266422" cy="15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96" b="1">
                <a:solidFill>
                  <a:srgbClr val="00355E"/>
                </a:solidFill>
                <a:latin typeface="Arial"/>
              </a:rP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202" y="4793560"/>
            <a:ext cx="4845348" cy="61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598"/>
              </a:lnSpc>
            </a:pPr>
            <a:r>
              <a:rPr sz="996" b="0">
                <a:solidFill>
                  <a:srgbClr val="000000"/>
                </a:solidFill>
                <a:latin typeface="Arial"/>
              </a:rPr>
              <a:t>Quels usages réels de l'intelligence artificielle observe-t-on dans les décisions de gouvernance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5866" y="5452217"/>
            <a:ext cx="268448" cy="15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96" b="1">
                <a:solidFill>
                  <a:srgbClr val="00355E"/>
                </a:solidFill>
                <a:latin typeface="Arial"/>
              </a:rPr>
              <a:t>Q3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202" y="5453192"/>
            <a:ext cx="4554326" cy="61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598"/>
              </a:lnSpc>
            </a:pPr>
            <a:r>
              <a:rPr sz="996" b="0">
                <a:solidFill>
                  <a:srgbClr val="000000"/>
                </a:solidFill>
                <a:latin typeface="Arial"/>
              </a:rPr>
              <a:t>Quel rôle l'intelligence émotionnelle joue-t-elle dans le jugement et l'action collective des dirigeants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882" y="6111868"/>
            <a:ext cx="272246" cy="15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96" b="1">
                <a:solidFill>
                  <a:srgbClr val="00355E"/>
                </a:solidFill>
                <a:latin typeface="Arial"/>
              </a:rPr>
              <a:t>Q4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202" y="6112844"/>
            <a:ext cx="4318052" cy="512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155"/>
              </a:lnSpc>
            </a:pPr>
            <a:r>
              <a:rPr sz="996" b="0">
                <a:solidFill>
                  <a:srgbClr val="000000"/>
                </a:solidFill>
                <a:latin typeface="Arial"/>
              </a:rPr>
              <a:t>À quelles conditions l'articulation IA–IE produit-elle des effets, et lesquels, sur la performance, la RSE et la durabilité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15689" y="350714"/>
            <a:ext cx="6651668" cy="8727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5441"/>
              </a:lnSpc>
            </a:pPr>
            <a:r>
              <a:rPr sz="2420" b="0">
                <a:solidFill>
                  <a:srgbClr val="00355E"/>
                </a:solidFill>
                <a:latin typeface="Arial Black"/>
              </a:rPr>
              <a:t>Fondements Théoriques</a:t>
            </a:r>
          </a:p>
          <a:p>
            <a:pPr algn="ctr">
              <a:lnSpc>
                <a:spcPct val="115441"/>
              </a:lnSpc>
            </a:pPr>
            <a:r>
              <a:rPr sz="2420" b="0">
                <a:solidFill>
                  <a:srgbClr val="00355E"/>
                </a:solidFill>
                <a:latin typeface="Arial Black"/>
              </a:rPr>
              <a:t>Théorie de l'Agence &amp; des Parties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06491" y="1201593"/>
            <a:ext cx="2070033" cy="44735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20" b="0">
                <a:solidFill>
                  <a:srgbClr val="00355E"/>
                </a:solidFill>
                <a:latin typeface="Arial Black"/>
              </a:rPr>
              <a:t>Prenantes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51837" y="5314331"/>
            <a:ext cx="1270459" cy="1499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74" b="1">
                <a:solidFill>
                  <a:srgbClr val="000000"/>
                </a:solidFill>
                <a:latin typeface="Arial"/>
              </a:rPr>
              <a:t>Théorie de l'Agence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09190" y="5314331"/>
            <a:ext cx="1864709" cy="1499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7" b="1">
                <a:solidFill>
                  <a:srgbClr val="000000"/>
                </a:solidFill>
                <a:latin typeface="Arial"/>
              </a:rPr>
              <a:t>Théorie des Parties Prenantes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80097" y="5314331"/>
            <a:ext cx="2431617" cy="1499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63" b="1">
                <a:solidFill>
                  <a:srgbClr val="000000"/>
                </a:solidFill>
                <a:latin typeface="Arial"/>
              </a:rPr>
              <a:t>Articulation &amp; Gouvernance Augmentée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2196" y="5762295"/>
            <a:ext cx="3109899" cy="32141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551"/>
              </a:lnSpc>
            </a:pPr>
            <a:r>
              <a:rPr sz="975" b="0">
                <a:solidFill>
                  <a:srgbClr val="000000"/>
                </a:solidFill>
                <a:latin typeface="Arial"/>
              </a:rPr>
              <a:t>Jensen &amp; Meckling (1976) : relation mandant-</a:t>
            </a:r>
          </a:p>
          <a:p>
            <a:pPr algn="l">
              <a:lnSpc>
                <a:spcPct val="115551"/>
              </a:lnSpc>
            </a:pPr>
            <a:r>
              <a:rPr sz="975" b="0">
                <a:solidFill>
                  <a:srgbClr val="000000"/>
                </a:solidFill>
                <a:latin typeface="Arial"/>
              </a:rPr>
              <a:t>mandataire, asymétrie d'information, alignement 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1019" y="5762295"/>
            <a:ext cx="3300998" cy="1499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000000"/>
                </a:solidFill>
                <a:latin typeface="Arial"/>
              </a:rPr>
              <a:t>Freeman (1984) : intégration des intérêts multiples (État,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3867" y="5762295"/>
            <a:ext cx="3164038" cy="1499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000000"/>
                </a:solidFill>
                <a:latin typeface="Arial"/>
              </a:rPr>
              <a:t>L'IA optimise la transparence et le contrôle (Agence) 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2768" y="5933741"/>
            <a:ext cx="3237435" cy="1499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000000"/>
                </a:solidFill>
                <a:latin typeface="Arial"/>
              </a:rPr>
              <a:t>société civile, entreprises). Légitimité, responsabilité 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86304" y="5933741"/>
            <a:ext cx="2819278" cy="1499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000000"/>
                </a:solidFill>
                <a:latin typeface="Arial"/>
              </a:rPr>
              <a:t>l'IE renforce la légitimité et la confiance (Parties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5913" y="6105186"/>
            <a:ext cx="2962454" cy="1499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000000"/>
                </a:solidFill>
                <a:latin typeface="Arial"/>
              </a:rPr>
              <a:t>intérêts via mécanismes de contrôle et incitations.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9718" y="6105186"/>
            <a:ext cx="3123624" cy="1499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000000"/>
                </a:solidFill>
                <a:latin typeface="Arial"/>
              </a:rPr>
              <a:t>création de valeur partagée en contexte de polycrise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7761" y="6105186"/>
            <a:ext cx="2656313" cy="1499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000000"/>
                </a:solidFill>
                <a:latin typeface="Arial"/>
              </a:rPr>
              <a:t>prenantes). Synergie fondamentale pour une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80" y="6276632"/>
            <a:ext cx="2878165" cy="1499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000000"/>
                </a:solidFill>
                <a:latin typeface="Arial"/>
              </a:rPr>
              <a:t>Pertinence : gouvernance des EPES gabonaises.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81423" y="6276632"/>
            <a:ext cx="720196" cy="1499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000000"/>
                </a:solidFill>
                <a:latin typeface="Arial"/>
              </a:rPr>
              <a:t>gabonaise.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66602" y="6276632"/>
            <a:ext cx="2058701" cy="1499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000000"/>
                </a:solidFill>
                <a:latin typeface="Arial"/>
              </a:rPr>
              <a:t>gouvernance augmentée efficace.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5801" y="347666"/>
            <a:ext cx="7151452" cy="8963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5815"/>
              </a:lnSpc>
            </a:pPr>
            <a:r>
              <a:rPr sz="2479" b="0">
                <a:solidFill>
                  <a:srgbClr val="00355E"/>
                </a:solidFill>
                <a:latin typeface="Arial Black"/>
              </a:rPr>
              <a:t>Fondements Théoriques :</a:t>
            </a:r>
          </a:p>
          <a:p>
            <a:pPr algn="ctr">
              <a:lnSpc>
                <a:spcPct val="115815"/>
              </a:lnSpc>
            </a:pPr>
            <a:r>
              <a:rPr sz="2479" b="0">
                <a:solidFill>
                  <a:srgbClr val="00355E"/>
                </a:solidFill>
                <a:latin typeface="Arial Black"/>
              </a:rPr>
              <a:t>Résilience &amp; Capacités Dynamiques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1509" y="5314331"/>
            <a:ext cx="1491196" cy="1499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9" b="1">
                <a:solidFill>
                  <a:srgbClr val="000000"/>
                </a:solidFill>
                <a:latin typeface="Arial"/>
              </a:rPr>
              <a:t>Théorie de la Résilience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14863" y="5314331"/>
            <a:ext cx="1453312" cy="1499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000000"/>
                </a:solidFill>
                <a:latin typeface="Arial"/>
              </a:rPr>
              <a:t>Capacités Dynamiques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14208" y="5314331"/>
            <a:ext cx="2763263" cy="1499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67" b="1">
                <a:solidFill>
                  <a:srgbClr val="000000"/>
                </a:solidFill>
                <a:latin typeface="Arial"/>
              </a:rPr>
              <a:t>Articulation avec la Gouvernance Augmentée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138" y="5762295"/>
            <a:ext cx="2917982" cy="1499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000000"/>
                </a:solidFill>
                <a:latin typeface="Arial"/>
              </a:rPr>
              <a:t>Capacité des organisations à absorber les chocs,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2903" y="5762295"/>
            <a:ext cx="2917298" cy="1499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000000"/>
                </a:solidFill>
                <a:latin typeface="Arial"/>
              </a:rPr>
              <a:t>Aptitude à reconfigurer, renouveler et intégrer 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22191" y="5762295"/>
            <a:ext cx="3347471" cy="32141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551"/>
              </a:lnSpc>
            </a:pPr>
            <a:r>
              <a:rPr sz="975" b="0">
                <a:solidFill>
                  <a:srgbClr val="000000"/>
                </a:solidFill>
                <a:latin typeface="Arial"/>
              </a:rPr>
              <a:t>L'IA renforce la détection précoce des risques ;</a:t>
            </a:r>
          </a:p>
          <a:p>
            <a:pPr algn="l">
              <a:lnSpc>
                <a:spcPct val="115551"/>
              </a:lnSpc>
            </a:pPr>
            <a:r>
              <a:rPr sz="975" b="0">
                <a:solidFill>
                  <a:srgbClr val="000000"/>
                </a:solidFill>
                <a:latin typeface="Arial"/>
              </a:rPr>
              <a:t>l'intelligence émotionnelle soutient l'adaptation humaine.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8112" y="5933741"/>
            <a:ext cx="3038024" cy="32141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4982"/>
              </a:lnSpc>
            </a:pPr>
            <a:r>
              <a:rPr sz="975" b="0">
                <a:solidFill>
                  <a:srgbClr val="000000"/>
                </a:solidFill>
                <a:latin typeface="Arial"/>
              </a:rPr>
              <a:t>s'adapter et se transformer face aux crises.</a:t>
            </a:r>
          </a:p>
          <a:p>
            <a:pPr algn="l">
              <a:lnSpc>
                <a:spcPct val="114982"/>
              </a:lnSpc>
            </a:pPr>
            <a:r>
              <a:rPr sz="975" b="0">
                <a:solidFill>
                  <a:srgbClr val="000000"/>
                </a:solidFill>
                <a:latin typeface="Arial"/>
              </a:rPr>
              <a:t>Fondamentale pour comprendre la gouvernance 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2480" y="5933741"/>
            <a:ext cx="3038116" cy="32141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4982"/>
              </a:lnSpc>
            </a:pPr>
            <a:r>
              <a:rPr sz="975" b="0">
                <a:solidFill>
                  <a:srgbClr val="000000"/>
                </a:solidFill>
                <a:latin typeface="Arial"/>
              </a:rPr>
              <a:t>ressources stratégiques. Permet à l'organisation</a:t>
            </a:r>
          </a:p>
          <a:p>
            <a:pPr algn="l">
              <a:lnSpc>
                <a:spcPct val="114982"/>
              </a:lnSpc>
            </a:pPr>
            <a:r>
              <a:rPr sz="975" b="0">
                <a:solidFill>
                  <a:srgbClr val="000000"/>
                </a:solidFill>
                <a:latin typeface="Arial"/>
              </a:rPr>
              <a:t>d'évoluer et d'innover en environnement instable 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52253" y="6105186"/>
            <a:ext cx="3287417" cy="1499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000000"/>
                </a:solidFill>
                <a:latin typeface="Arial"/>
              </a:rPr>
              <a:t>Ensemble, elles constituent le socle d'une gouvernance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975" y="6276632"/>
            <a:ext cx="1990387" cy="1499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000000"/>
                </a:solidFill>
                <a:latin typeface="Arial"/>
              </a:rPr>
              <a:t>contexte de polycrise gabonaise.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29447" y="6276632"/>
            <a:ext cx="624229" cy="1499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000000"/>
                </a:solidFill>
                <a:latin typeface="Arial"/>
              </a:rPr>
              <a:t>incertain.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48594" y="6276632"/>
            <a:ext cx="1094682" cy="1499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000000"/>
                </a:solidFill>
                <a:latin typeface="Arial"/>
              </a:rPr>
              <a:t>résiliente et agile.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6389" y="332044"/>
            <a:ext cx="7588039" cy="12953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6583"/>
              </a:lnSpc>
            </a:pPr>
            <a:r>
              <a:rPr sz="3573" b="0">
                <a:solidFill>
                  <a:srgbClr val="00355E"/>
                </a:solidFill>
                <a:latin typeface="Arial Black"/>
              </a:rPr>
              <a:t>Modèle Conceptuel de</a:t>
            </a:r>
          </a:p>
          <a:p>
            <a:pPr algn="l">
              <a:lnSpc>
                <a:spcPct val="116583"/>
              </a:lnSpc>
            </a:pPr>
            <a:r>
              <a:rPr sz="3573" b="0">
                <a:solidFill>
                  <a:srgbClr val="00355E"/>
                </a:solidFill>
                <a:latin typeface="Arial Black"/>
              </a:rPr>
              <a:t>Gouvernance Augmentée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6389" y="2692545"/>
            <a:ext cx="1679741" cy="1349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6" b="1">
                <a:solidFill>
                  <a:srgbClr val="000000"/>
                </a:solidFill>
                <a:latin typeface="Arial"/>
              </a:rPr>
              <a:t>Piliers Intégrateurs du Modèle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389" y="3263990"/>
            <a:ext cx="2581357" cy="592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3809"/>
              </a:lnSpc>
            </a:pPr>
            <a:r>
              <a:rPr sz="878" b="0">
                <a:solidFill>
                  <a:srgbClr val="000000"/>
                </a:solidFill>
                <a:latin typeface="Arial"/>
              </a:rPr>
              <a:t>L'articulation IA–IE constitue le cœur du modèle,</a:t>
            </a:r>
          </a:p>
          <a:p>
            <a:pPr algn="l">
              <a:lnSpc>
                <a:spcPct val="113809"/>
              </a:lnSpc>
            </a:pPr>
            <a:r>
              <a:rPr sz="878" b="0">
                <a:solidFill>
                  <a:srgbClr val="000000"/>
                </a:solidFill>
                <a:latin typeface="Arial"/>
              </a:rPr>
              <a:t>mobilisant données décisionnelles et</a:t>
            </a:r>
          </a:p>
          <a:p>
            <a:pPr algn="l">
              <a:lnSpc>
                <a:spcPct val="113809"/>
              </a:lnSpc>
            </a:pPr>
            <a:r>
              <a:rPr sz="878" b="0">
                <a:solidFill>
                  <a:srgbClr val="000000"/>
                </a:solidFill>
                <a:latin typeface="Arial"/>
              </a:rPr>
              <a:t>compétences relationnelles pour répondre à la</a:t>
            </a:r>
          </a:p>
          <a:p>
            <a:pPr algn="l">
              <a:lnSpc>
                <a:spcPct val="113809"/>
              </a:lnSpc>
            </a:pPr>
            <a:r>
              <a:rPr sz="878" b="0">
                <a:solidFill>
                  <a:srgbClr val="000000"/>
                </a:solidFill>
                <a:latin typeface="Arial"/>
              </a:rPr>
              <a:t>polycrise.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96760" y="3280916"/>
            <a:ext cx="210649" cy="1349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78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92120" y="3280916"/>
            <a:ext cx="233075" cy="1349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78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7810" y="3280916"/>
            <a:ext cx="234859" cy="1349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78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02706" y="3280916"/>
            <a:ext cx="238206" cy="1349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78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8400" y="3733878"/>
            <a:ext cx="1444377" cy="1349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8" b="0">
                <a:solidFill>
                  <a:srgbClr val="000000"/>
                </a:solidFill>
                <a:latin typeface="Arial"/>
              </a:rPr>
              <a:t>Intelligence Artificielle (IA)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4982" y="3733878"/>
            <a:ext cx="1586063" cy="1349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8" b="0">
                <a:solidFill>
                  <a:srgbClr val="000000"/>
                </a:solidFill>
                <a:latin typeface="Arial"/>
              </a:rPr>
              <a:t>Intelligence Émotionnelle (IE)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1565" y="3733878"/>
            <a:ext cx="1597395" cy="1349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8" b="0">
                <a:solidFill>
                  <a:srgbClr val="000000"/>
                </a:solidFill>
                <a:latin typeface="Arial"/>
              </a:rPr>
              <a:t>Capacités Organisationnelles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148" y="3733878"/>
            <a:ext cx="1601249" cy="2873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3809"/>
              </a:lnSpc>
            </a:pPr>
            <a:r>
              <a:rPr sz="878" b="0">
                <a:solidFill>
                  <a:srgbClr val="000000"/>
                </a:solidFill>
                <a:latin typeface="Arial"/>
              </a:rPr>
              <a:t>Parties Prenantes &amp; Contexte</a:t>
            </a:r>
          </a:p>
          <a:p>
            <a:pPr algn="l">
              <a:lnSpc>
                <a:spcPct val="113809"/>
              </a:lnSpc>
            </a:pPr>
            <a:r>
              <a:rPr sz="878" b="0">
                <a:solidFill>
                  <a:srgbClr val="000000"/>
                </a:solidFill>
                <a:latin typeface="Arial"/>
              </a:rPr>
              <a:t>Gabonais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389" y="4950101"/>
            <a:ext cx="2762912" cy="1349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9" b="1">
                <a:solidFill>
                  <a:srgbClr val="000000"/>
                </a:solidFill>
                <a:latin typeface="Arial"/>
              </a:rPr>
              <a:t>Résultats Attendus de la Gouvernance Augmentée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389" y="5521526"/>
            <a:ext cx="2548083" cy="5921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3809"/>
              </a:lnSpc>
            </a:pPr>
            <a:r>
              <a:rPr sz="878" b="0">
                <a:solidFill>
                  <a:srgbClr val="000000"/>
                </a:solidFill>
                <a:latin typeface="Arial"/>
              </a:rPr>
              <a:t>La gouvernance augmentée produit des effets</a:t>
            </a:r>
          </a:p>
          <a:p>
            <a:pPr algn="l">
              <a:lnSpc>
                <a:spcPct val="113809"/>
              </a:lnSpc>
            </a:pPr>
            <a:r>
              <a:rPr sz="878" b="0">
                <a:solidFill>
                  <a:srgbClr val="000000"/>
                </a:solidFill>
                <a:latin typeface="Arial"/>
              </a:rPr>
              <a:t>mesurables : résilience, performance</a:t>
            </a:r>
          </a:p>
          <a:p>
            <a:pPr algn="l">
              <a:lnSpc>
                <a:spcPct val="113809"/>
              </a:lnSpc>
            </a:pPr>
            <a:r>
              <a:rPr sz="878" b="0">
                <a:solidFill>
                  <a:srgbClr val="000000"/>
                </a:solidFill>
                <a:latin typeface="Arial"/>
              </a:rPr>
              <a:t>décisionnelle et légitimité renforcée au sein des</a:t>
            </a:r>
          </a:p>
          <a:p>
            <a:pPr algn="l">
              <a:lnSpc>
                <a:spcPct val="113809"/>
              </a:lnSpc>
            </a:pPr>
            <a:r>
              <a:rPr sz="878" b="0">
                <a:solidFill>
                  <a:srgbClr val="000000"/>
                </a:solidFill>
                <a:latin typeface="Arial"/>
              </a:rPr>
              <a:t>EPES gabonaises.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96760" y="5538472"/>
            <a:ext cx="210649" cy="1349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78" b="1">
                <a:solidFill>
                  <a:srgbClr val="00355E"/>
                </a:solidFill>
                <a:latin typeface="Arial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92120" y="5538472"/>
            <a:ext cx="233075" cy="1349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78" b="1">
                <a:solidFill>
                  <a:srgbClr val="00355E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7810" y="5538472"/>
            <a:ext cx="234859" cy="1349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78" b="1">
                <a:solidFill>
                  <a:srgbClr val="00355E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02706" y="5538472"/>
            <a:ext cx="238206" cy="1349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78" b="1">
                <a:solidFill>
                  <a:srgbClr val="00355E"/>
                </a:solidFill>
                <a:latin typeface="Arial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8400" y="5991414"/>
            <a:ext cx="1396344" cy="2873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3809"/>
              </a:lnSpc>
            </a:pPr>
            <a:r>
              <a:rPr sz="878" b="0">
                <a:solidFill>
                  <a:srgbClr val="000000"/>
                </a:solidFill>
                <a:latin typeface="Arial"/>
              </a:rPr>
              <a:t>Résilience institutionnelle</a:t>
            </a:r>
          </a:p>
          <a:p>
            <a:pPr algn="l">
              <a:lnSpc>
                <a:spcPct val="113809"/>
              </a:lnSpc>
            </a:pPr>
            <a:r>
              <a:rPr sz="878" b="0">
                <a:solidFill>
                  <a:srgbClr val="000000"/>
                </a:solidFill>
                <a:latin typeface="Arial"/>
              </a:rPr>
              <a:t>renforcée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4982" y="5991414"/>
            <a:ext cx="1760316" cy="1349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8" b="0">
                <a:solidFill>
                  <a:srgbClr val="000000"/>
                </a:solidFill>
                <a:latin typeface="Arial"/>
              </a:rPr>
              <a:t>Décisions inclusives et éclairées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1565" y="5991414"/>
            <a:ext cx="1633594" cy="2873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3809"/>
              </a:lnSpc>
            </a:pPr>
            <a:r>
              <a:rPr sz="878" b="0">
                <a:solidFill>
                  <a:srgbClr val="000000"/>
                </a:solidFill>
                <a:latin typeface="Arial"/>
              </a:rPr>
              <a:t>Performance de gouvernance</a:t>
            </a:r>
          </a:p>
          <a:p>
            <a:pPr algn="l">
              <a:lnSpc>
                <a:spcPct val="113809"/>
              </a:lnSpc>
            </a:pPr>
            <a:r>
              <a:rPr sz="878" b="0">
                <a:solidFill>
                  <a:srgbClr val="000000"/>
                </a:solidFill>
                <a:latin typeface="Arial"/>
              </a:rPr>
              <a:t>améliorée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148" y="5991414"/>
            <a:ext cx="1458214" cy="2873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3809"/>
              </a:lnSpc>
            </a:pPr>
            <a:r>
              <a:rPr sz="878" b="0">
                <a:solidFill>
                  <a:srgbClr val="000000"/>
                </a:solidFill>
                <a:latin typeface="Arial"/>
              </a:rPr>
              <a:t>Légitimité &amp; confiance des</a:t>
            </a:r>
          </a:p>
          <a:p>
            <a:pPr algn="l">
              <a:lnSpc>
                <a:spcPct val="113809"/>
              </a:lnSpc>
            </a:pPr>
            <a:r>
              <a:rPr sz="878" b="0">
                <a:solidFill>
                  <a:srgbClr val="000000"/>
                </a:solidFill>
                <a:latin typeface="Arial"/>
              </a:rPr>
              <a:t>acteurs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6389" y="331779"/>
            <a:ext cx="4916152" cy="18778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529"/>
              </a:lnSpc>
            </a:pPr>
            <a:r>
              <a:rPr sz="3495" b="0">
                <a:solidFill>
                  <a:srgbClr val="00355E"/>
                </a:solidFill>
                <a:latin typeface="Arial Black"/>
              </a:rPr>
              <a:t>Articulation entre</a:t>
            </a:r>
          </a:p>
          <a:p>
            <a:pPr algn="l">
              <a:lnSpc>
                <a:spcPct val="115529"/>
              </a:lnSpc>
            </a:pPr>
            <a:r>
              <a:rPr sz="3495" b="0">
                <a:solidFill>
                  <a:srgbClr val="00355E"/>
                </a:solidFill>
                <a:latin typeface="Arial Black"/>
              </a:rPr>
              <a:t>IA et Intelligence</a:t>
            </a:r>
          </a:p>
          <a:p>
            <a:pPr algn="l">
              <a:lnSpc>
                <a:spcPct val="115529"/>
              </a:lnSpc>
            </a:pPr>
            <a:r>
              <a:rPr sz="3495" b="0">
                <a:solidFill>
                  <a:srgbClr val="00355E"/>
                </a:solidFill>
                <a:latin typeface="Arial Black"/>
              </a:rPr>
              <a:t>Émotionnelle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81647" y="826390"/>
            <a:ext cx="2305265" cy="1285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22" b="1">
                <a:solidFill>
                  <a:srgbClr val="000000"/>
                </a:solidFill>
                <a:latin typeface="Arial"/>
              </a:rPr>
              <a:t>Synergies dans la Gouvernance Augmentée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2831" y="1479633"/>
            <a:ext cx="204933" cy="1285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36" b="1">
                <a:solidFill>
                  <a:srgbClr val="00355E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91455" y="1362160"/>
            <a:ext cx="2328447" cy="712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4210"/>
              </a:lnSpc>
            </a:pPr>
            <a:r>
              <a:rPr sz="836" b="0">
                <a:solidFill>
                  <a:srgbClr val="000000"/>
                </a:solidFill>
                <a:latin typeface="Arial"/>
              </a:rPr>
              <a:t>Intelligence Artificielle : analyse prédictive</a:t>
            </a:r>
          </a:p>
          <a:p>
            <a:pPr algn="l">
              <a:lnSpc>
                <a:spcPct val="114210"/>
              </a:lnSpc>
            </a:pPr>
            <a:r>
              <a:rPr sz="836" b="0">
                <a:solidFill>
                  <a:srgbClr val="000000"/>
                </a:solidFill>
                <a:latin typeface="Arial"/>
              </a:rPr>
              <a:t>des données complexes, aide à la décision</a:t>
            </a:r>
          </a:p>
          <a:p>
            <a:pPr algn="l">
              <a:lnSpc>
                <a:spcPct val="114210"/>
              </a:lnSpc>
            </a:pPr>
            <a:r>
              <a:rPr sz="836" b="0">
                <a:solidFill>
                  <a:srgbClr val="000000"/>
                </a:solidFill>
                <a:latin typeface="Arial"/>
              </a:rPr>
              <a:t>algorithmique, détection de signaux faibles et</a:t>
            </a:r>
          </a:p>
          <a:p>
            <a:pPr algn="l">
              <a:lnSpc>
                <a:spcPct val="114210"/>
              </a:lnSpc>
            </a:pPr>
            <a:r>
              <a:rPr sz="836" b="0">
                <a:solidFill>
                  <a:srgbClr val="000000"/>
                </a:solidFill>
                <a:latin typeface="Arial"/>
              </a:rPr>
              <a:t>modélisation des scénarios de crise pour une</a:t>
            </a:r>
          </a:p>
          <a:p>
            <a:pPr algn="l">
              <a:lnSpc>
                <a:spcPct val="114210"/>
              </a:lnSpc>
            </a:pPr>
            <a:r>
              <a:rPr sz="836" b="0">
                <a:solidFill>
                  <a:srgbClr val="000000"/>
                </a:solidFill>
                <a:latin typeface="Arial"/>
              </a:rPr>
              <a:t>gouvernance proactive et éclairée.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87592" y="1479633"/>
            <a:ext cx="226285" cy="1285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36" b="1">
                <a:solidFill>
                  <a:srgbClr val="00355E"/>
                </a:solidFill>
                <a:latin typeface="Arial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46890" y="1362160"/>
            <a:ext cx="2292144" cy="8587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4210"/>
              </a:lnSpc>
            </a:pPr>
            <a:r>
              <a:rPr sz="836" b="0">
                <a:solidFill>
                  <a:srgbClr val="000000"/>
                </a:solidFill>
                <a:latin typeface="Arial"/>
              </a:rPr>
              <a:t>Intelligence Émotionnelle : empathie, écoute</a:t>
            </a:r>
          </a:p>
          <a:p>
            <a:pPr algn="l">
              <a:lnSpc>
                <a:spcPct val="114210"/>
              </a:lnSpc>
            </a:pPr>
            <a:r>
              <a:rPr sz="836" b="0">
                <a:solidFill>
                  <a:srgbClr val="000000"/>
                </a:solidFill>
                <a:latin typeface="Arial"/>
              </a:rPr>
              <a:t>active, régulation relationnelle et instauration</a:t>
            </a:r>
          </a:p>
          <a:p>
            <a:pPr algn="l">
              <a:lnSpc>
                <a:spcPct val="114210"/>
              </a:lnSpc>
            </a:pPr>
            <a:r>
              <a:rPr sz="836" b="0">
                <a:solidFill>
                  <a:srgbClr val="000000"/>
                </a:solidFill>
                <a:latin typeface="Arial"/>
              </a:rPr>
              <a:t>de la confiance — dimensions humaines</a:t>
            </a:r>
          </a:p>
          <a:p>
            <a:pPr algn="l">
              <a:lnSpc>
                <a:spcPct val="114210"/>
              </a:lnSpc>
            </a:pPr>
            <a:r>
              <a:rPr sz="836" b="0">
                <a:solidFill>
                  <a:srgbClr val="000000"/>
                </a:solidFill>
                <a:latin typeface="Arial"/>
              </a:rPr>
              <a:t>indispensables pour légitimer et incarner les</a:t>
            </a:r>
          </a:p>
          <a:p>
            <a:pPr algn="l">
              <a:lnSpc>
                <a:spcPct val="114210"/>
              </a:lnSpc>
            </a:pPr>
            <a:r>
              <a:rPr sz="836" b="0">
                <a:solidFill>
                  <a:srgbClr val="000000"/>
                </a:solidFill>
                <a:latin typeface="Arial"/>
              </a:rPr>
              <a:t>décisions dans le contexte gabonais de</a:t>
            </a:r>
          </a:p>
          <a:p>
            <a:pPr algn="l">
              <a:lnSpc>
                <a:spcPct val="114210"/>
              </a:lnSpc>
            </a:pPr>
            <a:r>
              <a:rPr sz="836" b="0">
                <a:solidFill>
                  <a:srgbClr val="000000"/>
                </a:solidFill>
                <a:latin typeface="Arial"/>
              </a:rPr>
              <a:t>polycrise.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81647" y="334754"/>
            <a:ext cx="6085283" cy="1868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369"/>
              </a:lnSpc>
            </a:pPr>
            <a:r>
              <a:rPr sz="3437" b="0">
                <a:solidFill>
                  <a:srgbClr val="00355E"/>
                </a:solidFill>
                <a:latin typeface="Arial Black"/>
              </a:rPr>
              <a:t>Les Sept Propositions</a:t>
            </a:r>
          </a:p>
          <a:p>
            <a:pPr algn="l">
              <a:lnSpc>
                <a:spcPct val="116369"/>
              </a:lnSpc>
            </a:pPr>
            <a:r>
              <a:rPr sz="3437" b="0">
                <a:solidFill>
                  <a:srgbClr val="00355E"/>
                </a:solidFill>
                <a:latin typeface="Arial Black"/>
              </a:rPr>
              <a:t>de Recherche (P1–P7)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81647" y="2245705"/>
            <a:ext cx="2866667" cy="122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7" b="1">
                <a:solidFill>
                  <a:srgbClr val="000000"/>
                </a:solidFill>
                <a:latin typeface="Arial"/>
              </a:rPr>
              <a:t>Propositions structurantes de la gouvernance augmentée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5278" y="2962454"/>
            <a:ext cx="200047" cy="122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99" b="1">
                <a:solidFill>
                  <a:srgbClr val="00355E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91455" y="2844967"/>
            <a:ext cx="2254768" cy="82141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4583"/>
              </a:lnSpc>
            </a:pPr>
            <a:r>
              <a:rPr sz="799" b="0">
                <a:solidFill>
                  <a:srgbClr val="000000"/>
                </a:solidFill>
                <a:latin typeface="Arial"/>
              </a:rPr>
              <a:t>P1 : L'intégration de l'IA dans les dispositifs de</a:t>
            </a:r>
          </a:p>
          <a:p>
            <a:pPr algn="l">
              <a:lnSpc>
                <a:spcPct val="114583"/>
              </a:lnSpc>
            </a:pPr>
            <a:r>
              <a:rPr sz="799" b="0">
                <a:solidFill>
                  <a:srgbClr val="000000"/>
                </a:solidFill>
                <a:latin typeface="Arial"/>
              </a:rPr>
              <a:t>gouvernance améliore la qualité décisionnelle</a:t>
            </a:r>
          </a:p>
          <a:p>
            <a:pPr algn="l">
              <a:lnSpc>
                <a:spcPct val="114583"/>
              </a:lnSpc>
            </a:pPr>
            <a:r>
              <a:rPr sz="799" b="0">
                <a:solidFill>
                  <a:srgbClr val="000000"/>
                </a:solidFill>
                <a:latin typeface="Arial"/>
              </a:rPr>
              <a:t>en contexte de polycrise.</a:t>
            </a:r>
          </a:p>
          <a:p>
            <a:pPr algn="l">
              <a:lnSpc>
                <a:spcPct val="114583"/>
              </a:lnSpc>
            </a:pPr>
            <a:r>
              <a:rPr sz="799" b="0">
                <a:solidFill>
                  <a:srgbClr val="000000"/>
                </a:solidFill>
                <a:latin typeface="Arial"/>
              </a:rPr>
              <a:t>P2 : L'intelligence émotionnelle des dirigeants</a:t>
            </a:r>
          </a:p>
          <a:p>
            <a:pPr algn="l">
              <a:lnSpc>
                <a:spcPct val="114583"/>
              </a:lnSpc>
            </a:pPr>
            <a:r>
              <a:rPr sz="799" b="0">
                <a:solidFill>
                  <a:srgbClr val="000000"/>
                </a:solidFill>
                <a:latin typeface="Arial"/>
              </a:rPr>
              <a:t>renforce la légitimité et l'adhésion aux</a:t>
            </a:r>
          </a:p>
          <a:p>
            <a:pPr algn="l">
              <a:lnSpc>
                <a:spcPct val="114583"/>
              </a:lnSpc>
            </a:pPr>
            <a:r>
              <a:rPr sz="799" b="0">
                <a:solidFill>
                  <a:srgbClr val="000000"/>
                </a:solidFill>
                <a:latin typeface="Arial"/>
              </a:rPr>
              <a:t>décisions de gouvernance.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90568" y="2962454"/>
            <a:ext cx="220468" cy="122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99" b="1">
                <a:solidFill>
                  <a:srgbClr val="00355E"/>
                </a:solidFill>
                <a:latin typeface="Arial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46890" y="2844967"/>
            <a:ext cx="2154905" cy="82141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4583"/>
              </a:lnSpc>
            </a:pPr>
            <a:r>
              <a:rPr sz="799" b="0">
                <a:solidFill>
                  <a:srgbClr val="000000"/>
                </a:solidFill>
                <a:latin typeface="Arial"/>
              </a:rPr>
              <a:t>P3 : L'articulation entre IA et IE génère des</a:t>
            </a:r>
          </a:p>
          <a:p>
            <a:pPr algn="l">
              <a:lnSpc>
                <a:spcPct val="114583"/>
              </a:lnSpc>
            </a:pPr>
            <a:r>
              <a:rPr sz="799" b="0">
                <a:solidFill>
                  <a:srgbClr val="000000"/>
                </a:solidFill>
                <a:latin typeface="Arial"/>
              </a:rPr>
              <a:t>synergies favorisant une gouvernance</a:t>
            </a:r>
          </a:p>
          <a:p>
            <a:pPr algn="l">
              <a:lnSpc>
                <a:spcPct val="114583"/>
              </a:lnSpc>
            </a:pPr>
            <a:r>
              <a:rPr sz="799" b="0">
                <a:solidFill>
                  <a:srgbClr val="000000"/>
                </a:solidFill>
                <a:latin typeface="Arial"/>
              </a:rPr>
              <a:t>augmentée plus résiliente.</a:t>
            </a:r>
          </a:p>
          <a:p>
            <a:pPr algn="l">
              <a:lnSpc>
                <a:spcPct val="114583"/>
              </a:lnSpc>
            </a:pPr>
            <a:r>
              <a:rPr sz="799" b="0">
                <a:solidFill>
                  <a:srgbClr val="000000"/>
                </a:solidFill>
                <a:latin typeface="Arial"/>
              </a:rPr>
              <a:t>P4 : La gouvernance augmentée renforce la</a:t>
            </a:r>
          </a:p>
          <a:p>
            <a:pPr algn="l">
              <a:lnSpc>
                <a:spcPct val="114583"/>
              </a:lnSpc>
            </a:pPr>
            <a:r>
              <a:rPr sz="799" b="0">
                <a:solidFill>
                  <a:srgbClr val="000000"/>
                </a:solidFill>
                <a:latin typeface="Arial"/>
              </a:rPr>
              <a:t>capacité des organisations à absorber et</a:t>
            </a:r>
          </a:p>
          <a:p>
            <a:pPr algn="l">
              <a:lnSpc>
                <a:spcPct val="114583"/>
              </a:lnSpc>
            </a:pPr>
            <a:r>
              <a:rPr sz="799" b="0">
                <a:solidFill>
                  <a:srgbClr val="000000"/>
                </a:solidFill>
                <a:latin typeface="Arial"/>
              </a:rPr>
              <a:t>surmonter les chocs de la polycrise.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34265" y="4204890"/>
            <a:ext cx="222094" cy="1229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99" b="1">
                <a:solidFill>
                  <a:srgbClr val="00355E"/>
                </a:solidFill>
                <a:latin typeface="Arial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1455" y="4087423"/>
            <a:ext cx="2264721" cy="9611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4583"/>
              </a:lnSpc>
            </a:pPr>
            <a:r>
              <a:rPr sz="799" b="0">
                <a:solidFill>
                  <a:srgbClr val="000000"/>
                </a:solidFill>
                <a:latin typeface="Arial"/>
              </a:rPr>
              <a:t>P5 : L'implication des parties prenantes,</a:t>
            </a:r>
          </a:p>
          <a:p>
            <a:pPr algn="l">
              <a:lnSpc>
                <a:spcPct val="114583"/>
              </a:lnSpc>
            </a:pPr>
            <a:r>
              <a:rPr sz="799" b="0">
                <a:solidFill>
                  <a:srgbClr val="000000"/>
                </a:solidFill>
                <a:latin typeface="Arial"/>
              </a:rPr>
              <a:t>facilitée par les outils IA, améliore la co-</a:t>
            </a:r>
          </a:p>
          <a:p>
            <a:pPr algn="l">
              <a:lnSpc>
                <a:spcPct val="114583"/>
              </a:lnSpc>
            </a:pPr>
            <a:r>
              <a:rPr sz="799" b="0">
                <a:solidFill>
                  <a:srgbClr val="000000"/>
                </a:solidFill>
                <a:latin typeface="Arial"/>
              </a:rPr>
              <a:t>construction des politiques publiques</a:t>
            </a:r>
          </a:p>
          <a:p>
            <a:pPr algn="l">
              <a:lnSpc>
                <a:spcPct val="114583"/>
              </a:lnSpc>
            </a:pPr>
            <a:r>
              <a:rPr sz="799" b="0">
                <a:solidFill>
                  <a:srgbClr val="000000"/>
                </a:solidFill>
                <a:latin typeface="Arial"/>
              </a:rPr>
              <a:t>gabonaises.</a:t>
            </a:r>
          </a:p>
          <a:p>
            <a:pPr algn="l">
              <a:lnSpc>
                <a:spcPct val="114583"/>
              </a:lnSpc>
            </a:pPr>
            <a:r>
              <a:rPr sz="799" b="0">
                <a:solidFill>
                  <a:srgbClr val="000000"/>
                </a:solidFill>
                <a:latin typeface="Arial"/>
              </a:rPr>
              <a:t>P6 : Les capacités dynamiques</a:t>
            </a:r>
          </a:p>
          <a:p>
            <a:pPr algn="l">
              <a:lnSpc>
                <a:spcPct val="114583"/>
              </a:lnSpc>
            </a:pPr>
            <a:r>
              <a:rPr sz="799" b="0">
                <a:solidFill>
                  <a:srgbClr val="000000"/>
                </a:solidFill>
                <a:latin typeface="Arial"/>
              </a:rPr>
              <a:t>organisationnelles sont renforcées par l'usage</a:t>
            </a:r>
          </a:p>
          <a:p>
            <a:pPr algn="l">
              <a:lnSpc>
                <a:spcPct val="114583"/>
              </a:lnSpc>
            </a:pPr>
            <a:r>
              <a:rPr sz="799" b="0">
                <a:solidFill>
                  <a:srgbClr val="000000"/>
                </a:solidFill>
                <a:latin typeface="Arial"/>
              </a:rPr>
              <a:t>combiné de l'IA et de l'IE.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88187" y="4204890"/>
            <a:ext cx="225142" cy="1229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99" b="1">
                <a:solidFill>
                  <a:srgbClr val="00355E"/>
                </a:solidFill>
                <a:latin typeface="Arial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46890" y="4087423"/>
            <a:ext cx="2329485" cy="54201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4583"/>
              </a:lnSpc>
            </a:pPr>
            <a:r>
              <a:rPr sz="799" b="0">
                <a:solidFill>
                  <a:srgbClr val="000000"/>
                </a:solidFill>
                <a:latin typeface="Arial"/>
              </a:rPr>
              <a:t>P7 : La gouvernance augmentée, intégrant IA</a:t>
            </a:r>
          </a:p>
          <a:p>
            <a:pPr algn="l">
              <a:lnSpc>
                <a:spcPct val="114583"/>
              </a:lnSpc>
            </a:pPr>
            <a:r>
              <a:rPr sz="799" b="0">
                <a:solidFill>
                  <a:srgbClr val="000000"/>
                </a:solidFill>
                <a:latin typeface="Arial"/>
              </a:rPr>
              <a:t>et IE, améliore significativement la performance</a:t>
            </a:r>
          </a:p>
          <a:p>
            <a:pPr algn="l">
              <a:lnSpc>
                <a:spcPct val="114583"/>
              </a:lnSpc>
            </a:pPr>
            <a:r>
              <a:rPr sz="799" b="0">
                <a:solidFill>
                  <a:srgbClr val="000000"/>
                </a:solidFill>
                <a:latin typeface="Arial"/>
              </a:rPr>
              <a:t>globale des institutions gabonaises en situation</a:t>
            </a:r>
          </a:p>
          <a:p>
            <a:pPr algn="l">
              <a:lnSpc>
                <a:spcPct val="114583"/>
              </a:lnSpc>
            </a:pPr>
            <a:r>
              <a:rPr sz="799" b="0">
                <a:solidFill>
                  <a:srgbClr val="000000"/>
                </a:solidFill>
                <a:latin typeface="Arial"/>
              </a:rPr>
              <a:t>de crise multidimensionnelle.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6389" y="326153"/>
            <a:ext cx="4276607" cy="134970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6154"/>
              </a:lnSpc>
            </a:pPr>
            <a:r>
              <a:rPr sz="3730" b="0">
                <a:solidFill>
                  <a:srgbClr val="00355E"/>
                </a:solidFill>
                <a:latin typeface="Arial Black"/>
              </a:rPr>
              <a:t>Méthodologie</a:t>
            </a:r>
          </a:p>
          <a:p>
            <a:pPr algn="l">
              <a:lnSpc>
                <a:spcPct val="116154"/>
              </a:lnSpc>
            </a:pPr>
            <a:r>
              <a:rPr sz="3730" b="0">
                <a:solidFill>
                  <a:srgbClr val="00355E"/>
                </a:solidFill>
                <a:latin typeface="Arial Black"/>
              </a:rPr>
              <a:t>Qualitative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81647" y="2593787"/>
            <a:ext cx="5097414" cy="10140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652"/>
              </a:lnSpc>
            </a:pPr>
            <a:r>
              <a:rPr sz="864" b="0">
                <a:solidFill>
                  <a:srgbClr val="000000"/>
                </a:solidFill>
                <a:latin typeface="Arial"/>
              </a:rPr>
              <a:t>Étude menée auprès de 5 EPES (établissements privés d'enseignement supérieur) au Gabon, avec 45 participants répartis en trois vagues (15 / 20 / 10).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81647" y="3650137"/>
            <a:ext cx="1077939" cy="1328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7" b="1">
                <a:solidFill>
                  <a:srgbClr val="000000"/>
                </a:solidFill>
                <a:latin typeface="Arial"/>
              </a:rPr>
              <a:t>Méthodes et Outils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0945" y="4303388"/>
            <a:ext cx="208744" cy="132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64" b="1">
                <a:solidFill>
                  <a:srgbClr val="00355E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91455" y="4339109"/>
            <a:ext cx="5469889" cy="5815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652"/>
              </a:lnSpc>
            </a:pPr>
            <a:r>
              <a:rPr sz="864" b="0">
                <a:solidFill>
                  <a:srgbClr val="000000"/>
                </a:solidFill>
                <a:latin typeface="Arial"/>
              </a:rPr>
              <a:t>Entretiens semi-directifs individuels (45 participants) et observations directes en contexte organisationnel gabonais pour capter les dynamiques de décision.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29933" y="4963040"/>
            <a:ext cx="230811" cy="132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64" b="1">
                <a:solidFill>
                  <a:srgbClr val="00355E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91455" y="4998762"/>
            <a:ext cx="5429255" cy="2852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652"/>
              </a:lnSpc>
            </a:pPr>
            <a:r>
              <a:rPr sz="864" b="0">
                <a:solidFill>
                  <a:srgbClr val="000000"/>
                </a:solidFill>
                <a:latin typeface="Arial"/>
              </a:rPr>
              <a:t>Analyse documentaire approfondie (rapports, politiques internes, comptes rendus) et codage thématique</a:t>
            </a:r>
          </a:p>
          <a:p>
            <a:pPr algn="l">
              <a:lnSpc>
                <a:spcPct val="115652"/>
              </a:lnSpc>
            </a:pPr>
            <a:r>
              <a:rPr sz="864" b="0">
                <a:solidFill>
                  <a:srgbClr val="000000"/>
                </a:solidFill>
                <a:latin typeface="Arial"/>
              </a:rPr>
              <a:t>assisté par le logiciel NVivo pour une rigueur analytique accrue.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9040" y="5622692"/>
            <a:ext cx="232567" cy="132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64" b="1">
                <a:solidFill>
                  <a:srgbClr val="00355E"/>
                </a:solidFill>
                <a:latin typeface="Arial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1455" y="5658413"/>
            <a:ext cx="5190015" cy="2852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652"/>
              </a:lnSpc>
            </a:pPr>
            <a:r>
              <a:rPr sz="864" b="0">
                <a:solidFill>
                  <a:srgbClr val="000000"/>
                </a:solidFill>
                <a:latin typeface="Arial"/>
              </a:rPr>
              <a:t>Triangulation des données (entretiens, observations, documents) garantissant la validité interne et la</a:t>
            </a:r>
          </a:p>
          <a:p>
            <a:pPr algn="l">
              <a:lnSpc>
                <a:spcPct val="115652"/>
              </a:lnSpc>
            </a:pPr>
            <a:r>
              <a:rPr sz="864" b="0">
                <a:solidFill>
                  <a:srgbClr val="000000"/>
                </a:solidFill>
                <a:latin typeface="Arial"/>
              </a:rPr>
              <a:t>crédibilité des résultats dans un contexte de polycrise gabonaise.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6389" y="326153"/>
            <a:ext cx="5069202" cy="134970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6154"/>
              </a:lnSpc>
            </a:pPr>
            <a:r>
              <a:rPr sz="3730" b="0">
                <a:solidFill>
                  <a:srgbClr val="00355E"/>
                </a:solidFill>
                <a:latin typeface="Arial Black"/>
              </a:rPr>
              <a:t>Protocole</a:t>
            </a:r>
          </a:p>
          <a:p>
            <a:pPr algn="l">
              <a:lnSpc>
                <a:spcPct val="116154"/>
              </a:lnSpc>
            </a:pPr>
            <a:r>
              <a:rPr sz="3730" b="0">
                <a:solidFill>
                  <a:srgbClr val="00355E"/>
                </a:solidFill>
                <a:latin typeface="Arial Black"/>
              </a:rPr>
              <a:t>Méthodologique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6389" y="2696631"/>
            <a:ext cx="2510122" cy="1950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9" b="1">
                <a:solidFill>
                  <a:srgbClr val="000000"/>
                </a:solidFill>
                <a:latin typeface="Arial"/>
              </a:rPr>
              <a:t>Phase de Collecte des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389" y="3268076"/>
            <a:ext cx="2191552" cy="1084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109"/>
              </a:lnSpc>
            </a:pPr>
            <a:r>
              <a:rPr sz="1269" b="0">
                <a:solidFill>
                  <a:srgbClr val="000000"/>
                </a:solidFill>
                <a:latin typeface="Arial"/>
              </a:rPr>
              <a:t>Approche qualitative multi-</a:t>
            </a:r>
          </a:p>
          <a:p>
            <a:pPr algn="l">
              <a:lnSpc>
                <a:spcPct val="115109"/>
              </a:lnSpc>
            </a:pPr>
            <a:r>
              <a:rPr sz="1269" b="0">
                <a:solidFill>
                  <a:srgbClr val="000000"/>
                </a:solidFill>
                <a:latin typeface="Arial"/>
              </a:rPr>
              <a:t>méthodes : entretiens,</a:t>
            </a:r>
          </a:p>
          <a:p>
            <a:pPr algn="l">
              <a:lnSpc>
                <a:spcPct val="115109"/>
              </a:lnSpc>
            </a:pPr>
            <a:r>
              <a:rPr sz="1269" b="0">
                <a:solidFill>
                  <a:srgbClr val="000000"/>
                </a:solidFill>
                <a:latin typeface="Arial"/>
              </a:rPr>
              <a:t>observations et documents</a:t>
            </a:r>
          </a:p>
          <a:p>
            <a:pPr algn="l">
              <a:lnSpc>
                <a:spcPct val="115109"/>
              </a:lnSpc>
            </a:pPr>
            <a:r>
              <a:rPr sz="1269" b="0">
                <a:solidFill>
                  <a:srgbClr val="000000"/>
                </a:solidFill>
                <a:latin typeface="Arial"/>
              </a:rPr>
              <a:t>constituent les trois sources</a:t>
            </a:r>
          </a:p>
          <a:p>
            <a:pPr algn="l">
              <a:lnSpc>
                <a:spcPct val="115109"/>
              </a:lnSpc>
            </a:pPr>
            <a:r>
              <a:rPr sz="1269" b="0">
                <a:solidFill>
                  <a:srgbClr val="000000"/>
                </a:solidFill>
                <a:latin typeface="Arial"/>
              </a:rPr>
              <a:t>primaires de données.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70270" y="3285003"/>
            <a:ext cx="263690" cy="1950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69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60668" y="3285003"/>
            <a:ext cx="296095" cy="1950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69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65961" y="3285003"/>
            <a:ext cx="298674" cy="1950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69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70064" y="3285003"/>
            <a:ext cx="303511" cy="1950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69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8400" y="3737964"/>
            <a:ext cx="1662296" cy="4173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109"/>
              </a:lnSpc>
            </a:pPr>
            <a:r>
              <a:rPr sz="1269" b="0">
                <a:solidFill>
                  <a:srgbClr val="000000"/>
                </a:solidFill>
                <a:latin typeface="Arial"/>
              </a:rPr>
              <a:t>Accès au terrain &amp;</a:t>
            </a:r>
          </a:p>
          <a:p>
            <a:pPr algn="l">
              <a:lnSpc>
                <a:spcPct val="115109"/>
              </a:lnSpc>
            </a:pPr>
            <a:r>
              <a:rPr sz="1269" b="0">
                <a:solidFill>
                  <a:srgbClr val="000000"/>
                </a:solidFill>
                <a:latin typeface="Arial"/>
              </a:rPr>
              <a:t>sélection des 5 EPES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4982" y="3737964"/>
            <a:ext cx="1311088" cy="1762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109"/>
              </a:lnSpc>
            </a:pPr>
            <a:r>
              <a:rPr sz="1269" b="0">
                <a:solidFill>
                  <a:srgbClr val="000000"/>
                </a:solidFill>
                <a:latin typeface="Arial"/>
              </a:rPr>
              <a:t>Entretiens semi-directifs</a:t>
            </a:r>
          </a:p>
          <a:p>
            <a:pPr algn="l">
              <a:lnSpc>
                <a:spcPct val="115109"/>
              </a:lnSpc>
            </a:pPr>
            <a:r>
              <a:rPr sz="1269" b="0">
                <a:solidFill>
                  <a:srgbClr val="000000"/>
                </a:solidFill>
                <a:latin typeface="Arial"/>
              </a:rPr>
              <a:t>(45 participants)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1565" y="3737964"/>
            <a:ext cx="1729490" cy="6395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109"/>
              </a:lnSpc>
            </a:pPr>
            <a:r>
              <a:rPr sz="1269" b="0">
                <a:solidFill>
                  <a:srgbClr val="000000"/>
                </a:solidFill>
                <a:latin typeface="Arial"/>
              </a:rPr>
              <a:t>Observations directes</a:t>
            </a:r>
          </a:p>
          <a:p>
            <a:pPr algn="l">
              <a:lnSpc>
                <a:spcPct val="115109"/>
              </a:lnSpc>
            </a:pPr>
            <a:r>
              <a:rPr sz="1269" b="0">
                <a:solidFill>
                  <a:srgbClr val="000000"/>
                </a:solidFill>
                <a:latin typeface="Arial"/>
              </a:rPr>
              <a:t>&amp; analyse</a:t>
            </a:r>
          </a:p>
          <a:p>
            <a:pPr algn="l">
              <a:lnSpc>
                <a:spcPct val="115109"/>
              </a:lnSpc>
            </a:pPr>
            <a:r>
              <a:rPr sz="1269" b="0">
                <a:solidFill>
                  <a:srgbClr val="000000"/>
                </a:solidFill>
                <a:latin typeface="Arial"/>
              </a:rPr>
              <a:t>documentaire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148" y="3737964"/>
            <a:ext cx="1370646" cy="6395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109"/>
              </a:lnSpc>
            </a:pPr>
            <a:r>
              <a:rPr sz="1269" b="0">
                <a:solidFill>
                  <a:srgbClr val="000000"/>
                </a:solidFill>
                <a:latin typeface="Arial"/>
              </a:rPr>
              <a:t>Retranscription &amp;</a:t>
            </a:r>
          </a:p>
          <a:p>
            <a:pPr algn="l">
              <a:lnSpc>
                <a:spcPct val="115109"/>
              </a:lnSpc>
            </a:pPr>
            <a:r>
              <a:rPr sz="1269" b="0">
                <a:solidFill>
                  <a:srgbClr val="000000"/>
                </a:solidFill>
                <a:latin typeface="Arial"/>
              </a:rPr>
              <a:t>préparation des</a:t>
            </a:r>
          </a:p>
          <a:p>
            <a:pPr algn="l">
              <a:lnSpc>
                <a:spcPct val="115109"/>
              </a:lnSpc>
            </a:pPr>
            <a:r>
              <a:rPr sz="1269" b="0">
                <a:solidFill>
                  <a:srgbClr val="000000"/>
                </a:solidFill>
                <a:latin typeface="Arial"/>
              </a:rPr>
              <a:t>corpus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389" y="4954188"/>
            <a:ext cx="2353161" cy="1950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35" b="1">
                <a:solidFill>
                  <a:srgbClr val="000000"/>
                </a:solidFill>
                <a:latin typeface="Arial"/>
              </a:rPr>
              <a:t>Phase d'Analyse et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389" y="5525612"/>
            <a:ext cx="2581532" cy="86180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109"/>
              </a:lnSpc>
            </a:pPr>
            <a:r>
              <a:rPr sz="1269" b="0">
                <a:solidFill>
                  <a:srgbClr val="000000"/>
                </a:solidFill>
                <a:latin typeface="Arial"/>
              </a:rPr>
              <a:t>Rigueur analytique assurée par la</a:t>
            </a:r>
          </a:p>
          <a:p>
            <a:pPr algn="l">
              <a:lnSpc>
                <a:spcPct val="115109"/>
              </a:lnSpc>
            </a:pPr>
            <a:r>
              <a:rPr sz="1269" b="0">
                <a:solidFill>
                  <a:srgbClr val="000000"/>
                </a:solidFill>
                <a:latin typeface="Arial"/>
              </a:rPr>
              <a:t>triangulation des données et la</a:t>
            </a:r>
          </a:p>
          <a:p>
            <a:pPr algn="l">
              <a:lnSpc>
                <a:spcPct val="115109"/>
              </a:lnSpc>
            </a:pPr>
            <a:r>
              <a:rPr sz="1269" b="0">
                <a:solidFill>
                  <a:srgbClr val="000000"/>
                </a:solidFill>
                <a:latin typeface="Arial"/>
              </a:rPr>
              <a:t>validation inter-chercheurs via</a:t>
            </a:r>
          </a:p>
          <a:p>
            <a:pPr algn="l">
              <a:lnSpc>
                <a:spcPct val="115109"/>
              </a:lnSpc>
            </a:pPr>
            <a:r>
              <a:rPr sz="1269" b="0">
                <a:solidFill>
                  <a:srgbClr val="000000"/>
                </a:solidFill>
                <a:latin typeface="Arial"/>
              </a:rPr>
              <a:t>NVivo.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70270" y="5542559"/>
            <a:ext cx="263690" cy="1950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69" b="1">
                <a:solidFill>
                  <a:srgbClr val="00355E"/>
                </a:solidFill>
                <a:latin typeface="Arial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0668" y="5542559"/>
            <a:ext cx="296095" cy="1950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69" b="1">
                <a:solidFill>
                  <a:srgbClr val="00355E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961" y="5542559"/>
            <a:ext cx="298674" cy="1950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69" b="1">
                <a:solidFill>
                  <a:srgbClr val="00355E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70064" y="5542559"/>
            <a:ext cx="303511" cy="1950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69" b="1">
                <a:solidFill>
                  <a:srgbClr val="00355E"/>
                </a:solidFill>
                <a:latin typeface="Arial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8400" y="5995500"/>
            <a:ext cx="1563000" cy="4173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109"/>
              </a:lnSpc>
            </a:pPr>
            <a:r>
              <a:rPr sz="1269" b="0">
                <a:solidFill>
                  <a:srgbClr val="000000"/>
                </a:solidFill>
                <a:latin typeface="Arial"/>
              </a:rPr>
              <a:t>Codage thématique</a:t>
            </a:r>
          </a:p>
          <a:p>
            <a:pPr algn="l">
              <a:lnSpc>
                <a:spcPct val="115109"/>
              </a:lnSpc>
            </a:pPr>
            <a:r>
              <a:rPr sz="1269" b="0">
                <a:solidFill>
                  <a:srgbClr val="000000"/>
                </a:solidFill>
                <a:latin typeface="Arial"/>
              </a:rPr>
              <a:t>avec NVivo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4982" y="5995500"/>
            <a:ext cx="1716976" cy="4173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109"/>
              </a:lnSpc>
            </a:pPr>
            <a:r>
              <a:rPr sz="1269" b="0">
                <a:solidFill>
                  <a:srgbClr val="000000"/>
                </a:solidFill>
                <a:latin typeface="Arial"/>
              </a:rPr>
              <a:t>Analyse thématique &amp;</a:t>
            </a:r>
          </a:p>
          <a:p>
            <a:pPr algn="l">
              <a:lnSpc>
                <a:spcPct val="115109"/>
              </a:lnSpc>
            </a:pPr>
            <a:r>
              <a:rPr sz="1269" b="0">
                <a:solidFill>
                  <a:srgbClr val="000000"/>
                </a:solidFill>
                <a:latin typeface="Arial"/>
              </a:rPr>
              <a:t>catégorisation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1565" y="5995500"/>
            <a:ext cx="1663246" cy="4173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109"/>
              </a:lnSpc>
            </a:pPr>
            <a:r>
              <a:rPr sz="1269" b="0">
                <a:solidFill>
                  <a:srgbClr val="000000"/>
                </a:solidFill>
                <a:latin typeface="Arial"/>
              </a:rPr>
              <a:t>Triangulation des</a:t>
            </a:r>
          </a:p>
          <a:p>
            <a:pPr algn="l">
              <a:lnSpc>
                <a:spcPct val="115109"/>
              </a:lnSpc>
            </a:pPr>
            <a:r>
              <a:rPr sz="1269" b="0">
                <a:solidFill>
                  <a:srgbClr val="000000"/>
                </a:solidFill>
                <a:latin typeface="Arial"/>
              </a:rPr>
              <a:t>sources et méthodes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148" y="5995500"/>
            <a:ext cx="1809820" cy="4173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109"/>
              </a:lnSpc>
            </a:pPr>
            <a:r>
              <a:rPr sz="1269" b="0">
                <a:solidFill>
                  <a:srgbClr val="000000"/>
                </a:solidFill>
                <a:latin typeface="Arial"/>
              </a:rPr>
              <a:t>Interprétation &amp;</a:t>
            </a:r>
          </a:p>
          <a:p>
            <a:pPr algn="l">
              <a:lnSpc>
                <a:spcPct val="115109"/>
              </a:lnSpc>
            </a:pPr>
            <a:r>
              <a:rPr sz="1269" b="0">
                <a:solidFill>
                  <a:srgbClr val="000000"/>
                </a:solidFill>
                <a:latin typeface="Arial"/>
              </a:rPr>
              <a:t>validation des résultats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81647" y="326153"/>
            <a:ext cx="4142059" cy="134970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6154"/>
              </a:lnSpc>
            </a:pPr>
            <a:r>
              <a:rPr sz="3730" b="0">
                <a:solidFill>
                  <a:srgbClr val="00355E"/>
                </a:solidFill>
                <a:latin typeface="Arial Black"/>
              </a:rPr>
              <a:t>Contributions</a:t>
            </a:r>
          </a:p>
          <a:p>
            <a:pPr algn="l">
              <a:lnSpc>
                <a:spcPct val="116154"/>
              </a:lnSpc>
            </a:pPr>
            <a:r>
              <a:rPr sz="3730" b="0">
                <a:solidFill>
                  <a:srgbClr val="00355E"/>
                </a:solidFill>
                <a:latin typeface="Arial Black"/>
              </a:rPr>
              <a:t>Scientifiques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81647" y="2240150"/>
            <a:ext cx="2309129" cy="1435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24" b="1">
                <a:solidFill>
                  <a:srgbClr val="000000"/>
                </a:solidFill>
                <a:latin typeface="Arial"/>
              </a:rPr>
              <a:t>Apports à la connaissance académique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09262" y="2953736"/>
            <a:ext cx="272173" cy="204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31" b="1">
                <a:solidFill>
                  <a:srgbClr val="00355E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91455" y="2839413"/>
            <a:ext cx="2314775" cy="8039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906"/>
              </a:lnSpc>
            </a:pPr>
            <a:r>
              <a:rPr sz="934" b="0">
                <a:solidFill>
                  <a:srgbClr val="000000"/>
                </a:solidFill>
                <a:latin typeface="Arial"/>
              </a:rPr>
              <a:t>Nouveau concept de gouvernance</a:t>
            </a:r>
          </a:p>
          <a:p>
            <a:pPr algn="l">
              <a:lnSpc>
                <a:spcPct val="115906"/>
              </a:lnSpc>
            </a:pPr>
            <a:r>
              <a:rPr sz="934" b="0">
                <a:solidFill>
                  <a:srgbClr val="000000"/>
                </a:solidFill>
                <a:latin typeface="Arial"/>
              </a:rPr>
              <a:t>augmentée intégrant IA et IE dans un</a:t>
            </a:r>
          </a:p>
          <a:p>
            <a:pPr algn="l">
              <a:lnSpc>
                <a:spcPct val="115906"/>
              </a:lnSpc>
            </a:pPr>
            <a:r>
              <a:rPr sz="934" b="0">
                <a:solidFill>
                  <a:srgbClr val="000000"/>
                </a:solidFill>
                <a:latin typeface="Arial"/>
              </a:rPr>
              <a:t>contexte de polycrise, comblant un vide</a:t>
            </a:r>
          </a:p>
          <a:p>
            <a:pPr algn="l">
              <a:lnSpc>
                <a:spcPct val="115906"/>
              </a:lnSpc>
            </a:pPr>
            <a:r>
              <a:rPr sz="934" b="0">
                <a:solidFill>
                  <a:srgbClr val="000000"/>
                </a:solidFill>
                <a:latin typeface="Arial"/>
              </a:rPr>
              <a:t>théorique dans la littérature africaine sur</a:t>
            </a:r>
          </a:p>
          <a:p>
            <a:pPr algn="l">
              <a:lnSpc>
                <a:spcPct val="115906"/>
              </a:lnSpc>
            </a:pPr>
            <a:r>
              <a:rPr sz="934" b="0">
                <a:solidFill>
                  <a:srgbClr val="000000"/>
                </a:solidFill>
                <a:latin typeface="Arial"/>
              </a:rPr>
              <a:t>la gouvernance.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7707" y="2953736"/>
            <a:ext cx="306175" cy="204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31" b="1">
                <a:solidFill>
                  <a:srgbClr val="00355E"/>
                </a:solidFill>
                <a:latin typeface="Arial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46890" y="2839413"/>
            <a:ext cx="2292948" cy="8039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906"/>
              </a:lnSpc>
            </a:pPr>
            <a:r>
              <a:rPr sz="934" b="0">
                <a:solidFill>
                  <a:srgbClr val="000000"/>
                </a:solidFill>
                <a:latin typeface="Arial"/>
              </a:rPr>
              <a:t>Modélisation inédite de l'articulation</a:t>
            </a:r>
          </a:p>
          <a:p>
            <a:pPr algn="l">
              <a:lnSpc>
                <a:spcPct val="115906"/>
              </a:lnSpc>
            </a:pPr>
            <a:r>
              <a:rPr sz="934" b="0">
                <a:solidFill>
                  <a:srgbClr val="000000"/>
                </a:solidFill>
                <a:latin typeface="Arial"/>
              </a:rPr>
              <a:t>entre intelligence artificielle et</a:t>
            </a:r>
          </a:p>
          <a:p>
            <a:pPr algn="l">
              <a:lnSpc>
                <a:spcPct val="115906"/>
              </a:lnSpc>
            </a:pPr>
            <a:r>
              <a:rPr sz="934" b="0">
                <a:solidFill>
                  <a:srgbClr val="000000"/>
                </a:solidFill>
                <a:latin typeface="Arial"/>
              </a:rPr>
              <a:t>intelligence émotionnelle comme leviers</a:t>
            </a:r>
          </a:p>
          <a:p>
            <a:pPr algn="l">
              <a:lnSpc>
                <a:spcPct val="115906"/>
              </a:lnSpc>
            </a:pPr>
            <a:r>
              <a:rPr sz="934" b="0">
                <a:solidFill>
                  <a:srgbClr val="000000"/>
                </a:solidFill>
                <a:latin typeface="Arial"/>
              </a:rPr>
              <a:t>complémentaires de la décision</a:t>
            </a:r>
          </a:p>
          <a:p>
            <a:pPr algn="l">
              <a:lnSpc>
                <a:spcPct val="115906"/>
              </a:lnSpc>
            </a:pPr>
            <a:r>
              <a:rPr sz="934" b="0">
                <a:solidFill>
                  <a:srgbClr val="000000"/>
                </a:solidFill>
                <a:latin typeface="Arial"/>
              </a:rPr>
              <a:t>publique et organisationnelle.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0908" y="4196191"/>
            <a:ext cx="308880" cy="204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31" b="1">
                <a:solidFill>
                  <a:srgbClr val="00355E"/>
                </a:solidFill>
                <a:latin typeface="Arial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1455" y="4081868"/>
            <a:ext cx="2265949" cy="803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906"/>
              </a:lnSpc>
            </a:pPr>
            <a:r>
              <a:rPr sz="934" b="0">
                <a:solidFill>
                  <a:srgbClr val="000000"/>
                </a:solidFill>
                <a:latin typeface="Arial"/>
              </a:rPr>
              <a:t>Enrichissement des théories mobilisées</a:t>
            </a:r>
          </a:p>
          <a:p>
            <a:pPr algn="l">
              <a:lnSpc>
                <a:spcPct val="115906"/>
              </a:lnSpc>
            </a:pPr>
            <a:r>
              <a:rPr sz="934" b="0">
                <a:solidFill>
                  <a:srgbClr val="000000"/>
                </a:solidFill>
                <a:latin typeface="Arial"/>
              </a:rPr>
              <a:t>(Agence, Parties prenantes, Résilience,</a:t>
            </a:r>
          </a:p>
          <a:p>
            <a:pPr algn="l">
              <a:lnSpc>
                <a:spcPct val="115906"/>
              </a:lnSpc>
            </a:pPr>
            <a:r>
              <a:rPr sz="934" b="0">
                <a:solidFill>
                  <a:srgbClr val="000000"/>
                </a:solidFill>
                <a:latin typeface="Arial"/>
              </a:rPr>
              <a:t>Capacités dynamiques) par leur</a:t>
            </a:r>
          </a:p>
          <a:p>
            <a:pPr algn="l">
              <a:lnSpc>
                <a:spcPct val="115906"/>
              </a:lnSpc>
            </a:pPr>
            <a:r>
              <a:rPr sz="934" b="0">
                <a:solidFill>
                  <a:srgbClr val="000000"/>
                </a:solidFill>
                <a:latin typeface="Arial"/>
              </a:rPr>
              <a:t>application croisée au contexte</a:t>
            </a:r>
          </a:p>
          <a:p>
            <a:pPr algn="l">
              <a:lnSpc>
                <a:spcPct val="115906"/>
              </a:lnSpc>
            </a:pPr>
            <a:r>
              <a:rPr sz="934" b="0">
                <a:solidFill>
                  <a:srgbClr val="000000"/>
                </a:solidFill>
                <a:latin typeface="Arial"/>
              </a:rPr>
              <a:t>gabonais de polycrise.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3738" y="4196191"/>
            <a:ext cx="313956" cy="204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31" b="1">
                <a:solidFill>
                  <a:srgbClr val="00355E"/>
                </a:solidFill>
                <a:latin typeface="Arial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46890" y="4081868"/>
            <a:ext cx="2326282" cy="803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906"/>
              </a:lnSpc>
            </a:pPr>
            <a:r>
              <a:rPr sz="934" b="0">
                <a:solidFill>
                  <a:srgbClr val="000000"/>
                </a:solidFill>
                <a:latin typeface="Arial"/>
              </a:rPr>
              <a:t>Avancées méthodologiques via l'usage</a:t>
            </a:r>
          </a:p>
          <a:p>
            <a:pPr algn="l">
              <a:lnSpc>
                <a:spcPct val="115906"/>
              </a:lnSpc>
            </a:pPr>
            <a:r>
              <a:rPr sz="934" b="0">
                <a:solidFill>
                  <a:srgbClr val="000000"/>
                </a:solidFill>
                <a:latin typeface="Arial"/>
              </a:rPr>
              <a:t>de NVivo en contexte africain et la</a:t>
            </a:r>
          </a:p>
          <a:p>
            <a:pPr algn="l">
              <a:lnSpc>
                <a:spcPct val="115906"/>
              </a:lnSpc>
            </a:pPr>
            <a:r>
              <a:rPr sz="934" b="0">
                <a:solidFill>
                  <a:srgbClr val="000000"/>
                </a:solidFill>
                <a:latin typeface="Arial"/>
              </a:rPr>
              <a:t>triangulation multi-sources, offrant un</a:t>
            </a:r>
          </a:p>
          <a:p>
            <a:pPr algn="l">
              <a:lnSpc>
                <a:spcPct val="115906"/>
              </a:lnSpc>
            </a:pPr>
            <a:r>
              <a:rPr sz="934" b="0">
                <a:solidFill>
                  <a:srgbClr val="000000"/>
                </a:solidFill>
                <a:latin typeface="Arial"/>
              </a:rPr>
              <a:t>protocole reproductible pour les</a:t>
            </a:r>
          </a:p>
          <a:p>
            <a:pPr algn="l">
              <a:lnSpc>
                <a:spcPct val="115906"/>
              </a:lnSpc>
            </a:pPr>
            <a:r>
              <a:rPr sz="934" b="0">
                <a:solidFill>
                  <a:srgbClr val="000000"/>
                </a:solidFill>
                <a:latin typeface="Arial"/>
              </a:rPr>
              <a:t>recherches qualitatives en gouvernance.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70424" y="326153"/>
            <a:ext cx="4142059" cy="689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730" b="0">
                <a:solidFill>
                  <a:srgbClr val="00355E"/>
                </a:solidFill>
                <a:latin typeface="Arial Black"/>
              </a:rPr>
              <a:t>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80349" y="986536"/>
            <a:ext cx="4122163" cy="689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730" b="0">
                <a:solidFill>
                  <a:srgbClr val="00355E"/>
                </a:solidFill>
                <a:latin typeface="Arial Black"/>
              </a:rPr>
              <a:t>Managériales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37" y="5314331"/>
            <a:ext cx="1851705" cy="1499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65" b="1">
                <a:solidFill>
                  <a:srgbClr val="000000"/>
                </a:solidFill>
                <a:latin typeface="Arial"/>
              </a:rPr>
              <a:t>Aide à la Décision Augmentée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86637" y="5314331"/>
            <a:ext cx="2509850" cy="1499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6" b="1">
                <a:solidFill>
                  <a:srgbClr val="000000"/>
                </a:solidFill>
                <a:latin typeface="Arial"/>
              </a:rPr>
              <a:t>Amélioration des Pratiques Managériales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9774" y="5314331"/>
            <a:ext cx="2552150" cy="1499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39" b="1">
                <a:solidFill>
                  <a:srgbClr val="000000"/>
                </a:solidFill>
                <a:latin typeface="Arial"/>
              </a:rPr>
              <a:t>Adaptation &amp; Coordination Institutionnelle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297" y="5762295"/>
            <a:ext cx="2907680" cy="1499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000000"/>
                </a:solidFill>
                <a:latin typeface="Arial"/>
              </a:rPr>
              <a:t>Intégration d'outils IA pour soutenir les décideurs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8354" y="5762295"/>
            <a:ext cx="3006357" cy="4928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551"/>
              </a:lnSpc>
            </a:pPr>
            <a:r>
              <a:rPr sz="975" b="0">
                <a:solidFill>
                  <a:srgbClr val="000000"/>
                </a:solidFill>
                <a:latin typeface="Arial"/>
              </a:rPr>
              <a:t>Renforcement des compétences en intelligence</a:t>
            </a:r>
          </a:p>
          <a:p>
            <a:pPr algn="l">
              <a:lnSpc>
                <a:spcPct val="115551"/>
              </a:lnSpc>
            </a:pPr>
            <a:r>
              <a:rPr sz="975" b="0">
                <a:solidFill>
                  <a:srgbClr val="000000"/>
                </a:solidFill>
                <a:latin typeface="Arial"/>
              </a:rPr>
              <a:t>émotionnelle des managers publics : leadership</a:t>
            </a:r>
          </a:p>
          <a:p>
            <a:pPr algn="l">
              <a:lnSpc>
                <a:spcPct val="115551"/>
              </a:lnSpc>
            </a:pPr>
            <a:r>
              <a:rPr sz="975" b="0">
                <a:solidFill>
                  <a:srgbClr val="000000"/>
                </a:solidFill>
                <a:latin typeface="Arial"/>
              </a:rPr>
              <a:t>adaptatif, gestion des parties prenantes et pilotage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61183" y="5762295"/>
            <a:ext cx="3269507" cy="32141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551"/>
              </a:lnSpc>
            </a:pPr>
            <a:r>
              <a:rPr sz="975" b="0">
                <a:solidFill>
                  <a:srgbClr val="000000"/>
                </a:solidFill>
                <a:latin typeface="Arial"/>
              </a:rPr>
              <a:t>Cadre opérationnel favorisant la coordination inter-</a:t>
            </a:r>
          </a:p>
          <a:p>
            <a:pPr algn="l">
              <a:lnSpc>
                <a:spcPct val="115551"/>
              </a:lnSpc>
            </a:pPr>
            <a:r>
              <a:rPr sz="975" b="0">
                <a:solidFill>
                  <a:srgbClr val="000000"/>
                </a:solidFill>
                <a:latin typeface="Arial"/>
              </a:rPr>
              <a:t>institutionnelle, l'agilité organisationnelle et la résilience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4540" y="5933741"/>
            <a:ext cx="3045163" cy="32141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4982"/>
              </a:lnSpc>
            </a:pPr>
            <a:r>
              <a:rPr sz="975" b="0">
                <a:solidFill>
                  <a:srgbClr val="000000"/>
                </a:solidFill>
                <a:latin typeface="Arial"/>
              </a:rPr>
              <a:t>gabonais : tableaux de bord intelligents, alertes</a:t>
            </a:r>
          </a:p>
          <a:p>
            <a:pPr algn="l">
              <a:lnSpc>
                <a:spcPct val="114982"/>
              </a:lnSpc>
            </a:pPr>
            <a:r>
              <a:rPr sz="975" b="0">
                <a:solidFill>
                  <a:srgbClr val="000000"/>
                </a:solidFill>
                <a:latin typeface="Arial"/>
              </a:rPr>
              <a:t>prédictives et recommandations contextualisées 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37778" y="6105186"/>
            <a:ext cx="3116388" cy="1499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000000"/>
                </a:solidFill>
                <a:latin typeface="Arial"/>
              </a:rPr>
              <a:t>managériale face aux crises multidimensionnelles au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2541" y="6276632"/>
            <a:ext cx="1349302" cy="1499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000000"/>
                </a:solidFill>
                <a:latin typeface="Arial"/>
              </a:rPr>
              <a:t>situation de polycrise.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77675" y="6276632"/>
            <a:ext cx="2327781" cy="1499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000000"/>
                </a:solidFill>
                <a:latin typeface="Arial"/>
              </a:rPr>
              <a:t>humain de la gouvernance augmentée.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3264" y="6276632"/>
            <a:ext cx="505210" cy="1499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000000"/>
                </a:solidFill>
                <a:latin typeface="Arial"/>
              </a:rPr>
              <a:t>Gabon.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6389" y="325754"/>
            <a:ext cx="4144619" cy="1350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6071"/>
              </a:lnSpc>
            </a:pPr>
            <a:r>
              <a:rPr sz="3733" b="0">
                <a:solidFill>
                  <a:srgbClr val="00355E"/>
                </a:solidFill>
                <a:latin typeface="Arial Black"/>
              </a:rPr>
              <a:t>Contributions</a:t>
            </a:r>
          </a:p>
          <a:p>
            <a:pPr algn="l">
              <a:lnSpc>
                <a:spcPct val="116071"/>
              </a:lnSpc>
            </a:pPr>
            <a:r>
              <a:rPr sz="3733" b="0">
                <a:solidFill>
                  <a:srgbClr val="00355E"/>
                </a:solidFill>
                <a:latin typeface="Arial Black"/>
              </a:rPr>
              <a:t>Sociétales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81647" y="828942"/>
            <a:ext cx="1903891" cy="132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2" b="1">
                <a:solidFill>
                  <a:srgbClr val="000000"/>
                </a:solidFill>
                <a:latin typeface="Arial"/>
              </a:rPr>
              <a:t>Apports pour la Société Gabonaise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5709" y="1482185"/>
            <a:ext cx="199182" cy="132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64" b="1">
                <a:solidFill>
                  <a:srgbClr val="00355E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91455" y="1364712"/>
            <a:ext cx="2284502" cy="8948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652"/>
              </a:lnSpc>
            </a:pPr>
            <a:r>
              <a:rPr sz="864" b="0">
                <a:solidFill>
                  <a:srgbClr val="000000"/>
                </a:solidFill>
                <a:latin typeface="Arial"/>
              </a:rPr>
              <a:t>Renforcement de la résilience sociétale : la</a:t>
            </a:r>
          </a:p>
          <a:p>
            <a:pPr algn="l">
              <a:lnSpc>
                <a:spcPct val="115652"/>
              </a:lnSpc>
            </a:pPr>
            <a:r>
              <a:rPr sz="864" b="0">
                <a:solidFill>
                  <a:srgbClr val="000000"/>
                </a:solidFill>
                <a:latin typeface="Arial"/>
              </a:rPr>
              <a:t>gouvernance augmentée offre des</a:t>
            </a:r>
          </a:p>
          <a:p>
            <a:pPr algn="l">
              <a:lnSpc>
                <a:spcPct val="115652"/>
              </a:lnSpc>
            </a:pPr>
            <a:r>
              <a:rPr sz="864" b="0">
                <a:solidFill>
                  <a:srgbClr val="000000"/>
                </a:solidFill>
                <a:latin typeface="Arial"/>
              </a:rPr>
              <a:t>mécanismes collectifs d'adaptation et de</a:t>
            </a:r>
          </a:p>
          <a:p>
            <a:pPr algn="l">
              <a:lnSpc>
                <a:spcPct val="115652"/>
              </a:lnSpc>
            </a:pPr>
            <a:r>
              <a:rPr sz="864" b="0">
                <a:solidFill>
                  <a:srgbClr val="000000"/>
                </a:solidFill>
                <a:latin typeface="Arial"/>
              </a:rPr>
              <a:t>réponse aux crises, consolidant la capacité</a:t>
            </a:r>
          </a:p>
          <a:p>
            <a:pPr algn="l">
              <a:lnSpc>
                <a:spcPct val="115652"/>
              </a:lnSpc>
            </a:pPr>
            <a:r>
              <a:rPr sz="864" b="0">
                <a:solidFill>
                  <a:srgbClr val="000000"/>
                </a:solidFill>
                <a:latin typeface="Arial"/>
              </a:rPr>
              <a:t>des communautés à surmonter les chocs</a:t>
            </a:r>
          </a:p>
          <a:p>
            <a:pPr algn="l">
              <a:lnSpc>
                <a:spcPct val="115652"/>
              </a:lnSpc>
            </a:pPr>
            <a:r>
              <a:rPr sz="864" b="0">
                <a:solidFill>
                  <a:srgbClr val="000000"/>
                </a:solidFill>
                <a:latin typeface="Arial"/>
              </a:rPr>
              <a:t>de la polycrise gabonaise.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85310" y="1482185"/>
            <a:ext cx="230810" cy="132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64" b="1">
                <a:solidFill>
                  <a:srgbClr val="00355E"/>
                </a:solidFill>
                <a:latin typeface="Arial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46890" y="1364712"/>
            <a:ext cx="2173641" cy="8948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652"/>
              </a:lnSpc>
            </a:pPr>
            <a:r>
              <a:rPr sz="864" b="0">
                <a:solidFill>
                  <a:srgbClr val="000000"/>
                </a:solidFill>
                <a:latin typeface="Arial"/>
              </a:rPr>
              <a:t>Gouvernance citoyenne et inclusion :</a:t>
            </a:r>
          </a:p>
          <a:p>
            <a:pPr algn="l">
              <a:lnSpc>
                <a:spcPct val="115652"/>
              </a:lnSpc>
            </a:pPr>
            <a:r>
              <a:rPr sz="864" b="0">
                <a:solidFill>
                  <a:srgbClr val="000000"/>
                </a:solidFill>
                <a:latin typeface="Arial"/>
              </a:rPr>
              <a:t>l'articulation IA–IE favorise la confiance</a:t>
            </a:r>
          </a:p>
          <a:p>
            <a:pPr algn="l">
              <a:lnSpc>
                <a:spcPct val="115652"/>
              </a:lnSpc>
            </a:pPr>
            <a:r>
              <a:rPr sz="864" b="0">
                <a:solidFill>
                  <a:srgbClr val="000000"/>
                </a:solidFill>
                <a:latin typeface="Arial"/>
              </a:rPr>
              <a:t>institutionnelle, l'inclusion des parties</a:t>
            </a:r>
          </a:p>
          <a:p>
            <a:pPr algn="l">
              <a:lnSpc>
                <a:spcPct val="115652"/>
              </a:lnSpc>
            </a:pPr>
            <a:r>
              <a:rPr sz="864" b="0">
                <a:solidFill>
                  <a:srgbClr val="000000"/>
                </a:solidFill>
                <a:latin typeface="Arial"/>
              </a:rPr>
              <a:t>prenantes marginalisées et une meilleure</a:t>
            </a:r>
          </a:p>
          <a:p>
            <a:pPr algn="l">
              <a:lnSpc>
                <a:spcPct val="115652"/>
              </a:lnSpc>
            </a:pPr>
            <a:r>
              <a:rPr sz="864" b="0">
                <a:solidFill>
                  <a:srgbClr val="000000"/>
                </a:solidFill>
                <a:latin typeface="Arial"/>
              </a:rPr>
              <a:t>réponse collective, renforçant ainsi la</a:t>
            </a:r>
          </a:p>
          <a:p>
            <a:pPr algn="l">
              <a:lnSpc>
                <a:spcPct val="115652"/>
              </a:lnSpc>
            </a:pPr>
            <a:r>
              <a:rPr sz="864" b="0">
                <a:solidFill>
                  <a:srgbClr val="000000"/>
                </a:solidFill>
                <a:latin typeface="Arial"/>
              </a:rPr>
              <a:t>légitimité démocratique au Gabon.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6389" y="325754"/>
            <a:ext cx="3972533" cy="1350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6071"/>
              </a:lnSpc>
            </a:pPr>
            <a:r>
              <a:rPr sz="3733" b="0">
                <a:solidFill>
                  <a:srgbClr val="00355E"/>
                </a:solidFill>
                <a:latin typeface="Arial Black"/>
              </a:rPr>
              <a:t>Limites et</a:t>
            </a:r>
          </a:p>
          <a:p>
            <a:pPr algn="l">
              <a:lnSpc>
                <a:spcPct val="116071"/>
              </a:lnSpc>
            </a:pPr>
            <a:r>
              <a:rPr sz="3733" b="0">
                <a:solidFill>
                  <a:srgbClr val="00355E"/>
                </a:solidFill>
                <a:latin typeface="Arial Black"/>
              </a:rPr>
              <a:t>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81647" y="828641"/>
            <a:ext cx="2339151" cy="1403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92" b="1">
                <a:solidFill>
                  <a:srgbClr val="000000"/>
                </a:solidFill>
                <a:latin typeface="Arial"/>
              </a:rPr>
              <a:t>Portée et prolongements de la recherche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38961" y="1481885"/>
            <a:ext cx="212727" cy="1403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13" b="1">
                <a:solidFill>
                  <a:srgbClr val="00355E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91455" y="1364414"/>
            <a:ext cx="2314372" cy="77535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3747"/>
              </a:lnSpc>
            </a:pPr>
            <a:r>
              <a:rPr sz="913" b="0">
                <a:solidFill>
                  <a:srgbClr val="000000"/>
                </a:solidFill>
                <a:latin typeface="Arial"/>
              </a:rPr>
              <a:t>Limites identifiées : échantillon restreint à</a:t>
            </a:r>
          </a:p>
          <a:p>
            <a:pPr algn="l">
              <a:lnSpc>
                <a:spcPct val="113747"/>
              </a:lnSpc>
            </a:pPr>
            <a:r>
              <a:rPr sz="913" b="0">
                <a:solidFill>
                  <a:srgbClr val="000000"/>
                </a:solidFill>
                <a:latin typeface="Arial"/>
              </a:rPr>
              <a:t>5 EPES gabonaises, accès terrain limité</a:t>
            </a:r>
          </a:p>
          <a:p>
            <a:pPr algn="l">
              <a:lnSpc>
                <a:spcPct val="113747"/>
              </a:lnSpc>
            </a:pPr>
            <a:r>
              <a:rPr sz="913" b="0">
                <a:solidFill>
                  <a:srgbClr val="000000"/>
                </a:solidFill>
                <a:latin typeface="Arial"/>
              </a:rPr>
              <a:t>en contexte de polycrise, subjectivité</a:t>
            </a:r>
          </a:p>
          <a:p>
            <a:pPr algn="l">
              <a:lnSpc>
                <a:spcPct val="113747"/>
              </a:lnSpc>
            </a:pPr>
            <a:r>
              <a:rPr sz="913" b="0">
                <a:solidFill>
                  <a:srgbClr val="000000"/>
                </a:solidFill>
                <a:latin typeface="Arial"/>
              </a:rPr>
              <a:t>inhérente aux entretiens qualitatifs,</a:t>
            </a:r>
          </a:p>
          <a:p>
            <a:pPr algn="l">
              <a:lnSpc>
                <a:spcPct val="113747"/>
              </a:lnSpc>
            </a:pPr>
            <a:r>
              <a:rPr sz="913" b="0">
                <a:solidFill>
                  <a:srgbClr val="000000"/>
                </a:solidFill>
                <a:latin typeface="Arial"/>
              </a:rPr>
              <a:t>transférabilité contextuelle restreinte.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81341" y="1481885"/>
            <a:ext cx="238731" cy="1403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13" b="1">
                <a:solidFill>
                  <a:srgbClr val="00355E"/>
                </a:solidFill>
                <a:latin typeface="Arial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46890" y="1364414"/>
            <a:ext cx="2304772" cy="77535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3747"/>
              </a:lnSpc>
            </a:pPr>
            <a:r>
              <a:rPr sz="913" b="0">
                <a:solidFill>
                  <a:srgbClr val="000000"/>
                </a:solidFill>
                <a:latin typeface="Arial"/>
              </a:rPr>
              <a:t>Perspectives : élargissement comparatif</a:t>
            </a:r>
          </a:p>
          <a:p>
            <a:pPr algn="l">
              <a:lnSpc>
                <a:spcPct val="113747"/>
              </a:lnSpc>
            </a:pPr>
            <a:r>
              <a:rPr sz="913" b="0">
                <a:solidFill>
                  <a:srgbClr val="000000"/>
                </a:solidFill>
                <a:latin typeface="Arial"/>
              </a:rPr>
              <a:t>(Afrique centrale), validation quantitative,</a:t>
            </a:r>
          </a:p>
          <a:p>
            <a:pPr algn="l">
              <a:lnSpc>
                <a:spcPct val="113747"/>
              </a:lnSpc>
            </a:pPr>
            <a:r>
              <a:rPr sz="913" b="0">
                <a:solidFill>
                  <a:srgbClr val="000000"/>
                </a:solidFill>
                <a:latin typeface="Arial"/>
              </a:rPr>
              <a:t>études longitudinales post-crise,</a:t>
            </a:r>
          </a:p>
          <a:p>
            <a:pPr algn="l">
              <a:lnSpc>
                <a:spcPct val="113747"/>
              </a:lnSpc>
            </a:pPr>
            <a:r>
              <a:rPr sz="913" b="0">
                <a:solidFill>
                  <a:srgbClr val="000000"/>
                </a:solidFill>
                <a:latin typeface="Arial"/>
              </a:rPr>
              <a:t>intégration de nouveaux indicateurs IA et</a:t>
            </a:r>
          </a:p>
          <a:p>
            <a:pPr algn="l">
              <a:lnSpc>
                <a:spcPct val="113747"/>
              </a:lnSpc>
            </a:pPr>
            <a:r>
              <a:rPr sz="913" b="0">
                <a:solidFill>
                  <a:srgbClr val="000000"/>
                </a:solidFill>
                <a:latin typeface="Arial"/>
              </a:rPr>
              <a:t>IE dans les modèles de gouvernance.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6389" y="325754"/>
            <a:ext cx="3366699" cy="6897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733" b="0">
                <a:solidFill>
                  <a:srgbClr val="00355E"/>
                </a:solidFill>
                <a:latin typeface="Arial Black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6389" y="2105693"/>
            <a:ext cx="1179320" cy="132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4" b="1">
                <a:solidFill>
                  <a:srgbClr val="000000"/>
                </a:solidFill>
                <a:latin typeface="Arial"/>
              </a:rPr>
              <a:t>Synthèse de la thèse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389" y="2700485"/>
            <a:ext cx="4571694" cy="2852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652"/>
              </a:lnSpc>
            </a:pPr>
            <a:r>
              <a:rPr sz="864" b="0">
                <a:solidFill>
                  <a:srgbClr val="000000"/>
                </a:solidFill>
                <a:latin typeface="Arial"/>
              </a:rPr>
              <a:t>La gouvernance augmentée, articulant IA et intelligence émotionnelle, offre une réponse</a:t>
            </a:r>
          </a:p>
          <a:p>
            <a:pPr algn="l">
              <a:lnSpc>
                <a:spcPct val="115652"/>
              </a:lnSpc>
            </a:pPr>
            <a:r>
              <a:rPr sz="864" b="0">
                <a:solidFill>
                  <a:srgbClr val="000000"/>
                </a:solidFill>
                <a:latin typeface="Arial"/>
              </a:rPr>
              <a:t>inédite et structurée aux défis de la polycrise gabonaise.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389" y="3478599"/>
            <a:ext cx="1362027" cy="1328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6" b="1">
                <a:solidFill>
                  <a:srgbClr val="000000"/>
                </a:solidFill>
                <a:latin typeface="Arial"/>
              </a:rPr>
              <a:t>Points Clés et Ouverture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4618" y="4131851"/>
            <a:ext cx="230809" cy="1328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64" b="1">
                <a:solidFill>
                  <a:srgbClr val="00355E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202" y="4167572"/>
            <a:ext cx="4721207" cy="2852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652"/>
              </a:lnSpc>
            </a:pPr>
            <a:r>
              <a:rPr sz="864" b="0">
                <a:solidFill>
                  <a:srgbClr val="000000"/>
                </a:solidFill>
                <a:latin typeface="Arial"/>
              </a:rPr>
              <a:t>Originalité scientifique : la thèse propose un modèle conceptuel intégré, inédit dans le</a:t>
            </a:r>
          </a:p>
          <a:p>
            <a:pPr algn="l">
              <a:lnSpc>
                <a:spcPct val="115652"/>
              </a:lnSpc>
            </a:pPr>
            <a:r>
              <a:rPr sz="864" b="0">
                <a:solidFill>
                  <a:srgbClr val="000000"/>
                </a:solidFill>
                <a:latin typeface="Arial"/>
              </a:rPr>
              <a:t>contexte africain, articulant IA, IE et gouvernance en situation de crise multidimensionnelle.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4618" y="4791503"/>
            <a:ext cx="230811" cy="132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64" b="1">
                <a:solidFill>
                  <a:srgbClr val="00355E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202" y="4674828"/>
            <a:ext cx="4713526" cy="4376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652"/>
              </a:lnSpc>
            </a:pPr>
            <a:r>
              <a:rPr sz="864" b="0">
                <a:solidFill>
                  <a:srgbClr val="000000"/>
                </a:solidFill>
                <a:latin typeface="Arial"/>
              </a:rPr>
              <a:t>Articulation IA–IE : la complémentarité entre intelligence artificielle et intelligence</a:t>
            </a:r>
          </a:p>
          <a:p>
            <a:pPr algn="l">
              <a:lnSpc>
                <a:spcPct val="115652"/>
              </a:lnSpc>
            </a:pPr>
            <a:r>
              <a:rPr sz="864" b="0">
                <a:solidFill>
                  <a:srgbClr val="000000"/>
                </a:solidFill>
                <a:latin typeface="Arial"/>
              </a:rPr>
              <a:t>émotionnelle constitue le cœur du dispositif de gouvernance augmentée proposé par cette</a:t>
            </a:r>
          </a:p>
          <a:p>
            <a:pPr algn="l">
              <a:lnSpc>
                <a:spcPct val="115652"/>
              </a:lnSpc>
            </a:pPr>
            <a:r>
              <a:rPr sz="864" b="0">
                <a:solidFill>
                  <a:srgbClr val="000000"/>
                </a:solidFill>
                <a:latin typeface="Arial"/>
              </a:rPr>
              <a:t>recherche.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824" y="5451134"/>
            <a:ext cx="232568" cy="132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64" b="1">
                <a:solidFill>
                  <a:srgbClr val="00355E"/>
                </a:solidFill>
                <a:latin typeface="Arial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202" y="5486876"/>
            <a:ext cx="4599468" cy="2852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652"/>
              </a:lnSpc>
            </a:pPr>
            <a:r>
              <a:rPr sz="864" b="0">
                <a:solidFill>
                  <a:srgbClr val="000000"/>
                </a:solidFill>
                <a:latin typeface="Arial"/>
              </a:rPr>
              <a:t>Réponse à la polycrise : les sept propositions de recherche offrent un cadre opérationnel</a:t>
            </a:r>
          </a:p>
          <a:p>
            <a:pPr algn="l">
              <a:lnSpc>
                <a:spcPct val="115652"/>
              </a:lnSpc>
            </a:pPr>
            <a:r>
              <a:rPr sz="864" b="0">
                <a:solidFill>
                  <a:srgbClr val="000000"/>
                </a:solidFill>
                <a:latin typeface="Arial"/>
              </a:rPr>
              <a:t>pour renforcer la résilience institutionnelle et managériale dans le contexte gabonais.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138" y="6110786"/>
            <a:ext cx="235861" cy="132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64" b="1">
                <a:solidFill>
                  <a:srgbClr val="00355E"/>
                </a:solidFill>
                <a:latin typeface="Arial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202" y="5994132"/>
            <a:ext cx="4749173" cy="4376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652"/>
              </a:lnSpc>
            </a:pPr>
            <a:r>
              <a:rPr sz="864" b="0">
                <a:solidFill>
                  <a:srgbClr val="000000"/>
                </a:solidFill>
                <a:latin typeface="Arial"/>
              </a:rPr>
              <a:t>Perspectives futures : cette recherche ouvre des pistes d'approfondissement comparatif en</a:t>
            </a:r>
          </a:p>
          <a:p>
            <a:pPr algn="l">
              <a:lnSpc>
                <a:spcPct val="115652"/>
              </a:lnSpc>
            </a:pPr>
            <a:r>
              <a:rPr sz="864" b="0">
                <a:solidFill>
                  <a:srgbClr val="000000"/>
                </a:solidFill>
                <a:latin typeface="Arial"/>
              </a:rPr>
              <a:t>Afrique subsaharienne et invite à prolonger l'étude vers des applications empiriques plus</a:t>
            </a:r>
          </a:p>
          <a:p>
            <a:pPr algn="l">
              <a:lnSpc>
                <a:spcPct val="115652"/>
              </a:lnSpc>
            </a:pPr>
            <a:r>
              <a:rPr sz="864" b="0">
                <a:solidFill>
                  <a:srgbClr val="000000"/>
                </a:solidFill>
                <a:latin typeface="Arial"/>
              </a:rPr>
              <a:t>larges.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6389" y="326153"/>
            <a:ext cx="3999934" cy="134970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6154"/>
              </a:lnSpc>
            </a:pPr>
            <a:r>
              <a:rPr sz="3730" b="0">
                <a:solidFill>
                  <a:srgbClr val="00355E"/>
                </a:solidFill>
                <a:latin typeface="Arial Black"/>
              </a:rPr>
              <a:t>Bibliographie</a:t>
            </a:r>
          </a:p>
          <a:p>
            <a:pPr algn="l">
              <a:lnSpc>
                <a:spcPct val="116154"/>
              </a:lnSpc>
            </a:pPr>
            <a:r>
              <a:rPr sz="3730" b="0">
                <a:solidFill>
                  <a:srgbClr val="00355E"/>
                </a:solidFill>
                <a:latin typeface="Arial Black"/>
              </a:rPr>
              <a:t>Sélective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81647" y="2600067"/>
            <a:ext cx="5118214" cy="3927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521"/>
              </a:lnSpc>
            </a:pPr>
            <a:r>
              <a:rPr sz="1192" b="0">
                <a:solidFill>
                  <a:srgbClr val="000000"/>
                </a:solidFill>
                <a:latin typeface="Arial"/>
              </a:rPr>
              <a:t>Sélection des références théoriques et méthodologiques fondatrices de</a:t>
            </a:r>
          </a:p>
          <a:p>
            <a:pPr algn="l">
              <a:lnSpc>
                <a:spcPct val="115521"/>
              </a:lnSpc>
            </a:pPr>
            <a:r>
              <a:rPr sz="1192" b="0">
                <a:solidFill>
                  <a:srgbClr val="000000"/>
                </a:solidFill>
                <a:latin typeface="Arial"/>
              </a:rPr>
              <a:t>cette recherche doctorale. Liste à compléter avant la soutenance finale.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81647" y="3656416"/>
            <a:ext cx="1267864" cy="1832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92" b="1">
                <a:solidFill>
                  <a:srgbClr val="000000"/>
                </a:solidFill>
                <a:latin typeface="Arial"/>
              </a:rPr>
              <a:t>Références Clés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21698" y="4309668"/>
            <a:ext cx="247212" cy="183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92" b="1">
                <a:solidFill>
                  <a:srgbClr val="00355E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91455" y="4239424"/>
            <a:ext cx="5382590" cy="3927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521"/>
              </a:lnSpc>
            </a:pPr>
            <a:r>
              <a:rPr sz="1192" b="0">
                <a:solidFill>
                  <a:srgbClr val="000000"/>
                </a:solidFill>
                <a:latin typeface="Arial"/>
              </a:rPr>
              <a:t>Jensen &amp; Meckling (1976) ; Freeman (1984) ; Teece et al. (1997) — Théories</a:t>
            </a:r>
          </a:p>
          <a:p>
            <a:pPr algn="l">
              <a:lnSpc>
                <a:spcPct val="115521"/>
              </a:lnSpc>
            </a:pPr>
            <a:r>
              <a:rPr sz="1192" b="0">
                <a:solidFill>
                  <a:srgbClr val="000000"/>
                </a:solidFill>
                <a:latin typeface="Arial"/>
              </a:rPr>
              <a:t>de l'agence, parties prenantes et capacités dynamiques.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03442" y="4969320"/>
            <a:ext cx="283714" cy="183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92" b="1">
                <a:solidFill>
                  <a:srgbClr val="00355E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91455" y="4899076"/>
            <a:ext cx="4918217" cy="3927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521"/>
              </a:lnSpc>
            </a:pPr>
            <a:r>
              <a:rPr sz="1192" b="0">
                <a:solidFill>
                  <a:srgbClr val="000000"/>
                </a:solidFill>
                <a:latin typeface="Arial"/>
              </a:rPr>
              <a:t>Goleman (1995) ; Russell &amp; Norvig (2021) ; Mayer &amp; Salovey (1997) —</a:t>
            </a:r>
          </a:p>
          <a:p>
            <a:pPr algn="l">
              <a:lnSpc>
                <a:spcPct val="115521"/>
              </a:lnSpc>
            </a:pPr>
            <a:r>
              <a:rPr sz="1192" b="0">
                <a:solidFill>
                  <a:srgbClr val="000000"/>
                </a:solidFill>
                <a:latin typeface="Arial"/>
              </a:rPr>
              <a:t>Intelligence émotionnelle et intelligence artificielle en gouvernance.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02251" y="5628972"/>
            <a:ext cx="286137" cy="183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92" b="1">
                <a:solidFill>
                  <a:srgbClr val="00355E"/>
                </a:solidFill>
                <a:latin typeface="Arial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1455" y="5558727"/>
            <a:ext cx="5154364" cy="3927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55"/>
              </a:lnSpc>
            </a:pPr>
            <a:r>
              <a:rPr sz="1192" b="0">
                <a:solidFill>
                  <a:srgbClr val="000000"/>
                </a:solidFill>
                <a:latin typeface="Arial"/>
              </a:rPr>
              <a:t>Miles &amp; Huberman (2003) ; Yin (2018) ; Creswell (2014) — Méthodologie</a:t>
            </a:r>
          </a:p>
          <a:p>
            <a:pPr algn="l">
              <a:lnSpc>
                <a:spcPct val="115055"/>
              </a:lnSpc>
            </a:pPr>
            <a:r>
              <a:rPr sz="1192" b="0">
                <a:solidFill>
                  <a:srgbClr val="000000"/>
                </a:solidFill>
                <a:latin typeface="Arial"/>
              </a:rPr>
              <a:t>qualitative, étude de cas et analyse thématique avec NVivo.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6389" y="1000529"/>
            <a:ext cx="6646765" cy="55203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987" b="0">
                <a:solidFill>
                  <a:srgbClr val="00355E"/>
                </a:solidFill>
                <a:latin typeface="Arial Black"/>
              </a:rPr>
              <a:t>Merci pour votre attention 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6031" y="1205294"/>
            <a:ext cx="1822067" cy="204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18" b="1">
                <a:solidFill>
                  <a:srgbClr val="000000"/>
                </a:solidFill>
                <a:latin typeface="Arial"/>
              </a:rPr>
              <a:t>Contact du Doctorant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76031" y="1613740"/>
            <a:ext cx="2013813" cy="24235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949"/>
              </a:lnSpc>
            </a:pPr>
            <a:r>
              <a:rPr sz="1331" b="0">
                <a:solidFill>
                  <a:srgbClr val="000000"/>
                </a:solidFill>
                <a:latin typeface="Arial"/>
              </a:rPr>
              <a:t>contact@upl-gabon.com</a:t>
            </a:r>
          </a:p>
          <a:p>
            <a:pPr algn="l">
              <a:lnSpc>
                <a:spcPct val="115949"/>
              </a:lnSpc>
            </a:pPr>
            <a:r>
              <a:rPr sz="1331" b="0">
                <a:solidFill>
                  <a:srgbClr val="000000"/>
                </a:solidFill>
                <a:latin typeface="Arial"/>
              </a:rPr>
              <a:t>+241 02 62 19 78</a:t>
            </a:r>
          </a:p>
          <a:p>
            <a:pPr algn="l">
              <a:lnSpc>
                <a:spcPct val="115949"/>
              </a:lnSpc>
            </a:pPr>
            <a:r>
              <a:rPr sz="1331" b="0">
                <a:solidFill>
                  <a:srgbClr val="000000"/>
                </a:solidFill>
                <a:latin typeface="Arial"/>
              </a:rPr>
              <a:t>Libreville, Gabon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389" y="2022791"/>
            <a:ext cx="5671796" cy="8541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4679"/>
              </a:lnSpc>
            </a:pPr>
            <a:r>
              <a:rPr sz="1598" b="0">
                <a:solidFill>
                  <a:srgbClr val="00355E"/>
                </a:solidFill>
                <a:latin typeface="Arial Black"/>
              </a:rPr>
              <a:t>Remerciements au Professeur Valax et aux</a:t>
            </a:r>
          </a:p>
          <a:p>
            <a:pPr algn="l">
              <a:lnSpc>
                <a:spcPct val="114679"/>
              </a:lnSpc>
            </a:pPr>
            <a:r>
              <a:rPr sz="1598" b="0">
                <a:solidFill>
                  <a:srgbClr val="00355E"/>
                </a:solidFill>
                <a:latin typeface="Arial Black"/>
              </a:rPr>
              <a:t>membres du jury. Vos questions sont les</a:t>
            </a:r>
          </a:p>
          <a:p>
            <a:pPr algn="l">
              <a:lnSpc>
                <a:spcPct val="114679"/>
              </a:lnSpc>
            </a:pPr>
            <a:r>
              <a:rPr sz="1598" b="0">
                <a:solidFill>
                  <a:srgbClr val="00355E"/>
                </a:solidFill>
                <a:latin typeface="Arial Black"/>
              </a:rPr>
              <a:t>bienvenues.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Soutenance DBA — Gouvernance augmentée des EPES gabonais</dc:title>
  <dc:subject>Mise en page du modèle Canva de l'auteur, remplie avec le contenu de la thèse</dc:subject>
  <dc:creator>Serge Patrick MINANG</dc:creator>
  <cp:keywords/>
  <dc:description>18 diapositives. Aucun élément du modèle n'a été déplacé : les textes sont reposés aux coordonnées d'origine.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