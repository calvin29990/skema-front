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Couverture. Annoncer le titre, se nommer, puis le plan en une phrase : contexte, question, cadre, modèle, méthode, contributions.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Contexte : la polycrise gabonaise n'est pas une somme de crises, c'est leur interaction. Carte du Gabon, neuf provinces ; l'étude porte sur des EPES, non sur l'État.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centrale : la lire lentement, c'est la phrase que le jury doit pouvoir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QR1 à QR4 : chaque question ouvre un objet d'enquête distinct. Ne pas présupposer que l'IA améliore la gouvernance.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Agence (contrôle, incitations) et parties prenantes (légitimité, confiance) : l'IA outille le contrôle, l'IE travaille la légitimité.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Résilience et capacités dynamiques : détecter, absorber, reconfigurer. C'est le pont entre le cadre théorique et le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Modèle conceptuel : quatre piliers, quatre effets attendus. Insister sur « attendus » : le terrain n'est pas clos.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Articulation IA–IE : deux registres complémentaires, jamais substituables.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Sept propositions, formulées pour être contredites. Si le terrain les infirme, c'est un résultat.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Méthodologie : qualitatif multi-cas. 5 EPES, 45 participants (15 / 20 / 10), triangulation.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Protocole : collecte, puis analyse et validation. Assumer le terrain en contexte de polycrise.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Contributions scientifiques : elles restent conditionnelles jusqu'à l'analyse.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Contributions managériales : outils de décision, compétences IE, coordination institutionnelle.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Contributions sociétales : résilience collective et inclusion.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Limites et perspectives : les énoncer soi-même désarme la question du jury.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 : trois idées, puis s'arrêter.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Bibliographie : les pères fondateurs et les auteurs de méthode, pas une liste exhaustive.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 le jury, s'arrêter, laisser venir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couver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mundiapol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" y="440255"/>
            <a:ext cx="938474" cy="372524"/>
          </a:xfrm>
          <a:prstGeom prst="rect">
            <a:avLst/>
          </a:prstGeom>
        </p:spPr>
      </p:pic>
      <p:pic>
        <p:nvPicPr>
          <p:cNvPr id="4" name="Picture 3" descr="logo-iae-n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7955" y="440255"/>
            <a:ext cx="611070" cy="3725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584" y="935543"/>
            <a:ext cx="6017958" cy="1523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FA8C4"/>
                </a:solidFill>
                <a:latin typeface="Arial"/>
              </a:rPr>
              <a:t>DOCTORAT DE BUSINESS ADMINISTRATION (DBA)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" y="1223402"/>
            <a:ext cx="7711249" cy="10159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2A5B"/>
                </a:solidFill>
                <a:latin typeface="Arial"/>
              </a:rPr>
              <a:t>Gouvernance augmentée par l'IA et l'IE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2A5B"/>
                </a:solidFill>
                <a:latin typeface="Arial"/>
              </a:rPr>
              <a:t>dans les EPES au Gabon en situation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2A5B"/>
                </a:solidFill>
                <a:latin typeface="Arial"/>
              </a:rPr>
              <a:t>de polycrise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584" y="2239377"/>
            <a:ext cx="7711249" cy="203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40536E"/>
                </a:solidFill>
                <a:latin typeface="Arial"/>
              </a:rPr>
              <a:t>Enjeux de performance globale, de responsabilité sociétale et de développement durable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584" y="2539936"/>
            <a:ext cx="812779" cy="25399"/>
          </a:xfrm>
          <a:prstGeom prst="rect">
            <a:avLst/>
          </a:prstGeom>
          <a:solidFill>
            <a:srgbClr val="1F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584" y="2662700"/>
            <a:ext cx="5340642" cy="338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50" b="1">
                <a:solidFill>
                  <a:srgbClr val="0B2A5B"/>
                </a:solidFill>
                <a:latin typeface="Arial"/>
              </a:rPr>
              <a:t>Serge Patrick MINANG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" y="3001358"/>
            <a:ext cx="5509971" cy="4233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0536E"/>
                </a:solidFill>
                <a:latin typeface="Arial"/>
              </a:rPr>
              <a:t>Direction de thèse : Pr Jérôme CHABANNE-RIVE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0536E"/>
                </a:solidFill>
                <a:latin typeface="Arial"/>
              </a:rPr>
              <a:t>Soutenance publique — 21 décembre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" y="3441613"/>
            <a:ext cx="6017958" cy="423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>
                <a:solidFill>
                  <a:srgbClr val="1FA8C4"/>
                </a:solidFill>
                <a:latin typeface="Arial"/>
              </a:rPr>
              <a:t>JURY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40536E"/>
                </a:solidFill>
                <a:latin typeface="Arial"/>
              </a:rPr>
              <a:t>Marc VALAX (Président) · Jérôme CHABANNE-RIVE (Rapporteur) · Michel PLANE (Suffragant) · Sabrina (Suffragant)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" y="5913818"/>
            <a:ext cx="6187287" cy="5079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40536E"/>
                </a:solidFill>
                <a:latin typeface="Arial"/>
              </a:rPr>
              <a:t>contact@upl-gabon.com · +241 02 62 19 78 · Libreville, Gabon</a:t>
            </a:r>
          </a:p>
          <a:p>
            <a:pPr algn="l">
              <a:lnSpc>
                <a:spcPct val="140000"/>
              </a:lnSpc>
            </a:pPr>
            <a:r>
              <a:rPr sz="850" b="1">
                <a:solidFill>
                  <a:srgbClr val="0B2A5B"/>
                </a:solidFill>
                <a:latin typeface="Arial"/>
              </a:rPr>
              <a:t>EXCELLENCE  •  RESPONSABILITÉ  •  IMPACT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40187"/>
            <a:ext cx="4881978" cy="1129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923"/>
              </a:lnSpc>
            </a:pPr>
            <a:r>
              <a:rPr sz="3124" b="0">
                <a:solidFill>
                  <a:srgbClr val="00355E"/>
                </a:solidFill>
                <a:latin typeface="Arial Black"/>
              </a:rPr>
              <a:t>Contexte gabonais</a:t>
            </a:r>
          </a:p>
          <a:p>
            <a:pPr algn="l">
              <a:lnSpc>
                <a:spcPct val="115923"/>
              </a:lnSpc>
            </a:pPr>
            <a:r>
              <a:rPr sz="3124" b="0">
                <a:solidFill>
                  <a:srgbClr val="00355E"/>
                </a:solidFill>
                <a:latin typeface="Arial Black"/>
              </a:rPr>
              <a:t>et polycrise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2593787"/>
            <a:ext cx="4587173" cy="4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Le Gabon traverse une polycrise inédite combinant des crises simultanées qui fragilisent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profondément les structures de gouvernance et imposent une refondation des pratiques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institutionnelles.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81647" y="3650137"/>
            <a:ext cx="1480871" cy="1328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60" b="1">
                <a:solidFill>
                  <a:srgbClr val="000000"/>
                </a:solidFill>
                <a:latin typeface="Arial"/>
              </a:rPr>
              <a:t>Impact sur la gouvernance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0945" y="4303388"/>
            <a:ext cx="208744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1455" y="4339109"/>
            <a:ext cx="5443258" cy="2852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Crises économique et sociale : chute des recettes pétrolières, inégalités persistantes, chômage structurel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et fragilisation du tissu social gabonais.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9933" y="4963040"/>
            <a:ext cx="230811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1455" y="4998762"/>
            <a:ext cx="5399237" cy="2852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Crises environnementale et politique : pression sur les ressources naturelles, instabilité institutionnelle et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rupture de confiance entre gouvernants et citoyens.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9040" y="5622692"/>
            <a:ext cx="232567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455" y="5658413"/>
            <a:ext cx="4792873" cy="2852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Effets sur la gouvernance : affaiblissement des capacités décisionnelles, déficit de résilience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organisationnelle et nécessité d'un nouveau paradigme de gouvernance augmentée.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26153"/>
            <a:ext cx="3619508" cy="20100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Question</a:t>
            </a:r>
          </a:p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Centrale de</a:t>
            </a:r>
          </a:p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831607"/>
            <a:ext cx="2328834" cy="1585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22" b="1">
                <a:solidFill>
                  <a:srgbClr val="000000"/>
                </a:solidFill>
                <a:latin typeface="Arial"/>
              </a:rPr>
              <a:t>Enjeux Scientifiques &amp; Managériaux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9635" y="1484850"/>
            <a:ext cx="231452" cy="1585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31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1455" y="1367377"/>
            <a:ext cx="2326196" cy="16255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049"/>
              </a:lnSpc>
            </a:pPr>
            <a:r>
              <a:rPr sz="1031" b="0">
                <a:solidFill>
                  <a:srgbClr val="000000"/>
                </a:solidFill>
                <a:latin typeface="Arial"/>
              </a:rPr>
              <a:t>Comment l'articulation IA–IE transforme-t-elle la gouvernance des EPES gabonais en polycrise, et quels effets sur la performance, la RSE et la durabilité 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71916" y="1484850"/>
            <a:ext cx="257795" cy="1585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31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890" y="1367377"/>
            <a:ext cx="2321641" cy="869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049"/>
              </a:lnSpc>
            </a:pPr>
            <a:r>
              <a:rPr sz="1031" b="0">
                <a:solidFill>
                  <a:srgbClr val="000000"/>
                </a:solidFill>
                <a:latin typeface="Arial"/>
              </a:rPr>
              <a:t>Enjeux : articuler IA et IE pour</a:t>
            </a:r>
          </a:p>
          <a:p>
            <a:pPr algn="l">
              <a:lnSpc>
                <a:spcPct val="113049"/>
              </a:lnSpc>
            </a:pPr>
            <a:r>
              <a:rPr sz="1031" b="0">
                <a:solidFill>
                  <a:srgbClr val="000000"/>
                </a:solidFill>
                <a:latin typeface="Arial"/>
              </a:rPr>
              <a:t>renforcer la résilience institutionnelle</a:t>
            </a:r>
          </a:p>
          <a:p>
            <a:pPr algn="l">
              <a:lnSpc>
                <a:spcPct val="113049"/>
              </a:lnSpc>
            </a:pPr>
            <a:r>
              <a:rPr sz="1031" b="0">
                <a:solidFill>
                  <a:srgbClr val="000000"/>
                </a:solidFill>
                <a:latin typeface="Arial"/>
              </a:rPr>
              <a:t>et managériale dans un contexte de</a:t>
            </a:r>
          </a:p>
          <a:p>
            <a:pPr algn="l">
              <a:lnSpc>
                <a:spcPct val="113049"/>
              </a:lnSpc>
            </a:pPr>
            <a:r>
              <a:rPr sz="1031" b="0">
                <a:solidFill>
                  <a:srgbClr val="000000"/>
                </a:solidFill>
                <a:latin typeface="Arial"/>
              </a:rPr>
              <a:t>crises multidimensionnelles au</a:t>
            </a:r>
          </a:p>
          <a:p>
            <a:pPr algn="l">
              <a:lnSpc>
                <a:spcPct val="113049"/>
              </a:lnSpc>
            </a:pPr>
            <a:r>
              <a:rPr sz="1031" b="0">
                <a:solidFill>
                  <a:srgbClr val="000000"/>
                </a:solidFill>
                <a:latin typeface="Arial"/>
              </a:rPr>
              <a:t>Gabon.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42040"/>
            <a:ext cx="3856023" cy="14667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650"/>
              </a:lnSpc>
            </a:pPr>
            <a:r>
              <a:rPr sz="2714" b="0">
                <a:solidFill>
                  <a:srgbClr val="00355E"/>
                </a:solidFill>
                <a:latin typeface="Arial Black"/>
              </a:rPr>
              <a:t>Quatre Questions</a:t>
            </a:r>
          </a:p>
          <a:p>
            <a:pPr algn="l">
              <a:lnSpc>
                <a:spcPct val="116650"/>
              </a:lnSpc>
            </a:pPr>
            <a:r>
              <a:rPr sz="2714" b="0">
                <a:solidFill>
                  <a:srgbClr val="00355E"/>
                </a:solidFill>
                <a:latin typeface="Arial Black"/>
              </a:rPr>
              <a:t>Spécifiques de</a:t>
            </a:r>
          </a:p>
          <a:p>
            <a:pPr algn="l">
              <a:lnSpc>
                <a:spcPct val="116650"/>
              </a:lnSpc>
            </a:pPr>
            <a:r>
              <a:rPr sz="2714" b="0">
                <a:solidFill>
                  <a:srgbClr val="00355E"/>
                </a:solidFill>
                <a:latin typeface="Arial Black"/>
              </a:rPr>
              <a:t>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389" y="2106755"/>
            <a:ext cx="1181147" cy="15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90" b="1">
                <a:solidFill>
                  <a:srgbClr val="000000"/>
                </a:solidFill>
                <a:latin typeface="Arial"/>
              </a:rPr>
              <a:t>Question Centrale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" y="2666820"/>
            <a:ext cx="4203888" cy="7705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598"/>
              </a:lnSpc>
            </a:pPr>
            <a:r>
              <a:rPr sz="996" b="0">
                <a:solidFill>
                  <a:srgbClr val="000000"/>
                </a:solidFill>
                <a:latin typeface="Arial"/>
              </a:rPr>
              <a:t>Comment l'articulation entre intelligence artificielle et intelligence émotionnelle transforme-t-elle la gouvernance des EPES gabonais en situation de polycrise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89" y="3479661"/>
            <a:ext cx="2039115" cy="15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86" b="1">
                <a:solidFill>
                  <a:srgbClr val="000000"/>
                </a:solidFill>
                <a:latin typeface="Arial"/>
              </a:rPr>
              <a:t>Questions Spécifiques (Q1 à Q4)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559" y="4132912"/>
            <a:ext cx="240972" cy="15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96" b="1">
                <a:solidFill>
                  <a:srgbClr val="00355E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202" y="4133908"/>
            <a:ext cx="4612809" cy="61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598"/>
              </a:lnSpc>
            </a:pPr>
            <a:r>
              <a:rPr sz="996" b="0">
                <a:solidFill>
                  <a:srgbClr val="000000"/>
                </a:solidFill>
                <a:latin typeface="Arial"/>
              </a:rPr>
              <a:t>Comment les EPES gabonais gouvernent-ils en situation de polycrise : arbitrages, instances, pratiques de décision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859" y="4792564"/>
            <a:ext cx="266422" cy="15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96" b="1">
                <a:solidFill>
                  <a:srgbClr val="00355E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202" y="4793560"/>
            <a:ext cx="4845348" cy="61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598"/>
              </a:lnSpc>
            </a:pPr>
            <a:r>
              <a:rPr sz="996" b="0">
                <a:solidFill>
                  <a:srgbClr val="000000"/>
                </a:solidFill>
                <a:latin typeface="Arial"/>
              </a:rPr>
              <a:t>Quels usages réels de l'intelligence artificielle observe-t-on dans les décisions de gouvernance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5866" y="5452217"/>
            <a:ext cx="268448" cy="15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96" b="1">
                <a:solidFill>
                  <a:srgbClr val="00355E"/>
                </a:solidFill>
                <a:latin typeface="Arial"/>
              </a:rP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202" y="5453192"/>
            <a:ext cx="4554326" cy="61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598"/>
              </a:lnSpc>
            </a:pPr>
            <a:r>
              <a:rPr sz="996" b="0">
                <a:solidFill>
                  <a:srgbClr val="000000"/>
                </a:solidFill>
                <a:latin typeface="Arial"/>
              </a:rPr>
              <a:t>Quel rôle l'intelligence émotionnelle joue-t-elle dans le jugement et l'action collective des dirigeants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882" y="6111868"/>
            <a:ext cx="272246" cy="15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96" b="1">
                <a:solidFill>
                  <a:srgbClr val="00355E"/>
                </a:solidFill>
                <a:latin typeface="Arial"/>
              </a:rPr>
              <a:t>Q4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202" y="6112844"/>
            <a:ext cx="4318052" cy="512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3155"/>
              </a:lnSpc>
            </a:pPr>
            <a:r>
              <a:rPr sz="996" b="0">
                <a:solidFill>
                  <a:srgbClr val="000000"/>
                </a:solidFill>
                <a:latin typeface="Arial"/>
              </a:rPr>
              <a:t>À quelles conditions l'articulation IA–IE produit-elle des effets, et lesquels, sur la performance, la RSE et la durabilité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15689" y="350714"/>
            <a:ext cx="6651668" cy="872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5441"/>
              </a:lnSpc>
            </a:pPr>
            <a:r>
              <a:rPr sz="2420" b="0">
                <a:solidFill>
                  <a:srgbClr val="00355E"/>
                </a:solidFill>
                <a:latin typeface="Arial Black"/>
              </a:rPr>
              <a:t>Fondements Théoriques</a:t>
            </a:r>
          </a:p>
          <a:p>
            <a:pPr algn="ctr">
              <a:lnSpc>
                <a:spcPct val="115441"/>
              </a:lnSpc>
            </a:pPr>
            <a:r>
              <a:rPr sz="2420" b="0">
                <a:solidFill>
                  <a:srgbClr val="00355E"/>
                </a:solidFill>
                <a:latin typeface="Arial Black"/>
              </a:rPr>
              <a:t>Théorie de l'Agence &amp; des Parties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06491" y="1201593"/>
            <a:ext cx="2070033" cy="44735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20" b="0">
                <a:solidFill>
                  <a:srgbClr val="00355E"/>
                </a:solidFill>
                <a:latin typeface="Arial Black"/>
              </a:rPr>
              <a:t>Prenantes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1837" y="5314331"/>
            <a:ext cx="1270459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4" b="1">
                <a:solidFill>
                  <a:srgbClr val="000000"/>
                </a:solidFill>
                <a:latin typeface="Arial"/>
              </a:rPr>
              <a:t>Théorie de l'Agence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9190" y="5314331"/>
            <a:ext cx="1864709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7" b="1">
                <a:solidFill>
                  <a:srgbClr val="000000"/>
                </a:solidFill>
                <a:latin typeface="Arial"/>
              </a:rPr>
              <a:t>Théorie des Parties Prenantes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80097" y="5314331"/>
            <a:ext cx="2431617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63" b="1">
                <a:solidFill>
                  <a:srgbClr val="000000"/>
                </a:solidFill>
                <a:latin typeface="Arial"/>
              </a:rPr>
              <a:t>Articulation &amp; Gouvernance Augmentée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2196" y="5762295"/>
            <a:ext cx="3109899" cy="3214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Jensen &amp; Meckling (1976) : relation mandant-</a:t>
            </a:r>
          </a:p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mandataire, asymétrie d'information, alignement 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1019" y="5762295"/>
            <a:ext cx="3300998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Freeman (1984) : intégration des intérêts multiples (État,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867" y="5762295"/>
            <a:ext cx="3164038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L'IA optimise la transparence et le contrôle (Agence) 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2768" y="5933741"/>
            <a:ext cx="3237435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société civile, entreprises). Légitimité, responsabilité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6304" y="5933741"/>
            <a:ext cx="2819278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l'IE renforce la légitimité et la confiance (Parties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913" y="6105186"/>
            <a:ext cx="2962454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intérêts via mécanismes de contrôle et incitations.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9718" y="6105186"/>
            <a:ext cx="3123624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création de valeur partagée en contexte de polycrise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7761" y="6105186"/>
            <a:ext cx="2656313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prenantes). Synergie fondamentale pour 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80" y="6276632"/>
            <a:ext cx="2878165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Pertinence : gouvernance des EPES gabonaises.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81423" y="6276632"/>
            <a:ext cx="720196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gabonaise.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02" y="6276632"/>
            <a:ext cx="2058701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gouvernance augmentée efficace.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444" y="2520463"/>
            <a:ext cx="2377382" cy="18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Relation d'agence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910" y="3178413"/>
            <a:ext cx="1107414" cy="12001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B2F5C"/>
                </a:solidFill>
                <a:latin typeface="Arial"/>
              </a:rPr>
              <a:t>Mandant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3610" y="3178413"/>
            <a:ext cx="1192079" cy="12001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B2F5C"/>
                </a:solidFill>
                <a:latin typeface="Arial"/>
              </a:rPr>
              <a:t>Mandataire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5655" y="3615917"/>
            <a:ext cx="802622" cy="1085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Arial"/>
              </a:rPr>
              <a:t>Interaction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7509" y="3668726"/>
            <a:ext cx="1209012" cy="2400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Intelligence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artificielle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54474" y="3516330"/>
            <a:ext cx="1005817" cy="2400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Intelligence</a:t>
            </a:r>
          </a:p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émotionnelle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5801" y="347666"/>
            <a:ext cx="7151452" cy="8963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5815"/>
              </a:lnSpc>
            </a:pPr>
            <a:r>
              <a:rPr sz="2479" b="0">
                <a:solidFill>
                  <a:srgbClr val="00355E"/>
                </a:solidFill>
                <a:latin typeface="Arial Black"/>
              </a:rPr>
              <a:t>Fondements Théoriques :</a:t>
            </a:r>
          </a:p>
          <a:p>
            <a:pPr algn="ctr">
              <a:lnSpc>
                <a:spcPct val="115815"/>
              </a:lnSpc>
            </a:pPr>
            <a:r>
              <a:rPr sz="2479" b="0">
                <a:solidFill>
                  <a:srgbClr val="00355E"/>
                </a:solidFill>
                <a:latin typeface="Arial Black"/>
              </a:rPr>
              <a:t>Résilience &amp; Capacités Dynamiques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509" y="5314331"/>
            <a:ext cx="1491196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9" b="1">
                <a:solidFill>
                  <a:srgbClr val="000000"/>
                </a:solidFill>
                <a:latin typeface="Arial"/>
              </a:rPr>
              <a:t>Théorie de la Résilience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4863" y="5314331"/>
            <a:ext cx="1453312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1">
                <a:solidFill>
                  <a:srgbClr val="000000"/>
                </a:solidFill>
                <a:latin typeface="Arial"/>
              </a:rPr>
              <a:t>Capacités Dynamiques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14208" y="5314331"/>
            <a:ext cx="2763263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67" b="1">
                <a:solidFill>
                  <a:srgbClr val="000000"/>
                </a:solidFill>
                <a:latin typeface="Arial"/>
              </a:rPr>
              <a:t>Articulation avec la Gouvernance Augmentée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138" y="5762295"/>
            <a:ext cx="2917982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Capacité des organisations à absorber les chocs,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2903" y="5762295"/>
            <a:ext cx="2917298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Aptitude à reconfigurer, renouveler et intégrer 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22191" y="5762295"/>
            <a:ext cx="3347471" cy="3214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L'IA renforce la détection précoce des risques ;</a:t>
            </a:r>
          </a:p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l'intelligence émotionnelle soutient l'adaptation humaine.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8112" y="5933741"/>
            <a:ext cx="3038024" cy="3214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982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s'adapter et se transformer face aux crises.</a:t>
            </a:r>
          </a:p>
          <a:p>
            <a:pPr algn="l">
              <a:lnSpc>
                <a:spcPct val="114982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Fondamentale pour comprendre la gouvernance 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2480" y="5933741"/>
            <a:ext cx="3038116" cy="3214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982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ressources stratégiques. Permet à l'organisation</a:t>
            </a:r>
          </a:p>
          <a:p>
            <a:pPr algn="l">
              <a:lnSpc>
                <a:spcPct val="114982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d'évoluer et d'innover en environnement instable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52253" y="6105186"/>
            <a:ext cx="3287417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Ensemble, elles constituent le socle d'une gouvernance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975" y="6276632"/>
            <a:ext cx="1990387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contexte de polycrise gabonaise.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447" y="6276632"/>
            <a:ext cx="624229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incertain.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8594" y="6276632"/>
            <a:ext cx="1094682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résiliente et agile.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032" y="3555487"/>
            <a:ext cx="1446072" cy="297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355E"/>
                </a:solidFill>
                <a:latin typeface="Arial"/>
              </a:rPr>
              <a:t>Résilience</a:t>
            </a:r>
          </a:p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355E"/>
                </a:solidFill>
                <a:latin typeface="Arial"/>
              </a:rPr>
              <a:t>organisationnelle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2940" y="2498133"/>
            <a:ext cx="2123389" cy="1428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00355E"/>
                </a:solidFill>
                <a:latin typeface="Arial"/>
              </a:rPr>
              <a:t>Capacités dynamiques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3483" y="3652217"/>
            <a:ext cx="684091" cy="171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00355E"/>
                </a:solidFill>
                <a:latin typeface="Arial"/>
              </a:rPr>
              <a:t>Détecter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00355E"/>
                </a:solidFill>
                <a:latin typeface="Arial"/>
              </a:rPr>
              <a:t>saisir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767" y="3695078"/>
            <a:ext cx="938085" cy="857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00355E"/>
                </a:solidFill>
                <a:latin typeface="Arial"/>
              </a:rPr>
              <a:t>Reconfigurer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8019" y="2622696"/>
            <a:ext cx="430098" cy="80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Arial"/>
              </a:rPr>
              <a:t>Absorber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88019" y="4620779"/>
            <a:ext cx="480896" cy="800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Arial"/>
              </a:rPr>
              <a:t>S'adapter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7509" y="3282444"/>
            <a:ext cx="870353" cy="18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B2F5C"/>
                </a:solidFill>
                <a:latin typeface="Arial"/>
              </a:rPr>
              <a:t>Intelligence</a:t>
            </a:r>
          </a:p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B2F5C"/>
                </a:solidFill>
                <a:latin typeface="Arial"/>
              </a:rPr>
              <a:t>émotionnelle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6934" y="3273978"/>
            <a:ext cx="904219" cy="182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B2F5C"/>
                </a:solidFill>
                <a:latin typeface="Arial"/>
              </a:rPr>
              <a:t>Gouvernance</a:t>
            </a:r>
          </a:p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B2F5C"/>
                </a:solidFill>
                <a:latin typeface="Arial"/>
              </a:rPr>
              <a:t>résiliente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32044"/>
            <a:ext cx="7588039" cy="12953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583"/>
              </a:lnSpc>
            </a:pPr>
            <a:r>
              <a:rPr sz="3573" b="0">
                <a:solidFill>
                  <a:srgbClr val="00355E"/>
                </a:solidFill>
                <a:latin typeface="Arial Black"/>
              </a:rPr>
              <a:t>Modèle Conceptuel de</a:t>
            </a:r>
          </a:p>
          <a:p>
            <a:pPr algn="l">
              <a:lnSpc>
                <a:spcPct val="116583"/>
              </a:lnSpc>
            </a:pPr>
            <a:r>
              <a:rPr sz="3573" b="0">
                <a:solidFill>
                  <a:srgbClr val="00355E"/>
                </a:solidFill>
                <a:latin typeface="Arial Black"/>
              </a:rPr>
              <a:t>Gouvernance Augmentée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389" y="2692545"/>
            <a:ext cx="1679741" cy="134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6" b="1">
                <a:solidFill>
                  <a:srgbClr val="000000"/>
                </a:solidFill>
                <a:latin typeface="Arial"/>
              </a:rPr>
              <a:t>Piliers Intégrateurs du Modèle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" y="3263990"/>
            <a:ext cx="2581357" cy="5921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L'articulation IA–IE constitue le cœur du modèle,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mobilisant données décisionnelles et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compétences relationnelles pour répondre à la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polycrise.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6760" y="3280916"/>
            <a:ext cx="210649" cy="134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78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92120" y="3280916"/>
            <a:ext cx="233075" cy="134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78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7810" y="3280916"/>
            <a:ext cx="234859" cy="134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78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02706" y="3280916"/>
            <a:ext cx="238206" cy="134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78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8400" y="3733878"/>
            <a:ext cx="1444377" cy="134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8" b="0">
                <a:solidFill>
                  <a:srgbClr val="000000"/>
                </a:solidFill>
                <a:latin typeface="Arial"/>
              </a:rPr>
              <a:t>Intelligence Artificielle (IA)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4982" y="3733878"/>
            <a:ext cx="1586063" cy="134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8" b="0">
                <a:solidFill>
                  <a:srgbClr val="000000"/>
                </a:solidFill>
                <a:latin typeface="Arial"/>
              </a:rPr>
              <a:t>Intelligence Émotionnelle (IE)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1565" y="3733878"/>
            <a:ext cx="1597395" cy="134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8" b="0">
                <a:solidFill>
                  <a:srgbClr val="000000"/>
                </a:solidFill>
                <a:latin typeface="Arial"/>
              </a:rPr>
              <a:t>Capacités Organisationnelles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148" y="3733878"/>
            <a:ext cx="1601249" cy="2873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Parties Prenantes &amp; Contexte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Gabonais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389" y="4950101"/>
            <a:ext cx="2762912" cy="134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69" b="1">
                <a:solidFill>
                  <a:srgbClr val="000000"/>
                </a:solidFill>
                <a:latin typeface="Arial"/>
              </a:rPr>
              <a:t>Résultats Attendus de la Gouvernance Augmentée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389" y="5521526"/>
            <a:ext cx="2548083" cy="5921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La gouvernance augmentée produit des effets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mesurables : résilience, performance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décisionnelle et légitimité renforcée au sein des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EPES gabonaises.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6760" y="5538472"/>
            <a:ext cx="210649" cy="134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78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2120" y="5538472"/>
            <a:ext cx="233075" cy="134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78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7810" y="5538472"/>
            <a:ext cx="234859" cy="134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78" b="1">
                <a:solidFill>
                  <a:srgbClr val="00355E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2706" y="5538472"/>
            <a:ext cx="238206" cy="134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78" b="1">
                <a:solidFill>
                  <a:srgbClr val="00355E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8400" y="5991414"/>
            <a:ext cx="1396344" cy="2873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Résilience institutionnelle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renforcée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4982" y="5991414"/>
            <a:ext cx="1760316" cy="1349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78" b="0">
                <a:solidFill>
                  <a:srgbClr val="000000"/>
                </a:solidFill>
                <a:latin typeface="Arial"/>
              </a:rPr>
              <a:t>Décisions inclusives et éclairées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1565" y="5991414"/>
            <a:ext cx="1633594" cy="2873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Performance de gouvernance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améliorée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148" y="5991414"/>
            <a:ext cx="1458214" cy="2873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Légitimité &amp; confiance des</a:t>
            </a:r>
          </a:p>
          <a:p>
            <a:pPr algn="l">
              <a:lnSpc>
                <a:spcPct val="113809"/>
              </a:lnSpc>
            </a:pPr>
            <a:r>
              <a:rPr sz="878" b="0">
                <a:solidFill>
                  <a:srgbClr val="000000"/>
                </a:solidFill>
                <a:latin typeface="Arial"/>
              </a:rPr>
              <a:t>acteurs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31779"/>
            <a:ext cx="4916152" cy="18778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529"/>
              </a:lnSpc>
            </a:pPr>
            <a:r>
              <a:rPr sz="3495" b="0">
                <a:solidFill>
                  <a:srgbClr val="00355E"/>
                </a:solidFill>
                <a:latin typeface="Arial Black"/>
              </a:rPr>
              <a:t>Articulation entre</a:t>
            </a:r>
          </a:p>
          <a:p>
            <a:pPr algn="l">
              <a:lnSpc>
                <a:spcPct val="115529"/>
              </a:lnSpc>
            </a:pPr>
            <a:r>
              <a:rPr sz="3495" b="0">
                <a:solidFill>
                  <a:srgbClr val="00355E"/>
                </a:solidFill>
                <a:latin typeface="Arial Black"/>
              </a:rPr>
              <a:t>IA et Intelligence</a:t>
            </a:r>
          </a:p>
          <a:p>
            <a:pPr algn="l">
              <a:lnSpc>
                <a:spcPct val="115529"/>
              </a:lnSpc>
            </a:pPr>
            <a:r>
              <a:rPr sz="3495" b="0">
                <a:solidFill>
                  <a:srgbClr val="00355E"/>
                </a:solidFill>
                <a:latin typeface="Arial Black"/>
              </a:rPr>
              <a:t>Émotionnelle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826390"/>
            <a:ext cx="2305265" cy="1285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22" b="1">
                <a:solidFill>
                  <a:srgbClr val="000000"/>
                </a:solidFill>
                <a:latin typeface="Arial"/>
              </a:rPr>
              <a:t>Synergies dans la Gouvernance Augmentée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2831" y="1479633"/>
            <a:ext cx="204933" cy="1285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36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1455" y="1362160"/>
            <a:ext cx="2328447" cy="712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Intelligence Artificielle : analyse prédictive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des données complexes, aide à la décision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algorithmique, détection de signaux faibles et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modélisation des scénarios de crise pour une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gouvernance proactive et éclairée.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7592" y="1479633"/>
            <a:ext cx="226285" cy="1285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36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890" y="1362160"/>
            <a:ext cx="2292144" cy="8587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Intelligence Émotionnelle : empathie, écoute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active, régulation relationnelle et instauration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de la confiance — dimensions humaines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indispensables pour légitimer et incarner les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décisions dans le contexte gabonais de</a:t>
            </a:r>
          </a:p>
          <a:p>
            <a:pPr algn="l">
              <a:lnSpc>
                <a:spcPct val="114210"/>
              </a:lnSpc>
            </a:pPr>
            <a:r>
              <a:rPr sz="836" b="0">
                <a:solidFill>
                  <a:srgbClr val="000000"/>
                </a:solidFill>
                <a:latin typeface="Arial"/>
              </a:rPr>
              <a:t>polycrise.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30671" y="4630727"/>
            <a:ext cx="1784731" cy="297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Gouvernance</a:t>
            </a:r>
          </a:p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augmentée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81647" y="334754"/>
            <a:ext cx="6085283" cy="1868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369"/>
              </a:lnSpc>
            </a:pPr>
            <a:r>
              <a:rPr sz="3437" b="0">
                <a:solidFill>
                  <a:srgbClr val="00355E"/>
                </a:solidFill>
                <a:latin typeface="Arial Black"/>
              </a:rPr>
              <a:t>Les Sept Propositions</a:t>
            </a:r>
          </a:p>
          <a:p>
            <a:pPr algn="l">
              <a:lnSpc>
                <a:spcPct val="116369"/>
              </a:lnSpc>
            </a:pPr>
            <a:r>
              <a:rPr sz="3437" b="0">
                <a:solidFill>
                  <a:srgbClr val="00355E"/>
                </a:solidFill>
                <a:latin typeface="Arial Black"/>
              </a:rPr>
              <a:t>de Recherche (P1–P7)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2245705"/>
            <a:ext cx="2866667" cy="122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77" b="1">
                <a:solidFill>
                  <a:srgbClr val="000000"/>
                </a:solidFill>
                <a:latin typeface="Arial"/>
              </a:rPr>
              <a:t>Propositions structurantes de la gouvernance augmentée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5278" y="2962454"/>
            <a:ext cx="200047" cy="122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99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1455" y="2844967"/>
            <a:ext cx="2254768" cy="82141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P1 : L'intégration de l'IA dans les dispositifs de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gouvernance améliore la qualité décisionnelle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en contexte de polycrise.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P2 : L'intelligence émotionnelle des dirigeants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renforce la légitimité et l'adhésion aux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décisions de gouvernance.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0568" y="2962454"/>
            <a:ext cx="220468" cy="122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99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890" y="2844967"/>
            <a:ext cx="2154905" cy="82141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P3 : L'articulation entre IA et IE génère des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synergies favorisant une gouvernance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augmentée plus résiliente.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P4 : La gouvernance augmentée renforce la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capacité des organisations à absorber et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surmonter les chocs de la polycrise.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265" y="4204890"/>
            <a:ext cx="222094" cy="1229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99" b="1">
                <a:solidFill>
                  <a:srgbClr val="00355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1455" y="4087423"/>
            <a:ext cx="2264721" cy="9611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P5 : L'implication des parties prenantes,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facilitée par les outils IA, améliore la co-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construction des politiques publiques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gabonaises.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P6 : Les capacités dynamiques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organisationnelles sont renforcées par l'usage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combiné de l'IA et de l'IE.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8187" y="4204890"/>
            <a:ext cx="225142" cy="1229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99" b="1">
                <a:solidFill>
                  <a:srgbClr val="00355E"/>
                </a:solidFill>
                <a:latin typeface="Arial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46890" y="4087423"/>
            <a:ext cx="2329485" cy="5420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P7 : La gouvernance augmentée, intégrant IA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et IE, améliore significativement la performance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globale des institutions gabonaises en situation</a:t>
            </a:r>
          </a:p>
          <a:p>
            <a:pPr algn="l">
              <a:lnSpc>
                <a:spcPct val="114583"/>
              </a:lnSpc>
            </a:pPr>
            <a:r>
              <a:rPr sz="799" b="0">
                <a:solidFill>
                  <a:srgbClr val="000000"/>
                </a:solidFill>
                <a:latin typeface="Arial"/>
              </a:rPr>
              <a:t>de crise multidimensionnelle.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26153"/>
            <a:ext cx="4276607" cy="13497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Méthodologie</a:t>
            </a:r>
          </a:p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Qualitative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2593787"/>
            <a:ext cx="5097414" cy="10140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Étude menée auprès de 5 EPES (établissements privés d'enseignement supérieur) au Gabon, avec 45 participants répartis en trois vagues (15 / 20 / 10).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81647" y="3650137"/>
            <a:ext cx="1077939" cy="1328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7" b="1">
                <a:solidFill>
                  <a:srgbClr val="000000"/>
                </a:solidFill>
                <a:latin typeface="Arial"/>
              </a:rPr>
              <a:t>Méthodes et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0945" y="4303388"/>
            <a:ext cx="208744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1455" y="4339109"/>
            <a:ext cx="5469889" cy="581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Entretiens semi-directifs individuels (45 participants) et observations directes en contexte organisationnel gabonais pour capter les dynamiques de décision.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9933" y="4963040"/>
            <a:ext cx="230811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1455" y="4998762"/>
            <a:ext cx="5429255" cy="2852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Analyse documentaire approfondie (rapports, politiques internes, comptes rendus) et codage thématique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assisté par le logiciel NVivo pour une rigueur analytique accrue.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9040" y="5622692"/>
            <a:ext cx="232567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455" y="5658413"/>
            <a:ext cx="5190015" cy="2852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Triangulation des données (entretiens, observations, documents) garantissant la validité interne et la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crédibilité des résultats dans un contexte de polycrise gabonaise.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26153"/>
            <a:ext cx="5069202" cy="13497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Protocole</a:t>
            </a:r>
          </a:p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Méthodologique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389" y="2696631"/>
            <a:ext cx="2510122" cy="195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9" b="1">
                <a:solidFill>
                  <a:srgbClr val="000000"/>
                </a:solidFill>
                <a:latin typeface="Arial"/>
              </a:rPr>
              <a:t>Phase de Collecte des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" y="3268076"/>
            <a:ext cx="2191552" cy="1084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Approche qualitative multi-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méthodes : entretiens,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observations et documents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constituent les trois sources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primaires de données.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70270" y="3285003"/>
            <a:ext cx="263690" cy="195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69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0668" y="3285003"/>
            <a:ext cx="296095" cy="195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69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961" y="3285003"/>
            <a:ext cx="298674" cy="195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69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70064" y="3285003"/>
            <a:ext cx="303511" cy="195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69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8400" y="3737964"/>
            <a:ext cx="1662296" cy="417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Accès au terrain &amp;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sélection des 5 EPES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4982" y="3737964"/>
            <a:ext cx="1311088" cy="17622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Entretiens semi-directifs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(45 participants)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1565" y="3737964"/>
            <a:ext cx="1729490" cy="6395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Observations directes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&amp; analyse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documentaire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148" y="3737964"/>
            <a:ext cx="1370646" cy="6395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Retranscription &amp;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préparation des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389" y="4954188"/>
            <a:ext cx="2353161" cy="1950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35" b="1">
                <a:solidFill>
                  <a:srgbClr val="000000"/>
                </a:solidFill>
                <a:latin typeface="Arial"/>
              </a:rPr>
              <a:t>Phase d'Analyse et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389" y="5525612"/>
            <a:ext cx="2581532" cy="8618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Rigueur analytique assurée par la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triangulation des données et la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validation inter-chercheurs via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NVivo.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0270" y="5542559"/>
            <a:ext cx="263690" cy="1950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69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0668" y="5542559"/>
            <a:ext cx="296095" cy="1950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69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961" y="5542559"/>
            <a:ext cx="298674" cy="1950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69" b="1">
                <a:solidFill>
                  <a:srgbClr val="00355E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70064" y="5542559"/>
            <a:ext cx="303511" cy="1950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69" b="1">
                <a:solidFill>
                  <a:srgbClr val="00355E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38400" y="5995500"/>
            <a:ext cx="1563000" cy="417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Codage thématique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avec NVivo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4982" y="5995500"/>
            <a:ext cx="1716976" cy="417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Analyse thématique &amp;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catégorisation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1565" y="5995500"/>
            <a:ext cx="1663246" cy="417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Triangulation des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sources et méthodes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148" y="5995500"/>
            <a:ext cx="1809820" cy="4173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Interprétation &amp;</a:t>
            </a:r>
          </a:p>
          <a:p>
            <a:pPr algn="l">
              <a:lnSpc>
                <a:spcPct val="115109"/>
              </a:lnSpc>
            </a:pPr>
            <a:r>
              <a:rPr sz="1269" b="0">
                <a:solidFill>
                  <a:srgbClr val="000000"/>
                </a:solidFill>
                <a:latin typeface="Arial"/>
              </a:rPr>
              <a:t>validation des résultats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81647" y="326153"/>
            <a:ext cx="4142059" cy="13497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Contributions</a:t>
            </a:r>
          </a:p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Scientifiques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2240150"/>
            <a:ext cx="2309129" cy="1435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24" b="1">
                <a:solidFill>
                  <a:srgbClr val="000000"/>
                </a:solidFill>
                <a:latin typeface="Arial"/>
              </a:rPr>
              <a:t>Apports à la connaissance académique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9262" y="2953736"/>
            <a:ext cx="272173" cy="2046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31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1455" y="2839413"/>
            <a:ext cx="2314775" cy="803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Nouveau concept de gouvernance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augmentée intégrant IA et IE dans un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contexte de polycrise, comblant un vide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théorique dans la littérature africaine sur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la gouvernance.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7707" y="2953736"/>
            <a:ext cx="306175" cy="2046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31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890" y="2839413"/>
            <a:ext cx="2292948" cy="803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Modélisation inédite de l'articulation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entre intelligence artificielle et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intelligence émotionnelle comme leviers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complémentaires de la décision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publique et organisationnelle.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0908" y="4196191"/>
            <a:ext cx="308880" cy="2046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31" b="1">
                <a:solidFill>
                  <a:srgbClr val="00355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1455" y="4081868"/>
            <a:ext cx="2265949" cy="803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Enrichissement des théories mobilisées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(Agence, Parties prenantes, Résilience,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Capacités dynamiques) par leur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application croisée au contexte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gabonais de polycrise.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3738" y="4196191"/>
            <a:ext cx="313956" cy="2046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31" b="1">
                <a:solidFill>
                  <a:srgbClr val="00355E"/>
                </a:solidFill>
                <a:latin typeface="Arial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46890" y="4081868"/>
            <a:ext cx="2326282" cy="803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Avancées méthodologiques via l'usage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de NVivo en contexte africain et la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triangulation multi-sources, offrant un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protocole reproductible pour les</a:t>
            </a:r>
          </a:p>
          <a:p>
            <a:pPr algn="l">
              <a:lnSpc>
                <a:spcPct val="115906"/>
              </a:lnSpc>
            </a:pPr>
            <a:r>
              <a:rPr sz="934" b="0">
                <a:solidFill>
                  <a:srgbClr val="000000"/>
                </a:solidFill>
                <a:latin typeface="Arial"/>
              </a:rPr>
              <a:t>recherches qualitatives en gouvernance.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70424" y="326153"/>
            <a:ext cx="4142059" cy="6893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30" b="0">
                <a:solidFill>
                  <a:srgbClr val="00355E"/>
                </a:solidFill>
                <a:latin typeface="Arial Black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80349" y="986536"/>
            <a:ext cx="4122163" cy="6893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30" b="0">
                <a:solidFill>
                  <a:srgbClr val="00355E"/>
                </a:solidFill>
                <a:latin typeface="Arial Black"/>
              </a:rPr>
              <a:t>Managériales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37" y="5314331"/>
            <a:ext cx="1851705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65" b="1">
                <a:solidFill>
                  <a:srgbClr val="000000"/>
                </a:solidFill>
                <a:latin typeface="Arial"/>
              </a:rPr>
              <a:t>Aide à la Décision Augmentée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86637" y="5314331"/>
            <a:ext cx="2509850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6" b="1">
                <a:solidFill>
                  <a:srgbClr val="000000"/>
                </a:solidFill>
                <a:latin typeface="Arial"/>
              </a:rPr>
              <a:t>Amélioration des Pratiques Managériales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9774" y="5314331"/>
            <a:ext cx="2552150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39" b="1">
                <a:solidFill>
                  <a:srgbClr val="000000"/>
                </a:solidFill>
                <a:latin typeface="Arial"/>
              </a:rPr>
              <a:t>Adaptation &amp; Coordination Institutionnelle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297" y="5762295"/>
            <a:ext cx="2907680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Intégration d'outils IA pour soutenir les décideurs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8354" y="5762295"/>
            <a:ext cx="3006357" cy="4928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Renforcement des compétences en intelligence</a:t>
            </a:r>
          </a:p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émotionnelle des managers publics : leadership</a:t>
            </a:r>
          </a:p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adaptatif, gestion des parties prenantes et pilotage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1183" y="5762295"/>
            <a:ext cx="3269507" cy="3214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Cadre opérationnel favorisant la coordination inter-</a:t>
            </a:r>
          </a:p>
          <a:p>
            <a:pPr algn="l">
              <a:lnSpc>
                <a:spcPct val="115551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institutionnelle, l'agilité organisationnelle et la résilience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4540" y="5933741"/>
            <a:ext cx="3045163" cy="3214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982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gabonais : tableaux de bord intelligents, alertes</a:t>
            </a:r>
          </a:p>
          <a:p>
            <a:pPr algn="l">
              <a:lnSpc>
                <a:spcPct val="114982"/>
              </a:lnSpc>
            </a:pPr>
            <a:r>
              <a:rPr sz="975" b="0">
                <a:solidFill>
                  <a:srgbClr val="000000"/>
                </a:solidFill>
                <a:latin typeface="Arial"/>
              </a:rPr>
              <a:t>prédictives et recommandations contextualisées 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78" y="6105186"/>
            <a:ext cx="3116388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managériale face aux crises multidimensionnelles 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2541" y="6276632"/>
            <a:ext cx="1349302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situation de polycrise.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7675" y="6276632"/>
            <a:ext cx="2327781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humain de la gouvernance augmentée.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3264" y="6276632"/>
            <a:ext cx="505210" cy="1499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75" b="0">
                <a:solidFill>
                  <a:srgbClr val="000000"/>
                </a:solidFill>
                <a:latin typeface="Arial"/>
              </a:rPr>
              <a:t>Gabon.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25754"/>
            <a:ext cx="4144619" cy="1350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071"/>
              </a:lnSpc>
            </a:pPr>
            <a:r>
              <a:rPr sz="3733" b="0">
                <a:solidFill>
                  <a:srgbClr val="00355E"/>
                </a:solidFill>
                <a:latin typeface="Arial Black"/>
              </a:rPr>
              <a:t>Contributions</a:t>
            </a:r>
          </a:p>
          <a:p>
            <a:pPr algn="l">
              <a:lnSpc>
                <a:spcPct val="116071"/>
              </a:lnSpc>
            </a:pPr>
            <a:r>
              <a:rPr sz="3733" b="0">
                <a:solidFill>
                  <a:srgbClr val="00355E"/>
                </a:solidFill>
                <a:latin typeface="Arial Black"/>
              </a:rPr>
              <a:t>Sociétales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828942"/>
            <a:ext cx="1903891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62" b="1">
                <a:solidFill>
                  <a:srgbClr val="000000"/>
                </a:solidFill>
                <a:latin typeface="Arial"/>
              </a:rPr>
              <a:t>Apports pour la Société Gabonaise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5709" y="1482185"/>
            <a:ext cx="199182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1455" y="1364712"/>
            <a:ext cx="2284502" cy="89482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Renforcement de la résilience sociétale : la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gouvernance augmentée offre des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mécanismes collectifs d'adaptation et de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réponse aux crises, consolidant la capacité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des communautés à surmonter les chocs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de la polycrise gabonaise.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5310" y="1482185"/>
            <a:ext cx="230810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890" y="1364712"/>
            <a:ext cx="2173641" cy="89482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Gouvernance citoyenne et inclusion :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l'articulation IA–IE favorise la confiance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institutionnelle, l'inclusion des parties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prenantes marginalisées et une meilleure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réponse collective, renforçant ainsi la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légitimité démocratique au Gabon.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25754"/>
            <a:ext cx="3972533" cy="1350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071"/>
              </a:lnSpc>
            </a:pPr>
            <a:r>
              <a:rPr sz="3733" b="0">
                <a:solidFill>
                  <a:srgbClr val="00355E"/>
                </a:solidFill>
                <a:latin typeface="Arial Black"/>
              </a:rPr>
              <a:t>Limites et</a:t>
            </a:r>
          </a:p>
          <a:p>
            <a:pPr algn="l">
              <a:lnSpc>
                <a:spcPct val="116071"/>
              </a:lnSpc>
            </a:pPr>
            <a:r>
              <a:rPr sz="3733" b="0">
                <a:solidFill>
                  <a:srgbClr val="00355E"/>
                </a:solidFill>
                <a:latin typeface="Arial Black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828641"/>
            <a:ext cx="2339151" cy="1403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92" b="1">
                <a:solidFill>
                  <a:srgbClr val="000000"/>
                </a:solidFill>
                <a:latin typeface="Arial"/>
              </a:rPr>
              <a:t>Portée et prolongements de la recherche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38961" y="1481885"/>
            <a:ext cx="212727" cy="1403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13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1455" y="1364414"/>
            <a:ext cx="2314372" cy="77535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Limites identifiées : échantillon restreint à</a:t>
            </a:r>
          </a:p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5 EPES gabonaises, accès terrain limité</a:t>
            </a:r>
          </a:p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en contexte de polycrise, subjectivité</a:t>
            </a:r>
          </a:p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inhérente aux entretiens qualitatifs,</a:t>
            </a:r>
          </a:p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transférabilité contextuelle restreinte.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1341" y="1481885"/>
            <a:ext cx="238731" cy="1403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13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6890" y="1364414"/>
            <a:ext cx="2304772" cy="77535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Perspectives : élargissement comparatif</a:t>
            </a:r>
          </a:p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(Afrique centrale), validation quantitative,</a:t>
            </a:r>
          </a:p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études longitudinales post-crise,</a:t>
            </a:r>
          </a:p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intégration de nouveaux indicateurs IA et</a:t>
            </a:r>
          </a:p>
          <a:p>
            <a:pPr algn="l">
              <a:lnSpc>
                <a:spcPct val="113747"/>
              </a:lnSpc>
            </a:pPr>
            <a:r>
              <a:rPr sz="913" b="0">
                <a:solidFill>
                  <a:srgbClr val="000000"/>
                </a:solidFill>
                <a:latin typeface="Arial"/>
              </a:rPr>
              <a:t>IE dans les modèles de gouvernance.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6805" y="3567764"/>
            <a:ext cx="1784731" cy="1371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Recherche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601" y="3516965"/>
            <a:ext cx="1954060" cy="1371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Perspectives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25754"/>
            <a:ext cx="3366699" cy="6897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33" b="0">
                <a:solidFill>
                  <a:srgbClr val="00355E"/>
                </a:solidFill>
                <a:latin typeface="Arial Black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389" y="2105693"/>
            <a:ext cx="1179320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4" b="1">
                <a:solidFill>
                  <a:srgbClr val="000000"/>
                </a:solidFill>
                <a:latin typeface="Arial"/>
              </a:rPr>
              <a:t>Synthèse de la 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" y="2700485"/>
            <a:ext cx="4571694" cy="2852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La gouvernance augmentée, articulant IA et intelligence émotionnelle, offre une réponse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inédite et structurée aux défis de la polycrise gabonaise.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89" y="3478599"/>
            <a:ext cx="1362027" cy="1328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6" b="1">
                <a:solidFill>
                  <a:srgbClr val="000000"/>
                </a:solidFill>
                <a:latin typeface="Arial"/>
              </a:rPr>
              <a:t>Points Clés et Ouverture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4618" y="4131851"/>
            <a:ext cx="230809" cy="1328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202" y="4167572"/>
            <a:ext cx="4721207" cy="2852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Originalité scientifique : la thèse propose un modèle conceptuel intégré, inédit dans le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contexte africain, articulant IA, IE et gouvernance en situation de crise multidimensionnelle.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618" y="4791503"/>
            <a:ext cx="230811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202" y="4674828"/>
            <a:ext cx="4713526" cy="4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Articulation IA–IE : la complémentarité entre intelligence artificielle et intelligence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émotionnelle constitue le cœur du dispositif de gouvernance augmentée proposé par cette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recherche.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824" y="5451134"/>
            <a:ext cx="232568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202" y="5486876"/>
            <a:ext cx="4599468" cy="2852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Réponse à la polycrise : les sept propositions de recherche offrent un cadre opérationnel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pour renforcer la résilience institutionnelle et managériale dans le contexte gabonais.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138" y="6110786"/>
            <a:ext cx="235861" cy="132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64" b="1">
                <a:solidFill>
                  <a:srgbClr val="00355E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202" y="5994132"/>
            <a:ext cx="4749173" cy="437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Perspectives futures : cette recherche ouvre des pistes d'approfondissement comparatif en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Afrique subsaharienne et invite à prolonger l'étude vers des applications empiriques plus</a:t>
            </a:r>
          </a:p>
          <a:p>
            <a:pPr algn="l">
              <a:lnSpc>
                <a:spcPct val="115652"/>
              </a:lnSpc>
            </a:pPr>
            <a:r>
              <a:rPr sz="864" b="0">
                <a:solidFill>
                  <a:srgbClr val="000000"/>
                </a:solidFill>
                <a:latin typeface="Arial"/>
              </a:rPr>
              <a:t>larges.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326153"/>
            <a:ext cx="3999934" cy="13497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Bibliographie</a:t>
            </a:r>
          </a:p>
          <a:p>
            <a:pPr algn="l">
              <a:lnSpc>
                <a:spcPct val="116154"/>
              </a:lnSpc>
            </a:pPr>
            <a:r>
              <a:rPr sz="3730" b="0">
                <a:solidFill>
                  <a:srgbClr val="00355E"/>
                </a:solidFill>
                <a:latin typeface="Arial Black"/>
              </a:rPr>
              <a:t>Sélective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81647" y="2600067"/>
            <a:ext cx="5118214" cy="3927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521"/>
              </a:lnSpc>
            </a:pPr>
            <a:r>
              <a:rPr sz="1192" b="0">
                <a:solidFill>
                  <a:srgbClr val="000000"/>
                </a:solidFill>
                <a:latin typeface="Arial"/>
              </a:rPr>
              <a:t>Sélection des références théoriques et méthodologiques fondatrices de</a:t>
            </a:r>
          </a:p>
          <a:p>
            <a:pPr algn="l">
              <a:lnSpc>
                <a:spcPct val="115521"/>
              </a:lnSpc>
            </a:pPr>
            <a:r>
              <a:rPr sz="1192" b="0">
                <a:solidFill>
                  <a:srgbClr val="000000"/>
                </a:solidFill>
                <a:latin typeface="Arial"/>
              </a:rPr>
              <a:t>cette recherche doctorale. Liste à compléter avant la soutenance finale.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81647" y="3656416"/>
            <a:ext cx="1267864" cy="18324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92" b="1">
                <a:solidFill>
                  <a:srgbClr val="000000"/>
                </a:solidFill>
                <a:latin typeface="Arial"/>
              </a:rPr>
              <a:t>Références Clés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698" y="4309668"/>
            <a:ext cx="247212" cy="183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92" b="1">
                <a:solidFill>
                  <a:srgbClr val="00355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1455" y="4239424"/>
            <a:ext cx="5382590" cy="3927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521"/>
              </a:lnSpc>
            </a:pPr>
            <a:r>
              <a:rPr sz="1192" b="0">
                <a:solidFill>
                  <a:srgbClr val="000000"/>
                </a:solidFill>
                <a:latin typeface="Arial"/>
              </a:rPr>
              <a:t>Jensen &amp; Meckling (1976) ; Freeman (1984) ; Teece et al. (1997) — Théories</a:t>
            </a:r>
          </a:p>
          <a:p>
            <a:pPr algn="l">
              <a:lnSpc>
                <a:spcPct val="115521"/>
              </a:lnSpc>
            </a:pPr>
            <a:r>
              <a:rPr sz="1192" b="0">
                <a:solidFill>
                  <a:srgbClr val="000000"/>
                </a:solidFill>
                <a:latin typeface="Arial"/>
              </a:rPr>
              <a:t>de l'agence, parties prenantes et capacités dynamiques.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3442" y="4969320"/>
            <a:ext cx="283714" cy="183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92" b="1">
                <a:solidFill>
                  <a:srgbClr val="00355E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1455" y="4899076"/>
            <a:ext cx="4918217" cy="3927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521"/>
              </a:lnSpc>
            </a:pPr>
            <a:r>
              <a:rPr sz="1192" b="0">
                <a:solidFill>
                  <a:srgbClr val="000000"/>
                </a:solidFill>
                <a:latin typeface="Arial"/>
              </a:rPr>
              <a:t>Goleman (1995) ; Russell &amp; Norvig (2021) ; Mayer &amp; Salovey (1997) —</a:t>
            </a:r>
          </a:p>
          <a:p>
            <a:pPr algn="l">
              <a:lnSpc>
                <a:spcPct val="115521"/>
              </a:lnSpc>
            </a:pPr>
            <a:r>
              <a:rPr sz="1192" b="0">
                <a:solidFill>
                  <a:srgbClr val="000000"/>
                </a:solidFill>
                <a:latin typeface="Arial"/>
              </a:rPr>
              <a:t>Intelligence émotionnelle et intelligence artificielle en gouvernance.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2251" y="5628972"/>
            <a:ext cx="286137" cy="183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92" b="1">
                <a:solidFill>
                  <a:srgbClr val="00355E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1455" y="5558727"/>
            <a:ext cx="5154364" cy="3927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55"/>
              </a:lnSpc>
            </a:pPr>
            <a:r>
              <a:rPr sz="1192" b="0">
                <a:solidFill>
                  <a:srgbClr val="000000"/>
                </a:solidFill>
                <a:latin typeface="Arial"/>
              </a:rPr>
              <a:t>Miles &amp; Huberman (2003) ; Yin (2018) ; Creswell (2014) — Méthodologie</a:t>
            </a:r>
          </a:p>
          <a:p>
            <a:pPr algn="l">
              <a:lnSpc>
                <a:spcPct val="115055"/>
              </a:lnSpc>
            </a:pPr>
            <a:r>
              <a:rPr sz="1192" b="0">
                <a:solidFill>
                  <a:srgbClr val="000000"/>
                </a:solidFill>
                <a:latin typeface="Arial"/>
              </a:rPr>
              <a:t>qualitative, étude de cas et analyse thématique avec NVivo.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6389" y="1000529"/>
            <a:ext cx="6646765" cy="55203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987" b="0">
                <a:solidFill>
                  <a:srgbClr val="00355E"/>
                </a:solidFill>
                <a:latin typeface="Arial Black"/>
              </a:rPr>
              <a:t>Merci pour votre attention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76031" y="1205294"/>
            <a:ext cx="1822067" cy="2046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18" b="1">
                <a:solidFill>
                  <a:srgbClr val="000000"/>
                </a:solidFill>
                <a:latin typeface="Arial"/>
              </a:rPr>
              <a:t>Contact du Doctorant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76031" y="1613740"/>
            <a:ext cx="2013813" cy="2423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949"/>
              </a:lnSpc>
            </a:pPr>
            <a:r>
              <a:rPr sz="1331" b="0">
                <a:solidFill>
                  <a:srgbClr val="000000"/>
                </a:solidFill>
                <a:latin typeface="Arial"/>
              </a:rPr>
              <a:t>contact@upl-gabon.com</a:t>
            </a:r>
          </a:p>
          <a:p>
            <a:pPr algn="l">
              <a:lnSpc>
                <a:spcPct val="115949"/>
              </a:lnSpc>
            </a:pPr>
            <a:r>
              <a:rPr sz="1331" b="0">
                <a:solidFill>
                  <a:srgbClr val="000000"/>
                </a:solidFill>
                <a:latin typeface="Arial"/>
              </a:rPr>
              <a:t>+241 02 62 19 78</a:t>
            </a:r>
          </a:p>
          <a:p>
            <a:pPr algn="l">
              <a:lnSpc>
                <a:spcPct val="115949"/>
              </a:lnSpc>
            </a:pPr>
            <a:r>
              <a:rPr sz="1331" b="0">
                <a:solidFill>
                  <a:srgbClr val="000000"/>
                </a:solidFill>
                <a:latin typeface="Arial"/>
              </a:rPr>
              <a:t>Libreville, Gabon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89" y="2022791"/>
            <a:ext cx="5671796" cy="8541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4679"/>
              </a:lnSpc>
            </a:pPr>
            <a:r>
              <a:rPr sz="1598" b="0">
                <a:solidFill>
                  <a:srgbClr val="00355E"/>
                </a:solidFill>
                <a:latin typeface="Arial Black"/>
              </a:rPr>
              <a:t>Remerciements au Professeur Valax et aux</a:t>
            </a:r>
          </a:p>
          <a:p>
            <a:pPr algn="l">
              <a:lnSpc>
                <a:spcPct val="114679"/>
              </a:lnSpc>
            </a:pPr>
            <a:r>
              <a:rPr sz="1598" b="0">
                <a:solidFill>
                  <a:srgbClr val="00355E"/>
                </a:solidFill>
                <a:latin typeface="Arial Black"/>
              </a:rPr>
              <a:t>membres du jury. Vos questions sont les</a:t>
            </a:r>
          </a:p>
          <a:p>
            <a:pPr algn="l">
              <a:lnSpc>
                <a:spcPct val="114679"/>
              </a:lnSpc>
            </a:pPr>
            <a:r>
              <a:rPr sz="1598" b="0">
                <a:solidFill>
                  <a:srgbClr val="00355E"/>
                </a:solidFill>
                <a:latin typeface="Arial Black"/>
              </a:rPr>
              <a:t>bienvenues.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DBA — Gouvernance augmentée des EPES gabonais</dc:title>
  <dc:subject>Mise en page du modèle Canva de l'auteur, remplie avec le contenu de la thèse</dc:subject>
  <dc:creator>Serge Patrick MINANG</dc:creator>
  <cp:keywords/>
  <dc:description>18 diapositives. Aucun élément du modèle n'a été déplacé : les textes sont reposés aux coordonnées d'origine.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