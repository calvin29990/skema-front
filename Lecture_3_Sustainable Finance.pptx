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sldIdLst>
    <p:sldId id="473" r:id="rId3"/>
    <p:sldId id="485" r:id="rId4"/>
    <p:sldId id="313" r:id="rId5"/>
    <p:sldId id="3862" r:id="rId6"/>
    <p:sldId id="3857" r:id="rId7"/>
    <p:sldId id="452" r:id="rId8"/>
    <p:sldId id="3858" r:id="rId9"/>
    <p:sldId id="386" r:id="rId10"/>
    <p:sldId id="387" r:id="rId11"/>
    <p:sldId id="264" r:id="rId12"/>
    <p:sldId id="361" r:id="rId13"/>
    <p:sldId id="265" r:id="rId14"/>
    <p:sldId id="362" r:id="rId15"/>
    <p:sldId id="365" r:id="rId16"/>
    <p:sldId id="3853" r:id="rId17"/>
    <p:sldId id="3852" r:id="rId18"/>
    <p:sldId id="3864" r:id="rId19"/>
    <p:sldId id="367" r:id="rId20"/>
    <p:sldId id="3863" r:id="rId21"/>
    <p:sldId id="344" r:id="rId22"/>
    <p:sldId id="368" r:id="rId23"/>
    <p:sldId id="369" r:id="rId24"/>
    <p:sldId id="260" r:id="rId25"/>
    <p:sldId id="375" r:id="rId26"/>
    <p:sldId id="370" r:id="rId27"/>
    <p:sldId id="3841" r:id="rId28"/>
    <p:sldId id="261" r:id="rId29"/>
    <p:sldId id="324" r:id="rId30"/>
    <p:sldId id="388" r:id="rId31"/>
    <p:sldId id="3848" r:id="rId32"/>
    <p:sldId id="262" r:id="rId33"/>
    <p:sldId id="3861" r:id="rId34"/>
    <p:sldId id="3860" r:id="rId35"/>
    <p:sldId id="478" r:id="rId36"/>
    <p:sldId id="3859" r:id="rId3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D2DF5D-FA1F-F8F1-722B-4D8BCEBDCBB6}" v="275" dt="2026-06-04T09:28:55.54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216"/>
      </p:cViewPr>
      <p:guideLst/>
    </p:cSldViewPr>
  </p:slideViewPr>
  <p:notesTextViewPr>
    <p:cViewPr>
      <p:scale>
        <a:sx n="1" d="1"/>
        <a:sy n="1" d="1"/>
      </p:scale>
      <p:origin x="0" y="0"/>
    </p:cViewPr>
  </p:notesTextViewPr>
  <p:sorterViewPr>
    <p:cViewPr>
      <p:scale>
        <a:sx n="100" d="100"/>
        <a:sy n="100" d="100"/>
      </p:scale>
      <p:origin x="0" y="-1039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fer Dhafer" userId="42ad58b5a0b79fe0" providerId="Windows Live" clId="Web-{A3D2DF5D-FA1F-F8F1-722B-4D8BCEBDCBB6}"/>
    <pc:docChg chg="addSld delSld modSld sldOrd">
      <pc:chgData name="Dhafer Dhafer" userId="42ad58b5a0b79fe0" providerId="Windows Live" clId="Web-{A3D2DF5D-FA1F-F8F1-722B-4D8BCEBDCBB6}" dt="2026-06-04T09:28:55.543" v="239"/>
      <pc:docMkLst>
        <pc:docMk/>
      </pc:docMkLst>
      <pc:sldChg chg="del">
        <pc:chgData name="Dhafer Dhafer" userId="42ad58b5a0b79fe0" providerId="Windows Live" clId="Web-{A3D2DF5D-FA1F-F8F1-722B-4D8BCEBDCBB6}" dt="2026-06-04T09:09:28.931" v="156"/>
        <pc:sldMkLst>
          <pc:docMk/>
          <pc:sldMk cId="1834481010" sldId="257"/>
        </pc:sldMkLst>
      </pc:sldChg>
      <pc:sldChg chg="del">
        <pc:chgData name="Dhafer Dhafer" userId="42ad58b5a0b79fe0" providerId="Windows Live" clId="Web-{A3D2DF5D-FA1F-F8F1-722B-4D8BCEBDCBB6}" dt="2026-06-04T09:10:24.839" v="157"/>
        <pc:sldMkLst>
          <pc:docMk/>
          <pc:sldMk cId="3609217051" sldId="258"/>
        </pc:sldMkLst>
      </pc:sldChg>
      <pc:sldChg chg="modSp">
        <pc:chgData name="Dhafer Dhafer" userId="42ad58b5a0b79fe0" providerId="Windows Live" clId="Web-{A3D2DF5D-FA1F-F8F1-722B-4D8BCEBDCBB6}" dt="2026-06-04T09:22:45.204" v="218" actId="20577"/>
        <pc:sldMkLst>
          <pc:docMk/>
          <pc:sldMk cId="1814103795" sldId="260"/>
        </pc:sldMkLst>
        <pc:spChg chg="mod">
          <ac:chgData name="Dhafer Dhafer" userId="42ad58b5a0b79fe0" providerId="Windows Live" clId="Web-{A3D2DF5D-FA1F-F8F1-722B-4D8BCEBDCBB6}" dt="2026-06-04T09:20:44.092" v="190" actId="14100"/>
          <ac:spMkLst>
            <pc:docMk/>
            <pc:sldMk cId="1814103795" sldId="260"/>
            <ac:spMk id="4" creationId="{52C83C8F-6D2A-5FF9-48AD-ECC54684681A}"/>
          </ac:spMkLst>
        </pc:spChg>
        <pc:spChg chg="mod">
          <ac:chgData name="Dhafer Dhafer" userId="42ad58b5a0b79fe0" providerId="Windows Live" clId="Web-{A3D2DF5D-FA1F-F8F1-722B-4D8BCEBDCBB6}" dt="2026-06-04T09:20:50.685" v="192" actId="14100"/>
          <ac:spMkLst>
            <pc:docMk/>
            <pc:sldMk cId="1814103795" sldId="260"/>
            <ac:spMk id="6" creationId="{5FE90D20-A025-FE4B-EA3A-F9F300361A3E}"/>
          </ac:spMkLst>
        </pc:spChg>
        <pc:spChg chg="mod">
          <ac:chgData name="Dhafer Dhafer" userId="42ad58b5a0b79fe0" providerId="Windows Live" clId="Web-{A3D2DF5D-FA1F-F8F1-722B-4D8BCEBDCBB6}" dt="2026-06-04T09:22:45.204" v="218" actId="20577"/>
          <ac:spMkLst>
            <pc:docMk/>
            <pc:sldMk cId="1814103795" sldId="260"/>
            <ac:spMk id="8" creationId="{FF1D232A-9693-B81A-5777-8F7405D2BB51}"/>
          </ac:spMkLst>
        </pc:spChg>
        <pc:graphicFrameChg chg="modGraphic">
          <ac:chgData name="Dhafer Dhafer" userId="42ad58b5a0b79fe0" providerId="Windows Live" clId="Web-{A3D2DF5D-FA1F-F8F1-722B-4D8BCEBDCBB6}" dt="2026-06-04T09:22:33.673" v="211" actId="20577"/>
          <ac:graphicFrameMkLst>
            <pc:docMk/>
            <pc:sldMk cId="1814103795" sldId="260"/>
            <ac:graphicFrameMk id="2" creationId="{084368CB-C68D-8900-6869-98366E055CB1}"/>
          </ac:graphicFrameMkLst>
        </pc:graphicFrameChg>
      </pc:sldChg>
      <pc:sldChg chg="modSp">
        <pc:chgData name="Dhafer Dhafer" userId="42ad58b5a0b79fe0" providerId="Windows Live" clId="Web-{A3D2DF5D-FA1F-F8F1-722B-4D8BCEBDCBB6}" dt="2026-06-04T09:24:23.223" v="227" actId="20577"/>
        <pc:sldMkLst>
          <pc:docMk/>
          <pc:sldMk cId="2823128647" sldId="261"/>
        </pc:sldMkLst>
        <pc:spChg chg="mod">
          <ac:chgData name="Dhafer Dhafer" userId="42ad58b5a0b79fe0" providerId="Windows Live" clId="Web-{A3D2DF5D-FA1F-F8F1-722B-4D8BCEBDCBB6}" dt="2026-06-04T09:24:23.223" v="227" actId="20577"/>
          <ac:spMkLst>
            <pc:docMk/>
            <pc:sldMk cId="2823128647" sldId="261"/>
            <ac:spMk id="3" creationId="{513D5FBE-02B0-BF1C-0CA6-3994A532887D}"/>
          </ac:spMkLst>
        </pc:spChg>
      </pc:sldChg>
      <pc:sldChg chg="modSp">
        <pc:chgData name="Dhafer Dhafer" userId="42ad58b5a0b79fe0" providerId="Windows Live" clId="Web-{A3D2DF5D-FA1F-F8F1-722B-4D8BCEBDCBB6}" dt="2026-06-04T09:25:11.115" v="230" actId="20577"/>
        <pc:sldMkLst>
          <pc:docMk/>
          <pc:sldMk cId="2108696712" sldId="262"/>
        </pc:sldMkLst>
        <pc:spChg chg="mod">
          <ac:chgData name="Dhafer Dhafer" userId="42ad58b5a0b79fe0" providerId="Windows Live" clId="Web-{A3D2DF5D-FA1F-F8F1-722B-4D8BCEBDCBB6}" dt="2026-06-04T09:25:11.115" v="230" actId="20577"/>
          <ac:spMkLst>
            <pc:docMk/>
            <pc:sldMk cId="2108696712" sldId="262"/>
            <ac:spMk id="3" creationId="{D3A049D2-67EE-AF82-5FC6-1C6E60CFA3EF}"/>
          </ac:spMkLst>
        </pc:spChg>
      </pc:sldChg>
      <pc:sldChg chg="del">
        <pc:chgData name="Dhafer Dhafer" userId="42ad58b5a0b79fe0" providerId="Windows Live" clId="Web-{A3D2DF5D-FA1F-F8F1-722B-4D8BCEBDCBB6}" dt="2026-06-04T09:26:42.477" v="231"/>
        <pc:sldMkLst>
          <pc:docMk/>
          <pc:sldMk cId="3933611829" sldId="263"/>
        </pc:sldMkLst>
      </pc:sldChg>
      <pc:sldChg chg="modSp">
        <pc:chgData name="Dhafer Dhafer" userId="42ad58b5a0b79fe0" providerId="Windows Live" clId="Web-{A3D2DF5D-FA1F-F8F1-722B-4D8BCEBDCBB6}" dt="2026-06-04T08:11:26.473" v="81" actId="20577"/>
        <pc:sldMkLst>
          <pc:docMk/>
          <pc:sldMk cId="2854250404" sldId="265"/>
        </pc:sldMkLst>
        <pc:spChg chg="mod">
          <ac:chgData name="Dhafer Dhafer" userId="42ad58b5a0b79fe0" providerId="Windows Live" clId="Web-{A3D2DF5D-FA1F-F8F1-722B-4D8BCEBDCBB6}" dt="2026-06-04T08:11:26.473" v="81" actId="20577"/>
          <ac:spMkLst>
            <pc:docMk/>
            <pc:sldMk cId="2854250404" sldId="265"/>
            <ac:spMk id="3" creationId="{AEB1EEA8-D35C-B066-C856-AF1FF09811CA}"/>
          </ac:spMkLst>
        </pc:spChg>
        <pc:spChg chg="mod">
          <ac:chgData name="Dhafer Dhafer" userId="42ad58b5a0b79fe0" providerId="Windows Live" clId="Web-{A3D2DF5D-FA1F-F8F1-722B-4D8BCEBDCBB6}" dt="2026-06-04T08:05:03.646" v="22" actId="14100"/>
          <ac:spMkLst>
            <pc:docMk/>
            <pc:sldMk cId="2854250404" sldId="265"/>
            <ac:spMk id="8" creationId="{DB0349C6-40E7-4680-A2C8-E84BC0141BB0}"/>
          </ac:spMkLst>
        </pc:spChg>
      </pc:sldChg>
      <pc:sldChg chg="modSp">
        <pc:chgData name="Dhafer Dhafer" userId="42ad58b5a0b79fe0" providerId="Windows Live" clId="Web-{A3D2DF5D-FA1F-F8F1-722B-4D8BCEBDCBB6}" dt="2026-06-04T07:23:33.949" v="5" actId="14100"/>
        <pc:sldMkLst>
          <pc:docMk/>
          <pc:sldMk cId="0" sldId="313"/>
        </pc:sldMkLst>
        <pc:picChg chg="mod">
          <ac:chgData name="Dhafer Dhafer" userId="42ad58b5a0b79fe0" providerId="Windows Live" clId="Web-{A3D2DF5D-FA1F-F8F1-722B-4D8BCEBDCBB6}" dt="2026-06-04T07:23:33.949" v="5" actId="14100"/>
          <ac:picMkLst>
            <pc:docMk/>
            <pc:sldMk cId="0" sldId="313"/>
            <ac:picMk id="21507" creationId="{1B87DD43-CC09-4F42-95AE-6C9D88B37321}"/>
          </ac:picMkLst>
        </pc:picChg>
      </pc:sldChg>
      <pc:sldChg chg="modSp">
        <pc:chgData name="Dhafer Dhafer" userId="42ad58b5a0b79fe0" providerId="Windows Live" clId="Web-{A3D2DF5D-FA1F-F8F1-722B-4D8BCEBDCBB6}" dt="2026-06-04T08:49:15.475" v="140"/>
        <pc:sldMkLst>
          <pc:docMk/>
          <pc:sldMk cId="0" sldId="344"/>
        </pc:sldMkLst>
        <pc:spChg chg="mod">
          <ac:chgData name="Dhafer Dhafer" userId="42ad58b5a0b79fe0" providerId="Windows Live" clId="Web-{A3D2DF5D-FA1F-F8F1-722B-4D8BCEBDCBB6}" dt="2026-06-04T08:49:15.475" v="140"/>
          <ac:spMkLst>
            <pc:docMk/>
            <pc:sldMk cId="0" sldId="344"/>
            <ac:spMk id="36867" creationId="{036B583D-C394-40E8-BCB6-C19BF6855ED3}"/>
          </ac:spMkLst>
        </pc:spChg>
      </pc:sldChg>
      <pc:sldChg chg="delSp modSp">
        <pc:chgData name="Dhafer Dhafer" userId="42ad58b5a0b79fe0" providerId="Windows Live" clId="Web-{A3D2DF5D-FA1F-F8F1-722B-4D8BCEBDCBB6}" dt="2026-06-04T09:08:57.493" v="155" actId="20577"/>
        <pc:sldMkLst>
          <pc:docMk/>
          <pc:sldMk cId="2353000928" sldId="369"/>
        </pc:sldMkLst>
        <pc:spChg chg="mod">
          <ac:chgData name="Dhafer Dhafer" userId="42ad58b5a0b79fe0" providerId="Windows Live" clId="Web-{A3D2DF5D-FA1F-F8F1-722B-4D8BCEBDCBB6}" dt="2026-06-04T09:08:57.493" v="155" actId="20577"/>
          <ac:spMkLst>
            <pc:docMk/>
            <pc:sldMk cId="2353000928" sldId="369"/>
            <ac:spMk id="3" creationId="{7D626C68-CB1C-286E-1444-5C67A0E52369}"/>
          </ac:spMkLst>
        </pc:spChg>
        <pc:spChg chg="mod">
          <ac:chgData name="Dhafer Dhafer" userId="42ad58b5a0b79fe0" providerId="Windows Live" clId="Web-{A3D2DF5D-FA1F-F8F1-722B-4D8BCEBDCBB6}" dt="2026-06-04T08:50:51.290" v="142" actId="14100"/>
          <ac:spMkLst>
            <pc:docMk/>
            <pc:sldMk cId="2353000928" sldId="369"/>
            <ac:spMk id="5" creationId="{BE877DB5-1E7B-BD8E-6041-216AC78199AB}"/>
          </ac:spMkLst>
        </pc:spChg>
        <pc:spChg chg="del">
          <ac:chgData name="Dhafer Dhafer" userId="42ad58b5a0b79fe0" providerId="Windows Live" clId="Web-{A3D2DF5D-FA1F-F8F1-722B-4D8BCEBDCBB6}" dt="2026-06-04T08:51:24.760" v="144"/>
          <ac:spMkLst>
            <pc:docMk/>
            <pc:sldMk cId="2353000928" sldId="369"/>
            <ac:spMk id="7" creationId="{B67D8423-2FA5-FE3A-FE25-0BD541D714AF}"/>
          </ac:spMkLst>
        </pc:spChg>
      </pc:sldChg>
      <pc:sldChg chg="ord">
        <pc:chgData name="Dhafer Dhafer" userId="42ad58b5a0b79fe0" providerId="Windows Live" clId="Web-{A3D2DF5D-FA1F-F8F1-722B-4D8BCEBDCBB6}" dt="2026-06-04T09:28:55.543" v="239"/>
        <pc:sldMkLst>
          <pc:docMk/>
          <pc:sldMk cId="1476206915" sldId="370"/>
        </pc:sldMkLst>
      </pc:sldChg>
      <pc:sldChg chg="modSp">
        <pc:chgData name="Dhafer Dhafer" userId="42ad58b5a0b79fe0" providerId="Windows Live" clId="Web-{A3D2DF5D-FA1F-F8F1-722B-4D8BCEBDCBB6}" dt="2026-06-04T09:22:57.267" v="220" actId="1076"/>
        <pc:sldMkLst>
          <pc:docMk/>
          <pc:sldMk cId="1696921261" sldId="375"/>
        </pc:sldMkLst>
        <pc:spChg chg="mod">
          <ac:chgData name="Dhafer Dhafer" userId="42ad58b5a0b79fe0" providerId="Windows Live" clId="Web-{A3D2DF5D-FA1F-F8F1-722B-4D8BCEBDCBB6}" dt="2026-06-04T09:22:57.267" v="220" actId="1076"/>
          <ac:spMkLst>
            <pc:docMk/>
            <pc:sldMk cId="1696921261" sldId="375"/>
            <ac:spMk id="3" creationId="{D0E13906-109B-9B1B-9990-D23F53561C77}"/>
          </ac:spMkLst>
        </pc:spChg>
      </pc:sldChg>
      <pc:sldChg chg="modSp">
        <pc:chgData name="Dhafer Dhafer" userId="42ad58b5a0b79fe0" providerId="Windows Live" clId="Web-{A3D2DF5D-FA1F-F8F1-722B-4D8BCEBDCBB6}" dt="2026-06-04T07:22:34.119" v="0" actId="20577"/>
        <pc:sldMkLst>
          <pc:docMk/>
          <pc:sldMk cId="442648276" sldId="485"/>
        </pc:sldMkLst>
        <pc:spChg chg="mod">
          <ac:chgData name="Dhafer Dhafer" userId="42ad58b5a0b79fe0" providerId="Windows Live" clId="Web-{A3D2DF5D-FA1F-F8F1-722B-4D8BCEBDCBB6}" dt="2026-06-04T07:22:34.119" v="0" actId="20577"/>
          <ac:spMkLst>
            <pc:docMk/>
            <pc:sldMk cId="442648276" sldId="485"/>
            <ac:spMk id="3" creationId="{9D163B1E-A5CB-4F4E-A76A-31A2A877E98C}"/>
          </ac:spMkLst>
        </pc:spChg>
      </pc:sldChg>
      <pc:sldChg chg="ord">
        <pc:chgData name="Dhafer Dhafer" userId="42ad58b5a0b79fe0" providerId="Windows Live" clId="Web-{A3D2DF5D-FA1F-F8F1-722B-4D8BCEBDCBB6}" dt="2026-06-04T09:28:55.543" v="238"/>
        <pc:sldMkLst>
          <pc:docMk/>
          <pc:sldMk cId="1024805786" sldId="3841"/>
        </pc:sldMkLst>
      </pc:sldChg>
      <pc:sldChg chg="modSp">
        <pc:chgData name="Dhafer Dhafer" userId="42ad58b5a0b79fe0" providerId="Windows Live" clId="Web-{A3D2DF5D-FA1F-F8F1-722B-4D8BCEBDCBB6}" dt="2026-06-04T09:27:43.244" v="237" actId="1076"/>
        <pc:sldMkLst>
          <pc:docMk/>
          <pc:sldMk cId="3230943521" sldId="3861"/>
        </pc:sldMkLst>
        <pc:spChg chg="mod">
          <ac:chgData name="Dhafer Dhafer" userId="42ad58b5a0b79fe0" providerId="Windows Live" clId="Web-{A3D2DF5D-FA1F-F8F1-722B-4D8BCEBDCBB6}" dt="2026-06-04T09:27:20.790" v="235" actId="20577"/>
          <ac:spMkLst>
            <pc:docMk/>
            <pc:sldMk cId="3230943521" sldId="3861"/>
            <ac:spMk id="5" creationId="{78CB9B89-C0F0-263C-5ACE-98BF57AD5C7B}"/>
          </ac:spMkLst>
        </pc:spChg>
        <pc:spChg chg="mod">
          <ac:chgData name="Dhafer Dhafer" userId="42ad58b5a0b79fe0" providerId="Windows Live" clId="Web-{A3D2DF5D-FA1F-F8F1-722B-4D8BCEBDCBB6}" dt="2026-06-04T09:27:43.244" v="237" actId="1076"/>
          <ac:spMkLst>
            <pc:docMk/>
            <pc:sldMk cId="3230943521" sldId="3861"/>
            <ac:spMk id="7" creationId="{C0D70196-4D0B-A99B-AC25-523E48B50CEF}"/>
          </ac:spMkLst>
        </pc:spChg>
        <pc:spChg chg="mod">
          <ac:chgData name="Dhafer Dhafer" userId="42ad58b5a0b79fe0" providerId="Windows Live" clId="Web-{A3D2DF5D-FA1F-F8F1-722B-4D8BCEBDCBB6}" dt="2026-06-04T09:27:38.322" v="236" actId="1076"/>
          <ac:spMkLst>
            <pc:docMk/>
            <pc:sldMk cId="3230943521" sldId="3861"/>
            <ac:spMk id="13" creationId="{1EB2751F-736B-F8C0-D3F7-A0A63978C333}"/>
          </ac:spMkLst>
        </pc:spChg>
      </pc:sldChg>
      <pc:sldChg chg="modSp">
        <pc:chgData name="Dhafer Dhafer" userId="42ad58b5a0b79fe0" providerId="Windows Live" clId="Web-{A3D2DF5D-FA1F-F8F1-722B-4D8BCEBDCBB6}" dt="2026-06-04T07:25:55.437" v="18" actId="20577"/>
        <pc:sldMkLst>
          <pc:docMk/>
          <pc:sldMk cId="31171198" sldId="3862"/>
        </pc:sldMkLst>
        <pc:spChg chg="mod">
          <ac:chgData name="Dhafer Dhafer" userId="42ad58b5a0b79fe0" providerId="Windows Live" clId="Web-{A3D2DF5D-FA1F-F8F1-722B-4D8BCEBDCBB6}" dt="2026-06-04T07:25:55.437" v="18" actId="20577"/>
          <ac:spMkLst>
            <pc:docMk/>
            <pc:sldMk cId="31171198" sldId="3862"/>
            <ac:spMk id="3" creationId="{078C69F5-299F-F788-3D1C-D0CFD90DCCA0}"/>
          </ac:spMkLst>
        </pc:spChg>
        <pc:spChg chg="mod">
          <ac:chgData name="Dhafer Dhafer" userId="42ad58b5a0b79fe0" providerId="Windows Live" clId="Web-{A3D2DF5D-FA1F-F8F1-722B-4D8BCEBDCBB6}" dt="2026-06-04T07:23:50.246" v="8" actId="1076"/>
          <ac:spMkLst>
            <pc:docMk/>
            <pc:sldMk cId="31171198" sldId="3862"/>
            <ac:spMk id="5" creationId="{CA82C6DB-C526-4709-40AA-B36A1BC33C05}"/>
          </ac:spMkLst>
        </pc:spChg>
      </pc:sldChg>
      <pc:sldChg chg="modSp">
        <pc:chgData name="Dhafer Dhafer" userId="42ad58b5a0b79fe0" providerId="Windows Live" clId="Web-{A3D2DF5D-FA1F-F8F1-722B-4D8BCEBDCBB6}" dt="2026-06-04T08:46:45.174" v="113" actId="14100"/>
        <pc:sldMkLst>
          <pc:docMk/>
          <pc:sldMk cId="120492429" sldId="3863"/>
        </pc:sldMkLst>
        <pc:spChg chg="mod">
          <ac:chgData name="Dhafer Dhafer" userId="42ad58b5a0b79fe0" providerId="Windows Live" clId="Web-{A3D2DF5D-FA1F-F8F1-722B-4D8BCEBDCBB6}" dt="2026-06-04T08:46:45.174" v="113" actId="14100"/>
          <ac:spMkLst>
            <pc:docMk/>
            <pc:sldMk cId="120492429" sldId="3863"/>
            <ac:spMk id="6" creationId="{619E3926-F8D1-F23F-45D0-6A1161CAACCF}"/>
          </ac:spMkLst>
        </pc:spChg>
      </pc:sldChg>
      <pc:sldChg chg="addSp delSp modSp new">
        <pc:chgData name="Dhafer Dhafer" userId="42ad58b5a0b79fe0" providerId="Windows Live" clId="Web-{A3D2DF5D-FA1F-F8F1-722B-4D8BCEBDCBB6}" dt="2026-06-04T08:28:03.820" v="111" actId="14100"/>
        <pc:sldMkLst>
          <pc:docMk/>
          <pc:sldMk cId="900659305" sldId="3864"/>
        </pc:sldMkLst>
        <pc:spChg chg="add del mod">
          <ac:chgData name="Dhafer Dhafer" userId="42ad58b5a0b79fe0" providerId="Windows Live" clId="Web-{A3D2DF5D-FA1F-F8F1-722B-4D8BCEBDCBB6}" dt="2026-06-04T08:23:06.059" v="85"/>
          <ac:spMkLst>
            <pc:docMk/>
            <pc:sldMk cId="900659305" sldId="3864"/>
            <ac:spMk id="2" creationId="{D1F6C648-67AA-4C93-C77D-79ADC834D0D5}"/>
          </ac:spMkLst>
        </pc:spChg>
        <pc:spChg chg="add mod">
          <ac:chgData name="Dhafer Dhafer" userId="42ad58b5a0b79fe0" providerId="Windows Live" clId="Web-{A3D2DF5D-FA1F-F8F1-722B-4D8BCEBDCBB6}" dt="2026-06-04T08:25:19.204" v="97" actId="20577"/>
          <ac:spMkLst>
            <pc:docMk/>
            <pc:sldMk cId="900659305" sldId="3864"/>
            <ac:spMk id="3" creationId="{85868B6B-C8A6-92DC-3640-D020939C0C81}"/>
          </ac:spMkLst>
        </pc:spChg>
        <pc:spChg chg="add mod">
          <ac:chgData name="Dhafer Dhafer" userId="42ad58b5a0b79fe0" providerId="Windows Live" clId="Web-{A3D2DF5D-FA1F-F8F1-722B-4D8BCEBDCBB6}" dt="2026-06-04T08:28:03.820" v="111" actId="14100"/>
          <ac:spMkLst>
            <pc:docMk/>
            <pc:sldMk cId="900659305" sldId="3864"/>
            <ac:spMk id="4" creationId="{264C78D9-DE7E-8F1F-9711-7687CFDC9B2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8695FE-B180-40CC-871E-DB17AD4150A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85D830A-164F-4D9D-9564-177377673F5A}">
      <dgm:prSet/>
      <dgm:spPr/>
      <dgm:t>
        <a:bodyPr/>
        <a:lstStyle/>
        <a:p>
          <a:r>
            <a:rPr lang="en-US" b="0" i="0" baseline="0"/>
            <a:t>Set of values that gives </a:t>
          </a:r>
          <a:r>
            <a:rPr lang="en-US" b="1" i="0" baseline="0"/>
            <a:t>priority to</a:t>
          </a:r>
          <a:endParaRPr lang="en-US"/>
        </a:p>
      </dgm:t>
    </dgm:pt>
    <dgm:pt modelId="{C2D40F53-D8F9-4C95-B78F-6F064F9D0656}" type="parTrans" cxnId="{920DA95E-19F6-4A01-B2CA-F5571325E8AB}">
      <dgm:prSet/>
      <dgm:spPr/>
      <dgm:t>
        <a:bodyPr/>
        <a:lstStyle/>
        <a:p>
          <a:endParaRPr lang="en-US"/>
        </a:p>
      </dgm:t>
    </dgm:pt>
    <dgm:pt modelId="{C13B5507-51FF-4ACD-A309-783CE3361FFF}" type="sibTrans" cxnId="{920DA95E-19F6-4A01-B2CA-F5571325E8AB}">
      <dgm:prSet/>
      <dgm:spPr/>
      <dgm:t>
        <a:bodyPr/>
        <a:lstStyle/>
        <a:p>
          <a:endParaRPr lang="en-US"/>
        </a:p>
      </dgm:t>
    </dgm:pt>
    <dgm:pt modelId="{2176B8B6-4ECB-4178-A743-98C16D8AD24B}">
      <dgm:prSet/>
      <dgm:spPr/>
      <dgm:t>
        <a:bodyPr/>
        <a:lstStyle/>
        <a:p>
          <a:r>
            <a:rPr lang="en-US" b="1" i="0" baseline="0"/>
            <a:t>ethics</a:t>
          </a:r>
          <a:r>
            <a:rPr lang="en-US" b="0" i="0" baseline="0"/>
            <a:t> </a:t>
          </a:r>
          <a:endParaRPr lang="en-US"/>
        </a:p>
      </dgm:t>
    </dgm:pt>
    <dgm:pt modelId="{15532EBB-6224-4C7A-B482-BBBE41089472}" type="parTrans" cxnId="{BD942A12-E0D9-4729-9269-8FEFC39DA786}">
      <dgm:prSet/>
      <dgm:spPr/>
      <dgm:t>
        <a:bodyPr/>
        <a:lstStyle/>
        <a:p>
          <a:endParaRPr lang="en-US"/>
        </a:p>
      </dgm:t>
    </dgm:pt>
    <dgm:pt modelId="{79243715-8792-4AB8-9542-8D85652E6878}" type="sibTrans" cxnId="{BD942A12-E0D9-4729-9269-8FEFC39DA786}">
      <dgm:prSet/>
      <dgm:spPr/>
      <dgm:t>
        <a:bodyPr/>
        <a:lstStyle/>
        <a:p>
          <a:endParaRPr lang="en-US"/>
        </a:p>
      </dgm:t>
    </dgm:pt>
    <dgm:pt modelId="{69AFCCB7-37EF-4445-8C19-6289EB166AE1}">
      <dgm:prSet/>
      <dgm:spPr/>
      <dgm:t>
        <a:bodyPr/>
        <a:lstStyle/>
        <a:p>
          <a:r>
            <a:rPr lang="en-US" b="1" i="0" baseline="0"/>
            <a:t>ecological choices</a:t>
          </a:r>
          <a:r>
            <a:rPr lang="en-US" b="0" i="0" baseline="0"/>
            <a:t>, </a:t>
          </a:r>
          <a:endParaRPr lang="en-US"/>
        </a:p>
      </dgm:t>
    </dgm:pt>
    <dgm:pt modelId="{4926638A-2CC3-40D6-88AB-A1100FFB864E}" type="parTrans" cxnId="{CB06E99C-4855-45AD-AB10-7DD4776B35C7}">
      <dgm:prSet/>
      <dgm:spPr/>
      <dgm:t>
        <a:bodyPr/>
        <a:lstStyle/>
        <a:p>
          <a:endParaRPr lang="en-US"/>
        </a:p>
      </dgm:t>
    </dgm:pt>
    <dgm:pt modelId="{6E37A7ED-CF9C-4DD7-9B07-C1999E851507}" type="sibTrans" cxnId="{CB06E99C-4855-45AD-AB10-7DD4776B35C7}">
      <dgm:prSet/>
      <dgm:spPr/>
      <dgm:t>
        <a:bodyPr/>
        <a:lstStyle/>
        <a:p>
          <a:endParaRPr lang="en-US"/>
        </a:p>
      </dgm:t>
    </dgm:pt>
    <dgm:pt modelId="{CC24DFC3-CC5F-413F-AC82-A7EA59E657F1}">
      <dgm:prSet/>
      <dgm:spPr/>
      <dgm:t>
        <a:bodyPr/>
        <a:lstStyle/>
        <a:p>
          <a:r>
            <a:rPr lang="en-US" b="1" i="0" baseline="0"/>
            <a:t>social utility</a:t>
          </a:r>
          <a:r>
            <a:rPr lang="en-US" b="0" i="0" baseline="0"/>
            <a:t>, </a:t>
          </a:r>
          <a:endParaRPr lang="en-US"/>
        </a:p>
      </dgm:t>
    </dgm:pt>
    <dgm:pt modelId="{F88E30F7-3AF2-444D-AFEB-4FAF6CA80F1E}" type="parTrans" cxnId="{FE848F39-8893-4929-BDDA-BA13B9E0259E}">
      <dgm:prSet/>
      <dgm:spPr/>
      <dgm:t>
        <a:bodyPr/>
        <a:lstStyle/>
        <a:p>
          <a:endParaRPr lang="en-US"/>
        </a:p>
      </dgm:t>
    </dgm:pt>
    <dgm:pt modelId="{88A927E7-0F81-4BF0-B99D-41F0157983B9}" type="sibTrans" cxnId="{FE848F39-8893-4929-BDDA-BA13B9E0259E}">
      <dgm:prSet/>
      <dgm:spPr/>
      <dgm:t>
        <a:bodyPr/>
        <a:lstStyle/>
        <a:p>
          <a:endParaRPr lang="en-US"/>
        </a:p>
      </dgm:t>
    </dgm:pt>
    <dgm:pt modelId="{44E6DE85-49A2-40D8-AE75-8467519A9C8E}">
      <dgm:prSet/>
      <dgm:spPr/>
      <dgm:t>
        <a:bodyPr/>
        <a:lstStyle/>
        <a:p>
          <a:r>
            <a:rPr lang="en-US" b="1" i="0" baseline="0"/>
            <a:t>public interest</a:t>
          </a:r>
          <a:r>
            <a:rPr lang="en-US" b="0" i="0" baseline="0"/>
            <a:t>, </a:t>
          </a:r>
          <a:endParaRPr lang="en-US"/>
        </a:p>
      </dgm:t>
    </dgm:pt>
    <dgm:pt modelId="{DFEE630A-D1B8-4465-9356-4EAEF71E9CAB}" type="parTrans" cxnId="{A445CCFA-40C5-4C5D-BCD7-A4D88F890B6F}">
      <dgm:prSet/>
      <dgm:spPr/>
      <dgm:t>
        <a:bodyPr/>
        <a:lstStyle/>
        <a:p>
          <a:endParaRPr lang="en-US"/>
        </a:p>
      </dgm:t>
    </dgm:pt>
    <dgm:pt modelId="{FBF1F1DB-3111-4D77-B1F8-E1A495306A3D}" type="sibTrans" cxnId="{A445CCFA-40C5-4C5D-BCD7-A4D88F890B6F}">
      <dgm:prSet/>
      <dgm:spPr/>
      <dgm:t>
        <a:bodyPr/>
        <a:lstStyle/>
        <a:p>
          <a:endParaRPr lang="en-US"/>
        </a:p>
      </dgm:t>
    </dgm:pt>
    <dgm:pt modelId="{2FE306F2-BD87-49D1-B9A9-77D2151E6BE8}">
      <dgm:prSet/>
      <dgm:spPr/>
      <dgm:t>
        <a:bodyPr/>
        <a:lstStyle/>
        <a:p>
          <a:r>
            <a:rPr lang="en-US" b="1" i="0" baseline="0"/>
            <a:t>local development</a:t>
          </a:r>
          <a:r>
            <a:rPr lang="en-US" b="0" i="0" baseline="0"/>
            <a:t>,</a:t>
          </a:r>
          <a:endParaRPr lang="en-US"/>
        </a:p>
      </dgm:t>
    </dgm:pt>
    <dgm:pt modelId="{7863627C-CFA8-400C-9335-758B1E04959C}" type="parTrans" cxnId="{296C366F-7775-43F7-8290-FC028A358892}">
      <dgm:prSet/>
      <dgm:spPr/>
      <dgm:t>
        <a:bodyPr/>
        <a:lstStyle/>
        <a:p>
          <a:endParaRPr lang="en-US"/>
        </a:p>
      </dgm:t>
    </dgm:pt>
    <dgm:pt modelId="{911569D6-B44D-4FB0-B138-4ECF4AE06A94}" type="sibTrans" cxnId="{296C366F-7775-43F7-8290-FC028A358892}">
      <dgm:prSet/>
      <dgm:spPr/>
      <dgm:t>
        <a:bodyPr/>
        <a:lstStyle/>
        <a:p>
          <a:endParaRPr lang="en-US"/>
        </a:p>
      </dgm:t>
    </dgm:pt>
    <dgm:pt modelId="{79629529-4A36-4772-AEFF-F37A3A1957EE}">
      <dgm:prSet/>
      <dgm:spPr/>
      <dgm:t>
        <a:bodyPr/>
        <a:lstStyle/>
        <a:p>
          <a:r>
            <a:rPr lang="en-US" b="1" i="0" baseline="0"/>
            <a:t>long-term returns </a:t>
          </a:r>
          <a:r>
            <a:rPr lang="en-US" b="0" i="0" baseline="0"/>
            <a:t>over short-term profit maximization</a:t>
          </a:r>
          <a:endParaRPr lang="en-US"/>
        </a:p>
      </dgm:t>
    </dgm:pt>
    <dgm:pt modelId="{E50F0583-9C38-4694-A11E-5ED4A95BB091}" type="parTrans" cxnId="{588F54AB-7729-403C-B0E3-5A3D378480F4}">
      <dgm:prSet/>
      <dgm:spPr/>
      <dgm:t>
        <a:bodyPr/>
        <a:lstStyle/>
        <a:p>
          <a:endParaRPr lang="en-US"/>
        </a:p>
      </dgm:t>
    </dgm:pt>
    <dgm:pt modelId="{EF4C4FD4-23BD-496C-ADDC-9B8F49D81562}" type="sibTrans" cxnId="{588F54AB-7729-403C-B0E3-5A3D378480F4}">
      <dgm:prSet/>
      <dgm:spPr/>
      <dgm:t>
        <a:bodyPr/>
        <a:lstStyle/>
        <a:p>
          <a:endParaRPr lang="en-US"/>
        </a:p>
      </dgm:t>
    </dgm:pt>
    <dgm:pt modelId="{BFB9A00A-0AFE-450D-995C-CE41E1A4E1DF}" type="pres">
      <dgm:prSet presAssocID="{788695FE-B180-40CC-871E-DB17AD4150A0}" presName="linear" presStyleCnt="0">
        <dgm:presLayoutVars>
          <dgm:animLvl val="lvl"/>
          <dgm:resizeHandles val="exact"/>
        </dgm:presLayoutVars>
      </dgm:prSet>
      <dgm:spPr/>
    </dgm:pt>
    <dgm:pt modelId="{4EA159C0-D49F-46AD-A287-F46AB37B9D6B}" type="pres">
      <dgm:prSet presAssocID="{485D830A-164F-4D9D-9564-177377673F5A}" presName="parentText" presStyleLbl="node1" presStyleIdx="0" presStyleCnt="1">
        <dgm:presLayoutVars>
          <dgm:chMax val="0"/>
          <dgm:bulletEnabled val="1"/>
        </dgm:presLayoutVars>
      </dgm:prSet>
      <dgm:spPr/>
    </dgm:pt>
    <dgm:pt modelId="{1E2F7561-60C6-4E00-A5F8-AC947EB2CD1A}" type="pres">
      <dgm:prSet presAssocID="{485D830A-164F-4D9D-9564-177377673F5A}" presName="childText" presStyleLbl="revTx" presStyleIdx="0" presStyleCnt="1">
        <dgm:presLayoutVars>
          <dgm:bulletEnabled val="1"/>
        </dgm:presLayoutVars>
      </dgm:prSet>
      <dgm:spPr/>
    </dgm:pt>
  </dgm:ptLst>
  <dgm:cxnLst>
    <dgm:cxn modelId="{BD942A12-E0D9-4729-9269-8FEFC39DA786}" srcId="{485D830A-164F-4D9D-9564-177377673F5A}" destId="{2176B8B6-4ECB-4178-A743-98C16D8AD24B}" srcOrd="0" destOrd="0" parTransId="{15532EBB-6224-4C7A-B482-BBBE41089472}" sibTransId="{79243715-8792-4AB8-9542-8D85652E6878}"/>
    <dgm:cxn modelId="{4FE2702C-BE91-48BB-AB7A-ADD9D17AA7FE}" type="presOf" srcId="{69AFCCB7-37EF-4445-8C19-6289EB166AE1}" destId="{1E2F7561-60C6-4E00-A5F8-AC947EB2CD1A}" srcOrd="0" destOrd="1" presId="urn:microsoft.com/office/officeart/2005/8/layout/vList2"/>
    <dgm:cxn modelId="{FE848F39-8893-4929-BDDA-BA13B9E0259E}" srcId="{485D830A-164F-4D9D-9564-177377673F5A}" destId="{CC24DFC3-CC5F-413F-AC82-A7EA59E657F1}" srcOrd="2" destOrd="0" parTransId="{F88E30F7-3AF2-444D-AFEB-4FAF6CA80F1E}" sibTransId="{88A927E7-0F81-4BF0-B99D-41F0157983B9}"/>
    <dgm:cxn modelId="{5689085C-9E56-4EAF-BF0B-88A30FFEBA9E}" type="presOf" srcId="{788695FE-B180-40CC-871E-DB17AD4150A0}" destId="{BFB9A00A-0AFE-450D-995C-CE41E1A4E1DF}" srcOrd="0" destOrd="0" presId="urn:microsoft.com/office/officeart/2005/8/layout/vList2"/>
    <dgm:cxn modelId="{920DA95E-19F6-4A01-B2CA-F5571325E8AB}" srcId="{788695FE-B180-40CC-871E-DB17AD4150A0}" destId="{485D830A-164F-4D9D-9564-177377673F5A}" srcOrd="0" destOrd="0" parTransId="{C2D40F53-D8F9-4C95-B78F-6F064F9D0656}" sibTransId="{C13B5507-51FF-4ACD-A309-783CE3361FFF}"/>
    <dgm:cxn modelId="{9A3DA042-71D4-4FFF-BF89-EBA698D25994}" type="presOf" srcId="{2FE306F2-BD87-49D1-B9A9-77D2151E6BE8}" destId="{1E2F7561-60C6-4E00-A5F8-AC947EB2CD1A}" srcOrd="0" destOrd="4" presId="urn:microsoft.com/office/officeart/2005/8/layout/vList2"/>
    <dgm:cxn modelId="{6CC8236A-2945-4C20-B7F1-8B329D9D6E81}" type="presOf" srcId="{2176B8B6-4ECB-4178-A743-98C16D8AD24B}" destId="{1E2F7561-60C6-4E00-A5F8-AC947EB2CD1A}" srcOrd="0" destOrd="0" presId="urn:microsoft.com/office/officeart/2005/8/layout/vList2"/>
    <dgm:cxn modelId="{296C366F-7775-43F7-8290-FC028A358892}" srcId="{485D830A-164F-4D9D-9564-177377673F5A}" destId="{2FE306F2-BD87-49D1-B9A9-77D2151E6BE8}" srcOrd="4" destOrd="0" parTransId="{7863627C-CFA8-400C-9335-758B1E04959C}" sibTransId="{911569D6-B44D-4FB0-B138-4ECF4AE06A94}"/>
    <dgm:cxn modelId="{9B3ACC8F-254D-4BB3-89E3-E692FF13577B}" type="presOf" srcId="{485D830A-164F-4D9D-9564-177377673F5A}" destId="{4EA159C0-D49F-46AD-A287-F46AB37B9D6B}" srcOrd="0" destOrd="0" presId="urn:microsoft.com/office/officeart/2005/8/layout/vList2"/>
    <dgm:cxn modelId="{CB06E99C-4855-45AD-AB10-7DD4776B35C7}" srcId="{485D830A-164F-4D9D-9564-177377673F5A}" destId="{69AFCCB7-37EF-4445-8C19-6289EB166AE1}" srcOrd="1" destOrd="0" parTransId="{4926638A-2CC3-40D6-88AB-A1100FFB864E}" sibTransId="{6E37A7ED-CF9C-4DD7-9B07-C1999E851507}"/>
    <dgm:cxn modelId="{588F54AB-7729-403C-B0E3-5A3D378480F4}" srcId="{485D830A-164F-4D9D-9564-177377673F5A}" destId="{79629529-4A36-4772-AEFF-F37A3A1957EE}" srcOrd="5" destOrd="0" parTransId="{E50F0583-9C38-4694-A11E-5ED4A95BB091}" sibTransId="{EF4C4FD4-23BD-496C-ADDC-9B8F49D81562}"/>
    <dgm:cxn modelId="{26ECFCB7-E920-47D3-952D-2E4A17C7B6B5}" type="presOf" srcId="{CC24DFC3-CC5F-413F-AC82-A7EA59E657F1}" destId="{1E2F7561-60C6-4E00-A5F8-AC947EB2CD1A}" srcOrd="0" destOrd="2" presId="urn:microsoft.com/office/officeart/2005/8/layout/vList2"/>
    <dgm:cxn modelId="{51E87DE2-5796-46E1-8DFE-641CD45895F7}" type="presOf" srcId="{79629529-4A36-4772-AEFF-F37A3A1957EE}" destId="{1E2F7561-60C6-4E00-A5F8-AC947EB2CD1A}" srcOrd="0" destOrd="5" presId="urn:microsoft.com/office/officeart/2005/8/layout/vList2"/>
    <dgm:cxn modelId="{A445CCFA-40C5-4C5D-BCD7-A4D88F890B6F}" srcId="{485D830A-164F-4D9D-9564-177377673F5A}" destId="{44E6DE85-49A2-40D8-AE75-8467519A9C8E}" srcOrd="3" destOrd="0" parTransId="{DFEE630A-D1B8-4465-9356-4EAEF71E9CAB}" sibTransId="{FBF1F1DB-3111-4D77-B1F8-E1A495306A3D}"/>
    <dgm:cxn modelId="{7A46F0FF-2C72-450A-95EC-D07047AEE3A7}" type="presOf" srcId="{44E6DE85-49A2-40D8-AE75-8467519A9C8E}" destId="{1E2F7561-60C6-4E00-A5F8-AC947EB2CD1A}" srcOrd="0" destOrd="3" presId="urn:microsoft.com/office/officeart/2005/8/layout/vList2"/>
    <dgm:cxn modelId="{85F3FCDF-7FC8-45FA-9111-93F059409D1A}" type="presParOf" srcId="{BFB9A00A-0AFE-450D-995C-CE41E1A4E1DF}" destId="{4EA159C0-D49F-46AD-A287-F46AB37B9D6B}" srcOrd="0" destOrd="0" presId="urn:microsoft.com/office/officeart/2005/8/layout/vList2"/>
    <dgm:cxn modelId="{17A0528E-058C-4BAA-AE47-342CAA79EB0E}" type="presParOf" srcId="{BFB9A00A-0AFE-450D-995C-CE41E1A4E1DF}" destId="{1E2F7561-60C6-4E00-A5F8-AC947EB2CD1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16F36E-DFC0-481C-B0E0-08CBF729BC7A}" type="doc">
      <dgm:prSet loTypeId="urn:microsoft.com/office/officeart/2005/8/layout/venn2" loCatId="relationship" qsTypeId="urn:microsoft.com/office/officeart/2005/8/quickstyle/3d7" qsCatId="3D" csTypeId="urn:microsoft.com/office/officeart/2005/8/colors/accent6_4" csCatId="accent6" phldr="1"/>
      <dgm:spPr/>
      <dgm:t>
        <a:bodyPr/>
        <a:lstStyle/>
        <a:p>
          <a:endParaRPr lang="fr-FR"/>
        </a:p>
      </dgm:t>
    </dgm:pt>
    <dgm:pt modelId="{4A32A3BB-3407-4B5E-AB29-FF80A7055D94}">
      <dgm:prSet phldrT="[Texte]" custT="1"/>
      <dgm:spPr/>
      <dgm:t>
        <a:bodyPr/>
        <a:lstStyle/>
        <a:p>
          <a:r>
            <a:rPr lang="fr-FR" sz="2000" b="1" dirty="0">
              <a:latin typeface="Calibri" panose="020F0502020204030204"/>
            </a:rPr>
            <a:t>Offensive/</a:t>
          </a:r>
          <a:r>
            <a:rPr lang="fr-FR" sz="2000" b="1" dirty="0" err="1">
              <a:latin typeface="Calibri" panose="020F0502020204030204"/>
            </a:rPr>
            <a:t>Sustainable</a:t>
          </a:r>
          <a:r>
            <a:rPr lang="fr-FR" sz="2000" b="1" dirty="0"/>
            <a:t> </a:t>
          </a:r>
          <a:r>
            <a:rPr lang="fr-FR" sz="2000" b="1" dirty="0" err="1"/>
            <a:t>banking</a:t>
          </a:r>
          <a:endParaRPr lang="fr-FR" sz="2000" b="1" dirty="0"/>
        </a:p>
      </dgm:t>
    </dgm:pt>
    <dgm:pt modelId="{E0DAEADB-0CB2-45C3-9530-3E68FA9CDEDA}" type="parTrans" cxnId="{9C5595F8-D860-48A9-91D5-A7E58A316376}">
      <dgm:prSet/>
      <dgm:spPr/>
      <dgm:t>
        <a:bodyPr/>
        <a:lstStyle/>
        <a:p>
          <a:endParaRPr lang="fr-FR" sz="2100" b="1"/>
        </a:p>
      </dgm:t>
    </dgm:pt>
    <dgm:pt modelId="{05C3B843-AAAF-4BFE-B117-646740348303}" type="sibTrans" cxnId="{9C5595F8-D860-48A9-91D5-A7E58A316376}">
      <dgm:prSet/>
      <dgm:spPr/>
      <dgm:t>
        <a:bodyPr/>
        <a:lstStyle/>
        <a:p>
          <a:endParaRPr lang="fr-FR" sz="2100" b="1"/>
        </a:p>
      </dgm:t>
    </dgm:pt>
    <dgm:pt modelId="{88E3BAD8-B1DE-4F94-A786-7E6777185A69}">
      <dgm:prSet phldrT="[Texte]" custT="1"/>
      <dgm:spPr/>
      <dgm:t>
        <a:bodyPr/>
        <a:lstStyle/>
        <a:p>
          <a:endParaRPr lang="fr-FR" sz="2100" b="1" dirty="0"/>
        </a:p>
      </dgm:t>
    </dgm:pt>
    <dgm:pt modelId="{011B744A-01EB-46CE-B239-034D23E536BC}" type="parTrans" cxnId="{F61EBB39-258A-4AF6-9061-D32ECE642F4C}">
      <dgm:prSet/>
      <dgm:spPr/>
      <dgm:t>
        <a:bodyPr/>
        <a:lstStyle/>
        <a:p>
          <a:endParaRPr lang="fr-FR" sz="2100" b="1"/>
        </a:p>
      </dgm:t>
    </dgm:pt>
    <dgm:pt modelId="{4E1B1A02-7EFE-438D-94D5-550EB648E12D}" type="sibTrans" cxnId="{F61EBB39-258A-4AF6-9061-D32ECE642F4C}">
      <dgm:prSet/>
      <dgm:spPr/>
      <dgm:t>
        <a:bodyPr/>
        <a:lstStyle/>
        <a:p>
          <a:endParaRPr lang="fr-FR" sz="2100" b="1"/>
        </a:p>
      </dgm:t>
    </dgm:pt>
    <dgm:pt modelId="{6A1BBCE2-9740-4AFB-81E1-80F519C8E4C2}">
      <dgm:prSet phldrT="[Texte]" custT="1"/>
      <dgm:spPr/>
      <dgm:t>
        <a:bodyPr/>
        <a:lstStyle/>
        <a:p>
          <a:r>
            <a:rPr lang="fr-FR" sz="2100" b="1" dirty="0" err="1"/>
            <a:t>Preventive</a:t>
          </a:r>
          <a:r>
            <a:rPr lang="fr-FR" sz="2100" b="1" dirty="0"/>
            <a:t> Banking</a:t>
          </a:r>
        </a:p>
      </dgm:t>
    </dgm:pt>
    <dgm:pt modelId="{550F68FC-2A56-4808-ADF5-540506E2B1F4}" type="parTrans" cxnId="{B0CFD7EE-C79C-4471-A51B-215547448267}">
      <dgm:prSet/>
      <dgm:spPr/>
      <dgm:t>
        <a:bodyPr/>
        <a:lstStyle/>
        <a:p>
          <a:endParaRPr lang="fr-FR" sz="2100" b="1"/>
        </a:p>
      </dgm:t>
    </dgm:pt>
    <dgm:pt modelId="{226E6B1E-5203-4DC6-9031-358FFA831A75}" type="sibTrans" cxnId="{B0CFD7EE-C79C-4471-A51B-215547448267}">
      <dgm:prSet/>
      <dgm:spPr/>
      <dgm:t>
        <a:bodyPr/>
        <a:lstStyle/>
        <a:p>
          <a:endParaRPr lang="fr-FR" sz="2100" b="1"/>
        </a:p>
      </dgm:t>
    </dgm:pt>
    <dgm:pt modelId="{D0B8AFEC-FD37-481B-A5C9-E2B9D379D23F}">
      <dgm:prSet phldrT="[Texte]" custT="1"/>
      <dgm:spPr/>
      <dgm:t>
        <a:bodyPr/>
        <a:lstStyle/>
        <a:p>
          <a:r>
            <a:rPr lang="fr-FR" sz="2100" b="1" dirty="0" err="1"/>
            <a:t>Defensive</a:t>
          </a:r>
          <a:r>
            <a:rPr lang="fr-FR" sz="2100" b="1" dirty="0"/>
            <a:t> Banking</a:t>
          </a:r>
        </a:p>
      </dgm:t>
    </dgm:pt>
    <dgm:pt modelId="{EC3AC5E3-2351-4775-9A55-AD1418E83A07}" type="parTrans" cxnId="{34EC53E4-7A0E-4CB3-8A85-FB512FC43AE9}">
      <dgm:prSet/>
      <dgm:spPr/>
      <dgm:t>
        <a:bodyPr/>
        <a:lstStyle/>
        <a:p>
          <a:endParaRPr lang="fr-FR" sz="2100" b="1"/>
        </a:p>
      </dgm:t>
    </dgm:pt>
    <dgm:pt modelId="{293BAB7D-1BDB-46A7-AAB4-59D437362B7C}" type="sibTrans" cxnId="{34EC53E4-7A0E-4CB3-8A85-FB512FC43AE9}">
      <dgm:prSet/>
      <dgm:spPr/>
      <dgm:t>
        <a:bodyPr/>
        <a:lstStyle/>
        <a:p>
          <a:endParaRPr lang="fr-FR" sz="2100" b="1"/>
        </a:p>
      </dgm:t>
    </dgm:pt>
    <dgm:pt modelId="{7BDDE08D-621E-47F9-B7E9-F6B0036A21A5}" type="pres">
      <dgm:prSet presAssocID="{8B16F36E-DFC0-481C-B0E0-08CBF729BC7A}" presName="Name0" presStyleCnt="0">
        <dgm:presLayoutVars>
          <dgm:chMax val="7"/>
          <dgm:resizeHandles val="exact"/>
        </dgm:presLayoutVars>
      </dgm:prSet>
      <dgm:spPr/>
    </dgm:pt>
    <dgm:pt modelId="{C06A571D-2DFB-46FD-BA9D-227EB5C4F8AA}" type="pres">
      <dgm:prSet presAssocID="{8B16F36E-DFC0-481C-B0E0-08CBF729BC7A}" presName="comp1" presStyleCnt="0"/>
      <dgm:spPr/>
    </dgm:pt>
    <dgm:pt modelId="{331C3F8A-C4C7-4B95-AE7D-76FC3266FAB8}" type="pres">
      <dgm:prSet presAssocID="{8B16F36E-DFC0-481C-B0E0-08CBF729BC7A}" presName="circle1" presStyleLbl="node1" presStyleIdx="0" presStyleCnt="4"/>
      <dgm:spPr/>
    </dgm:pt>
    <dgm:pt modelId="{8194143F-4D78-4327-A119-408B720D9918}" type="pres">
      <dgm:prSet presAssocID="{8B16F36E-DFC0-481C-B0E0-08CBF729BC7A}" presName="c1text" presStyleLbl="node1" presStyleIdx="0" presStyleCnt="4">
        <dgm:presLayoutVars>
          <dgm:bulletEnabled val="1"/>
        </dgm:presLayoutVars>
      </dgm:prSet>
      <dgm:spPr/>
    </dgm:pt>
    <dgm:pt modelId="{30A1AC0C-F907-4EAD-8A71-E04F5837CF5F}" type="pres">
      <dgm:prSet presAssocID="{8B16F36E-DFC0-481C-B0E0-08CBF729BC7A}" presName="comp2" presStyleCnt="0"/>
      <dgm:spPr/>
    </dgm:pt>
    <dgm:pt modelId="{FBB3CB33-2299-4E45-88C7-D0774E68A6DC}" type="pres">
      <dgm:prSet presAssocID="{8B16F36E-DFC0-481C-B0E0-08CBF729BC7A}" presName="circle2" presStyleLbl="node1" presStyleIdx="1" presStyleCnt="4"/>
      <dgm:spPr/>
    </dgm:pt>
    <dgm:pt modelId="{5127AF6B-FAA6-414B-BC75-25184867FD6D}" type="pres">
      <dgm:prSet presAssocID="{8B16F36E-DFC0-481C-B0E0-08CBF729BC7A}" presName="c2text" presStyleLbl="node1" presStyleIdx="1" presStyleCnt="4">
        <dgm:presLayoutVars>
          <dgm:bulletEnabled val="1"/>
        </dgm:presLayoutVars>
      </dgm:prSet>
      <dgm:spPr/>
    </dgm:pt>
    <dgm:pt modelId="{A12E4A0D-EB92-410C-A3A3-1D54D87BEA89}" type="pres">
      <dgm:prSet presAssocID="{8B16F36E-DFC0-481C-B0E0-08CBF729BC7A}" presName="comp3" presStyleCnt="0"/>
      <dgm:spPr/>
    </dgm:pt>
    <dgm:pt modelId="{3E4E1781-FB2C-41C1-98E5-0F452B429C09}" type="pres">
      <dgm:prSet presAssocID="{8B16F36E-DFC0-481C-B0E0-08CBF729BC7A}" presName="circle3" presStyleLbl="node1" presStyleIdx="2" presStyleCnt="4"/>
      <dgm:spPr/>
    </dgm:pt>
    <dgm:pt modelId="{6D50050A-3BDD-40E3-ADE3-7A972292D713}" type="pres">
      <dgm:prSet presAssocID="{8B16F36E-DFC0-481C-B0E0-08CBF729BC7A}" presName="c3text" presStyleLbl="node1" presStyleIdx="2" presStyleCnt="4">
        <dgm:presLayoutVars>
          <dgm:bulletEnabled val="1"/>
        </dgm:presLayoutVars>
      </dgm:prSet>
      <dgm:spPr/>
    </dgm:pt>
    <dgm:pt modelId="{5B085CA8-6D67-41C9-BA8B-8F24D929F71C}" type="pres">
      <dgm:prSet presAssocID="{8B16F36E-DFC0-481C-B0E0-08CBF729BC7A}" presName="comp4" presStyleCnt="0"/>
      <dgm:spPr/>
    </dgm:pt>
    <dgm:pt modelId="{66F1711D-38C7-492C-AC03-59E17BDBF440}" type="pres">
      <dgm:prSet presAssocID="{8B16F36E-DFC0-481C-B0E0-08CBF729BC7A}" presName="circle4" presStyleLbl="node1" presStyleIdx="3" presStyleCnt="4"/>
      <dgm:spPr/>
    </dgm:pt>
    <dgm:pt modelId="{93C2D426-96D1-4898-9FCB-B21FC89F54D5}" type="pres">
      <dgm:prSet presAssocID="{8B16F36E-DFC0-481C-B0E0-08CBF729BC7A}" presName="c4text" presStyleLbl="node1" presStyleIdx="3" presStyleCnt="4">
        <dgm:presLayoutVars>
          <dgm:bulletEnabled val="1"/>
        </dgm:presLayoutVars>
      </dgm:prSet>
      <dgm:spPr/>
    </dgm:pt>
  </dgm:ptLst>
  <dgm:cxnLst>
    <dgm:cxn modelId="{A8CBEF0D-17DA-41D6-9290-9EF11DD5438C}" type="presOf" srcId="{4A32A3BB-3407-4B5E-AB29-FF80A7055D94}" destId="{331C3F8A-C4C7-4B95-AE7D-76FC3266FAB8}" srcOrd="0" destOrd="0" presId="urn:microsoft.com/office/officeart/2005/8/layout/venn2"/>
    <dgm:cxn modelId="{31133714-B565-4B89-B08C-C9B10EFA279D}" type="presOf" srcId="{D0B8AFEC-FD37-481B-A5C9-E2B9D379D23F}" destId="{66F1711D-38C7-492C-AC03-59E17BDBF440}" srcOrd="0" destOrd="0" presId="urn:microsoft.com/office/officeart/2005/8/layout/venn2"/>
    <dgm:cxn modelId="{F61EBB39-258A-4AF6-9061-D32ECE642F4C}" srcId="{8B16F36E-DFC0-481C-B0E0-08CBF729BC7A}" destId="{88E3BAD8-B1DE-4F94-A786-7E6777185A69}" srcOrd="1" destOrd="0" parTransId="{011B744A-01EB-46CE-B239-034D23E536BC}" sibTransId="{4E1B1A02-7EFE-438D-94D5-550EB648E12D}"/>
    <dgm:cxn modelId="{3CD1FA61-B042-47B1-AA45-360243517602}" type="presOf" srcId="{6A1BBCE2-9740-4AFB-81E1-80F519C8E4C2}" destId="{3E4E1781-FB2C-41C1-98E5-0F452B429C09}" srcOrd="0" destOrd="0" presId="urn:microsoft.com/office/officeart/2005/8/layout/venn2"/>
    <dgm:cxn modelId="{FB483056-07B4-446E-B691-0C8B9402AB1B}" type="presOf" srcId="{6A1BBCE2-9740-4AFB-81E1-80F519C8E4C2}" destId="{6D50050A-3BDD-40E3-ADE3-7A972292D713}" srcOrd="1" destOrd="0" presId="urn:microsoft.com/office/officeart/2005/8/layout/venn2"/>
    <dgm:cxn modelId="{5DEDA294-9B8D-4BD5-AE7A-B3B991C30088}" type="presOf" srcId="{D0B8AFEC-FD37-481B-A5C9-E2B9D379D23F}" destId="{93C2D426-96D1-4898-9FCB-B21FC89F54D5}" srcOrd="1" destOrd="0" presId="urn:microsoft.com/office/officeart/2005/8/layout/venn2"/>
    <dgm:cxn modelId="{3EE3DB9F-2925-48B7-B1B8-719C8603FA93}" type="presOf" srcId="{88E3BAD8-B1DE-4F94-A786-7E6777185A69}" destId="{5127AF6B-FAA6-414B-BC75-25184867FD6D}" srcOrd="1" destOrd="0" presId="urn:microsoft.com/office/officeart/2005/8/layout/venn2"/>
    <dgm:cxn modelId="{421731B8-5EB8-4FD9-B0D5-A9BA92532304}" type="presOf" srcId="{4A32A3BB-3407-4B5E-AB29-FF80A7055D94}" destId="{8194143F-4D78-4327-A119-408B720D9918}" srcOrd="1" destOrd="0" presId="urn:microsoft.com/office/officeart/2005/8/layout/venn2"/>
    <dgm:cxn modelId="{0E923CC7-95F3-4927-BFE7-76C0FB89ED24}" type="presOf" srcId="{88E3BAD8-B1DE-4F94-A786-7E6777185A69}" destId="{FBB3CB33-2299-4E45-88C7-D0774E68A6DC}" srcOrd="0" destOrd="0" presId="urn:microsoft.com/office/officeart/2005/8/layout/venn2"/>
    <dgm:cxn modelId="{BA08FCE0-EBFF-4E64-96CD-64F38BD95ECB}" type="presOf" srcId="{8B16F36E-DFC0-481C-B0E0-08CBF729BC7A}" destId="{7BDDE08D-621E-47F9-B7E9-F6B0036A21A5}" srcOrd="0" destOrd="0" presId="urn:microsoft.com/office/officeart/2005/8/layout/venn2"/>
    <dgm:cxn modelId="{34EC53E4-7A0E-4CB3-8A85-FB512FC43AE9}" srcId="{8B16F36E-DFC0-481C-B0E0-08CBF729BC7A}" destId="{D0B8AFEC-FD37-481B-A5C9-E2B9D379D23F}" srcOrd="3" destOrd="0" parTransId="{EC3AC5E3-2351-4775-9A55-AD1418E83A07}" sibTransId="{293BAB7D-1BDB-46A7-AAB4-59D437362B7C}"/>
    <dgm:cxn modelId="{B0CFD7EE-C79C-4471-A51B-215547448267}" srcId="{8B16F36E-DFC0-481C-B0E0-08CBF729BC7A}" destId="{6A1BBCE2-9740-4AFB-81E1-80F519C8E4C2}" srcOrd="2" destOrd="0" parTransId="{550F68FC-2A56-4808-ADF5-540506E2B1F4}" sibTransId="{226E6B1E-5203-4DC6-9031-358FFA831A75}"/>
    <dgm:cxn modelId="{9C5595F8-D860-48A9-91D5-A7E58A316376}" srcId="{8B16F36E-DFC0-481C-B0E0-08CBF729BC7A}" destId="{4A32A3BB-3407-4B5E-AB29-FF80A7055D94}" srcOrd="0" destOrd="0" parTransId="{E0DAEADB-0CB2-45C3-9530-3E68FA9CDEDA}" sibTransId="{05C3B843-AAAF-4BFE-B117-646740348303}"/>
    <dgm:cxn modelId="{ABE180F7-1BA5-4E8D-97A1-1FD8C3836269}" type="presParOf" srcId="{7BDDE08D-621E-47F9-B7E9-F6B0036A21A5}" destId="{C06A571D-2DFB-46FD-BA9D-227EB5C4F8AA}" srcOrd="0" destOrd="0" presId="urn:microsoft.com/office/officeart/2005/8/layout/venn2"/>
    <dgm:cxn modelId="{642063A2-BC97-4578-8B8C-D59D919911DA}" type="presParOf" srcId="{C06A571D-2DFB-46FD-BA9D-227EB5C4F8AA}" destId="{331C3F8A-C4C7-4B95-AE7D-76FC3266FAB8}" srcOrd="0" destOrd="0" presId="urn:microsoft.com/office/officeart/2005/8/layout/venn2"/>
    <dgm:cxn modelId="{28ECB85C-DA08-4DB7-9405-894F28DC9A8E}" type="presParOf" srcId="{C06A571D-2DFB-46FD-BA9D-227EB5C4F8AA}" destId="{8194143F-4D78-4327-A119-408B720D9918}" srcOrd="1" destOrd="0" presId="urn:microsoft.com/office/officeart/2005/8/layout/venn2"/>
    <dgm:cxn modelId="{FBA26281-7FDF-41C9-94CB-BCA8015EA9D4}" type="presParOf" srcId="{7BDDE08D-621E-47F9-B7E9-F6B0036A21A5}" destId="{30A1AC0C-F907-4EAD-8A71-E04F5837CF5F}" srcOrd="1" destOrd="0" presId="urn:microsoft.com/office/officeart/2005/8/layout/venn2"/>
    <dgm:cxn modelId="{6550AF4D-EC35-4172-AAC7-2FE8C15EAC25}" type="presParOf" srcId="{30A1AC0C-F907-4EAD-8A71-E04F5837CF5F}" destId="{FBB3CB33-2299-4E45-88C7-D0774E68A6DC}" srcOrd="0" destOrd="0" presId="urn:microsoft.com/office/officeart/2005/8/layout/venn2"/>
    <dgm:cxn modelId="{09EEB987-79C4-461B-BB24-6DD40F3DA346}" type="presParOf" srcId="{30A1AC0C-F907-4EAD-8A71-E04F5837CF5F}" destId="{5127AF6B-FAA6-414B-BC75-25184867FD6D}" srcOrd="1" destOrd="0" presId="urn:microsoft.com/office/officeart/2005/8/layout/venn2"/>
    <dgm:cxn modelId="{F4073B34-0DE4-4A49-B96A-443AFCAFD0F5}" type="presParOf" srcId="{7BDDE08D-621E-47F9-B7E9-F6B0036A21A5}" destId="{A12E4A0D-EB92-410C-A3A3-1D54D87BEA89}" srcOrd="2" destOrd="0" presId="urn:microsoft.com/office/officeart/2005/8/layout/venn2"/>
    <dgm:cxn modelId="{62EFB1E4-0251-4FBD-B2C4-16E6F5CB9061}" type="presParOf" srcId="{A12E4A0D-EB92-410C-A3A3-1D54D87BEA89}" destId="{3E4E1781-FB2C-41C1-98E5-0F452B429C09}" srcOrd="0" destOrd="0" presId="urn:microsoft.com/office/officeart/2005/8/layout/venn2"/>
    <dgm:cxn modelId="{3E396775-578C-4994-85F4-D84DF7DCDC59}" type="presParOf" srcId="{A12E4A0D-EB92-410C-A3A3-1D54D87BEA89}" destId="{6D50050A-3BDD-40E3-ADE3-7A972292D713}" srcOrd="1" destOrd="0" presId="urn:microsoft.com/office/officeart/2005/8/layout/venn2"/>
    <dgm:cxn modelId="{E18EE549-0CF5-443F-BAB8-B805BF745679}" type="presParOf" srcId="{7BDDE08D-621E-47F9-B7E9-F6B0036A21A5}" destId="{5B085CA8-6D67-41C9-BA8B-8F24D929F71C}" srcOrd="3" destOrd="0" presId="urn:microsoft.com/office/officeart/2005/8/layout/venn2"/>
    <dgm:cxn modelId="{A89A3A58-4108-446D-AF42-8FF387CAD86C}" type="presParOf" srcId="{5B085CA8-6D67-41C9-BA8B-8F24D929F71C}" destId="{66F1711D-38C7-492C-AC03-59E17BDBF440}" srcOrd="0" destOrd="0" presId="urn:microsoft.com/office/officeart/2005/8/layout/venn2"/>
    <dgm:cxn modelId="{64F93A5B-D590-4700-9591-DA9635FE146A}" type="presParOf" srcId="{5B085CA8-6D67-41C9-BA8B-8F24D929F71C}" destId="{93C2D426-96D1-4898-9FCB-B21FC89F54D5}"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B977FA-2557-4FC7-A0ED-C9494615EC9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4607DE99-8A36-4D6B-A259-8C7A72DD8C80}">
      <dgm:prSet phldrT="[Texte]" custT="1"/>
      <dgm:spPr/>
      <dgm:t>
        <a:bodyPr/>
        <a:lstStyle/>
        <a:p>
          <a:r>
            <a:rPr lang="fr-FR" sz="2000" dirty="0"/>
            <a:t>Active </a:t>
          </a:r>
          <a:r>
            <a:rPr lang="fr-FR" sz="2000" dirty="0" err="1"/>
            <a:t>Strategy</a:t>
          </a:r>
          <a:endParaRPr lang="fr-FR" sz="2000" dirty="0"/>
        </a:p>
      </dgm:t>
    </dgm:pt>
    <dgm:pt modelId="{B800FC46-638C-4E2A-B804-05C9FCF1668A}" type="parTrans" cxnId="{8135EC9E-EFC2-480E-813D-15897E6190DB}">
      <dgm:prSet/>
      <dgm:spPr/>
      <dgm:t>
        <a:bodyPr/>
        <a:lstStyle/>
        <a:p>
          <a:endParaRPr lang="fr-FR" sz="1800"/>
        </a:p>
      </dgm:t>
    </dgm:pt>
    <dgm:pt modelId="{A5886DB7-74CA-4579-8CC4-554FD68E286F}" type="sibTrans" cxnId="{8135EC9E-EFC2-480E-813D-15897E6190DB}">
      <dgm:prSet/>
      <dgm:spPr/>
      <dgm:t>
        <a:bodyPr/>
        <a:lstStyle/>
        <a:p>
          <a:endParaRPr lang="fr-FR" sz="1800"/>
        </a:p>
      </dgm:t>
    </dgm:pt>
    <dgm:pt modelId="{C7BFE19C-17E2-431F-ADAB-7B5B677159B5}">
      <dgm:prSet phldrT="[Texte]" custT="1"/>
      <dgm:spPr/>
      <dgm:t>
        <a:bodyPr/>
        <a:lstStyle/>
        <a:p>
          <a:r>
            <a:rPr lang="fr-FR" sz="2000" dirty="0"/>
            <a:t>Passive </a:t>
          </a:r>
          <a:r>
            <a:rPr lang="fr-FR" sz="2000" dirty="0" err="1"/>
            <a:t>Strategy</a:t>
          </a:r>
          <a:endParaRPr lang="fr-FR" sz="2000" dirty="0"/>
        </a:p>
      </dgm:t>
    </dgm:pt>
    <dgm:pt modelId="{B35E9C40-C937-4335-8378-59A87CA65440}" type="parTrans" cxnId="{47DB629F-3655-429D-999A-175D6AF3F551}">
      <dgm:prSet/>
      <dgm:spPr/>
      <dgm:t>
        <a:bodyPr/>
        <a:lstStyle/>
        <a:p>
          <a:endParaRPr lang="fr-FR" sz="1800"/>
        </a:p>
      </dgm:t>
    </dgm:pt>
    <dgm:pt modelId="{19E9F4CF-BD86-417D-8A79-70A0142A2B0C}" type="sibTrans" cxnId="{47DB629F-3655-429D-999A-175D6AF3F551}">
      <dgm:prSet/>
      <dgm:spPr/>
      <dgm:t>
        <a:bodyPr/>
        <a:lstStyle/>
        <a:p>
          <a:endParaRPr lang="fr-FR" sz="1800"/>
        </a:p>
      </dgm:t>
    </dgm:pt>
    <dgm:pt modelId="{1B41532A-1D07-4176-BEF6-D1015430E1EF}">
      <dgm:prSet phldrT="[Texte]" custT="1"/>
      <dgm:spPr/>
      <dgm:t>
        <a:bodyPr/>
        <a:lstStyle/>
        <a:p>
          <a:r>
            <a:rPr lang="fr-FR" sz="2000" dirty="0" err="1"/>
            <a:t>Shareholder</a:t>
          </a:r>
          <a:r>
            <a:rPr lang="fr-FR" sz="2000" dirty="0"/>
            <a:t> engagement/ </a:t>
          </a:r>
          <a:r>
            <a:rPr lang="fr-FR" sz="2000" dirty="0" err="1"/>
            <a:t>Shareholder</a:t>
          </a:r>
          <a:r>
            <a:rPr lang="fr-FR" sz="2000" dirty="0"/>
            <a:t> </a:t>
          </a:r>
          <a:r>
            <a:rPr lang="fr-FR" sz="2000" dirty="0" err="1"/>
            <a:t>Activism</a:t>
          </a:r>
          <a:endParaRPr lang="fr-FR" sz="2000" dirty="0"/>
        </a:p>
      </dgm:t>
    </dgm:pt>
    <dgm:pt modelId="{65B73AFD-BE63-4B7B-983B-51181F5A2CD6}" type="parTrans" cxnId="{072F9703-3B5C-40EF-8405-5018506DB858}">
      <dgm:prSet/>
      <dgm:spPr/>
      <dgm:t>
        <a:bodyPr/>
        <a:lstStyle/>
        <a:p>
          <a:endParaRPr lang="fr-FR" sz="1800"/>
        </a:p>
      </dgm:t>
    </dgm:pt>
    <dgm:pt modelId="{F802D6F0-0636-4C09-A5D3-31F46CF5619C}" type="sibTrans" cxnId="{072F9703-3B5C-40EF-8405-5018506DB858}">
      <dgm:prSet/>
      <dgm:spPr/>
      <dgm:t>
        <a:bodyPr/>
        <a:lstStyle/>
        <a:p>
          <a:endParaRPr lang="fr-FR" sz="1800"/>
        </a:p>
      </dgm:t>
    </dgm:pt>
    <dgm:pt modelId="{248EB4F0-8B0B-4FEE-9DD9-4480326954D6}">
      <dgm:prSet phldrT="[Texte]" custT="1"/>
      <dgm:spPr/>
      <dgm:t>
        <a:bodyPr/>
        <a:lstStyle/>
        <a:p>
          <a:r>
            <a:rPr lang="fr-FR" sz="2000" dirty="0" err="1"/>
            <a:t>Negative</a:t>
          </a:r>
          <a:r>
            <a:rPr lang="fr-FR" sz="2000" dirty="0"/>
            <a:t> Screening</a:t>
          </a:r>
        </a:p>
      </dgm:t>
    </dgm:pt>
    <dgm:pt modelId="{9CC5B3F8-A300-4C5C-9D37-BC9A25EFD2FC}" type="parTrans" cxnId="{22B7DE60-9818-4C10-8283-B80657393ECB}">
      <dgm:prSet/>
      <dgm:spPr/>
      <dgm:t>
        <a:bodyPr/>
        <a:lstStyle/>
        <a:p>
          <a:endParaRPr lang="fr-FR" sz="1800"/>
        </a:p>
      </dgm:t>
    </dgm:pt>
    <dgm:pt modelId="{61134D3C-9343-4F8C-B173-204F2C1C6BFC}" type="sibTrans" cxnId="{22B7DE60-9818-4C10-8283-B80657393ECB}">
      <dgm:prSet/>
      <dgm:spPr/>
      <dgm:t>
        <a:bodyPr/>
        <a:lstStyle/>
        <a:p>
          <a:endParaRPr lang="fr-FR" sz="1800"/>
        </a:p>
      </dgm:t>
    </dgm:pt>
    <dgm:pt modelId="{CDDB0649-6C07-4486-BF50-FFBBC3602B94}">
      <dgm:prSet phldrT="[Texte]" custT="1"/>
      <dgm:spPr/>
      <dgm:t>
        <a:bodyPr/>
        <a:lstStyle/>
        <a:p>
          <a:r>
            <a:rPr lang="fr-FR" sz="2000" dirty="0"/>
            <a:t>SRI </a:t>
          </a:r>
          <a:r>
            <a:rPr lang="fr-FR" sz="2000" dirty="0" err="1"/>
            <a:t>Universe</a:t>
          </a:r>
          <a:endParaRPr lang="fr-FR" sz="2000" dirty="0"/>
        </a:p>
      </dgm:t>
    </dgm:pt>
    <dgm:pt modelId="{6BCF4E15-587C-4085-881E-642A7A77D695}" type="parTrans" cxnId="{F06DE039-DD89-4D94-AE58-DAB5A5427B4E}">
      <dgm:prSet/>
      <dgm:spPr/>
      <dgm:t>
        <a:bodyPr/>
        <a:lstStyle/>
        <a:p>
          <a:endParaRPr lang="fr-FR" sz="1800"/>
        </a:p>
      </dgm:t>
    </dgm:pt>
    <dgm:pt modelId="{EE51339E-CFC1-4223-A1EE-38E08BCB8799}" type="sibTrans" cxnId="{F06DE039-DD89-4D94-AE58-DAB5A5427B4E}">
      <dgm:prSet/>
      <dgm:spPr/>
      <dgm:t>
        <a:bodyPr/>
        <a:lstStyle/>
        <a:p>
          <a:endParaRPr lang="fr-FR" sz="1800"/>
        </a:p>
      </dgm:t>
    </dgm:pt>
    <dgm:pt modelId="{4CBDF098-9365-4BD7-9ADB-D258D8E3AB89}">
      <dgm:prSet phldrT="[Texte]" custT="1"/>
      <dgm:spPr/>
      <dgm:t>
        <a:bodyPr/>
        <a:lstStyle/>
        <a:p>
          <a:r>
            <a:rPr lang="fr-FR" sz="2000" dirty="0"/>
            <a:t>Positive Screening</a:t>
          </a:r>
        </a:p>
      </dgm:t>
    </dgm:pt>
    <dgm:pt modelId="{AB9FAB03-BA6C-4357-BB6C-80187DB67249}" type="parTrans" cxnId="{A69CDE73-1581-4205-B03D-9BC08A829491}">
      <dgm:prSet/>
      <dgm:spPr/>
      <dgm:t>
        <a:bodyPr/>
        <a:lstStyle/>
        <a:p>
          <a:endParaRPr lang="fr-FR" sz="1800"/>
        </a:p>
      </dgm:t>
    </dgm:pt>
    <dgm:pt modelId="{9074AEC0-97BA-45FE-B8B5-A788C1FE47D9}" type="sibTrans" cxnId="{A69CDE73-1581-4205-B03D-9BC08A829491}">
      <dgm:prSet/>
      <dgm:spPr/>
      <dgm:t>
        <a:bodyPr/>
        <a:lstStyle/>
        <a:p>
          <a:endParaRPr lang="fr-FR" sz="1800"/>
        </a:p>
      </dgm:t>
    </dgm:pt>
    <dgm:pt modelId="{B304CC7E-BC0F-4B6C-86AD-F37F04C33408}">
      <dgm:prSet phldrT="[Texte]" custT="1"/>
      <dgm:spPr/>
      <dgm:t>
        <a:bodyPr/>
        <a:lstStyle/>
        <a:p>
          <a:pPr algn="ctr"/>
          <a:r>
            <a:rPr lang="fr-FR" sz="2000" dirty="0" err="1"/>
            <a:t>Thematic</a:t>
          </a:r>
          <a:r>
            <a:rPr lang="fr-FR" sz="2000" dirty="0"/>
            <a:t> Funds</a:t>
          </a:r>
        </a:p>
      </dgm:t>
    </dgm:pt>
    <dgm:pt modelId="{9121E1C4-3C4A-4976-A4AB-3EA119822719}" type="parTrans" cxnId="{023E326A-9B48-4C5F-9107-B9FFCDA74AA2}">
      <dgm:prSet/>
      <dgm:spPr/>
      <dgm:t>
        <a:bodyPr/>
        <a:lstStyle/>
        <a:p>
          <a:endParaRPr lang="fr-FR" sz="1800"/>
        </a:p>
      </dgm:t>
    </dgm:pt>
    <dgm:pt modelId="{D3AEDED9-D29E-4625-8DEA-03790D239021}" type="sibTrans" cxnId="{023E326A-9B48-4C5F-9107-B9FFCDA74AA2}">
      <dgm:prSet/>
      <dgm:spPr/>
      <dgm:t>
        <a:bodyPr/>
        <a:lstStyle/>
        <a:p>
          <a:endParaRPr lang="fr-FR" sz="1800"/>
        </a:p>
      </dgm:t>
    </dgm:pt>
    <dgm:pt modelId="{A91E92EA-0796-4710-9130-9224A47A2DCB}">
      <dgm:prSet phldrT="[Texte]" custT="1"/>
      <dgm:spPr/>
      <dgm:t>
        <a:bodyPr/>
        <a:lstStyle/>
        <a:p>
          <a:pPr algn="ctr"/>
          <a:r>
            <a:rPr lang="fr-FR" sz="2000" dirty="0"/>
            <a:t>Best in Class</a:t>
          </a:r>
        </a:p>
      </dgm:t>
    </dgm:pt>
    <dgm:pt modelId="{EE12E85C-5BB1-459B-8178-21AD577E459D}" type="parTrans" cxnId="{7ED500F2-5ADB-47AC-A488-180053CF4603}">
      <dgm:prSet/>
      <dgm:spPr/>
      <dgm:t>
        <a:bodyPr/>
        <a:lstStyle/>
        <a:p>
          <a:endParaRPr lang="fr-FR" sz="1800"/>
        </a:p>
      </dgm:t>
    </dgm:pt>
    <dgm:pt modelId="{EDC9BCBD-BBBF-44D7-8428-C00A7CB18A4E}" type="sibTrans" cxnId="{7ED500F2-5ADB-47AC-A488-180053CF4603}">
      <dgm:prSet/>
      <dgm:spPr/>
      <dgm:t>
        <a:bodyPr/>
        <a:lstStyle/>
        <a:p>
          <a:endParaRPr lang="fr-FR" sz="1800"/>
        </a:p>
      </dgm:t>
    </dgm:pt>
    <dgm:pt modelId="{F0293B0A-69F6-4C6A-B7D5-6E6BE6043582}" type="pres">
      <dgm:prSet presAssocID="{44B977FA-2557-4FC7-A0ED-C9494615EC91}" presName="diagram" presStyleCnt="0">
        <dgm:presLayoutVars>
          <dgm:dir/>
          <dgm:resizeHandles val="exact"/>
        </dgm:presLayoutVars>
      </dgm:prSet>
      <dgm:spPr/>
    </dgm:pt>
    <dgm:pt modelId="{35C68F92-AA4E-4868-B0E7-D62D4FE2DC98}" type="pres">
      <dgm:prSet presAssocID="{4607DE99-8A36-4D6B-A259-8C7A72DD8C80}" presName="node" presStyleLbl="node1" presStyleIdx="0" presStyleCnt="8" custScaleX="68664" custScaleY="44031" custLinFactNeighborX="-4068" custLinFactNeighborY="4296">
        <dgm:presLayoutVars>
          <dgm:bulletEnabled val="1"/>
        </dgm:presLayoutVars>
      </dgm:prSet>
      <dgm:spPr/>
    </dgm:pt>
    <dgm:pt modelId="{3B6A7197-9DE3-44F5-975E-E07E1007F48E}" type="pres">
      <dgm:prSet presAssocID="{A5886DB7-74CA-4579-8CC4-554FD68E286F}" presName="sibTrans" presStyleCnt="0"/>
      <dgm:spPr/>
    </dgm:pt>
    <dgm:pt modelId="{62E6C980-ADBE-40EB-BC26-83D430919F77}" type="pres">
      <dgm:prSet presAssocID="{C7BFE19C-17E2-431F-ADAB-7B5B677159B5}" presName="node" presStyleLbl="node1" presStyleIdx="1" presStyleCnt="8" custScaleX="73689" custScaleY="35466" custLinFactNeighborX="8603" custLinFactNeighborY="791">
        <dgm:presLayoutVars>
          <dgm:bulletEnabled val="1"/>
        </dgm:presLayoutVars>
      </dgm:prSet>
      <dgm:spPr/>
    </dgm:pt>
    <dgm:pt modelId="{854543F4-0A93-4EEF-849F-113F44914257}" type="pres">
      <dgm:prSet presAssocID="{19E9F4CF-BD86-417D-8A79-70A0142A2B0C}" presName="sibTrans" presStyleCnt="0"/>
      <dgm:spPr/>
    </dgm:pt>
    <dgm:pt modelId="{16A867D2-B3CE-4370-B9D2-A96E051A0512}" type="pres">
      <dgm:prSet presAssocID="{1B41532A-1D07-4176-BEF6-D1015430E1EF}" presName="node" presStyleLbl="node1" presStyleIdx="2" presStyleCnt="8" custLinFactNeighborX="-3537" custLinFactNeighborY="51397">
        <dgm:presLayoutVars>
          <dgm:bulletEnabled val="1"/>
        </dgm:presLayoutVars>
      </dgm:prSet>
      <dgm:spPr/>
    </dgm:pt>
    <dgm:pt modelId="{BA74784C-158D-4FED-80D4-66D28186ABAB}" type="pres">
      <dgm:prSet presAssocID="{F802D6F0-0636-4C09-A5D3-31F46CF5619C}" presName="sibTrans" presStyleCnt="0"/>
      <dgm:spPr/>
    </dgm:pt>
    <dgm:pt modelId="{2BA6171A-43A3-43EB-9DCC-4FA17664C651}" type="pres">
      <dgm:prSet presAssocID="{248EB4F0-8B0B-4FEE-9DD9-4480326954D6}" presName="node" presStyleLbl="node1" presStyleIdx="3" presStyleCnt="8" custScaleX="40888" custScaleY="46824" custLinFactNeighborX="5101" custLinFactNeighborY="-27315">
        <dgm:presLayoutVars>
          <dgm:bulletEnabled val="1"/>
        </dgm:presLayoutVars>
      </dgm:prSet>
      <dgm:spPr/>
    </dgm:pt>
    <dgm:pt modelId="{E62D8F6E-CB3A-4379-A160-61B3200508AB}" type="pres">
      <dgm:prSet presAssocID="{61134D3C-9343-4F8C-B173-204F2C1C6BFC}" presName="sibTrans" presStyleCnt="0"/>
      <dgm:spPr/>
    </dgm:pt>
    <dgm:pt modelId="{517C4DD2-3B56-42FB-927C-CF3F3772EE49}" type="pres">
      <dgm:prSet presAssocID="{CDDB0649-6C07-4486-BF50-FFBBC3602B94}" presName="node" presStyleLbl="node1" presStyleIdx="4" presStyleCnt="8" custScaleX="58239" custScaleY="26401" custLinFactY="-41590" custLinFactNeighborX="-82969" custLinFactNeighborY="-100000">
        <dgm:presLayoutVars>
          <dgm:bulletEnabled val="1"/>
        </dgm:presLayoutVars>
      </dgm:prSet>
      <dgm:spPr/>
    </dgm:pt>
    <dgm:pt modelId="{E03B8375-3807-4A83-A457-3E87B58C2DC3}" type="pres">
      <dgm:prSet presAssocID="{EE51339E-CFC1-4223-A1EE-38E08BCB8799}" presName="sibTrans" presStyleCnt="0"/>
      <dgm:spPr/>
    </dgm:pt>
    <dgm:pt modelId="{9F7A30B8-E0F0-47C1-BCA9-A4FD52D90FFB}" type="pres">
      <dgm:prSet presAssocID="{4CBDF098-9365-4BD7-9ADB-D258D8E3AB89}" presName="node" presStyleLbl="node1" presStyleIdx="5" presStyleCnt="8" custScaleX="40888" custScaleY="46824" custLinFactX="31252" custLinFactY="-18632" custLinFactNeighborX="100000" custLinFactNeighborY="-100000">
        <dgm:presLayoutVars>
          <dgm:bulletEnabled val="1"/>
        </dgm:presLayoutVars>
      </dgm:prSet>
      <dgm:spPr/>
    </dgm:pt>
    <dgm:pt modelId="{2705C2CF-AA70-44B5-8E97-7DEA6006FE47}" type="pres">
      <dgm:prSet presAssocID="{9074AEC0-97BA-45FE-B8B5-A788C1FE47D9}" presName="sibTrans" presStyleCnt="0"/>
      <dgm:spPr/>
    </dgm:pt>
    <dgm:pt modelId="{D5BE18DE-C958-482D-9807-32825E25007B}" type="pres">
      <dgm:prSet presAssocID="{B304CC7E-BC0F-4B6C-86AD-F37F04C33408}" presName="node" presStyleLbl="node1" presStyleIdx="6" presStyleCnt="8" custScaleX="40888" custScaleY="46824" custLinFactNeighborX="49599" custLinFactNeighborY="-56627">
        <dgm:presLayoutVars>
          <dgm:bulletEnabled val="1"/>
        </dgm:presLayoutVars>
      </dgm:prSet>
      <dgm:spPr/>
    </dgm:pt>
    <dgm:pt modelId="{1E1F2335-5DD4-4D63-AA18-42182132A7AF}" type="pres">
      <dgm:prSet presAssocID="{D3AEDED9-D29E-4625-8DEA-03790D239021}" presName="sibTrans" presStyleCnt="0"/>
      <dgm:spPr/>
    </dgm:pt>
    <dgm:pt modelId="{627AD273-1932-4B91-848D-0C2FF706492C}" type="pres">
      <dgm:prSet presAssocID="{A91E92EA-0796-4710-9130-9224A47A2DCB}" presName="node" presStyleLbl="node1" presStyleIdx="7" presStyleCnt="8" custScaleX="40888" custScaleY="46824" custLinFactNeighborX="58055" custLinFactNeighborY="-58881">
        <dgm:presLayoutVars>
          <dgm:bulletEnabled val="1"/>
        </dgm:presLayoutVars>
      </dgm:prSet>
      <dgm:spPr/>
    </dgm:pt>
  </dgm:ptLst>
  <dgm:cxnLst>
    <dgm:cxn modelId="{072F9703-3B5C-40EF-8405-5018506DB858}" srcId="{44B977FA-2557-4FC7-A0ED-C9494615EC91}" destId="{1B41532A-1D07-4176-BEF6-D1015430E1EF}" srcOrd="2" destOrd="0" parTransId="{65B73AFD-BE63-4B7B-983B-51181F5A2CD6}" sibTransId="{F802D6F0-0636-4C09-A5D3-31F46CF5619C}"/>
    <dgm:cxn modelId="{AC732310-8AC6-4FE1-9E9F-BAB0A7D9DC64}" type="presOf" srcId="{248EB4F0-8B0B-4FEE-9DD9-4480326954D6}" destId="{2BA6171A-43A3-43EB-9DCC-4FA17664C651}" srcOrd="0" destOrd="0" presId="urn:microsoft.com/office/officeart/2005/8/layout/default"/>
    <dgm:cxn modelId="{33B49825-9917-460A-867B-F6EE9B12543D}" type="presOf" srcId="{1B41532A-1D07-4176-BEF6-D1015430E1EF}" destId="{16A867D2-B3CE-4370-B9D2-A96E051A0512}" srcOrd="0" destOrd="0" presId="urn:microsoft.com/office/officeart/2005/8/layout/default"/>
    <dgm:cxn modelId="{2687B12F-ADB6-4113-9360-E8B2BCB99CB8}" type="presOf" srcId="{4607DE99-8A36-4D6B-A259-8C7A72DD8C80}" destId="{35C68F92-AA4E-4868-B0E7-D62D4FE2DC98}" srcOrd="0" destOrd="0" presId="urn:microsoft.com/office/officeart/2005/8/layout/default"/>
    <dgm:cxn modelId="{F06DE039-DD89-4D94-AE58-DAB5A5427B4E}" srcId="{44B977FA-2557-4FC7-A0ED-C9494615EC91}" destId="{CDDB0649-6C07-4486-BF50-FFBBC3602B94}" srcOrd="4" destOrd="0" parTransId="{6BCF4E15-587C-4085-881E-642A7A77D695}" sibTransId="{EE51339E-CFC1-4223-A1EE-38E08BCB8799}"/>
    <dgm:cxn modelId="{DDF4B43C-6224-4992-A874-9964045216D6}" type="presOf" srcId="{CDDB0649-6C07-4486-BF50-FFBBC3602B94}" destId="{517C4DD2-3B56-42FB-927C-CF3F3772EE49}" srcOrd="0" destOrd="0" presId="urn:microsoft.com/office/officeart/2005/8/layout/default"/>
    <dgm:cxn modelId="{22B7DE60-9818-4C10-8283-B80657393ECB}" srcId="{44B977FA-2557-4FC7-A0ED-C9494615EC91}" destId="{248EB4F0-8B0B-4FEE-9DD9-4480326954D6}" srcOrd="3" destOrd="0" parTransId="{9CC5B3F8-A300-4C5C-9D37-BC9A25EFD2FC}" sibTransId="{61134D3C-9343-4F8C-B173-204F2C1C6BFC}"/>
    <dgm:cxn modelId="{BD880B68-125D-42B7-97F0-4F631055E4B1}" type="presOf" srcId="{C7BFE19C-17E2-431F-ADAB-7B5B677159B5}" destId="{62E6C980-ADBE-40EB-BC26-83D430919F77}" srcOrd="0" destOrd="0" presId="urn:microsoft.com/office/officeart/2005/8/layout/default"/>
    <dgm:cxn modelId="{1466C568-7169-4AA4-9D35-4BED84F52D12}" type="presOf" srcId="{4CBDF098-9365-4BD7-9ADB-D258D8E3AB89}" destId="{9F7A30B8-E0F0-47C1-BCA9-A4FD52D90FFB}" srcOrd="0" destOrd="0" presId="urn:microsoft.com/office/officeart/2005/8/layout/default"/>
    <dgm:cxn modelId="{023E326A-9B48-4C5F-9107-B9FFCDA74AA2}" srcId="{44B977FA-2557-4FC7-A0ED-C9494615EC91}" destId="{B304CC7E-BC0F-4B6C-86AD-F37F04C33408}" srcOrd="6" destOrd="0" parTransId="{9121E1C4-3C4A-4976-A4AB-3EA119822719}" sibTransId="{D3AEDED9-D29E-4625-8DEA-03790D239021}"/>
    <dgm:cxn modelId="{EAD5506C-66E6-48CF-BD0B-D4D2B9C37A75}" type="presOf" srcId="{A91E92EA-0796-4710-9130-9224A47A2DCB}" destId="{627AD273-1932-4B91-848D-0C2FF706492C}" srcOrd="0" destOrd="0" presId="urn:microsoft.com/office/officeart/2005/8/layout/default"/>
    <dgm:cxn modelId="{A69CDE73-1581-4205-B03D-9BC08A829491}" srcId="{44B977FA-2557-4FC7-A0ED-C9494615EC91}" destId="{4CBDF098-9365-4BD7-9ADB-D258D8E3AB89}" srcOrd="5" destOrd="0" parTransId="{AB9FAB03-BA6C-4357-BB6C-80187DB67249}" sibTransId="{9074AEC0-97BA-45FE-B8B5-A788C1FE47D9}"/>
    <dgm:cxn modelId="{8135EC9E-EFC2-480E-813D-15897E6190DB}" srcId="{44B977FA-2557-4FC7-A0ED-C9494615EC91}" destId="{4607DE99-8A36-4D6B-A259-8C7A72DD8C80}" srcOrd="0" destOrd="0" parTransId="{B800FC46-638C-4E2A-B804-05C9FCF1668A}" sibTransId="{A5886DB7-74CA-4579-8CC4-554FD68E286F}"/>
    <dgm:cxn modelId="{47DB629F-3655-429D-999A-175D6AF3F551}" srcId="{44B977FA-2557-4FC7-A0ED-C9494615EC91}" destId="{C7BFE19C-17E2-431F-ADAB-7B5B677159B5}" srcOrd="1" destOrd="0" parTransId="{B35E9C40-C937-4335-8378-59A87CA65440}" sibTransId="{19E9F4CF-BD86-417D-8A79-70A0142A2B0C}"/>
    <dgm:cxn modelId="{EF0132E7-DB9D-4CA5-8F78-BD3232B80698}" type="presOf" srcId="{B304CC7E-BC0F-4B6C-86AD-F37F04C33408}" destId="{D5BE18DE-C958-482D-9807-32825E25007B}" srcOrd="0" destOrd="0" presId="urn:microsoft.com/office/officeart/2005/8/layout/default"/>
    <dgm:cxn modelId="{1D0B81EF-13DE-4E6A-B3A8-159443C380D7}" type="presOf" srcId="{44B977FA-2557-4FC7-A0ED-C9494615EC91}" destId="{F0293B0A-69F6-4C6A-B7D5-6E6BE6043582}" srcOrd="0" destOrd="0" presId="urn:microsoft.com/office/officeart/2005/8/layout/default"/>
    <dgm:cxn modelId="{7ED500F2-5ADB-47AC-A488-180053CF4603}" srcId="{44B977FA-2557-4FC7-A0ED-C9494615EC91}" destId="{A91E92EA-0796-4710-9130-9224A47A2DCB}" srcOrd="7" destOrd="0" parTransId="{EE12E85C-5BB1-459B-8178-21AD577E459D}" sibTransId="{EDC9BCBD-BBBF-44D7-8428-C00A7CB18A4E}"/>
    <dgm:cxn modelId="{F7420B77-3F3F-4C12-9C6C-BDFBDDBC7BA3}" type="presParOf" srcId="{F0293B0A-69F6-4C6A-B7D5-6E6BE6043582}" destId="{35C68F92-AA4E-4868-B0E7-D62D4FE2DC98}" srcOrd="0" destOrd="0" presId="urn:microsoft.com/office/officeart/2005/8/layout/default"/>
    <dgm:cxn modelId="{C616A12B-A90E-4BA8-8B1A-D1068DFDD84B}" type="presParOf" srcId="{F0293B0A-69F6-4C6A-B7D5-6E6BE6043582}" destId="{3B6A7197-9DE3-44F5-975E-E07E1007F48E}" srcOrd="1" destOrd="0" presId="urn:microsoft.com/office/officeart/2005/8/layout/default"/>
    <dgm:cxn modelId="{F065ED81-1DEA-4ACE-A27D-36C31015F5D4}" type="presParOf" srcId="{F0293B0A-69F6-4C6A-B7D5-6E6BE6043582}" destId="{62E6C980-ADBE-40EB-BC26-83D430919F77}" srcOrd="2" destOrd="0" presId="urn:microsoft.com/office/officeart/2005/8/layout/default"/>
    <dgm:cxn modelId="{1A08FD82-3700-4C9C-8D1E-24CFE8DAF3DC}" type="presParOf" srcId="{F0293B0A-69F6-4C6A-B7D5-6E6BE6043582}" destId="{854543F4-0A93-4EEF-849F-113F44914257}" srcOrd="3" destOrd="0" presId="urn:microsoft.com/office/officeart/2005/8/layout/default"/>
    <dgm:cxn modelId="{3DB12941-B48C-4564-ABDD-CE796D572849}" type="presParOf" srcId="{F0293B0A-69F6-4C6A-B7D5-6E6BE6043582}" destId="{16A867D2-B3CE-4370-B9D2-A96E051A0512}" srcOrd="4" destOrd="0" presId="urn:microsoft.com/office/officeart/2005/8/layout/default"/>
    <dgm:cxn modelId="{6B15F275-314A-44DC-8A71-15AABCE46849}" type="presParOf" srcId="{F0293B0A-69F6-4C6A-B7D5-6E6BE6043582}" destId="{BA74784C-158D-4FED-80D4-66D28186ABAB}" srcOrd="5" destOrd="0" presId="urn:microsoft.com/office/officeart/2005/8/layout/default"/>
    <dgm:cxn modelId="{E9E361E4-C981-46E0-85C4-534114B4CD57}" type="presParOf" srcId="{F0293B0A-69F6-4C6A-B7D5-6E6BE6043582}" destId="{2BA6171A-43A3-43EB-9DCC-4FA17664C651}" srcOrd="6" destOrd="0" presId="urn:microsoft.com/office/officeart/2005/8/layout/default"/>
    <dgm:cxn modelId="{33450FFF-19B1-49FA-8D04-AA730B49E344}" type="presParOf" srcId="{F0293B0A-69F6-4C6A-B7D5-6E6BE6043582}" destId="{E62D8F6E-CB3A-4379-A160-61B3200508AB}" srcOrd="7" destOrd="0" presId="urn:microsoft.com/office/officeart/2005/8/layout/default"/>
    <dgm:cxn modelId="{02CE451B-FA66-459D-AF98-113133BBF259}" type="presParOf" srcId="{F0293B0A-69F6-4C6A-B7D5-6E6BE6043582}" destId="{517C4DD2-3B56-42FB-927C-CF3F3772EE49}" srcOrd="8" destOrd="0" presId="urn:microsoft.com/office/officeart/2005/8/layout/default"/>
    <dgm:cxn modelId="{09242CFC-C727-445B-9E43-CB57E1C6F4CE}" type="presParOf" srcId="{F0293B0A-69F6-4C6A-B7D5-6E6BE6043582}" destId="{E03B8375-3807-4A83-A457-3E87B58C2DC3}" srcOrd="9" destOrd="0" presId="urn:microsoft.com/office/officeart/2005/8/layout/default"/>
    <dgm:cxn modelId="{1662A68F-BAB4-44BF-95FF-669F348BFF20}" type="presParOf" srcId="{F0293B0A-69F6-4C6A-B7D5-6E6BE6043582}" destId="{9F7A30B8-E0F0-47C1-BCA9-A4FD52D90FFB}" srcOrd="10" destOrd="0" presId="urn:microsoft.com/office/officeart/2005/8/layout/default"/>
    <dgm:cxn modelId="{5344BB71-9104-46A2-90E3-63566673626B}" type="presParOf" srcId="{F0293B0A-69F6-4C6A-B7D5-6E6BE6043582}" destId="{2705C2CF-AA70-44B5-8E97-7DEA6006FE47}" srcOrd="11" destOrd="0" presId="urn:microsoft.com/office/officeart/2005/8/layout/default"/>
    <dgm:cxn modelId="{7DEEDC7D-02DC-4AA5-8A98-FCDF36D86246}" type="presParOf" srcId="{F0293B0A-69F6-4C6A-B7D5-6E6BE6043582}" destId="{D5BE18DE-C958-482D-9807-32825E25007B}" srcOrd="12" destOrd="0" presId="urn:microsoft.com/office/officeart/2005/8/layout/default"/>
    <dgm:cxn modelId="{8A21ECC8-A150-41FE-BB7A-688A9D7CA5BD}" type="presParOf" srcId="{F0293B0A-69F6-4C6A-B7D5-6E6BE6043582}" destId="{1E1F2335-5DD4-4D63-AA18-42182132A7AF}" srcOrd="13" destOrd="0" presId="urn:microsoft.com/office/officeart/2005/8/layout/default"/>
    <dgm:cxn modelId="{DBB70423-D010-4BD8-939E-3864DBA3B99C}" type="presParOf" srcId="{F0293B0A-69F6-4C6A-B7D5-6E6BE6043582}" destId="{627AD273-1932-4B91-848D-0C2FF706492C}"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A159C0-D49F-46AD-A287-F46AB37B9D6B}">
      <dsp:nvSpPr>
        <dsp:cNvPr id="0" name=""/>
        <dsp:cNvSpPr/>
      </dsp:nvSpPr>
      <dsp:spPr>
        <a:xfrm>
          <a:off x="0" y="1992"/>
          <a:ext cx="6090162" cy="15116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0" i="0" kern="1200" baseline="0"/>
            <a:t>Set of values that gives </a:t>
          </a:r>
          <a:r>
            <a:rPr lang="en-US" sz="3800" b="1" i="0" kern="1200" baseline="0"/>
            <a:t>priority to</a:t>
          </a:r>
          <a:endParaRPr lang="en-US" sz="3800" kern="1200"/>
        </a:p>
      </dsp:txBody>
      <dsp:txXfrm>
        <a:off x="73792" y="75784"/>
        <a:ext cx="5942578" cy="1364056"/>
      </dsp:txXfrm>
    </dsp:sp>
    <dsp:sp modelId="{1E2F7561-60C6-4E00-A5F8-AC947EB2CD1A}">
      <dsp:nvSpPr>
        <dsp:cNvPr id="0" name=""/>
        <dsp:cNvSpPr/>
      </dsp:nvSpPr>
      <dsp:spPr>
        <a:xfrm>
          <a:off x="0" y="1513633"/>
          <a:ext cx="6090162" cy="3539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363" tIns="48260" rIns="270256" bIns="48260" numCol="1" spcCol="1270" anchor="t" anchorCtr="0">
          <a:noAutofit/>
        </a:bodyPr>
        <a:lstStyle/>
        <a:p>
          <a:pPr marL="285750" lvl="1" indent="-285750" algn="l" defTabSz="1333500">
            <a:lnSpc>
              <a:spcPct val="90000"/>
            </a:lnSpc>
            <a:spcBef>
              <a:spcPct val="0"/>
            </a:spcBef>
            <a:spcAft>
              <a:spcPct val="20000"/>
            </a:spcAft>
            <a:buChar char="•"/>
          </a:pPr>
          <a:r>
            <a:rPr lang="en-US" sz="3000" b="1" i="0" kern="1200" baseline="0"/>
            <a:t>ethics</a:t>
          </a:r>
          <a:r>
            <a:rPr lang="en-US" sz="3000" b="0" i="0" kern="1200" baseline="0"/>
            <a:t> </a:t>
          </a:r>
          <a:endParaRPr lang="en-US" sz="3000" kern="1200"/>
        </a:p>
        <a:p>
          <a:pPr marL="285750" lvl="1" indent="-285750" algn="l" defTabSz="1333500">
            <a:lnSpc>
              <a:spcPct val="90000"/>
            </a:lnSpc>
            <a:spcBef>
              <a:spcPct val="0"/>
            </a:spcBef>
            <a:spcAft>
              <a:spcPct val="20000"/>
            </a:spcAft>
            <a:buChar char="•"/>
          </a:pPr>
          <a:r>
            <a:rPr lang="en-US" sz="3000" b="1" i="0" kern="1200" baseline="0"/>
            <a:t>ecological choices</a:t>
          </a:r>
          <a:r>
            <a:rPr lang="en-US" sz="3000" b="0" i="0" kern="1200" baseline="0"/>
            <a:t>, </a:t>
          </a:r>
          <a:endParaRPr lang="en-US" sz="3000" kern="1200"/>
        </a:p>
        <a:p>
          <a:pPr marL="285750" lvl="1" indent="-285750" algn="l" defTabSz="1333500">
            <a:lnSpc>
              <a:spcPct val="90000"/>
            </a:lnSpc>
            <a:spcBef>
              <a:spcPct val="0"/>
            </a:spcBef>
            <a:spcAft>
              <a:spcPct val="20000"/>
            </a:spcAft>
            <a:buChar char="•"/>
          </a:pPr>
          <a:r>
            <a:rPr lang="en-US" sz="3000" b="1" i="0" kern="1200" baseline="0"/>
            <a:t>social utility</a:t>
          </a:r>
          <a:r>
            <a:rPr lang="en-US" sz="3000" b="0" i="0" kern="1200" baseline="0"/>
            <a:t>, </a:t>
          </a:r>
          <a:endParaRPr lang="en-US" sz="3000" kern="1200"/>
        </a:p>
        <a:p>
          <a:pPr marL="285750" lvl="1" indent="-285750" algn="l" defTabSz="1333500">
            <a:lnSpc>
              <a:spcPct val="90000"/>
            </a:lnSpc>
            <a:spcBef>
              <a:spcPct val="0"/>
            </a:spcBef>
            <a:spcAft>
              <a:spcPct val="20000"/>
            </a:spcAft>
            <a:buChar char="•"/>
          </a:pPr>
          <a:r>
            <a:rPr lang="en-US" sz="3000" b="1" i="0" kern="1200" baseline="0"/>
            <a:t>public interest</a:t>
          </a:r>
          <a:r>
            <a:rPr lang="en-US" sz="3000" b="0" i="0" kern="1200" baseline="0"/>
            <a:t>, </a:t>
          </a:r>
          <a:endParaRPr lang="en-US" sz="3000" kern="1200"/>
        </a:p>
        <a:p>
          <a:pPr marL="285750" lvl="1" indent="-285750" algn="l" defTabSz="1333500">
            <a:lnSpc>
              <a:spcPct val="90000"/>
            </a:lnSpc>
            <a:spcBef>
              <a:spcPct val="0"/>
            </a:spcBef>
            <a:spcAft>
              <a:spcPct val="20000"/>
            </a:spcAft>
            <a:buChar char="•"/>
          </a:pPr>
          <a:r>
            <a:rPr lang="en-US" sz="3000" b="1" i="0" kern="1200" baseline="0"/>
            <a:t>local development</a:t>
          </a:r>
          <a:r>
            <a:rPr lang="en-US" sz="3000" b="0" i="0" kern="1200" baseline="0"/>
            <a:t>,</a:t>
          </a:r>
          <a:endParaRPr lang="en-US" sz="3000" kern="1200"/>
        </a:p>
        <a:p>
          <a:pPr marL="285750" lvl="1" indent="-285750" algn="l" defTabSz="1333500">
            <a:lnSpc>
              <a:spcPct val="90000"/>
            </a:lnSpc>
            <a:spcBef>
              <a:spcPct val="0"/>
            </a:spcBef>
            <a:spcAft>
              <a:spcPct val="20000"/>
            </a:spcAft>
            <a:buChar char="•"/>
          </a:pPr>
          <a:r>
            <a:rPr lang="en-US" sz="3000" b="1" i="0" kern="1200" baseline="0"/>
            <a:t>long-term returns </a:t>
          </a:r>
          <a:r>
            <a:rPr lang="en-US" sz="3000" b="0" i="0" kern="1200" baseline="0"/>
            <a:t>over short-term profit maximization</a:t>
          </a:r>
          <a:endParaRPr lang="en-US" sz="3000" kern="1200"/>
        </a:p>
      </dsp:txBody>
      <dsp:txXfrm>
        <a:off x="0" y="1513633"/>
        <a:ext cx="6090162" cy="35396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C3F8A-C4C7-4B95-AE7D-76FC3266FAB8}">
      <dsp:nvSpPr>
        <dsp:cNvPr id="0" name=""/>
        <dsp:cNvSpPr/>
      </dsp:nvSpPr>
      <dsp:spPr>
        <a:xfrm>
          <a:off x="3384" y="0"/>
          <a:ext cx="5418667" cy="5418667"/>
        </a:xfrm>
        <a:prstGeom prst="ellipse">
          <a:avLst/>
        </a:prstGeom>
        <a:solidFill>
          <a:schemeClr val="accent6">
            <a:shade val="50000"/>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r-FR" sz="2000" b="1" kern="1200" dirty="0">
              <a:latin typeface="Calibri" panose="020F0502020204030204"/>
            </a:rPr>
            <a:t>Offensive/</a:t>
          </a:r>
          <a:r>
            <a:rPr lang="fr-FR" sz="2000" b="1" kern="1200" dirty="0" err="1">
              <a:latin typeface="Calibri" panose="020F0502020204030204"/>
            </a:rPr>
            <a:t>Sustainable</a:t>
          </a:r>
          <a:r>
            <a:rPr lang="fr-FR" sz="2000" b="1" kern="1200" dirty="0"/>
            <a:t> </a:t>
          </a:r>
          <a:r>
            <a:rPr lang="fr-FR" sz="2000" b="1" kern="1200" dirty="0" err="1"/>
            <a:t>banking</a:t>
          </a:r>
          <a:endParaRPr lang="fr-FR" sz="2000" b="1" kern="1200" dirty="0"/>
        </a:p>
      </dsp:txBody>
      <dsp:txXfrm>
        <a:off x="1955188" y="270933"/>
        <a:ext cx="1515059" cy="812800"/>
      </dsp:txXfrm>
    </dsp:sp>
    <dsp:sp modelId="{FBB3CB33-2299-4E45-88C7-D0774E68A6DC}">
      <dsp:nvSpPr>
        <dsp:cNvPr id="0" name=""/>
        <dsp:cNvSpPr/>
      </dsp:nvSpPr>
      <dsp:spPr>
        <a:xfrm>
          <a:off x="545251" y="1083733"/>
          <a:ext cx="4334933" cy="4334933"/>
        </a:xfrm>
        <a:prstGeom prst="ellipse">
          <a:avLst/>
        </a:prstGeom>
        <a:solidFill>
          <a:schemeClr val="accent6">
            <a:shade val="50000"/>
            <a:hueOff val="-102119"/>
            <a:satOff val="-2847"/>
            <a:lumOff val="20631"/>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endParaRPr lang="fr-FR" sz="2100" b="1" kern="1200" dirty="0"/>
        </a:p>
      </dsp:txBody>
      <dsp:txXfrm>
        <a:off x="1955188" y="1343829"/>
        <a:ext cx="1515059" cy="780288"/>
      </dsp:txXfrm>
    </dsp:sp>
    <dsp:sp modelId="{3E4E1781-FB2C-41C1-98E5-0F452B429C09}">
      <dsp:nvSpPr>
        <dsp:cNvPr id="0" name=""/>
        <dsp:cNvSpPr/>
      </dsp:nvSpPr>
      <dsp:spPr>
        <a:xfrm>
          <a:off x="1087118" y="2167466"/>
          <a:ext cx="3251200" cy="3251200"/>
        </a:xfrm>
        <a:prstGeom prst="ellipse">
          <a:avLst/>
        </a:prstGeom>
        <a:solidFill>
          <a:schemeClr val="accent6">
            <a:shade val="50000"/>
            <a:hueOff val="-204237"/>
            <a:satOff val="-5694"/>
            <a:lumOff val="41263"/>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fr-FR" sz="2100" b="1" kern="1200" dirty="0" err="1"/>
            <a:t>Preventive</a:t>
          </a:r>
          <a:r>
            <a:rPr lang="fr-FR" sz="2100" b="1" kern="1200" dirty="0"/>
            <a:t> Banking</a:t>
          </a:r>
        </a:p>
      </dsp:txBody>
      <dsp:txXfrm>
        <a:off x="1955188" y="2411306"/>
        <a:ext cx="1515059" cy="731520"/>
      </dsp:txXfrm>
    </dsp:sp>
    <dsp:sp modelId="{66F1711D-38C7-492C-AC03-59E17BDBF440}">
      <dsp:nvSpPr>
        <dsp:cNvPr id="0" name=""/>
        <dsp:cNvSpPr/>
      </dsp:nvSpPr>
      <dsp:spPr>
        <a:xfrm>
          <a:off x="1628985" y="3251200"/>
          <a:ext cx="2167466" cy="2167466"/>
        </a:xfrm>
        <a:prstGeom prst="ellipse">
          <a:avLst/>
        </a:prstGeom>
        <a:solidFill>
          <a:schemeClr val="accent6">
            <a:shade val="50000"/>
            <a:hueOff val="-102119"/>
            <a:satOff val="-2847"/>
            <a:lumOff val="20631"/>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fr-FR" sz="2100" b="1" kern="1200" dirty="0" err="1"/>
            <a:t>Defensive</a:t>
          </a:r>
          <a:r>
            <a:rPr lang="fr-FR" sz="2100" b="1" kern="1200" dirty="0"/>
            <a:t> Banking</a:t>
          </a:r>
        </a:p>
      </dsp:txBody>
      <dsp:txXfrm>
        <a:off x="1946403" y="3793066"/>
        <a:ext cx="1532630" cy="10837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C68F92-AA4E-4868-B0E7-D62D4FE2DC98}">
      <dsp:nvSpPr>
        <dsp:cNvPr id="0" name=""/>
        <dsp:cNvSpPr/>
      </dsp:nvSpPr>
      <dsp:spPr>
        <a:xfrm>
          <a:off x="1481205" y="627542"/>
          <a:ext cx="2210058" cy="8503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Active </a:t>
          </a:r>
          <a:r>
            <a:rPr lang="fr-FR" sz="2000" kern="1200" dirty="0" err="1"/>
            <a:t>Strategy</a:t>
          </a:r>
          <a:endParaRPr lang="fr-FR" sz="2000" kern="1200" dirty="0"/>
        </a:p>
      </dsp:txBody>
      <dsp:txXfrm>
        <a:off x="1481205" y="627542"/>
        <a:ext cx="2210058" cy="850323"/>
      </dsp:txXfrm>
    </dsp:sp>
    <dsp:sp modelId="{62E6C980-ADBE-40EB-BC26-83D430919F77}">
      <dsp:nvSpPr>
        <dsp:cNvPr id="0" name=""/>
        <dsp:cNvSpPr/>
      </dsp:nvSpPr>
      <dsp:spPr>
        <a:xfrm>
          <a:off x="4420965" y="642557"/>
          <a:ext cx="2371795" cy="68491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Passive </a:t>
          </a:r>
          <a:r>
            <a:rPr lang="fr-FR" sz="2000" kern="1200" dirty="0" err="1"/>
            <a:t>Strategy</a:t>
          </a:r>
          <a:endParaRPr lang="fr-FR" sz="2000" kern="1200" dirty="0"/>
        </a:p>
      </dsp:txBody>
      <dsp:txXfrm>
        <a:off x="4420965" y="642557"/>
        <a:ext cx="2371795" cy="684917"/>
      </dsp:txXfrm>
    </dsp:sp>
    <dsp:sp modelId="{16A867D2-B3CE-4370-B9D2-A96E051A0512}">
      <dsp:nvSpPr>
        <dsp:cNvPr id="0" name=""/>
        <dsp:cNvSpPr/>
      </dsp:nvSpPr>
      <dsp:spPr>
        <a:xfrm>
          <a:off x="423683" y="2709343"/>
          <a:ext cx="3218656" cy="19311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err="1"/>
            <a:t>Shareholder</a:t>
          </a:r>
          <a:r>
            <a:rPr lang="fr-FR" sz="2000" kern="1200" dirty="0"/>
            <a:t> engagement/ </a:t>
          </a:r>
          <a:r>
            <a:rPr lang="fr-FR" sz="2000" kern="1200" dirty="0" err="1"/>
            <a:t>Shareholder</a:t>
          </a:r>
          <a:r>
            <a:rPr lang="fr-FR" sz="2000" kern="1200" dirty="0"/>
            <a:t> </a:t>
          </a:r>
          <a:r>
            <a:rPr lang="fr-FR" sz="2000" kern="1200" dirty="0" err="1"/>
            <a:t>Activism</a:t>
          </a:r>
          <a:endParaRPr lang="fr-FR" sz="2000" kern="1200" dirty="0"/>
        </a:p>
      </dsp:txBody>
      <dsp:txXfrm>
        <a:off x="423683" y="2709343"/>
        <a:ext cx="3218656" cy="1931193"/>
      </dsp:txXfrm>
    </dsp:sp>
    <dsp:sp modelId="{2BA6171A-43A3-43EB-9DCC-4FA17664C651}">
      <dsp:nvSpPr>
        <dsp:cNvPr id="0" name=""/>
        <dsp:cNvSpPr/>
      </dsp:nvSpPr>
      <dsp:spPr>
        <a:xfrm>
          <a:off x="4242233" y="1702727"/>
          <a:ext cx="1316044" cy="9042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err="1"/>
            <a:t>Negative</a:t>
          </a:r>
          <a:r>
            <a:rPr lang="fr-FR" sz="2000" kern="1200" dirty="0"/>
            <a:t> Screening</a:t>
          </a:r>
        </a:p>
      </dsp:txBody>
      <dsp:txXfrm>
        <a:off x="4242233" y="1702727"/>
        <a:ext cx="1316044" cy="904262"/>
      </dsp:txXfrm>
    </dsp:sp>
    <dsp:sp modelId="{517C4DD2-3B56-42FB-927C-CF3F3772EE49}">
      <dsp:nvSpPr>
        <dsp:cNvPr id="0" name=""/>
        <dsp:cNvSpPr/>
      </dsp:nvSpPr>
      <dsp:spPr>
        <a:xfrm>
          <a:off x="3045472" y="0"/>
          <a:ext cx="1874513" cy="50985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SRI </a:t>
          </a:r>
          <a:r>
            <a:rPr lang="fr-FR" sz="2000" kern="1200" dirty="0" err="1"/>
            <a:t>Universe</a:t>
          </a:r>
          <a:endParaRPr lang="fr-FR" sz="2000" kern="1200" dirty="0"/>
        </a:p>
      </dsp:txBody>
      <dsp:txXfrm>
        <a:off x="3045472" y="0"/>
        <a:ext cx="1874513" cy="509854"/>
      </dsp:txXfrm>
    </dsp:sp>
    <dsp:sp modelId="{9F7A30B8-E0F0-47C1-BCA9-A4FD52D90FFB}">
      <dsp:nvSpPr>
        <dsp:cNvPr id="0" name=""/>
        <dsp:cNvSpPr/>
      </dsp:nvSpPr>
      <dsp:spPr>
        <a:xfrm>
          <a:off x="5992618" y="1678813"/>
          <a:ext cx="1316044" cy="9042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Positive Screening</a:t>
          </a:r>
        </a:p>
      </dsp:txBody>
      <dsp:txXfrm>
        <a:off x="5992618" y="1678813"/>
        <a:ext cx="1316044" cy="904262"/>
      </dsp:txXfrm>
    </dsp:sp>
    <dsp:sp modelId="{D5BE18DE-C958-482D-9807-32825E25007B}">
      <dsp:nvSpPr>
        <dsp:cNvPr id="0" name=""/>
        <dsp:cNvSpPr/>
      </dsp:nvSpPr>
      <dsp:spPr>
        <a:xfrm>
          <a:off x="5002399" y="2876249"/>
          <a:ext cx="1316044" cy="9042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err="1"/>
            <a:t>Thematic</a:t>
          </a:r>
          <a:r>
            <a:rPr lang="fr-FR" sz="2000" kern="1200" dirty="0"/>
            <a:t> Funds</a:t>
          </a:r>
        </a:p>
      </dsp:txBody>
      <dsp:txXfrm>
        <a:off x="5002399" y="2876249"/>
        <a:ext cx="1316044" cy="904262"/>
      </dsp:txXfrm>
    </dsp:sp>
    <dsp:sp modelId="{627AD273-1932-4B91-848D-0C2FF706492C}">
      <dsp:nvSpPr>
        <dsp:cNvPr id="0" name=""/>
        <dsp:cNvSpPr/>
      </dsp:nvSpPr>
      <dsp:spPr>
        <a:xfrm>
          <a:off x="6811955" y="2832720"/>
          <a:ext cx="1316044" cy="9042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Best in Class</a:t>
          </a:r>
        </a:p>
      </dsp:txBody>
      <dsp:txXfrm>
        <a:off x="6811955" y="2832720"/>
        <a:ext cx="1316044" cy="9042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8808-26D1-4F4B-96F4-F3082078DD61}"/>
              </a:ext>
            </a:extLst>
          </p:cNvPr>
          <p:cNvSpPr>
            <a:spLocks noGrp="1"/>
          </p:cNvSpPr>
          <p:nvPr>
            <p:ph type="ctrTitle"/>
          </p:nvPr>
        </p:nvSpPr>
        <p:spPr>
          <a:xfrm>
            <a:off x="1257008" y="1122365"/>
            <a:ext cx="8816633" cy="3571557"/>
          </a:xfrm>
        </p:spPr>
        <p:txBody>
          <a:bodyPr anchor="b">
            <a:normAutofit/>
          </a:bodyPr>
          <a:lstStyle>
            <a:lvl1pPr algn="l">
              <a:defRPr sz="5401"/>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2E0C639-B0CD-4365-98A9-C1E5FF6CF450}"/>
              </a:ext>
            </a:extLst>
          </p:cNvPr>
          <p:cNvSpPr>
            <a:spLocks noGrp="1"/>
          </p:cNvSpPr>
          <p:nvPr>
            <p:ph type="subTitle" idx="1"/>
          </p:nvPr>
        </p:nvSpPr>
        <p:spPr>
          <a:xfrm>
            <a:off x="1257008" y="5521963"/>
            <a:ext cx="8816633" cy="944879"/>
          </a:xfrm>
        </p:spPr>
        <p:txBody>
          <a:bodyPr anchor="ctr">
            <a:normAutofit/>
          </a:bodyPr>
          <a:lstStyle>
            <a:lvl1pPr marL="0" indent="0" algn="l">
              <a:buNone/>
              <a:defRPr sz="2000"/>
            </a:lvl1pPr>
            <a:lvl2pPr marL="457217" indent="0" algn="ctr">
              <a:buNone/>
              <a:defRPr sz="2000"/>
            </a:lvl2pPr>
            <a:lvl3pPr marL="914433" indent="0" algn="ctr">
              <a:buNone/>
              <a:defRPr sz="1801"/>
            </a:lvl3pPr>
            <a:lvl4pPr marL="1371652" indent="0" algn="ctr">
              <a:buNone/>
              <a:defRPr sz="1600"/>
            </a:lvl4pPr>
            <a:lvl5pPr marL="1828869" indent="0" algn="ctr">
              <a:buNone/>
              <a:defRPr sz="1600"/>
            </a:lvl5pPr>
            <a:lvl6pPr marL="2286086" indent="0" algn="ctr">
              <a:buNone/>
              <a:defRPr sz="1600"/>
            </a:lvl6pPr>
            <a:lvl7pPr marL="2743302" indent="0" algn="ctr">
              <a:buNone/>
              <a:defRPr sz="1600"/>
            </a:lvl7pPr>
            <a:lvl8pPr marL="3200521" indent="0" algn="ctr">
              <a:buNone/>
              <a:defRPr sz="1600"/>
            </a:lvl8pPr>
            <a:lvl9pPr marL="3657738"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6780C52-E6BB-4B27-B5D8-2D33B2497C56}"/>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5" name="Footer Placeholder 4">
            <a:extLst>
              <a:ext uri="{FF2B5EF4-FFF2-40B4-BE49-F238E27FC236}">
                <a16:creationId xmlns:a16="http://schemas.microsoft.com/office/drawing/2014/main" id="{AF77C649-4A0C-4EF2-8FC1-2BCF0BF9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E03F2-D0FE-49BB-8AEC-E99C4DB2D67D}"/>
              </a:ext>
            </a:extLst>
          </p:cNvPr>
          <p:cNvSpPr>
            <a:spLocks noGrp="1"/>
          </p:cNvSpPr>
          <p:nvPr>
            <p:ph type="sldNum" sz="quarter" idx="12"/>
          </p:nvPr>
        </p:nvSpPr>
        <p:spPr/>
        <p:txBody>
          <a:bodyPr/>
          <a:lstStyle/>
          <a:p>
            <a:fld id="{3109D357-8067-4A1F-97B2-93C5160B78D9}" type="slidenum">
              <a:rPr lang="en-US" smtClean="0"/>
              <a:t>‹N°›</a:t>
            </a:fld>
            <a:endParaRPr lang="en-US"/>
          </a:p>
        </p:txBody>
      </p:sp>
      <p:cxnSp>
        <p:nvCxnSpPr>
          <p:cNvPr id="16" name="Straight Connector 15">
            <a:extLst>
              <a:ext uri="{FF2B5EF4-FFF2-40B4-BE49-F238E27FC236}">
                <a16:creationId xmlns:a16="http://schemas.microsoft.com/office/drawing/2014/main" id="{24A7CC8F-56A6-423D-B67A-8BA89D3EC91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0416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p>
            <a:fld id="{3109D357-8067-4A1F-97B2-93C5160B78D9}" type="slidenum">
              <a:rPr lang="en-US" smtClean="0"/>
              <a:t>‹N°›</a:t>
            </a:fld>
            <a:endParaRPr lang="en-US"/>
          </a:p>
        </p:txBody>
      </p:sp>
    </p:spTree>
    <p:extLst>
      <p:ext uri="{BB962C8B-B14F-4D97-AF65-F5344CB8AC3E}">
        <p14:creationId xmlns:p14="http://schemas.microsoft.com/office/powerpoint/2010/main" val="314594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F01F-198D-4AAD-B4FB-AD3B44981ADD}"/>
              </a:ext>
            </a:extLst>
          </p:cNvPr>
          <p:cNvSpPr>
            <a:spLocks noGrp="1"/>
          </p:cNvSpPr>
          <p:nvPr>
            <p:ph type="title"/>
          </p:nvPr>
        </p:nvSpPr>
        <p:spPr>
          <a:xfrm>
            <a:off x="838205" y="838200"/>
            <a:ext cx="9438640" cy="4114800"/>
          </a:xfrm>
        </p:spPr>
        <p:txBody>
          <a:bodyPr anchor="t">
            <a:normAutofit/>
          </a:bodyPr>
          <a:lstStyle>
            <a:lvl1pPr>
              <a:defRPr sz="6601"/>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BCC2B-311B-4FB6-B3A5-26F68055AE38}"/>
              </a:ext>
            </a:extLst>
          </p:cNvPr>
          <p:cNvSpPr>
            <a:spLocks noGrp="1"/>
          </p:cNvSpPr>
          <p:nvPr>
            <p:ph type="body" idx="1"/>
          </p:nvPr>
        </p:nvSpPr>
        <p:spPr>
          <a:xfrm>
            <a:off x="838205" y="5217160"/>
            <a:ext cx="9438640" cy="802640"/>
          </a:xfrm>
        </p:spPr>
        <p:txBody>
          <a:bodyPr anchor="b">
            <a:normAutofit/>
          </a:bodyPr>
          <a:lstStyle>
            <a:lvl1pPr marL="0" indent="0">
              <a:buNone/>
              <a:defRPr sz="2000">
                <a:solidFill>
                  <a:schemeClr val="tx1"/>
                </a:solidFill>
              </a:defRPr>
            </a:lvl1pPr>
            <a:lvl2pPr marL="457217" indent="0">
              <a:buNone/>
              <a:defRPr sz="2000">
                <a:solidFill>
                  <a:schemeClr val="tx1">
                    <a:tint val="75000"/>
                  </a:schemeClr>
                </a:solidFill>
              </a:defRPr>
            </a:lvl2pPr>
            <a:lvl3pPr marL="914433" indent="0">
              <a:buNone/>
              <a:defRPr sz="1801">
                <a:solidFill>
                  <a:schemeClr val="tx1">
                    <a:tint val="75000"/>
                  </a:schemeClr>
                </a:solidFill>
              </a:defRPr>
            </a:lvl3pPr>
            <a:lvl4pPr marL="1371652" indent="0">
              <a:buNone/>
              <a:defRPr sz="1600">
                <a:solidFill>
                  <a:schemeClr val="tx1">
                    <a:tint val="75000"/>
                  </a:schemeClr>
                </a:solidFill>
              </a:defRPr>
            </a:lvl4pPr>
            <a:lvl5pPr marL="1828869" indent="0">
              <a:buNone/>
              <a:defRPr sz="1600">
                <a:solidFill>
                  <a:schemeClr val="tx1">
                    <a:tint val="75000"/>
                  </a:schemeClr>
                </a:solidFill>
              </a:defRPr>
            </a:lvl5pPr>
            <a:lvl6pPr marL="2286086" indent="0">
              <a:buNone/>
              <a:defRPr sz="1600">
                <a:solidFill>
                  <a:schemeClr val="tx1">
                    <a:tint val="75000"/>
                  </a:schemeClr>
                </a:solidFill>
              </a:defRPr>
            </a:lvl6pPr>
            <a:lvl7pPr marL="2743302" indent="0">
              <a:buNone/>
              <a:defRPr sz="1600">
                <a:solidFill>
                  <a:schemeClr val="tx1">
                    <a:tint val="75000"/>
                  </a:schemeClr>
                </a:solidFill>
              </a:defRPr>
            </a:lvl7pPr>
            <a:lvl8pPr marL="3200521" indent="0">
              <a:buNone/>
              <a:defRPr sz="1600">
                <a:solidFill>
                  <a:schemeClr val="tx1">
                    <a:tint val="75000"/>
                  </a:schemeClr>
                </a:solidFill>
              </a:defRPr>
            </a:lvl8pPr>
            <a:lvl9pPr marL="3657738"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9CB73D-2D6B-4FA6-89A4-DCC89F80E0F1}"/>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5" name="Footer Placeholder 4">
            <a:extLst>
              <a:ext uri="{FF2B5EF4-FFF2-40B4-BE49-F238E27FC236}">
                <a16:creationId xmlns:a16="http://schemas.microsoft.com/office/drawing/2014/main" id="{B6A0C188-FF43-44C1-A005-679168D5F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D1188-DA27-47B2-8176-31193EEC4C28}"/>
              </a:ext>
            </a:extLst>
          </p:cNvPr>
          <p:cNvSpPr>
            <a:spLocks noGrp="1"/>
          </p:cNvSpPr>
          <p:nvPr>
            <p:ph type="sldNum" sz="quarter" idx="12"/>
          </p:nvPr>
        </p:nvSpPr>
        <p:spPr/>
        <p:txBody>
          <a:bodyPr/>
          <a:lstStyle/>
          <a:p>
            <a:fld id="{3109D357-8067-4A1F-97B2-93C5160B78D9}" type="slidenum">
              <a:rPr lang="en-US" smtClean="0"/>
              <a:t>‹N°›</a:t>
            </a:fld>
            <a:endParaRPr lang="en-US"/>
          </a:p>
        </p:txBody>
      </p:sp>
    </p:spTree>
    <p:extLst>
      <p:ext uri="{BB962C8B-B14F-4D97-AF65-F5344CB8AC3E}">
        <p14:creationId xmlns:p14="http://schemas.microsoft.com/office/powerpoint/2010/main" val="346088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5A25-7E99-42A8-8D6D-648EFE2038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0501DC-62B7-42BD-A941-D34E92719C32}"/>
              </a:ext>
            </a:extLst>
          </p:cNvPr>
          <p:cNvSpPr>
            <a:spLocks noGrp="1"/>
          </p:cNvSpPr>
          <p:nvPr>
            <p:ph sz="half" idx="1"/>
          </p:nvPr>
        </p:nvSpPr>
        <p:spPr>
          <a:xfrm>
            <a:off x="838201" y="2011681"/>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765C5C1-4FD4-4958-99A0-BDADECA336BD}"/>
              </a:ext>
            </a:extLst>
          </p:cNvPr>
          <p:cNvSpPr>
            <a:spLocks noGrp="1"/>
          </p:cNvSpPr>
          <p:nvPr>
            <p:ph sz="half" idx="2"/>
          </p:nvPr>
        </p:nvSpPr>
        <p:spPr>
          <a:xfrm>
            <a:off x="6172201" y="2011681"/>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D1B234-5D54-44E5-B41D-B205AAF50305}"/>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6" name="Footer Placeholder 5">
            <a:extLst>
              <a:ext uri="{FF2B5EF4-FFF2-40B4-BE49-F238E27FC236}">
                <a16:creationId xmlns:a16="http://schemas.microsoft.com/office/drawing/2014/main" id="{0E67BCDB-6B96-45D6-B5E9-823A96EBD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39C5F-F16F-4AFD-98D1-FA3BB96AF2CD}"/>
              </a:ext>
            </a:extLst>
          </p:cNvPr>
          <p:cNvSpPr>
            <a:spLocks noGrp="1"/>
          </p:cNvSpPr>
          <p:nvPr>
            <p:ph type="sldNum" sz="quarter" idx="12"/>
          </p:nvPr>
        </p:nvSpPr>
        <p:spPr/>
        <p:txBody>
          <a:bodyPr/>
          <a:lstStyle/>
          <a:p>
            <a:fld id="{3109D357-8067-4A1F-97B2-93C5160B78D9}" type="slidenum">
              <a:rPr lang="en-US" smtClean="0"/>
              <a:t>‹N°›</a:t>
            </a:fld>
            <a:endParaRPr lang="en-US"/>
          </a:p>
        </p:txBody>
      </p:sp>
    </p:spTree>
    <p:extLst>
      <p:ext uri="{BB962C8B-B14F-4D97-AF65-F5344CB8AC3E}">
        <p14:creationId xmlns:p14="http://schemas.microsoft.com/office/powerpoint/2010/main" val="2244533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4C1F-0040-4BBF-81A6-FD2E30637B0C}"/>
              </a:ext>
            </a:extLst>
          </p:cNvPr>
          <p:cNvSpPr>
            <a:spLocks noGrp="1"/>
          </p:cNvSpPr>
          <p:nvPr>
            <p:ph type="title"/>
          </p:nvPr>
        </p:nvSpPr>
        <p:spPr>
          <a:xfrm>
            <a:off x="839789" y="379781"/>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2894A7-1DA1-44C1-8ED0-716279430690}"/>
              </a:ext>
            </a:extLst>
          </p:cNvPr>
          <p:cNvSpPr>
            <a:spLocks noGrp="1"/>
          </p:cNvSpPr>
          <p:nvPr>
            <p:ph type="body" idx="1"/>
          </p:nvPr>
        </p:nvSpPr>
        <p:spPr>
          <a:xfrm>
            <a:off x="839791" y="1824035"/>
            <a:ext cx="4997132" cy="681040"/>
          </a:xfrm>
        </p:spPr>
        <p:txBody>
          <a:bodyPr anchor="b"/>
          <a:lstStyle>
            <a:lvl1pPr marL="0" indent="0">
              <a:buNone/>
              <a:defRPr sz="2400" b="1" i="0" cap="none" baseline="0"/>
            </a:lvl1pPr>
            <a:lvl2pPr marL="457217" indent="0">
              <a:buNone/>
              <a:defRPr sz="2000" b="1"/>
            </a:lvl2pPr>
            <a:lvl3pPr marL="914433" indent="0">
              <a:buNone/>
              <a:defRPr sz="1801" b="1"/>
            </a:lvl3pPr>
            <a:lvl4pPr marL="1371652" indent="0">
              <a:buNone/>
              <a:defRPr sz="1600" b="1"/>
            </a:lvl4pPr>
            <a:lvl5pPr marL="1828869" indent="0">
              <a:buNone/>
              <a:defRPr sz="1600" b="1"/>
            </a:lvl5pPr>
            <a:lvl6pPr marL="2286086" indent="0">
              <a:buNone/>
              <a:defRPr sz="1600" b="1"/>
            </a:lvl6pPr>
            <a:lvl7pPr marL="2743302" indent="0">
              <a:buNone/>
              <a:defRPr sz="1600" b="1"/>
            </a:lvl7pPr>
            <a:lvl8pPr marL="3200521" indent="0">
              <a:buNone/>
              <a:defRPr sz="1600" b="1"/>
            </a:lvl8pPr>
            <a:lvl9pPr marL="3657738"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9AB945-31E2-4B60-9076-CBB8F8594949}"/>
              </a:ext>
            </a:extLst>
          </p:cNvPr>
          <p:cNvSpPr>
            <a:spLocks noGrp="1"/>
          </p:cNvSpPr>
          <p:nvPr>
            <p:ph sz="half" idx="2"/>
          </p:nvPr>
        </p:nvSpPr>
        <p:spPr>
          <a:xfrm>
            <a:off x="839791" y="2505076"/>
            <a:ext cx="499713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71B3EA-2E84-4B8B-A104-81BD577424AD}"/>
              </a:ext>
            </a:extLst>
          </p:cNvPr>
          <p:cNvSpPr>
            <a:spLocks noGrp="1"/>
          </p:cNvSpPr>
          <p:nvPr>
            <p:ph type="body" sz="quarter" idx="3"/>
          </p:nvPr>
        </p:nvSpPr>
        <p:spPr>
          <a:xfrm>
            <a:off x="6355083" y="1824035"/>
            <a:ext cx="5000308" cy="681040"/>
          </a:xfrm>
        </p:spPr>
        <p:txBody>
          <a:bodyPr anchor="b"/>
          <a:lstStyle>
            <a:lvl1pPr marL="0" indent="0">
              <a:buNone/>
              <a:defRPr sz="2400" b="1" i="0" cap="none" baseline="0"/>
            </a:lvl1pPr>
            <a:lvl2pPr marL="457217" indent="0">
              <a:buNone/>
              <a:defRPr sz="2000" b="1"/>
            </a:lvl2pPr>
            <a:lvl3pPr marL="914433" indent="0">
              <a:buNone/>
              <a:defRPr sz="1801" b="1"/>
            </a:lvl3pPr>
            <a:lvl4pPr marL="1371652" indent="0">
              <a:buNone/>
              <a:defRPr sz="1600" b="1"/>
            </a:lvl4pPr>
            <a:lvl5pPr marL="1828869" indent="0">
              <a:buNone/>
              <a:defRPr sz="1600" b="1"/>
            </a:lvl5pPr>
            <a:lvl6pPr marL="2286086" indent="0">
              <a:buNone/>
              <a:defRPr sz="1600" b="1"/>
            </a:lvl6pPr>
            <a:lvl7pPr marL="2743302" indent="0">
              <a:buNone/>
              <a:defRPr sz="1600" b="1"/>
            </a:lvl7pPr>
            <a:lvl8pPr marL="3200521" indent="0">
              <a:buNone/>
              <a:defRPr sz="1600" b="1"/>
            </a:lvl8pPr>
            <a:lvl9pPr marL="3657738"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511AB8-302C-476E-B80A-AA739911E304}"/>
              </a:ext>
            </a:extLst>
          </p:cNvPr>
          <p:cNvSpPr>
            <a:spLocks noGrp="1"/>
          </p:cNvSpPr>
          <p:nvPr>
            <p:ph sz="quarter" idx="4"/>
          </p:nvPr>
        </p:nvSpPr>
        <p:spPr>
          <a:xfrm>
            <a:off x="6355083" y="2505076"/>
            <a:ext cx="500030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B47C29-FE34-4E6E-9921-78C54673AAD9}"/>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8" name="Footer Placeholder 7">
            <a:extLst>
              <a:ext uri="{FF2B5EF4-FFF2-40B4-BE49-F238E27FC236}">
                <a16:creationId xmlns:a16="http://schemas.microsoft.com/office/drawing/2014/main" id="{3CF6B420-A9CE-4BB6-A653-5C3ABC7D67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1DF8FE-1179-4798-B16D-AF1DFA266D4D}"/>
              </a:ext>
            </a:extLst>
          </p:cNvPr>
          <p:cNvSpPr>
            <a:spLocks noGrp="1"/>
          </p:cNvSpPr>
          <p:nvPr>
            <p:ph type="sldNum" sz="quarter" idx="12"/>
          </p:nvPr>
        </p:nvSpPr>
        <p:spPr/>
        <p:txBody>
          <a:bodyPr/>
          <a:lstStyle/>
          <a:p>
            <a:fld id="{3109D357-8067-4A1F-97B2-93C5160B78D9}" type="slidenum">
              <a:rPr lang="en-US" smtClean="0"/>
              <a:t>‹N°›</a:t>
            </a:fld>
            <a:endParaRPr lang="en-US"/>
          </a:p>
        </p:txBody>
      </p:sp>
    </p:spTree>
    <p:extLst>
      <p:ext uri="{BB962C8B-B14F-4D97-AF65-F5344CB8AC3E}">
        <p14:creationId xmlns:p14="http://schemas.microsoft.com/office/powerpoint/2010/main" val="357128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6F1A-0A68-4048-808F-CD7A9F3B0846}"/>
              </a:ext>
            </a:extLst>
          </p:cNvPr>
          <p:cNvSpPr>
            <a:spLocks noGrp="1"/>
          </p:cNvSpPr>
          <p:nvPr>
            <p:ph type="title"/>
          </p:nvPr>
        </p:nvSpPr>
        <p:spPr>
          <a:xfrm>
            <a:off x="838205" y="999595"/>
            <a:ext cx="10515600" cy="1573223"/>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28ACB3E6-5365-48F5-8D2A-0B002BA357E3}"/>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4" name="Footer Placeholder 3">
            <a:extLst>
              <a:ext uri="{FF2B5EF4-FFF2-40B4-BE49-F238E27FC236}">
                <a16:creationId xmlns:a16="http://schemas.microsoft.com/office/drawing/2014/main" id="{FF7D8EE9-4D97-4B2F-8D38-41CB9EE774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2C5952-0A27-4FAB-A3FD-12003787676B}"/>
              </a:ext>
            </a:extLst>
          </p:cNvPr>
          <p:cNvSpPr>
            <a:spLocks noGrp="1"/>
          </p:cNvSpPr>
          <p:nvPr>
            <p:ph type="sldNum" sz="quarter" idx="12"/>
          </p:nvPr>
        </p:nvSpPr>
        <p:spPr/>
        <p:txBody>
          <a:bodyPr/>
          <a:lstStyle/>
          <a:p>
            <a:fld id="{3109D357-8067-4A1F-97B2-93C5160B78D9}" type="slidenum">
              <a:rPr lang="en-US" smtClean="0"/>
              <a:t>‹N°›</a:t>
            </a:fld>
            <a:endParaRPr lang="en-US"/>
          </a:p>
        </p:txBody>
      </p:sp>
    </p:spTree>
    <p:extLst>
      <p:ext uri="{BB962C8B-B14F-4D97-AF65-F5344CB8AC3E}">
        <p14:creationId xmlns:p14="http://schemas.microsoft.com/office/powerpoint/2010/main" val="4151412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D08427-909D-4679-9192-BC99557A7D06}"/>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3" name="Footer Placeholder 2">
            <a:extLst>
              <a:ext uri="{FF2B5EF4-FFF2-40B4-BE49-F238E27FC236}">
                <a16:creationId xmlns:a16="http://schemas.microsoft.com/office/drawing/2014/main" id="{508E39A6-1E09-42B5-85B4-7E8B5AB2AE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938940-01DD-4C97-8649-E01C3B0EDF7C}"/>
              </a:ext>
            </a:extLst>
          </p:cNvPr>
          <p:cNvSpPr>
            <a:spLocks noGrp="1"/>
          </p:cNvSpPr>
          <p:nvPr>
            <p:ph type="sldNum" sz="quarter" idx="12"/>
          </p:nvPr>
        </p:nvSpPr>
        <p:spPr/>
        <p:txBody>
          <a:bodyPr/>
          <a:lstStyle/>
          <a:p>
            <a:fld id="{3109D357-8067-4A1F-97B2-93C5160B78D9}" type="slidenum">
              <a:rPr lang="en-US" smtClean="0"/>
              <a:t>‹N°›</a:t>
            </a:fld>
            <a:endParaRPr lang="en-US"/>
          </a:p>
        </p:txBody>
      </p:sp>
    </p:spTree>
    <p:extLst>
      <p:ext uri="{BB962C8B-B14F-4D97-AF65-F5344CB8AC3E}">
        <p14:creationId xmlns:p14="http://schemas.microsoft.com/office/powerpoint/2010/main" val="3836185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3B3D-D568-40B4-A73A-1C8EA9ABB098}"/>
              </a:ext>
            </a:extLst>
          </p:cNvPr>
          <p:cNvSpPr>
            <a:spLocks noGrp="1"/>
          </p:cNvSpPr>
          <p:nvPr>
            <p:ph type="title"/>
          </p:nvPr>
        </p:nvSpPr>
        <p:spPr>
          <a:xfrm>
            <a:off x="839788" y="457200"/>
            <a:ext cx="3691819" cy="17018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D586EB3-917A-43B7-85BB-D00B5D2F07E4}"/>
              </a:ext>
            </a:extLst>
          </p:cNvPr>
          <p:cNvSpPr>
            <a:spLocks noGrp="1"/>
          </p:cNvSpPr>
          <p:nvPr>
            <p:ph idx="1"/>
          </p:nvPr>
        </p:nvSpPr>
        <p:spPr>
          <a:xfrm>
            <a:off x="5514799" y="987425"/>
            <a:ext cx="5840588" cy="50323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7AC029-3BC1-4637-A7F9-BC786DC26A38}"/>
              </a:ext>
            </a:extLst>
          </p:cNvPr>
          <p:cNvSpPr>
            <a:spLocks noGrp="1"/>
          </p:cNvSpPr>
          <p:nvPr>
            <p:ph type="body" sz="half" idx="2"/>
          </p:nvPr>
        </p:nvSpPr>
        <p:spPr>
          <a:xfrm>
            <a:off x="839795" y="2372360"/>
            <a:ext cx="3691817" cy="3496628"/>
          </a:xfrm>
        </p:spPr>
        <p:txBody>
          <a:bodyPr/>
          <a:lstStyle>
            <a:lvl1pPr marL="0" indent="0">
              <a:buNone/>
              <a:defRPr sz="1600"/>
            </a:lvl1pPr>
            <a:lvl2pPr marL="457217" indent="0">
              <a:buNone/>
              <a:defRPr sz="1401"/>
            </a:lvl2pPr>
            <a:lvl3pPr marL="914433" indent="0">
              <a:buNone/>
              <a:defRPr sz="1200"/>
            </a:lvl3pPr>
            <a:lvl4pPr marL="1371652" indent="0">
              <a:buNone/>
              <a:defRPr sz="1001"/>
            </a:lvl4pPr>
            <a:lvl5pPr marL="1828869" indent="0">
              <a:buNone/>
              <a:defRPr sz="1001"/>
            </a:lvl5pPr>
            <a:lvl6pPr marL="2286086" indent="0">
              <a:buNone/>
              <a:defRPr sz="1001"/>
            </a:lvl6pPr>
            <a:lvl7pPr marL="2743302" indent="0">
              <a:buNone/>
              <a:defRPr sz="1001"/>
            </a:lvl7pPr>
            <a:lvl8pPr marL="3200521" indent="0">
              <a:buNone/>
              <a:defRPr sz="1001"/>
            </a:lvl8pPr>
            <a:lvl9pPr marL="3657738"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3190B948-89C5-4AC5-B7A0-17136F5C5A6A}"/>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6" name="Footer Placeholder 5">
            <a:extLst>
              <a:ext uri="{FF2B5EF4-FFF2-40B4-BE49-F238E27FC236}">
                <a16:creationId xmlns:a16="http://schemas.microsoft.com/office/drawing/2014/main" id="{F3A6C8C5-652F-46CB-BD26-E262B057FA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FB50CB-E91F-4B71-81F0-800F2B51A344}"/>
              </a:ext>
            </a:extLst>
          </p:cNvPr>
          <p:cNvSpPr>
            <a:spLocks noGrp="1"/>
          </p:cNvSpPr>
          <p:nvPr>
            <p:ph type="sldNum" sz="quarter" idx="12"/>
          </p:nvPr>
        </p:nvSpPr>
        <p:spPr/>
        <p:txBody>
          <a:bodyPr/>
          <a:lstStyle/>
          <a:p>
            <a:fld id="{3109D357-8067-4A1F-97B2-93C5160B78D9}" type="slidenum">
              <a:rPr lang="en-US" smtClean="0"/>
              <a:t>‹N°›</a:t>
            </a:fld>
            <a:endParaRPr lang="en-US"/>
          </a:p>
        </p:txBody>
      </p:sp>
      <p:cxnSp>
        <p:nvCxnSpPr>
          <p:cNvPr id="8" name="Straight Connector 7">
            <a:extLst>
              <a:ext uri="{FF2B5EF4-FFF2-40B4-BE49-F238E27FC236}">
                <a16:creationId xmlns:a16="http://schemas.microsoft.com/office/drawing/2014/main" id="{8B69B885-FDB8-4C62-A285-A0CDC49A6B0C}"/>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638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941E-6445-4840-81AE-104EF7A4F7E9}"/>
              </a:ext>
            </a:extLst>
          </p:cNvPr>
          <p:cNvSpPr>
            <a:spLocks noGrp="1"/>
          </p:cNvSpPr>
          <p:nvPr>
            <p:ph type="title"/>
          </p:nvPr>
        </p:nvSpPr>
        <p:spPr>
          <a:xfrm>
            <a:off x="839791" y="457200"/>
            <a:ext cx="3696652" cy="17018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3F8B866-E32B-4AE7-AEF3-6974AE3288F3}"/>
              </a:ext>
            </a:extLst>
          </p:cNvPr>
          <p:cNvSpPr>
            <a:spLocks noGrp="1"/>
          </p:cNvSpPr>
          <p:nvPr>
            <p:ph type="pic" idx="1"/>
          </p:nvPr>
        </p:nvSpPr>
        <p:spPr>
          <a:xfrm>
            <a:off x="5786126" y="838203"/>
            <a:ext cx="5603237" cy="5181599"/>
          </a:xfrm>
        </p:spPr>
        <p:txBody>
          <a:bodyPr/>
          <a:lstStyle>
            <a:lvl1pPr marL="0" indent="0">
              <a:buNone/>
              <a:defRPr sz="3200"/>
            </a:lvl1pPr>
            <a:lvl2pPr marL="457217" indent="0">
              <a:buNone/>
              <a:defRPr sz="2800"/>
            </a:lvl2pPr>
            <a:lvl3pPr marL="914433" indent="0">
              <a:buNone/>
              <a:defRPr sz="2400"/>
            </a:lvl3pPr>
            <a:lvl4pPr marL="1371652" indent="0">
              <a:buNone/>
              <a:defRPr sz="2000"/>
            </a:lvl4pPr>
            <a:lvl5pPr marL="1828869" indent="0">
              <a:buNone/>
              <a:defRPr sz="2000"/>
            </a:lvl5pPr>
            <a:lvl6pPr marL="2286086" indent="0">
              <a:buNone/>
              <a:defRPr sz="2000"/>
            </a:lvl6pPr>
            <a:lvl7pPr marL="2743302" indent="0">
              <a:buNone/>
              <a:defRPr sz="2000"/>
            </a:lvl7pPr>
            <a:lvl8pPr marL="3200521" indent="0">
              <a:buNone/>
              <a:defRPr sz="2000"/>
            </a:lvl8pPr>
            <a:lvl9pPr marL="3657738"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2ABB7A-E157-499A-B224-C2313181F569}"/>
              </a:ext>
            </a:extLst>
          </p:cNvPr>
          <p:cNvSpPr>
            <a:spLocks noGrp="1"/>
          </p:cNvSpPr>
          <p:nvPr>
            <p:ph type="body" sz="half" idx="2"/>
          </p:nvPr>
        </p:nvSpPr>
        <p:spPr>
          <a:xfrm>
            <a:off x="839791" y="2367281"/>
            <a:ext cx="3696652" cy="3501708"/>
          </a:xfrm>
        </p:spPr>
        <p:txBody>
          <a:bodyPr/>
          <a:lstStyle>
            <a:lvl1pPr marL="0" indent="0">
              <a:buNone/>
              <a:defRPr sz="1600"/>
            </a:lvl1pPr>
            <a:lvl2pPr marL="457217" indent="0">
              <a:buNone/>
              <a:defRPr sz="1401"/>
            </a:lvl2pPr>
            <a:lvl3pPr marL="914433" indent="0">
              <a:buNone/>
              <a:defRPr sz="1200"/>
            </a:lvl3pPr>
            <a:lvl4pPr marL="1371652" indent="0">
              <a:buNone/>
              <a:defRPr sz="1001"/>
            </a:lvl4pPr>
            <a:lvl5pPr marL="1828869" indent="0">
              <a:buNone/>
              <a:defRPr sz="1001"/>
            </a:lvl5pPr>
            <a:lvl6pPr marL="2286086" indent="0">
              <a:buNone/>
              <a:defRPr sz="1001"/>
            </a:lvl6pPr>
            <a:lvl7pPr marL="2743302" indent="0">
              <a:buNone/>
              <a:defRPr sz="1001"/>
            </a:lvl7pPr>
            <a:lvl8pPr marL="3200521" indent="0">
              <a:buNone/>
              <a:defRPr sz="1001"/>
            </a:lvl8pPr>
            <a:lvl9pPr marL="3657738"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EDC77283-E2B8-405E-BB6E-9F121140E506}"/>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6" name="Footer Placeholder 5">
            <a:extLst>
              <a:ext uri="{FF2B5EF4-FFF2-40B4-BE49-F238E27FC236}">
                <a16:creationId xmlns:a16="http://schemas.microsoft.com/office/drawing/2014/main" id="{F9F21F05-EB94-417F-B19B-96FF3D9EC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7C3C7-B6DB-4064-8E66-9FB770C888ED}"/>
              </a:ext>
            </a:extLst>
          </p:cNvPr>
          <p:cNvSpPr>
            <a:spLocks noGrp="1"/>
          </p:cNvSpPr>
          <p:nvPr>
            <p:ph type="sldNum" sz="quarter" idx="12"/>
          </p:nvPr>
        </p:nvSpPr>
        <p:spPr/>
        <p:txBody>
          <a:bodyPr/>
          <a:lstStyle/>
          <a:p>
            <a:fld id="{3109D357-8067-4A1F-97B2-93C5160B78D9}" type="slidenum">
              <a:rPr lang="en-US" smtClean="0"/>
              <a:t>‹N°›</a:t>
            </a:fld>
            <a:endParaRPr lang="en-US"/>
          </a:p>
        </p:txBody>
      </p:sp>
      <p:cxnSp>
        <p:nvCxnSpPr>
          <p:cNvPr id="8" name="Straight Connector 7">
            <a:extLst>
              <a:ext uri="{FF2B5EF4-FFF2-40B4-BE49-F238E27FC236}">
                <a16:creationId xmlns:a16="http://schemas.microsoft.com/office/drawing/2014/main" id="{51E233FA-220A-423F-907E-5F81526A28A0}"/>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9335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6D52-667C-4E67-9038-A0BDFD8CCD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3E72AC-0272-475A-BD25-2AB7AC1DE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FBFF2-9ECB-4CDD-87FA-9DD1F87BFDE9}"/>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5" name="Footer Placeholder 4">
            <a:extLst>
              <a:ext uri="{FF2B5EF4-FFF2-40B4-BE49-F238E27FC236}">
                <a16:creationId xmlns:a16="http://schemas.microsoft.com/office/drawing/2014/main" id="{40AC12B3-DAF5-4BA7-A3A6-D0284716DB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171AE-4A11-4035-A072-9AC4053FFA85}"/>
              </a:ext>
            </a:extLst>
          </p:cNvPr>
          <p:cNvSpPr>
            <a:spLocks noGrp="1"/>
          </p:cNvSpPr>
          <p:nvPr>
            <p:ph type="sldNum" sz="quarter" idx="12"/>
          </p:nvPr>
        </p:nvSpPr>
        <p:spPr/>
        <p:txBody>
          <a:bodyPr/>
          <a:lstStyle/>
          <a:p>
            <a:fld id="{3109D357-8067-4A1F-97B2-93C5160B78D9}" type="slidenum">
              <a:rPr lang="en-US" smtClean="0"/>
              <a:t>‹N°›</a:t>
            </a:fld>
            <a:endParaRPr lang="en-US"/>
          </a:p>
        </p:txBody>
      </p:sp>
    </p:spTree>
    <p:extLst>
      <p:ext uri="{BB962C8B-B14F-4D97-AF65-F5344CB8AC3E}">
        <p14:creationId xmlns:p14="http://schemas.microsoft.com/office/powerpoint/2010/main" val="2819842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A52E95-2F50-48D3-B00E-4C259644E72E}"/>
              </a:ext>
            </a:extLst>
          </p:cNvPr>
          <p:cNvSpPr>
            <a:spLocks noGrp="1"/>
          </p:cNvSpPr>
          <p:nvPr>
            <p:ph type="title" orient="vert"/>
          </p:nvPr>
        </p:nvSpPr>
        <p:spPr>
          <a:xfrm>
            <a:off x="9050174" y="838200"/>
            <a:ext cx="2303627" cy="533876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2617C9B-4E02-49C8-B6DF-65ED3C990343}"/>
              </a:ext>
            </a:extLst>
          </p:cNvPr>
          <p:cNvSpPr>
            <a:spLocks noGrp="1"/>
          </p:cNvSpPr>
          <p:nvPr>
            <p:ph type="body" orient="vert" idx="1"/>
          </p:nvPr>
        </p:nvSpPr>
        <p:spPr>
          <a:xfrm>
            <a:off x="838199" y="838200"/>
            <a:ext cx="7734300" cy="5338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CA10C-AC31-4D80-B78F-08E48CDCB7F2}"/>
              </a:ext>
            </a:extLst>
          </p:cNvPr>
          <p:cNvSpPr>
            <a:spLocks noGrp="1"/>
          </p:cNvSpPr>
          <p:nvPr>
            <p:ph type="dt" sz="half" idx="10"/>
          </p:nvPr>
        </p:nvSpPr>
        <p:spPr/>
        <p:txBody>
          <a:bodyPr/>
          <a:lstStyle/>
          <a:p>
            <a:fld id="{F6CCBF3A-D7FB-4B97-8FD5-6FFB20CB1E84}" type="datetimeFigureOut">
              <a:rPr lang="en-US" smtClean="0"/>
              <a:t>6/4/2026</a:t>
            </a:fld>
            <a:endParaRPr lang="en-US"/>
          </a:p>
        </p:txBody>
      </p:sp>
      <p:sp>
        <p:nvSpPr>
          <p:cNvPr id="5" name="Footer Placeholder 4">
            <a:extLst>
              <a:ext uri="{FF2B5EF4-FFF2-40B4-BE49-F238E27FC236}">
                <a16:creationId xmlns:a16="http://schemas.microsoft.com/office/drawing/2014/main" id="{19AAB5B7-F312-4BC9-A5D3-72E065D1B9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2E489-5442-4698-B6E3-3421A97C2834}"/>
              </a:ext>
            </a:extLst>
          </p:cNvPr>
          <p:cNvSpPr>
            <a:spLocks noGrp="1"/>
          </p:cNvSpPr>
          <p:nvPr>
            <p:ph type="sldNum" sz="quarter" idx="12"/>
          </p:nvPr>
        </p:nvSpPr>
        <p:spPr/>
        <p:txBody>
          <a:bodyPr/>
          <a:lstStyle/>
          <a:p>
            <a:fld id="{3109D357-8067-4A1F-97B2-93C5160B78D9}" type="slidenum">
              <a:rPr lang="en-US" smtClean="0"/>
              <a:t>‹N°›</a:t>
            </a:fld>
            <a:endParaRPr lang="en-US"/>
          </a:p>
        </p:txBody>
      </p:sp>
      <p:cxnSp>
        <p:nvCxnSpPr>
          <p:cNvPr id="7" name="Straight Connector 6">
            <a:extLst>
              <a:ext uri="{FF2B5EF4-FFF2-40B4-BE49-F238E27FC236}">
                <a16:creationId xmlns:a16="http://schemas.microsoft.com/office/drawing/2014/main" id="{41F3A7E1-F157-4338-B7F7-9C0A2D60B7FF}"/>
              </a:ext>
            </a:extLst>
          </p:cNvPr>
          <p:cNvCxnSpPr>
            <a:cxnSpLocks/>
          </p:cNvCxnSpPr>
          <p:nvPr/>
        </p:nvCxnSpPr>
        <p:spPr>
          <a:xfrm>
            <a:off x="881133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9663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V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71A0F09-6146-30AB-0B75-9859A9D5669D}"/>
              </a:ext>
            </a:extLst>
          </p:cNvPr>
          <p:cNvSpPr>
            <a:spLocks noGrp="1" noChangeArrowheads="1"/>
          </p:cNvSpPr>
          <p:nvPr>
            <p:ph type="dt" sz="half" idx="10"/>
          </p:nvPr>
        </p:nvSpPr>
        <p:spPr>
          <a:xfrm>
            <a:off x="9271000" y="6257925"/>
            <a:ext cx="2540000" cy="457200"/>
          </a:xfrm>
        </p:spPr>
        <p:txBody>
          <a:bodyPr/>
          <a:lstStyle>
            <a:lvl1pPr algn="r">
              <a:defRPr/>
            </a:lvl1pPr>
          </a:lstStyle>
          <a:p>
            <a:pPr>
              <a:defRPr/>
            </a:pPr>
            <a:endParaRPr lang="fr-FR"/>
          </a:p>
        </p:txBody>
      </p:sp>
      <p:sp>
        <p:nvSpPr>
          <p:cNvPr id="3" name="Rectangle 5">
            <a:extLst>
              <a:ext uri="{FF2B5EF4-FFF2-40B4-BE49-F238E27FC236}">
                <a16:creationId xmlns:a16="http://schemas.microsoft.com/office/drawing/2014/main" id="{D1381E7D-077E-549C-FD81-4B1C4E072B05}"/>
              </a:ext>
            </a:extLst>
          </p:cNvPr>
          <p:cNvSpPr>
            <a:spLocks noGrp="1" noChangeArrowheads="1"/>
          </p:cNvSpPr>
          <p:nvPr>
            <p:ph type="ftr" sz="quarter" idx="11"/>
          </p:nvPr>
        </p:nvSpPr>
        <p:spPr>
          <a:xfrm>
            <a:off x="711200" y="6257925"/>
            <a:ext cx="3860800" cy="457200"/>
          </a:xfrm>
        </p:spPr>
        <p:txBody>
          <a:bodyPr/>
          <a:lstStyle>
            <a:lvl1pPr>
              <a:defRPr/>
            </a:lvl1pPr>
          </a:lstStyle>
          <a:p>
            <a:pPr>
              <a:defRPr/>
            </a:pPr>
            <a:endParaRPr lang="fr-FR"/>
          </a:p>
        </p:txBody>
      </p:sp>
      <p:sp>
        <p:nvSpPr>
          <p:cNvPr id="4" name="Rectangle 6">
            <a:extLst>
              <a:ext uri="{FF2B5EF4-FFF2-40B4-BE49-F238E27FC236}">
                <a16:creationId xmlns:a16="http://schemas.microsoft.com/office/drawing/2014/main" id="{52178583-E400-23C5-3F97-EC8B5793315D}"/>
              </a:ext>
            </a:extLst>
          </p:cNvPr>
          <p:cNvSpPr>
            <a:spLocks noGrp="1" noChangeArrowheads="1"/>
          </p:cNvSpPr>
          <p:nvPr>
            <p:ph type="sldNum" sz="quarter" idx="12"/>
          </p:nvPr>
        </p:nvSpPr>
        <p:spPr>
          <a:xfrm>
            <a:off x="412751" y="6257925"/>
            <a:ext cx="2540000" cy="457200"/>
          </a:xfrm>
        </p:spPr>
        <p:txBody>
          <a:bodyPr/>
          <a:lstStyle>
            <a:lvl1pPr algn="l">
              <a:defRPr/>
            </a:lvl1pPr>
          </a:lstStyle>
          <a:p>
            <a:fld id="{FAF67611-4AB2-4543-A64E-CD43D05EA03B}" type="slidenum">
              <a:rPr lang="fr-FR" altLang="fr-FR"/>
              <a:pPr/>
              <a:t>‹N°›</a:t>
            </a:fld>
            <a:endParaRPr lang="fr-FR" altLang="fr-FR"/>
          </a:p>
        </p:txBody>
      </p:sp>
    </p:spTree>
    <p:extLst>
      <p:ext uri="{BB962C8B-B14F-4D97-AF65-F5344CB8AC3E}">
        <p14:creationId xmlns:p14="http://schemas.microsoft.com/office/powerpoint/2010/main" val="39558294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609600" y="122238"/>
            <a:ext cx="10058400" cy="1295400"/>
          </a:xfrm>
        </p:spPr>
        <p:txBody>
          <a:bodyPr/>
          <a:lstStyle/>
          <a:p>
            <a:r>
              <a:rPr lang="fr-FR"/>
              <a:t>Cliquez pour modifier le style du titre</a:t>
            </a:r>
            <a:endParaRPr lang="en-US"/>
          </a:p>
        </p:txBody>
      </p:sp>
      <p:sp>
        <p:nvSpPr>
          <p:cNvPr id="3" name="Espace réservé du tableau 2"/>
          <p:cNvSpPr>
            <a:spLocks noGrp="1"/>
          </p:cNvSpPr>
          <p:nvPr>
            <p:ph type="tbl" idx="1"/>
          </p:nvPr>
        </p:nvSpPr>
        <p:spPr>
          <a:xfrm>
            <a:off x="609600" y="1719263"/>
            <a:ext cx="10972800" cy="4411662"/>
          </a:xfrm>
        </p:spPr>
        <p:txBody>
          <a:bodyPr/>
          <a:lstStyle/>
          <a:p>
            <a:pPr lvl="0"/>
            <a:endParaRPr lang="en-US" noProof="0"/>
          </a:p>
        </p:txBody>
      </p:sp>
      <p:sp>
        <p:nvSpPr>
          <p:cNvPr id="4" name="Espace réservé de la date 3">
            <a:extLst>
              <a:ext uri="{FF2B5EF4-FFF2-40B4-BE49-F238E27FC236}">
                <a16:creationId xmlns:a16="http://schemas.microsoft.com/office/drawing/2014/main" id="{B7D1852E-6AB4-250C-AD16-7734DDD13B05}"/>
              </a:ext>
            </a:extLst>
          </p:cNvPr>
          <p:cNvSpPr>
            <a:spLocks noGrp="1"/>
          </p:cNvSpPr>
          <p:nvPr>
            <p:ph type="dt" sz="half" idx="10"/>
          </p:nvPr>
        </p:nvSpPr>
        <p:spPr>
          <a:xfrm>
            <a:off x="609600" y="6248400"/>
            <a:ext cx="2844800" cy="457200"/>
          </a:xfrm>
        </p:spPr>
        <p:txBody>
          <a:bodyPr/>
          <a:lstStyle>
            <a:lvl1pPr>
              <a:defRPr/>
            </a:lvl1pPr>
          </a:lstStyle>
          <a:p>
            <a:pPr>
              <a:defRPr/>
            </a:pPr>
            <a:r>
              <a:rPr lang="fr-CA"/>
              <a:t>Pierre Saint-Laurent</a:t>
            </a:r>
            <a:endParaRPr lang="en-US" altLang="en-US"/>
          </a:p>
        </p:txBody>
      </p:sp>
      <p:sp>
        <p:nvSpPr>
          <p:cNvPr id="5" name="Espace réservé du pied de page 4">
            <a:extLst>
              <a:ext uri="{FF2B5EF4-FFF2-40B4-BE49-F238E27FC236}">
                <a16:creationId xmlns:a16="http://schemas.microsoft.com/office/drawing/2014/main" id="{FF2A3EC3-6FC3-EEDB-A035-AA9204AA2055}"/>
              </a:ext>
            </a:extLst>
          </p:cNvPr>
          <p:cNvSpPr>
            <a:spLocks noGrp="1"/>
          </p:cNvSpPr>
          <p:nvPr>
            <p:ph type="ftr" sz="quarter" idx="11"/>
          </p:nvPr>
        </p:nvSpPr>
        <p:spPr/>
        <p:txBody>
          <a:bodyPr/>
          <a:lstStyle>
            <a:lvl1pPr>
              <a:defRPr/>
            </a:lvl1pPr>
          </a:lstStyle>
          <a:p>
            <a:pPr>
              <a:defRPr/>
            </a:pPr>
            <a:r>
              <a:rPr lang="fr-CA"/>
              <a:t>3-202-02 Gestion des risques</a:t>
            </a:r>
          </a:p>
          <a:p>
            <a:pPr>
              <a:defRPr/>
            </a:pPr>
            <a:endParaRPr lang="en-US" altLang="en-US"/>
          </a:p>
        </p:txBody>
      </p:sp>
      <p:sp>
        <p:nvSpPr>
          <p:cNvPr id="6" name="Espace réservé du numéro de diapositive 5">
            <a:extLst>
              <a:ext uri="{FF2B5EF4-FFF2-40B4-BE49-F238E27FC236}">
                <a16:creationId xmlns:a16="http://schemas.microsoft.com/office/drawing/2014/main" id="{A3CE30A2-4375-AFE1-FD5A-A64A1A6118E7}"/>
              </a:ext>
            </a:extLst>
          </p:cNvPr>
          <p:cNvSpPr>
            <a:spLocks noGrp="1"/>
          </p:cNvSpPr>
          <p:nvPr>
            <p:ph type="sldNum" sz="quarter" idx="12"/>
          </p:nvPr>
        </p:nvSpPr>
        <p:spPr>
          <a:xfrm>
            <a:off x="8737600" y="6248400"/>
            <a:ext cx="2844800" cy="457200"/>
          </a:xfrm>
        </p:spPr>
        <p:txBody>
          <a:bodyPr/>
          <a:lstStyle>
            <a:lvl1pPr>
              <a:defRPr/>
            </a:lvl1pPr>
          </a:lstStyle>
          <a:p>
            <a:fld id="{118B8014-3DFF-4F97-8B8C-EFA6D81DE889}" type="slidenum">
              <a:rPr lang="en-US" altLang="en-US"/>
              <a:pPr/>
              <a:t>‹N°›</a:t>
            </a:fld>
            <a:endParaRPr lang="en-US" altLang="en-US"/>
          </a:p>
        </p:txBody>
      </p:sp>
    </p:spTree>
    <p:extLst>
      <p:ext uri="{BB962C8B-B14F-4D97-AF65-F5344CB8AC3E}">
        <p14:creationId xmlns:p14="http://schemas.microsoft.com/office/powerpoint/2010/main" val="28049562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2531"/>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1013"/>
            </a:lvl1pPr>
            <a:lvl2pPr marL="192881" indent="0" algn="ctr">
              <a:buNone/>
              <a:defRPr sz="844"/>
            </a:lvl2pPr>
            <a:lvl3pPr marL="385763" indent="0" algn="ctr">
              <a:buNone/>
              <a:defRPr sz="759"/>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27450639-A4E6-496B-AD84-E03CC737162C}" type="datetimeFigureOut">
              <a:rPr lang="fr-FR" smtClean="0"/>
              <a:t>04/06/2026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984694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7450639-A4E6-496B-AD84-E03CC737162C}" type="datetimeFigureOut">
              <a:rPr lang="fr-FR" smtClean="0"/>
              <a:t>04/06/2026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1344452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9"/>
            <a:ext cx="10515600" cy="2852737"/>
          </a:xfrm>
        </p:spPr>
        <p:txBody>
          <a:bodyPr anchor="b"/>
          <a:lstStyle>
            <a:lvl1pPr>
              <a:defRPr sz="2531"/>
            </a:lvl1pPr>
          </a:lstStyle>
          <a:p>
            <a:r>
              <a:rPr lang="fr-FR"/>
              <a:t>Modifiez le style du titre</a:t>
            </a:r>
            <a:endParaRPr lang="en-US" dirty="0"/>
          </a:p>
        </p:txBody>
      </p:sp>
      <p:sp>
        <p:nvSpPr>
          <p:cNvPr id="3" name="Text Placeholder 2"/>
          <p:cNvSpPr>
            <a:spLocks noGrp="1"/>
          </p:cNvSpPr>
          <p:nvPr>
            <p:ph type="body" idx="1"/>
          </p:nvPr>
        </p:nvSpPr>
        <p:spPr>
          <a:xfrm>
            <a:off x="831852" y="4589465"/>
            <a:ext cx="10515600" cy="1500187"/>
          </a:xfrm>
        </p:spPr>
        <p:txBody>
          <a:bodyPr/>
          <a:lstStyle>
            <a:lvl1pPr marL="0" indent="0">
              <a:buNone/>
              <a:defRPr sz="1013">
                <a:solidFill>
                  <a:schemeClr val="tx1"/>
                </a:solidFill>
              </a:defRPr>
            </a:lvl1pPr>
            <a:lvl2pPr marL="192881" indent="0">
              <a:buNone/>
              <a:defRPr sz="844">
                <a:solidFill>
                  <a:schemeClr val="tx1">
                    <a:tint val="75000"/>
                  </a:schemeClr>
                </a:solidFill>
              </a:defRPr>
            </a:lvl2pPr>
            <a:lvl3pPr marL="385763" indent="0">
              <a:buNone/>
              <a:defRPr sz="759">
                <a:solidFill>
                  <a:schemeClr val="tx1">
                    <a:tint val="75000"/>
                  </a:schemeClr>
                </a:solidFill>
              </a:defRPr>
            </a:lvl3pPr>
            <a:lvl4pPr marL="578644" indent="0">
              <a:buNone/>
              <a:defRPr sz="675">
                <a:solidFill>
                  <a:schemeClr val="tx1">
                    <a:tint val="75000"/>
                  </a:schemeClr>
                </a:solidFill>
              </a:defRPr>
            </a:lvl4pPr>
            <a:lvl5pPr marL="771525" indent="0">
              <a:buNone/>
              <a:defRPr sz="675">
                <a:solidFill>
                  <a:schemeClr val="tx1">
                    <a:tint val="75000"/>
                  </a:schemeClr>
                </a:solidFill>
              </a:defRPr>
            </a:lvl5pPr>
            <a:lvl6pPr marL="964406" indent="0">
              <a:buNone/>
              <a:defRPr sz="675">
                <a:solidFill>
                  <a:schemeClr val="tx1">
                    <a:tint val="75000"/>
                  </a:schemeClr>
                </a:solidFill>
              </a:defRPr>
            </a:lvl6pPr>
            <a:lvl7pPr marL="1157288" indent="0">
              <a:buNone/>
              <a:defRPr sz="675">
                <a:solidFill>
                  <a:schemeClr val="tx1">
                    <a:tint val="75000"/>
                  </a:schemeClr>
                </a:solidFill>
              </a:defRPr>
            </a:lvl7pPr>
            <a:lvl8pPr marL="1350169" indent="0">
              <a:buNone/>
              <a:defRPr sz="675">
                <a:solidFill>
                  <a:schemeClr val="tx1">
                    <a:tint val="75000"/>
                  </a:schemeClr>
                </a:solidFill>
              </a:defRPr>
            </a:lvl8pPr>
            <a:lvl9pPr marL="1543050" indent="0">
              <a:buNone/>
              <a:defRPr sz="675">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7450639-A4E6-496B-AD84-E03CC737162C}" type="datetimeFigureOut">
              <a:rPr lang="fr-FR" smtClean="0"/>
              <a:t>04/06/2026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9940986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27450639-A4E6-496B-AD84-E03CC737162C}" type="datetimeFigureOut">
              <a:rPr lang="fr-FR" smtClean="0"/>
              <a:t>04/06/2026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479045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013" b="1"/>
            </a:lvl1pPr>
            <a:lvl2pPr marL="192881" indent="0">
              <a:buNone/>
              <a:defRPr sz="844" b="1"/>
            </a:lvl2pPr>
            <a:lvl3pPr marL="385763" indent="0">
              <a:buNone/>
              <a:defRPr sz="759"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fr-FR"/>
              <a:t>Cliquez pour modifier les styles du texte du masque</a:t>
            </a:r>
          </a:p>
        </p:txBody>
      </p:sp>
      <p:sp>
        <p:nvSpPr>
          <p:cNvPr id="4" name="Content Placeholder 3"/>
          <p:cNvSpPr>
            <a:spLocks noGrp="1"/>
          </p:cNvSpPr>
          <p:nvPr>
            <p:ph sz="half" idx="2"/>
          </p:nvPr>
        </p:nvSpPr>
        <p:spPr>
          <a:xfrm>
            <a:off x="839789" y="2505076"/>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1013" b="1"/>
            </a:lvl1pPr>
            <a:lvl2pPr marL="192881" indent="0">
              <a:buNone/>
              <a:defRPr sz="844" b="1"/>
            </a:lvl2pPr>
            <a:lvl3pPr marL="385763" indent="0">
              <a:buNone/>
              <a:defRPr sz="759"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fr-FR"/>
              <a:t>Cliquez pour modifier les styles du texte du masque</a:t>
            </a:r>
          </a:p>
        </p:txBody>
      </p:sp>
      <p:sp>
        <p:nvSpPr>
          <p:cNvPr id="6" name="Content Placeholder 5"/>
          <p:cNvSpPr>
            <a:spLocks noGrp="1"/>
          </p:cNvSpPr>
          <p:nvPr>
            <p:ph sz="quarter" idx="4"/>
          </p:nvPr>
        </p:nvSpPr>
        <p:spPr>
          <a:xfrm>
            <a:off x="6172202" y="2505076"/>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7450639-A4E6-496B-AD84-E03CC737162C}" type="datetimeFigureOut">
              <a:rPr lang="fr-FR" smtClean="0"/>
              <a:t>04/06/2026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12962550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27450639-A4E6-496B-AD84-E03CC737162C}" type="datetimeFigureOut">
              <a:rPr lang="fr-FR" smtClean="0"/>
              <a:t>04/06/2026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2291340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450639-A4E6-496B-AD84-E03CC737162C}" type="datetimeFigureOut">
              <a:rPr lang="fr-FR" smtClean="0"/>
              <a:t>04/06/2026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3639352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1350"/>
            </a:lvl1pPr>
          </a:lstStyle>
          <a:p>
            <a:r>
              <a:rPr lang="fr-FR"/>
              <a:t>Modifiez le style du titre</a:t>
            </a:r>
            <a:endParaRPr lang="en-US" dirty="0"/>
          </a:p>
        </p:txBody>
      </p:sp>
      <p:sp>
        <p:nvSpPr>
          <p:cNvPr id="3" name="Content Placeholder 2"/>
          <p:cNvSpPr>
            <a:spLocks noGrp="1"/>
          </p:cNvSpPr>
          <p:nvPr>
            <p:ph idx="1"/>
          </p:nvPr>
        </p:nvSpPr>
        <p:spPr>
          <a:xfrm>
            <a:off x="5183188" y="987427"/>
            <a:ext cx="6172201" cy="4873625"/>
          </a:xfrm>
        </p:spPr>
        <p:txBody>
          <a:bodyPr/>
          <a:lstStyle>
            <a:lvl1pPr>
              <a:defRPr sz="1350"/>
            </a:lvl1pPr>
            <a:lvl2pPr>
              <a:defRPr sz="1181"/>
            </a:lvl2pPr>
            <a:lvl3pPr>
              <a:defRPr sz="1013"/>
            </a:lvl3pPr>
            <a:lvl4pPr>
              <a:defRPr sz="844"/>
            </a:lvl4pPr>
            <a:lvl5pPr>
              <a:defRPr sz="844"/>
            </a:lvl5pPr>
            <a:lvl6pPr>
              <a:defRPr sz="844"/>
            </a:lvl6pPr>
            <a:lvl7pPr>
              <a:defRPr sz="844"/>
            </a:lvl7pPr>
            <a:lvl8pPr>
              <a:defRPr sz="844"/>
            </a:lvl8pPr>
            <a:lvl9pPr>
              <a:defRPr sz="844"/>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9" y="2057400"/>
            <a:ext cx="3932238" cy="3811588"/>
          </a:xfrm>
        </p:spPr>
        <p:txBody>
          <a:bodyPr/>
          <a:lstStyle>
            <a:lvl1pPr marL="0" indent="0">
              <a:buNone/>
              <a:defRPr sz="675"/>
            </a:lvl1pPr>
            <a:lvl2pPr marL="192881" indent="0">
              <a:buNone/>
              <a:defRPr sz="591"/>
            </a:lvl2pPr>
            <a:lvl3pPr marL="385763" indent="0">
              <a:buNone/>
              <a:defRPr sz="506"/>
            </a:lvl3pPr>
            <a:lvl4pPr marL="578644" indent="0">
              <a:buNone/>
              <a:defRPr sz="422"/>
            </a:lvl4pPr>
            <a:lvl5pPr marL="771525" indent="0">
              <a:buNone/>
              <a:defRPr sz="422"/>
            </a:lvl5pPr>
            <a:lvl6pPr marL="964406" indent="0">
              <a:buNone/>
              <a:defRPr sz="422"/>
            </a:lvl6pPr>
            <a:lvl7pPr marL="1157288" indent="0">
              <a:buNone/>
              <a:defRPr sz="422"/>
            </a:lvl7pPr>
            <a:lvl8pPr marL="1350169" indent="0">
              <a:buNone/>
              <a:defRPr sz="422"/>
            </a:lvl8pPr>
            <a:lvl9pPr marL="1543050" indent="0">
              <a:buNone/>
              <a:defRPr sz="42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7450639-A4E6-496B-AD84-E03CC737162C}" type="datetimeFigureOut">
              <a:rPr lang="fr-FR" smtClean="0"/>
              <a:t>04/06/2026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34280403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135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1" cy="4873625"/>
          </a:xfrm>
        </p:spPr>
        <p:txBody>
          <a:bodyPr anchor="t"/>
          <a:lstStyle>
            <a:lvl1pPr marL="0" indent="0">
              <a:buNone/>
              <a:defRPr sz="1350"/>
            </a:lvl1pPr>
            <a:lvl2pPr marL="192881" indent="0">
              <a:buNone/>
              <a:defRPr sz="1181"/>
            </a:lvl2pPr>
            <a:lvl3pPr marL="385763" indent="0">
              <a:buNone/>
              <a:defRPr sz="1013"/>
            </a:lvl3pPr>
            <a:lvl4pPr marL="578644" indent="0">
              <a:buNone/>
              <a:defRPr sz="844"/>
            </a:lvl4pPr>
            <a:lvl5pPr marL="771525" indent="0">
              <a:buNone/>
              <a:defRPr sz="844"/>
            </a:lvl5pPr>
            <a:lvl6pPr marL="964406" indent="0">
              <a:buNone/>
              <a:defRPr sz="844"/>
            </a:lvl6pPr>
            <a:lvl7pPr marL="1157288" indent="0">
              <a:buNone/>
              <a:defRPr sz="844"/>
            </a:lvl7pPr>
            <a:lvl8pPr marL="1350169" indent="0">
              <a:buNone/>
              <a:defRPr sz="844"/>
            </a:lvl8pPr>
            <a:lvl9pPr marL="1543050" indent="0">
              <a:buNone/>
              <a:defRPr sz="844"/>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9" y="2057400"/>
            <a:ext cx="3932238" cy="3811588"/>
          </a:xfrm>
        </p:spPr>
        <p:txBody>
          <a:bodyPr/>
          <a:lstStyle>
            <a:lvl1pPr marL="0" indent="0">
              <a:buNone/>
              <a:defRPr sz="675"/>
            </a:lvl1pPr>
            <a:lvl2pPr marL="192881" indent="0">
              <a:buNone/>
              <a:defRPr sz="591"/>
            </a:lvl2pPr>
            <a:lvl3pPr marL="385763" indent="0">
              <a:buNone/>
              <a:defRPr sz="506"/>
            </a:lvl3pPr>
            <a:lvl4pPr marL="578644" indent="0">
              <a:buNone/>
              <a:defRPr sz="422"/>
            </a:lvl4pPr>
            <a:lvl5pPr marL="771525" indent="0">
              <a:buNone/>
              <a:defRPr sz="422"/>
            </a:lvl5pPr>
            <a:lvl6pPr marL="964406" indent="0">
              <a:buNone/>
              <a:defRPr sz="422"/>
            </a:lvl6pPr>
            <a:lvl7pPr marL="1157288" indent="0">
              <a:buNone/>
              <a:defRPr sz="422"/>
            </a:lvl7pPr>
            <a:lvl8pPr marL="1350169" indent="0">
              <a:buNone/>
              <a:defRPr sz="422"/>
            </a:lvl8pPr>
            <a:lvl9pPr marL="1543050" indent="0">
              <a:buNone/>
              <a:defRPr sz="42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7450639-A4E6-496B-AD84-E03CC737162C}" type="datetimeFigureOut">
              <a:rPr lang="fr-FR" smtClean="0"/>
              <a:t>04/06/2026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41382336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7450639-A4E6-496B-AD84-E03CC737162C}" type="datetimeFigureOut">
              <a:rPr lang="fr-FR" smtClean="0"/>
              <a:t>04/06/2026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17468871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7450639-A4E6-496B-AD84-E03CC737162C}" type="datetimeFigureOut">
              <a:rPr lang="fr-FR" smtClean="0"/>
              <a:t>04/06/2026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DDBDC9A-E385-4E0D-8006-DC773F869E12}" type="slidenum">
              <a:rPr lang="fr-FR" smtClean="0"/>
              <a:t>‹N°›</a:t>
            </a:fld>
            <a:endParaRPr lang="fr-FR"/>
          </a:p>
        </p:txBody>
      </p:sp>
    </p:spTree>
    <p:extLst>
      <p:ext uri="{BB962C8B-B14F-4D97-AF65-F5344CB8AC3E}">
        <p14:creationId xmlns:p14="http://schemas.microsoft.com/office/powerpoint/2010/main" val="4114873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5" y="584993"/>
            <a:ext cx="10515600" cy="111681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5" y="2061470"/>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8"/>
            <a:ext cx="2706690" cy="365125"/>
          </a:xfrm>
          <a:prstGeom prst="rect">
            <a:avLst/>
          </a:prstGeom>
        </p:spPr>
        <p:txBody>
          <a:bodyPr vert="horz" lIns="91440" tIns="45720" rIns="91440" bIns="45720" rtlCol="0" anchor="ctr"/>
          <a:lstStyle>
            <a:lvl1pPr algn="r">
              <a:defRPr sz="1001">
                <a:solidFill>
                  <a:schemeClr val="tx1"/>
                </a:solidFill>
              </a:defRPr>
            </a:lvl1pPr>
          </a:lstStyle>
          <a:p>
            <a:fld id="{F6CCBF3A-D7FB-4B97-8FD5-6FFB20CB1E84}" type="datetimeFigureOut">
              <a:rPr lang="en-US" smtClean="0"/>
              <a:t>6/4/2026</a:t>
            </a:fld>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5400000">
            <a:off x="-1131161" y="1592960"/>
            <a:ext cx="2973522" cy="365125"/>
          </a:xfrm>
          <a:prstGeom prst="rect">
            <a:avLst/>
          </a:prstGeom>
        </p:spPr>
        <p:txBody>
          <a:bodyPr vert="horz" lIns="91440" tIns="45720" rIns="91440" bIns="45720" rtlCol="0" anchor="ctr"/>
          <a:lstStyle>
            <a:lvl1pPr algn="l">
              <a:defRPr sz="1001">
                <a:solidFill>
                  <a:schemeClr val="tx1"/>
                </a:solidFill>
              </a:defRPr>
            </a:lvl1pPr>
          </a:lstStyle>
          <a:p>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5" y="6356353"/>
            <a:ext cx="574620" cy="365125"/>
          </a:xfrm>
          <a:prstGeom prst="rect">
            <a:avLst/>
          </a:prstGeom>
        </p:spPr>
        <p:txBody>
          <a:bodyPr vert="horz" lIns="91440" tIns="45720" rIns="91440" bIns="45720" rtlCol="0" anchor="ctr"/>
          <a:lstStyle>
            <a:lvl1pPr algn="ctr">
              <a:defRPr sz="1001">
                <a:solidFill>
                  <a:schemeClr val="tx1"/>
                </a:solidFill>
              </a:defRPr>
            </a:lvl1pPr>
          </a:lstStyle>
          <a:p>
            <a:fld id="{3109D357-8067-4A1F-97B2-93C5160B78D9}" type="slidenum">
              <a:rPr lang="en-US" smtClean="0"/>
              <a:t>‹N°›</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59856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3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0" indent="-228610" algn="l" defTabSz="914433" rtl="0" eaLnBrk="1" latinLnBrk="0" hangingPunct="1">
        <a:lnSpc>
          <a:spcPct val="110000"/>
        </a:lnSpc>
        <a:spcBef>
          <a:spcPts val="1001"/>
        </a:spcBef>
        <a:buSzPct val="80000"/>
        <a:buFont typeface="Arial" panose="020B0604020202020204" pitchFamily="34" charset="0"/>
        <a:buChar char="•"/>
        <a:defRPr sz="2000" kern="1200">
          <a:solidFill>
            <a:schemeClr val="tx1"/>
          </a:solidFill>
          <a:latin typeface="+mn-lt"/>
          <a:ea typeface="+mn-ea"/>
          <a:cs typeface="+mn-cs"/>
        </a:defRPr>
      </a:lvl1pPr>
      <a:lvl2pPr marL="502939" indent="-228610" algn="l" defTabSz="914433" rtl="0" eaLnBrk="1" latinLnBrk="0" hangingPunct="1">
        <a:lnSpc>
          <a:spcPct val="110000"/>
        </a:lnSpc>
        <a:spcBef>
          <a:spcPts val="500"/>
        </a:spcBef>
        <a:buSzPct val="80000"/>
        <a:buFont typeface="Goudy Old Style" panose="02020502050305020303" pitchFamily="18" charset="0"/>
        <a:buChar char="–"/>
        <a:defRPr sz="1801" i="1" kern="1200">
          <a:solidFill>
            <a:schemeClr val="tx1"/>
          </a:solidFill>
          <a:latin typeface="+mn-lt"/>
          <a:ea typeface="+mn-ea"/>
          <a:cs typeface="+mn-cs"/>
        </a:defRPr>
      </a:lvl2pPr>
      <a:lvl3pPr marL="822992" indent="-228610" algn="l" defTabSz="914433"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322" indent="-228610" algn="l" defTabSz="914433" rtl="0" eaLnBrk="1" latinLnBrk="0" hangingPunct="1">
        <a:lnSpc>
          <a:spcPct val="110000"/>
        </a:lnSpc>
        <a:spcBef>
          <a:spcPts val="500"/>
        </a:spcBef>
        <a:buSzPct val="80000"/>
        <a:buFont typeface="Goudy Old Style" panose="02020502050305020303" pitchFamily="18" charset="0"/>
        <a:buChar char="–"/>
        <a:defRPr sz="1401" i="1" kern="1200">
          <a:solidFill>
            <a:schemeClr val="tx1"/>
          </a:solidFill>
          <a:latin typeface="+mn-lt"/>
          <a:ea typeface="+mn-ea"/>
          <a:cs typeface="+mn-cs"/>
        </a:defRPr>
      </a:lvl4pPr>
      <a:lvl5pPr marL="1371652" indent="-228610" algn="l" defTabSz="914433" rtl="0" eaLnBrk="1" latinLnBrk="0" hangingPunct="1">
        <a:lnSpc>
          <a:spcPct val="110000"/>
        </a:lnSpc>
        <a:spcBef>
          <a:spcPts val="500"/>
        </a:spcBef>
        <a:buSzPct val="80000"/>
        <a:buFont typeface="Arial" panose="020B0604020202020204" pitchFamily="34" charset="0"/>
        <a:buChar char="•"/>
        <a:defRPr sz="1401" kern="1200">
          <a:solidFill>
            <a:schemeClr val="tx1"/>
          </a:solidFill>
          <a:latin typeface="+mn-lt"/>
          <a:ea typeface="+mn-ea"/>
          <a:cs typeface="+mn-cs"/>
        </a:defRPr>
      </a:lvl5pPr>
      <a:lvl6pPr marL="2514696" indent="-228610" algn="l" defTabSz="91443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12" indent="-228610" algn="l" defTabSz="91443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29" indent="-228610" algn="l" defTabSz="91443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46" indent="-228610" algn="l" defTabSz="91443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33" rtl="0" eaLnBrk="1" latinLnBrk="0" hangingPunct="1">
        <a:defRPr sz="1801" kern="1200">
          <a:solidFill>
            <a:schemeClr val="tx1"/>
          </a:solidFill>
          <a:latin typeface="+mn-lt"/>
          <a:ea typeface="+mn-ea"/>
          <a:cs typeface="+mn-cs"/>
        </a:defRPr>
      </a:lvl1pPr>
      <a:lvl2pPr marL="457217" algn="l" defTabSz="914433" rtl="0" eaLnBrk="1" latinLnBrk="0" hangingPunct="1">
        <a:defRPr sz="1801" kern="1200">
          <a:solidFill>
            <a:schemeClr val="tx1"/>
          </a:solidFill>
          <a:latin typeface="+mn-lt"/>
          <a:ea typeface="+mn-ea"/>
          <a:cs typeface="+mn-cs"/>
        </a:defRPr>
      </a:lvl2pPr>
      <a:lvl3pPr marL="914433" algn="l" defTabSz="914433" rtl="0" eaLnBrk="1" latinLnBrk="0" hangingPunct="1">
        <a:defRPr sz="1801" kern="1200">
          <a:solidFill>
            <a:schemeClr val="tx1"/>
          </a:solidFill>
          <a:latin typeface="+mn-lt"/>
          <a:ea typeface="+mn-ea"/>
          <a:cs typeface="+mn-cs"/>
        </a:defRPr>
      </a:lvl3pPr>
      <a:lvl4pPr marL="1371652" algn="l" defTabSz="914433" rtl="0" eaLnBrk="1" latinLnBrk="0" hangingPunct="1">
        <a:defRPr sz="1801" kern="1200">
          <a:solidFill>
            <a:schemeClr val="tx1"/>
          </a:solidFill>
          <a:latin typeface="+mn-lt"/>
          <a:ea typeface="+mn-ea"/>
          <a:cs typeface="+mn-cs"/>
        </a:defRPr>
      </a:lvl4pPr>
      <a:lvl5pPr marL="1828869" algn="l" defTabSz="914433" rtl="0" eaLnBrk="1" latinLnBrk="0" hangingPunct="1">
        <a:defRPr sz="1801" kern="1200">
          <a:solidFill>
            <a:schemeClr val="tx1"/>
          </a:solidFill>
          <a:latin typeface="+mn-lt"/>
          <a:ea typeface="+mn-ea"/>
          <a:cs typeface="+mn-cs"/>
        </a:defRPr>
      </a:lvl5pPr>
      <a:lvl6pPr marL="2286086" algn="l" defTabSz="914433" rtl="0" eaLnBrk="1" latinLnBrk="0" hangingPunct="1">
        <a:defRPr sz="1801" kern="1200">
          <a:solidFill>
            <a:schemeClr val="tx1"/>
          </a:solidFill>
          <a:latin typeface="+mn-lt"/>
          <a:ea typeface="+mn-ea"/>
          <a:cs typeface="+mn-cs"/>
        </a:defRPr>
      </a:lvl6pPr>
      <a:lvl7pPr marL="2743302" algn="l" defTabSz="914433" rtl="0" eaLnBrk="1" latinLnBrk="0" hangingPunct="1">
        <a:defRPr sz="1801" kern="1200">
          <a:solidFill>
            <a:schemeClr val="tx1"/>
          </a:solidFill>
          <a:latin typeface="+mn-lt"/>
          <a:ea typeface="+mn-ea"/>
          <a:cs typeface="+mn-cs"/>
        </a:defRPr>
      </a:lvl7pPr>
      <a:lvl8pPr marL="3200521" algn="l" defTabSz="914433" rtl="0" eaLnBrk="1" latinLnBrk="0" hangingPunct="1">
        <a:defRPr sz="1801" kern="1200">
          <a:solidFill>
            <a:schemeClr val="tx1"/>
          </a:solidFill>
          <a:latin typeface="+mn-lt"/>
          <a:ea typeface="+mn-ea"/>
          <a:cs typeface="+mn-cs"/>
        </a:defRPr>
      </a:lvl8pPr>
      <a:lvl9pPr marL="3657738" algn="l" defTabSz="914433"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7"/>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506">
                <a:solidFill>
                  <a:schemeClr val="tx1">
                    <a:tint val="75000"/>
                  </a:schemeClr>
                </a:solidFill>
              </a:defRPr>
            </a:lvl1pPr>
          </a:lstStyle>
          <a:p>
            <a:fld id="{27450639-A4E6-496B-AD84-E03CC737162C}" type="datetimeFigureOut">
              <a:rPr lang="fr-FR" smtClean="0"/>
              <a:t>04/06/2026</a:t>
            </a:fld>
            <a:endParaRPr lang="fr-FR"/>
          </a:p>
        </p:txBody>
      </p:sp>
      <p:sp>
        <p:nvSpPr>
          <p:cNvPr id="5" name="Footer Placeholder 4"/>
          <p:cNvSpPr>
            <a:spLocks noGrp="1"/>
          </p:cNvSpPr>
          <p:nvPr>
            <p:ph type="ftr" sz="quarter" idx="3"/>
          </p:nvPr>
        </p:nvSpPr>
        <p:spPr>
          <a:xfrm>
            <a:off x="4038602" y="6356352"/>
            <a:ext cx="4114800" cy="365125"/>
          </a:xfrm>
          <a:prstGeom prst="rect">
            <a:avLst/>
          </a:prstGeom>
        </p:spPr>
        <p:txBody>
          <a:bodyPr vert="horz" lIns="91440" tIns="45720" rIns="91440" bIns="45720" rtlCol="0" anchor="ctr"/>
          <a:lstStyle>
            <a:lvl1pPr algn="ctr">
              <a:defRPr sz="506">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506">
                <a:solidFill>
                  <a:schemeClr val="tx1">
                    <a:tint val="75000"/>
                  </a:schemeClr>
                </a:solidFill>
              </a:defRPr>
            </a:lvl1pPr>
          </a:lstStyle>
          <a:p>
            <a:fld id="{BDDBDC9A-E385-4E0D-8006-DC773F869E12}" type="slidenum">
              <a:rPr lang="fr-FR" smtClean="0"/>
              <a:t>‹N°›</a:t>
            </a:fld>
            <a:endParaRPr lang="fr-FR"/>
          </a:p>
        </p:txBody>
      </p:sp>
    </p:spTree>
    <p:extLst>
      <p:ext uri="{BB962C8B-B14F-4D97-AF65-F5344CB8AC3E}">
        <p14:creationId xmlns:p14="http://schemas.microsoft.com/office/powerpoint/2010/main" val="49677614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385763" rtl="0" eaLnBrk="1" latinLnBrk="0" hangingPunct="1">
        <a:lnSpc>
          <a:spcPct val="90000"/>
        </a:lnSpc>
        <a:spcBef>
          <a:spcPct val="0"/>
        </a:spcBef>
        <a:buNone/>
        <a:defRPr sz="1856" kern="1200">
          <a:solidFill>
            <a:schemeClr val="tx1"/>
          </a:solidFill>
          <a:latin typeface="+mj-lt"/>
          <a:ea typeface="+mj-ea"/>
          <a:cs typeface="+mj-cs"/>
        </a:defRPr>
      </a:lvl1pPr>
    </p:titleStyle>
    <p:bodyStyle>
      <a:lvl1pPr marL="96441" indent="-96441" algn="l" defTabSz="385763" rtl="0" eaLnBrk="1" latinLnBrk="0" hangingPunct="1">
        <a:lnSpc>
          <a:spcPct val="90000"/>
        </a:lnSpc>
        <a:spcBef>
          <a:spcPts val="422"/>
        </a:spcBef>
        <a:buFont typeface="Arial" panose="020B0604020202020204" pitchFamily="34" charset="0"/>
        <a:buChar char="•"/>
        <a:defRPr sz="1181" kern="1200">
          <a:solidFill>
            <a:schemeClr val="tx1"/>
          </a:solidFill>
          <a:latin typeface="+mn-lt"/>
          <a:ea typeface="+mn-ea"/>
          <a:cs typeface="+mn-cs"/>
        </a:defRPr>
      </a:lvl1pPr>
      <a:lvl2pPr marL="289322" indent="-96441" algn="l" defTabSz="385763" rtl="0" eaLnBrk="1" latinLnBrk="0" hangingPunct="1">
        <a:lnSpc>
          <a:spcPct val="90000"/>
        </a:lnSpc>
        <a:spcBef>
          <a:spcPts val="211"/>
        </a:spcBef>
        <a:buFont typeface="Arial" panose="020B0604020202020204" pitchFamily="34" charset="0"/>
        <a:buChar char="•"/>
        <a:defRPr sz="1013" kern="1200">
          <a:solidFill>
            <a:schemeClr val="tx1"/>
          </a:solidFill>
          <a:latin typeface="+mn-lt"/>
          <a:ea typeface="+mn-ea"/>
          <a:cs typeface="+mn-cs"/>
        </a:defRPr>
      </a:lvl2pPr>
      <a:lvl3pPr marL="482203" indent="-96441" algn="l" defTabSz="385763" rtl="0" eaLnBrk="1" latinLnBrk="0" hangingPunct="1">
        <a:lnSpc>
          <a:spcPct val="90000"/>
        </a:lnSpc>
        <a:spcBef>
          <a:spcPts val="211"/>
        </a:spcBef>
        <a:buFont typeface="Arial" panose="020B0604020202020204" pitchFamily="34" charset="0"/>
        <a:buChar char="•"/>
        <a:defRPr sz="844" kern="1200">
          <a:solidFill>
            <a:schemeClr val="tx1"/>
          </a:solidFill>
          <a:latin typeface="+mn-lt"/>
          <a:ea typeface="+mn-ea"/>
          <a:cs typeface="+mn-cs"/>
        </a:defRPr>
      </a:lvl3pPr>
      <a:lvl4pPr marL="675084" indent="-96441" algn="l" defTabSz="385763" rtl="0" eaLnBrk="1" latinLnBrk="0" hangingPunct="1">
        <a:lnSpc>
          <a:spcPct val="90000"/>
        </a:lnSpc>
        <a:spcBef>
          <a:spcPts val="211"/>
        </a:spcBef>
        <a:buFont typeface="Arial" panose="020B0604020202020204" pitchFamily="34" charset="0"/>
        <a:buChar char="•"/>
        <a:defRPr sz="759" kern="1200">
          <a:solidFill>
            <a:schemeClr val="tx1"/>
          </a:solidFill>
          <a:latin typeface="+mn-lt"/>
          <a:ea typeface="+mn-ea"/>
          <a:cs typeface="+mn-cs"/>
        </a:defRPr>
      </a:lvl4pPr>
      <a:lvl5pPr marL="867966" indent="-96441" algn="l" defTabSz="385763" rtl="0" eaLnBrk="1" latinLnBrk="0" hangingPunct="1">
        <a:lnSpc>
          <a:spcPct val="90000"/>
        </a:lnSpc>
        <a:spcBef>
          <a:spcPts val="211"/>
        </a:spcBef>
        <a:buFont typeface="Arial" panose="020B0604020202020204" pitchFamily="34" charset="0"/>
        <a:buChar char="•"/>
        <a:defRPr sz="759" kern="1200">
          <a:solidFill>
            <a:schemeClr val="tx1"/>
          </a:solidFill>
          <a:latin typeface="+mn-lt"/>
          <a:ea typeface="+mn-ea"/>
          <a:cs typeface="+mn-cs"/>
        </a:defRPr>
      </a:lvl5pPr>
      <a:lvl6pPr marL="1060847" indent="-96441" algn="l" defTabSz="385763" rtl="0" eaLnBrk="1" latinLnBrk="0" hangingPunct="1">
        <a:lnSpc>
          <a:spcPct val="90000"/>
        </a:lnSpc>
        <a:spcBef>
          <a:spcPts val="211"/>
        </a:spcBef>
        <a:buFont typeface="Arial" panose="020B0604020202020204" pitchFamily="34" charset="0"/>
        <a:buChar char="•"/>
        <a:defRPr sz="759" kern="1200">
          <a:solidFill>
            <a:schemeClr val="tx1"/>
          </a:solidFill>
          <a:latin typeface="+mn-lt"/>
          <a:ea typeface="+mn-ea"/>
          <a:cs typeface="+mn-cs"/>
        </a:defRPr>
      </a:lvl6pPr>
      <a:lvl7pPr marL="1253728" indent="-96441" algn="l" defTabSz="385763" rtl="0" eaLnBrk="1" latinLnBrk="0" hangingPunct="1">
        <a:lnSpc>
          <a:spcPct val="90000"/>
        </a:lnSpc>
        <a:spcBef>
          <a:spcPts val="211"/>
        </a:spcBef>
        <a:buFont typeface="Arial" panose="020B0604020202020204" pitchFamily="34" charset="0"/>
        <a:buChar char="•"/>
        <a:defRPr sz="759" kern="1200">
          <a:solidFill>
            <a:schemeClr val="tx1"/>
          </a:solidFill>
          <a:latin typeface="+mn-lt"/>
          <a:ea typeface="+mn-ea"/>
          <a:cs typeface="+mn-cs"/>
        </a:defRPr>
      </a:lvl7pPr>
      <a:lvl8pPr marL="1446609" indent="-96441" algn="l" defTabSz="385763" rtl="0" eaLnBrk="1" latinLnBrk="0" hangingPunct="1">
        <a:lnSpc>
          <a:spcPct val="90000"/>
        </a:lnSpc>
        <a:spcBef>
          <a:spcPts val="211"/>
        </a:spcBef>
        <a:buFont typeface="Arial" panose="020B0604020202020204" pitchFamily="34" charset="0"/>
        <a:buChar char="•"/>
        <a:defRPr sz="759" kern="1200">
          <a:solidFill>
            <a:schemeClr val="tx1"/>
          </a:solidFill>
          <a:latin typeface="+mn-lt"/>
          <a:ea typeface="+mn-ea"/>
          <a:cs typeface="+mn-cs"/>
        </a:defRPr>
      </a:lvl8pPr>
      <a:lvl9pPr marL="1639491" indent="-96441" algn="l" defTabSz="385763" rtl="0" eaLnBrk="1" latinLnBrk="0" hangingPunct="1">
        <a:lnSpc>
          <a:spcPct val="90000"/>
        </a:lnSpc>
        <a:spcBef>
          <a:spcPts val="211"/>
        </a:spcBef>
        <a:buFont typeface="Arial" panose="020B0604020202020204" pitchFamily="34" charset="0"/>
        <a:buChar char="•"/>
        <a:defRPr sz="759" kern="1200">
          <a:solidFill>
            <a:schemeClr val="tx1"/>
          </a:solidFill>
          <a:latin typeface="+mn-lt"/>
          <a:ea typeface="+mn-ea"/>
          <a:cs typeface="+mn-cs"/>
        </a:defRPr>
      </a:lvl9pPr>
    </p:bodyStyle>
    <p:otherStyle>
      <a:defPPr>
        <a:defRPr lang="en-US"/>
      </a:defPPr>
      <a:lvl1pPr marL="0" algn="l" defTabSz="385763" rtl="0" eaLnBrk="1" latinLnBrk="0" hangingPunct="1">
        <a:defRPr sz="759" kern="1200">
          <a:solidFill>
            <a:schemeClr val="tx1"/>
          </a:solidFill>
          <a:latin typeface="+mn-lt"/>
          <a:ea typeface="+mn-ea"/>
          <a:cs typeface="+mn-cs"/>
        </a:defRPr>
      </a:lvl1pPr>
      <a:lvl2pPr marL="192881" algn="l" defTabSz="385763" rtl="0" eaLnBrk="1" latinLnBrk="0" hangingPunct="1">
        <a:defRPr sz="759" kern="1200">
          <a:solidFill>
            <a:schemeClr val="tx1"/>
          </a:solidFill>
          <a:latin typeface="+mn-lt"/>
          <a:ea typeface="+mn-ea"/>
          <a:cs typeface="+mn-cs"/>
        </a:defRPr>
      </a:lvl2pPr>
      <a:lvl3pPr marL="385763" algn="l" defTabSz="385763" rtl="0" eaLnBrk="1" latinLnBrk="0" hangingPunct="1">
        <a:defRPr sz="759" kern="1200">
          <a:solidFill>
            <a:schemeClr val="tx1"/>
          </a:solidFill>
          <a:latin typeface="+mn-lt"/>
          <a:ea typeface="+mn-ea"/>
          <a:cs typeface="+mn-cs"/>
        </a:defRPr>
      </a:lvl3pPr>
      <a:lvl4pPr marL="578644" algn="l" defTabSz="385763" rtl="0" eaLnBrk="1" latinLnBrk="0" hangingPunct="1">
        <a:defRPr sz="759" kern="1200">
          <a:solidFill>
            <a:schemeClr val="tx1"/>
          </a:solidFill>
          <a:latin typeface="+mn-lt"/>
          <a:ea typeface="+mn-ea"/>
          <a:cs typeface="+mn-cs"/>
        </a:defRPr>
      </a:lvl4pPr>
      <a:lvl5pPr marL="771525" algn="l" defTabSz="385763" rtl="0" eaLnBrk="1" latinLnBrk="0" hangingPunct="1">
        <a:defRPr sz="759" kern="1200">
          <a:solidFill>
            <a:schemeClr val="tx1"/>
          </a:solidFill>
          <a:latin typeface="+mn-lt"/>
          <a:ea typeface="+mn-ea"/>
          <a:cs typeface="+mn-cs"/>
        </a:defRPr>
      </a:lvl5pPr>
      <a:lvl6pPr marL="964406" algn="l" defTabSz="385763" rtl="0" eaLnBrk="1" latinLnBrk="0" hangingPunct="1">
        <a:defRPr sz="759" kern="1200">
          <a:solidFill>
            <a:schemeClr val="tx1"/>
          </a:solidFill>
          <a:latin typeface="+mn-lt"/>
          <a:ea typeface="+mn-ea"/>
          <a:cs typeface="+mn-cs"/>
        </a:defRPr>
      </a:lvl6pPr>
      <a:lvl7pPr marL="1157288" algn="l" defTabSz="385763" rtl="0" eaLnBrk="1" latinLnBrk="0" hangingPunct="1">
        <a:defRPr sz="759" kern="1200">
          <a:solidFill>
            <a:schemeClr val="tx1"/>
          </a:solidFill>
          <a:latin typeface="+mn-lt"/>
          <a:ea typeface="+mn-ea"/>
          <a:cs typeface="+mn-cs"/>
        </a:defRPr>
      </a:lvl7pPr>
      <a:lvl8pPr marL="1350169" algn="l" defTabSz="385763" rtl="0" eaLnBrk="1" latinLnBrk="0" hangingPunct="1">
        <a:defRPr sz="759" kern="1200">
          <a:solidFill>
            <a:schemeClr val="tx1"/>
          </a:solidFill>
          <a:latin typeface="+mn-lt"/>
          <a:ea typeface="+mn-ea"/>
          <a:cs typeface="+mn-cs"/>
        </a:defRPr>
      </a:lvl8pPr>
      <a:lvl9pPr marL="1543050" algn="l" defTabSz="385763" rtl="0" eaLnBrk="1" latinLnBrk="0" hangingPunct="1">
        <a:defRPr sz="75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hyperlink" Target="https://app.wooclap.com/events/OZPZGU/0"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306716-2012-7410-7B22-1795E700A259}"/>
              </a:ext>
            </a:extLst>
          </p:cNvPr>
          <p:cNvSpPr>
            <a:spLocks noGrp="1"/>
          </p:cNvSpPr>
          <p:nvPr>
            <p:ph type="title"/>
          </p:nvPr>
        </p:nvSpPr>
        <p:spPr>
          <a:xfrm>
            <a:off x="930672" y="2642388"/>
            <a:ext cx="10812689" cy="2165918"/>
          </a:xfrm>
        </p:spPr>
        <p:txBody>
          <a:bodyPr>
            <a:normAutofit/>
          </a:bodyPr>
          <a:lstStyle/>
          <a:p>
            <a:r>
              <a:rPr lang="en-US" dirty="0"/>
              <a:t>What is Sustainable Finance?</a:t>
            </a:r>
            <a:br>
              <a:rPr lang="en-US" dirty="0"/>
            </a:br>
            <a:endParaRPr lang="fr-FR" b="1" dirty="0"/>
          </a:p>
        </p:txBody>
      </p:sp>
    </p:spTree>
    <p:extLst>
      <p:ext uri="{BB962C8B-B14F-4D97-AF65-F5344CB8AC3E}">
        <p14:creationId xmlns:p14="http://schemas.microsoft.com/office/powerpoint/2010/main" val="2513341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A57110-9674-7099-9C76-FD372F95121B}"/>
              </a:ext>
            </a:extLst>
          </p:cNvPr>
          <p:cNvSpPr>
            <a:spLocks noGrp="1"/>
          </p:cNvSpPr>
          <p:nvPr>
            <p:ph type="title"/>
          </p:nvPr>
        </p:nvSpPr>
        <p:spPr/>
        <p:txBody>
          <a:bodyPr/>
          <a:lstStyle/>
          <a:p>
            <a:r>
              <a:rPr lang="en-US" dirty="0"/>
              <a:t>What are we going to analyze?</a:t>
            </a:r>
            <a:endParaRPr lang="fr-FR" dirty="0"/>
          </a:p>
        </p:txBody>
      </p:sp>
      <p:sp>
        <p:nvSpPr>
          <p:cNvPr id="3" name="Espace réservé du contenu 2">
            <a:extLst>
              <a:ext uri="{FF2B5EF4-FFF2-40B4-BE49-F238E27FC236}">
                <a16:creationId xmlns:a16="http://schemas.microsoft.com/office/drawing/2014/main" id="{9D163B1E-A5CB-4F4E-A76A-31A2A877E98C}"/>
              </a:ext>
            </a:extLst>
          </p:cNvPr>
          <p:cNvSpPr>
            <a:spLocks noGrp="1"/>
          </p:cNvSpPr>
          <p:nvPr>
            <p:ph idx="1"/>
          </p:nvPr>
        </p:nvSpPr>
        <p:spPr>
          <a:xfrm>
            <a:off x="386080" y="2061470"/>
            <a:ext cx="10967725" cy="4114801"/>
          </a:xfrm>
        </p:spPr>
        <p:txBody>
          <a:bodyPr vert="horz" lIns="91440" tIns="45720" rIns="91440" bIns="45720" rtlCol="0" anchor="t">
            <a:normAutofit/>
          </a:bodyPr>
          <a:lstStyle/>
          <a:p>
            <a:pPr marL="0" indent="0">
              <a:buNone/>
            </a:pPr>
            <a:r>
              <a:rPr lang="en-US" sz="2400" dirty="0"/>
              <a:t>Main skills/competencies targeted: </a:t>
            </a:r>
            <a:r>
              <a:rPr lang="en-US" sz="2400" b="1" dirty="0"/>
              <a:t>Financing in a sustainable way</a:t>
            </a:r>
          </a:p>
          <a:p>
            <a:pPr marL="0" indent="0">
              <a:buNone/>
            </a:pPr>
            <a:endParaRPr lang="en-US" sz="2400" dirty="0"/>
          </a:p>
          <a:p>
            <a:pPr marL="228600" indent="-228600"/>
            <a:r>
              <a:rPr lang="en-US" sz="2400"/>
              <a:t>How to build a sustainable finance: rules and framework?</a:t>
            </a:r>
            <a:endParaRPr lang="en-US" sz="2400">
              <a:ea typeface="Calibri"/>
              <a:cs typeface="Calibri"/>
            </a:endParaRPr>
          </a:p>
          <a:p>
            <a:r>
              <a:rPr lang="en-US" sz="2400" dirty="0"/>
              <a:t>Why do banks exist?</a:t>
            </a:r>
          </a:p>
          <a:p>
            <a:r>
              <a:rPr lang="en-US" sz="2400" dirty="0"/>
              <a:t>Sustainable banking: a stakeholder approach</a:t>
            </a:r>
          </a:p>
        </p:txBody>
      </p:sp>
    </p:spTree>
    <p:extLst>
      <p:ext uri="{BB962C8B-B14F-4D97-AF65-F5344CB8AC3E}">
        <p14:creationId xmlns:p14="http://schemas.microsoft.com/office/powerpoint/2010/main" val="442648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512" name="Rectangle 21511">
            <a:extLst>
              <a:ext uri="{FF2B5EF4-FFF2-40B4-BE49-F238E27FC236}">
                <a16:creationId xmlns:a16="http://schemas.microsoft.com/office/drawing/2014/main" id="{BCF03A2E-B266-4817-B378-45B9DC3EC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07" name="Picture 2" descr="Une image contenant texte, capture d’écran, Police, conception&#10;&#10;Description générée automatiquement">
            <a:extLst>
              <a:ext uri="{FF2B5EF4-FFF2-40B4-BE49-F238E27FC236}">
                <a16:creationId xmlns:a16="http://schemas.microsoft.com/office/drawing/2014/main" id="{1B87DD43-CC09-4F42-95AE-6C9D88B3732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5733" y="183671"/>
            <a:ext cx="4452874" cy="65263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514" name="Straight Connector 21513">
            <a:extLst>
              <a:ext uri="{FF2B5EF4-FFF2-40B4-BE49-F238E27FC236}">
                <a16:creationId xmlns:a16="http://schemas.microsoft.com/office/drawing/2014/main" id="{7882FDDB-12BA-4531-A762-4803DABD6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B32C22CC-600F-587A-607E-FEB64175480F}"/>
              </a:ext>
            </a:extLst>
          </p:cNvPr>
          <p:cNvSpPr txBox="1"/>
          <p:nvPr/>
        </p:nvSpPr>
        <p:spPr>
          <a:xfrm>
            <a:off x="5583720" y="2672370"/>
            <a:ext cx="5770079" cy="3504591"/>
          </a:xfrm>
          <a:prstGeom prst="rect">
            <a:avLst/>
          </a:prstGeom>
        </p:spPr>
        <p:txBody>
          <a:bodyPr vert="horz" lIns="91440" tIns="45720" rIns="91440" bIns="45720" rtlCol="0">
            <a:normAutofit/>
          </a:bodyPr>
          <a:lstStyle/>
          <a:p>
            <a:pPr indent="-228600">
              <a:lnSpc>
                <a:spcPct val="110000"/>
              </a:lnSpc>
              <a:spcAft>
                <a:spcPts val="600"/>
              </a:spcAft>
              <a:buSzPct val="80000"/>
              <a:defRPr/>
            </a:pPr>
            <a:r>
              <a:rPr lang="en-US"/>
              <a:t>We start from our own research and results</a:t>
            </a:r>
          </a:p>
          <a:p>
            <a:pPr marL="0" marR="0" lvl="0" indent="-228600" fontAlgn="auto">
              <a:lnSpc>
                <a:spcPct val="110000"/>
              </a:lnSpc>
              <a:spcBef>
                <a:spcPts val="0"/>
              </a:spcBef>
              <a:spcAft>
                <a:spcPts val="600"/>
              </a:spcAft>
              <a:buClrTx/>
              <a:buSzPct val="80000"/>
              <a:buFontTx/>
              <a:buNone/>
              <a:tabLst/>
              <a:defRPr/>
            </a:pPr>
            <a:endParaRPr kumimoji="0" lang="en-US" b="1" i="0" u="none" strike="noStrike" cap="none" spc="0" normalizeH="0" baseline="0" noProof="0">
              <a:ln>
                <a:noFill/>
              </a:ln>
              <a:effectLst/>
              <a:uLnTx/>
              <a:uFillTx/>
            </a:endParaRPr>
          </a:p>
          <a:p>
            <a:pPr marL="0" marR="0" lvl="0" indent="-228600" fontAlgn="auto">
              <a:lnSpc>
                <a:spcPct val="110000"/>
              </a:lnSpc>
              <a:spcBef>
                <a:spcPts val="0"/>
              </a:spcBef>
              <a:spcAft>
                <a:spcPts val="600"/>
              </a:spcAft>
              <a:buClrTx/>
              <a:buSzPct val="80000"/>
              <a:buFontTx/>
              <a:buNone/>
              <a:tabLst/>
              <a:defRPr/>
            </a:pPr>
            <a:r>
              <a:rPr kumimoji="0" lang="en-US" b="1" i="0" u="none" strike="noStrike" cap="none" spc="0" normalizeH="0" baseline="0" noProof="0">
                <a:ln>
                  <a:noFill/>
                </a:ln>
                <a:effectLst/>
                <a:uLnTx/>
                <a:uFillTx/>
              </a:rPr>
              <a:t>Turgot PRIZE in 2012</a:t>
            </a:r>
          </a:p>
        </p:txBody>
      </p:sp>
      <p:sp>
        <p:nvSpPr>
          <p:cNvPr id="21506" name="Espace réservé du numéro de diapositive 1">
            <a:extLst>
              <a:ext uri="{FF2B5EF4-FFF2-40B4-BE49-F238E27FC236}">
                <a16:creationId xmlns:a16="http://schemas.microsoft.com/office/drawing/2014/main" id="{389FB208-7934-4F4D-9510-2FA09652FAA9}"/>
              </a:ext>
            </a:extLst>
          </p:cNvPr>
          <p:cNvSpPr>
            <a:spLocks noGrp="1"/>
          </p:cNvSpPr>
          <p:nvPr>
            <p:ph type="sldNum" sz="quarter" idx="12"/>
          </p:nvPr>
        </p:nvSpPr>
        <p:spPr>
          <a:xfrm>
            <a:off x="11512296" y="6356350"/>
            <a:ext cx="57462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marR="0" lvl="0" indent="0" fontAlgn="auto">
              <a:spcBef>
                <a:spcPct val="0"/>
              </a:spcBef>
              <a:spcAft>
                <a:spcPts val="600"/>
              </a:spcAft>
              <a:buClrTx/>
              <a:buSzTx/>
              <a:buFontTx/>
              <a:buNone/>
              <a:tabLst/>
              <a:defRPr/>
            </a:pPr>
            <a:fld id="{D47D251B-9065-49A5-954E-E3F4F65946DE}" type="slidenum">
              <a:rPr kumimoji="0" lang="en-US" altLang="fr-FR" sz="1000" b="0" i="0" u="none" strike="noStrike" cap="none" spc="0" normalizeH="0" baseline="0" noProof="0" smtClean="0">
                <a:ln>
                  <a:noFill/>
                </a:ln>
                <a:effectLst/>
                <a:uLnTx/>
                <a:uFillTx/>
                <a:latin typeface="+mn-lt"/>
              </a:rPr>
              <a:pPr marR="0" lvl="0" indent="0" fontAlgn="auto">
                <a:spcBef>
                  <a:spcPct val="0"/>
                </a:spcBef>
                <a:spcAft>
                  <a:spcPts val="600"/>
                </a:spcAft>
                <a:buClrTx/>
                <a:buSzTx/>
                <a:buFontTx/>
                <a:buNone/>
                <a:tabLst/>
                <a:defRPr/>
              </a:pPr>
              <a:t>3</a:t>
            </a:fld>
            <a:endParaRPr kumimoji="0" lang="en-US" altLang="fr-FR" sz="1000" b="0" i="0" u="none" strike="noStrike" cap="none" spc="0" normalizeH="0" baseline="0" noProof="0">
              <a:ln>
                <a:noFill/>
              </a:ln>
              <a:effectLst/>
              <a:uLnTx/>
              <a:uFillTx/>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CF03A2E-B266-4817-B378-45B9DC3EC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Pièces">
            <a:extLst>
              <a:ext uri="{FF2B5EF4-FFF2-40B4-BE49-F238E27FC236}">
                <a16:creationId xmlns:a16="http://schemas.microsoft.com/office/drawing/2014/main" id="{F180FF3C-E14B-FF77-5CD8-920E48A744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8201" y="1893124"/>
            <a:ext cx="3071752" cy="3071752"/>
          </a:xfrm>
          <a:prstGeom prst="rect">
            <a:avLst/>
          </a:prstGeom>
        </p:spPr>
      </p:pic>
      <p:cxnSp>
        <p:nvCxnSpPr>
          <p:cNvPr id="14" name="Straight Connector 13">
            <a:extLst>
              <a:ext uri="{FF2B5EF4-FFF2-40B4-BE49-F238E27FC236}">
                <a16:creationId xmlns:a16="http://schemas.microsoft.com/office/drawing/2014/main" id="{7882FDDB-12BA-4531-A762-4803DABD6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078C69F5-299F-F788-3D1C-D0CFD90DCCA0}"/>
              </a:ext>
            </a:extLst>
          </p:cNvPr>
          <p:cNvSpPr txBox="1"/>
          <p:nvPr/>
        </p:nvSpPr>
        <p:spPr>
          <a:xfrm>
            <a:off x="5274158" y="1898464"/>
            <a:ext cx="6460640" cy="3742715"/>
          </a:xfrm>
          <a:prstGeom prst="rect">
            <a:avLst/>
          </a:prstGeom>
        </p:spPr>
        <p:txBody>
          <a:bodyPr vert="horz" lIns="91440" tIns="45720" rIns="91440" bIns="45720" rtlCol="0" anchor="t">
            <a:normAutofit fontScale="92500" lnSpcReduction="10000"/>
          </a:bodyPr>
          <a:lstStyle/>
          <a:p>
            <a:pPr indent="-228600">
              <a:spcAft>
                <a:spcPts val="600"/>
              </a:spcAft>
              <a:buSzPct val="80000"/>
            </a:pPr>
            <a:br>
              <a:rPr lang="en-US" sz="2400" b="1" dirty="0"/>
            </a:br>
            <a:br>
              <a:rPr lang="en-US" sz="2400" b="1" dirty="0"/>
            </a:br>
            <a:r>
              <a:rPr lang="en-US" sz="2400"/>
              <a:t>Our contribution</a:t>
            </a:r>
            <a:br>
              <a:rPr lang="en-US" sz="2400" b="1" dirty="0"/>
            </a:br>
            <a:br>
              <a:rPr lang="en-US" sz="2400" dirty="0"/>
            </a:br>
            <a:r>
              <a:rPr lang="en-US" sz="2400"/>
              <a:t>New financial research - 16 academics, scolars and Professional experts have converged in </a:t>
            </a:r>
            <a:r>
              <a:rPr lang="en-US" sz="2400" b="1"/>
              <a:t>« Sustainable finance: a new finance for the 21st century?”</a:t>
            </a:r>
            <a:r>
              <a:rPr lang="en-US" sz="2400"/>
              <a:t> (book published in sept. 2011) </a:t>
            </a:r>
            <a:br>
              <a:rPr lang="en-US" sz="2400" dirty="0"/>
            </a:br>
            <a:br>
              <a:rPr lang="en-US" sz="2400" dirty="0"/>
            </a:br>
            <a:r>
              <a:rPr lang="en-US" sz="2400"/>
              <a:t>Book supported by </a:t>
            </a:r>
            <a:r>
              <a:rPr lang="en-US" sz="2400" b="1"/>
              <a:t>French Professional Banking Organization </a:t>
            </a:r>
            <a:r>
              <a:rPr lang="en-US" sz="2400"/>
              <a:t>– FBF - Directed by Dhafer SAIDANE and Pascal GRANDIN –</a:t>
            </a:r>
            <a:r>
              <a:rPr lang="en-US" sz="2400" b="1"/>
              <a:t>SKEMA Business School</a:t>
            </a:r>
            <a:endParaRPr lang="en-US" sz="2400"/>
          </a:p>
        </p:txBody>
      </p:sp>
      <p:sp>
        <p:nvSpPr>
          <p:cNvPr id="5" name="ZoneTexte 4">
            <a:extLst>
              <a:ext uri="{FF2B5EF4-FFF2-40B4-BE49-F238E27FC236}">
                <a16:creationId xmlns:a16="http://schemas.microsoft.com/office/drawing/2014/main" id="{CA82C6DB-C526-4709-40AA-B36A1BC33C05}"/>
              </a:ext>
            </a:extLst>
          </p:cNvPr>
          <p:cNvSpPr txBox="1"/>
          <p:nvPr/>
        </p:nvSpPr>
        <p:spPr>
          <a:xfrm>
            <a:off x="5006506" y="538408"/>
            <a:ext cx="6097554" cy="523220"/>
          </a:xfrm>
          <a:prstGeom prst="rect">
            <a:avLst/>
          </a:prstGeom>
          <a:noFill/>
        </p:spPr>
        <p:txBody>
          <a:bodyPr wrap="square">
            <a:spAutoFit/>
          </a:bodyPr>
          <a:lstStyle/>
          <a:p>
            <a:pPr algn="ctr">
              <a:spcAft>
                <a:spcPts val="600"/>
              </a:spcAft>
            </a:pPr>
            <a:r>
              <a:rPr lang="fr-FR" sz="2800" b="1" dirty="0" err="1">
                <a:solidFill>
                  <a:schemeClr val="tx1"/>
                </a:solidFill>
              </a:rPr>
              <a:t>What</a:t>
            </a:r>
            <a:r>
              <a:rPr lang="fr-FR" sz="2800" b="1" dirty="0">
                <a:solidFill>
                  <a:schemeClr val="tx1"/>
                </a:solidFill>
              </a:rPr>
              <a:t> </a:t>
            </a:r>
            <a:r>
              <a:rPr lang="fr-FR" sz="2800" b="1" dirty="0" err="1">
                <a:solidFill>
                  <a:schemeClr val="tx1"/>
                </a:solidFill>
              </a:rPr>
              <a:t>is</a:t>
            </a:r>
            <a:r>
              <a:rPr lang="fr-FR" sz="2800" b="1" dirty="0">
                <a:solidFill>
                  <a:schemeClr val="tx1"/>
                </a:solidFill>
              </a:rPr>
              <a:t> « </a:t>
            </a:r>
            <a:r>
              <a:rPr lang="fr-FR" sz="2800" b="1" dirty="0" err="1">
                <a:solidFill>
                  <a:schemeClr val="tx1"/>
                </a:solidFill>
              </a:rPr>
              <a:t>Sustainable</a:t>
            </a:r>
            <a:r>
              <a:rPr lang="fr-FR" sz="2800" b="1" dirty="0">
                <a:solidFill>
                  <a:schemeClr val="tx1"/>
                </a:solidFill>
              </a:rPr>
              <a:t> Finance»?</a:t>
            </a:r>
            <a:endParaRPr lang="en-US" sz="2800"/>
          </a:p>
        </p:txBody>
      </p:sp>
    </p:spTree>
    <p:extLst>
      <p:ext uri="{BB962C8B-B14F-4D97-AF65-F5344CB8AC3E}">
        <p14:creationId xmlns:p14="http://schemas.microsoft.com/office/powerpoint/2010/main" val="31171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22541" name="Straight Connector 22534">
            <a:extLst>
              <a:ext uri="{FF2B5EF4-FFF2-40B4-BE49-F238E27FC236}">
                <a16:creationId xmlns:a16="http://schemas.microsoft.com/office/drawing/2014/main" id="{24A7CC8F-56A6-423D-B67A-8BA89D3EC9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542" name="Rectangle 22541">
            <a:extLst>
              <a:ext uri="{FF2B5EF4-FFF2-40B4-BE49-F238E27FC236}">
                <a16:creationId xmlns:a16="http://schemas.microsoft.com/office/drawing/2014/main" id="{BE2CBB04-1A76-4CCE-8714-FEF8FC2D9A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ZoneTexte 2">
            <a:extLst>
              <a:ext uri="{FF2B5EF4-FFF2-40B4-BE49-F238E27FC236}">
                <a16:creationId xmlns:a16="http://schemas.microsoft.com/office/drawing/2014/main" id="{0C077222-042B-60E2-3EBF-5AAE3B8479E2}"/>
              </a:ext>
            </a:extLst>
          </p:cNvPr>
          <p:cNvSpPr txBox="1"/>
          <p:nvPr/>
        </p:nvSpPr>
        <p:spPr>
          <a:xfrm>
            <a:off x="1451478" y="508003"/>
            <a:ext cx="9902322" cy="944877"/>
          </a:xfrm>
          <a:prstGeom prst="rect">
            <a:avLst/>
          </a:prstGeom>
        </p:spPr>
        <p:txBody>
          <a:bodyPr vert="horz" lIns="91440" tIns="45720" rIns="91440" bIns="45720" rtlCol="0" anchor="ctr">
            <a:normAutofit/>
          </a:bodyPr>
          <a:lstStyle/>
          <a:p>
            <a:pPr marR="0" lvl="0" algn="r" fontAlgn="auto">
              <a:lnSpc>
                <a:spcPct val="110000"/>
              </a:lnSpc>
              <a:spcBef>
                <a:spcPts val="1000"/>
              </a:spcBef>
              <a:spcAft>
                <a:spcPts val="0"/>
              </a:spcAft>
              <a:buClrTx/>
              <a:buSzPct val="80000"/>
              <a:tabLst/>
              <a:defRPr/>
            </a:pPr>
            <a:r>
              <a:rPr kumimoji="0" lang="en-US" altLang="fr-FR" sz="2000" b="1" i="0" u="none" strike="noStrike" cap="none" spc="0" normalizeH="0" baseline="0" noProof="0">
                <a:ln>
                  <a:noFill/>
                </a:ln>
                <a:effectLst/>
                <a:uLnTx/>
                <a:uFillTx/>
              </a:rPr>
              <a:t>The 5 RULES/FEATURES OF SUSTAINABLE FINANCE</a:t>
            </a:r>
          </a:p>
        </p:txBody>
      </p:sp>
      <p:cxnSp>
        <p:nvCxnSpPr>
          <p:cNvPr id="22543" name="Straight Connector 22538">
            <a:extLst>
              <a:ext uri="{FF2B5EF4-FFF2-40B4-BE49-F238E27FC236}">
                <a16:creationId xmlns:a16="http://schemas.microsoft.com/office/drawing/2014/main" id="{1678CC7D-ADE8-4FEE-A9AF-A7CE40FEAC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530" name="Rectangle 3">
            <a:extLst>
              <a:ext uri="{FF2B5EF4-FFF2-40B4-BE49-F238E27FC236}">
                <a16:creationId xmlns:a16="http://schemas.microsoft.com/office/drawing/2014/main" id="{FD929380-05F2-4201-97DA-214B536769F0}"/>
              </a:ext>
            </a:extLst>
          </p:cNvPr>
          <p:cNvSpPr>
            <a:spLocks noChangeArrowheads="1"/>
          </p:cNvSpPr>
          <p:nvPr/>
        </p:nvSpPr>
        <p:spPr bwMode="auto">
          <a:xfrm>
            <a:off x="564813" y="1778804"/>
            <a:ext cx="11346180" cy="4847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marL="0" marR="0" lvl="0" indent="0" algn="ctr" defTabSz="914400" rtl="0" eaLnBrk="1" fontAlgn="auto" latinLnBrk="0" hangingPunct="1">
              <a:spcBef>
                <a:spcPct val="0"/>
              </a:spcBef>
              <a:spcAft>
                <a:spcPts val="600"/>
              </a:spcAft>
              <a:buClrTx/>
              <a:buSzTx/>
              <a:buFontTx/>
              <a:buNone/>
              <a:tabLst/>
              <a:defRPr/>
            </a:pPr>
            <a:endParaRPr lang="en-US" altLang="fr-FR" sz="2400" dirty="0">
              <a:solidFill>
                <a:prstClr val="black"/>
              </a:solidFill>
              <a:latin typeface="Calibri" panose="020F0502020204030204"/>
            </a:endParaRPr>
          </a:p>
          <a:p>
            <a:pPr marL="514350" marR="0" lvl="0" indent="-514350" algn="l" defTabSz="914400" rtl="0" eaLnBrk="1" fontAlgn="auto" latinLnBrk="0" hangingPunct="1">
              <a:spcBef>
                <a:spcPct val="0"/>
              </a:spcBef>
              <a:spcAft>
                <a:spcPts val="600"/>
              </a:spcAft>
              <a:buClrTx/>
              <a:buSzTx/>
              <a:buFont typeface="+mj-lt"/>
              <a:buAutoNum type="arabicPeriod"/>
              <a:tabLst/>
              <a:defRPr/>
            </a:pP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RESPONSIBLE</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for Planet and People. </a:t>
            </a:r>
            <a:r>
              <a:rPr kumimoji="0" lang="en-US" altLang="fr-FR" sz="2400" i="0" u="none" strike="noStrike" kern="1200" cap="none" spc="0" normalizeH="0" baseline="0" noProof="0" dirty="0">
                <a:ln>
                  <a:noFill/>
                </a:ln>
                <a:solidFill>
                  <a:prstClr val="black"/>
                </a:solidFill>
                <a:effectLst/>
                <a:uLnTx/>
                <a:uFillTx/>
                <a:latin typeface="Calibri" panose="020F0502020204030204"/>
                <a:ea typeface="+mn-ea"/>
                <a:cs typeface="+mn-cs"/>
              </a:rPr>
              <a:t>It’s </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response to the financial crisis</a:t>
            </a: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514350" marR="0" lvl="0" indent="-514350" algn="l" defTabSz="914400" rtl="0" eaLnBrk="1" fontAlgn="auto" latinLnBrk="0" hangingPunct="1">
              <a:spcBef>
                <a:spcPct val="0"/>
              </a:spcBef>
              <a:spcAft>
                <a:spcPts val="600"/>
              </a:spcAft>
              <a:buClrTx/>
              <a:buSzTx/>
              <a:buFont typeface="+mj-lt"/>
              <a:buAutoNum type="arabicPeriod"/>
              <a:tabLst/>
              <a:defRPr/>
            </a:pPr>
            <a:endPar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4350" marR="0" lvl="0" indent="-514350" algn="l" defTabSz="914400" rtl="0" eaLnBrk="1" fontAlgn="auto" latinLnBrk="0" hangingPunct="1">
              <a:spcBef>
                <a:spcPct val="0"/>
              </a:spcBef>
              <a:spcAft>
                <a:spcPts val="600"/>
              </a:spcAft>
              <a:buClrTx/>
              <a:buSzTx/>
              <a:buFont typeface="+mj-lt"/>
              <a:buAutoNum type="arabicPeriod"/>
              <a:tabLst/>
              <a:defRPr/>
            </a:pP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USEFUL - Understandable by everyone, transparent</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 and must </a:t>
            </a: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serve growth. </a:t>
            </a:r>
            <a:r>
              <a:rPr kumimoji="0" lang="en-US" altLang="fr-FR" sz="2400" i="0" u="none" strike="noStrike" kern="1200" cap="none" spc="0" normalizeH="0" baseline="0" noProof="0" dirty="0">
                <a:ln>
                  <a:noFill/>
                </a:ln>
                <a:solidFill>
                  <a:prstClr val="black"/>
                </a:solidFill>
                <a:effectLst/>
                <a:uLnTx/>
                <a:uFillTx/>
                <a:latin typeface="Calibri" panose="020F0502020204030204"/>
                <a:ea typeface="+mn-ea"/>
                <a:cs typeface="+mn-cs"/>
              </a:rPr>
              <a:t>It’s</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 linked to the </a:t>
            </a: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real economy </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and customers satisfaction (useful and not complex ...)</a:t>
            </a:r>
          </a:p>
          <a:p>
            <a:pPr marL="514350" marR="0" lvl="0" indent="-514350" algn="l" defTabSz="914400" rtl="0" eaLnBrk="1" fontAlgn="auto" latinLnBrk="0" hangingPunct="1">
              <a:spcBef>
                <a:spcPct val="0"/>
              </a:spcBef>
              <a:spcAft>
                <a:spcPts val="600"/>
              </a:spcAft>
              <a:buClrTx/>
              <a:buSzTx/>
              <a:buFont typeface="+mj-lt"/>
              <a:buAutoNum type="arabicPeriod"/>
              <a:tabLst/>
              <a:defRPr/>
            </a:pPr>
            <a:endPar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4350" marR="0" lvl="0" indent="-514350" algn="l" defTabSz="914400" rtl="0" eaLnBrk="1" fontAlgn="auto" latinLnBrk="0" hangingPunct="1">
              <a:spcBef>
                <a:spcPct val="0"/>
              </a:spcBef>
              <a:spcAft>
                <a:spcPts val="600"/>
              </a:spcAft>
              <a:buClrTx/>
              <a:buSzTx/>
              <a:buFont typeface="+mj-lt"/>
              <a:buAutoNum type="arabicPeriod"/>
              <a:tabLst/>
              <a:defRPr/>
            </a:pP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SAFE</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 - Based on a </a:t>
            </a: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calculated risk/Return </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that does not threaten </a:t>
            </a: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systemic stability</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514350" marR="0" lvl="0" indent="-514350" algn="l" defTabSz="914400" rtl="0" eaLnBrk="1" fontAlgn="auto" latinLnBrk="0" hangingPunct="1">
              <a:spcBef>
                <a:spcPct val="0"/>
              </a:spcBef>
              <a:spcAft>
                <a:spcPts val="600"/>
              </a:spcAft>
              <a:buClrTx/>
              <a:buSzTx/>
              <a:buFont typeface="+mj-lt"/>
              <a:buAutoNum type="arabicPeriod"/>
              <a:tabLst/>
              <a:defRPr/>
            </a:pPr>
            <a:endPar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4350" marR="0" lvl="0" indent="-514350" algn="l" defTabSz="914400" rtl="0" eaLnBrk="1" fontAlgn="auto" latinLnBrk="0" hangingPunct="1">
              <a:spcBef>
                <a:spcPct val="0"/>
              </a:spcBef>
              <a:spcAft>
                <a:spcPts val="600"/>
              </a:spcAft>
              <a:buClrTx/>
              <a:buSzTx/>
              <a:buFont typeface="+mj-lt"/>
              <a:buAutoNum type="arabicPeriod"/>
              <a:tabLst/>
              <a:defRPr/>
            </a:pP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CLEAN </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 Based on </a:t>
            </a: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a good governance </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respecting </a:t>
            </a: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gender balance and democracy</a:t>
            </a:r>
          </a:p>
          <a:p>
            <a:pPr marL="514350" marR="0" lvl="0" indent="-514350" algn="l" defTabSz="914400" rtl="0" eaLnBrk="1" fontAlgn="auto" latinLnBrk="0" hangingPunct="1">
              <a:spcBef>
                <a:spcPct val="0"/>
              </a:spcBef>
              <a:spcAft>
                <a:spcPts val="600"/>
              </a:spcAft>
              <a:buClrTx/>
              <a:buSzTx/>
              <a:buFont typeface="+mj-lt"/>
              <a:buAutoNum type="arabicPeriod"/>
              <a:tabLst/>
              <a:defRPr/>
            </a:pPr>
            <a:endPar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4350" marR="0" lvl="0" indent="-514350" algn="l" defTabSz="914400" rtl="0" eaLnBrk="1" fontAlgn="auto" latinLnBrk="0" hangingPunct="1">
              <a:spcBef>
                <a:spcPct val="0"/>
              </a:spcBef>
              <a:spcAft>
                <a:spcPts val="600"/>
              </a:spcAft>
              <a:buClrTx/>
              <a:buSzTx/>
              <a:buFont typeface="+mj-lt"/>
              <a:buAutoNum type="arabicPeriod"/>
              <a:tabLst/>
              <a:defRPr/>
            </a:pP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ALTRUISTIC</a:t>
            </a:r>
            <a:r>
              <a:rPr kumimoji="0" lang="en-US" altLang="fr-FR" sz="2400" b="0" i="0" u="none" strike="noStrike" kern="1200" cap="none" spc="0" normalizeH="0" baseline="0" noProof="0" dirty="0">
                <a:ln>
                  <a:noFill/>
                </a:ln>
                <a:solidFill>
                  <a:prstClr val="black"/>
                </a:solidFill>
                <a:effectLst/>
                <a:uLnTx/>
                <a:uFillTx/>
                <a:latin typeface="Calibri" panose="020F0502020204030204"/>
                <a:ea typeface="+mn-ea"/>
                <a:cs typeface="+mn-cs"/>
              </a:rPr>
              <a:t> – Focus on long term return respecting an </a:t>
            </a:r>
            <a:r>
              <a:rPr kumimoji="0" lang="en-US" altLang="fr-FR" sz="2400" b="1" i="0" u="none" strike="noStrike" kern="1200" cap="none" spc="0" normalizeH="0" baseline="0" noProof="0" dirty="0">
                <a:ln>
                  <a:noFill/>
                </a:ln>
                <a:solidFill>
                  <a:prstClr val="black"/>
                </a:solidFill>
                <a:effectLst/>
                <a:uLnTx/>
                <a:uFillTx/>
                <a:latin typeface="Calibri" panose="020F0502020204030204"/>
                <a:ea typeface="+mn-ea"/>
                <a:cs typeface="+mn-cs"/>
              </a:rPr>
              <a:t>inter-generational welfare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E00A88-1935-4C0F-AC5D-6C2322B30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CA7C2F6-3AC9-7B9C-4D46-FFDA413A0B85}"/>
              </a:ext>
            </a:extLst>
          </p:cNvPr>
          <p:cNvSpPr>
            <a:spLocks noGrp="1"/>
          </p:cNvSpPr>
          <p:nvPr>
            <p:ph type="title"/>
          </p:nvPr>
        </p:nvSpPr>
        <p:spPr>
          <a:xfrm>
            <a:off x="838201" y="365126"/>
            <a:ext cx="10223612" cy="1032232"/>
          </a:xfrm>
        </p:spPr>
        <p:txBody>
          <a:bodyPr>
            <a:normAutofit/>
          </a:bodyPr>
          <a:lstStyle/>
          <a:p>
            <a:r>
              <a:rPr lang="fr-FR" sz="3400" b="1" dirty="0"/>
              <a:t>THE SUSTAINABLE FINANCE PRINCIPLES</a:t>
            </a:r>
            <a:br>
              <a:rPr lang="fr-FR" sz="3400" b="1" dirty="0"/>
            </a:br>
            <a:r>
              <a:rPr lang="fr-FR" sz="3400" b="1" dirty="0"/>
              <a:t>« The Magic Box »</a:t>
            </a:r>
          </a:p>
        </p:txBody>
      </p:sp>
      <p:cxnSp>
        <p:nvCxnSpPr>
          <p:cNvPr id="12" name="Straight Connector 11">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Tableau 5">
            <a:extLst>
              <a:ext uri="{FF2B5EF4-FFF2-40B4-BE49-F238E27FC236}">
                <a16:creationId xmlns:a16="http://schemas.microsoft.com/office/drawing/2014/main" id="{17A9E8E5-ABA9-8C85-200F-9E3BD802178C}"/>
              </a:ext>
            </a:extLst>
          </p:cNvPr>
          <p:cNvGraphicFramePr>
            <a:graphicFrameLocks noGrp="1"/>
          </p:cNvGraphicFramePr>
          <p:nvPr>
            <p:ph idx="1"/>
            <p:extLst>
              <p:ext uri="{D42A27DB-BD31-4B8C-83A1-F6EECF244321}">
                <p14:modId xmlns:p14="http://schemas.microsoft.com/office/powerpoint/2010/main" val="248035744"/>
              </p:ext>
            </p:extLst>
          </p:nvPr>
        </p:nvGraphicFramePr>
        <p:xfrm>
          <a:off x="426217" y="2031643"/>
          <a:ext cx="11048999" cy="4097014"/>
        </p:xfrm>
        <a:graphic>
          <a:graphicData uri="http://schemas.openxmlformats.org/drawingml/2006/table">
            <a:tbl>
              <a:tblPr firstRow="1" bandRow="1">
                <a:tableStyleId>{5C22544A-7EE6-4342-B048-85BDC9FD1C3A}</a:tableStyleId>
              </a:tblPr>
              <a:tblGrid>
                <a:gridCol w="3143427">
                  <a:extLst>
                    <a:ext uri="{9D8B030D-6E8A-4147-A177-3AD203B41FA5}">
                      <a16:colId xmlns:a16="http://schemas.microsoft.com/office/drawing/2014/main" val="4083105234"/>
                    </a:ext>
                  </a:extLst>
                </a:gridCol>
                <a:gridCol w="2421732">
                  <a:extLst>
                    <a:ext uri="{9D8B030D-6E8A-4147-A177-3AD203B41FA5}">
                      <a16:colId xmlns:a16="http://schemas.microsoft.com/office/drawing/2014/main" val="3937642544"/>
                    </a:ext>
                  </a:extLst>
                </a:gridCol>
                <a:gridCol w="2846486">
                  <a:extLst>
                    <a:ext uri="{9D8B030D-6E8A-4147-A177-3AD203B41FA5}">
                      <a16:colId xmlns:a16="http://schemas.microsoft.com/office/drawing/2014/main" val="3455008799"/>
                    </a:ext>
                  </a:extLst>
                </a:gridCol>
                <a:gridCol w="2637354">
                  <a:extLst>
                    <a:ext uri="{9D8B030D-6E8A-4147-A177-3AD203B41FA5}">
                      <a16:colId xmlns:a16="http://schemas.microsoft.com/office/drawing/2014/main" val="3936326760"/>
                    </a:ext>
                  </a:extLst>
                </a:gridCol>
              </a:tblGrid>
              <a:tr h="982638">
                <a:tc>
                  <a:txBody>
                    <a:bodyPr/>
                    <a:lstStyle/>
                    <a:p>
                      <a:r>
                        <a:rPr lang="en-US" sz="2000"/>
                        <a:t>New financial approaches and new individual behaviors and mindset</a:t>
                      </a:r>
                      <a:endParaRPr lang="fr-FR" sz="2000"/>
                    </a:p>
                  </a:txBody>
                  <a:tcPr marL="66376" marR="66376" marT="33188" marB="33188"/>
                </a:tc>
                <a:tc>
                  <a:txBody>
                    <a:bodyPr/>
                    <a:lstStyle/>
                    <a:p>
                      <a:r>
                        <a:rPr lang="fr-FR" sz="2000"/>
                        <a:t>Financing sustainable &amp; Green growth</a:t>
                      </a:r>
                    </a:p>
                  </a:txBody>
                  <a:tcPr marL="66376" marR="66376" marT="33188" marB="33188"/>
                </a:tc>
                <a:tc>
                  <a:txBody>
                    <a:bodyPr/>
                    <a:lstStyle/>
                    <a:p>
                      <a:r>
                        <a:rPr lang="en-US" sz="2000"/>
                        <a:t>Close to people, friendly and performant</a:t>
                      </a:r>
                      <a:endParaRPr lang="fr-FR" sz="2000"/>
                    </a:p>
                  </a:txBody>
                  <a:tcPr marL="66376" marR="66376" marT="33188" marB="33188"/>
                </a:tc>
                <a:tc>
                  <a:txBody>
                    <a:bodyPr/>
                    <a:lstStyle/>
                    <a:p>
                      <a:r>
                        <a:rPr lang="fr-FR" sz="2000"/>
                        <a:t>No rejection of the conventional finance but less excess</a:t>
                      </a:r>
                    </a:p>
                  </a:txBody>
                  <a:tcPr marL="66376" marR="66376" marT="33188" marB="33188"/>
                </a:tc>
                <a:extLst>
                  <a:ext uri="{0D108BD9-81ED-4DB2-BD59-A6C34878D82A}">
                    <a16:rowId xmlns:a16="http://schemas.microsoft.com/office/drawing/2014/main" val="3031181308"/>
                  </a:ext>
                </a:extLst>
              </a:tr>
              <a:tr h="3035911">
                <a:tc>
                  <a:txBody>
                    <a:bodyPr/>
                    <a:lstStyle/>
                    <a:p>
                      <a:r>
                        <a:rPr lang="en-US" sz="2000" b="1" dirty="0">
                          <a:solidFill>
                            <a:srgbClr val="FF0000"/>
                          </a:solidFill>
                        </a:rPr>
                        <a:t>Ethics </a:t>
                      </a:r>
                      <a:r>
                        <a:rPr lang="en-US" sz="2000" dirty="0"/>
                        <a:t>is a key point.</a:t>
                      </a:r>
                    </a:p>
                    <a:p>
                      <a:r>
                        <a:rPr lang="en-US" sz="2000" dirty="0"/>
                        <a:t>Traditional finance has </a:t>
                      </a:r>
                      <a:r>
                        <a:rPr lang="en-US" sz="2000" u="sng" dirty="0"/>
                        <a:t>separated finance and Ethics</a:t>
                      </a:r>
                      <a:r>
                        <a:rPr lang="en-US" sz="2000" dirty="0"/>
                        <a:t>. It arises from </a:t>
                      </a:r>
                      <a:r>
                        <a:rPr lang="en-US" sz="2000" u="sng" dirty="0"/>
                        <a:t>a simplified conception of rationality in finance</a:t>
                      </a:r>
                      <a:r>
                        <a:rPr lang="en-US" sz="2000" dirty="0"/>
                        <a:t>.</a:t>
                      </a:r>
                      <a:endParaRPr lang="fr-FR" sz="2000" dirty="0"/>
                    </a:p>
                  </a:txBody>
                  <a:tcPr marL="66376" marR="66376" marT="33188" marB="33188"/>
                </a:tc>
                <a:tc>
                  <a:txBody>
                    <a:bodyPr/>
                    <a:lstStyle/>
                    <a:p>
                      <a:r>
                        <a:rPr lang="en-US" sz="2000" dirty="0"/>
                        <a:t>Sustainable Banks fund </a:t>
                      </a:r>
                      <a:r>
                        <a:rPr lang="en-US" sz="2000" b="1" dirty="0">
                          <a:solidFill>
                            <a:srgbClr val="FF0000"/>
                          </a:solidFill>
                        </a:rPr>
                        <a:t>long-term “Green Business</a:t>
                      </a:r>
                      <a:r>
                        <a:rPr lang="en-US" sz="2000" dirty="0"/>
                        <a:t>”/</a:t>
                      </a:r>
                      <a:r>
                        <a:rPr lang="en-US" sz="2000" b="1" dirty="0">
                          <a:solidFill>
                            <a:srgbClr val="FF0000"/>
                          </a:solidFill>
                        </a:rPr>
                        <a:t>Climate change </a:t>
                      </a:r>
                      <a:r>
                        <a:rPr lang="en-US" sz="2000" dirty="0"/>
                        <a:t>with Customer satisfaction and seeking Stability in the financial system.</a:t>
                      </a:r>
                      <a:endParaRPr lang="fr-FR" sz="2000" dirty="0"/>
                    </a:p>
                  </a:txBody>
                  <a:tcPr marL="66376" marR="66376" marT="33188" marB="33188"/>
                </a:tc>
                <a:tc>
                  <a:txBody>
                    <a:bodyPr/>
                    <a:lstStyle/>
                    <a:p>
                      <a:r>
                        <a:rPr lang="en-US" sz="2000" dirty="0"/>
                        <a:t>This Finance is respectful of human dignity. </a:t>
                      </a:r>
                      <a:r>
                        <a:rPr lang="en-US" sz="2000" b="1" dirty="0">
                          <a:solidFill>
                            <a:srgbClr val="FF0000"/>
                          </a:solidFill>
                        </a:rPr>
                        <a:t>Microfinance, </a:t>
                      </a:r>
                      <a:r>
                        <a:rPr lang="en-US" sz="2000" dirty="0"/>
                        <a:t>for example, seeks to manage/reconcile social satisfaction and financial performance.</a:t>
                      </a:r>
                      <a:br>
                        <a:rPr lang="en-US" sz="2000" dirty="0"/>
                      </a:br>
                      <a:r>
                        <a:rPr lang="en-US" sz="2000" dirty="0">
                          <a:solidFill>
                            <a:srgbClr val="FF0000"/>
                          </a:solidFill>
                        </a:rPr>
                        <a:t>Finance should be transparent and traceable</a:t>
                      </a:r>
                      <a:r>
                        <a:rPr lang="en-US" sz="2000" dirty="0"/>
                        <a:t>.</a:t>
                      </a:r>
                      <a:endParaRPr lang="fr-FR" sz="2000" dirty="0"/>
                    </a:p>
                  </a:txBody>
                  <a:tcPr marL="66376" marR="66376" marT="33188" marB="33188"/>
                </a:tc>
                <a:tc>
                  <a:txBody>
                    <a:bodyPr/>
                    <a:lstStyle/>
                    <a:p>
                      <a:r>
                        <a:rPr lang="en-US" sz="2000" dirty="0"/>
                        <a:t>Sustainable finance is trying to </a:t>
                      </a:r>
                      <a:r>
                        <a:rPr lang="en-US" sz="2000" dirty="0">
                          <a:solidFill>
                            <a:srgbClr val="FF0000"/>
                          </a:solidFill>
                        </a:rPr>
                        <a:t>correct the major failure of conventional finance </a:t>
                      </a:r>
                      <a:r>
                        <a:rPr lang="en-US" sz="2000" dirty="0"/>
                        <a:t>that is </a:t>
                      </a:r>
                      <a:r>
                        <a:rPr lang="en-US" sz="2000" u="sng" dirty="0"/>
                        <a:t>excess of:</a:t>
                      </a:r>
                      <a:br>
                        <a:rPr lang="en-US" sz="2000" u="sng" dirty="0"/>
                      </a:br>
                      <a:r>
                        <a:rPr lang="en-US" sz="2000" u="sng" dirty="0"/>
                        <a:t>Return, profit, interest, bonus, consumption, expense... </a:t>
                      </a:r>
                      <a:endParaRPr lang="fr-FR" sz="2000" u="sng" dirty="0"/>
                    </a:p>
                  </a:txBody>
                  <a:tcPr marL="66376" marR="66376" marT="33188" marB="33188"/>
                </a:tc>
                <a:extLst>
                  <a:ext uri="{0D108BD9-81ED-4DB2-BD59-A6C34878D82A}">
                    <a16:rowId xmlns:a16="http://schemas.microsoft.com/office/drawing/2014/main" val="1752585445"/>
                  </a:ext>
                </a:extLst>
              </a:tr>
            </a:tbl>
          </a:graphicData>
        </a:graphic>
      </p:graphicFrame>
    </p:spTree>
    <p:extLst>
      <p:ext uri="{BB962C8B-B14F-4D97-AF65-F5344CB8AC3E}">
        <p14:creationId xmlns:p14="http://schemas.microsoft.com/office/powerpoint/2010/main" val="378629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0773" name="Straight Connector 30772">
            <a:extLst>
              <a:ext uri="{FF2B5EF4-FFF2-40B4-BE49-F238E27FC236}">
                <a16:creationId xmlns:a16="http://schemas.microsoft.com/office/drawing/2014/main" id="{24A7CC8F-56A6-423D-B67A-8BA89D3EC9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0775" name="Rectangle 30774">
            <a:extLst>
              <a:ext uri="{FF2B5EF4-FFF2-40B4-BE49-F238E27FC236}">
                <a16:creationId xmlns:a16="http://schemas.microsoft.com/office/drawing/2014/main" id="{137ED6FA-A740-4E1A-8BE4-2C8582435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2" name="Titre 1">
            <a:extLst>
              <a:ext uri="{FF2B5EF4-FFF2-40B4-BE49-F238E27FC236}">
                <a16:creationId xmlns:a16="http://schemas.microsoft.com/office/drawing/2014/main" id="{97BB2629-E544-4FA6-8BFC-7C6C0272D951}"/>
              </a:ext>
            </a:extLst>
          </p:cNvPr>
          <p:cNvSpPr>
            <a:spLocks noGrp="1"/>
          </p:cNvSpPr>
          <p:nvPr>
            <p:ph type="title"/>
          </p:nvPr>
        </p:nvSpPr>
        <p:spPr>
          <a:xfrm>
            <a:off x="1251083" y="4660681"/>
            <a:ext cx="9689834" cy="1125050"/>
          </a:xfrm>
        </p:spPr>
        <p:txBody>
          <a:bodyPr vert="horz" lIns="91440" tIns="45720" rIns="91440" bIns="45720" rtlCol="0" anchor="b">
            <a:normAutofit/>
          </a:bodyPr>
          <a:lstStyle/>
          <a:p>
            <a:pPr algn="ctr" defTabSz="914400"/>
            <a:r>
              <a:rPr lang="en-US" altLang="fr-FR" sz="4100"/>
              <a:t>Conventional Finance </a:t>
            </a:r>
            <a:r>
              <a:rPr lang="en-US" altLang="fr-FR" sz="4100" i="1"/>
              <a:t>vs </a:t>
            </a:r>
            <a:r>
              <a:rPr lang="en-US" altLang="fr-FR" sz="4100"/>
              <a:t>Sustainable Finance</a:t>
            </a:r>
          </a:p>
        </p:txBody>
      </p:sp>
      <p:sp>
        <p:nvSpPr>
          <p:cNvPr id="30750" name="ZoneTexte 6">
            <a:extLst>
              <a:ext uri="{FF2B5EF4-FFF2-40B4-BE49-F238E27FC236}">
                <a16:creationId xmlns:a16="http://schemas.microsoft.com/office/drawing/2014/main" id="{A4DF42BB-B4D1-4CA9-BEEB-FA3476E5D5B9}"/>
              </a:ext>
            </a:extLst>
          </p:cNvPr>
          <p:cNvSpPr txBox="1">
            <a:spLocks noChangeArrowheads="1"/>
          </p:cNvSpPr>
          <p:nvPr/>
        </p:nvSpPr>
        <p:spPr bwMode="auto">
          <a:xfrm>
            <a:off x="1938998" y="5866227"/>
            <a:ext cx="8314005" cy="69635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marR="0" lvl="0" algn="ctr" fontAlgn="auto">
              <a:lnSpc>
                <a:spcPct val="110000"/>
              </a:lnSpc>
              <a:spcBef>
                <a:spcPts val="1000"/>
              </a:spcBef>
              <a:spcAft>
                <a:spcPts val="0"/>
              </a:spcAft>
              <a:buClrTx/>
              <a:buSzPct val="80000"/>
              <a:buNone/>
              <a:tabLst/>
              <a:defRPr/>
            </a:pPr>
            <a:r>
              <a:rPr kumimoji="0" lang="en-US" altLang="fr-FR" sz="2000" b="1" i="0" u="none" strike="noStrike" cap="none" spc="0" normalizeH="0" baseline="0" noProof="0">
                <a:ln>
                  <a:noFill/>
                </a:ln>
                <a:effectLst/>
                <a:uLnTx/>
                <a:uFillTx/>
                <a:latin typeface="+mn-lt"/>
              </a:rPr>
              <a:t>The 4 Principles of Sustainable finance</a:t>
            </a:r>
          </a:p>
        </p:txBody>
      </p:sp>
      <p:cxnSp>
        <p:nvCxnSpPr>
          <p:cNvPr id="30777" name="Straight Connector 30776">
            <a:extLst>
              <a:ext uri="{FF2B5EF4-FFF2-40B4-BE49-F238E27FC236}">
                <a16:creationId xmlns:a16="http://schemas.microsoft.com/office/drawing/2014/main" id="{BD1C99D0-461D-4A91-81EF-CCCD798B37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305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749" name="Espace réservé du numéro de diapositive 4">
            <a:extLst>
              <a:ext uri="{FF2B5EF4-FFF2-40B4-BE49-F238E27FC236}">
                <a16:creationId xmlns:a16="http://schemas.microsoft.com/office/drawing/2014/main" id="{CEB05CB8-8993-45DB-BF4F-316E99612F6E}"/>
              </a:ext>
            </a:extLst>
          </p:cNvPr>
          <p:cNvSpPr>
            <a:spLocks noGrp="1"/>
          </p:cNvSpPr>
          <p:nvPr>
            <p:ph type="sldNum" sz="quarter" idx="12"/>
          </p:nvPr>
        </p:nvSpPr>
        <p:spPr>
          <a:xfrm>
            <a:off x="11512296" y="6356350"/>
            <a:ext cx="57462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marR="0" lvl="0" indent="0" fontAlgn="auto">
              <a:spcBef>
                <a:spcPct val="0"/>
              </a:spcBef>
              <a:spcAft>
                <a:spcPts val="600"/>
              </a:spcAft>
              <a:buClrTx/>
              <a:buSzTx/>
              <a:buFontTx/>
              <a:buNone/>
              <a:tabLst/>
              <a:defRPr/>
            </a:pPr>
            <a:fld id="{EA386ABE-70E9-41C4-83A4-B89E46208B47}" type="slidenum">
              <a:rPr kumimoji="0" lang="en-US" altLang="fr-FR" sz="1000" b="0" i="0" u="none" strike="noStrike" cap="none" spc="0" normalizeH="0" baseline="0" noProof="0">
                <a:ln>
                  <a:noFill/>
                </a:ln>
                <a:effectLst/>
                <a:uLnTx/>
                <a:uFillTx/>
                <a:latin typeface="+mn-lt"/>
              </a:rPr>
              <a:pPr marR="0" lvl="0" indent="0" fontAlgn="auto">
                <a:spcBef>
                  <a:spcPct val="0"/>
                </a:spcBef>
                <a:spcAft>
                  <a:spcPts val="600"/>
                </a:spcAft>
                <a:buClrTx/>
                <a:buSzTx/>
                <a:buFontTx/>
                <a:buNone/>
                <a:tabLst/>
                <a:defRPr/>
              </a:pPr>
              <a:t>7</a:t>
            </a:fld>
            <a:endParaRPr kumimoji="0" lang="en-US" altLang="fr-FR" sz="1000" b="0" i="0" u="none" strike="noStrike" cap="none" spc="0" normalizeH="0" baseline="0" noProof="0">
              <a:ln>
                <a:noFill/>
              </a:ln>
              <a:effectLst/>
              <a:uLnTx/>
              <a:uFillTx/>
              <a:latin typeface="+mn-lt"/>
            </a:endParaRPr>
          </a:p>
        </p:txBody>
      </p:sp>
      <p:graphicFrame>
        <p:nvGraphicFramePr>
          <p:cNvPr id="6" name="Espace réservé du contenu 5">
            <a:extLst>
              <a:ext uri="{FF2B5EF4-FFF2-40B4-BE49-F238E27FC236}">
                <a16:creationId xmlns:a16="http://schemas.microsoft.com/office/drawing/2014/main" id="{69E28F48-A0D6-418E-8A43-11D385A646D1}"/>
              </a:ext>
            </a:extLst>
          </p:cNvPr>
          <p:cNvGraphicFramePr>
            <a:graphicFrameLocks noGrp="1"/>
          </p:cNvGraphicFramePr>
          <p:nvPr>
            <p:ph sz="half" idx="1"/>
            <p:extLst>
              <p:ext uri="{D42A27DB-BD31-4B8C-83A1-F6EECF244321}">
                <p14:modId xmlns:p14="http://schemas.microsoft.com/office/powerpoint/2010/main" val="3694138171"/>
              </p:ext>
            </p:extLst>
          </p:nvPr>
        </p:nvGraphicFramePr>
        <p:xfrm>
          <a:off x="838200" y="722801"/>
          <a:ext cx="10515602" cy="2870898"/>
        </p:xfrm>
        <a:graphic>
          <a:graphicData uri="http://schemas.openxmlformats.org/drawingml/2006/table">
            <a:tbl>
              <a:tblPr firstRow="1" bandRow="1">
                <a:tableStyleId>{5940675A-B579-460E-94D1-54222C63F5DA}</a:tableStyleId>
              </a:tblPr>
              <a:tblGrid>
                <a:gridCol w="2326156">
                  <a:extLst>
                    <a:ext uri="{9D8B030D-6E8A-4147-A177-3AD203B41FA5}">
                      <a16:colId xmlns:a16="http://schemas.microsoft.com/office/drawing/2014/main" val="20000"/>
                    </a:ext>
                  </a:extLst>
                </a:gridCol>
                <a:gridCol w="1670605">
                  <a:extLst>
                    <a:ext uri="{9D8B030D-6E8A-4147-A177-3AD203B41FA5}">
                      <a16:colId xmlns:a16="http://schemas.microsoft.com/office/drawing/2014/main" val="20001"/>
                    </a:ext>
                  </a:extLst>
                </a:gridCol>
                <a:gridCol w="2290365">
                  <a:extLst>
                    <a:ext uri="{9D8B030D-6E8A-4147-A177-3AD203B41FA5}">
                      <a16:colId xmlns:a16="http://schemas.microsoft.com/office/drawing/2014/main" val="20002"/>
                    </a:ext>
                  </a:extLst>
                </a:gridCol>
                <a:gridCol w="2236365">
                  <a:extLst>
                    <a:ext uri="{9D8B030D-6E8A-4147-A177-3AD203B41FA5}">
                      <a16:colId xmlns:a16="http://schemas.microsoft.com/office/drawing/2014/main" val="20003"/>
                    </a:ext>
                  </a:extLst>
                </a:gridCol>
                <a:gridCol w="1992111">
                  <a:extLst>
                    <a:ext uri="{9D8B030D-6E8A-4147-A177-3AD203B41FA5}">
                      <a16:colId xmlns:a16="http://schemas.microsoft.com/office/drawing/2014/main" val="20004"/>
                    </a:ext>
                  </a:extLst>
                </a:gridCol>
              </a:tblGrid>
              <a:tr h="1061764">
                <a:tc>
                  <a:txBody>
                    <a:bodyPr/>
                    <a:lstStyle/>
                    <a:p>
                      <a:endParaRPr lang="fr-FR" sz="2100" b="1">
                        <a:solidFill>
                          <a:schemeClr val="tx1"/>
                        </a:solidFill>
                      </a:endParaRPr>
                    </a:p>
                  </a:txBody>
                  <a:tcPr marL="68278" marR="68278" marT="34139" marB="34139">
                    <a:lnL>
                      <a:noFill/>
                    </a:lnL>
                    <a:lnR>
                      <a:noFill/>
                    </a:lnR>
                    <a:lnT>
                      <a:noFill/>
                    </a:lnT>
                    <a:lnB w="19050">
                      <a:solidFill>
                        <a:schemeClr val="accent1"/>
                      </a:solidFill>
                    </a:lnB>
                    <a:lnTlToBr w="12700" cmpd="sng">
                      <a:noFill/>
                      <a:prstDash val="solid"/>
                    </a:lnTlToBr>
                    <a:lnBlToTr w="12700" cmpd="sng">
                      <a:noFill/>
                      <a:prstDash val="solid"/>
                    </a:lnBlToTr>
                    <a:noFill/>
                  </a:tcPr>
                </a:tc>
                <a:tc>
                  <a:txBody>
                    <a:bodyPr/>
                    <a:lstStyle/>
                    <a:p>
                      <a:pPr algn="ctr"/>
                      <a:r>
                        <a:rPr lang="fr-FR" sz="2100" b="1">
                          <a:solidFill>
                            <a:schemeClr val="tx1"/>
                          </a:solidFill>
                        </a:rPr>
                        <a:t>Principle n°1</a:t>
                      </a:r>
                    </a:p>
                    <a:p>
                      <a:pPr algn="ctr"/>
                      <a:r>
                        <a:rPr lang="fr-FR" sz="2100" b="1" u="sng">
                          <a:solidFill>
                            <a:schemeClr val="tx1"/>
                          </a:solidFill>
                        </a:rPr>
                        <a:t>Ethics</a:t>
                      </a:r>
                    </a:p>
                  </a:txBody>
                  <a:tcPr marL="68278" marR="68278" marT="34139" marB="34139">
                    <a:lnL>
                      <a:noFill/>
                    </a:lnL>
                    <a:lnR>
                      <a:noFill/>
                    </a:lnR>
                    <a:lnT>
                      <a:noFill/>
                    </a:lnT>
                    <a:lnB w="19050">
                      <a:solidFill>
                        <a:schemeClr val="accent1"/>
                      </a:solid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2100" b="1">
                          <a:solidFill>
                            <a:schemeClr val="tx1"/>
                          </a:solidFill>
                        </a:rPr>
                        <a:t>Principle n°2</a:t>
                      </a:r>
                    </a:p>
                    <a:p>
                      <a:pPr marL="0" marR="0" indent="0" algn="ctr" defTabSz="914400" rtl="0" eaLnBrk="1" fontAlgn="auto" latinLnBrk="0" hangingPunct="1">
                        <a:lnSpc>
                          <a:spcPct val="100000"/>
                        </a:lnSpc>
                        <a:spcBef>
                          <a:spcPts val="0"/>
                        </a:spcBef>
                        <a:spcAft>
                          <a:spcPts val="0"/>
                        </a:spcAft>
                        <a:buClrTx/>
                        <a:buSzTx/>
                        <a:buFontTx/>
                        <a:buNone/>
                        <a:tabLst/>
                        <a:defRPr/>
                      </a:pPr>
                      <a:r>
                        <a:rPr lang="fr-FR" sz="2100" b="1" i="0" u="sng">
                          <a:solidFill>
                            <a:schemeClr val="tx1"/>
                          </a:solidFill>
                        </a:rPr>
                        <a:t>Sustainable development</a:t>
                      </a:r>
                    </a:p>
                  </a:txBody>
                  <a:tcPr marL="68278" marR="68278" marT="34139" marB="34139">
                    <a:lnL>
                      <a:noFill/>
                    </a:lnL>
                    <a:lnR>
                      <a:noFill/>
                    </a:lnR>
                    <a:lnT>
                      <a:noFill/>
                    </a:lnT>
                    <a:lnB w="19050">
                      <a:solidFill>
                        <a:schemeClr val="accent1"/>
                      </a:solid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2100" b="1">
                          <a:solidFill>
                            <a:schemeClr val="tx1"/>
                          </a:solidFill>
                        </a:rPr>
                        <a:t>Principle n°3</a:t>
                      </a:r>
                    </a:p>
                    <a:p>
                      <a:pPr marL="0" marR="0" indent="0" algn="ctr" defTabSz="914400" rtl="0" eaLnBrk="1" fontAlgn="auto" latinLnBrk="0" hangingPunct="1">
                        <a:lnSpc>
                          <a:spcPct val="100000"/>
                        </a:lnSpc>
                        <a:spcBef>
                          <a:spcPts val="0"/>
                        </a:spcBef>
                        <a:spcAft>
                          <a:spcPts val="0"/>
                        </a:spcAft>
                        <a:buClrTx/>
                        <a:buSzTx/>
                        <a:buFontTx/>
                        <a:buNone/>
                        <a:tabLst/>
                        <a:defRPr/>
                      </a:pPr>
                      <a:r>
                        <a:rPr lang="fr-FR" sz="2100" b="1" u="sng">
                          <a:solidFill>
                            <a:schemeClr val="tx1"/>
                          </a:solidFill>
                        </a:rPr>
                        <a:t>Performance</a:t>
                      </a:r>
                    </a:p>
                    <a:p>
                      <a:pPr algn="ctr"/>
                      <a:endParaRPr lang="fr-FR" sz="2100" b="1">
                        <a:solidFill>
                          <a:schemeClr val="tx1"/>
                        </a:solidFill>
                      </a:endParaRPr>
                    </a:p>
                  </a:txBody>
                  <a:tcPr marL="68278" marR="68278" marT="34139" marB="34139">
                    <a:lnL>
                      <a:noFill/>
                    </a:lnL>
                    <a:lnR>
                      <a:noFill/>
                    </a:lnR>
                    <a:lnT>
                      <a:noFill/>
                    </a:lnT>
                    <a:lnB w="19050">
                      <a:solidFill>
                        <a:schemeClr val="accent1"/>
                      </a:solid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2100" b="1">
                          <a:solidFill>
                            <a:schemeClr val="tx1"/>
                          </a:solidFill>
                        </a:rPr>
                        <a:t>Principle n°4</a:t>
                      </a:r>
                    </a:p>
                    <a:p>
                      <a:pPr marL="0" marR="0" indent="0" algn="ctr" defTabSz="914400" rtl="0" eaLnBrk="1" fontAlgn="auto" latinLnBrk="0" hangingPunct="1">
                        <a:lnSpc>
                          <a:spcPct val="100000"/>
                        </a:lnSpc>
                        <a:spcBef>
                          <a:spcPts val="0"/>
                        </a:spcBef>
                        <a:spcAft>
                          <a:spcPts val="0"/>
                        </a:spcAft>
                        <a:buClrTx/>
                        <a:buSzTx/>
                        <a:buFontTx/>
                        <a:buNone/>
                        <a:tabLst/>
                        <a:defRPr/>
                      </a:pPr>
                      <a:r>
                        <a:rPr lang="fr-FR" sz="2100" b="1" u="sng">
                          <a:solidFill>
                            <a:schemeClr val="tx1"/>
                          </a:solidFill>
                        </a:rPr>
                        <a:t>Less excess</a:t>
                      </a:r>
                    </a:p>
                    <a:p>
                      <a:pPr algn="ctr"/>
                      <a:endParaRPr lang="fr-FR" sz="2100" b="1">
                        <a:solidFill>
                          <a:schemeClr val="tx1"/>
                        </a:solidFill>
                      </a:endParaRPr>
                    </a:p>
                  </a:txBody>
                  <a:tcPr marL="68278" marR="68278" marT="34139" marB="34139">
                    <a:lnL>
                      <a:noFill/>
                    </a:lnL>
                    <a:lnR>
                      <a:noFill/>
                    </a:lnR>
                    <a:lnT>
                      <a:noFill/>
                    </a:lnT>
                    <a:lnB w="19050">
                      <a:solidFill>
                        <a:schemeClr val="accent1"/>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4737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100" b="1">
                          <a:solidFill>
                            <a:schemeClr val="tx1"/>
                          </a:solidFill>
                        </a:rPr>
                        <a:t>Conventional Finance</a:t>
                      </a:r>
                    </a:p>
                  </a:txBody>
                  <a:tcPr marL="68278" marR="68278" marT="34139" marB="34139">
                    <a:lnL>
                      <a:noFill/>
                    </a:lnL>
                    <a:lnR>
                      <a:noFill/>
                    </a:lnR>
                    <a:lnT w="19050">
                      <a:solidFill>
                        <a:schemeClr val="accent1"/>
                      </a:solidFill>
                    </a:lnT>
                    <a:lnB w="3175">
                      <a:solidFill>
                        <a:schemeClr val="tx1"/>
                      </a:solidFill>
                    </a:lnB>
                    <a:lnTlToBr w="12700" cmpd="sng">
                      <a:noFill/>
                      <a:prstDash val="solid"/>
                    </a:lnTlToBr>
                    <a:lnBlToTr w="12700" cmpd="sng">
                      <a:noFill/>
                      <a:prstDash val="solid"/>
                    </a:lnBlToTr>
                    <a:noFill/>
                  </a:tcPr>
                </a:tc>
                <a:tc>
                  <a:txBody>
                    <a:bodyPr/>
                    <a:lstStyle/>
                    <a:p>
                      <a:pPr algn="ctr"/>
                      <a:endParaRPr lang="fr-FR" sz="2100" b="1">
                        <a:solidFill>
                          <a:schemeClr val="tx1"/>
                        </a:solidFill>
                      </a:endParaRPr>
                    </a:p>
                    <a:p>
                      <a:pPr algn="ctr"/>
                      <a:r>
                        <a:rPr lang="fr-FR" sz="2100" b="1">
                          <a:solidFill>
                            <a:schemeClr val="tx1"/>
                          </a:solidFill>
                        </a:rPr>
                        <a:t>No</a:t>
                      </a:r>
                    </a:p>
                  </a:txBody>
                  <a:tcPr marL="68278" marR="68278" marT="34139" marB="34139">
                    <a:lnL>
                      <a:noFill/>
                    </a:lnL>
                    <a:lnR>
                      <a:noFill/>
                    </a:lnR>
                    <a:lnT w="19050">
                      <a:solidFill>
                        <a:schemeClr val="accent1"/>
                      </a:solidFill>
                    </a:lnT>
                    <a:lnB w="3175">
                      <a:solidFill>
                        <a:schemeClr val="tx1"/>
                      </a:solid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2100" b="1">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fr-FR" sz="2100" b="1">
                          <a:solidFill>
                            <a:schemeClr val="tx1"/>
                          </a:solidFill>
                        </a:rPr>
                        <a:t>No</a:t>
                      </a:r>
                    </a:p>
                  </a:txBody>
                  <a:tcPr marL="68278" marR="68278" marT="34139" marB="34139">
                    <a:lnL>
                      <a:noFill/>
                    </a:lnL>
                    <a:lnR>
                      <a:noFill/>
                    </a:lnR>
                    <a:lnT w="19050">
                      <a:solidFill>
                        <a:schemeClr val="accent1"/>
                      </a:solidFill>
                    </a:lnT>
                    <a:lnB w="3175">
                      <a:solidFill>
                        <a:schemeClr val="tx1"/>
                      </a:solid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2100" b="1">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fr-FR" sz="2100" b="1">
                          <a:solidFill>
                            <a:schemeClr val="tx1"/>
                          </a:solidFill>
                        </a:rPr>
                        <a:t>Yes</a:t>
                      </a:r>
                    </a:p>
                  </a:txBody>
                  <a:tcPr marL="68278" marR="68278" marT="34139" marB="34139">
                    <a:lnL>
                      <a:noFill/>
                    </a:lnL>
                    <a:lnR>
                      <a:noFill/>
                    </a:lnR>
                    <a:lnT w="19050">
                      <a:solidFill>
                        <a:schemeClr val="accent1"/>
                      </a:solidFill>
                    </a:lnT>
                    <a:lnB w="3175">
                      <a:solidFill>
                        <a:schemeClr val="tx1"/>
                      </a:solid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2100" b="1">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fr-FR" sz="2100" b="1">
                          <a:solidFill>
                            <a:schemeClr val="tx1"/>
                          </a:solidFill>
                        </a:rPr>
                        <a:t>No</a:t>
                      </a:r>
                    </a:p>
                  </a:txBody>
                  <a:tcPr marL="68278" marR="68278" marT="34139" marB="34139">
                    <a:lnL>
                      <a:noFill/>
                    </a:lnL>
                    <a:lnR>
                      <a:noFill/>
                    </a:lnR>
                    <a:lnT w="19050">
                      <a:solidFill>
                        <a:schemeClr val="accent1"/>
                      </a:solidFill>
                    </a:lnT>
                    <a:lnB w="3175">
                      <a:solidFill>
                        <a:schemeClr val="tx1"/>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0617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100" b="1">
                          <a:solidFill>
                            <a:schemeClr val="tx1"/>
                          </a:solidFill>
                        </a:rPr>
                        <a:t>Sustainable Finance</a:t>
                      </a:r>
                    </a:p>
                  </a:txBody>
                  <a:tcPr marL="68278" marR="68278" marT="34139" marB="34139">
                    <a:lnL>
                      <a:noFill/>
                    </a:lnL>
                    <a:lnR>
                      <a:noFill/>
                    </a:lnR>
                    <a:lnT w="3175">
                      <a:solidFill>
                        <a:schemeClr val="tx1"/>
                      </a:solidFill>
                    </a:lnT>
                    <a:lnB w="12700">
                      <a:solidFill>
                        <a:schemeClr val="accent1"/>
                      </a:solidFill>
                    </a:lnB>
                    <a:lnTlToBr w="12700" cmpd="sng">
                      <a:noFill/>
                      <a:prstDash val="solid"/>
                    </a:lnTlToBr>
                    <a:lnBlToTr w="12700" cmpd="sng">
                      <a:noFill/>
                      <a:prstDash val="solid"/>
                    </a:lnBlToTr>
                    <a:noFill/>
                  </a:tcPr>
                </a:tc>
                <a:tc>
                  <a:txBody>
                    <a:bodyPr/>
                    <a:lstStyle/>
                    <a:p>
                      <a:pPr algn="ctr"/>
                      <a:endParaRPr lang="fr-FR" sz="2100" b="1">
                        <a:solidFill>
                          <a:schemeClr val="tx1"/>
                        </a:solidFill>
                      </a:endParaRPr>
                    </a:p>
                    <a:p>
                      <a:pPr algn="ctr"/>
                      <a:r>
                        <a:rPr lang="fr-FR" sz="2100" b="1">
                          <a:solidFill>
                            <a:schemeClr val="tx1"/>
                          </a:solidFill>
                        </a:rPr>
                        <a:t>Yes</a:t>
                      </a:r>
                    </a:p>
                  </a:txBody>
                  <a:tcPr marL="68278" marR="68278" marT="34139" marB="34139">
                    <a:lnL>
                      <a:noFill/>
                    </a:lnL>
                    <a:lnR>
                      <a:noFill/>
                    </a:lnR>
                    <a:lnT w="3175">
                      <a:solidFill>
                        <a:schemeClr val="tx1"/>
                      </a:solidFill>
                    </a:lnT>
                    <a:lnB w="12700">
                      <a:solidFill>
                        <a:schemeClr val="accent1"/>
                      </a:solid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2100" b="1">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fr-FR" sz="2100" b="1">
                          <a:solidFill>
                            <a:schemeClr val="tx1"/>
                          </a:solidFill>
                        </a:rPr>
                        <a:t>Yes</a:t>
                      </a:r>
                    </a:p>
                  </a:txBody>
                  <a:tcPr marL="68278" marR="68278" marT="34139" marB="34139">
                    <a:lnL>
                      <a:noFill/>
                    </a:lnL>
                    <a:lnR>
                      <a:noFill/>
                    </a:lnR>
                    <a:lnT w="3175">
                      <a:solidFill>
                        <a:schemeClr val="tx1"/>
                      </a:solidFill>
                    </a:lnT>
                    <a:lnB w="12700">
                      <a:solidFill>
                        <a:schemeClr val="accent1"/>
                      </a:solidFill>
                    </a:lnB>
                    <a:lnTlToBr w="12700" cmpd="sng">
                      <a:noFill/>
                      <a:prstDash val="solid"/>
                    </a:lnTlToBr>
                    <a:lnBlToTr w="12700" cmpd="sng">
                      <a:noFill/>
                      <a:prstDash val="solid"/>
                    </a:lnBlToTr>
                    <a:noFill/>
                  </a:tcPr>
                </a:tc>
                <a:tc>
                  <a:txBody>
                    <a:bodyPr/>
                    <a:lstStyle/>
                    <a:p>
                      <a:pPr algn="ctr"/>
                      <a:endParaRPr lang="fr-FR" sz="2100" b="1">
                        <a:solidFill>
                          <a:schemeClr val="tx1"/>
                        </a:solidFill>
                      </a:endParaRPr>
                    </a:p>
                    <a:p>
                      <a:pPr algn="ctr"/>
                      <a:r>
                        <a:rPr lang="fr-FR" sz="2100" b="1">
                          <a:solidFill>
                            <a:schemeClr val="tx1"/>
                          </a:solidFill>
                        </a:rPr>
                        <a:t>Yes</a:t>
                      </a:r>
                    </a:p>
                  </a:txBody>
                  <a:tcPr marL="68278" marR="68278" marT="34139" marB="34139">
                    <a:lnL>
                      <a:noFill/>
                    </a:lnL>
                    <a:lnR>
                      <a:noFill/>
                    </a:lnR>
                    <a:lnT w="3175">
                      <a:solidFill>
                        <a:schemeClr val="tx1"/>
                      </a:solidFill>
                    </a:lnT>
                    <a:lnB w="12700">
                      <a:solidFill>
                        <a:schemeClr val="accent1"/>
                      </a:solid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2100" b="1" dirty="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fr-FR" sz="2100" b="1" dirty="0">
                          <a:solidFill>
                            <a:schemeClr val="tx1"/>
                          </a:solidFill>
                        </a:rPr>
                        <a:t>Yes</a:t>
                      </a:r>
                    </a:p>
                    <a:p>
                      <a:pPr algn="ctr"/>
                      <a:endParaRPr lang="fr-FR" sz="2100" b="1" dirty="0">
                        <a:solidFill>
                          <a:schemeClr val="tx1"/>
                        </a:solidFill>
                      </a:endParaRPr>
                    </a:p>
                  </a:txBody>
                  <a:tcPr marL="68278" marR="68278" marT="34139" marB="34139">
                    <a:lnL>
                      <a:noFill/>
                    </a:lnL>
                    <a:lnR>
                      <a:noFill/>
                    </a:lnR>
                    <a:lnT w="3175">
                      <a:solidFill>
                        <a:schemeClr val="tx1"/>
                      </a:solidFill>
                    </a:lnT>
                    <a:lnB w="12700">
                      <a:solidFill>
                        <a:schemeClr val="accent1"/>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ZoneTexte 12">
            <a:extLst>
              <a:ext uri="{FF2B5EF4-FFF2-40B4-BE49-F238E27FC236}">
                <a16:creationId xmlns:a16="http://schemas.microsoft.com/office/drawing/2014/main" id="{987636E1-25CA-B5B2-CE4D-D4A585210E78}"/>
              </a:ext>
            </a:extLst>
          </p:cNvPr>
          <p:cNvSpPr txBox="1"/>
          <p:nvPr/>
        </p:nvSpPr>
        <p:spPr>
          <a:xfrm>
            <a:off x="3319417" y="239825"/>
            <a:ext cx="3780349" cy="461665"/>
          </a:xfrm>
          <a:prstGeom prst="rect">
            <a:avLst/>
          </a:prstGeom>
          <a:noFill/>
          <a:ln>
            <a:solidFill>
              <a:srgbClr val="C0000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FF0000"/>
                </a:solidFill>
                <a:effectLst/>
                <a:uLnTx/>
                <a:uFillTx/>
                <a:latin typeface="Calibri" panose="020F0502020204030204"/>
                <a:ea typeface="+mn-ea"/>
                <a:cs typeface="+mn-cs"/>
              </a:rPr>
              <a:t>SCHOLAR MINDSET SHIFT </a:t>
            </a:r>
          </a:p>
        </p:txBody>
      </p:sp>
      <p:pic>
        <p:nvPicPr>
          <p:cNvPr id="1026" name="Picture 2" descr="Résultat de recherche d'images pour &quot;robert shiller&quot;">
            <a:extLst>
              <a:ext uri="{FF2B5EF4-FFF2-40B4-BE49-F238E27FC236}">
                <a16:creationId xmlns:a16="http://schemas.microsoft.com/office/drawing/2014/main" id="{D11BC197-FD97-5708-E345-E1CB3DB857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737" y="1606978"/>
            <a:ext cx="2372783" cy="19304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276BF8E7-F41B-468E-C4FE-2ADE1295DDD6}"/>
              </a:ext>
            </a:extLst>
          </p:cNvPr>
          <p:cNvSpPr txBox="1"/>
          <p:nvPr/>
        </p:nvSpPr>
        <p:spPr>
          <a:xfrm>
            <a:off x="286139" y="808765"/>
            <a:ext cx="480837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Shiller, R. J. (2013).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Finance and the good society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Princeton: Princeton University Press.</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CF7B1502-A832-0386-FD88-FB7B6E24856A}"/>
              </a:ext>
            </a:extLst>
          </p:cNvPr>
          <p:cNvSpPr txBox="1"/>
          <p:nvPr/>
        </p:nvSpPr>
        <p:spPr>
          <a:xfrm>
            <a:off x="121297" y="4220762"/>
            <a:ext cx="11681927" cy="1815882"/>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The shift towards sustainable finance is a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change of mindset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influenced by the crisis.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It’s a new “</a:t>
            </a:r>
            <a:r>
              <a:rPr kumimoji="0" lang="en-US" sz="2800" b="1" i="0" u="none" strike="noStrike" kern="1200" cap="none" spc="0" normalizeH="0" baseline="0" noProof="0" dirty="0">
                <a:ln>
                  <a:noFill/>
                </a:ln>
                <a:solidFill>
                  <a:srgbClr val="FF0000"/>
                </a:solidFill>
                <a:effectLst/>
                <a:uLnTx/>
                <a:uFillTx/>
                <a:latin typeface="Calibri" panose="020F0502020204030204"/>
                <a:ea typeface="+mn-ea"/>
                <a:cs typeface="+mn-cs"/>
              </a:rPr>
              <a:t>financial humanism</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taking the form of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CSR and ESG</a:t>
            </a:r>
            <a:endPar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ZoneTexte 6">
            <a:extLst>
              <a:ext uri="{FF2B5EF4-FFF2-40B4-BE49-F238E27FC236}">
                <a16:creationId xmlns:a16="http://schemas.microsoft.com/office/drawing/2014/main" id="{9D3F28D1-AF39-4B5C-834F-AB93E4AAA8BE}"/>
              </a:ext>
            </a:extLst>
          </p:cNvPr>
          <p:cNvSpPr txBox="1"/>
          <p:nvPr/>
        </p:nvSpPr>
        <p:spPr>
          <a:xfrm>
            <a:off x="6124844" y="818521"/>
            <a:ext cx="552683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Benedikter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 (2011).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Social banking and social finance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Benedikter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(Ed.), New York: Springer.</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8" name="Picture 4" descr="Die 7 Welt - Dimensionen heute | Roland Benedikter | TEDxBolzano - YouTube">
            <a:extLst>
              <a:ext uri="{FF2B5EF4-FFF2-40B4-BE49-F238E27FC236}">
                <a16:creationId xmlns:a16="http://schemas.microsoft.com/office/drawing/2014/main" id="{D70A536C-11E1-4DC2-F19B-30D59E4FD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741" y="1674674"/>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F787D2F1-7D65-C7A0-829A-606AB9B73B91}"/>
              </a:ext>
            </a:extLst>
          </p:cNvPr>
          <p:cNvSpPr txBox="1"/>
          <p:nvPr/>
        </p:nvSpPr>
        <p:spPr>
          <a:xfrm>
            <a:off x="9087241" y="1806544"/>
            <a:ext cx="285750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Roland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Benedikter</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is Co-Head of the Center for Advanced Studies, UNESCO</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817B626E-EC34-C36E-F168-28DE03E05D2D}"/>
              </a:ext>
            </a:extLst>
          </p:cNvPr>
          <p:cNvSpPr txBox="1"/>
          <p:nvPr/>
        </p:nvSpPr>
        <p:spPr>
          <a:xfrm>
            <a:off x="2780520" y="1674674"/>
            <a:ext cx="2914261"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Robert James Shiller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successful American economist, academic,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writer. He is a professor of economics at Yale University.</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6267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CE950D6-A7E0-4851-8FF6-3D3A1651B3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3DA25D6-F269-1211-F18C-B73A0714D6CC}"/>
              </a:ext>
            </a:extLst>
          </p:cNvPr>
          <p:cNvSpPr>
            <a:spLocks noGrp="1"/>
          </p:cNvSpPr>
          <p:nvPr>
            <p:ph type="title"/>
          </p:nvPr>
        </p:nvSpPr>
        <p:spPr>
          <a:xfrm>
            <a:off x="1066606" y="2479183"/>
            <a:ext cx="3209180" cy="2389031"/>
          </a:xfrm>
        </p:spPr>
        <p:txBody>
          <a:bodyPr vert="horz" lIns="91440" tIns="45720" rIns="91440" bIns="45720" rtlCol="0" anchor="ctr">
            <a:normAutofit/>
          </a:bodyPr>
          <a:lstStyle/>
          <a:p>
            <a:pPr algn="ctr" defTabSz="914400"/>
            <a:r>
              <a:rPr lang="en-US" sz="3600" dirty="0"/>
              <a:t>Sustainable finance</a:t>
            </a:r>
          </a:p>
        </p:txBody>
      </p:sp>
      <p:sp>
        <p:nvSpPr>
          <p:cNvPr id="12" name="Freeform: Shape 11">
            <a:extLst>
              <a:ext uri="{FF2B5EF4-FFF2-40B4-BE49-F238E27FC236}">
                <a16:creationId xmlns:a16="http://schemas.microsoft.com/office/drawing/2014/main" id="{415E4AE2-7164-494C-986B-5EBD28F63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5121" y="1445763"/>
            <a:ext cx="3673955" cy="3745532"/>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25805" h="5429563">
                <a:moveTo>
                  <a:pt x="5325805" y="2714782"/>
                </a:moveTo>
                <a:cubicBezTo>
                  <a:pt x="5325805" y="4214114"/>
                  <a:pt x="4110356" y="5429563"/>
                  <a:pt x="2611024" y="5429563"/>
                </a:cubicBezTo>
                <a:lnTo>
                  <a:pt x="1942188" y="5429563"/>
                </a:lnTo>
                <a:lnTo>
                  <a:pt x="668836" y="5429563"/>
                </a:lnTo>
                <a:lnTo>
                  <a:pt x="0" y="5429563"/>
                </a:lnTo>
                <a:lnTo>
                  <a:pt x="0" y="0"/>
                </a:lnTo>
                <a:lnTo>
                  <a:pt x="668836" y="0"/>
                </a:lnTo>
                <a:lnTo>
                  <a:pt x="1942188" y="0"/>
                </a:lnTo>
                <a:lnTo>
                  <a:pt x="2611024" y="0"/>
                </a:lnTo>
                <a:cubicBezTo>
                  <a:pt x="4110356" y="0"/>
                  <a:pt x="5325805" y="1215450"/>
                  <a:pt x="5325805" y="2714782"/>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6" name="ZoneTexte 3">
            <a:extLst>
              <a:ext uri="{FF2B5EF4-FFF2-40B4-BE49-F238E27FC236}">
                <a16:creationId xmlns:a16="http://schemas.microsoft.com/office/drawing/2014/main" id="{BEBC6CAC-31AE-7561-73E5-9766A47EEF81}"/>
              </a:ext>
            </a:extLst>
          </p:cNvPr>
          <p:cNvGraphicFramePr/>
          <p:nvPr>
            <p:extLst>
              <p:ext uri="{D42A27DB-BD31-4B8C-83A1-F6EECF244321}">
                <p14:modId xmlns:p14="http://schemas.microsoft.com/office/powerpoint/2010/main" val="1556455686"/>
              </p:ext>
            </p:extLst>
          </p:nvPr>
        </p:nvGraphicFramePr>
        <p:xfrm>
          <a:off x="5312332" y="888275"/>
          <a:ext cx="6090162" cy="50553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3945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50383">
            <a:extLst>
              <a:ext uri="{FF2B5EF4-FFF2-40B4-BE49-F238E27FC236}">
                <a16:creationId xmlns:a16="http://schemas.microsoft.com/office/drawing/2014/main" id="{83C2819D-2ED1-910E-068C-FCF3B0D6F7DD}"/>
              </a:ext>
            </a:extLst>
          </p:cNvPr>
          <p:cNvGrpSpPr/>
          <p:nvPr/>
        </p:nvGrpSpPr>
        <p:grpSpPr>
          <a:xfrm>
            <a:off x="2936245" y="1564641"/>
            <a:ext cx="8656318" cy="4470400"/>
            <a:chOff x="0" y="0"/>
            <a:chExt cx="3981831" cy="2148572"/>
          </a:xfrm>
        </p:grpSpPr>
        <p:sp>
          <p:nvSpPr>
            <p:cNvPr id="3" name="Shape 5229">
              <a:extLst>
                <a:ext uri="{FF2B5EF4-FFF2-40B4-BE49-F238E27FC236}">
                  <a16:creationId xmlns:a16="http://schemas.microsoft.com/office/drawing/2014/main" id="{B49A8426-F765-DFA6-523B-A7B82E9B3B11}"/>
                </a:ext>
              </a:extLst>
            </p:cNvPr>
            <p:cNvSpPr/>
            <p:nvPr/>
          </p:nvSpPr>
          <p:spPr>
            <a:xfrm>
              <a:off x="278130" y="328676"/>
              <a:ext cx="1244600" cy="1593850"/>
            </a:xfrm>
            <a:custGeom>
              <a:avLst/>
              <a:gdLst/>
              <a:ahLst/>
              <a:cxnLst/>
              <a:rect l="0" t="0" r="0" b="0"/>
              <a:pathLst>
                <a:path w="1244600" h="1593850">
                  <a:moveTo>
                    <a:pt x="0" y="1593850"/>
                  </a:moveTo>
                  <a:lnTo>
                    <a:pt x="1244600" y="0"/>
                  </a:lnTo>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5231">
              <a:extLst>
                <a:ext uri="{FF2B5EF4-FFF2-40B4-BE49-F238E27FC236}">
                  <a16:creationId xmlns:a16="http://schemas.microsoft.com/office/drawing/2014/main" id="{0EDF6DA5-732E-991A-D213-27CF6CF7C4DF}"/>
                </a:ext>
              </a:extLst>
            </p:cNvPr>
            <p:cNvSpPr/>
            <p:nvPr/>
          </p:nvSpPr>
          <p:spPr>
            <a:xfrm>
              <a:off x="1494561" y="291643"/>
              <a:ext cx="57099" cy="63843"/>
            </a:xfrm>
            <a:custGeom>
              <a:avLst/>
              <a:gdLst/>
              <a:ahLst/>
              <a:cxnLst/>
              <a:rect l="0" t="0" r="0" b="0"/>
              <a:pathLst>
                <a:path w="57099" h="63843">
                  <a:moveTo>
                    <a:pt x="57099" y="0"/>
                  </a:moveTo>
                  <a:lnTo>
                    <a:pt x="37046" y="63843"/>
                  </a:lnTo>
                  <a:lnTo>
                    <a:pt x="28169" y="37033"/>
                  </a:lnTo>
                  <a:lnTo>
                    <a:pt x="0" y="34912"/>
                  </a:lnTo>
                  <a:lnTo>
                    <a:pt x="57099"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5232">
              <a:extLst>
                <a:ext uri="{FF2B5EF4-FFF2-40B4-BE49-F238E27FC236}">
                  <a16:creationId xmlns:a16="http://schemas.microsoft.com/office/drawing/2014/main" id="{E82ADD7E-E677-3248-B789-459CEB2928EC}"/>
                </a:ext>
              </a:extLst>
            </p:cNvPr>
            <p:cNvSpPr/>
            <p:nvPr/>
          </p:nvSpPr>
          <p:spPr>
            <a:xfrm>
              <a:off x="652780" y="906526"/>
              <a:ext cx="869823" cy="831850"/>
            </a:xfrm>
            <a:custGeom>
              <a:avLst/>
              <a:gdLst/>
              <a:ahLst/>
              <a:cxnLst/>
              <a:rect l="0" t="0" r="0" b="0"/>
              <a:pathLst>
                <a:path w="869823" h="831850">
                  <a:moveTo>
                    <a:pt x="0" y="831850"/>
                  </a:moveTo>
                  <a:lnTo>
                    <a:pt x="869823" y="0"/>
                  </a:lnTo>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5233">
              <a:extLst>
                <a:ext uri="{FF2B5EF4-FFF2-40B4-BE49-F238E27FC236}">
                  <a16:creationId xmlns:a16="http://schemas.microsoft.com/office/drawing/2014/main" id="{B15B6048-9CB8-880C-B091-9A912503A8F9}"/>
                </a:ext>
              </a:extLst>
            </p:cNvPr>
            <p:cNvSpPr/>
            <p:nvPr/>
          </p:nvSpPr>
          <p:spPr>
            <a:xfrm>
              <a:off x="618973" y="1710588"/>
              <a:ext cx="61404" cy="60439"/>
            </a:xfrm>
            <a:custGeom>
              <a:avLst/>
              <a:gdLst/>
              <a:ahLst/>
              <a:cxnLst/>
              <a:rect l="0" t="0" r="0" b="0"/>
              <a:pathLst>
                <a:path w="61404" h="60439">
                  <a:moveTo>
                    <a:pt x="28753" y="0"/>
                  </a:moveTo>
                  <a:lnTo>
                    <a:pt x="33807" y="27787"/>
                  </a:lnTo>
                  <a:lnTo>
                    <a:pt x="61404" y="33807"/>
                  </a:lnTo>
                  <a:lnTo>
                    <a:pt x="0" y="60439"/>
                  </a:lnTo>
                  <a:lnTo>
                    <a:pt x="28753"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234">
              <a:extLst>
                <a:ext uri="{FF2B5EF4-FFF2-40B4-BE49-F238E27FC236}">
                  <a16:creationId xmlns:a16="http://schemas.microsoft.com/office/drawing/2014/main" id="{8E647295-F32C-46EA-7D71-1D8B4AA0C7EF}"/>
                </a:ext>
              </a:extLst>
            </p:cNvPr>
            <p:cNvSpPr/>
            <p:nvPr/>
          </p:nvSpPr>
          <p:spPr>
            <a:xfrm>
              <a:off x="1495133" y="873874"/>
              <a:ext cx="61405" cy="60439"/>
            </a:xfrm>
            <a:custGeom>
              <a:avLst/>
              <a:gdLst/>
              <a:ahLst/>
              <a:cxnLst/>
              <a:rect l="0" t="0" r="0" b="0"/>
              <a:pathLst>
                <a:path w="61405" h="60439">
                  <a:moveTo>
                    <a:pt x="61405" y="0"/>
                  </a:moveTo>
                  <a:lnTo>
                    <a:pt x="32652" y="60439"/>
                  </a:lnTo>
                  <a:lnTo>
                    <a:pt x="27597" y="32652"/>
                  </a:lnTo>
                  <a:lnTo>
                    <a:pt x="0" y="26632"/>
                  </a:lnTo>
                  <a:lnTo>
                    <a:pt x="6140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235">
              <a:extLst>
                <a:ext uri="{FF2B5EF4-FFF2-40B4-BE49-F238E27FC236}">
                  <a16:creationId xmlns:a16="http://schemas.microsoft.com/office/drawing/2014/main" id="{EE040F74-D205-9419-AE15-09E39A6D1AAE}"/>
                </a:ext>
              </a:extLst>
            </p:cNvPr>
            <p:cNvSpPr/>
            <p:nvPr/>
          </p:nvSpPr>
          <p:spPr>
            <a:xfrm>
              <a:off x="881380" y="1484376"/>
              <a:ext cx="628650" cy="273050"/>
            </a:xfrm>
            <a:custGeom>
              <a:avLst/>
              <a:gdLst/>
              <a:ahLst/>
              <a:cxnLst/>
              <a:rect l="0" t="0" r="0" b="0"/>
              <a:pathLst>
                <a:path w="628650" h="273050">
                  <a:moveTo>
                    <a:pt x="0" y="273050"/>
                  </a:moveTo>
                  <a:lnTo>
                    <a:pt x="628650" y="0"/>
                  </a:lnTo>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5236">
              <a:extLst>
                <a:ext uri="{FF2B5EF4-FFF2-40B4-BE49-F238E27FC236}">
                  <a16:creationId xmlns:a16="http://schemas.microsoft.com/office/drawing/2014/main" id="{34D426A9-E4D1-1A33-E590-CD02B34632A4}"/>
                </a:ext>
              </a:extLst>
            </p:cNvPr>
            <p:cNvSpPr/>
            <p:nvPr/>
          </p:nvSpPr>
          <p:spPr>
            <a:xfrm>
              <a:off x="838124" y="1729676"/>
              <a:ext cx="66865" cy="46113"/>
            </a:xfrm>
            <a:custGeom>
              <a:avLst/>
              <a:gdLst/>
              <a:ahLst/>
              <a:cxnLst/>
              <a:rect l="0" t="0" r="0" b="0"/>
              <a:pathLst>
                <a:path w="66865" h="46113">
                  <a:moveTo>
                    <a:pt x="48501" y="0"/>
                  </a:moveTo>
                  <a:lnTo>
                    <a:pt x="43256" y="27749"/>
                  </a:lnTo>
                  <a:lnTo>
                    <a:pt x="66865" y="43256"/>
                  </a:lnTo>
                  <a:lnTo>
                    <a:pt x="0" y="46113"/>
                  </a:lnTo>
                  <a:lnTo>
                    <a:pt x="48501"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5237">
              <a:extLst>
                <a:ext uri="{FF2B5EF4-FFF2-40B4-BE49-F238E27FC236}">
                  <a16:creationId xmlns:a16="http://schemas.microsoft.com/office/drawing/2014/main" id="{72C9AD5A-D762-252E-BDD3-308799F6A3E1}"/>
                </a:ext>
              </a:extLst>
            </p:cNvPr>
            <p:cNvSpPr/>
            <p:nvPr/>
          </p:nvSpPr>
          <p:spPr>
            <a:xfrm>
              <a:off x="1486421" y="1466012"/>
              <a:ext cx="66865" cy="46113"/>
            </a:xfrm>
            <a:custGeom>
              <a:avLst/>
              <a:gdLst/>
              <a:ahLst/>
              <a:cxnLst/>
              <a:rect l="0" t="0" r="0" b="0"/>
              <a:pathLst>
                <a:path w="66865" h="46113">
                  <a:moveTo>
                    <a:pt x="66865" y="0"/>
                  </a:moveTo>
                  <a:lnTo>
                    <a:pt x="18377" y="46113"/>
                  </a:lnTo>
                  <a:lnTo>
                    <a:pt x="23609" y="18364"/>
                  </a:lnTo>
                  <a:lnTo>
                    <a:pt x="0" y="2857"/>
                  </a:lnTo>
                  <a:lnTo>
                    <a:pt x="6686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5238">
              <a:extLst>
                <a:ext uri="{FF2B5EF4-FFF2-40B4-BE49-F238E27FC236}">
                  <a16:creationId xmlns:a16="http://schemas.microsoft.com/office/drawing/2014/main" id="{04714639-776F-3E18-782B-8E1C96F6F15F}"/>
                </a:ext>
              </a:extLst>
            </p:cNvPr>
            <p:cNvSpPr/>
            <p:nvPr/>
          </p:nvSpPr>
          <p:spPr>
            <a:xfrm>
              <a:off x="2449830" y="328676"/>
              <a:ext cx="1111250" cy="1409700"/>
            </a:xfrm>
            <a:custGeom>
              <a:avLst/>
              <a:gdLst/>
              <a:ahLst/>
              <a:cxnLst/>
              <a:rect l="0" t="0" r="0" b="0"/>
              <a:pathLst>
                <a:path w="1111250" h="1409700">
                  <a:moveTo>
                    <a:pt x="1111250" y="1409700"/>
                  </a:moveTo>
                  <a:lnTo>
                    <a:pt x="0" y="0"/>
                  </a:lnTo>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5239">
              <a:extLst>
                <a:ext uri="{FF2B5EF4-FFF2-40B4-BE49-F238E27FC236}">
                  <a16:creationId xmlns:a16="http://schemas.microsoft.com/office/drawing/2014/main" id="{4763DF2B-19CA-9032-6ACB-0C151CBBB116}"/>
                </a:ext>
              </a:extLst>
            </p:cNvPr>
            <p:cNvSpPr/>
            <p:nvPr/>
          </p:nvSpPr>
          <p:spPr>
            <a:xfrm>
              <a:off x="3532924" y="1711566"/>
              <a:ext cx="57087" cy="63843"/>
            </a:xfrm>
            <a:custGeom>
              <a:avLst/>
              <a:gdLst/>
              <a:ahLst/>
              <a:cxnLst/>
              <a:rect l="0" t="0" r="0" b="0"/>
              <a:pathLst>
                <a:path w="57087" h="63843">
                  <a:moveTo>
                    <a:pt x="37021" y="0"/>
                  </a:moveTo>
                  <a:lnTo>
                    <a:pt x="57087" y="63843"/>
                  </a:lnTo>
                  <a:lnTo>
                    <a:pt x="0" y="28931"/>
                  </a:lnTo>
                  <a:lnTo>
                    <a:pt x="28156" y="26810"/>
                  </a:lnTo>
                  <a:lnTo>
                    <a:pt x="37021"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5240">
              <a:extLst>
                <a:ext uri="{FF2B5EF4-FFF2-40B4-BE49-F238E27FC236}">
                  <a16:creationId xmlns:a16="http://schemas.microsoft.com/office/drawing/2014/main" id="{E0E80DFD-BE94-6DC0-354D-CBA84D5BBD4D}"/>
                </a:ext>
              </a:extLst>
            </p:cNvPr>
            <p:cNvSpPr/>
            <p:nvPr/>
          </p:nvSpPr>
          <p:spPr>
            <a:xfrm>
              <a:off x="2420899" y="291643"/>
              <a:ext cx="57099" cy="63843"/>
            </a:xfrm>
            <a:custGeom>
              <a:avLst/>
              <a:gdLst/>
              <a:ahLst/>
              <a:cxnLst/>
              <a:rect l="0" t="0" r="0" b="0"/>
              <a:pathLst>
                <a:path w="57099" h="63843">
                  <a:moveTo>
                    <a:pt x="0" y="0"/>
                  </a:moveTo>
                  <a:lnTo>
                    <a:pt x="57099" y="34912"/>
                  </a:lnTo>
                  <a:lnTo>
                    <a:pt x="28931" y="37033"/>
                  </a:lnTo>
                  <a:lnTo>
                    <a:pt x="20053" y="63843"/>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5241">
              <a:extLst>
                <a:ext uri="{FF2B5EF4-FFF2-40B4-BE49-F238E27FC236}">
                  <a16:creationId xmlns:a16="http://schemas.microsoft.com/office/drawing/2014/main" id="{D6D8F6B1-3CA4-D815-0981-CBC0D948CD2A}"/>
                </a:ext>
              </a:extLst>
            </p:cNvPr>
            <p:cNvSpPr/>
            <p:nvPr/>
          </p:nvSpPr>
          <p:spPr>
            <a:xfrm>
              <a:off x="2449830" y="906526"/>
              <a:ext cx="869950" cy="831850"/>
            </a:xfrm>
            <a:custGeom>
              <a:avLst/>
              <a:gdLst/>
              <a:ahLst/>
              <a:cxnLst/>
              <a:rect l="0" t="0" r="0" b="0"/>
              <a:pathLst>
                <a:path w="869950" h="831850">
                  <a:moveTo>
                    <a:pt x="869950" y="831850"/>
                  </a:moveTo>
                  <a:lnTo>
                    <a:pt x="0" y="0"/>
                  </a:lnTo>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5242">
              <a:extLst>
                <a:ext uri="{FF2B5EF4-FFF2-40B4-BE49-F238E27FC236}">
                  <a16:creationId xmlns:a16="http://schemas.microsoft.com/office/drawing/2014/main" id="{3C90FE77-678E-B3D2-21CE-25F5E41D4FDD}"/>
                </a:ext>
              </a:extLst>
            </p:cNvPr>
            <p:cNvSpPr/>
            <p:nvPr/>
          </p:nvSpPr>
          <p:spPr>
            <a:xfrm>
              <a:off x="3292196" y="1710588"/>
              <a:ext cx="61392" cy="60439"/>
            </a:xfrm>
            <a:custGeom>
              <a:avLst/>
              <a:gdLst/>
              <a:ahLst/>
              <a:cxnLst/>
              <a:rect l="0" t="0" r="0" b="0"/>
              <a:pathLst>
                <a:path w="61392" h="60439">
                  <a:moveTo>
                    <a:pt x="32639" y="0"/>
                  </a:moveTo>
                  <a:lnTo>
                    <a:pt x="61392" y="60439"/>
                  </a:lnTo>
                  <a:lnTo>
                    <a:pt x="0" y="33807"/>
                  </a:lnTo>
                  <a:lnTo>
                    <a:pt x="27584" y="27787"/>
                  </a:lnTo>
                  <a:lnTo>
                    <a:pt x="32639"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5243">
              <a:extLst>
                <a:ext uri="{FF2B5EF4-FFF2-40B4-BE49-F238E27FC236}">
                  <a16:creationId xmlns:a16="http://schemas.microsoft.com/office/drawing/2014/main" id="{9EF607EA-DD6C-B709-8F22-67C3FE2724D4}"/>
                </a:ext>
              </a:extLst>
            </p:cNvPr>
            <p:cNvSpPr/>
            <p:nvPr/>
          </p:nvSpPr>
          <p:spPr>
            <a:xfrm>
              <a:off x="2416022" y="873874"/>
              <a:ext cx="61405" cy="60439"/>
            </a:xfrm>
            <a:custGeom>
              <a:avLst/>
              <a:gdLst/>
              <a:ahLst/>
              <a:cxnLst/>
              <a:rect l="0" t="0" r="0" b="0"/>
              <a:pathLst>
                <a:path w="61405" h="60439">
                  <a:moveTo>
                    <a:pt x="0" y="0"/>
                  </a:moveTo>
                  <a:lnTo>
                    <a:pt x="61405" y="26632"/>
                  </a:lnTo>
                  <a:lnTo>
                    <a:pt x="33807" y="32652"/>
                  </a:lnTo>
                  <a:lnTo>
                    <a:pt x="28753" y="60439"/>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5244">
              <a:extLst>
                <a:ext uri="{FF2B5EF4-FFF2-40B4-BE49-F238E27FC236}">
                  <a16:creationId xmlns:a16="http://schemas.microsoft.com/office/drawing/2014/main" id="{43FD2F75-C899-11CD-50C2-07147CB7F1B2}"/>
                </a:ext>
              </a:extLst>
            </p:cNvPr>
            <p:cNvSpPr/>
            <p:nvPr/>
          </p:nvSpPr>
          <p:spPr>
            <a:xfrm>
              <a:off x="2462530" y="1484376"/>
              <a:ext cx="628650" cy="273050"/>
            </a:xfrm>
            <a:custGeom>
              <a:avLst/>
              <a:gdLst/>
              <a:ahLst/>
              <a:cxnLst/>
              <a:rect l="0" t="0" r="0" b="0"/>
              <a:pathLst>
                <a:path w="628650" h="273050">
                  <a:moveTo>
                    <a:pt x="628650" y="273050"/>
                  </a:moveTo>
                  <a:lnTo>
                    <a:pt x="0" y="0"/>
                  </a:lnTo>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5245">
              <a:extLst>
                <a:ext uri="{FF2B5EF4-FFF2-40B4-BE49-F238E27FC236}">
                  <a16:creationId xmlns:a16="http://schemas.microsoft.com/office/drawing/2014/main" id="{91317034-23A1-2E26-4005-0DB472F48BE8}"/>
                </a:ext>
              </a:extLst>
            </p:cNvPr>
            <p:cNvSpPr/>
            <p:nvPr/>
          </p:nvSpPr>
          <p:spPr>
            <a:xfrm>
              <a:off x="3067583" y="1729676"/>
              <a:ext cx="66866" cy="46113"/>
            </a:xfrm>
            <a:custGeom>
              <a:avLst/>
              <a:gdLst/>
              <a:ahLst/>
              <a:cxnLst/>
              <a:rect l="0" t="0" r="0" b="0"/>
              <a:pathLst>
                <a:path w="66866" h="46113">
                  <a:moveTo>
                    <a:pt x="18352" y="0"/>
                  </a:moveTo>
                  <a:lnTo>
                    <a:pt x="66866" y="46113"/>
                  </a:lnTo>
                  <a:lnTo>
                    <a:pt x="0" y="43256"/>
                  </a:lnTo>
                  <a:lnTo>
                    <a:pt x="23597" y="27749"/>
                  </a:lnTo>
                  <a:lnTo>
                    <a:pt x="18352"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5246">
              <a:extLst>
                <a:ext uri="{FF2B5EF4-FFF2-40B4-BE49-F238E27FC236}">
                  <a16:creationId xmlns:a16="http://schemas.microsoft.com/office/drawing/2014/main" id="{F0BD974D-0D7C-A4F9-26F1-E4B341AEC5AB}"/>
                </a:ext>
              </a:extLst>
            </p:cNvPr>
            <p:cNvSpPr/>
            <p:nvPr/>
          </p:nvSpPr>
          <p:spPr>
            <a:xfrm>
              <a:off x="2419274" y="1466012"/>
              <a:ext cx="66865" cy="46113"/>
            </a:xfrm>
            <a:custGeom>
              <a:avLst/>
              <a:gdLst/>
              <a:ahLst/>
              <a:cxnLst/>
              <a:rect l="0" t="0" r="0" b="0"/>
              <a:pathLst>
                <a:path w="66865" h="46113">
                  <a:moveTo>
                    <a:pt x="0" y="0"/>
                  </a:moveTo>
                  <a:lnTo>
                    <a:pt x="66865" y="2857"/>
                  </a:lnTo>
                  <a:lnTo>
                    <a:pt x="43256" y="18364"/>
                  </a:lnTo>
                  <a:lnTo>
                    <a:pt x="48489" y="46113"/>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5247">
              <a:extLst>
                <a:ext uri="{FF2B5EF4-FFF2-40B4-BE49-F238E27FC236}">
                  <a16:creationId xmlns:a16="http://schemas.microsoft.com/office/drawing/2014/main" id="{2893EB94-B181-D1D9-C2AD-BA70A26DB630}"/>
                </a:ext>
              </a:extLst>
            </p:cNvPr>
            <p:cNvSpPr/>
            <p:nvPr/>
          </p:nvSpPr>
          <p:spPr>
            <a:xfrm>
              <a:off x="748030" y="1890776"/>
              <a:ext cx="2317750" cy="0"/>
            </a:xfrm>
            <a:custGeom>
              <a:avLst/>
              <a:gdLst/>
              <a:ahLst/>
              <a:cxnLst/>
              <a:rect l="0" t="0" r="0" b="0"/>
              <a:pathLst>
                <a:path w="2317750">
                  <a:moveTo>
                    <a:pt x="0" y="0"/>
                  </a:moveTo>
                  <a:lnTo>
                    <a:pt x="2317750" y="0"/>
                  </a:lnTo>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5248">
              <a:extLst>
                <a:ext uri="{FF2B5EF4-FFF2-40B4-BE49-F238E27FC236}">
                  <a16:creationId xmlns:a16="http://schemas.microsoft.com/office/drawing/2014/main" id="{F9EF045D-9B69-650B-353A-4D62068DEAED}"/>
                </a:ext>
              </a:extLst>
            </p:cNvPr>
            <p:cNvSpPr/>
            <p:nvPr/>
          </p:nvSpPr>
          <p:spPr>
            <a:xfrm>
              <a:off x="3050108" y="1867281"/>
              <a:ext cx="62674" cy="46989"/>
            </a:xfrm>
            <a:custGeom>
              <a:avLst/>
              <a:gdLst/>
              <a:ahLst/>
              <a:cxnLst/>
              <a:rect l="0" t="0" r="0" b="0"/>
              <a:pathLst>
                <a:path w="62674" h="46989">
                  <a:moveTo>
                    <a:pt x="0" y="0"/>
                  </a:moveTo>
                  <a:lnTo>
                    <a:pt x="62674" y="23495"/>
                  </a:lnTo>
                  <a:lnTo>
                    <a:pt x="0" y="46989"/>
                  </a:lnTo>
                  <a:lnTo>
                    <a:pt x="15672" y="2349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5249">
              <a:extLst>
                <a:ext uri="{FF2B5EF4-FFF2-40B4-BE49-F238E27FC236}">
                  <a16:creationId xmlns:a16="http://schemas.microsoft.com/office/drawing/2014/main" id="{65333C8B-997F-3D98-F6DB-D092A3A1370D}"/>
                </a:ext>
              </a:extLst>
            </p:cNvPr>
            <p:cNvSpPr/>
            <p:nvPr/>
          </p:nvSpPr>
          <p:spPr>
            <a:xfrm>
              <a:off x="919480" y="1986026"/>
              <a:ext cx="2317750" cy="0"/>
            </a:xfrm>
            <a:custGeom>
              <a:avLst/>
              <a:gdLst/>
              <a:ahLst/>
              <a:cxnLst/>
              <a:rect l="0" t="0" r="0" b="0"/>
              <a:pathLst>
                <a:path w="2317750">
                  <a:moveTo>
                    <a:pt x="2317750" y="0"/>
                  </a:moveTo>
                  <a:lnTo>
                    <a:pt x="0" y="0"/>
                  </a:lnTo>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5250">
              <a:extLst>
                <a:ext uri="{FF2B5EF4-FFF2-40B4-BE49-F238E27FC236}">
                  <a16:creationId xmlns:a16="http://schemas.microsoft.com/office/drawing/2014/main" id="{70FBD90A-6941-38D9-91B4-C41416A2D6A7}"/>
                </a:ext>
              </a:extLst>
            </p:cNvPr>
            <p:cNvSpPr/>
            <p:nvPr/>
          </p:nvSpPr>
          <p:spPr>
            <a:xfrm>
              <a:off x="872477" y="1962531"/>
              <a:ext cx="62674" cy="46989"/>
            </a:xfrm>
            <a:custGeom>
              <a:avLst/>
              <a:gdLst/>
              <a:ahLst/>
              <a:cxnLst/>
              <a:rect l="0" t="0" r="0" b="0"/>
              <a:pathLst>
                <a:path w="62674" h="46989">
                  <a:moveTo>
                    <a:pt x="62674" y="0"/>
                  </a:moveTo>
                  <a:lnTo>
                    <a:pt x="47003" y="23495"/>
                  </a:lnTo>
                  <a:lnTo>
                    <a:pt x="62674" y="46989"/>
                  </a:lnTo>
                  <a:lnTo>
                    <a:pt x="0" y="23495"/>
                  </a:lnTo>
                  <a:lnTo>
                    <a:pt x="62674"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5251">
              <a:extLst>
                <a:ext uri="{FF2B5EF4-FFF2-40B4-BE49-F238E27FC236}">
                  <a16:creationId xmlns:a16="http://schemas.microsoft.com/office/drawing/2014/main" id="{C6F63B57-8122-AC8E-4999-7F4513D840EE}"/>
                </a:ext>
              </a:extLst>
            </p:cNvPr>
            <p:cNvSpPr/>
            <p:nvPr/>
          </p:nvSpPr>
          <p:spPr>
            <a:xfrm>
              <a:off x="1751330" y="239776"/>
              <a:ext cx="0" cy="1035050"/>
            </a:xfrm>
            <a:custGeom>
              <a:avLst/>
              <a:gdLst/>
              <a:ahLst/>
              <a:cxnLst/>
              <a:rect l="0" t="0" r="0" b="0"/>
              <a:pathLst>
                <a:path h="1035050">
                  <a:moveTo>
                    <a:pt x="0" y="0"/>
                  </a:moveTo>
                  <a:lnTo>
                    <a:pt x="0" y="1035050"/>
                  </a:lnTo>
                </a:path>
              </a:pathLst>
            </a:custGeom>
            <a:ln w="7201" cap="flat">
              <a:custDash>
                <a:ds d="200000" sp="200000"/>
              </a:custDash>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5252">
              <a:extLst>
                <a:ext uri="{FF2B5EF4-FFF2-40B4-BE49-F238E27FC236}">
                  <a16:creationId xmlns:a16="http://schemas.microsoft.com/office/drawing/2014/main" id="{E6DBCD94-73FF-FC00-1FDB-B6EE6F449F34}"/>
                </a:ext>
              </a:extLst>
            </p:cNvPr>
            <p:cNvSpPr/>
            <p:nvPr/>
          </p:nvSpPr>
          <p:spPr>
            <a:xfrm>
              <a:off x="2221230" y="849376"/>
              <a:ext cx="0" cy="425450"/>
            </a:xfrm>
            <a:custGeom>
              <a:avLst/>
              <a:gdLst/>
              <a:ahLst/>
              <a:cxnLst/>
              <a:rect l="0" t="0" r="0" b="0"/>
              <a:pathLst>
                <a:path h="425450">
                  <a:moveTo>
                    <a:pt x="0" y="0"/>
                  </a:moveTo>
                  <a:lnTo>
                    <a:pt x="0" y="425450"/>
                  </a:lnTo>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448110">
              <a:extLst>
                <a:ext uri="{FF2B5EF4-FFF2-40B4-BE49-F238E27FC236}">
                  <a16:creationId xmlns:a16="http://schemas.microsoft.com/office/drawing/2014/main" id="{F14154BF-95C8-83AF-D612-3A7AAABD908E}"/>
                </a:ext>
              </a:extLst>
            </p:cNvPr>
            <p:cNvSpPr/>
            <p:nvPr/>
          </p:nvSpPr>
          <p:spPr>
            <a:xfrm>
              <a:off x="1555750" y="0"/>
              <a:ext cx="863981" cy="288036"/>
            </a:xfrm>
            <a:custGeom>
              <a:avLst/>
              <a:gdLst/>
              <a:ahLst/>
              <a:cxnLst/>
              <a:rect l="0" t="0" r="0" b="0"/>
              <a:pathLst>
                <a:path w="863981" h="288036">
                  <a:moveTo>
                    <a:pt x="0" y="0"/>
                  </a:moveTo>
                  <a:lnTo>
                    <a:pt x="863981" y="0"/>
                  </a:lnTo>
                  <a:lnTo>
                    <a:pt x="863981" y="288036"/>
                  </a:lnTo>
                  <a:lnTo>
                    <a:pt x="0" y="288036"/>
                  </a:lnTo>
                  <a:lnTo>
                    <a:pt x="0" y="0"/>
                  </a:lnTo>
                </a:path>
              </a:pathLst>
            </a:custGeom>
            <a:ln w="5398"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73ED6AD-1A28-84FB-334A-079FFD3FDC30}"/>
                </a:ext>
              </a:extLst>
            </p:cNvPr>
            <p:cNvSpPr/>
            <p:nvPr/>
          </p:nvSpPr>
          <p:spPr>
            <a:xfrm>
              <a:off x="1708150" y="45110"/>
              <a:ext cx="745907"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International</a:t>
              </a:r>
              <a:endParaRPr kumimoji="0" lang="fr-FR" sz="2000" b="1" i="0" u="none" strike="noStrike" kern="1200" cap="none" spc="0" normalizeH="0" baseline="0" noProof="0" dirty="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28" name="Rectangle 27">
              <a:extLst>
                <a:ext uri="{FF2B5EF4-FFF2-40B4-BE49-F238E27FC236}">
                  <a16:creationId xmlns:a16="http://schemas.microsoft.com/office/drawing/2014/main" id="{3B2D8294-01D4-9084-B061-92F3348269B3}"/>
                </a:ext>
              </a:extLst>
            </p:cNvPr>
            <p:cNvSpPr/>
            <p:nvPr/>
          </p:nvSpPr>
          <p:spPr>
            <a:xfrm>
              <a:off x="1807007" y="146710"/>
              <a:ext cx="482948"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markets</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29" name="Shape 448115">
              <a:extLst>
                <a:ext uri="{FF2B5EF4-FFF2-40B4-BE49-F238E27FC236}">
                  <a16:creationId xmlns:a16="http://schemas.microsoft.com/office/drawing/2014/main" id="{A2652336-E393-FD33-5505-9F1ADB408ACC}"/>
                </a:ext>
              </a:extLst>
            </p:cNvPr>
            <p:cNvSpPr/>
            <p:nvPr/>
          </p:nvSpPr>
          <p:spPr>
            <a:xfrm>
              <a:off x="1555750" y="596900"/>
              <a:ext cx="863981" cy="288036"/>
            </a:xfrm>
            <a:custGeom>
              <a:avLst/>
              <a:gdLst/>
              <a:ahLst/>
              <a:cxnLst/>
              <a:rect l="0" t="0" r="0" b="0"/>
              <a:pathLst>
                <a:path w="863981" h="288036">
                  <a:moveTo>
                    <a:pt x="0" y="0"/>
                  </a:moveTo>
                  <a:lnTo>
                    <a:pt x="863981" y="0"/>
                  </a:lnTo>
                  <a:lnTo>
                    <a:pt x="863981" y="288036"/>
                  </a:lnTo>
                  <a:lnTo>
                    <a:pt x="0" y="288036"/>
                  </a:lnTo>
                  <a:lnTo>
                    <a:pt x="0" y="0"/>
                  </a:lnTo>
                </a:path>
              </a:pathLst>
            </a:custGeom>
            <a:ln w="5398"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57D51E57-1234-B4A2-859C-53FFD299061F}"/>
                </a:ext>
              </a:extLst>
            </p:cNvPr>
            <p:cNvSpPr/>
            <p:nvPr/>
          </p:nvSpPr>
          <p:spPr>
            <a:xfrm>
              <a:off x="1706880" y="677570"/>
              <a:ext cx="747123"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Government</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31" name="Shape 448118">
              <a:extLst>
                <a:ext uri="{FF2B5EF4-FFF2-40B4-BE49-F238E27FC236}">
                  <a16:creationId xmlns:a16="http://schemas.microsoft.com/office/drawing/2014/main" id="{67C10F41-A519-9E93-A1D5-E288874DC665}"/>
                </a:ext>
              </a:extLst>
            </p:cNvPr>
            <p:cNvSpPr/>
            <p:nvPr/>
          </p:nvSpPr>
          <p:spPr>
            <a:xfrm>
              <a:off x="1541589" y="1197026"/>
              <a:ext cx="999897" cy="354774"/>
            </a:xfrm>
            <a:custGeom>
              <a:avLst/>
              <a:gdLst/>
              <a:ahLst/>
              <a:cxnLst/>
              <a:rect l="0" t="0" r="0" b="0"/>
              <a:pathLst>
                <a:path w="863981" h="288037">
                  <a:moveTo>
                    <a:pt x="0" y="0"/>
                  </a:moveTo>
                  <a:lnTo>
                    <a:pt x="863981" y="0"/>
                  </a:lnTo>
                  <a:lnTo>
                    <a:pt x="863981" y="288037"/>
                  </a:lnTo>
                  <a:lnTo>
                    <a:pt x="0" y="288037"/>
                  </a:lnTo>
                  <a:lnTo>
                    <a:pt x="0" y="0"/>
                  </a:lnTo>
                </a:path>
              </a:pathLst>
            </a:custGeom>
            <a:solidFill>
              <a:schemeClr val="bg1"/>
            </a:solidFill>
            <a:ln w="5398" cap="flat">
              <a:miter lim="100000"/>
            </a:ln>
          </p:spPr>
          <p:style>
            <a:lnRef idx="1">
              <a:srgbClr val="000000"/>
            </a:lnRef>
            <a:fillRef idx="1">
              <a:srgbClr val="B2B2B2"/>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072FE894-FE61-55DA-2849-96E18A1F22E2}"/>
                </a:ext>
              </a:extLst>
            </p:cNvPr>
            <p:cNvSpPr/>
            <p:nvPr/>
          </p:nvSpPr>
          <p:spPr>
            <a:xfrm>
              <a:off x="1614272" y="1238910"/>
              <a:ext cx="816572" cy="169266"/>
            </a:xfrm>
            <a:prstGeom prst="rect">
              <a:avLst/>
            </a:prstGeom>
            <a:ln>
              <a:noFill/>
            </a:ln>
          </p:spPr>
          <p:txBody>
            <a:bodyPr vert="horz" lIns="0" tIns="0" rIns="0" bIns="0" rtlCol="0">
              <a:noAutofit/>
            </a:bodyPr>
            <a:lstStyle/>
            <a:p>
              <a:pPr marL="4445" marR="0" lvl="0" indent="-4445" algn="ctr"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Banks/Financial </a:t>
              </a:r>
              <a:r>
                <a:rPr kumimoji="0" lang="fr-FR" sz="2000" b="1" i="0" u="none" strike="noStrike" kern="1200" cap="none" spc="0" normalizeH="0" baseline="0" noProof="0" dirty="0" err="1">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Market</a:t>
              </a:r>
              <a:endParaRPr kumimoji="0" lang="fr-FR" sz="2000" b="1" i="0" u="none" strike="noStrike" kern="1200" cap="none" spc="0" normalizeH="0" baseline="0" noProof="0" dirty="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34" name="Shape 448123">
              <a:extLst>
                <a:ext uri="{FF2B5EF4-FFF2-40B4-BE49-F238E27FC236}">
                  <a16:creationId xmlns:a16="http://schemas.microsoft.com/office/drawing/2014/main" id="{1FEB4088-5EAF-DFE8-D89E-3A15BBB1FCF1}"/>
                </a:ext>
              </a:extLst>
            </p:cNvPr>
            <p:cNvSpPr/>
            <p:nvPr/>
          </p:nvSpPr>
          <p:spPr>
            <a:xfrm>
              <a:off x="0" y="1790700"/>
              <a:ext cx="863981" cy="288037"/>
            </a:xfrm>
            <a:custGeom>
              <a:avLst/>
              <a:gdLst/>
              <a:ahLst/>
              <a:cxnLst/>
              <a:rect l="0" t="0" r="0" b="0"/>
              <a:pathLst>
                <a:path w="863981" h="288037">
                  <a:moveTo>
                    <a:pt x="0" y="0"/>
                  </a:moveTo>
                  <a:lnTo>
                    <a:pt x="863981" y="0"/>
                  </a:lnTo>
                  <a:lnTo>
                    <a:pt x="863981" y="288037"/>
                  </a:lnTo>
                  <a:lnTo>
                    <a:pt x="0" y="288037"/>
                  </a:lnTo>
                  <a:lnTo>
                    <a:pt x="0" y="0"/>
                  </a:lnTo>
                </a:path>
              </a:pathLst>
            </a:custGeom>
            <a:ln w="5398"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118C5B29-A00F-E7A4-B56D-69E0EC9C8455}"/>
                </a:ext>
              </a:extLst>
            </p:cNvPr>
            <p:cNvSpPr/>
            <p:nvPr/>
          </p:nvSpPr>
          <p:spPr>
            <a:xfrm>
              <a:off x="158750" y="1871371"/>
              <a:ext cx="727259"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Households</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36" name="Shape 448126">
              <a:extLst>
                <a:ext uri="{FF2B5EF4-FFF2-40B4-BE49-F238E27FC236}">
                  <a16:creationId xmlns:a16="http://schemas.microsoft.com/office/drawing/2014/main" id="{FA68F46B-6CEF-8FD8-7584-4EFC4E768DE6}"/>
                </a:ext>
              </a:extLst>
            </p:cNvPr>
            <p:cNvSpPr/>
            <p:nvPr/>
          </p:nvSpPr>
          <p:spPr>
            <a:xfrm>
              <a:off x="3117850" y="1790700"/>
              <a:ext cx="863981" cy="288037"/>
            </a:xfrm>
            <a:custGeom>
              <a:avLst/>
              <a:gdLst/>
              <a:ahLst/>
              <a:cxnLst/>
              <a:rect l="0" t="0" r="0" b="0"/>
              <a:pathLst>
                <a:path w="863981" h="288037">
                  <a:moveTo>
                    <a:pt x="0" y="0"/>
                  </a:moveTo>
                  <a:lnTo>
                    <a:pt x="863981" y="0"/>
                  </a:lnTo>
                  <a:lnTo>
                    <a:pt x="863981" y="288037"/>
                  </a:lnTo>
                  <a:lnTo>
                    <a:pt x="0" y="288037"/>
                  </a:lnTo>
                  <a:lnTo>
                    <a:pt x="0" y="0"/>
                  </a:lnTo>
                </a:path>
              </a:pathLst>
            </a:custGeom>
            <a:ln w="5398"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02E7EB6A-13AC-6673-0164-0221FDC463FE}"/>
                </a:ext>
              </a:extLst>
            </p:cNvPr>
            <p:cNvSpPr/>
            <p:nvPr/>
          </p:nvSpPr>
          <p:spPr>
            <a:xfrm>
              <a:off x="3289300" y="1871371"/>
              <a:ext cx="692261"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Companies</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38" name="Rectangle 37">
              <a:extLst>
                <a:ext uri="{FF2B5EF4-FFF2-40B4-BE49-F238E27FC236}">
                  <a16:creationId xmlns:a16="http://schemas.microsoft.com/office/drawing/2014/main" id="{5606593B-C460-6F85-B139-A85CDBD313C5}"/>
                </a:ext>
              </a:extLst>
            </p:cNvPr>
            <p:cNvSpPr/>
            <p:nvPr/>
          </p:nvSpPr>
          <p:spPr>
            <a:xfrm>
              <a:off x="971804" y="472338"/>
              <a:ext cx="459300"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Imports</a:t>
              </a:r>
              <a:endParaRPr kumimoji="0" lang="fr-FR" sz="2000" b="1" i="0" u="none" strike="noStrike" kern="1200" cap="none" spc="0" normalizeH="0" baseline="0" noProof="0" dirty="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39" name="Rectangle 38">
              <a:extLst>
                <a:ext uri="{FF2B5EF4-FFF2-40B4-BE49-F238E27FC236}">
                  <a16:creationId xmlns:a16="http://schemas.microsoft.com/office/drawing/2014/main" id="{B7E74C32-C50F-5EF4-D7B2-BCB614630F12}"/>
                </a:ext>
              </a:extLst>
            </p:cNvPr>
            <p:cNvSpPr/>
            <p:nvPr/>
          </p:nvSpPr>
          <p:spPr>
            <a:xfrm>
              <a:off x="1092607" y="999337"/>
              <a:ext cx="339847"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Taxes</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40" name="Rectangle 39">
              <a:extLst>
                <a:ext uri="{FF2B5EF4-FFF2-40B4-BE49-F238E27FC236}">
                  <a16:creationId xmlns:a16="http://schemas.microsoft.com/office/drawing/2014/main" id="{D6C2C50A-D085-BA3B-03E6-AE9C09A48D3B}"/>
                </a:ext>
              </a:extLst>
            </p:cNvPr>
            <p:cNvSpPr/>
            <p:nvPr/>
          </p:nvSpPr>
          <p:spPr>
            <a:xfrm>
              <a:off x="1402080" y="1577137"/>
              <a:ext cx="479974"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Savings</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41" name="Rectangle 40">
              <a:extLst>
                <a:ext uri="{FF2B5EF4-FFF2-40B4-BE49-F238E27FC236}">
                  <a16:creationId xmlns:a16="http://schemas.microsoft.com/office/drawing/2014/main" id="{0CD499A3-1ECF-DE6D-8A10-2894D032D84E}"/>
                </a:ext>
              </a:extLst>
            </p:cNvPr>
            <p:cNvSpPr/>
            <p:nvPr/>
          </p:nvSpPr>
          <p:spPr>
            <a:xfrm>
              <a:off x="1377117" y="1750837"/>
              <a:ext cx="815227"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dirty="0" err="1">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Consumption</a:t>
              </a:r>
              <a:endParaRPr kumimoji="0" lang="fr-FR" sz="2000" b="1" i="0" u="none" strike="noStrike" kern="1200" cap="none" spc="0" normalizeH="0" baseline="0" noProof="0" dirty="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42" name="Rectangle 41">
              <a:extLst>
                <a:ext uri="{FF2B5EF4-FFF2-40B4-BE49-F238E27FC236}">
                  <a16:creationId xmlns:a16="http://schemas.microsoft.com/office/drawing/2014/main" id="{0F1FDE8D-64EB-2F34-768C-F246DA64D4BA}"/>
                </a:ext>
              </a:extLst>
            </p:cNvPr>
            <p:cNvSpPr/>
            <p:nvPr/>
          </p:nvSpPr>
          <p:spPr>
            <a:xfrm>
              <a:off x="2115718" y="2028037"/>
              <a:ext cx="659965" cy="120535"/>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Production</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43" name="Rectangle 42">
              <a:extLst>
                <a:ext uri="{FF2B5EF4-FFF2-40B4-BE49-F238E27FC236}">
                  <a16:creationId xmlns:a16="http://schemas.microsoft.com/office/drawing/2014/main" id="{39085F11-DA28-DD0D-6F52-2693A2C44B10}"/>
                </a:ext>
              </a:extLst>
            </p:cNvPr>
            <p:cNvSpPr/>
            <p:nvPr/>
          </p:nvSpPr>
          <p:spPr>
            <a:xfrm>
              <a:off x="2059838" y="1577238"/>
              <a:ext cx="727259"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Investments</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44" name="Rectangle 43">
              <a:extLst>
                <a:ext uri="{FF2B5EF4-FFF2-40B4-BE49-F238E27FC236}">
                  <a16:creationId xmlns:a16="http://schemas.microsoft.com/office/drawing/2014/main" id="{239291EF-A3A2-29A5-733C-5CD060DCC87A}"/>
                </a:ext>
              </a:extLst>
            </p:cNvPr>
            <p:cNvSpPr/>
            <p:nvPr/>
          </p:nvSpPr>
          <p:spPr>
            <a:xfrm>
              <a:off x="2644038" y="999439"/>
              <a:ext cx="727259"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Investments</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45" name="Rectangle 44">
              <a:extLst>
                <a:ext uri="{FF2B5EF4-FFF2-40B4-BE49-F238E27FC236}">
                  <a16:creationId xmlns:a16="http://schemas.microsoft.com/office/drawing/2014/main" id="{E6FAEA10-F633-74CE-C4DB-7162A64C7754}"/>
                </a:ext>
              </a:extLst>
            </p:cNvPr>
            <p:cNvSpPr/>
            <p:nvPr/>
          </p:nvSpPr>
          <p:spPr>
            <a:xfrm>
              <a:off x="2654706" y="472440"/>
              <a:ext cx="459706" cy="120534"/>
            </a:xfrm>
            <a:prstGeom prst="rect">
              <a:avLst/>
            </a:prstGeom>
            <a:ln>
              <a:noFill/>
            </a:ln>
          </p:spPr>
          <p:txBody>
            <a:bodyPr vert="horz" lIns="0" tIns="0" rIns="0" bIns="0" rtlCol="0">
              <a:noAutofit/>
            </a:bodyPr>
            <a:lstStyle/>
            <a:p>
              <a:pPr marL="4445" marR="0" lvl="0" indent="-4445" algn="l" defTabSz="914400" rtl="0" eaLnBrk="1" fontAlgn="auto" latinLnBrk="0" hangingPunct="1">
                <a:lnSpc>
                  <a:spcPct val="107000"/>
                </a:lnSpc>
                <a:spcBef>
                  <a:spcPts val="0"/>
                </a:spcBef>
                <a:spcAft>
                  <a:spcPts val="800"/>
                </a:spcAft>
                <a:buClrTx/>
                <a:buSzTx/>
                <a:buFontTx/>
                <a:buNone/>
                <a:tabLst/>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pitchFamily="34" charset="0"/>
                  <a:cs typeface="Garamond" panose="02020404030301010803" pitchFamily="18" charset="0"/>
                </a:rPr>
                <a:t>Exports</a:t>
              </a:r>
              <a:endParaRPr kumimoji="0" lang="fr-FR" sz="2000" b="1" i="0" u="none" strike="noStrike" kern="1200" cap="none" spc="0" normalizeH="0" baseline="0" noProof="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46" name="Shape 5273">
              <a:extLst>
                <a:ext uri="{FF2B5EF4-FFF2-40B4-BE49-F238E27FC236}">
                  <a16:creationId xmlns:a16="http://schemas.microsoft.com/office/drawing/2014/main" id="{D0A2A0C9-CD5B-6895-4796-D9537B795B98}"/>
                </a:ext>
              </a:extLst>
            </p:cNvPr>
            <p:cNvSpPr/>
            <p:nvPr/>
          </p:nvSpPr>
          <p:spPr>
            <a:xfrm>
              <a:off x="1148080" y="722376"/>
              <a:ext cx="76200" cy="76200"/>
            </a:xfrm>
            <a:custGeom>
              <a:avLst/>
              <a:gdLst/>
              <a:ahLst/>
              <a:cxnLst/>
              <a:rect l="0" t="0" r="0" b="0"/>
              <a:pathLst>
                <a:path w="76200" h="76200">
                  <a:moveTo>
                    <a:pt x="38100" y="0"/>
                  </a:moveTo>
                  <a:cubicBezTo>
                    <a:pt x="59144" y="0"/>
                    <a:pt x="76200" y="17056"/>
                    <a:pt x="76200" y="38100"/>
                  </a:cubicBezTo>
                  <a:cubicBezTo>
                    <a:pt x="76200" y="59144"/>
                    <a:pt x="59144" y="76200"/>
                    <a:pt x="38100" y="76200"/>
                  </a:cubicBezTo>
                  <a:cubicBezTo>
                    <a:pt x="17056" y="76200"/>
                    <a:pt x="0" y="59144"/>
                    <a:pt x="0" y="38100"/>
                  </a:cubicBezTo>
                  <a:cubicBezTo>
                    <a:pt x="0" y="17056"/>
                    <a:pt x="17056" y="0"/>
                    <a:pt x="38100" y="0"/>
                  </a:cubicBezTo>
                  <a:close/>
                </a:path>
              </a:pathLst>
            </a:custGeom>
            <a:ln w="7201" cap="flat">
              <a:miter lim="100000"/>
            </a:ln>
          </p:spPr>
          <p:style>
            <a:lnRef idx="1">
              <a:srgbClr val="000000"/>
            </a:lnRef>
            <a:fillRef idx="1">
              <a:srgbClr val="B2B2B2"/>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5274">
              <a:extLst>
                <a:ext uri="{FF2B5EF4-FFF2-40B4-BE49-F238E27FC236}">
                  <a16:creationId xmlns:a16="http://schemas.microsoft.com/office/drawing/2014/main" id="{4076033A-E54E-132D-08CC-96DF4B06414E}"/>
                </a:ext>
              </a:extLst>
            </p:cNvPr>
            <p:cNvSpPr/>
            <p:nvPr/>
          </p:nvSpPr>
          <p:spPr>
            <a:xfrm>
              <a:off x="2754630" y="722376"/>
              <a:ext cx="76200" cy="76200"/>
            </a:xfrm>
            <a:custGeom>
              <a:avLst/>
              <a:gdLst/>
              <a:ahLst/>
              <a:cxnLst/>
              <a:rect l="0" t="0" r="0" b="0"/>
              <a:pathLst>
                <a:path w="76200" h="76200">
                  <a:moveTo>
                    <a:pt x="38100" y="0"/>
                  </a:moveTo>
                  <a:cubicBezTo>
                    <a:pt x="59144" y="0"/>
                    <a:pt x="76200" y="17056"/>
                    <a:pt x="76200" y="38100"/>
                  </a:cubicBezTo>
                  <a:cubicBezTo>
                    <a:pt x="76200" y="59144"/>
                    <a:pt x="59144" y="76200"/>
                    <a:pt x="38100" y="76200"/>
                  </a:cubicBezTo>
                  <a:cubicBezTo>
                    <a:pt x="17056" y="76200"/>
                    <a:pt x="0" y="59144"/>
                    <a:pt x="0" y="38100"/>
                  </a:cubicBezTo>
                  <a:cubicBezTo>
                    <a:pt x="0" y="17056"/>
                    <a:pt x="17056" y="0"/>
                    <a:pt x="38100" y="0"/>
                  </a:cubicBezTo>
                  <a:close/>
                </a:path>
              </a:pathLst>
            </a:custGeom>
            <a:ln w="7201" cap="flat">
              <a:miter lim="100000"/>
            </a:ln>
          </p:spPr>
          <p:style>
            <a:lnRef idx="1">
              <a:srgbClr val="000000"/>
            </a:lnRef>
            <a:fillRef idx="1">
              <a:srgbClr val="B2B2B2"/>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5275">
              <a:extLst>
                <a:ext uri="{FF2B5EF4-FFF2-40B4-BE49-F238E27FC236}">
                  <a16:creationId xmlns:a16="http://schemas.microsoft.com/office/drawing/2014/main" id="{FB19E636-0398-E1E8-D6FE-E1D59130AF08}"/>
                </a:ext>
              </a:extLst>
            </p:cNvPr>
            <p:cNvSpPr/>
            <p:nvPr/>
          </p:nvSpPr>
          <p:spPr>
            <a:xfrm>
              <a:off x="1148080" y="1192276"/>
              <a:ext cx="76200" cy="76200"/>
            </a:xfrm>
            <a:custGeom>
              <a:avLst/>
              <a:gdLst/>
              <a:ahLst/>
              <a:cxnLst/>
              <a:rect l="0" t="0" r="0" b="0"/>
              <a:pathLst>
                <a:path w="76200" h="76200">
                  <a:moveTo>
                    <a:pt x="38100" y="0"/>
                  </a:moveTo>
                  <a:cubicBezTo>
                    <a:pt x="59144" y="0"/>
                    <a:pt x="76200" y="17056"/>
                    <a:pt x="76200" y="38100"/>
                  </a:cubicBezTo>
                  <a:cubicBezTo>
                    <a:pt x="76200" y="59144"/>
                    <a:pt x="59144" y="76200"/>
                    <a:pt x="38100" y="76200"/>
                  </a:cubicBezTo>
                  <a:cubicBezTo>
                    <a:pt x="17056" y="76200"/>
                    <a:pt x="0" y="59144"/>
                    <a:pt x="0" y="38100"/>
                  </a:cubicBezTo>
                  <a:cubicBezTo>
                    <a:pt x="0" y="17056"/>
                    <a:pt x="17056" y="0"/>
                    <a:pt x="38100" y="0"/>
                  </a:cubicBezTo>
                  <a:close/>
                </a:path>
              </a:pathLst>
            </a:custGeom>
            <a:ln w="7201" cap="flat">
              <a:miter lim="100000"/>
            </a:ln>
          </p:spPr>
          <p:style>
            <a:lnRef idx="1">
              <a:srgbClr val="000000"/>
            </a:lnRef>
            <a:fillRef idx="1">
              <a:srgbClr val="B2B2B2"/>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5276">
              <a:extLst>
                <a:ext uri="{FF2B5EF4-FFF2-40B4-BE49-F238E27FC236}">
                  <a16:creationId xmlns:a16="http://schemas.microsoft.com/office/drawing/2014/main" id="{6A0DC485-0F42-AE17-DBC3-FA040EB4224B}"/>
                </a:ext>
              </a:extLst>
            </p:cNvPr>
            <p:cNvSpPr/>
            <p:nvPr/>
          </p:nvSpPr>
          <p:spPr>
            <a:xfrm>
              <a:off x="2754630" y="1192276"/>
              <a:ext cx="76200" cy="76200"/>
            </a:xfrm>
            <a:custGeom>
              <a:avLst/>
              <a:gdLst/>
              <a:ahLst/>
              <a:cxnLst/>
              <a:rect l="0" t="0" r="0" b="0"/>
              <a:pathLst>
                <a:path w="76200" h="76200">
                  <a:moveTo>
                    <a:pt x="38100" y="0"/>
                  </a:moveTo>
                  <a:cubicBezTo>
                    <a:pt x="59144" y="0"/>
                    <a:pt x="76200" y="17056"/>
                    <a:pt x="76200" y="38100"/>
                  </a:cubicBezTo>
                  <a:cubicBezTo>
                    <a:pt x="76200" y="59144"/>
                    <a:pt x="59144" y="76200"/>
                    <a:pt x="38100" y="76200"/>
                  </a:cubicBezTo>
                  <a:cubicBezTo>
                    <a:pt x="17056" y="76200"/>
                    <a:pt x="0" y="59144"/>
                    <a:pt x="0" y="38100"/>
                  </a:cubicBezTo>
                  <a:cubicBezTo>
                    <a:pt x="0" y="17056"/>
                    <a:pt x="17056" y="0"/>
                    <a:pt x="38100" y="0"/>
                  </a:cubicBezTo>
                  <a:close/>
                </a:path>
              </a:pathLst>
            </a:custGeom>
            <a:ln w="7201" cap="flat">
              <a:miter lim="100000"/>
            </a:ln>
          </p:spPr>
          <p:style>
            <a:lnRef idx="1">
              <a:srgbClr val="000000"/>
            </a:lnRef>
            <a:fillRef idx="1">
              <a:srgbClr val="B2B2B2"/>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5277">
              <a:extLst>
                <a:ext uri="{FF2B5EF4-FFF2-40B4-BE49-F238E27FC236}">
                  <a16:creationId xmlns:a16="http://schemas.microsoft.com/office/drawing/2014/main" id="{E00D2479-9438-1D16-95DA-B1AFE6257C64}"/>
                </a:ext>
              </a:extLst>
            </p:cNvPr>
            <p:cNvSpPr/>
            <p:nvPr/>
          </p:nvSpPr>
          <p:spPr>
            <a:xfrm>
              <a:off x="1148080" y="1592326"/>
              <a:ext cx="76200" cy="76200"/>
            </a:xfrm>
            <a:custGeom>
              <a:avLst/>
              <a:gdLst/>
              <a:ahLst/>
              <a:cxnLst/>
              <a:rect l="0" t="0" r="0" b="0"/>
              <a:pathLst>
                <a:path w="76200" h="76200">
                  <a:moveTo>
                    <a:pt x="38100" y="0"/>
                  </a:moveTo>
                  <a:cubicBezTo>
                    <a:pt x="59144" y="0"/>
                    <a:pt x="76200" y="17056"/>
                    <a:pt x="76200" y="38100"/>
                  </a:cubicBezTo>
                  <a:cubicBezTo>
                    <a:pt x="76200" y="59144"/>
                    <a:pt x="59144" y="76200"/>
                    <a:pt x="38100" y="76200"/>
                  </a:cubicBezTo>
                  <a:cubicBezTo>
                    <a:pt x="17056" y="76200"/>
                    <a:pt x="0" y="59144"/>
                    <a:pt x="0" y="38100"/>
                  </a:cubicBezTo>
                  <a:cubicBezTo>
                    <a:pt x="0" y="17056"/>
                    <a:pt x="17056" y="0"/>
                    <a:pt x="38100" y="0"/>
                  </a:cubicBezTo>
                  <a:close/>
                </a:path>
              </a:pathLst>
            </a:custGeom>
            <a:ln w="7201" cap="flat">
              <a:miter lim="100000"/>
            </a:ln>
          </p:spPr>
          <p:style>
            <a:lnRef idx="1">
              <a:srgbClr val="000000"/>
            </a:lnRef>
            <a:fillRef idx="1">
              <a:srgbClr val="B2B2B2"/>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5278">
              <a:extLst>
                <a:ext uri="{FF2B5EF4-FFF2-40B4-BE49-F238E27FC236}">
                  <a16:creationId xmlns:a16="http://schemas.microsoft.com/office/drawing/2014/main" id="{0AF7F9D3-8601-6397-817C-7D4E562C54A0}"/>
                </a:ext>
              </a:extLst>
            </p:cNvPr>
            <p:cNvSpPr/>
            <p:nvPr/>
          </p:nvSpPr>
          <p:spPr>
            <a:xfrm>
              <a:off x="2754630" y="1592326"/>
              <a:ext cx="76200" cy="76200"/>
            </a:xfrm>
            <a:custGeom>
              <a:avLst/>
              <a:gdLst/>
              <a:ahLst/>
              <a:cxnLst/>
              <a:rect l="0" t="0" r="0" b="0"/>
              <a:pathLst>
                <a:path w="76200" h="76200">
                  <a:moveTo>
                    <a:pt x="38100" y="0"/>
                  </a:moveTo>
                  <a:cubicBezTo>
                    <a:pt x="59144" y="0"/>
                    <a:pt x="76200" y="17056"/>
                    <a:pt x="76200" y="38100"/>
                  </a:cubicBezTo>
                  <a:cubicBezTo>
                    <a:pt x="76200" y="59144"/>
                    <a:pt x="59144" y="76200"/>
                    <a:pt x="38100" y="76200"/>
                  </a:cubicBezTo>
                  <a:cubicBezTo>
                    <a:pt x="17056" y="76200"/>
                    <a:pt x="0" y="59144"/>
                    <a:pt x="0" y="38100"/>
                  </a:cubicBezTo>
                  <a:cubicBezTo>
                    <a:pt x="0" y="17056"/>
                    <a:pt x="17056" y="0"/>
                    <a:pt x="38100" y="0"/>
                  </a:cubicBezTo>
                  <a:close/>
                </a:path>
              </a:pathLst>
            </a:custGeom>
            <a:ln w="7201" cap="flat">
              <a:miter lim="100000"/>
            </a:ln>
          </p:spPr>
          <p:style>
            <a:lnRef idx="1">
              <a:srgbClr val="000000"/>
            </a:lnRef>
            <a:fillRef idx="1">
              <a:srgbClr val="B2B2B2"/>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279">
              <a:extLst>
                <a:ext uri="{FF2B5EF4-FFF2-40B4-BE49-F238E27FC236}">
                  <a16:creationId xmlns:a16="http://schemas.microsoft.com/office/drawing/2014/main" id="{1D23EE42-0660-231E-70CC-911EDEA0F655}"/>
                </a:ext>
              </a:extLst>
            </p:cNvPr>
            <p:cNvSpPr/>
            <p:nvPr/>
          </p:nvSpPr>
          <p:spPr>
            <a:xfrm>
              <a:off x="1459230" y="1954276"/>
              <a:ext cx="76200" cy="76200"/>
            </a:xfrm>
            <a:custGeom>
              <a:avLst/>
              <a:gdLst/>
              <a:ahLst/>
              <a:cxnLst/>
              <a:rect l="0" t="0" r="0" b="0"/>
              <a:pathLst>
                <a:path w="76200" h="76200">
                  <a:moveTo>
                    <a:pt x="38100" y="0"/>
                  </a:moveTo>
                  <a:cubicBezTo>
                    <a:pt x="59144" y="0"/>
                    <a:pt x="76200" y="17056"/>
                    <a:pt x="76200" y="38100"/>
                  </a:cubicBezTo>
                  <a:cubicBezTo>
                    <a:pt x="76200" y="59144"/>
                    <a:pt x="59144" y="76200"/>
                    <a:pt x="38100" y="76200"/>
                  </a:cubicBezTo>
                  <a:cubicBezTo>
                    <a:pt x="17056" y="76200"/>
                    <a:pt x="0" y="59144"/>
                    <a:pt x="0" y="38100"/>
                  </a:cubicBezTo>
                  <a:cubicBezTo>
                    <a:pt x="0" y="17056"/>
                    <a:pt x="17056" y="0"/>
                    <a:pt x="38100" y="0"/>
                  </a:cubicBezTo>
                  <a:close/>
                </a:path>
              </a:pathLst>
            </a:custGeom>
            <a:ln w="7201" cap="flat">
              <a:miter lim="100000"/>
            </a:ln>
          </p:spPr>
          <p:style>
            <a:lnRef idx="1">
              <a:srgbClr val="000000"/>
            </a:lnRef>
            <a:fillRef idx="1">
              <a:srgbClr val="B2B2B2"/>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280">
              <a:extLst>
                <a:ext uri="{FF2B5EF4-FFF2-40B4-BE49-F238E27FC236}">
                  <a16:creationId xmlns:a16="http://schemas.microsoft.com/office/drawing/2014/main" id="{6AA8D4BA-840A-4BA5-693D-DDCC5B582618}"/>
                </a:ext>
              </a:extLst>
            </p:cNvPr>
            <p:cNvSpPr/>
            <p:nvPr/>
          </p:nvSpPr>
          <p:spPr>
            <a:xfrm>
              <a:off x="2443480" y="1852676"/>
              <a:ext cx="76200" cy="76200"/>
            </a:xfrm>
            <a:custGeom>
              <a:avLst/>
              <a:gdLst/>
              <a:ahLst/>
              <a:cxnLst/>
              <a:rect l="0" t="0" r="0" b="0"/>
              <a:pathLst>
                <a:path w="76200" h="76200">
                  <a:moveTo>
                    <a:pt x="38100" y="0"/>
                  </a:moveTo>
                  <a:cubicBezTo>
                    <a:pt x="59144" y="0"/>
                    <a:pt x="76200" y="17056"/>
                    <a:pt x="76200" y="38100"/>
                  </a:cubicBezTo>
                  <a:cubicBezTo>
                    <a:pt x="76200" y="59144"/>
                    <a:pt x="59144" y="76200"/>
                    <a:pt x="38100" y="76200"/>
                  </a:cubicBezTo>
                  <a:cubicBezTo>
                    <a:pt x="17056" y="76200"/>
                    <a:pt x="0" y="59144"/>
                    <a:pt x="0" y="38100"/>
                  </a:cubicBezTo>
                  <a:cubicBezTo>
                    <a:pt x="0" y="17056"/>
                    <a:pt x="17056" y="0"/>
                    <a:pt x="38100" y="0"/>
                  </a:cubicBezTo>
                  <a:close/>
                </a:path>
              </a:pathLst>
            </a:custGeom>
            <a:ln w="7201" cap="flat">
              <a:miter lim="100000"/>
            </a:ln>
          </p:spPr>
          <p:style>
            <a:lnRef idx="1">
              <a:srgbClr val="000000"/>
            </a:lnRef>
            <a:fillRef idx="1">
              <a:srgbClr val="B2B2B2"/>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5" name="ZoneTexte 54">
            <a:extLst>
              <a:ext uri="{FF2B5EF4-FFF2-40B4-BE49-F238E27FC236}">
                <a16:creationId xmlns:a16="http://schemas.microsoft.com/office/drawing/2014/main" id="{45346EAD-300D-6A61-ABDA-64B0D23325C7}"/>
              </a:ext>
            </a:extLst>
          </p:cNvPr>
          <p:cNvSpPr txBox="1"/>
          <p:nvPr/>
        </p:nvSpPr>
        <p:spPr>
          <a:xfrm>
            <a:off x="1056100" y="193108"/>
            <a:ext cx="9560560" cy="1280672"/>
          </a:xfrm>
          <a:prstGeom prst="rect">
            <a:avLst/>
          </a:prstGeom>
          <a:noFill/>
        </p:spPr>
        <p:txBody>
          <a:bodyPr wrap="square">
            <a:spAutoFit/>
          </a:bodyPr>
          <a:lstStyle/>
          <a:p>
            <a:pPr marL="83822" marR="79376" lvl="0" indent="-6350" algn="ctr" defTabSz="914400" rtl="0" eaLnBrk="1" fontAlgn="auto" latinLnBrk="0" hangingPunct="1">
              <a:lnSpc>
                <a:spcPct val="110000"/>
              </a:lnSpc>
              <a:spcBef>
                <a:spcPts val="0"/>
              </a:spcBef>
              <a:spcAft>
                <a:spcPts val="14"/>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Calibri" panose="020F0502020204030204"/>
                <a:ea typeface="Garamond" panose="02020404030301010803" pitchFamily="18" charset="0"/>
                <a:cs typeface="Garamond" panose="02020404030301010803" pitchFamily="18" charset="0"/>
              </a:rPr>
              <a:t>The role of Banks/financial markets in </a:t>
            </a:r>
            <a:r>
              <a:rPr lang="en-US" sz="3600" dirty="0">
                <a:solidFill>
                  <a:srgbClr val="000000"/>
                </a:solidFill>
                <a:latin typeface="Calibri" panose="020F0502020204030204"/>
                <a:ea typeface="Garamond" panose="02020404030301010803" pitchFamily="18" charset="0"/>
                <a:cs typeface="Garamond" panose="02020404030301010803" pitchFamily="18" charset="0"/>
              </a:rPr>
              <a:t>the traditional</a:t>
            </a:r>
            <a:r>
              <a:rPr kumimoji="0" lang="en-US" sz="3600" b="0" i="0" u="none" strike="noStrike" kern="1200" cap="none" spc="0" normalizeH="0" baseline="0" noProof="0" dirty="0">
                <a:ln>
                  <a:noFill/>
                </a:ln>
                <a:solidFill>
                  <a:srgbClr val="000000"/>
                </a:solidFill>
                <a:effectLst/>
                <a:uLnTx/>
                <a:uFillTx/>
                <a:latin typeface="Calibri" panose="020F0502020204030204"/>
                <a:ea typeface="Garamond" panose="02020404030301010803" pitchFamily="18" charset="0"/>
                <a:cs typeface="Garamond" panose="02020404030301010803" pitchFamily="18" charset="0"/>
              </a:rPr>
              <a:t> economic system</a:t>
            </a:r>
            <a:endParaRPr kumimoji="0" lang="fr-FR" sz="3600" b="0" i="0" u="none" strike="noStrike" kern="1200" cap="none" spc="0" normalizeH="0" baseline="0" noProof="0" dirty="0">
              <a:ln>
                <a:noFill/>
              </a:ln>
              <a:solidFill>
                <a:srgbClr val="000000"/>
              </a:solidFill>
              <a:effectLst/>
              <a:uLnTx/>
              <a:uFillTx/>
              <a:latin typeface="Calibri" panose="020F0502020204030204"/>
              <a:ea typeface="Garamond" panose="02020404030301010803" pitchFamily="18" charset="0"/>
              <a:cs typeface="Garamond" panose="02020404030301010803" pitchFamily="18" charset="0"/>
            </a:endParaRPr>
          </a:p>
        </p:txBody>
      </p:sp>
      <p:sp>
        <p:nvSpPr>
          <p:cNvPr id="57" name="ZoneTexte 56">
            <a:extLst>
              <a:ext uri="{FF2B5EF4-FFF2-40B4-BE49-F238E27FC236}">
                <a16:creationId xmlns:a16="http://schemas.microsoft.com/office/drawing/2014/main" id="{CA12AAEB-FAA2-7E46-3F0F-4BAB8042398F}"/>
              </a:ext>
            </a:extLst>
          </p:cNvPr>
          <p:cNvSpPr txBox="1"/>
          <p:nvPr/>
        </p:nvSpPr>
        <p:spPr>
          <a:xfrm>
            <a:off x="237925" y="2198028"/>
            <a:ext cx="3266214"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Garamond" panose="02020404030301010803" pitchFamily="18" charset="0"/>
                <a:cs typeface="Garamond" panose="02020404030301010803" pitchFamily="18" charset="0"/>
              </a:rPr>
              <a:t>Financial markets and Banks play a “mechanical” role in the economy</a:t>
            </a:r>
            <a:r>
              <a:rPr lang="en-US" sz="2400" dirty="0">
                <a:solidFill>
                  <a:srgbClr val="000000"/>
                </a:solidFill>
                <a:latin typeface="Calibri" panose="020F0502020204030204"/>
                <a:ea typeface="Garamond" panose="02020404030301010803" pitchFamily="18" charset="0"/>
                <a:cs typeface="Garamond" panose="02020404030301010803" pitchFamily="18" charset="0"/>
              </a:rPr>
              <a:t>.</a:t>
            </a:r>
            <a:endPar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ZoneTexte 53">
            <a:extLst>
              <a:ext uri="{FF2B5EF4-FFF2-40B4-BE49-F238E27FC236}">
                <a16:creationId xmlns:a16="http://schemas.microsoft.com/office/drawing/2014/main" id="{80CEA712-74CF-A97C-3D66-4998F706612E}"/>
              </a:ext>
            </a:extLst>
          </p:cNvPr>
          <p:cNvSpPr txBox="1"/>
          <p:nvPr/>
        </p:nvSpPr>
        <p:spPr>
          <a:xfrm>
            <a:off x="5836380" y="6157675"/>
            <a:ext cx="6096000" cy="584775"/>
          </a:xfrm>
          <a:prstGeom prst="rect">
            <a:avLst/>
          </a:prstGeom>
          <a:noFill/>
        </p:spPr>
        <p:txBody>
          <a:bodyPr wrap="square">
            <a:spAutoFit/>
          </a:bodyPr>
          <a:lstStyle/>
          <a:p>
            <a:r>
              <a:rPr lang="fr-FR" sz="3200" b="1" dirty="0">
                <a:solidFill>
                  <a:srgbClr val="FF0000"/>
                </a:solidFill>
              </a:rPr>
              <a:t>National </a:t>
            </a:r>
            <a:r>
              <a:rPr lang="fr-FR" sz="3200" b="1" dirty="0" err="1">
                <a:solidFill>
                  <a:srgbClr val="FF0000"/>
                </a:solidFill>
              </a:rPr>
              <a:t>Accounting</a:t>
            </a:r>
            <a:endParaRPr lang="fr-FR" sz="3200" b="1" dirty="0">
              <a:solidFill>
                <a:srgbClr val="FF0000"/>
              </a:solidFill>
            </a:endParaRPr>
          </a:p>
        </p:txBody>
      </p:sp>
      <p:sp>
        <p:nvSpPr>
          <p:cNvPr id="56" name="ZoneTexte 55">
            <a:extLst>
              <a:ext uri="{FF2B5EF4-FFF2-40B4-BE49-F238E27FC236}">
                <a16:creationId xmlns:a16="http://schemas.microsoft.com/office/drawing/2014/main" id="{B8D4F93E-23CC-4FB2-8B36-45630C1178A3}"/>
              </a:ext>
            </a:extLst>
          </p:cNvPr>
          <p:cNvSpPr txBox="1"/>
          <p:nvPr/>
        </p:nvSpPr>
        <p:spPr>
          <a:xfrm>
            <a:off x="8924684" y="1204864"/>
            <a:ext cx="2377056" cy="646331"/>
          </a:xfrm>
          <a:prstGeom prst="rect">
            <a:avLst/>
          </a:prstGeom>
          <a:noFill/>
        </p:spPr>
        <p:txBody>
          <a:bodyPr wrap="square">
            <a:spAutoFit/>
          </a:bodyPr>
          <a:lstStyle/>
          <a:p>
            <a:r>
              <a:rPr lang="en-US" b="1" dirty="0">
                <a:solidFill>
                  <a:srgbClr val="FF0000"/>
                </a:solidFill>
              </a:rPr>
              <a:t>Feelings, Humanity, Nature…are absent…</a:t>
            </a:r>
          </a:p>
        </p:txBody>
      </p:sp>
      <p:sp>
        <p:nvSpPr>
          <p:cNvPr id="33" name="Triangle isocèle 32">
            <a:extLst>
              <a:ext uri="{FF2B5EF4-FFF2-40B4-BE49-F238E27FC236}">
                <a16:creationId xmlns:a16="http://schemas.microsoft.com/office/drawing/2014/main" id="{D9E34710-79A9-10EA-8808-59FA0CEB9E94}"/>
              </a:ext>
            </a:extLst>
          </p:cNvPr>
          <p:cNvSpPr/>
          <p:nvPr/>
        </p:nvSpPr>
        <p:spPr>
          <a:xfrm>
            <a:off x="10916816" y="345233"/>
            <a:ext cx="569168" cy="623027"/>
          </a:xfrm>
          <a:prstGeom prst="triangle">
            <a:avLst/>
          </a:prstGeom>
          <a:solidFill>
            <a:srgbClr val="FF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Tree>
    <p:extLst>
      <p:ext uri="{BB962C8B-B14F-4D97-AF65-F5344CB8AC3E}">
        <p14:creationId xmlns:p14="http://schemas.microsoft.com/office/powerpoint/2010/main" val="1503422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Espace réservé du numéro de diapositive 4">
            <a:extLst>
              <a:ext uri="{FF2B5EF4-FFF2-40B4-BE49-F238E27FC236}">
                <a16:creationId xmlns:a16="http://schemas.microsoft.com/office/drawing/2014/main" id="{428753A9-585E-5A0C-CB27-C40B58A1EE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cs typeface="Arial" panose="020B0604020202020204" pitchFamily="34" charset="0"/>
              </a:defRPr>
            </a:lvl1pPr>
            <a:lvl2pPr marL="742978" indent="-285760">
              <a:defRPr sz="2400">
                <a:solidFill>
                  <a:schemeClr val="tx1"/>
                </a:solidFill>
                <a:latin typeface="Times" panose="02020603050405020304" pitchFamily="18" charset="0"/>
                <a:cs typeface="Arial" panose="020B0604020202020204" pitchFamily="34" charset="0"/>
              </a:defRPr>
            </a:lvl2pPr>
            <a:lvl3pPr marL="1143043" indent="-228610">
              <a:defRPr sz="2400">
                <a:solidFill>
                  <a:schemeClr val="tx1"/>
                </a:solidFill>
                <a:latin typeface="Times" panose="02020603050405020304" pitchFamily="18" charset="0"/>
                <a:cs typeface="Arial" panose="020B0604020202020204" pitchFamily="34" charset="0"/>
              </a:defRPr>
            </a:lvl3pPr>
            <a:lvl4pPr marL="1600260" indent="-228610">
              <a:defRPr sz="2400">
                <a:solidFill>
                  <a:schemeClr val="tx1"/>
                </a:solidFill>
                <a:latin typeface="Times" panose="02020603050405020304" pitchFamily="18" charset="0"/>
                <a:cs typeface="Arial" panose="020B0604020202020204" pitchFamily="34" charset="0"/>
              </a:defRPr>
            </a:lvl4pPr>
            <a:lvl5pPr marL="2057479" indent="-228610">
              <a:defRPr sz="2400">
                <a:solidFill>
                  <a:schemeClr val="tx1"/>
                </a:solidFill>
                <a:latin typeface="Times" panose="02020603050405020304" pitchFamily="18" charset="0"/>
                <a:cs typeface="Arial" panose="020B0604020202020204" pitchFamily="34" charset="0"/>
              </a:defRPr>
            </a:lvl5pPr>
            <a:lvl6pPr marL="2514696" indent="-22861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912" indent="-22861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129" indent="-22861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346" indent="-22861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7A6B549D-61FE-4DAB-B759-22E86895F0B7}" type="slidenum">
              <a:rPr kumimoji="0" lang="fr-FR" altLang="fr-FR" sz="1401" b="0" i="0" u="none" strike="noStrike" kern="1200" cap="none" spc="0" normalizeH="0" baseline="0" noProof="0">
                <a:ln>
                  <a:noFill/>
                </a:ln>
                <a:solidFill>
                  <a:prstClr val="black"/>
                </a:solidFill>
                <a:effectLst/>
                <a:uLnTx/>
                <a:uFillTx/>
                <a:latin typeface="Times" panose="02020603050405020304" pitchFamily="18"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fr-FR" altLang="fr-FR" sz="1401" b="0" i="0" u="none" strike="noStrike" kern="1200" cap="none" spc="0" normalizeH="0" baseline="0" noProof="0">
              <a:ln>
                <a:noFill/>
              </a:ln>
              <a:solidFill>
                <a:prstClr val="black"/>
              </a:solidFill>
              <a:effectLst/>
              <a:uLnTx/>
              <a:uFillTx/>
              <a:latin typeface="Times" panose="02020603050405020304" pitchFamily="18" charset="0"/>
              <a:ea typeface="+mn-ea"/>
              <a:cs typeface="Arial" panose="020B0604020202020204" pitchFamily="34" charset="0"/>
            </a:endParaRPr>
          </a:p>
        </p:txBody>
      </p:sp>
      <p:sp>
        <p:nvSpPr>
          <p:cNvPr id="18436" name="ZoneTexte 5">
            <a:extLst>
              <a:ext uri="{FF2B5EF4-FFF2-40B4-BE49-F238E27FC236}">
                <a16:creationId xmlns:a16="http://schemas.microsoft.com/office/drawing/2014/main" id="{A0638E8E-DBBD-A1E9-FC63-134819619A56}"/>
              </a:ext>
            </a:extLst>
          </p:cNvPr>
          <p:cNvSpPr txBox="1">
            <a:spLocks noChangeArrowheads="1"/>
          </p:cNvSpPr>
          <p:nvPr/>
        </p:nvSpPr>
        <p:spPr bwMode="auto">
          <a:xfrm>
            <a:off x="1782766" y="506188"/>
            <a:ext cx="899699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altLang="fr-FR" sz="32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We</a:t>
            </a:r>
            <a:r>
              <a:rPr kumimoji="0" lang="fr-FR" altLang="fr-FR" sz="3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fr-FR" altLang="fr-FR" sz="32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need</a:t>
            </a:r>
            <a:r>
              <a:rPr kumimoji="0" lang="fr-FR" altLang="fr-FR" sz="3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 </a:t>
            </a:r>
            <a:r>
              <a:rPr kumimoji="0" lang="fr-FR" altLang="fr-FR" sz="32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sustainable</a:t>
            </a:r>
            <a:r>
              <a:rPr kumimoji="0" lang="fr-FR" altLang="fr-FR" sz="3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 Bankers more </a:t>
            </a:r>
            <a:r>
              <a:rPr kumimoji="0" lang="fr-FR" altLang="fr-FR" sz="32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than</a:t>
            </a:r>
            <a:r>
              <a:rPr kumimoji="0" lang="fr-FR" altLang="fr-FR" sz="3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Banks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altLang="fr-FR" sz="3200" b="0" i="0" u="none" strike="noStrike" kern="1200" cap="none" spc="0" normalizeH="0" baseline="0" noProof="0" dirty="0">
                <a:ln>
                  <a:noFill/>
                </a:ln>
                <a:solidFill>
                  <a:srgbClr val="FF0000"/>
                </a:solidFill>
                <a:effectLst/>
                <a:uLnTx/>
                <a:uFillTx/>
                <a:latin typeface="Calibri" panose="020F0502020204030204"/>
                <a:ea typeface="+mn-ea"/>
                <a:cs typeface="Arial" panose="020B0604020202020204" pitchFamily="34" charset="0"/>
              </a:rPr>
              <a:t>SKILLS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altLang="fr-FR" sz="3200" b="0" i="0" u="none" strike="noStrike" kern="1200" cap="none" spc="0" normalizeH="0" baseline="0" noProof="0" dirty="0">
                <a:ln>
                  <a:noFill/>
                </a:ln>
                <a:solidFill>
                  <a:srgbClr val="FF0000"/>
                </a:solidFill>
                <a:effectLst/>
                <a:uLnTx/>
                <a:uFillTx/>
                <a:latin typeface="Calibri" panose="020F0502020204030204"/>
                <a:ea typeface="+mn-ea"/>
                <a:cs typeface="Arial" panose="020B0604020202020204" pitchFamily="34" charset="0"/>
              </a:rPr>
              <a:t>Intelligence Central Agency</a:t>
            </a:r>
          </a:p>
        </p:txBody>
      </p:sp>
      <p:cxnSp>
        <p:nvCxnSpPr>
          <p:cNvPr id="8" name="Connecteur droit 7">
            <a:extLst>
              <a:ext uri="{FF2B5EF4-FFF2-40B4-BE49-F238E27FC236}">
                <a16:creationId xmlns:a16="http://schemas.microsoft.com/office/drawing/2014/main" id="{D24CB679-4CCE-9EDB-27A4-73DE7DA390A5}"/>
              </a:ext>
            </a:extLst>
          </p:cNvPr>
          <p:cNvCxnSpPr/>
          <p:nvPr/>
        </p:nvCxnSpPr>
        <p:spPr bwMode="auto">
          <a:xfrm>
            <a:off x="5789612" y="3573468"/>
            <a:ext cx="0" cy="2303461"/>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11" name="Connecteur droit 10">
            <a:extLst>
              <a:ext uri="{FF2B5EF4-FFF2-40B4-BE49-F238E27FC236}">
                <a16:creationId xmlns:a16="http://schemas.microsoft.com/office/drawing/2014/main" id="{230CE6B0-132E-8F95-689B-E5D46A525FAF}"/>
              </a:ext>
            </a:extLst>
          </p:cNvPr>
          <p:cNvCxnSpPr/>
          <p:nvPr/>
        </p:nvCxnSpPr>
        <p:spPr bwMode="auto">
          <a:xfrm>
            <a:off x="4224339" y="3573462"/>
            <a:ext cx="3167061" cy="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18439" name="ZoneTexte 11">
            <a:extLst>
              <a:ext uri="{FF2B5EF4-FFF2-40B4-BE49-F238E27FC236}">
                <a16:creationId xmlns:a16="http://schemas.microsoft.com/office/drawing/2014/main" id="{F5C5891B-468D-A9A9-E725-DD6A06E4AB7F}"/>
              </a:ext>
            </a:extLst>
          </p:cNvPr>
          <p:cNvSpPr txBox="1">
            <a:spLocks noChangeArrowheads="1"/>
          </p:cNvSpPr>
          <p:nvPr/>
        </p:nvSpPr>
        <p:spPr bwMode="auto">
          <a:xfrm>
            <a:off x="4800603" y="2609853"/>
            <a:ext cx="2016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a:ln>
                  <a:noFill/>
                </a:ln>
                <a:solidFill>
                  <a:prstClr val="black"/>
                </a:solidFill>
                <a:effectLst/>
                <a:uLnTx/>
                <a:uFillTx/>
                <a:latin typeface="Times" panose="02020603050405020304" pitchFamily="18" charset="0"/>
                <a:ea typeface="+mn-ea"/>
                <a:cs typeface="Arial" panose="020B0604020202020204" pitchFamily="34" charset="0"/>
              </a:rPr>
              <a:t>Balance Sheet</a:t>
            </a:r>
          </a:p>
        </p:txBody>
      </p:sp>
      <p:sp>
        <p:nvSpPr>
          <p:cNvPr id="18440" name="ZoneTexte 12">
            <a:extLst>
              <a:ext uri="{FF2B5EF4-FFF2-40B4-BE49-F238E27FC236}">
                <a16:creationId xmlns:a16="http://schemas.microsoft.com/office/drawing/2014/main" id="{D60D1008-81FB-B16D-B230-BF7F63D74BF7}"/>
              </a:ext>
            </a:extLst>
          </p:cNvPr>
          <p:cNvSpPr txBox="1">
            <a:spLocks noChangeArrowheads="1"/>
          </p:cNvSpPr>
          <p:nvPr/>
        </p:nvSpPr>
        <p:spPr bwMode="auto">
          <a:xfrm>
            <a:off x="6816727" y="3111503"/>
            <a:ext cx="2016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a:ln>
                  <a:noFill/>
                </a:ln>
                <a:solidFill>
                  <a:prstClr val="black"/>
                </a:solidFill>
                <a:effectLst/>
                <a:uLnTx/>
                <a:uFillTx/>
                <a:latin typeface="Times" panose="02020603050405020304" pitchFamily="18" charset="0"/>
                <a:ea typeface="+mn-ea"/>
                <a:cs typeface="Arial" panose="020B0604020202020204" pitchFamily="34" charset="0"/>
              </a:rPr>
              <a:t>Liabilities</a:t>
            </a:r>
          </a:p>
        </p:txBody>
      </p:sp>
      <p:sp>
        <p:nvSpPr>
          <p:cNvPr id="18441" name="ZoneTexte 13">
            <a:extLst>
              <a:ext uri="{FF2B5EF4-FFF2-40B4-BE49-F238E27FC236}">
                <a16:creationId xmlns:a16="http://schemas.microsoft.com/office/drawing/2014/main" id="{146F0460-14E0-114E-3E53-AEA1166A3FC4}"/>
              </a:ext>
            </a:extLst>
          </p:cNvPr>
          <p:cNvSpPr txBox="1">
            <a:spLocks noChangeArrowheads="1"/>
          </p:cNvSpPr>
          <p:nvPr/>
        </p:nvSpPr>
        <p:spPr bwMode="auto">
          <a:xfrm>
            <a:off x="3640141" y="3143251"/>
            <a:ext cx="2016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a:ln>
                  <a:noFill/>
                </a:ln>
                <a:solidFill>
                  <a:prstClr val="black"/>
                </a:solidFill>
                <a:effectLst/>
                <a:uLnTx/>
                <a:uFillTx/>
                <a:latin typeface="Times" panose="02020603050405020304" pitchFamily="18" charset="0"/>
                <a:ea typeface="+mn-ea"/>
                <a:cs typeface="Arial" panose="020B0604020202020204" pitchFamily="34" charset="0"/>
              </a:rPr>
              <a:t>Assets</a:t>
            </a:r>
          </a:p>
        </p:txBody>
      </p:sp>
      <p:sp>
        <p:nvSpPr>
          <p:cNvPr id="18442" name="ZoneTexte 14">
            <a:extLst>
              <a:ext uri="{FF2B5EF4-FFF2-40B4-BE49-F238E27FC236}">
                <a16:creationId xmlns:a16="http://schemas.microsoft.com/office/drawing/2014/main" id="{3C9F1EBB-6211-8CA7-9F2F-D1D51547A09E}"/>
              </a:ext>
            </a:extLst>
          </p:cNvPr>
          <p:cNvSpPr txBox="1">
            <a:spLocks noChangeArrowheads="1"/>
          </p:cNvSpPr>
          <p:nvPr/>
        </p:nvSpPr>
        <p:spPr bwMode="auto">
          <a:xfrm>
            <a:off x="6311902" y="3975103"/>
            <a:ext cx="2016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a:ln>
                  <a:noFill/>
                </a:ln>
                <a:solidFill>
                  <a:prstClr val="black"/>
                </a:solidFill>
                <a:effectLst/>
                <a:uLnTx/>
                <a:uFillTx/>
                <a:latin typeface="Times" panose="02020603050405020304" pitchFamily="18" charset="0"/>
                <a:ea typeface="+mn-ea"/>
                <a:cs typeface="Arial" panose="020B0604020202020204" pitchFamily="34" charset="0"/>
              </a:rPr>
              <a:t>Deposits</a:t>
            </a:r>
          </a:p>
        </p:txBody>
      </p:sp>
      <p:sp>
        <p:nvSpPr>
          <p:cNvPr id="18443" name="ZoneTexte 15">
            <a:extLst>
              <a:ext uri="{FF2B5EF4-FFF2-40B4-BE49-F238E27FC236}">
                <a16:creationId xmlns:a16="http://schemas.microsoft.com/office/drawing/2014/main" id="{EBE0D951-77B8-BE9C-54D4-288D7CC70430}"/>
              </a:ext>
            </a:extLst>
          </p:cNvPr>
          <p:cNvSpPr txBox="1">
            <a:spLocks noChangeArrowheads="1"/>
          </p:cNvSpPr>
          <p:nvPr/>
        </p:nvSpPr>
        <p:spPr bwMode="auto">
          <a:xfrm>
            <a:off x="3706814" y="3975102"/>
            <a:ext cx="2016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a:ln>
                  <a:noFill/>
                </a:ln>
                <a:solidFill>
                  <a:prstClr val="black"/>
                </a:solidFill>
                <a:effectLst/>
                <a:uLnTx/>
                <a:uFillTx/>
                <a:latin typeface="Times" panose="02020603050405020304" pitchFamily="18" charset="0"/>
                <a:ea typeface="+mn-ea"/>
                <a:cs typeface="Arial" panose="020B0604020202020204" pitchFamily="34" charset="0"/>
              </a:rPr>
              <a:t>Loans</a:t>
            </a:r>
          </a:p>
        </p:txBody>
      </p:sp>
      <p:sp>
        <p:nvSpPr>
          <p:cNvPr id="18444" name="Flèche courbée vers la gauche 21">
            <a:extLst>
              <a:ext uri="{FF2B5EF4-FFF2-40B4-BE49-F238E27FC236}">
                <a16:creationId xmlns:a16="http://schemas.microsoft.com/office/drawing/2014/main" id="{402FB135-F0FC-1334-B101-7EC88FDA12F5}"/>
              </a:ext>
            </a:extLst>
          </p:cNvPr>
          <p:cNvSpPr>
            <a:spLocks noChangeArrowheads="1"/>
          </p:cNvSpPr>
          <p:nvPr/>
        </p:nvSpPr>
        <p:spPr bwMode="auto">
          <a:xfrm rot="5400000">
            <a:off x="5312571" y="3880648"/>
            <a:ext cx="820738" cy="2508251"/>
          </a:xfrm>
          <a:prstGeom prst="curvedLeftArrow">
            <a:avLst>
              <a:gd name="adj1" fmla="val 25001"/>
              <a:gd name="adj2" fmla="val 49987"/>
              <a:gd name="adj3" fmla="val 25000"/>
            </a:avLst>
          </a:prstGeom>
          <a:solidFill>
            <a:srgbClr val="FF0000"/>
          </a:solidFill>
          <a:ln w="9525" algn="ctr">
            <a:solidFill>
              <a:schemeClr val="tx1"/>
            </a:solidFill>
            <a:round/>
            <a:headEnd/>
            <a:tailEnd/>
          </a:ln>
        </p:spPr>
        <p:txBody>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2400" b="0" i="0" u="none" strike="noStrike" kern="1200" cap="none" spc="0" normalizeH="0" baseline="0" noProof="0">
              <a:ln>
                <a:noFill/>
              </a:ln>
              <a:solidFill>
                <a:prstClr val="black"/>
              </a:solidFill>
              <a:effectLst/>
              <a:uLnTx/>
              <a:uFillTx/>
              <a:latin typeface="Times" panose="02020603050405020304" pitchFamily="18" charset="0"/>
              <a:ea typeface="+mn-ea"/>
              <a:cs typeface="Arial" panose="020B0604020202020204" pitchFamily="34" charset="0"/>
            </a:endParaRPr>
          </a:p>
        </p:txBody>
      </p:sp>
      <p:sp>
        <p:nvSpPr>
          <p:cNvPr id="18445" name="ZoneTexte 23">
            <a:extLst>
              <a:ext uri="{FF2B5EF4-FFF2-40B4-BE49-F238E27FC236}">
                <a16:creationId xmlns:a16="http://schemas.microsoft.com/office/drawing/2014/main" id="{CDAF8E4A-67FB-8902-71CA-8C4E90F2DA22}"/>
              </a:ext>
            </a:extLst>
          </p:cNvPr>
          <p:cNvSpPr txBox="1">
            <a:spLocks noChangeArrowheads="1"/>
          </p:cNvSpPr>
          <p:nvPr/>
        </p:nvSpPr>
        <p:spPr bwMode="auto">
          <a:xfrm>
            <a:off x="7864480" y="4494214"/>
            <a:ext cx="2479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a:ln>
                  <a:noFill/>
                </a:ln>
                <a:solidFill>
                  <a:srgbClr val="FF0000"/>
                </a:solidFill>
                <a:effectLst/>
                <a:uLnTx/>
                <a:uFillTx/>
                <a:latin typeface="Times" panose="02020603050405020304" pitchFamily="18" charset="0"/>
                <a:ea typeface="+mn-ea"/>
                <a:cs typeface="Arial" panose="020B0604020202020204" pitchFamily="34" charset="0"/>
              </a:rPr>
              <a:t>Risk of liquidity</a:t>
            </a:r>
          </a:p>
        </p:txBody>
      </p:sp>
      <p:sp>
        <p:nvSpPr>
          <p:cNvPr id="18446" name="ZoneTexte 24">
            <a:extLst>
              <a:ext uri="{FF2B5EF4-FFF2-40B4-BE49-F238E27FC236}">
                <a16:creationId xmlns:a16="http://schemas.microsoft.com/office/drawing/2014/main" id="{94722CD2-5F58-591C-C6EE-AF55D0E2E6C9}"/>
              </a:ext>
            </a:extLst>
          </p:cNvPr>
          <p:cNvSpPr txBox="1">
            <a:spLocks noChangeArrowheads="1"/>
          </p:cNvSpPr>
          <p:nvPr/>
        </p:nvSpPr>
        <p:spPr bwMode="auto">
          <a:xfrm>
            <a:off x="4648203" y="5822955"/>
            <a:ext cx="3084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a:ln>
                  <a:noFill/>
                </a:ln>
                <a:solidFill>
                  <a:srgbClr val="FF0000"/>
                </a:solidFill>
                <a:effectLst/>
                <a:uLnTx/>
                <a:uFillTx/>
                <a:latin typeface="Times" panose="02020603050405020304" pitchFamily="18" charset="0"/>
                <a:ea typeface="+mn-ea"/>
                <a:cs typeface="Arial" panose="020B0604020202020204" pitchFamily="34" charset="0"/>
              </a:rPr>
              <a:t>Risk of transformation</a:t>
            </a:r>
          </a:p>
        </p:txBody>
      </p:sp>
      <p:sp>
        <p:nvSpPr>
          <p:cNvPr id="18447" name="ZoneTexte 25">
            <a:extLst>
              <a:ext uri="{FF2B5EF4-FFF2-40B4-BE49-F238E27FC236}">
                <a16:creationId xmlns:a16="http://schemas.microsoft.com/office/drawing/2014/main" id="{D8BCB7F5-0EEB-6798-C40C-165108461C6E}"/>
              </a:ext>
            </a:extLst>
          </p:cNvPr>
          <p:cNvSpPr txBox="1">
            <a:spLocks noChangeArrowheads="1"/>
          </p:cNvSpPr>
          <p:nvPr/>
        </p:nvSpPr>
        <p:spPr bwMode="auto">
          <a:xfrm>
            <a:off x="1974854" y="4400555"/>
            <a:ext cx="2479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a:ln>
                  <a:noFill/>
                </a:ln>
                <a:solidFill>
                  <a:srgbClr val="FF0000"/>
                </a:solidFill>
                <a:effectLst/>
                <a:uLnTx/>
                <a:uFillTx/>
                <a:latin typeface="Times" panose="02020603050405020304" pitchFamily="18" charset="0"/>
                <a:ea typeface="+mn-ea"/>
                <a:cs typeface="Arial" panose="020B0604020202020204" pitchFamily="34" charset="0"/>
              </a:rPr>
              <a:t>Risk of Default</a:t>
            </a:r>
          </a:p>
        </p:txBody>
      </p:sp>
      <p:sp>
        <p:nvSpPr>
          <p:cNvPr id="2" name="ZoneTexte 25">
            <a:extLst>
              <a:ext uri="{FF2B5EF4-FFF2-40B4-BE49-F238E27FC236}">
                <a16:creationId xmlns:a16="http://schemas.microsoft.com/office/drawing/2014/main" id="{D8F8594B-AF1E-D0CD-49D9-7E47A8304139}"/>
              </a:ext>
            </a:extLst>
          </p:cNvPr>
          <p:cNvSpPr txBox="1">
            <a:spLocks noChangeArrowheads="1"/>
          </p:cNvSpPr>
          <p:nvPr/>
        </p:nvSpPr>
        <p:spPr bwMode="auto">
          <a:xfrm>
            <a:off x="1190942" y="5148265"/>
            <a:ext cx="34572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dirty="0" err="1">
                <a:ln>
                  <a:noFill/>
                </a:ln>
                <a:solidFill>
                  <a:prstClr val="black"/>
                </a:solidFill>
                <a:effectLst/>
                <a:uLnTx/>
                <a:uFillTx/>
                <a:latin typeface="Times" panose="02020603050405020304" pitchFamily="18" charset="0"/>
                <a:ea typeface="+mn-ea"/>
                <a:cs typeface="Arial" panose="020B0604020202020204" pitchFamily="34" charset="0"/>
              </a:rPr>
              <a:t>Asymetry</a:t>
            </a:r>
            <a:r>
              <a:rPr kumimoji="0" lang="fr-FR" altLang="fr-FR" sz="2400" b="0" i="0" u="none" strike="noStrike" kern="1200" cap="none" spc="0" normalizeH="0" baseline="0" noProof="0" dirty="0">
                <a:ln>
                  <a:noFill/>
                </a:ln>
                <a:solidFill>
                  <a:prstClr val="black"/>
                </a:solidFill>
                <a:effectLst/>
                <a:uLnTx/>
                <a:uFillTx/>
                <a:latin typeface="Times" panose="02020603050405020304" pitchFamily="18" charset="0"/>
                <a:ea typeface="+mn-ea"/>
                <a:cs typeface="Arial" panose="020B0604020202020204" pitchFamily="34" charset="0"/>
              </a:rPr>
              <a:t> of information </a:t>
            </a:r>
          </a:p>
        </p:txBody>
      </p:sp>
      <p:sp>
        <p:nvSpPr>
          <p:cNvPr id="3" name="ZoneTexte 25">
            <a:extLst>
              <a:ext uri="{FF2B5EF4-FFF2-40B4-BE49-F238E27FC236}">
                <a16:creationId xmlns:a16="http://schemas.microsoft.com/office/drawing/2014/main" id="{F8D535B9-6C49-BF3F-FA5D-E53154A2FDD0}"/>
              </a:ext>
            </a:extLst>
          </p:cNvPr>
          <p:cNvSpPr txBox="1">
            <a:spLocks noChangeArrowheads="1"/>
          </p:cNvSpPr>
          <p:nvPr/>
        </p:nvSpPr>
        <p:spPr bwMode="auto">
          <a:xfrm>
            <a:off x="7732716" y="4991549"/>
            <a:ext cx="34572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cs typeface="Arial" panose="020B0604020202020204" pitchFamily="34" charset="0"/>
              </a:defRPr>
            </a:lvl1pPr>
            <a:lvl2pPr marL="742950" indent="-285750">
              <a:defRPr sz="2400">
                <a:solidFill>
                  <a:schemeClr val="tx1"/>
                </a:solidFill>
                <a:latin typeface="Times" panose="02020603050405020304" pitchFamily="18" charset="0"/>
                <a:cs typeface="Arial" panose="020B0604020202020204" pitchFamily="34" charset="0"/>
              </a:defRPr>
            </a:lvl2pPr>
            <a:lvl3pPr marL="1143000" indent="-228600">
              <a:defRPr sz="2400">
                <a:solidFill>
                  <a:schemeClr val="tx1"/>
                </a:solidFill>
                <a:latin typeface="Times" panose="02020603050405020304" pitchFamily="18" charset="0"/>
                <a:cs typeface="Arial" panose="020B0604020202020204" pitchFamily="34" charset="0"/>
              </a:defRPr>
            </a:lvl3pPr>
            <a:lvl4pPr marL="1600200" indent="-228600">
              <a:defRPr sz="2400">
                <a:solidFill>
                  <a:schemeClr val="tx1"/>
                </a:solidFill>
                <a:latin typeface="Times" panose="02020603050405020304" pitchFamily="18" charset="0"/>
                <a:cs typeface="Arial" panose="020B0604020202020204" pitchFamily="34" charset="0"/>
              </a:defRPr>
            </a:lvl4pPr>
            <a:lvl5pPr marL="2057400" indent="-228600">
              <a:defRPr sz="2400">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2400" b="0" i="0" u="none" strike="noStrike" kern="1200" cap="none" spc="0" normalizeH="0" baseline="0" noProof="0" dirty="0" err="1">
                <a:ln>
                  <a:noFill/>
                </a:ln>
                <a:solidFill>
                  <a:prstClr val="black"/>
                </a:solidFill>
                <a:effectLst/>
                <a:uLnTx/>
                <a:uFillTx/>
                <a:latin typeface="Times" panose="02020603050405020304" pitchFamily="18" charset="0"/>
                <a:ea typeface="+mn-ea"/>
                <a:cs typeface="Arial" panose="020B0604020202020204" pitchFamily="34" charset="0"/>
              </a:rPr>
              <a:t>Asymetry</a:t>
            </a:r>
            <a:r>
              <a:rPr kumimoji="0" lang="fr-FR" altLang="fr-FR" sz="2400" b="0" i="0" u="none" strike="noStrike" kern="1200" cap="none" spc="0" normalizeH="0" baseline="0" noProof="0" dirty="0">
                <a:ln>
                  <a:noFill/>
                </a:ln>
                <a:solidFill>
                  <a:prstClr val="black"/>
                </a:solidFill>
                <a:effectLst/>
                <a:uLnTx/>
                <a:uFillTx/>
                <a:latin typeface="Times" panose="02020603050405020304" pitchFamily="18" charset="0"/>
                <a:ea typeface="+mn-ea"/>
                <a:cs typeface="Arial" panose="020B0604020202020204" pitchFamily="34" charset="0"/>
              </a:rPr>
              <a:t> of information </a:t>
            </a:r>
          </a:p>
        </p:txBody>
      </p:sp>
      <p:sp>
        <p:nvSpPr>
          <p:cNvPr id="4" name="ZoneTexte 3">
            <a:extLst>
              <a:ext uri="{FF2B5EF4-FFF2-40B4-BE49-F238E27FC236}">
                <a16:creationId xmlns:a16="http://schemas.microsoft.com/office/drawing/2014/main" id="{8299321C-6BCE-2FBB-8CCA-7C6BAE9BCEB7}"/>
              </a:ext>
            </a:extLst>
          </p:cNvPr>
          <p:cNvSpPr txBox="1"/>
          <p:nvPr/>
        </p:nvSpPr>
        <p:spPr>
          <a:xfrm>
            <a:off x="2858611" y="111715"/>
            <a:ext cx="6096000" cy="461665"/>
          </a:xfrm>
          <a:prstGeom prst="rect">
            <a:avLst/>
          </a:prstGeom>
          <a:noFill/>
        </p:spPr>
        <p:txBody>
          <a:bodyPr wrap="square">
            <a:spAutoFit/>
          </a:bodyPr>
          <a:lstStyle/>
          <a:p>
            <a:pPr algn="ctr"/>
            <a:r>
              <a:rPr lang="fr-FR" sz="2400" b="1" i="0" dirty="0">
                <a:solidFill>
                  <a:srgbClr val="FF0000"/>
                </a:solidFill>
                <a:effectLst/>
                <a:latin typeface="arial" panose="020B0604020202020204" pitchFamily="34" charset="0"/>
              </a:rPr>
              <a:t>The </a:t>
            </a:r>
            <a:r>
              <a:rPr lang="fr-FR" sz="2400" b="1" i="0" dirty="0" err="1">
                <a:solidFill>
                  <a:srgbClr val="FF0000"/>
                </a:solidFill>
                <a:effectLst/>
                <a:latin typeface="arial" panose="020B0604020202020204" pitchFamily="34" charset="0"/>
              </a:rPr>
              <a:t>bank</a:t>
            </a:r>
            <a:r>
              <a:rPr lang="fr-FR" sz="2400" b="1" i="0" dirty="0">
                <a:solidFill>
                  <a:srgbClr val="FF0000"/>
                </a:solidFill>
                <a:effectLst/>
                <a:latin typeface="arial" panose="020B0604020202020204" pitchFamily="34" charset="0"/>
              </a:rPr>
              <a:t> </a:t>
            </a:r>
            <a:r>
              <a:rPr lang="fr-FR" sz="2400" b="1" i="0" dirty="0" err="1">
                <a:solidFill>
                  <a:srgbClr val="FF0000"/>
                </a:solidFill>
                <a:effectLst/>
                <a:latin typeface="arial" panose="020B0604020202020204" pitchFamily="34" charset="0"/>
              </a:rPr>
              <a:t>is</a:t>
            </a:r>
            <a:r>
              <a:rPr lang="fr-FR" sz="2400" b="1" i="0" dirty="0">
                <a:solidFill>
                  <a:srgbClr val="FF0000"/>
                </a:solidFill>
                <a:effectLst/>
                <a:latin typeface="arial" panose="020B0604020202020204" pitchFamily="34" charset="0"/>
              </a:rPr>
              <a:t> not </a:t>
            </a:r>
            <a:r>
              <a:rPr lang="fr-FR" sz="2400" b="1" i="0" dirty="0" err="1">
                <a:solidFill>
                  <a:srgbClr val="FF0000"/>
                </a:solidFill>
                <a:effectLst/>
                <a:latin typeface="arial" panose="020B0604020202020204" pitchFamily="34" charset="0"/>
              </a:rPr>
              <a:t>only</a:t>
            </a:r>
            <a:r>
              <a:rPr lang="fr-FR" sz="2400" b="1" i="0" dirty="0">
                <a:solidFill>
                  <a:srgbClr val="FF0000"/>
                </a:solidFill>
                <a:effectLst/>
                <a:latin typeface="arial" panose="020B0604020202020204" pitchFamily="34" charset="0"/>
              </a:rPr>
              <a:t> a </a:t>
            </a:r>
            <a:r>
              <a:rPr lang="fr-FR" sz="2400" b="1" i="0" dirty="0" err="1">
                <a:solidFill>
                  <a:srgbClr val="FF0000"/>
                </a:solidFill>
                <a:effectLst/>
                <a:latin typeface="arial" panose="020B0604020202020204" pitchFamily="34" charset="0"/>
              </a:rPr>
              <a:t>safe-deposit</a:t>
            </a:r>
            <a:r>
              <a:rPr lang="fr-FR" sz="2400" b="1" i="0" dirty="0">
                <a:solidFill>
                  <a:srgbClr val="FF0000"/>
                </a:solidFill>
                <a:effectLst/>
                <a:latin typeface="arial" panose="020B0604020202020204" pitchFamily="34" charset="0"/>
              </a:rPr>
              <a:t> box</a:t>
            </a:r>
            <a:endParaRPr lang="fr-FR" sz="2400" b="1"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4E05E0B-43D2-466B-8F50-DBBB8015B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DB0349C6-40E7-4680-A2C8-E84BC0141BB0}"/>
              </a:ext>
            </a:extLst>
          </p:cNvPr>
          <p:cNvSpPr>
            <a:spLocks noGrp="1"/>
          </p:cNvSpPr>
          <p:nvPr>
            <p:ph type="title"/>
          </p:nvPr>
        </p:nvSpPr>
        <p:spPr>
          <a:xfrm>
            <a:off x="562708" y="754857"/>
            <a:ext cx="4309018" cy="954221"/>
          </a:xfrm>
        </p:spPr>
        <p:txBody>
          <a:bodyPr vert="horz" lIns="91440" tIns="45720" rIns="91440" bIns="45720" rtlCol="0" anchor="b">
            <a:normAutofit/>
          </a:bodyPr>
          <a:lstStyle/>
          <a:p>
            <a:pPr defTabSz="914400"/>
            <a:r>
              <a:rPr lang="en-US" sz="3600" b="1"/>
              <a:t>Why do banks exist?</a:t>
            </a:r>
            <a:endParaRPr lang="fr-FR"/>
          </a:p>
        </p:txBody>
      </p:sp>
      <p:cxnSp>
        <p:nvCxnSpPr>
          <p:cNvPr id="21" name="Straight Connector 20">
            <a:extLst>
              <a:ext uri="{FF2B5EF4-FFF2-40B4-BE49-F238E27FC236}">
                <a16:creationId xmlns:a16="http://schemas.microsoft.com/office/drawing/2014/main" id="{8D9B8BE3-B447-4FB3-98BE-6A91330B17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2593735"/>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AEB1EEA8-D35C-B066-C856-AF1FF09811CA}"/>
              </a:ext>
            </a:extLst>
          </p:cNvPr>
          <p:cNvSpPr txBox="1"/>
          <p:nvPr/>
        </p:nvSpPr>
        <p:spPr>
          <a:xfrm>
            <a:off x="577650" y="2989247"/>
            <a:ext cx="10716620" cy="3742544"/>
          </a:xfrm>
        </p:spPr>
        <p:txBody>
          <a:bodyPr vert="horz" lIns="91440" tIns="45720" rIns="91440" bIns="45720" rtlCol="0" anchor="t">
            <a:normAutofit lnSpcReduction="10000"/>
          </a:bodyPr>
          <a:lstStyle/>
          <a:p>
            <a:pPr indent="-228600">
              <a:spcAft>
                <a:spcPts val="601"/>
              </a:spcAft>
              <a:buSzPct val="80000"/>
              <a:buFont typeface="+mj-lt"/>
              <a:buAutoNum type="arabicPeriod"/>
              <a:defRPr/>
            </a:pPr>
            <a:r>
              <a:rPr kumimoji="0" lang="en-US" sz="2000" b="0" i="0" u="none" strike="noStrike" cap="none" spc="0" normalizeH="0" baseline="0" noProof="0" dirty="0">
                <a:ln>
                  <a:noFill/>
                </a:ln>
                <a:effectLst/>
                <a:uLnTx/>
                <a:uFillTx/>
              </a:rPr>
              <a:t>The </a:t>
            </a:r>
            <a:r>
              <a:rPr lang="en-US" sz="2000" dirty="0"/>
              <a:t>role</a:t>
            </a:r>
            <a:r>
              <a:rPr kumimoji="0" lang="en-US" sz="2000" b="0" i="0" u="none" strike="noStrike" cap="none" spc="0" normalizeH="0" baseline="0" noProof="0" dirty="0">
                <a:ln>
                  <a:noFill/>
                </a:ln>
                <a:effectLst/>
                <a:uLnTx/>
                <a:uFillTx/>
              </a:rPr>
              <a:t> of banks consists </a:t>
            </a:r>
            <a:r>
              <a:rPr kumimoji="0" lang="en-US" sz="2000" b="1" i="0" u="none" strike="noStrike" cap="none" spc="0" normalizeH="0" baseline="0" noProof="0" dirty="0">
                <a:ln>
                  <a:noFill/>
                </a:ln>
                <a:effectLst/>
                <a:uLnTx/>
                <a:uFillTx/>
              </a:rPr>
              <a:t>of </a:t>
            </a:r>
            <a:r>
              <a:rPr lang="en-US" sz="2000" b="1" dirty="0"/>
              <a:t>transforming </a:t>
            </a:r>
            <a:r>
              <a:rPr lang="en-US" sz="2000" b="1" err="1"/>
              <a:t>households</a:t>
            </a:r>
            <a:r>
              <a:rPr kumimoji="0" lang="en-US" sz="2000" b="1" i="0" u="none" strike="noStrike" cap="none" spc="0" normalizeH="0" baseline="0" noProof="0">
                <a:ln>
                  <a:noFill/>
                </a:ln>
                <a:effectLst/>
                <a:uLnTx/>
                <a:uFillTx/>
              </a:rPr>
              <a:t> surpluses </a:t>
            </a:r>
            <a:r>
              <a:rPr lang="en-US" sz="2000" b="1"/>
              <a:t>: Deposit into Loans. </a:t>
            </a:r>
            <a:endParaRPr lang="fr-FR"/>
          </a:p>
          <a:p>
            <a:pPr indent="-228600">
              <a:spcAft>
                <a:spcPts val="601"/>
              </a:spcAft>
              <a:buSzPct val="80000"/>
              <a:buAutoNum type="arabicPeriod"/>
              <a:defRPr/>
            </a:pPr>
            <a:endParaRPr lang="en-US" sz="2000" b="1" dirty="0"/>
          </a:p>
          <a:p>
            <a:pPr indent="-228600">
              <a:spcAft>
                <a:spcPts val="601"/>
              </a:spcAft>
              <a:buSzPct val="80000"/>
              <a:buAutoNum type="arabicPeriod"/>
              <a:defRPr/>
            </a:pPr>
            <a:r>
              <a:rPr lang="en-US" sz="2000" b="1"/>
              <a:t>Connecting lenders</a:t>
            </a:r>
            <a:r>
              <a:rPr kumimoji="0" lang="en-US" sz="2000" b="1" i="0" u="none" strike="noStrike" cap="none" spc="0" normalizeH="0" baseline="0" noProof="0" dirty="0">
                <a:ln>
                  <a:noFill/>
                </a:ln>
                <a:effectLst/>
                <a:uLnTx/>
                <a:uFillTx/>
              </a:rPr>
              <a:t> and borrowers. </a:t>
            </a:r>
            <a:endParaRPr lang="en-US">
              <a:ea typeface="Calibri"/>
              <a:cs typeface="Calibri"/>
            </a:endParaRPr>
          </a:p>
          <a:p>
            <a:pPr marL="0" marR="0" lvl="0" indent="-228600" fontAlgn="auto">
              <a:spcBef>
                <a:spcPts val="0"/>
              </a:spcBef>
              <a:spcAft>
                <a:spcPts val="601"/>
              </a:spcAft>
              <a:buClrTx/>
              <a:buSzPct val="80000"/>
              <a:buFont typeface="+mj-lt"/>
              <a:buAutoNum type="arabicPeriod"/>
              <a:tabLst/>
              <a:defRPr/>
            </a:pPr>
            <a:endParaRPr kumimoji="0" lang="en-US" sz="2000" b="0" i="0" u="none" strike="noStrike" cap="none" spc="0" normalizeH="0" baseline="0" noProof="0" dirty="0">
              <a:ln>
                <a:noFill/>
              </a:ln>
              <a:effectLst/>
              <a:uLnTx/>
              <a:uFillTx/>
            </a:endParaRPr>
          </a:p>
          <a:p>
            <a:pPr marL="0" marR="0" lvl="0" indent="-228600" fontAlgn="auto">
              <a:spcBef>
                <a:spcPts val="0"/>
              </a:spcBef>
              <a:spcAft>
                <a:spcPts val="601"/>
              </a:spcAft>
              <a:buClrTx/>
              <a:buSzPct val="80000"/>
              <a:buFont typeface="+mj-lt"/>
              <a:buAutoNum type="arabicPeriod"/>
              <a:tabLst/>
              <a:defRPr/>
            </a:pPr>
            <a:r>
              <a:rPr kumimoji="0" lang="en-US" sz="2000" b="0" i="0" u="none" strike="noStrike" cap="none" spc="0" normalizeH="0" baseline="0" noProof="0" dirty="0">
                <a:ln>
                  <a:noFill/>
                </a:ln>
                <a:effectLst/>
                <a:uLnTx/>
                <a:uFillTx/>
              </a:rPr>
              <a:t>Banks must </a:t>
            </a:r>
            <a:r>
              <a:rPr kumimoji="0" lang="en-US" sz="2000" b="1" i="0" u="none" strike="noStrike" cap="none" spc="0" normalizeH="0" baseline="0" noProof="0" dirty="0">
                <a:ln>
                  <a:noFill/>
                </a:ln>
                <a:effectLst/>
                <a:uLnTx/>
                <a:uFillTx/>
              </a:rPr>
              <a:t>screen borrowers and monitor loans</a:t>
            </a:r>
            <a:r>
              <a:rPr kumimoji="0" lang="en-US" sz="2000" b="0" i="0" u="none" strike="noStrike" cap="none" spc="0" normalizeH="0" baseline="0" noProof="0" dirty="0">
                <a:ln>
                  <a:noFill/>
                </a:ln>
                <a:effectLst/>
                <a:uLnTx/>
                <a:uFillTx/>
              </a:rPr>
              <a:t>. </a:t>
            </a:r>
          </a:p>
          <a:p>
            <a:pPr marL="0" marR="0" lvl="0" indent="-228600" fontAlgn="auto">
              <a:spcBef>
                <a:spcPts val="0"/>
              </a:spcBef>
              <a:spcAft>
                <a:spcPts val="0"/>
              </a:spcAft>
              <a:buClrTx/>
              <a:buSzPct val="80000"/>
              <a:buFont typeface="+mj-lt"/>
              <a:buAutoNum type="arabicPeriod"/>
              <a:tabLst/>
              <a:defRPr/>
            </a:pPr>
            <a:endParaRPr kumimoji="0" lang="en-US" sz="2000" b="0" i="0" u="none" strike="noStrike" cap="none" spc="0" normalizeH="0" baseline="0" noProof="0" dirty="0">
              <a:ln>
                <a:noFill/>
              </a:ln>
              <a:effectLst/>
              <a:uLnTx/>
              <a:uFillTx/>
            </a:endParaRPr>
          </a:p>
          <a:p>
            <a:pPr marL="0" marR="0" lvl="0" indent="-228600" fontAlgn="auto">
              <a:spcBef>
                <a:spcPts val="0"/>
              </a:spcBef>
              <a:spcAft>
                <a:spcPts val="0"/>
              </a:spcAft>
              <a:buClrTx/>
              <a:buSzPct val="80000"/>
              <a:buFont typeface="+mj-lt"/>
              <a:buAutoNum type="arabicPeriod"/>
              <a:tabLst/>
              <a:defRPr/>
            </a:pPr>
            <a:r>
              <a:rPr kumimoji="0" lang="en-US" sz="2000" b="0" i="0" u="none" strike="noStrike" cap="none" spc="0" normalizeH="0" baseline="0" noProof="0" dirty="0">
                <a:ln>
                  <a:noFill/>
                </a:ln>
                <a:effectLst/>
                <a:uLnTx/>
                <a:uFillTx/>
              </a:rPr>
              <a:t>The raison d’être of banks is due to the </a:t>
            </a:r>
            <a:r>
              <a:rPr kumimoji="0" lang="en-US" sz="2000" b="1" i="0" u="none" strike="noStrike" cap="none" spc="0" normalizeH="0" baseline="0" noProof="0" dirty="0">
                <a:ln>
                  <a:noFill/>
                </a:ln>
                <a:effectLst/>
                <a:uLnTx/>
                <a:uFillTx/>
              </a:rPr>
              <a:t>existence of frictions in capital markets </a:t>
            </a:r>
            <a:r>
              <a:rPr kumimoji="0" lang="en-US" sz="2000" b="0" i="0" u="none" strike="noStrike" cap="none" spc="0" normalizeH="0" baseline="0" noProof="0" dirty="0">
                <a:ln>
                  <a:noFill/>
                </a:ln>
                <a:effectLst/>
                <a:uLnTx/>
                <a:uFillTx/>
              </a:rPr>
              <a:t>(Saunders, 2000; Hubbard, 1994; </a:t>
            </a:r>
            <a:r>
              <a:rPr kumimoji="0" lang="en-US" sz="2000" b="0" i="0" u="none" strike="noStrike" cap="none" spc="0" normalizeH="0" baseline="0" noProof="0">
                <a:ln>
                  <a:noFill/>
                </a:ln>
                <a:effectLst/>
                <a:uLnTx/>
                <a:uFillTx/>
              </a:rPr>
              <a:t>Freixas</a:t>
            </a:r>
            <a:r>
              <a:rPr kumimoji="0" lang="en-US" sz="2000" b="0" i="0" u="none" strike="noStrike" cap="none" spc="0" normalizeH="0" baseline="0" noProof="0" dirty="0">
                <a:ln>
                  <a:noFill/>
                </a:ln>
                <a:effectLst/>
                <a:uLnTx/>
                <a:uFillTx/>
              </a:rPr>
              <a:t> and Rochet, 1998). </a:t>
            </a:r>
          </a:p>
          <a:p>
            <a:pPr marL="0" marR="0" lvl="0" indent="-228600" fontAlgn="auto">
              <a:spcBef>
                <a:spcPts val="0"/>
              </a:spcBef>
              <a:spcAft>
                <a:spcPts val="0"/>
              </a:spcAft>
              <a:buClrTx/>
              <a:buSzPct val="80000"/>
              <a:buFont typeface="+mj-lt"/>
              <a:buAutoNum type="arabicPeriod"/>
              <a:tabLst/>
              <a:defRPr/>
            </a:pPr>
            <a:endParaRPr kumimoji="0" lang="en-US" sz="2000" b="0" i="0" u="none" strike="noStrike" cap="none" spc="0" normalizeH="0" baseline="0" noProof="0" dirty="0">
              <a:ln>
                <a:noFill/>
              </a:ln>
              <a:effectLst/>
              <a:uLnTx/>
              <a:uFillTx/>
            </a:endParaRPr>
          </a:p>
          <a:p>
            <a:pPr marL="0" marR="0" lvl="0" indent="-228600" fontAlgn="auto">
              <a:spcBef>
                <a:spcPts val="0"/>
              </a:spcBef>
              <a:spcAft>
                <a:spcPts val="601"/>
              </a:spcAft>
              <a:buClrTx/>
              <a:buSzPct val="80000"/>
              <a:buFont typeface="+mj-lt"/>
              <a:buAutoNum type="arabicPeriod"/>
              <a:tabLst/>
              <a:defRPr/>
            </a:pPr>
            <a:r>
              <a:rPr kumimoji="0" lang="en-US" sz="2000" b="0" i="0" u="none" strike="noStrike" cap="none" spc="0" normalizeH="0" baseline="0" noProof="0" dirty="0">
                <a:ln>
                  <a:noFill/>
                </a:ln>
                <a:effectLst/>
                <a:uLnTx/>
                <a:uFillTx/>
              </a:rPr>
              <a:t>These frictions arise due to </a:t>
            </a:r>
            <a:r>
              <a:rPr kumimoji="0" lang="en-US" sz="2000" b="1" i="0" u="none" strike="noStrike" cap="none" spc="0" normalizeH="0" baseline="0" noProof="0" dirty="0">
                <a:ln>
                  <a:noFill/>
                </a:ln>
                <a:effectLst/>
                <a:uLnTx/>
                <a:uFillTx/>
              </a:rPr>
              <a:t>insufficient information and knowledge on households and businesses </a:t>
            </a:r>
            <a:r>
              <a:rPr kumimoji="0" lang="en-US" sz="2000" b="0" i="0" u="none" strike="noStrike" cap="none" spc="0" normalizeH="0" baseline="0" noProof="0" dirty="0">
                <a:ln>
                  <a:noFill/>
                </a:ln>
                <a:effectLst/>
                <a:uLnTx/>
                <a:uFillTx/>
              </a:rPr>
              <a:t>(asymmetry of information). </a:t>
            </a:r>
          </a:p>
          <a:p>
            <a:pPr marL="0" marR="0" lvl="0" indent="-228600" fontAlgn="auto">
              <a:spcBef>
                <a:spcPts val="0"/>
              </a:spcBef>
              <a:spcAft>
                <a:spcPts val="601"/>
              </a:spcAft>
              <a:buClrTx/>
              <a:buSzPct val="80000"/>
              <a:buFont typeface="+mj-lt"/>
              <a:buAutoNum type="arabicPeriod"/>
              <a:tabLst/>
              <a:defRPr/>
            </a:pPr>
            <a:endParaRPr kumimoji="0" lang="en-US" sz="2000" b="0" i="0" u="none" strike="noStrike" cap="none" spc="0" normalizeH="0" baseline="0" noProof="0" dirty="0">
              <a:ln>
                <a:noFill/>
              </a:ln>
              <a:effectLst/>
              <a:uLnTx/>
              <a:uFillTx/>
            </a:endParaRPr>
          </a:p>
        </p:txBody>
      </p:sp>
      <p:sp>
        <p:nvSpPr>
          <p:cNvPr id="14" name="Slide Number Placeholder 20">
            <a:extLst>
              <a:ext uri="{FF2B5EF4-FFF2-40B4-BE49-F238E27FC236}">
                <a16:creationId xmlns:a16="http://schemas.microsoft.com/office/drawing/2014/main" id="{D17D7EA4-02EF-4F44-AC63-465DB894E157}"/>
              </a:ext>
            </a:extLst>
          </p:cNvPr>
          <p:cNvSpPr>
            <a:spLocks noGrp="1"/>
          </p:cNvSpPr>
          <p:nvPr>
            <p:ph type="sldNum" sz="quarter" idx="12"/>
          </p:nvPr>
        </p:nvSpPr>
        <p:spPr>
          <a:xfrm>
            <a:off x="11512295" y="6356354"/>
            <a:ext cx="574620" cy="365125"/>
          </a:xfrm>
        </p:spPr>
        <p:txBody>
          <a:bodyPr vert="horz" lIns="91440" tIns="45720" rIns="91440" bIns="45720" rtlCol="0" anchor="ctr">
            <a:normAutofit/>
          </a:bodyPr>
          <a:lstStyle/>
          <a:p>
            <a:pPr marR="0" lvl="0" indent="0" fontAlgn="auto">
              <a:spcBef>
                <a:spcPts val="0"/>
              </a:spcBef>
              <a:spcAft>
                <a:spcPts val="601"/>
              </a:spcAft>
              <a:buClrTx/>
              <a:buSzTx/>
              <a:buFontTx/>
              <a:buNone/>
              <a:tabLst/>
              <a:defRPr/>
            </a:pPr>
            <a:fld id="{3E131995-E962-4131-8504-6B962D7140A6}" type="slidenum">
              <a:rPr kumimoji="0" lang="en-US" sz="1000" b="0" i="0" u="none" strike="noStrike" cap="none" spc="0" normalizeH="0" baseline="0" noProof="0" smtClean="0">
                <a:ln>
                  <a:noFill/>
                </a:ln>
                <a:effectLst/>
                <a:uLnTx/>
                <a:uFillTx/>
              </a:rPr>
              <a:pPr marR="0" lvl="0" indent="0" fontAlgn="auto">
                <a:spcBef>
                  <a:spcPts val="0"/>
                </a:spcBef>
                <a:spcAft>
                  <a:spcPts val="601"/>
                </a:spcAft>
                <a:buClrTx/>
                <a:buSzTx/>
                <a:buFontTx/>
                <a:buNone/>
                <a:tabLst/>
                <a:defRPr/>
              </a:pPr>
              <a:t>12</a:t>
            </a:fld>
            <a:endParaRPr kumimoji="0" lang="en-US" sz="1000" b="0" i="0" u="none" strike="noStrike" cap="none" spc="0" normalizeH="0" baseline="0" noProof="0">
              <a:ln>
                <a:noFill/>
              </a:ln>
              <a:effectLst/>
              <a:uLnTx/>
              <a:uFillTx/>
            </a:endParaRPr>
          </a:p>
        </p:txBody>
      </p:sp>
      <p:sp>
        <p:nvSpPr>
          <p:cNvPr id="4" name="ZoneTexte 3">
            <a:extLst>
              <a:ext uri="{FF2B5EF4-FFF2-40B4-BE49-F238E27FC236}">
                <a16:creationId xmlns:a16="http://schemas.microsoft.com/office/drawing/2014/main" id="{EB38490C-3B12-E791-0CF9-AE429AA09CBB}"/>
              </a:ext>
            </a:extLst>
          </p:cNvPr>
          <p:cNvSpPr txBox="1"/>
          <p:nvPr/>
        </p:nvSpPr>
        <p:spPr>
          <a:xfrm>
            <a:off x="5191760" y="287020"/>
            <a:ext cx="6096000" cy="461665"/>
          </a:xfrm>
          <a:prstGeom prst="rect">
            <a:avLst/>
          </a:prstGeom>
          <a:noFill/>
        </p:spPr>
        <p:txBody>
          <a:bodyPr wrap="square">
            <a:spAutoFit/>
          </a:bodyPr>
          <a:lstStyle/>
          <a:p>
            <a:pPr algn="ctr">
              <a:spcAft>
                <a:spcPts val="600"/>
              </a:spcAft>
            </a:pPr>
            <a:r>
              <a:rPr lang="fr-FR" sz="2400" b="1" i="0" dirty="0">
                <a:solidFill>
                  <a:srgbClr val="FF0000"/>
                </a:solidFill>
                <a:effectLst/>
                <a:latin typeface="arial" panose="020B0604020202020204" pitchFamily="34" charset="0"/>
              </a:rPr>
              <a:t>The </a:t>
            </a:r>
            <a:r>
              <a:rPr lang="fr-FR" sz="2400" b="1" i="0" dirty="0" err="1">
                <a:solidFill>
                  <a:srgbClr val="FF0000"/>
                </a:solidFill>
                <a:effectLst/>
                <a:latin typeface="arial" panose="020B0604020202020204" pitchFamily="34" charset="0"/>
              </a:rPr>
              <a:t>bank</a:t>
            </a:r>
            <a:r>
              <a:rPr lang="fr-FR" sz="2400" b="1" i="0" dirty="0">
                <a:solidFill>
                  <a:srgbClr val="FF0000"/>
                </a:solidFill>
                <a:effectLst/>
                <a:latin typeface="arial" panose="020B0604020202020204" pitchFamily="34" charset="0"/>
              </a:rPr>
              <a:t> </a:t>
            </a:r>
            <a:r>
              <a:rPr lang="fr-FR" sz="2400" b="1" i="0" dirty="0" err="1">
                <a:solidFill>
                  <a:srgbClr val="FF0000"/>
                </a:solidFill>
                <a:effectLst/>
                <a:latin typeface="arial" panose="020B0604020202020204" pitchFamily="34" charset="0"/>
              </a:rPr>
              <a:t>is</a:t>
            </a:r>
            <a:r>
              <a:rPr lang="fr-FR" sz="2400" b="1" i="0" dirty="0">
                <a:solidFill>
                  <a:srgbClr val="FF0000"/>
                </a:solidFill>
                <a:effectLst/>
                <a:latin typeface="arial" panose="020B0604020202020204" pitchFamily="34" charset="0"/>
              </a:rPr>
              <a:t> not </a:t>
            </a:r>
            <a:r>
              <a:rPr lang="fr-FR" sz="2400" b="1" i="0" dirty="0" err="1">
                <a:solidFill>
                  <a:srgbClr val="FF0000"/>
                </a:solidFill>
                <a:effectLst/>
                <a:latin typeface="arial" panose="020B0604020202020204" pitchFamily="34" charset="0"/>
              </a:rPr>
              <a:t>only</a:t>
            </a:r>
            <a:r>
              <a:rPr lang="fr-FR" sz="2400" b="1" i="0" dirty="0">
                <a:solidFill>
                  <a:srgbClr val="FF0000"/>
                </a:solidFill>
                <a:effectLst/>
                <a:latin typeface="arial" panose="020B0604020202020204" pitchFamily="34" charset="0"/>
              </a:rPr>
              <a:t> a </a:t>
            </a:r>
            <a:r>
              <a:rPr lang="fr-FR" sz="2400" b="1" i="0" dirty="0" err="1">
                <a:solidFill>
                  <a:srgbClr val="FF0000"/>
                </a:solidFill>
                <a:effectLst/>
                <a:latin typeface="arial" panose="020B0604020202020204" pitchFamily="34" charset="0"/>
              </a:rPr>
              <a:t>safe-deposit</a:t>
            </a:r>
            <a:r>
              <a:rPr lang="fr-FR" sz="2400" b="1" i="0" dirty="0">
                <a:solidFill>
                  <a:srgbClr val="FF0000"/>
                </a:solidFill>
                <a:effectLst/>
                <a:latin typeface="arial" panose="020B0604020202020204" pitchFamily="34" charset="0"/>
              </a:rPr>
              <a:t> box</a:t>
            </a:r>
            <a:endParaRPr lang="fr-FR" sz="2400" b="1">
              <a:solidFill>
                <a:srgbClr val="FF0000"/>
              </a:solidFill>
            </a:endParaRPr>
          </a:p>
        </p:txBody>
      </p:sp>
    </p:spTree>
    <p:extLst>
      <p:ext uri="{BB962C8B-B14F-4D97-AF65-F5344CB8AC3E}">
        <p14:creationId xmlns:p14="http://schemas.microsoft.com/office/powerpoint/2010/main" val="2854250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AE01E05F-84D2-18E6-3048-2DC6EA887A5F}"/>
              </a:ext>
            </a:extLst>
          </p:cNvPr>
          <p:cNvSpPr txBox="1"/>
          <p:nvPr/>
        </p:nvSpPr>
        <p:spPr>
          <a:xfrm>
            <a:off x="200397" y="698940"/>
            <a:ext cx="2994748" cy="5181600"/>
          </a:xfrm>
        </p:spPr>
        <p:txBody>
          <a:bodyPr vert="horz" lIns="91440" tIns="45721" rIns="91440" bIns="45721" rtlCol="0" anchor="t">
            <a:normAutofit/>
          </a:bodyPr>
          <a:lstStyle/>
          <a:p>
            <a:pPr marL="0" marR="0" lvl="0" indent="0" algn="l" defTabSz="914400" rtl="0" eaLnBrk="1" fontAlgn="auto" latinLnBrk="0" hangingPunct="1">
              <a:lnSpc>
                <a:spcPct val="90000"/>
              </a:lnSpc>
              <a:spcBef>
                <a:spcPct val="0"/>
              </a:spcBef>
              <a:spcAft>
                <a:spcPts val="601"/>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Bank functions: a sum up </a:t>
            </a:r>
          </a:p>
        </p:txBody>
      </p:sp>
      <p:sp>
        <p:nvSpPr>
          <p:cNvPr id="3" name="ZoneTexte 2">
            <a:extLst>
              <a:ext uri="{FF2B5EF4-FFF2-40B4-BE49-F238E27FC236}">
                <a16:creationId xmlns:a16="http://schemas.microsoft.com/office/drawing/2014/main" id="{C41532D1-6804-568F-A216-0B5F43FC85FA}"/>
              </a:ext>
            </a:extLst>
          </p:cNvPr>
          <p:cNvSpPr txBox="1"/>
          <p:nvPr/>
        </p:nvSpPr>
        <p:spPr>
          <a:xfrm>
            <a:off x="3037491" y="838203"/>
            <a:ext cx="8797159" cy="5615152"/>
          </a:xfrm>
          <a:solidFill>
            <a:srgbClr val="FF0000"/>
          </a:solidFill>
        </p:spPr>
        <p:txBody>
          <a:bodyPr vert="horz" lIns="91440" tIns="45721" rIns="91440" bIns="45721" rtlCol="0" anchor="t">
            <a:normAutofit fontScale="92500"/>
          </a:bodyPr>
          <a:lstStyle/>
          <a:p>
            <a:pPr marL="342914" marR="0" lvl="0" indent="-228610" algn="l" defTabSz="914400" rtl="0" eaLnBrk="1" fontAlgn="base" latinLnBrk="0" hangingPunct="1">
              <a:lnSpc>
                <a:spcPct val="110000"/>
              </a:lnSpc>
              <a:spcBef>
                <a:spcPts val="0"/>
              </a:spcBef>
              <a:spcAft>
                <a:spcPts val="20"/>
              </a:spcAft>
              <a:buClr>
                <a:srgbClr val="000000"/>
              </a:buClr>
              <a:buSzPct val="80000"/>
              <a:buFont typeface="+mj-lt"/>
              <a:buAutoNum type="arabicPeriod"/>
              <a:tabLst/>
              <a:defRPr/>
            </a:pPr>
            <a:r>
              <a:rPr kumimoji="0" lang="en-US" sz="2800" b="1"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General:</a:t>
            </a:r>
            <a:endPar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endParaRPr>
          </a:p>
          <a:p>
            <a:pPr marL="971587" marR="0" lvl="1" indent="-228610" algn="l" defTabSz="914400" rtl="0" eaLnBrk="1" fontAlgn="base" latinLnBrk="0" hangingPunct="1">
              <a:lnSpc>
                <a:spcPct val="110000"/>
              </a:lnSpc>
              <a:spcBef>
                <a:spcPts val="0"/>
              </a:spcBef>
              <a:spcAft>
                <a:spcPts val="130"/>
              </a:spcAft>
              <a:buClr>
                <a:srgbClr val="000000"/>
              </a:buClr>
              <a:buSzPct val="80000"/>
              <a:buFont typeface="+mj-lt"/>
              <a:buAutoNum type="arabicPeriod"/>
              <a:tabLst/>
              <a:defRPr/>
            </a:pPr>
            <a:r>
              <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information services (reducing savers’ monitoring costs);</a:t>
            </a:r>
          </a:p>
          <a:p>
            <a:pPr marL="971587" marR="0" lvl="1" indent="-228610" algn="l" defTabSz="914400" rtl="0" eaLnBrk="1" fontAlgn="base" latinLnBrk="0" hangingPunct="1">
              <a:lnSpc>
                <a:spcPct val="110000"/>
              </a:lnSpc>
              <a:spcBef>
                <a:spcPts val="0"/>
              </a:spcBef>
              <a:spcAft>
                <a:spcPts val="130"/>
              </a:spcAft>
              <a:buClr>
                <a:srgbClr val="000000"/>
              </a:buClr>
              <a:buSzPct val="80000"/>
              <a:buFont typeface="+mj-lt"/>
              <a:buAutoNum type="arabicPeriod"/>
              <a:tabLst/>
              <a:defRPr/>
            </a:pPr>
            <a:r>
              <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liquidity services (increasing savers’ liquidity);</a:t>
            </a:r>
          </a:p>
          <a:p>
            <a:pPr marL="971587" marR="0" lvl="1" indent="-228610" algn="l" defTabSz="914400" rtl="0" eaLnBrk="1" fontAlgn="base" latinLnBrk="0" hangingPunct="1">
              <a:lnSpc>
                <a:spcPct val="110000"/>
              </a:lnSpc>
              <a:spcBef>
                <a:spcPts val="0"/>
              </a:spcBef>
              <a:spcAft>
                <a:spcPts val="130"/>
              </a:spcAft>
              <a:buClr>
                <a:srgbClr val="000000"/>
              </a:buClr>
              <a:buSzPct val="80000"/>
              <a:buFont typeface="+mj-lt"/>
              <a:buAutoNum type="arabicPeriod"/>
              <a:tabLst/>
              <a:defRPr/>
            </a:pPr>
            <a:r>
              <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price-risk reduction services (diversification, brokerage and asset transformation);</a:t>
            </a:r>
          </a:p>
          <a:p>
            <a:pPr marL="971587" marR="0" lvl="1" indent="-228610" algn="l" defTabSz="914400" rtl="0" eaLnBrk="1" fontAlgn="base" latinLnBrk="0" hangingPunct="1">
              <a:lnSpc>
                <a:spcPct val="110000"/>
              </a:lnSpc>
              <a:spcBef>
                <a:spcPts val="0"/>
              </a:spcBef>
              <a:spcAft>
                <a:spcPts val="130"/>
              </a:spcAft>
              <a:buClr>
                <a:srgbClr val="000000"/>
              </a:buClr>
              <a:buSzPct val="80000"/>
              <a:buFont typeface="+mj-lt"/>
              <a:buAutoNum type="arabicPeriod"/>
              <a:tabLst/>
              <a:defRPr/>
            </a:pPr>
            <a:r>
              <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transaction-costs-reducing services (economies of scale through pooling).</a:t>
            </a:r>
          </a:p>
          <a:p>
            <a:pPr marL="342914" marR="0" lvl="0" indent="-228610" algn="l" defTabSz="914400" rtl="0" eaLnBrk="1" fontAlgn="base" latinLnBrk="0" hangingPunct="1">
              <a:lnSpc>
                <a:spcPct val="110000"/>
              </a:lnSpc>
              <a:spcBef>
                <a:spcPts val="0"/>
              </a:spcBef>
              <a:spcAft>
                <a:spcPts val="20"/>
              </a:spcAft>
              <a:buClr>
                <a:srgbClr val="000000"/>
              </a:buClr>
              <a:buSzPct val="80000"/>
              <a:buFont typeface="+mj-lt"/>
              <a:buAutoNum type="arabicPeriod"/>
              <a:tabLst/>
              <a:defRPr/>
            </a:pPr>
            <a:r>
              <a:rPr kumimoji="0" lang="en-US" sz="2800" b="1"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Institution-specific:</a:t>
            </a:r>
            <a:endPar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endParaRPr>
          </a:p>
          <a:p>
            <a:pPr marL="971587" marR="0" lvl="1" indent="-228610" algn="l" defTabSz="914400" rtl="0" eaLnBrk="1" fontAlgn="base" latinLnBrk="0" hangingPunct="1">
              <a:lnSpc>
                <a:spcPct val="110000"/>
              </a:lnSpc>
              <a:spcBef>
                <a:spcPts val="0"/>
              </a:spcBef>
              <a:spcAft>
                <a:spcPts val="130"/>
              </a:spcAft>
              <a:buClr>
                <a:srgbClr val="000000"/>
              </a:buClr>
              <a:buSzPct val="80000"/>
              <a:buFont typeface="+mj-lt"/>
              <a:buAutoNum type="arabicPeriod"/>
              <a:tabLst/>
              <a:defRPr/>
            </a:pPr>
            <a:r>
              <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money supply;</a:t>
            </a:r>
          </a:p>
          <a:p>
            <a:pPr marL="971587" marR="0" lvl="1" indent="-228610" algn="l" defTabSz="914400" rtl="0" eaLnBrk="1" fontAlgn="base" latinLnBrk="0" hangingPunct="1">
              <a:lnSpc>
                <a:spcPct val="110000"/>
              </a:lnSpc>
              <a:spcBef>
                <a:spcPts val="0"/>
              </a:spcBef>
              <a:spcAft>
                <a:spcPts val="130"/>
              </a:spcAft>
              <a:buClr>
                <a:srgbClr val="000000"/>
              </a:buClr>
              <a:buSzPct val="80000"/>
              <a:buFont typeface="+mj-lt"/>
              <a:buAutoNum type="arabicPeriod"/>
              <a:tabLst/>
              <a:defRPr/>
            </a:pPr>
            <a:r>
              <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credit allocation (between sectors);</a:t>
            </a:r>
          </a:p>
          <a:p>
            <a:pPr marL="971587" marR="0" lvl="1" indent="-228610" algn="l" defTabSz="914400" rtl="0" eaLnBrk="1" fontAlgn="base" latinLnBrk="0" hangingPunct="1">
              <a:lnSpc>
                <a:spcPct val="110000"/>
              </a:lnSpc>
              <a:spcBef>
                <a:spcPts val="0"/>
              </a:spcBef>
              <a:spcAft>
                <a:spcPts val="130"/>
              </a:spcAft>
              <a:buClr>
                <a:srgbClr val="000000"/>
              </a:buClr>
              <a:buSzPct val="80000"/>
              <a:buFont typeface="+mj-lt"/>
              <a:buAutoNum type="arabicPeriod"/>
              <a:tabLst/>
              <a:defRPr/>
            </a:pPr>
            <a:r>
              <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intergenerational transfers;</a:t>
            </a:r>
          </a:p>
          <a:p>
            <a:pPr marL="971587" marR="0" lvl="1" indent="-228610" algn="l" defTabSz="914400" rtl="0" eaLnBrk="1" fontAlgn="base" latinLnBrk="0" hangingPunct="1">
              <a:lnSpc>
                <a:spcPct val="110000"/>
              </a:lnSpc>
              <a:spcBef>
                <a:spcPts val="0"/>
              </a:spcBef>
              <a:spcAft>
                <a:spcPts val="130"/>
              </a:spcAft>
              <a:buClr>
                <a:srgbClr val="000000"/>
              </a:buClr>
              <a:buSzPct val="80000"/>
              <a:buFont typeface="+mj-lt"/>
              <a:buAutoNum type="arabicPeriod"/>
              <a:tabLst/>
              <a:defRPr/>
            </a:pPr>
            <a:r>
              <a:rPr kumimoji="0" lang="en-US" sz="2800" b="0" i="0" u="none" strike="noStrike" kern="1200" cap="none" spc="0" normalizeH="0" baseline="0" noProof="0" dirty="0">
                <a:ln>
                  <a:noFill/>
                </a:ln>
                <a:solidFill>
                  <a:prstClr val="black"/>
                </a:solidFill>
                <a:effectLst/>
                <a:uLnTx/>
                <a:uFill>
                  <a:solidFill>
                    <a:srgbClr val="000000"/>
                  </a:solidFill>
                </a:uFill>
                <a:latin typeface="Calibri" panose="020F0502020204030204"/>
                <a:ea typeface="+mn-ea"/>
                <a:cs typeface="+mn-cs"/>
              </a:rPr>
              <a:t>payment services</a:t>
            </a:r>
          </a:p>
        </p:txBody>
      </p:sp>
      <p:sp>
        <p:nvSpPr>
          <p:cNvPr id="14" name="Slide Number Placeholder 20">
            <a:extLst>
              <a:ext uri="{FF2B5EF4-FFF2-40B4-BE49-F238E27FC236}">
                <a16:creationId xmlns:a16="http://schemas.microsoft.com/office/drawing/2014/main" id="{D17D7EA4-02EF-4F44-AC63-465DB894E157}"/>
              </a:ext>
            </a:extLst>
          </p:cNvPr>
          <p:cNvSpPr>
            <a:spLocks noGrp="1"/>
          </p:cNvSpPr>
          <p:nvPr>
            <p:ph type="sldNum" sz="quarter" idx="12"/>
          </p:nvPr>
        </p:nvSpPr>
        <p:spPr>
          <a:xfrm>
            <a:off x="11512295" y="6356354"/>
            <a:ext cx="574620" cy="365125"/>
          </a:xfrm>
        </p:spPr>
        <p:txBody>
          <a:bodyPr/>
          <a:lstStyle/>
          <a:p>
            <a:pPr marL="0" marR="0" lvl="0" indent="0" algn="ctr" defTabSz="914400" rtl="0" eaLnBrk="1" fontAlgn="auto" latinLnBrk="0" hangingPunct="1">
              <a:lnSpc>
                <a:spcPct val="100000"/>
              </a:lnSpc>
              <a:spcBef>
                <a:spcPts val="0"/>
              </a:spcBef>
              <a:spcAft>
                <a:spcPts val="601"/>
              </a:spcAft>
              <a:buClrTx/>
              <a:buSzTx/>
              <a:buFontTx/>
              <a:buNone/>
              <a:tabLst/>
              <a:defRPr/>
            </a:pPr>
            <a:fld id="{3E131995-E962-4131-8504-6B962D7140A6}" type="slidenum">
              <a:rPr kumimoji="0" lang="en-US" sz="1001"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1"/>
                </a:spcAft>
                <a:buClrTx/>
                <a:buSzTx/>
                <a:buFontTx/>
                <a:buNone/>
                <a:tabLst/>
                <a:defRPr/>
              </a:pPr>
              <a:t>13</a:t>
            </a:fld>
            <a:endParaRPr kumimoji="0" lang="en-US" sz="1001"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riangle isocèle 1">
            <a:extLst>
              <a:ext uri="{FF2B5EF4-FFF2-40B4-BE49-F238E27FC236}">
                <a16:creationId xmlns:a16="http://schemas.microsoft.com/office/drawing/2014/main" id="{FC66DD6F-3564-5E47-04B7-62DD7D526B14}"/>
              </a:ext>
            </a:extLst>
          </p:cNvPr>
          <p:cNvSpPr/>
          <p:nvPr/>
        </p:nvSpPr>
        <p:spPr>
          <a:xfrm>
            <a:off x="11103429" y="233265"/>
            <a:ext cx="574620" cy="604938"/>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2240795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1378103E-95E4-AA9E-0300-D90C2830485A}"/>
              </a:ext>
            </a:extLst>
          </p:cNvPr>
          <p:cNvGraphicFramePr>
            <a:graphicFrameLocks noGrp="1"/>
          </p:cNvGraphicFramePr>
          <p:nvPr/>
        </p:nvGraphicFramePr>
        <p:xfrm>
          <a:off x="6398864" y="313200"/>
          <a:ext cx="5524428" cy="6463213"/>
        </p:xfrm>
        <a:graphic>
          <a:graphicData uri="http://schemas.openxmlformats.org/drawingml/2006/table">
            <a:tbl>
              <a:tblPr firstRow="1" firstCol="1" bandRow="1">
                <a:tableStyleId>{2D5ABB26-0587-4C30-8999-92F81FD0307C}</a:tableStyleId>
              </a:tblPr>
              <a:tblGrid>
                <a:gridCol w="1651371">
                  <a:extLst>
                    <a:ext uri="{9D8B030D-6E8A-4147-A177-3AD203B41FA5}">
                      <a16:colId xmlns:a16="http://schemas.microsoft.com/office/drawing/2014/main" val="1076372022"/>
                    </a:ext>
                  </a:extLst>
                </a:gridCol>
                <a:gridCol w="583713">
                  <a:extLst>
                    <a:ext uri="{9D8B030D-6E8A-4147-A177-3AD203B41FA5}">
                      <a16:colId xmlns:a16="http://schemas.microsoft.com/office/drawing/2014/main" val="3773360994"/>
                    </a:ext>
                  </a:extLst>
                </a:gridCol>
                <a:gridCol w="807636">
                  <a:extLst>
                    <a:ext uri="{9D8B030D-6E8A-4147-A177-3AD203B41FA5}">
                      <a16:colId xmlns:a16="http://schemas.microsoft.com/office/drawing/2014/main" val="2026077620"/>
                    </a:ext>
                  </a:extLst>
                </a:gridCol>
                <a:gridCol w="837036">
                  <a:extLst>
                    <a:ext uri="{9D8B030D-6E8A-4147-A177-3AD203B41FA5}">
                      <a16:colId xmlns:a16="http://schemas.microsoft.com/office/drawing/2014/main" val="1427359663"/>
                    </a:ext>
                  </a:extLst>
                </a:gridCol>
                <a:gridCol w="812538">
                  <a:extLst>
                    <a:ext uri="{9D8B030D-6E8A-4147-A177-3AD203B41FA5}">
                      <a16:colId xmlns:a16="http://schemas.microsoft.com/office/drawing/2014/main" val="3760036761"/>
                    </a:ext>
                  </a:extLst>
                </a:gridCol>
                <a:gridCol w="832134">
                  <a:extLst>
                    <a:ext uri="{9D8B030D-6E8A-4147-A177-3AD203B41FA5}">
                      <a16:colId xmlns:a16="http://schemas.microsoft.com/office/drawing/2014/main" val="1880271098"/>
                    </a:ext>
                  </a:extLst>
                </a:gridCol>
              </a:tblGrid>
              <a:tr h="195509">
                <a:tc>
                  <a:txBody>
                    <a:bodyPr/>
                    <a:lstStyle/>
                    <a:p>
                      <a:pPr marL="4445" indent="-4445" algn="ctr">
                        <a:lnSpc>
                          <a:spcPct val="100000"/>
                        </a:lnSpc>
                        <a:spcAft>
                          <a:spcPts val="130"/>
                        </a:spcAft>
                      </a:pPr>
                      <a:r>
                        <a:rPr lang="fr-FR" sz="1200" b="1">
                          <a:effectLst/>
                        </a:rPr>
                        <a:t>Country</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indent="-4445" algn="ctr">
                        <a:lnSpc>
                          <a:spcPct val="100000"/>
                        </a:lnSpc>
                        <a:spcAft>
                          <a:spcPts val="130"/>
                        </a:spcAft>
                      </a:pPr>
                      <a:r>
                        <a:rPr lang="fr-FR" sz="1100" b="1">
                          <a:effectLst/>
                        </a:rPr>
                        <a:t>% of total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63500" indent="-4445" algn="ctr">
                        <a:lnSpc>
                          <a:spcPct val="100000"/>
                        </a:lnSpc>
                        <a:spcAft>
                          <a:spcPts val="130"/>
                        </a:spcAft>
                      </a:pPr>
                      <a:r>
                        <a:rPr lang="fr-FR" sz="1100" b="1">
                          <a:effectLst/>
                        </a:rPr>
                        <a:t>% of total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83820" indent="-4445" algn="ctr">
                        <a:lnSpc>
                          <a:spcPct val="100000"/>
                        </a:lnSpc>
                        <a:spcAft>
                          <a:spcPts val="130"/>
                        </a:spcAft>
                      </a:pPr>
                      <a:r>
                        <a:rPr lang="fr-FR" sz="1100" b="1">
                          <a:effectLst/>
                        </a:rPr>
                        <a:t>% of total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indent="-4445" algn="ctr">
                        <a:lnSpc>
                          <a:spcPct val="100000"/>
                        </a:lnSpc>
                        <a:spcAft>
                          <a:spcPts val="130"/>
                        </a:spcAft>
                      </a:pPr>
                      <a:r>
                        <a:rPr lang="fr-FR" sz="1100" b="1">
                          <a:effectLst/>
                        </a:rPr>
                        <a:t>Bank assets,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23495" indent="-4445" algn="ctr">
                        <a:lnSpc>
                          <a:spcPct val="100000"/>
                        </a:lnSpc>
                        <a:spcAft>
                          <a:spcPts val="130"/>
                        </a:spcAft>
                      </a:pPr>
                      <a:r>
                        <a:rPr lang="fr-FR" sz="1100" b="1">
                          <a:effectLst/>
                        </a:rPr>
                        <a:t>Equity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1581398105"/>
                  </a:ext>
                </a:extLst>
              </a:tr>
              <a:tr h="222260">
                <a:tc>
                  <a:txBody>
                    <a:bodyPr/>
                    <a:lstStyle/>
                    <a:p>
                      <a:pPr marL="4445" indent="-4445" algn="ctr">
                        <a:lnSpc>
                          <a:spcPct val="100000"/>
                        </a:lnSpc>
                        <a:spcAft>
                          <a:spcPts val="800"/>
                        </a:spcAft>
                      </a:pPr>
                      <a:r>
                        <a:rPr lang="fr-FR" sz="1400" b="1">
                          <a:effectLst/>
                        </a:rPr>
                        <a:t>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05410" indent="-4445" algn="ctr">
                        <a:lnSpc>
                          <a:spcPct val="100000"/>
                        </a:lnSpc>
                        <a:spcAft>
                          <a:spcPts val="130"/>
                        </a:spcAft>
                      </a:pPr>
                      <a:r>
                        <a:rPr lang="fr-FR" sz="1100" b="1">
                          <a:effectLst/>
                        </a:rPr>
                        <a:t>GDP</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indent="-4445" algn="ctr">
                        <a:lnSpc>
                          <a:spcPct val="100000"/>
                        </a:lnSpc>
                        <a:spcAft>
                          <a:spcPts val="130"/>
                        </a:spcAft>
                      </a:pPr>
                      <a:r>
                        <a:rPr lang="fr-FR" sz="1100" b="1">
                          <a:effectLst/>
                        </a:rPr>
                        <a:t>bank assets</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4610" indent="-4445" algn="ctr">
                        <a:lnSpc>
                          <a:spcPct val="100000"/>
                        </a:lnSpc>
                        <a:spcAft>
                          <a:spcPts val="130"/>
                        </a:spcAft>
                      </a:pPr>
                      <a:r>
                        <a:rPr lang="fr-FR" sz="1100" b="1">
                          <a:effectLst/>
                        </a:rPr>
                        <a:t>equity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68580" indent="-4445" algn="ctr">
                        <a:lnSpc>
                          <a:spcPct val="100000"/>
                        </a:lnSpc>
                        <a:spcAft>
                          <a:spcPts val="130"/>
                        </a:spcAft>
                      </a:pPr>
                      <a:r>
                        <a:rPr lang="fr-FR" sz="1100" b="1">
                          <a:effectLst/>
                        </a:rPr>
                        <a:t>% of GDP</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indent="-4445" algn="ctr">
                        <a:lnSpc>
                          <a:spcPct val="100000"/>
                        </a:lnSpc>
                        <a:spcAft>
                          <a:spcPts val="130"/>
                        </a:spcAft>
                      </a:pPr>
                      <a:r>
                        <a:rPr lang="fr-FR" sz="1100" b="1">
                          <a:effectLst/>
                        </a:rPr>
                        <a:t>capitalization,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376168458"/>
                  </a:ext>
                </a:extLst>
              </a:tr>
              <a:tr h="222260">
                <a:tc>
                  <a:txBody>
                    <a:bodyPr/>
                    <a:lstStyle/>
                    <a:p>
                      <a:pPr marL="4445" indent="-4445" algn="ctr">
                        <a:lnSpc>
                          <a:spcPct val="100000"/>
                        </a:lnSpc>
                        <a:spcAft>
                          <a:spcPts val="800"/>
                        </a:spcAft>
                      </a:pPr>
                      <a:r>
                        <a:rPr lang="fr-FR" sz="1400" b="1">
                          <a:effectLst/>
                        </a:rPr>
                        <a:t>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indent="-4445" algn="ctr">
                        <a:lnSpc>
                          <a:spcPct val="100000"/>
                        </a:lnSpc>
                        <a:spcAft>
                          <a:spcPts val="800"/>
                        </a:spcAft>
                      </a:pPr>
                      <a:r>
                        <a:rPr lang="fr-FR" sz="1400" b="1" dirty="0">
                          <a:effectLst/>
                        </a:rPr>
                        <a:t> </a:t>
                      </a:r>
                      <a:endParaRPr lang="fr-FR" sz="14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indent="-4445" algn="ctr">
                        <a:lnSpc>
                          <a:spcPct val="100000"/>
                        </a:lnSpc>
                        <a:spcAft>
                          <a:spcPts val="800"/>
                        </a:spcAft>
                      </a:pPr>
                      <a:r>
                        <a:rPr lang="fr-FR" sz="1400" b="1">
                          <a:effectLst/>
                        </a:rPr>
                        <a:t>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indent="-4445" algn="ctr">
                        <a:lnSpc>
                          <a:spcPct val="100000"/>
                        </a:lnSpc>
                        <a:spcAft>
                          <a:spcPts val="130"/>
                        </a:spcAft>
                      </a:pPr>
                      <a:r>
                        <a:rPr lang="fr-FR" sz="1100" b="1">
                          <a:effectLst/>
                        </a:rPr>
                        <a:t>capitalization</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indent="-4445" algn="ctr">
                        <a:lnSpc>
                          <a:spcPct val="100000"/>
                        </a:lnSpc>
                        <a:spcAft>
                          <a:spcPts val="800"/>
                        </a:spcAft>
                      </a:pPr>
                      <a:r>
                        <a:rPr lang="fr-FR" sz="1400" b="1">
                          <a:effectLst/>
                        </a:rPr>
                        <a:t> </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84455" indent="-4445" algn="ctr">
                        <a:lnSpc>
                          <a:spcPct val="100000"/>
                        </a:lnSpc>
                        <a:spcAft>
                          <a:spcPts val="130"/>
                        </a:spcAft>
                      </a:pPr>
                      <a:r>
                        <a:rPr lang="fr-FR" sz="1100" b="1">
                          <a:effectLst/>
                        </a:rPr>
                        <a:t>% of GDP</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4152993523"/>
                  </a:ext>
                </a:extLst>
              </a:tr>
              <a:tr h="222260">
                <a:tc>
                  <a:txBody>
                    <a:bodyPr/>
                    <a:lstStyle/>
                    <a:p>
                      <a:pPr marL="4445" indent="-4445" algn="ctr">
                        <a:lnSpc>
                          <a:spcPct val="100000"/>
                        </a:lnSpc>
                        <a:spcAft>
                          <a:spcPts val="130"/>
                        </a:spcAft>
                      </a:pPr>
                      <a:r>
                        <a:rPr lang="fr-FR" sz="1200" b="1" dirty="0" err="1">
                          <a:effectLst/>
                        </a:rPr>
                        <a:t>Iceland</a:t>
                      </a:r>
                      <a:endParaRPr lang="fr-FR" sz="14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dirty="0">
                          <a:effectLst/>
                        </a:rPr>
                        <a:t>0.0</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0.0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a:effectLst/>
                        </a:rPr>
                        <a:t>0.1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12065" indent="-4445" algn="ctr">
                        <a:lnSpc>
                          <a:spcPct val="100000"/>
                        </a:lnSpc>
                        <a:spcAft>
                          <a:spcPts val="130"/>
                        </a:spcAft>
                      </a:pPr>
                      <a:r>
                        <a:rPr lang="fr-FR" sz="1400" b="1">
                          <a:effectLst/>
                        </a:rPr>
                        <a:t>62</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2070" indent="-4445" algn="ctr">
                        <a:lnSpc>
                          <a:spcPct val="100000"/>
                        </a:lnSpc>
                        <a:spcAft>
                          <a:spcPts val="130"/>
                        </a:spcAft>
                      </a:pPr>
                      <a:r>
                        <a:rPr lang="fr-FR" sz="1400" b="1">
                          <a:effectLst/>
                        </a:rPr>
                        <a:t>219</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3433988040"/>
                  </a:ext>
                </a:extLst>
              </a:tr>
              <a:tr h="222260">
                <a:tc>
                  <a:txBody>
                    <a:bodyPr/>
                    <a:lstStyle/>
                    <a:p>
                      <a:pPr marL="4445" indent="-4445" algn="ctr">
                        <a:lnSpc>
                          <a:spcPct val="100000"/>
                        </a:lnSpc>
                        <a:spcAft>
                          <a:spcPts val="130"/>
                        </a:spcAft>
                      </a:pPr>
                      <a:r>
                        <a:rPr lang="fr-FR" sz="1200" b="1">
                          <a:effectLst/>
                        </a:rPr>
                        <a:t>Luxembourg</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dirty="0">
                          <a:effectLst/>
                        </a:rPr>
                        <a:t>0.1</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dirty="0">
                          <a:effectLst/>
                        </a:rPr>
                        <a:t>1.9</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4610" indent="-4445" algn="ctr">
                        <a:lnSpc>
                          <a:spcPct val="100000"/>
                        </a:lnSpc>
                        <a:spcAft>
                          <a:spcPts val="130"/>
                        </a:spcAft>
                      </a:pPr>
                      <a:r>
                        <a:rPr lang="fr-FR" sz="1400" b="1">
                          <a:effectLst/>
                        </a:rPr>
                        <a:t>0.0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37160" indent="-4445" algn="ctr">
                        <a:lnSpc>
                          <a:spcPct val="100000"/>
                        </a:lnSpc>
                        <a:spcAft>
                          <a:spcPts val="130"/>
                        </a:spcAft>
                      </a:pPr>
                      <a:r>
                        <a:rPr lang="fr-FR" sz="1400" b="1">
                          <a:effectLst/>
                        </a:rPr>
                        <a:t>3461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080" indent="-4445" algn="ctr">
                        <a:lnSpc>
                          <a:spcPct val="100000"/>
                        </a:lnSpc>
                        <a:spcAft>
                          <a:spcPts val="130"/>
                        </a:spcAft>
                      </a:pPr>
                      <a:r>
                        <a:rPr lang="fr-FR" sz="1400" b="1">
                          <a:effectLst/>
                        </a:rPr>
                        <a:t>70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69252214"/>
                  </a:ext>
                </a:extLst>
              </a:tr>
              <a:tr h="222260">
                <a:tc>
                  <a:txBody>
                    <a:bodyPr/>
                    <a:lstStyle/>
                    <a:p>
                      <a:pPr marL="4445" indent="-4445" algn="ctr">
                        <a:lnSpc>
                          <a:spcPct val="100000"/>
                        </a:lnSpc>
                        <a:spcAft>
                          <a:spcPts val="130"/>
                        </a:spcAft>
                      </a:pPr>
                      <a:r>
                        <a:rPr lang="fr-FR" sz="1200" b="1" dirty="0">
                          <a:effectLst/>
                        </a:rPr>
                        <a:t>New </a:t>
                      </a:r>
                      <a:r>
                        <a:rPr lang="fr-FR" sz="1200" b="1" dirty="0" err="1">
                          <a:effectLst/>
                        </a:rPr>
                        <a:t>Zealand</a:t>
                      </a:r>
                      <a:endParaRPr lang="fr-FR" sz="14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dirty="0">
                          <a:effectLst/>
                        </a:rPr>
                        <a:t>0.2</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dirty="0">
                          <a:effectLst/>
                        </a:rPr>
                        <a:t>0.2</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4610" indent="-4445" algn="ctr">
                        <a:lnSpc>
                          <a:spcPct val="100000"/>
                        </a:lnSpc>
                        <a:spcAft>
                          <a:spcPts val="130"/>
                        </a:spcAft>
                      </a:pPr>
                      <a:r>
                        <a:rPr lang="fr-FR" sz="1400" b="1">
                          <a:effectLst/>
                        </a:rPr>
                        <a:t>0.1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125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080" indent="-4445" algn="ctr">
                        <a:lnSpc>
                          <a:spcPct val="100000"/>
                        </a:lnSpc>
                        <a:spcAft>
                          <a:spcPts val="130"/>
                        </a:spcAft>
                      </a:pPr>
                      <a:r>
                        <a:rPr lang="fr-FR" sz="1400" b="1">
                          <a:effectLst/>
                        </a:rPr>
                        <a:t>55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651099737"/>
                  </a:ext>
                </a:extLst>
              </a:tr>
              <a:tr h="222260">
                <a:tc>
                  <a:txBody>
                    <a:bodyPr/>
                    <a:lstStyle/>
                    <a:p>
                      <a:pPr marL="4445" indent="-4445" algn="ctr">
                        <a:lnSpc>
                          <a:spcPct val="100000"/>
                        </a:lnSpc>
                        <a:spcAft>
                          <a:spcPts val="130"/>
                        </a:spcAft>
                      </a:pPr>
                      <a:r>
                        <a:rPr lang="fr-FR" sz="1200" b="1">
                          <a:effectLst/>
                        </a:rPr>
                        <a:t>Ireland</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dirty="0">
                          <a:effectLst/>
                        </a:rPr>
                        <a:t>0.4</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dirty="0">
                          <a:effectLst/>
                        </a:rPr>
                        <a:t>0.5</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a:effectLst/>
                        </a:rPr>
                        <a:t>0.2</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241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715" indent="-4445" algn="ctr">
                        <a:lnSpc>
                          <a:spcPct val="100000"/>
                        </a:lnSpc>
                        <a:spcAft>
                          <a:spcPts val="130"/>
                        </a:spcAft>
                      </a:pPr>
                      <a:r>
                        <a:rPr lang="fr-FR" sz="1400" b="1">
                          <a:effectLst/>
                        </a:rPr>
                        <a:t>59</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882361235"/>
                  </a:ext>
                </a:extLst>
              </a:tr>
              <a:tr h="222260">
                <a:tc>
                  <a:txBody>
                    <a:bodyPr/>
                    <a:lstStyle/>
                    <a:p>
                      <a:pPr marL="4445" indent="-4445" algn="ctr">
                        <a:lnSpc>
                          <a:spcPct val="100000"/>
                        </a:lnSpc>
                        <a:spcAft>
                          <a:spcPts val="130"/>
                        </a:spcAft>
                      </a:pPr>
                      <a:r>
                        <a:rPr lang="fr-FR" sz="1200" b="1">
                          <a:effectLst/>
                        </a:rPr>
                        <a:t>Portugal</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dirty="0">
                          <a:effectLst/>
                        </a:rPr>
                        <a:t>0.5</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0.7</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4610" indent="-4445" algn="ctr">
                        <a:lnSpc>
                          <a:spcPct val="100000"/>
                        </a:lnSpc>
                        <a:spcAft>
                          <a:spcPts val="130"/>
                        </a:spcAft>
                      </a:pPr>
                      <a:r>
                        <a:rPr lang="fr-FR" sz="1400" b="1" dirty="0">
                          <a:effectLst/>
                        </a:rPr>
                        <a:t>0.2</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218</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080" indent="-4445" algn="ctr">
                        <a:lnSpc>
                          <a:spcPct val="100000"/>
                        </a:lnSpc>
                        <a:spcAft>
                          <a:spcPts val="130"/>
                        </a:spcAft>
                      </a:pPr>
                      <a:r>
                        <a:rPr lang="fr-FR" sz="1400" b="1">
                          <a:effectLst/>
                        </a:rPr>
                        <a:t>60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3103402858"/>
                  </a:ext>
                </a:extLst>
              </a:tr>
              <a:tr h="222260">
                <a:tc>
                  <a:txBody>
                    <a:bodyPr/>
                    <a:lstStyle/>
                    <a:p>
                      <a:pPr marL="4445" indent="-4445" algn="ctr">
                        <a:lnSpc>
                          <a:spcPct val="100000"/>
                        </a:lnSpc>
                        <a:spcAft>
                          <a:spcPts val="130"/>
                        </a:spcAft>
                      </a:pPr>
                      <a:r>
                        <a:rPr lang="fr-FR" sz="1200" b="1">
                          <a:effectLst/>
                        </a:rPr>
                        <a:t>Greece</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0.5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dirty="0">
                          <a:effectLst/>
                        </a:rPr>
                        <a:t>0.2</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dirty="0">
                          <a:effectLst/>
                        </a:rPr>
                        <a:t>0.7</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12065" indent="-4445" algn="ctr">
                        <a:lnSpc>
                          <a:spcPct val="100000"/>
                        </a:lnSpc>
                        <a:spcAft>
                          <a:spcPts val="130"/>
                        </a:spcAft>
                      </a:pPr>
                      <a:r>
                        <a:rPr lang="fr-FR" sz="1400" b="1" dirty="0">
                          <a:effectLst/>
                        </a:rPr>
                        <a:t>    66</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2070" indent="-4445" algn="ctr">
                        <a:lnSpc>
                          <a:spcPct val="100000"/>
                        </a:lnSpc>
                        <a:spcAft>
                          <a:spcPts val="130"/>
                        </a:spcAft>
                      </a:pPr>
                      <a:r>
                        <a:rPr lang="fr-FR" sz="1400" b="1">
                          <a:effectLst/>
                        </a:rPr>
                        <a:t>163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4053372938"/>
                  </a:ext>
                </a:extLst>
              </a:tr>
              <a:tr h="222260">
                <a:tc>
                  <a:txBody>
                    <a:bodyPr/>
                    <a:lstStyle/>
                    <a:p>
                      <a:pPr marL="4445" indent="-4445" algn="ctr">
                        <a:lnSpc>
                          <a:spcPct val="100000"/>
                        </a:lnSpc>
                        <a:spcAft>
                          <a:spcPts val="130"/>
                        </a:spcAft>
                      </a:pPr>
                      <a:r>
                        <a:rPr lang="fr-FR" sz="1200" b="1">
                          <a:effectLst/>
                        </a:rPr>
                        <a:t>Finland</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0.6</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0.4</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dirty="0">
                          <a:effectLst/>
                        </a:rPr>
                        <a:t>1.5</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102</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2070" indent="-4445" algn="ctr">
                        <a:lnSpc>
                          <a:spcPct val="100000"/>
                        </a:lnSpc>
                        <a:spcAft>
                          <a:spcPts val="130"/>
                        </a:spcAft>
                      </a:pPr>
                      <a:r>
                        <a:rPr lang="fr-FR" sz="1400" b="1">
                          <a:effectLst/>
                        </a:rPr>
                        <a:t>367</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368764745"/>
                  </a:ext>
                </a:extLst>
              </a:tr>
              <a:tr h="222260">
                <a:tc>
                  <a:txBody>
                    <a:bodyPr/>
                    <a:lstStyle/>
                    <a:p>
                      <a:pPr marL="4445" indent="-4445" algn="ctr">
                        <a:lnSpc>
                          <a:spcPct val="100000"/>
                        </a:lnSpc>
                        <a:spcAft>
                          <a:spcPts val="130"/>
                        </a:spcAft>
                      </a:pPr>
                      <a:r>
                        <a:rPr lang="fr-FR" sz="1200" b="1">
                          <a:effectLst/>
                        </a:rPr>
                        <a:t>Norway</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0.7</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0.4</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dirty="0">
                          <a:effectLst/>
                        </a:rPr>
                        <a:t>0.2</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12065" indent="-4445" algn="ctr">
                        <a:lnSpc>
                          <a:spcPct val="100000"/>
                        </a:lnSpc>
                        <a:spcAft>
                          <a:spcPts val="130"/>
                        </a:spcAft>
                      </a:pPr>
                      <a:r>
                        <a:rPr lang="fr-FR" sz="1400" b="1" dirty="0">
                          <a:effectLst/>
                        </a:rPr>
                        <a:t>     88</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715" indent="-4445" algn="ctr">
                        <a:lnSpc>
                          <a:spcPct val="100000"/>
                        </a:lnSpc>
                        <a:spcAft>
                          <a:spcPts val="130"/>
                        </a:spcAft>
                      </a:pPr>
                      <a:r>
                        <a:rPr lang="fr-FR" sz="1400" b="1">
                          <a:effectLst/>
                        </a:rPr>
                        <a:t>41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121674993"/>
                  </a:ext>
                </a:extLst>
              </a:tr>
              <a:tr h="222260">
                <a:tc>
                  <a:txBody>
                    <a:bodyPr/>
                    <a:lstStyle/>
                    <a:p>
                      <a:pPr marL="4445" indent="-4445" algn="ctr">
                        <a:lnSpc>
                          <a:spcPct val="100000"/>
                        </a:lnSpc>
                        <a:spcAft>
                          <a:spcPts val="130"/>
                        </a:spcAft>
                      </a:pPr>
                      <a:r>
                        <a:rPr lang="fr-FR" sz="1200" b="1">
                          <a:effectLst/>
                        </a:rPr>
                        <a:t>Denmark</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0.8</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0.6</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a:effectLst/>
                        </a:rPr>
                        <a:t>0.3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108</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715" indent="-4445" algn="ctr">
                        <a:lnSpc>
                          <a:spcPct val="100000"/>
                        </a:lnSpc>
                        <a:spcAft>
                          <a:spcPts val="130"/>
                        </a:spcAft>
                      </a:pPr>
                      <a:r>
                        <a:rPr lang="fr-FR" sz="1400" b="1">
                          <a:effectLst/>
                        </a:rPr>
                        <a:t>63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764005690"/>
                  </a:ext>
                </a:extLst>
              </a:tr>
              <a:tr h="222260">
                <a:tc>
                  <a:txBody>
                    <a:bodyPr/>
                    <a:lstStyle/>
                    <a:p>
                      <a:pPr marL="4445" indent="-4445" algn="ctr">
                        <a:lnSpc>
                          <a:spcPct val="100000"/>
                        </a:lnSpc>
                        <a:spcAft>
                          <a:spcPts val="130"/>
                        </a:spcAft>
                      </a:pPr>
                      <a:r>
                        <a:rPr lang="fr-FR" sz="1200" b="1">
                          <a:effectLst/>
                        </a:rPr>
                        <a:t>Austria</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0.9</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1.6</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4610" indent="-4445" algn="ctr">
                        <a:lnSpc>
                          <a:spcPct val="100000"/>
                        </a:lnSpc>
                        <a:spcAft>
                          <a:spcPts val="130"/>
                        </a:spcAft>
                      </a:pPr>
                      <a:r>
                        <a:rPr lang="fr-FR" sz="1400" b="1">
                          <a:effectLst/>
                        </a:rPr>
                        <a:t>0.1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234</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080" indent="-4445" algn="ctr">
                        <a:lnSpc>
                          <a:spcPct val="100000"/>
                        </a:lnSpc>
                        <a:spcAft>
                          <a:spcPts val="130"/>
                        </a:spcAft>
                      </a:pPr>
                      <a:r>
                        <a:rPr lang="fr-FR" sz="1400" b="1">
                          <a:effectLst/>
                        </a:rPr>
                        <a:t>13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886827983"/>
                  </a:ext>
                </a:extLst>
              </a:tr>
              <a:tr h="222260">
                <a:tc>
                  <a:txBody>
                    <a:bodyPr/>
                    <a:lstStyle/>
                    <a:p>
                      <a:pPr marL="4445" indent="-4445" algn="ctr">
                        <a:lnSpc>
                          <a:spcPct val="100000"/>
                        </a:lnSpc>
                        <a:spcAft>
                          <a:spcPts val="130"/>
                        </a:spcAft>
                      </a:pPr>
                      <a:r>
                        <a:rPr lang="fr-FR" sz="1200" b="1">
                          <a:effectLst/>
                        </a:rPr>
                        <a:t>Sweden</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1.0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0.8</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a:effectLst/>
                        </a:rPr>
                        <a:t>1.2</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109</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2070" indent="-4445" algn="ctr">
                        <a:lnSpc>
                          <a:spcPct val="100000"/>
                        </a:lnSpc>
                        <a:spcAft>
                          <a:spcPts val="130"/>
                        </a:spcAft>
                      </a:pPr>
                      <a:r>
                        <a:rPr lang="fr-FR" sz="1400" b="1" dirty="0">
                          <a:effectLst/>
                        </a:rPr>
                        <a:t>159</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481743575"/>
                  </a:ext>
                </a:extLst>
              </a:tr>
              <a:tr h="222260">
                <a:tc>
                  <a:txBody>
                    <a:bodyPr/>
                    <a:lstStyle/>
                    <a:p>
                      <a:pPr marL="4445" indent="-4445" algn="ctr">
                        <a:lnSpc>
                          <a:spcPct val="100000"/>
                        </a:lnSpc>
                        <a:spcAft>
                          <a:spcPts val="130"/>
                        </a:spcAft>
                      </a:pPr>
                      <a:r>
                        <a:rPr lang="fr-FR" sz="1200" b="1" dirty="0" err="1">
                          <a:effectLst/>
                        </a:rPr>
                        <a:t>Belgium</a:t>
                      </a:r>
                      <a:endParaRPr lang="fr-FR" sz="14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1.1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2.3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a:effectLst/>
                        </a:rPr>
                        <a:t>0.3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294</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715" indent="-4445" algn="ctr">
                        <a:lnSpc>
                          <a:spcPct val="100000"/>
                        </a:lnSpc>
                        <a:spcAft>
                          <a:spcPts val="130"/>
                        </a:spcAft>
                      </a:pPr>
                      <a:r>
                        <a:rPr lang="fr-FR" sz="1400" b="1" dirty="0">
                          <a:effectLst/>
                        </a:rPr>
                        <a:t>41</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567430804"/>
                  </a:ext>
                </a:extLst>
              </a:tr>
              <a:tr h="222260">
                <a:tc>
                  <a:txBody>
                    <a:bodyPr/>
                    <a:lstStyle/>
                    <a:p>
                      <a:pPr marL="4445" indent="-4445" algn="ctr">
                        <a:lnSpc>
                          <a:spcPct val="100000"/>
                        </a:lnSpc>
                        <a:spcAft>
                          <a:spcPts val="130"/>
                        </a:spcAft>
                      </a:pPr>
                      <a:r>
                        <a:rPr lang="fr-FR" sz="1200" b="1">
                          <a:effectLst/>
                        </a:rPr>
                        <a:t>Switzerland</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1.1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3.5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4610" indent="-4445" algn="ctr">
                        <a:lnSpc>
                          <a:spcPct val="100000"/>
                        </a:lnSpc>
                        <a:spcAft>
                          <a:spcPts val="130"/>
                        </a:spcAft>
                      </a:pPr>
                      <a:r>
                        <a:rPr lang="fr-FR" sz="1400" b="1" dirty="0">
                          <a:effectLst/>
                        </a:rPr>
                        <a:t>2.2</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433</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2070" indent="-4445" algn="ctr">
                        <a:lnSpc>
                          <a:spcPct val="100000"/>
                        </a:lnSpc>
                        <a:spcAft>
                          <a:spcPts val="130"/>
                        </a:spcAft>
                      </a:pPr>
                      <a:r>
                        <a:rPr lang="fr-FR" sz="1400" b="1" dirty="0">
                          <a:effectLst/>
                        </a:rPr>
                        <a:t>257</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966100942"/>
                  </a:ext>
                </a:extLst>
              </a:tr>
              <a:tr h="222260">
                <a:tc>
                  <a:txBody>
                    <a:bodyPr/>
                    <a:lstStyle/>
                    <a:p>
                      <a:pPr marL="4445" indent="-4445" algn="ctr">
                        <a:lnSpc>
                          <a:spcPct val="100000"/>
                        </a:lnSpc>
                        <a:spcAft>
                          <a:spcPts val="130"/>
                        </a:spcAft>
                      </a:pPr>
                      <a:r>
                        <a:rPr lang="fr-FR" sz="1200" b="1">
                          <a:effectLst/>
                        </a:rPr>
                        <a:t>The Netherlands</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875" indent="-4445" algn="ctr">
                        <a:lnSpc>
                          <a:spcPct val="100000"/>
                        </a:lnSpc>
                        <a:spcAft>
                          <a:spcPts val="130"/>
                        </a:spcAft>
                      </a:pPr>
                      <a:r>
                        <a:rPr lang="fr-FR" sz="1400" b="1">
                          <a:effectLst/>
                        </a:rPr>
                        <a:t>1.7</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3.1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a:effectLst/>
                        </a:rPr>
                        <a:t>2.5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267</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1435" indent="-4445" algn="ctr">
                        <a:lnSpc>
                          <a:spcPct val="100000"/>
                        </a:lnSpc>
                        <a:spcAft>
                          <a:spcPts val="130"/>
                        </a:spcAft>
                      </a:pPr>
                      <a:r>
                        <a:rPr lang="fr-FR" sz="1400" b="1" dirty="0">
                          <a:effectLst/>
                        </a:rPr>
                        <a:t>196</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426631326"/>
                  </a:ext>
                </a:extLst>
              </a:tr>
              <a:tr h="222260">
                <a:tc>
                  <a:txBody>
                    <a:bodyPr/>
                    <a:lstStyle/>
                    <a:p>
                      <a:pPr marL="4445" indent="-4445" algn="ctr">
                        <a:lnSpc>
                          <a:spcPct val="100000"/>
                        </a:lnSpc>
                        <a:spcAft>
                          <a:spcPts val="130"/>
                        </a:spcAft>
                      </a:pPr>
                      <a:r>
                        <a:rPr lang="fr-FR" sz="1200" b="1">
                          <a:effectLst/>
                        </a:rPr>
                        <a:t>Australia</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1.7</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1.3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4610" indent="-4445" algn="ctr">
                        <a:lnSpc>
                          <a:spcPct val="100000"/>
                        </a:lnSpc>
                        <a:spcAft>
                          <a:spcPts val="130"/>
                        </a:spcAft>
                      </a:pPr>
                      <a:r>
                        <a:rPr lang="fr-FR" sz="1400" b="1">
                          <a:effectLst/>
                        </a:rPr>
                        <a:t>1.3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111</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2070" indent="-4445" algn="ctr">
                        <a:lnSpc>
                          <a:spcPct val="100000"/>
                        </a:lnSpc>
                        <a:spcAft>
                          <a:spcPts val="130"/>
                        </a:spcAft>
                      </a:pPr>
                      <a:r>
                        <a:rPr lang="fr-FR" sz="1400" b="1" dirty="0">
                          <a:effectLst/>
                        </a:rPr>
                        <a:t>106</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956593566"/>
                  </a:ext>
                </a:extLst>
              </a:tr>
              <a:tr h="222260">
                <a:tc>
                  <a:txBody>
                    <a:bodyPr/>
                    <a:lstStyle/>
                    <a:p>
                      <a:pPr marL="4445" indent="-4445" algn="ctr">
                        <a:lnSpc>
                          <a:spcPct val="100000"/>
                        </a:lnSpc>
                        <a:spcAft>
                          <a:spcPts val="130"/>
                        </a:spcAft>
                      </a:pPr>
                      <a:r>
                        <a:rPr lang="fr-FR" sz="1200" b="1">
                          <a:effectLst/>
                        </a:rPr>
                        <a:t>Spain</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2.5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3.0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a:effectLst/>
                        </a:rPr>
                        <a:t>1.2</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160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715" indent="-4445" algn="ctr">
                        <a:lnSpc>
                          <a:spcPct val="100000"/>
                        </a:lnSpc>
                        <a:spcAft>
                          <a:spcPts val="130"/>
                        </a:spcAft>
                      </a:pPr>
                      <a:r>
                        <a:rPr lang="fr-FR" sz="1400" b="1" dirty="0">
                          <a:effectLst/>
                        </a:rPr>
                        <a:t>61</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1161425873"/>
                  </a:ext>
                </a:extLst>
              </a:tr>
              <a:tr h="222260">
                <a:tc>
                  <a:txBody>
                    <a:bodyPr/>
                    <a:lstStyle/>
                    <a:p>
                      <a:pPr marL="4445" indent="-4445" algn="ctr">
                        <a:lnSpc>
                          <a:spcPct val="100000"/>
                        </a:lnSpc>
                        <a:spcAft>
                          <a:spcPts val="130"/>
                        </a:spcAft>
                      </a:pPr>
                      <a:r>
                        <a:rPr lang="fr-FR" sz="1200" b="1">
                          <a:effectLst/>
                        </a:rPr>
                        <a:t>Canada</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2.7</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2.0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4610" indent="-4445" algn="ctr">
                        <a:lnSpc>
                          <a:spcPct val="100000"/>
                        </a:lnSpc>
                        <a:spcAft>
                          <a:spcPts val="130"/>
                        </a:spcAft>
                      </a:pPr>
                      <a:r>
                        <a:rPr lang="fr-FR" sz="1400" b="1">
                          <a:effectLst/>
                        </a:rPr>
                        <a:t>2.5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114</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2070" indent="-4445" algn="ctr">
                        <a:lnSpc>
                          <a:spcPct val="100000"/>
                        </a:lnSpc>
                        <a:spcAft>
                          <a:spcPts val="130"/>
                        </a:spcAft>
                      </a:pPr>
                      <a:r>
                        <a:rPr lang="fr-FR" sz="1400" b="1" dirty="0">
                          <a:effectLst/>
                        </a:rPr>
                        <a:t>121</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3605739758"/>
                  </a:ext>
                </a:extLst>
              </a:tr>
              <a:tr h="222260">
                <a:tc>
                  <a:txBody>
                    <a:bodyPr/>
                    <a:lstStyle/>
                    <a:p>
                      <a:pPr marL="4445" indent="-4445" algn="ctr">
                        <a:lnSpc>
                          <a:spcPct val="100000"/>
                        </a:lnSpc>
                        <a:spcAft>
                          <a:spcPts val="130"/>
                        </a:spcAft>
                      </a:pPr>
                      <a:r>
                        <a:rPr lang="fr-FR" sz="1200" b="1">
                          <a:effectLst/>
                        </a:rPr>
                        <a:t>Italy</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5.2</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5.0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a:effectLst/>
                        </a:rPr>
                        <a:t>1.9</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134</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715" indent="-4445" algn="ctr">
                        <a:lnSpc>
                          <a:spcPct val="100000"/>
                        </a:lnSpc>
                        <a:spcAft>
                          <a:spcPts val="130"/>
                        </a:spcAft>
                      </a:pPr>
                      <a:r>
                        <a:rPr lang="fr-FR" sz="1400" b="1" dirty="0">
                          <a:effectLst/>
                        </a:rPr>
                        <a:t>51</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3543072438"/>
                  </a:ext>
                </a:extLst>
              </a:tr>
              <a:tr h="222260">
                <a:tc>
                  <a:txBody>
                    <a:bodyPr/>
                    <a:lstStyle/>
                    <a:p>
                      <a:pPr marL="4445" indent="-4445" algn="ctr">
                        <a:lnSpc>
                          <a:spcPct val="100000"/>
                        </a:lnSpc>
                        <a:spcAft>
                          <a:spcPts val="130"/>
                        </a:spcAft>
                      </a:pPr>
                      <a:r>
                        <a:rPr lang="fr-FR" sz="1200" b="1">
                          <a:effectLst/>
                        </a:rPr>
                        <a:t>United Kingdom</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875" indent="-4445" algn="ctr">
                        <a:lnSpc>
                          <a:spcPct val="100000"/>
                        </a:lnSpc>
                        <a:spcAft>
                          <a:spcPts val="130"/>
                        </a:spcAft>
                      </a:pPr>
                      <a:r>
                        <a:rPr lang="fr-FR" sz="1400" b="1">
                          <a:effectLst/>
                        </a:rPr>
                        <a:t>6.1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206375" indent="-4445" algn="ctr">
                        <a:lnSpc>
                          <a:spcPct val="100000"/>
                        </a:lnSpc>
                        <a:spcAft>
                          <a:spcPts val="130"/>
                        </a:spcAft>
                      </a:pPr>
                      <a:r>
                        <a:rPr lang="fr-FR" sz="1400" b="1">
                          <a:effectLst/>
                        </a:rPr>
                        <a:t>7.9</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a:effectLst/>
                        </a:rPr>
                        <a:t>9.4</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223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2070" indent="-4445" algn="ctr">
                        <a:lnSpc>
                          <a:spcPct val="100000"/>
                        </a:lnSpc>
                        <a:spcAft>
                          <a:spcPts val="130"/>
                        </a:spcAft>
                      </a:pPr>
                      <a:r>
                        <a:rPr lang="fr-FR" sz="1400" b="1" dirty="0">
                          <a:effectLst/>
                        </a:rPr>
                        <a:t>201</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3465607247"/>
                  </a:ext>
                </a:extLst>
              </a:tr>
              <a:tr h="222260">
                <a:tc>
                  <a:txBody>
                    <a:bodyPr/>
                    <a:lstStyle/>
                    <a:p>
                      <a:pPr marL="4445" indent="-4445" algn="ctr">
                        <a:lnSpc>
                          <a:spcPct val="100000"/>
                        </a:lnSpc>
                        <a:spcAft>
                          <a:spcPts val="130"/>
                        </a:spcAft>
                      </a:pPr>
                      <a:r>
                        <a:rPr lang="fr-FR" sz="1200" b="1">
                          <a:effectLst/>
                        </a:rPr>
                        <a:t>France</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6.3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8590" indent="-4445" algn="ctr">
                        <a:lnSpc>
                          <a:spcPct val="100000"/>
                        </a:lnSpc>
                        <a:spcAft>
                          <a:spcPts val="130"/>
                        </a:spcAft>
                      </a:pPr>
                      <a:r>
                        <a:rPr lang="fr-FR" sz="1400" b="1">
                          <a:effectLst/>
                        </a:rPr>
                        <a:t>12.2</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dirty="0">
                          <a:effectLst/>
                        </a:rPr>
                        <a:t> 5.0</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270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1435" indent="-4445" algn="ctr">
                        <a:lnSpc>
                          <a:spcPct val="100000"/>
                        </a:lnSpc>
                        <a:spcAft>
                          <a:spcPts val="130"/>
                        </a:spcAft>
                      </a:pPr>
                      <a:r>
                        <a:rPr lang="fr-FR" sz="1400" b="1" dirty="0">
                          <a:effectLst/>
                        </a:rPr>
                        <a:t>108</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758608313"/>
                  </a:ext>
                </a:extLst>
              </a:tr>
              <a:tr h="222260">
                <a:tc>
                  <a:txBody>
                    <a:bodyPr/>
                    <a:lstStyle/>
                    <a:p>
                      <a:pPr marL="4445" indent="-4445" algn="ctr">
                        <a:lnSpc>
                          <a:spcPct val="100000"/>
                        </a:lnSpc>
                        <a:spcAft>
                          <a:spcPts val="130"/>
                        </a:spcAft>
                      </a:pPr>
                      <a:r>
                        <a:rPr lang="fr-FR" sz="1200" b="1">
                          <a:effectLst/>
                        </a:rPr>
                        <a:t>Germany</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2240" indent="-4445" algn="ctr">
                        <a:lnSpc>
                          <a:spcPct val="100000"/>
                        </a:lnSpc>
                        <a:spcAft>
                          <a:spcPts val="130"/>
                        </a:spcAft>
                      </a:pPr>
                      <a:r>
                        <a:rPr lang="fr-FR" sz="1400" b="1">
                          <a:effectLst/>
                        </a:rPr>
                        <a:t>9.3</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8590" indent="-4445" algn="ctr">
                        <a:lnSpc>
                          <a:spcPct val="100000"/>
                        </a:lnSpc>
                        <a:spcAft>
                          <a:spcPts val="130"/>
                        </a:spcAft>
                      </a:pPr>
                      <a:r>
                        <a:rPr lang="fr-FR" sz="1400" b="1">
                          <a:effectLst/>
                        </a:rPr>
                        <a:t>13.8</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3975" indent="-4445" algn="ctr">
                        <a:lnSpc>
                          <a:spcPct val="100000"/>
                        </a:lnSpc>
                        <a:spcAft>
                          <a:spcPts val="130"/>
                        </a:spcAft>
                      </a:pPr>
                      <a:r>
                        <a:rPr lang="fr-FR" sz="1400" b="1" dirty="0">
                          <a:effectLst/>
                        </a:rPr>
                        <a:t>    4.0</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205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5715" indent="-4445" algn="ctr">
                        <a:lnSpc>
                          <a:spcPct val="100000"/>
                        </a:lnSpc>
                        <a:spcAft>
                          <a:spcPts val="130"/>
                        </a:spcAft>
                      </a:pPr>
                      <a:r>
                        <a:rPr lang="fr-FR" sz="1400" b="1" dirty="0">
                          <a:effectLst/>
                        </a:rPr>
                        <a:t>58</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704848346"/>
                  </a:ext>
                </a:extLst>
              </a:tr>
              <a:tr h="222260">
                <a:tc>
                  <a:txBody>
                    <a:bodyPr/>
                    <a:lstStyle/>
                    <a:p>
                      <a:pPr marL="4445" indent="-4445" algn="ctr">
                        <a:lnSpc>
                          <a:spcPct val="100000"/>
                        </a:lnSpc>
                        <a:spcAft>
                          <a:spcPts val="130"/>
                        </a:spcAft>
                      </a:pPr>
                      <a:r>
                        <a:rPr lang="fr-FR" sz="1200" b="1">
                          <a:effectLst/>
                        </a:rPr>
                        <a:t>Japan</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85090" indent="-4445" algn="ctr">
                        <a:lnSpc>
                          <a:spcPct val="100000"/>
                        </a:lnSpc>
                        <a:spcAft>
                          <a:spcPts val="130"/>
                        </a:spcAft>
                      </a:pPr>
                      <a:r>
                        <a:rPr lang="fr-FR" sz="1400" b="1">
                          <a:effectLst/>
                        </a:rPr>
                        <a:t>18.1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9225" indent="-4445" algn="ctr">
                        <a:lnSpc>
                          <a:spcPct val="100000"/>
                        </a:lnSpc>
                        <a:spcAft>
                          <a:spcPts val="130"/>
                        </a:spcAft>
                      </a:pPr>
                      <a:r>
                        <a:rPr lang="fr-FR" sz="1400" b="1">
                          <a:effectLst/>
                        </a:rPr>
                        <a:t>20.9</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69545" indent="-4445" algn="ctr">
                        <a:lnSpc>
                          <a:spcPct val="100000"/>
                        </a:lnSpc>
                        <a:spcAft>
                          <a:spcPts val="130"/>
                        </a:spcAft>
                      </a:pPr>
                      <a:r>
                        <a:rPr lang="fr-FR" sz="1400" b="1" dirty="0">
                          <a:effectLst/>
                        </a:rPr>
                        <a:t>15.2</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137</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1435" indent="-4445" algn="ctr">
                        <a:lnSpc>
                          <a:spcPct val="100000"/>
                        </a:lnSpc>
                        <a:spcAft>
                          <a:spcPts val="130"/>
                        </a:spcAft>
                      </a:pPr>
                      <a:r>
                        <a:rPr lang="fr-FR" sz="1400" b="1" dirty="0">
                          <a:effectLst/>
                        </a:rPr>
                        <a:t>108</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2381011420"/>
                  </a:ext>
                </a:extLst>
              </a:tr>
              <a:tr h="172756">
                <a:tc>
                  <a:txBody>
                    <a:bodyPr/>
                    <a:lstStyle/>
                    <a:p>
                      <a:pPr marL="4445" indent="-4445" algn="ctr">
                        <a:lnSpc>
                          <a:spcPct val="100000"/>
                        </a:lnSpc>
                        <a:spcAft>
                          <a:spcPts val="130"/>
                        </a:spcAft>
                      </a:pPr>
                      <a:r>
                        <a:rPr lang="fr-FR" sz="1200" b="1">
                          <a:effectLst/>
                        </a:rPr>
                        <a:t>United States</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85090" indent="-4445" algn="ctr">
                        <a:lnSpc>
                          <a:spcPct val="100000"/>
                        </a:lnSpc>
                        <a:spcAft>
                          <a:spcPts val="130"/>
                        </a:spcAft>
                      </a:pPr>
                      <a:r>
                        <a:rPr lang="fr-FR" sz="1400" b="1">
                          <a:effectLst/>
                        </a:rPr>
                        <a:t>38.5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9225" indent="-4445" algn="ctr">
                        <a:lnSpc>
                          <a:spcPct val="100000"/>
                        </a:lnSpc>
                        <a:spcAft>
                          <a:spcPts val="130"/>
                        </a:spcAft>
                      </a:pPr>
                      <a:r>
                        <a:rPr lang="fr-FR" sz="1400" b="1">
                          <a:effectLst/>
                        </a:rPr>
                        <a:t>17.5</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68910" indent="-4445" algn="ctr">
                        <a:lnSpc>
                          <a:spcPct val="100000"/>
                        </a:lnSpc>
                        <a:spcAft>
                          <a:spcPts val="130"/>
                        </a:spcAft>
                      </a:pPr>
                      <a:r>
                        <a:rPr lang="fr-FR" sz="1400" b="1" dirty="0">
                          <a:effectLst/>
                        </a:rPr>
                        <a:t>49.8</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11430" indent="-4445" algn="ctr">
                        <a:lnSpc>
                          <a:spcPct val="100000"/>
                        </a:lnSpc>
                        <a:spcAft>
                          <a:spcPts val="130"/>
                        </a:spcAft>
                      </a:pPr>
                      <a:r>
                        <a:rPr lang="fr-FR" sz="1400" b="1" dirty="0">
                          <a:effectLst/>
                        </a:rPr>
                        <a:t>     70</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1435" indent="-4445" algn="ctr">
                        <a:lnSpc>
                          <a:spcPct val="100000"/>
                        </a:lnSpc>
                        <a:spcAft>
                          <a:spcPts val="130"/>
                        </a:spcAft>
                      </a:pPr>
                      <a:r>
                        <a:rPr lang="fr-FR" sz="1400" b="1" dirty="0">
                          <a:effectLst/>
                        </a:rPr>
                        <a:t>166</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1685762312"/>
                  </a:ext>
                </a:extLst>
              </a:tr>
              <a:tr h="249011">
                <a:tc>
                  <a:txBody>
                    <a:bodyPr/>
                    <a:lstStyle/>
                    <a:p>
                      <a:pPr marL="4445" indent="-4445" algn="ctr">
                        <a:lnSpc>
                          <a:spcPct val="100000"/>
                        </a:lnSpc>
                        <a:spcAft>
                          <a:spcPts val="130"/>
                        </a:spcAft>
                      </a:pPr>
                      <a:r>
                        <a:rPr lang="fr-FR" sz="1200" b="1">
                          <a:effectLst/>
                        </a:rPr>
                        <a:t>Total</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nchor="b"/>
                </a:tc>
                <a:tc>
                  <a:txBody>
                    <a:bodyPr/>
                    <a:lstStyle/>
                    <a:p>
                      <a:pPr marL="27940" indent="-4445" algn="ctr">
                        <a:lnSpc>
                          <a:spcPct val="100000"/>
                        </a:lnSpc>
                        <a:spcAft>
                          <a:spcPts val="130"/>
                        </a:spcAft>
                      </a:pPr>
                      <a:r>
                        <a:rPr lang="fr-FR" sz="1400" b="1">
                          <a:effectLst/>
                        </a:rPr>
                        <a:t>100.0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nchor="b"/>
                </a:tc>
                <a:tc>
                  <a:txBody>
                    <a:bodyPr/>
                    <a:lstStyle/>
                    <a:p>
                      <a:pPr marL="91440" indent="-4445" algn="ctr">
                        <a:lnSpc>
                          <a:spcPct val="100000"/>
                        </a:lnSpc>
                        <a:spcAft>
                          <a:spcPts val="130"/>
                        </a:spcAft>
                      </a:pPr>
                      <a:r>
                        <a:rPr lang="fr-FR" sz="1400" b="1">
                          <a:effectLst/>
                        </a:rPr>
                        <a:t>100.0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nchor="b"/>
                </a:tc>
                <a:tc>
                  <a:txBody>
                    <a:bodyPr/>
                    <a:lstStyle/>
                    <a:p>
                      <a:pPr marL="111760" indent="-4445" algn="ctr">
                        <a:lnSpc>
                          <a:spcPct val="100000"/>
                        </a:lnSpc>
                        <a:spcAft>
                          <a:spcPts val="130"/>
                        </a:spcAft>
                      </a:pPr>
                      <a:r>
                        <a:rPr lang="fr-FR" sz="1400" b="1" dirty="0">
                          <a:effectLst/>
                        </a:rPr>
                        <a:t>100.0</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nchor="b"/>
                </a:tc>
                <a:tc>
                  <a:txBody>
                    <a:bodyPr/>
                    <a:lstStyle/>
                    <a:p>
                      <a:pPr marL="4445" indent="-4445" algn="ctr">
                        <a:lnSpc>
                          <a:spcPct val="100000"/>
                        </a:lnSpc>
                        <a:spcAft>
                          <a:spcPts val="800"/>
                        </a:spcAft>
                      </a:pPr>
                      <a:r>
                        <a:rPr lang="fr-FR" sz="1600" b="1">
                          <a:effectLst/>
                        </a:rPr>
                        <a:t> </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indent="-4445" algn="ctr">
                        <a:lnSpc>
                          <a:spcPct val="100000"/>
                        </a:lnSpc>
                        <a:spcAft>
                          <a:spcPts val="800"/>
                        </a:spcAft>
                      </a:pPr>
                      <a:r>
                        <a:rPr lang="fr-FR" sz="1600" b="1" dirty="0">
                          <a:effectLst/>
                        </a:rPr>
                        <a:t> </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1212369731"/>
                  </a:ext>
                </a:extLst>
              </a:tr>
              <a:tr h="222260">
                <a:tc>
                  <a:txBody>
                    <a:bodyPr/>
                    <a:lstStyle/>
                    <a:p>
                      <a:pPr marL="4445" indent="-4445" algn="ctr">
                        <a:lnSpc>
                          <a:spcPct val="100000"/>
                        </a:lnSpc>
                        <a:spcAft>
                          <a:spcPts val="130"/>
                        </a:spcAft>
                      </a:pPr>
                      <a:r>
                        <a:rPr lang="fr-FR" sz="1200" b="1">
                          <a:effectLst/>
                        </a:rPr>
                        <a:t>EU-15</a:t>
                      </a:r>
                      <a:endParaRPr lang="fr-FR" sz="14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85090" indent="-4445" algn="ctr">
                        <a:lnSpc>
                          <a:spcPct val="100000"/>
                        </a:lnSpc>
                        <a:spcAft>
                          <a:spcPts val="130"/>
                        </a:spcAft>
                      </a:pPr>
                      <a:r>
                        <a:rPr lang="fr-FR" sz="1400" b="1">
                          <a:effectLst/>
                        </a:rPr>
                        <a:t>36.9</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9225" indent="-4445" algn="ctr">
                        <a:lnSpc>
                          <a:spcPct val="100000"/>
                        </a:lnSpc>
                        <a:spcAft>
                          <a:spcPts val="130"/>
                        </a:spcAft>
                      </a:pPr>
                      <a:r>
                        <a:rPr lang="fr-FR" sz="1400" b="1">
                          <a:effectLst/>
                        </a:rPr>
                        <a:t>54.1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69545" indent="-4445" algn="ctr">
                        <a:lnSpc>
                          <a:spcPct val="100000"/>
                        </a:lnSpc>
                        <a:spcAft>
                          <a:spcPts val="130"/>
                        </a:spcAft>
                      </a:pPr>
                      <a:r>
                        <a:rPr lang="fr-FR" sz="1400" b="1">
                          <a:effectLst/>
                        </a:rPr>
                        <a:t>28.6</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a:effectLst/>
                        </a:rPr>
                        <a:t>201</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4445" marR="51435" indent="-4445" algn="ctr">
                        <a:lnSpc>
                          <a:spcPct val="100000"/>
                        </a:lnSpc>
                        <a:spcAft>
                          <a:spcPts val="130"/>
                        </a:spcAft>
                      </a:pPr>
                      <a:r>
                        <a:rPr lang="fr-FR" sz="1400" b="1" dirty="0">
                          <a:effectLst/>
                        </a:rPr>
                        <a:t>105</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4019895044"/>
                  </a:ext>
                </a:extLst>
              </a:tr>
              <a:tr h="222260">
                <a:tc>
                  <a:txBody>
                    <a:bodyPr/>
                    <a:lstStyle/>
                    <a:p>
                      <a:pPr marL="4445" indent="-4445" algn="ctr">
                        <a:lnSpc>
                          <a:spcPct val="100000"/>
                        </a:lnSpc>
                        <a:spcAft>
                          <a:spcPts val="130"/>
                        </a:spcAft>
                      </a:pPr>
                      <a:r>
                        <a:rPr lang="fr-FR" sz="1200" b="1" dirty="0">
                          <a:effectLst/>
                        </a:rPr>
                        <a:t>EMU-12</a:t>
                      </a:r>
                      <a:endParaRPr lang="fr-FR" sz="14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85090" indent="-4445" algn="ctr">
                        <a:lnSpc>
                          <a:spcPct val="100000"/>
                        </a:lnSpc>
                        <a:spcAft>
                          <a:spcPts val="130"/>
                        </a:spcAft>
                      </a:pPr>
                      <a:r>
                        <a:rPr lang="fr-FR" sz="1400" b="1">
                          <a:effectLst/>
                        </a:rPr>
                        <a:t>29.0</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49225" indent="-4445" algn="ctr">
                        <a:lnSpc>
                          <a:spcPct val="100000"/>
                        </a:lnSpc>
                        <a:spcAft>
                          <a:spcPts val="130"/>
                        </a:spcAft>
                      </a:pPr>
                      <a:r>
                        <a:rPr lang="fr-FR" sz="1400" b="1">
                          <a:effectLst/>
                        </a:rPr>
                        <a:t>44.8</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69545" indent="-4445" algn="ctr">
                        <a:lnSpc>
                          <a:spcPct val="100000"/>
                        </a:lnSpc>
                        <a:spcAft>
                          <a:spcPts val="130"/>
                        </a:spcAft>
                      </a:pPr>
                      <a:r>
                        <a:rPr lang="fr-FR" sz="1400" b="1">
                          <a:effectLst/>
                        </a:rPr>
                        <a:t>17.7</a:t>
                      </a:r>
                      <a:endParaRPr lang="fr-FR" sz="1600" b="1">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194945" indent="-4445" algn="ctr">
                        <a:lnSpc>
                          <a:spcPct val="100000"/>
                        </a:lnSpc>
                        <a:spcAft>
                          <a:spcPts val="130"/>
                        </a:spcAft>
                      </a:pPr>
                      <a:r>
                        <a:rPr lang="fr-FR" sz="1400" b="1" dirty="0">
                          <a:effectLst/>
                        </a:rPr>
                        <a:t>214</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tc>
                  <a:txBody>
                    <a:bodyPr/>
                    <a:lstStyle/>
                    <a:p>
                      <a:pPr marL="6350" indent="-4445" algn="ctr">
                        <a:lnSpc>
                          <a:spcPct val="100000"/>
                        </a:lnSpc>
                        <a:spcAft>
                          <a:spcPts val="130"/>
                        </a:spcAft>
                      </a:pPr>
                      <a:r>
                        <a:rPr lang="fr-FR" sz="1400" b="1" dirty="0">
                          <a:effectLst/>
                        </a:rPr>
                        <a:t>81</a:t>
                      </a:r>
                      <a:endParaRPr lang="fr-FR" sz="1600" b="1" dirty="0">
                        <a:solidFill>
                          <a:srgbClr val="000000"/>
                        </a:solidFill>
                        <a:effectLst/>
                        <a:latin typeface="Garamond" panose="02020404030301010803" pitchFamily="18" charset="0"/>
                        <a:ea typeface="Garamond" panose="02020404030301010803" pitchFamily="18" charset="0"/>
                        <a:cs typeface="Garamond" panose="02020404030301010803" pitchFamily="18" charset="0"/>
                      </a:endParaRPr>
                    </a:p>
                  </a:txBody>
                  <a:tcPr marL="0" marR="0" marT="4699" marB="4699"/>
                </a:tc>
                <a:extLst>
                  <a:ext uri="{0D108BD9-81ED-4DB2-BD59-A6C34878D82A}">
                    <a16:rowId xmlns:a16="http://schemas.microsoft.com/office/drawing/2014/main" val="881566964"/>
                  </a:ext>
                </a:extLst>
              </a:tr>
            </a:tbl>
          </a:graphicData>
        </a:graphic>
      </p:graphicFrame>
      <p:sp>
        <p:nvSpPr>
          <p:cNvPr id="4" name="ZoneTexte 3">
            <a:extLst>
              <a:ext uri="{FF2B5EF4-FFF2-40B4-BE49-F238E27FC236}">
                <a16:creationId xmlns:a16="http://schemas.microsoft.com/office/drawing/2014/main" id="{97AC016B-B539-2399-65AF-6E962FED8609}"/>
              </a:ext>
            </a:extLst>
          </p:cNvPr>
          <p:cNvSpPr txBox="1"/>
          <p:nvPr/>
        </p:nvSpPr>
        <p:spPr>
          <a:xfrm>
            <a:off x="584735" y="676795"/>
            <a:ext cx="4516654"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Financial sector in developed countries</a:t>
            </a:r>
            <a:endParaRPr kumimoji="0" lang="fr-FR"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ZoneTexte 5">
            <a:extLst>
              <a:ext uri="{FF2B5EF4-FFF2-40B4-BE49-F238E27FC236}">
                <a16:creationId xmlns:a16="http://schemas.microsoft.com/office/drawing/2014/main" id="{C23D4D7E-F6D3-648C-A96D-4853947EA003}"/>
              </a:ext>
            </a:extLst>
          </p:cNvPr>
          <p:cNvSpPr txBox="1"/>
          <p:nvPr/>
        </p:nvSpPr>
        <p:spPr>
          <a:xfrm>
            <a:off x="263894" y="1154488"/>
            <a:ext cx="5334802" cy="563231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first three columns show the country’s position in relation to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the total of all developed countries in terms of GDP</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bank assets and equity capitalization</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last two columns show the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size of the banking and equity markets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in each country in relation to their GDPs (Market Based/Bank Based).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countries are ranked according to their share of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total developed countries’ GDP</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starting with the country with the smallest GDP.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This allows the three largest economic zones at the end of the table – the US, the EU and Japan – to be compared easily.</a:t>
            </a:r>
            <a:endParaRPr kumimoji="0" lang="fr-FR"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Ellipse 6">
            <a:extLst>
              <a:ext uri="{FF2B5EF4-FFF2-40B4-BE49-F238E27FC236}">
                <a16:creationId xmlns:a16="http://schemas.microsoft.com/office/drawing/2014/main" id="{D3F93764-C182-FA46-D036-CECC0B72FC0B}"/>
              </a:ext>
            </a:extLst>
          </p:cNvPr>
          <p:cNvSpPr/>
          <p:nvPr/>
        </p:nvSpPr>
        <p:spPr>
          <a:xfrm>
            <a:off x="10375900" y="5822950"/>
            <a:ext cx="1433496" cy="26035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Ellipse 7">
            <a:extLst>
              <a:ext uri="{FF2B5EF4-FFF2-40B4-BE49-F238E27FC236}">
                <a16:creationId xmlns:a16="http://schemas.microsoft.com/office/drawing/2014/main" id="{A31D5B59-9F7C-2BDD-3DD3-0ED97CC9980B}"/>
              </a:ext>
            </a:extLst>
          </p:cNvPr>
          <p:cNvSpPr/>
          <p:nvPr/>
        </p:nvSpPr>
        <p:spPr>
          <a:xfrm>
            <a:off x="10375900" y="5349708"/>
            <a:ext cx="1433496" cy="26035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Ellipse 8">
            <a:extLst>
              <a:ext uri="{FF2B5EF4-FFF2-40B4-BE49-F238E27FC236}">
                <a16:creationId xmlns:a16="http://schemas.microsoft.com/office/drawing/2014/main" id="{50492A78-ED02-7082-F613-6D848491F7AC}"/>
              </a:ext>
            </a:extLst>
          </p:cNvPr>
          <p:cNvSpPr/>
          <p:nvPr/>
        </p:nvSpPr>
        <p:spPr>
          <a:xfrm>
            <a:off x="10375900" y="4271679"/>
            <a:ext cx="1433496" cy="26035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Ellipse 9">
            <a:extLst>
              <a:ext uri="{FF2B5EF4-FFF2-40B4-BE49-F238E27FC236}">
                <a16:creationId xmlns:a16="http://schemas.microsoft.com/office/drawing/2014/main" id="{CF3F50D3-5F1A-88FA-2969-7EF80DA07B4B}"/>
              </a:ext>
            </a:extLst>
          </p:cNvPr>
          <p:cNvSpPr/>
          <p:nvPr/>
        </p:nvSpPr>
        <p:spPr>
          <a:xfrm>
            <a:off x="10375900" y="4691882"/>
            <a:ext cx="1433496" cy="26035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Ellipse 10">
            <a:extLst>
              <a:ext uri="{FF2B5EF4-FFF2-40B4-BE49-F238E27FC236}">
                <a16:creationId xmlns:a16="http://schemas.microsoft.com/office/drawing/2014/main" id="{DE41F026-08CC-C037-42E6-6FFD2CB10992}"/>
              </a:ext>
            </a:extLst>
          </p:cNvPr>
          <p:cNvSpPr/>
          <p:nvPr/>
        </p:nvSpPr>
        <p:spPr>
          <a:xfrm>
            <a:off x="10375900" y="3343512"/>
            <a:ext cx="1433496" cy="26035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Ellipse 11">
            <a:extLst>
              <a:ext uri="{FF2B5EF4-FFF2-40B4-BE49-F238E27FC236}">
                <a16:creationId xmlns:a16="http://schemas.microsoft.com/office/drawing/2014/main" id="{17FE1A58-708D-D757-63C4-76AFCD398995}"/>
              </a:ext>
            </a:extLst>
          </p:cNvPr>
          <p:cNvSpPr/>
          <p:nvPr/>
        </p:nvSpPr>
        <p:spPr>
          <a:xfrm>
            <a:off x="10375900" y="2946036"/>
            <a:ext cx="1433496" cy="26035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Ellipse 12">
            <a:extLst>
              <a:ext uri="{FF2B5EF4-FFF2-40B4-BE49-F238E27FC236}">
                <a16:creationId xmlns:a16="http://schemas.microsoft.com/office/drawing/2014/main" id="{33C4CC22-816C-5089-17E4-54CBC22FF194}"/>
              </a:ext>
            </a:extLst>
          </p:cNvPr>
          <p:cNvSpPr/>
          <p:nvPr/>
        </p:nvSpPr>
        <p:spPr>
          <a:xfrm>
            <a:off x="10375900" y="1803641"/>
            <a:ext cx="1433496" cy="26035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Ellipse 13">
            <a:extLst>
              <a:ext uri="{FF2B5EF4-FFF2-40B4-BE49-F238E27FC236}">
                <a16:creationId xmlns:a16="http://schemas.microsoft.com/office/drawing/2014/main" id="{90BB60DB-82C9-70B1-208E-B5B8D5B17C1A}"/>
              </a:ext>
            </a:extLst>
          </p:cNvPr>
          <p:cNvSpPr/>
          <p:nvPr/>
        </p:nvSpPr>
        <p:spPr>
          <a:xfrm>
            <a:off x="10375900" y="1154488"/>
            <a:ext cx="1433496" cy="26035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riangle isocèle 2">
            <a:extLst>
              <a:ext uri="{FF2B5EF4-FFF2-40B4-BE49-F238E27FC236}">
                <a16:creationId xmlns:a16="http://schemas.microsoft.com/office/drawing/2014/main" id="{5A2151B1-44A9-6BF9-AE98-D74911E557D3}"/>
              </a:ext>
            </a:extLst>
          </p:cNvPr>
          <p:cNvSpPr/>
          <p:nvPr/>
        </p:nvSpPr>
        <p:spPr>
          <a:xfrm>
            <a:off x="5424160" y="271912"/>
            <a:ext cx="574620" cy="604938"/>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3053124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Espace réservé du texte 2">
            <a:extLst>
              <a:ext uri="{FF2B5EF4-FFF2-40B4-BE49-F238E27FC236}">
                <a16:creationId xmlns:a16="http://schemas.microsoft.com/office/drawing/2014/main" id="{913CD47D-AD55-17C4-E8A2-87C84A6E66E2}"/>
              </a:ext>
            </a:extLst>
          </p:cNvPr>
          <p:cNvSpPr>
            <a:spLocks noGrp="1"/>
          </p:cNvSpPr>
          <p:nvPr>
            <p:ph type="body" idx="1"/>
          </p:nvPr>
        </p:nvSpPr>
        <p:spPr>
          <a:xfrm>
            <a:off x="474066" y="3245645"/>
            <a:ext cx="2919738" cy="1977016"/>
          </a:xfrm>
        </p:spPr>
        <p:txBody>
          <a:bodyPr vert="horz" lIns="91440" tIns="45720" rIns="91440" bIns="45720" rtlCol="0" anchor="b">
            <a:normAutofit/>
          </a:bodyPr>
          <a:lstStyle/>
          <a:p>
            <a:pPr defTabSz="914400">
              <a:spcBef>
                <a:spcPts val="1000"/>
              </a:spcBef>
            </a:pPr>
            <a:r>
              <a:rPr lang="en-US" sz="2400" kern="1200" dirty="0">
                <a:solidFill>
                  <a:schemeClr val="bg1"/>
                </a:solidFill>
                <a:latin typeface="+mn-lt"/>
                <a:ea typeface="+mn-ea"/>
                <a:cs typeface="+mn-cs"/>
              </a:rPr>
              <a:t>Total Size of Top 36 Banks = $74 trillion (World GDP $100 trillion)</a:t>
            </a:r>
          </a:p>
        </p:txBody>
      </p:sp>
      <p:sp>
        <p:nvSpPr>
          <p:cNvPr id="6" name="ZoneTexte 5">
            <a:extLst>
              <a:ext uri="{FF2B5EF4-FFF2-40B4-BE49-F238E27FC236}">
                <a16:creationId xmlns:a16="http://schemas.microsoft.com/office/drawing/2014/main" id="{B83796CD-B88B-C430-788F-FD2B8ABD01AB}"/>
              </a:ext>
            </a:extLst>
          </p:cNvPr>
          <p:cNvSpPr txBox="1"/>
          <p:nvPr/>
        </p:nvSpPr>
        <p:spPr>
          <a:xfrm>
            <a:off x="182880" y="216545"/>
            <a:ext cx="2397760"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Biggest banks in the world, as measured by total assets, 2023</a:t>
            </a:r>
            <a:endParaRPr kumimoji="0" lang="fr-FR"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4" name="Tableau 3">
            <a:extLst>
              <a:ext uri="{FF2B5EF4-FFF2-40B4-BE49-F238E27FC236}">
                <a16:creationId xmlns:a16="http://schemas.microsoft.com/office/drawing/2014/main" id="{DCCF6AE7-A2E7-D965-DF0E-E163A1630ACF}"/>
              </a:ext>
            </a:extLst>
          </p:cNvPr>
          <p:cNvGraphicFramePr>
            <a:graphicFrameLocks noGrp="1"/>
          </p:cNvGraphicFramePr>
          <p:nvPr>
            <p:extLst>
              <p:ext uri="{D42A27DB-BD31-4B8C-83A1-F6EECF244321}">
                <p14:modId xmlns:p14="http://schemas.microsoft.com/office/powerpoint/2010/main" val="907259152"/>
              </p:ext>
            </p:extLst>
          </p:nvPr>
        </p:nvGraphicFramePr>
        <p:xfrm>
          <a:off x="4673600" y="-17819"/>
          <a:ext cx="7044334" cy="6736977"/>
        </p:xfrm>
        <a:graphic>
          <a:graphicData uri="http://schemas.openxmlformats.org/drawingml/2006/table">
            <a:tbl>
              <a:tblPr>
                <a:tableStyleId>{5C22544A-7EE6-4342-B048-85BDC9FD1C3A}</a:tableStyleId>
              </a:tblPr>
              <a:tblGrid>
                <a:gridCol w="590420">
                  <a:extLst>
                    <a:ext uri="{9D8B030D-6E8A-4147-A177-3AD203B41FA5}">
                      <a16:colId xmlns:a16="http://schemas.microsoft.com/office/drawing/2014/main" val="3281042854"/>
                    </a:ext>
                  </a:extLst>
                </a:gridCol>
                <a:gridCol w="3298215">
                  <a:extLst>
                    <a:ext uri="{9D8B030D-6E8A-4147-A177-3AD203B41FA5}">
                      <a16:colId xmlns:a16="http://schemas.microsoft.com/office/drawing/2014/main" val="655137482"/>
                    </a:ext>
                  </a:extLst>
                </a:gridCol>
                <a:gridCol w="1588030">
                  <a:extLst>
                    <a:ext uri="{9D8B030D-6E8A-4147-A177-3AD203B41FA5}">
                      <a16:colId xmlns:a16="http://schemas.microsoft.com/office/drawing/2014/main" val="1315690514"/>
                    </a:ext>
                  </a:extLst>
                </a:gridCol>
                <a:gridCol w="1567669">
                  <a:extLst>
                    <a:ext uri="{9D8B030D-6E8A-4147-A177-3AD203B41FA5}">
                      <a16:colId xmlns:a16="http://schemas.microsoft.com/office/drawing/2014/main" val="3705325905"/>
                    </a:ext>
                  </a:extLst>
                </a:gridCol>
              </a:tblGrid>
              <a:tr h="131932">
                <a:tc>
                  <a:txBody>
                    <a:bodyPr/>
                    <a:lstStyle/>
                    <a:p>
                      <a:pPr algn="ctr" fontAlgn="ctr"/>
                      <a:r>
                        <a:rPr lang="fr-FR" sz="1600" b="1" u="none" strike="noStrike" dirty="0">
                          <a:effectLst/>
                        </a:rPr>
                        <a:t>Rank</a:t>
                      </a:r>
                      <a:endParaRPr lang="fr-FR" sz="1600" b="1" i="0" u="none" strike="noStrike" dirty="0">
                        <a:solidFill>
                          <a:srgbClr val="04284A"/>
                        </a:solidFill>
                        <a:effectLst/>
                        <a:latin typeface="Inherit"/>
                      </a:endParaRPr>
                    </a:p>
                  </a:txBody>
                  <a:tcPr marL="3541" marR="3541" marT="3541" marB="0" anchor="ctr"/>
                </a:tc>
                <a:tc>
                  <a:txBody>
                    <a:bodyPr/>
                    <a:lstStyle/>
                    <a:p>
                      <a:pPr algn="ctr" fontAlgn="ctr"/>
                      <a:r>
                        <a:rPr lang="fr-FR" sz="1600" b="1" u="none" strike="noStrike" dirty="0">
                          <a:effectLst/>
                        </a:rPr>
                        <a:t>BANK</a:t>
                      </a:r>
                      <a:endParaRPr lang="fr-FR" sz="1600" b="1" i="0" u="none" strike="noStrike" dirty="0">
                        <a:solidFill>
                          <a:srgbClr val="04284A"/>
                        </a:solidFill>
                        <a:effectLst/>
                        <a:latin typeface="Inherit"/>
                      </a:endParaRPr>
                    </a:p>
                  </a:txBody>
                  <a:tcPr marL="3541" marR="3541" marT="3541" marB="0" anchor="ctr"/>
                </a:tc>
                <a:tc>
                  <a:txBody>
                    <a:bodyPr/>
                    <a:lstStyle/>
                    <a:p>
                      <a:pPr algn="ctr" fontAlgn="ctr"/>
                      <a:r>
                        <a:rPr lang="fr-FR" sz="1600" b="1" u="none" strike="noStrike" dirty="0">
                          <a:effectLst/>
                        </a:rPr>
                        <a:t>Total asset</a:t>
                      </a:r>
                      <a:endParaRPr lang="fr-FR" sz="1600" b="1" i="0" u="none" strike="noStrike" dirty="0">
                        <a:solidFill>
                          <a:srgbClr val="04284A"/>
                        </a:solidFill>
                        <a:effectLst/>
                        <a:latin typeface="Inherit"/>
                      </a:endParaRPr>
                    </a:p>
                  </a:txBody>
                  <a:tcPr marL="3541" marR="3541" marT="3541" marB="0" anchor="ctr"/>
                </a:tc>
                <a:tc>
                  <a:txBody>
                    <a:bodyPr/>
                    <a:lstStyle/>
                    <a:p>
                      <a:pPr algn="ctr" fontAlgn="ctr"/>
                      <a:r>
                        <a:rPr lang="fr-FR" sz="1600" b="1" u="none" strike="noStrike" dirty="0">
                          <a:effectLst/>
                        </a:rPr>
                        <a:t>Country</a:t>
                      </a:r>
                      <a:endParaRPr lang="fr-FR" sz="1600" b="1" i="0" u="none" strike="noStrike" dirty="0">
                        <a:solidFill>
                          <a:srgbClr val="04284A"/>
                        </a:solidFill>
                        <a:effectLst/>
                        <a:latin typeface="Inherit"/>
                      </a:endParaRPr>
                    </a:p>
                  </a:txBody>
                  <a:tcPr marL="3541" marR="3541" marT="3541" marB="0" anchor="ctr"/>
                </a:tc>
                <a:extLst>
                  <a:ext uri="{0D108BD9-81ED-4DB2-BD59-A6C34878D82A}">
                    <a16:rowId xmlns:a16="http://schemas.microsoft.com/office/drawing/2014/main" val="1877418034"/>
                  </a:ext>
                </a:extLst>
              </a:tr>
              <a:tr h="236597">
                <a:tc>
                  <a:txBody>
                    <a:bodyPr/>
                    <a:lstStyle/>
                    <a:p>
                      <a:pPr algn="l" fontAlgn="t"/>
                      <a:r>
                        <a:rPr lang="fr-FR" sz="1100" u="none" strike="noStrike">
                          <a:effectLst/>
                        </a:rPr>
                        <a:t>1</a:t>
                      </a:r>
                      <a:endParaRPr lang="fr-FR" sz="1100" b="0" i="0" u="none" strike="noStrike">
                        <a:solidFill>
                          <a:srgbClr val="04284A"/>
                        </a:solidFill>
                        <a:effectLst/>
                        <a:latin typeface="Inherit"/>
                      </a:endParaRPr>
                    </a:p>
                  </a:txBody>
                  <a:tcPr marL="3541" marR="3541" marT="3541" marB="0"/>
                </a:tc>
                <a:tc>
                  <a:txBody>
                    <a:bodyPr/>
                    <a:lstStyle/>
                    <a:p>
                      <a:pPr algn="l" fontAlgn="t"/>
                      <a:r>
                        <a:rPr lang="en-US" sz="1100" u="none" strike="noStrike" dirty="0">
                          <a:effectLst/>
                        </a:rPr>
                        <a:t>Industrial and Commercial Bank of China Limited</a:t>
                      </a:r>
                      <a:endParaRPr lang="en-US" sz="1100" b="0" i="0" u="none" strike="noStrike" dirty="0">
                        <a:solidFill>
                          <a:srgbClr val="04284A"/>
                        </a:solidFill>
                        <a:effectLst/>
                        <a:latin typeface="Inherit"/>
                      </a:endParaRPr>
                    </a:p>
                  </a:txBody>
                  <a:tcPr marL="3541" marR="3541" marT="3541" marB="0"/>
                </a:tc>
                <a:tc>
                  <a:txBody>
                    <a:bodyPr/>
                    <a:lstStyle/>
                    <a:p>
                      <a:pPr algn="l" fontAlgn="t"/>
                      <a:r>
                        <a:rPr lang="fr-FR" sz="1100" u="none" strike="noStrike" dirty="0">
                          <a:effectLst/>
                        </a:rPr>
                        <a:t>$5.5 trillion</a:t>
                      </a:r>
                      <a:endParaRPr lang="fr-FR" sz="1100" b="0" i="0" u="none" strike="noStrike" dirty="0">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258469844"/>
                  </a:ext>
                </a:extLst>
              </a:tr>
              <a:tr h="131932">
                <a:tc>
                  <a:txBody>
                    <a:bodyPr/>
                    <a:lstStyle/>
                    <a:p>
                      <a:pPr algn="l" fontAlgn="t"/>
                      <a:r>
                        <a:rPr lang="fr-FR" sz="1100" u="none" strike="noStrike">
                          <a:effectLst/>
                        </a:rPr>
                        <a:t>2</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 Construction Bank</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$4.7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3738955256"/>
                  </a:ext>
                </a:extLst>
              </a:tr>
              <a:tr h="131932">
                <a:tc>
                  <a:txBody>
                    <a:bodyPr/>
                    <a:lstStyle/>
                    <a:p>
                      <a:pPr algn="l" fontAlgn="t"/>
                      <a:r>
                        <a:rPr lang="fr-FR" sz="1100" u="none" strike="noStrike">
                          <a:effectLst/>
                        </a:rPr>
                        <a:t>3</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Agricultural Bank of China</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$4.5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275514983"/>
                  </a:ext>
                </a:extLst>
              </a:tr>
              <a:tr h="131932">
                <a:tc>
                  <a:txBody>
                    <a:bodyPr/>
                    <a:lstStyle/>
                    <a:p>
                      <a:pPr algn="l" fontAlgn="t"/>
                      <a:r>
                        <a:rPr lang="fr-FR" sz="1100" u="none" strike="noStrike">
                          <a:effectLst/>
                        </a:rPr>
                        <a:t>4</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Bank of China</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$4.2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084836502"/>
                  </a:ext>
                </a:extLst>
              </a:tr>
              <a:tr h="131932">
                <a:tc>
                  <a:txBody>
                    <a:bodyPr/>
                    <a:lstStyle/>
                    <a:p>
                      <a:pPr algn="l" fontAlgn="t"/>
                      <a:r>
                        <a:rPr lang="fr-FR" sz="1100" u="none" strike="noStrike">
                          <a:effectLst/>
                        </a:rPr>
                        <a:t>5</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dirty="0" err="1">
                          <a:effectLst/>
                        </a:rPr>
                        <a:t>JPMorgan</a:t>
                      </a:r>
                      <a:r>
                        <a:rPr lang="fr-FR" sz="1100" u="none" strike="noStrike" dirty="0">
                          <a:effectLst/>
                        </a:rPr>
                        <a:t> Chase</a:t>
                      </a:r>
                      <a:endParaRPr lang="fr-FR" sz="1100" b="0" i="0" u="none" strike="noStrike" dirty="0">
                        <a:solidFill>
                          <a:srgbClr val="04284A"/>
                        </a:solidFill>
                        <a:effectLst/>
                        <a:latin typeface="Inherit"/>
                      </a:endParaRPr>
                    </a:p>
                  </a:txBody>
                  <a:tcPr marL="3541" marR="3541" marT="3541" marB="0"/>
                </a:tc>
                <a:tc>
                  <a:txBody>
                    <a:bodyPr/>
                    <a:lstStyle/>
                    <a:p>
                      <a:pPr algn="l" fontAlgn="t"/>
                      <a:r>
                        <a:rPr lang="fr-FR" sz="1100" u="none" strike="noStrike">
                          <a:effectLst/>
                        </a:rPr>
                        <a:t>$3.3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United States</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434486621"/>
                  </a:ext>
                </a:extLst>
              </a:tr>
              <a:tr h="131932">
                <a:tc>
                  <a:txBody>
                    <a:bodyPr/>
                    <a:lstStyle/>
                    <a:p>
                      <a:pPr algn="l" fontAlgn="t"/>
                      <a:r>
                        <a:rPr lang="fr-FR" sz="1100" u="none" strike="noStrike">
                          <a:effectLst/>
                        </a:rPr>
                        <a:t>6</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BNP Paribas</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$2.9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France</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2077035224"/>
                  </a:ext>
                </a:extLst>
              </a:tr>
              <a:tr h="131932">
                <a:tc>
                  <a:txBody>
                    <a:bodyPr/>
                    <a:lstStyle/>
                    <a:p>
                      <a:pPr algn="l" fontAlgn="t"/>
                      <a:r>
                        <a:rPr lang="fr-FR" sz="1100" u="none" strike="noStrike">
                          <a:effectLst/>
                        </a:rPr>
                        <a:t>7</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 Development Bank</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$2.69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984226534"/>
                  </a:ext>
                </a:extLst>
              </a:tr>
              <a:tr h="131932">
                <a:tc>
                  <a:txBody>
                    <a:bodyPr/>
                    <a:lstStyle/>
                    <a:p>
                      <a:pPr algn="l" fontAlgn="t"/>
                      <a:r>
                        <a:rPr lang="fr-FR" sz="1100" u="none" strike="noStrike">
                          <a:effectLst/>
                        </a:rPr>
                        <a:t>8</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Bank of America</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$2.5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United States</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03637386"/>
                  </a:ext>
                </a:extLst>
              </a:tr>
              <a:tr h="131932">
                <a:tc>
                  <a:txBody>
                    <a:bodyPr/>
                    <a:lstStyle/>
                    <a:p>
                      <a:pPr algn="l" fontAlgn="t"/>
                      <a:r>
                        <a:rPr lang="fr-FR" sz="1100" u="none" strike="noStrike">
                          <a:effectLst/>
                        </a:rPr>
                        <a:t>9</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Mitsubishi UFJ Financial Group</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$2.35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Japan</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265874549"/>
                  </a:ext>
                </a:extLst>
              </a:tr>
              <a:tr h="131932">
                <a:tc>
                  <a:txBody>
                    <a:bodyPr/>
                    <a:lstStyle/>
                    <a:p>
                      <a:pPr algn="l" fontAlgn="t"/>
                      <a:r>
                        <a:rPr lang="fr-FR" sz="1100" u="none" strike="noStrike">
                          <a:effectLst/>
                        </a:rPr>
                        <a:t>10</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Crédit Agricole</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$2.34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France</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479288337"/>
                  </a:ext>
                </a:extLst>
              </a:tr>
              <a:tr h="236597">
                <a:tc>
                  <a:txBody>
                    <a:bodyPr/>
                    <a:lstStyle/>
                    <a:p>
                      <a:pPr algn="l" fontAlgn="t"/>
                      <a:r>
                        <a:rPr lang="fr-FR" sz="1100" u="none" strike="noStrike">
                          <a:effectLst/>
                        </a:rPr>
                        <a:t>11</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Sumitomo Mitsui Banking Corporation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$2.06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Japan</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2048945589"/>
                  </a:ext>
                </a:extLst>
              </a:tr>
              <a:tr h="131932">
                <a:tc>
                  <a:txBody>
                    <a:bodyPr/>
                    <a:lstStyle/>
                    <a:p>
                      <a:pPr algn="l" fontAlgn="t"/>
                      <a:r>
                        <a:rPr lang="fr-FR" sz="1100" u="none" strike="noStrike">
                          <a:effectLst/>
                        </a:rPr>
                        <a:t>12</a:t>
                      </a:r>
                      <a:endParaRPr lang="fr-FR" sz="1100" b="0" i="0" u="none" strike="noStrike">
                        <a:solidFill>
                          <a:srgbClr val="04284A"/>
                        </a:solidFill>
                        <a:effectLst/>
                        <a:latin typeface="Inherit"/>
                      </a:endParaRPr>
                    </a:p>
                  </a:txBody>
                  <a:tcPr marL="3541" marR="3541" marT="3541" marB="0"/>
                </a:tc>
                <a:tc>
                  <a:txBody>
                    <a:bodyPr/>
                    <a:lstStyle/>
                    <a:p>
                      <a:pPr algn="l" fontAlgn="t"/>
                      <a:r>
                        <a:rPr lang="en-US" sz="1100" u="none" strike="noStrike">
                          <a:effectLst/>
                        </a:rPr>
                        <a:t>Postal Savings Bank of China</a:t>
                      </a:r>
                      <a:endParaRPr lang="en-US"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$1.97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3742737957"/>
                  </a:ext>
                </a:extLst>
              </a:tr>
              <a:tr h="131932">
                <a:tc>
                  <a:txBody>
                    <a:bodyPr/>
                    <a:lstStyle/>
                    <a:p>
                      <a:pPr algn="l" fontAlgn="t"/>
                      <a:r>
                        <a:rPr lang="fr-FR" sz="1100" u="none" strike="noStrike">
                          <a:effectLst/>
                        </a:rPr>
                        <a:t>13</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dirty="0">
                          <a:effectLst/>
                        </a:rPr>
                        <a:t>Japan Post Bank</a:t>
                      </a:r>
                      <a:endParaRPr lang="fr-FR" sz="1100" b="0" i="0" u="none" strike="noStrike" dirty="0">
                        <a:solidFill>
                          <a:srgbClr val="04284A"/>
                        </a:solidFill>
                        <a:effectLst/>
                        <a:latin typeface="Inherit"/>
                      </a:endParaRPr>
                    </a:p>
                  </a:txBody>
                  <a:tcPr marL="3541" marR="3541" marT="3541" marB="0"/>
                </a:tc>
                <a:tc>
                  <a:txBody>
                    <a:bodyPr/>
                    <a:lstStyle/>
                    <a:p>
                      <a:pPr algn="l" fontAlgn="t"/>
                      <a:r>
                        <a:rPr lang="fr-FR" sz="1100" u="none" strike="noStrike">
                          <a:effectLst/>
                        </a:rPr>
                        <a:t>$1.97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Japan</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863232086"/>
                  </a:ext>
                </a:extLst>
              </a:tr>
              <a:tr h="131932">
                <a:tc>
                  <a:txBody>
                    <a:bodyPr/>
                    <a:lstStyle/>
                    <a:p>
                      <a:pPr algn="l" fontAlgn="t"/>
                      <a:r>
                        <a:rPr lang="fr-FR" sz="1100" u="none" strike="noStrike">
                          <a:effectLst/>
                        </a:rPr>
                        <a:t>14</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Bank of Communications</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$1.91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546074261"/>
                  </a:ext>
                </a:extLst>
              </a:tr>
              <a:tr h="131932">
                <a:tc>
                  <a:txBody>
                    <a:bodyPr/>
                    <a:lstStyle/>
                    <a:p>
                      <a:pPr algn="l" fontAlgn="t"/>
                      <a:r>
                        <a:rPr lang="fr-FR" sz="1100" u="none" strike="noStrike">
                          <a:effectLst/>
                        </a:rPr>
                        <a:t>15</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Banco Santander</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$1.8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Spain</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651996023"/>
                  </a:ext>
                </a:extLst>
              </a:tr>
              <a:tr h="131932">
                <a:tc>
                  <a:txBody>
                    <a:bodyPr/>
                    <a:lstStyle/>
                    <a:p>
                      <a:pPr algn="l" fontAlgn="t"/>
                      <a:r>
                        <a:rPr lang="fr-FR" sz="1100" u="none" strike="noStrike">
                          <a:effectLst/>
                        </a:rPr>
                        <a:t>16</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Wells Fargo</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$1.8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United States</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2011272464"/>
                  </a:ext>
                </a:extLst>
              </a:tr>
              <a:tr h="131932">
                <a:tc>
                  <a:txBody>
                    <a:bodyPr/>
                    <a:lstStyle/>
                    <a:p>
                      <a:pPr algn="l" fontAlgn="t"/>
                      <a:r>
                        <a:rPr lang="fr-FR" sz="1100" u="none" strike="noStrike">
                          <a:effectLst/>
                        </a:rPr>
                        <a:t>17</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Groupe BPCE</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$1.7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France</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3293823685"/>
                  </a:ext>
                </a:extLst>
              </a:tr>
              <a:tr h="131932">
                <a:tc>
                  <a:txBody>
                    <a:bodyPr/>
                    <a:lstStyle/>
                    <a:p>
                      <a:pPr algn="l" fontAlgn="t"/>
                      <a:r>
                        <a:rPr lang="fr-FR" sz="1100" u="none" strike="noStrike">
                          <a:effectLst/>
                        </a:rPr>
                        <a:t>18</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Mizuho Financial Group</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$1.7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Japan</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3926162894"/>
                  </a:ext>
                </a:extLst>
              </a:tr>
              <a:tr h="131932">
                <a:tc>
                  <a:txBody>
                    <a:bodyPr/>
                    <a:lstStyle/>
                    <a:p>
                      <a:pPr algn="l" fontAlgn="t"/>
                      <a:r>
                        <a:rPr lang="fr-FR" sz="1100" u="none" strike="noStrike">
                          <a:effectLst/>
                        </a:rPr>
                        <a:t>19</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Citigroup Inc.</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$1.66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United States</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2693283357"/>
                  </a:ext>
                </a:extLst>
              </a:tr>
              <a:tr h="131932">
                <a:tc>
                  <a:txBody>
                    <a:bodyPr/>
                    <a:lstStyle/>
                    <a:p>
                      <a:pPr algn="l" fontAlgn="t"/>
                      <a:r>
                        <a:rPr lang="fr-FR" sz="1100" u="none" strike="noStrike">
                          <a:effectLst/>
                        </a:rPr>
                        <a:t>20</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Société Générale</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$1.66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France</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105166483"/>
                  </a:ext>
                </a:extLst>
              </a:tr>
              <a:tr h="131932">
                <a:tc>
                  <a:txBody>
                    <a:bodyPr/>
                    <a:lstStyle/>
                    <a:p>
                      <a:pPr algn="l" fontAlgn="t"/>
                      <a:r>
                        <a:rPr lang="fr-FR" sz="1100" u="none" strike="noStrike">
                          <a:effectLst/>
                        </a:rPr>
                        <a:t>21</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UBS + Credit Suisse</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$1.6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Switzerland</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145732645"/>
                  </a:ext>
                </a:extLst>
              </a:tr>
              <a:tr h="131932">
                <a:tc>
                  <a:txBody>
                    <a:bodyPr/>
                    <a:lstStyle/>
                    <a:p>
                      <a:pPr algn="l" fontAlgn="t"/>
                      <a:r>
                        <a:rPr lang="fr-FR" sz="1100" u="none" strike="noStrike">
                          <a:effectLst/>
                        </a:rPr>
                        <a:t>22</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Deutsche Bank</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$1.49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Germany</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3206633586"/>
                  </a:ext>
                </a:extLst>
              </a:tr>
              <a:tr h="131932">
                <a:tc>
                  <a:txBody>
                    <a:bodyPr/>
                    <a:lstStyle/>
                    <a:p>
                      <a:pPr algn="l" fontAlgn="t"/>
                      <a:r>
                        <a:rPr lang="fr-FR" sz="1100" u="none" strike="noStrike">
                          <a:effectLst/>
                        </a:rPr>
                        <a:t>23</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 Merchants Bank</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$1.45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185520190"/>
                  </a:ext>
                </a:extLst>
              </a:tr>
              <a:tr h="131932">
                <a:tc>
                  <a:txBody>
                    <a:bodyPr/>
                    <a:lstStyle/>
                    <a:p>
                      <a:pPr algn="l" fontAlgn="t"/>
                      <a:r>
                        <a:rPr lang="fr-FR" sz="1100" u="none" strike="noStrike">
                          <a:effectLst/>
                        </a:rPr>
                        <a:t>24</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Barclays</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$1.43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United Kingdom</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2912446996"/>
                  </a:ext>
                </a:extLst>
              </a:tr>
              <a:tr h="131932">
                <a:tc>
                  <a:txBody>
                    <a:bodyPr/>
                    <a:lstStyle/>
                    <a:p>
                      <a:pPr algn="l" fontAlgn="t"/>
                      <a:r>
                        <a:rPr lang="fr-FR" sz="1100" u="none" strike="noStrike">
                          <a:effectLst/>
                        </a:rPr>
                        <a:t>25</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Toronto-Dominion Bank</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$1.40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Canada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3752768441"/>
                  </a:ext>
                </a:extLst>
              </a:tr>
              <a:tr h="131932">
                <a:tc>
                  <a:txBody>
                    <a:bodyPr/>
                    <a:lstStyle/>
                    <a:p>
                      <a:pPr algn="l" fontAlgn="t"/>
                      <a:r>
                        <a:rPr lang="fr-FR" sz="1100" u="none" strike="noStrike">
                          <a:effectLst/>
                        </a:rPr>
                        <a:t>26</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Royal Bank of Canada</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$1.37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Canada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4161252415"/>
                  </a:ext>
                </a:extLst>
              </a:tr>
              <a:tr h="131932">
                <a:tc>
                  <a:txBody>
                    <a:bodyPr/>
                    <a:lstStyle/>
                    <a:p>
                      <a:pPr algn="l" fontAlgn="t"/>
                      <a:r>
                        <a:rPr lang="fr-FR" sz="1100" u="none" strike="noStrike">
                          <a:effectLst/>
                        </a:rPr>
                        <a:t>27</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Industrial Bank (China)</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$1.35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916806625"/>
                  </a:ext>
                </a:extLst>
              </a:tr>
              <a:tr h="236597">
                <a:tc>
                  <a:txBody>
                    <a:bodyPr/>
                    <a:lstStyle/>
                    <a:p>
                      <a:pPr algn="l" fontAlgn="t"/>
                      <a:r>
                        <a:rPr lang="fr-FR" sz="1100" u="none" strike="noStrike">
                          <a:effectLst/>
                        </a:rPr>
                        <a:t>28</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Shanghai Pudong Development Bank</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$1.27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729460885"/>
                  </a:ext>
                </a:extLst>
              </a:tr>
              <a:tr h="131932">
                <a:tc>
                  <a:txBody>
                    <a:bodyPr/>
                    <a:lstStyle/>
                    <a:p>
                      <a:pPr algn="l" fontAlgn="t"/>
                      <a:r>
                        <a:rPr lang="fr-FR" sz="1100" u="none" strike="noStrike">
                          <a:effectLst/>
                        </a:rPr>
                        <a:t>29</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HSBC</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$1.26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United Kingdom</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248827473"/>
                  </a:ext>
                </a:extLst>
              </a:tr>
              <a:tr h="236597">
                <a:tc>
                  <a:txBody>
                    <a:bodyPr/>
                    <a:lstStyle/>
                    <a:p>
                      <a:pPr algn="l" fontAlgn="t"/>
                      <a:r>
                        <a:rPr lang="fr-FR" sz="1100" u="none" strike="noStrike">
                          <a:effectLst/>
                        </a:rPr>
                        <a:t>30</a:t>
                      </a:r>
                      <a:endParaRPr lang="fr-FR" sz="1100" b="0" i="0" u="none" strike="noStrike">
                        <a:solidFill>
                          <a:srgbClr val="04284A"/>
                        </a:solidFill>
                        <a:effectLst/>
                        <a:latin typeface="Inherit"/>
                      </a:endParaRPr>
                    </a:p>
                  </a:txBody>
                  <a:tcPr marL="3541" marR="3541" marT="3541" marB="0"/>
                </a:tc>
                <a:tc>
                  <a:txBody>
                    <a:bodyPr/>
                    <a:lstStyle/>
                    <a:p>
                      <a:pPr algn="l" fontAlgn="t"/>
                      <a:r>
                        <a:rPr lang="en-US" sz="1100" u="none" strike="noStrike">
                          <a:effectLst/>
                        </a:rPr>
                        <a:t>China Citic Bank Corporation Limited CNCB</a:t>
                      </a:r>
                      <a:endParaRPr lang="en-US"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$1.26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564612212"/>
                  </a:ext>
                </a:extLst>
              </a:tr>
              <a:tr h="131932">
                <a:tc>
                  <a:txBody>
                    <a:bodyPr/>
                    <a:lstStyle/>
                    <a:p>
                      <a:pPr algn="l" fontAlgn="t"/>
                      <a:r>
                        <a:rPr lang="fr-FR" sz="1100" u="none" strike="noStrike">
                          <a:effectLst/>
                        </a:rPr>
                        <a:t>31</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Intesa Sanpaolo</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$1.21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Italy</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554240007"/>
                  </a:ext>
                </a:extLst>
              </a:tr>
              <a:tr h="236597">
                <a:tc>
                  <a:txBody>
                    <a:bodyPr/>
                    <a:lstStyle/>
                    <a:p>
                      <a:pPr algn="l" fontAlgn="t"/>
                      <a:r>
                        <a:rPr lang="fr-FR" sz="1100" u="none" strike="noStrike">
                          <a:effectLst/>
                        </a:rPr>
                        <a:t>32</a:t>
                      </a:r>
                      <a:endParaRPr lang="fr-FR" sz="1100" b="0" i="0" u="none" strike="noStrike">
                        <a:solidFill>
                          <a:srgbClr val="04284A"/>
                        </a:solidFill>
                        <a:effectLst/>
                        <a:latin typeface="Inherit"/>
                      </a:endParaRPr>
                    </a:p>
                  </a:txBody>
                  <a:tcPr marL="3541" marR="3541" marT="3541" marB="0"/>
                </a:tc>
                <a:tc>
                  <a:txBody>
                    <a:bodyPr/>
                    <a:lstStyle/>
                    <a:p>
                      <a:pPr algn="l" fontAlgn="t"/>
                      <a:r>
                        <a:rPr lang="en-US" sz="1100" u="none" strike="noStrike">
                          <a:effectLst/>
                        </a:rPr>
                        <a:t>The Agricultural Development Bank of China</a:t>
                      </a:r>
                      <a:endParaRPr lang="en-US"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$1.14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2758047411"/>
                  </a:ext>
                </a:extLst>
              </a:tr>
              <a:tr h="131932">
                <a:tc>
                  <a:txBody>
                    <a:bodyPr/>
                    <a:lstStyle/>
                    <a:p>
                      <a:pPr algn="l" fontAlgn="t"/>
                      <a:r>
                        <a:rPr lang="fr-FR" sz="1100" u="none" strike="noStrike">
                          <a:effectLst/>
                        </a:rPr>
                        <a:t>33</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 Minsheng Bank</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$1.09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China</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994162481"/>
                  </a:ext>
                </a:extLst>
              </a:tr>
              <a:tr h="131932">
                <a:tc>
                  <a:txBody>
                    <a:bodyPr/>
                    <a:lstStyle/>
                    <a:p>
                      <a:pPr algn="l" fontAlgn="t"/>
                      <a:r>
                        <a:rPr lang="fr-FR" sz="1100" u="none" strike="noStrike">
                          <a:effectLst/>
                        </a:rPr>
                        <a:t>34</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ING Group</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$1.08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Netherlands</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744870617"/>
                  </a:ext>
                </a:extLst>
              </a:tr>
              <a:tr h="131932">
                <a:tc>
                  <a:txBody>
                    <a:bodyPr/>
                    <a:lstStyle/>
                    <a:p>
                      <a:pPr algn="l" fontAlgn="t"/>
                      <a:r>
                        <a:rPr lang="fr-FR" sz="1100" u="none" strike="noStrike">
                          <a:effectLst/>
                        </a:rPr>
                        <a:t>35</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UniCredit</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$1.04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Italy</a:t>
                      </a:r>
                      <a:endParaRPr lang="fr-FR" sz="1100" b="0" i="0" u="none" strike="noStrike">
                        <a:solidFill>
                          <a:srgbClr val="04284A"/>
                        </a:solidFill>
                        <a:effectLst/>
                        <a:latin typeface="Inherit"/>
                      </a:endParaRPr>
                    </a:p>
                  </a:txBody>
                  <a:tcPr marL="3541" marR="3541" marT="3541" marB="0"/>
                </a:tc>
                <a:extLst>
                  <a:ext uri="{0D108BD9-81ED-4DB2-BD59-A6C34878D82A}">
                    <a16:rowId xmlns:a16="http://schemas.microsoft.com/office/drawing/2014/main" val="1832819735"/>
                  </a:ext>
                </a:extLst>
              </a:tr>
              <a:tr h="131932">
                <a:tc>
                  <a:txBody>
                    <a:bodyPr/>
                    <a:lstStyle/>
                    <a:p>
                      <a:pPr algn="l" fontAlgn="t"/>
                      <a:r>
                        <a:rPr lang="fr-FR" sz="1100" u="none" strike="noStrike">
                          <a:effectLst/>
                        </a:rPr>
                        <a:t>36</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Bank of Nova Scotia</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a:effectLst/>
                        </a:rPr>
                        <a:t>$1.04 trillion</a:t>
                      </a:r>
                      <a:endParaRPr lang="fr-FR" sz="1100" b="0" i="0" u="none" strike="noStrike">
                        <a:solidFill>
                          <a:srgbClr val="04284A"/>
                        </a:solidFill>
                        <a:effectLst/>
                        <a:latin typeface="Inherit"/>
                      </a:endParaRPr>
                    </a:p>
                  </a:txBody>
                  <a:tcPr marL="3541" marR="3541" marT="3541" marB="0"/>
                </a:tc>
                <a:tc>
                  <a:txBody>
                    <a:bodyPr/>
                    <a:lstStyle/>
                    <a:p>
                      <a:pPr algn="l" fontAlgn="t"/>
                      <a:r>
                        <a:rPr lang="fr-FR" sz="1100" u="none" strike="noStrike" dirty="0">
                          <a:effectLst/>
                        </a:rPr>
                        <a:t>Canada</a:t>
                      </a:r>
                      <a:endParaRPr lang="fr-FR" sz="1100" b="0" i="0" u="none" strike="noStrike" dirty="0">
                        <a:solidFill>
                          <a:srgbClr val="04284A"/>
                        </a:solidFill>
                        <a:effectLst/>
                        <a:latin typeface="Inherit"/>
                      </a:endParaRPr>
                    </a:p>
                  </a:txBody>
                  <a:tcPr marL="3541" marR="3541" marT="3541" marB="0"/>
                </a:tc>
                <a:extLst>
                  <a:ext uri="{0D108BD9-81ED-4DB2-BD59-A6C34878D82A}">
                    <a16:rowId xmlns:a16="http://schemas.microsoft.com/office/drawing/2014/main" val="1418505532"/>
                  </a:ext>
                </a:extLst>
              </a:tr>
            </a:tbl>
          </a:graphicData>
        </a:graphic>
      </p:graphicFrame>
      <p:sp>
        <p:nvSpPr>
          <p:cNvPr id="5" name="ZoneTexte 4">
            <a:extLst>
              <a:ext uri="{FF2B5EF4-FFF2-40B4-BE49-F238E27FC236}">
                <a16:creationId xmlns:a16="http://schemas.microsoft.com/office/drawing/2014/main" id="{4843927F-F711-3D36-98AC-451CB06628BC}"/>
              </a:ext>
            </a:extLst>
          </p:cNvPr>
          <p:cNvSpPr txBox="1"/>
          <p:nvPr/>
        </p:nvSpPr>
        <p:spPr>
          <a:xfrm>
            <a:off x="182881" y="2745230"/>
            <a:ext cx="3855724" cy="400110"/>
          </a:xfrm>
          <a:prstGeom prst="rect">
            <a:avLst/>
          </a:prstGeom>
          <a:noFill/>
        </p:spPr>
        <p:txBody>
          <a:bodyPr wrap="square">
            <a:spAutoFit/>
          </a:bodyPr>
          <a:lstStyle/>
          <a:p>
            <a:pPr defTabSz="914400">
              <a:spcBef>
                <a:spcPts val="1000"/>
              </a:spcBef>
            </a:pPr>
            <a:r>
              <a:rPr lang="en-US" sz="2000" b="1" kern="1200" dirty="0">
                <a:solidFill>
                  <a:schemeClr val="bg1"/>
                </a:solidFill>
                <a:latin typeface="+mn-lt"/>
                <a:ea typeface="+mn-ea"/>
                <a:cs typeface="+mn-cs"/>
              </a:rPr>
              <a:t>Threat for the Global stability?</a:t>
            </a:r>
          </a:p>
        </p:txBody>
      </p:sp>
    </p:spTree>
    <p:extLst>
      <p:ext uri="{BB962C8B-B14F-4D97-AF65-F5344CB8AC3E}">
        <p14:creationId xmlns:p14="http://schemas.microsoft.com/office/powerpoint/2010/main" val="3974183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615215D-E04F-368B-31F3-47CF95400BC5}"/>
              </a:ext>
            </a:extLst>
          </p:cNvPr>
          <p:cNvSpPr txBox="1"/>
          <p:nvPr/>
        </p:nvSpPr>
        <p:spPr>
          <a:xfrm>
            <a:off x="447040" y="985520"/>
            <a:ext cx="11430000" cy="44012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err="1">
                <a:ln>
                  <a:noFill/>
                </a:ln>
                <a:solidFill>
                  <a:prstClr val="black"/>
                </a:solidFill>
                <a:effectLst/>
                <a:uLnTx/>
                <a:uFillTx/>
                <a:latin typeface="Calibri" panose="020F0502020204030204"/>
                <a:ea typeface="+mn-ea"/>
                <a:cs typeface="+mn-cs"/>
              </a:rPr>
              <a:t>Which</a:t>
            </a:r>
            <a:r>
              <a:rPr kumimoji="0" lang="fr-FR" sz="3200" b="1" i="0" u="none" strike="noStrike" kern="1200" cap="none" spc="0" normalizeH="0" baseline="0" noProof="0" dirty="0">
                <a:ln>
                  <a:noFill/>
                </a:ln>
                <a:solidFill>
                  <a:prstClr val="black"/>
                </a:solidFill>
                <a:effectLst/>
                <a:uLnTx/>
                <a:uFillTx/>
                <a:latin typeface="Calibri" panose="020F0502020204030204"/>
                <a:ea typeface="+mn-ea"/>
                <a:cs typeface="+mn-cs"/>
              </a:rPr>
              <a:t> Storytelling </a:t>
            </a:r>
            <a:r>
              <a:rPr kumimoji="0" lang="fr-FR" sz="3200" b="1" i="0" u="none" strike="noStrike" kern="1200" cap="none" spc="0" normalizeH="0" baseline="0" noProof="0" dirty="0" err="1">
                <a:ln>
                  <a:noFill/>
                </a:ln>
                <a:solidFill>
                  <a:prstClr val="black"/>
                </a:solidFill>
                <a:effectLst/>
                <a:uLnTx/>
                <a:uFillTx/>
                <a:latin typeface="Calibri" panose="020F0502020204030204"/>
                <a:ea typeface="+mn-ea"/>
                <a:cs typeface="+mn-cs"/>
              </a:rPr>
              <a:t>could</a:t>
            </a:r>
            <a:r>
              <a:rPr kumimoji="0" lang="fr-FR" sz="32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3200" b="1" i="0" u="none" strike="noStrike" kern="1200" cap="none" spc="0" normalizeH="0" baseline="0" noProof="0" dirty="0" err="1">
                <a:ln>
                  <a:noFill/>
                </a:ln>
                <a:solidFill>
                  <a:prstClr val="black"/>
                </a:solidFill>
                <a:effectLst/>
                <a:uLnTx/>
                <a:uFillTx/>
                <a:latin typeface="Calibri" panose="020F0502020204030204"/>
                <a:ea typeface="+mn-ea"/>
                <a:cs typeface="+mn-cs"/>
              </a:rPr>
              <a:t>we</a:t>
            </a:r>
            <a:r>
              <a:rPr kumimoji="0" lang="fr-FR" sz="3200" b="1" i="0" u="none" strike="noStrike" kern="1200" cap="none" spc="0" normalizeH="0" baseline="0" noProof="0" dirty="0">
                <a:ln>
                  <a:noFill/>
                </a:ln>
                <a:solidFill>
                  <a:prstClr val="black"/>
                </a:solidFill>
                <a:effectLst/>
                <a:uLnTx/>
                <a:uFillTx/>
                <a:latin typeface="Calibri" panose="020F0502020204030204"/>
                <a:ea typeface="+mn-ea"/>
                <a:cs typeface="+mn-cs"/>
              </a:rPr>
              <a:t> compose </a:t>
            </a:r>
            <a:r>
              <a:rPr kumimoji="0" lang="fr-FR" sz="3200" b="1" i="0" u="none" strike="noStrike" kern="1200" cap="none" spc="0" normalizeH="0" baseline="0" noProof="0" dirty="0" err="1">
                <a:ln>
                  <a:noFill/>
                </a:ln>
                <a:solidFill>
                  <a:prstClr val="black"/>
                </a:solidFill>
                <a:effectLst/>
                <a:uLnTx/>
                <a:uFillTx/>
                <a:latin typeface="Calibri" panose="020F0502020204030204"/>
                <a:ea typeface="+mn-ea"/>
                <a:cs typeface="+mn-cs"/>
              </a:rPr>
              <a:t>starting</a:t>
            </a:r>
            <a:r>
              <a:rPr kumimoji="0" lang="fr-FR" sz="32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3200" b="1" i="0" u="none" strike="noStrike" kern="1200" cap="none" spc="0" normalizeH="0" baseline="0" noProof="0" dirty="0" err="1">
                <a:ln>
                  <a:noFill/>
                </a:ln>
                <a:solidFill>
                  <a:prstClr val="black"/>
                </a:solidFill>
                <a:effectLst/>
                <a:uLnTx/>
                <a:uFillTx/>
                <a:latin typeface="Calibri" panose="020F0502020204030204"/>
                <a:ea typeface="+mn-ea"/>
                <a:cs typeface="+mn-cs"/>
              </a:rPr>
              <a:t>from</a:t>
            </a:r>
            <a:r>
              <a:rPr kumimoji="0" lang="fr-FR" sz="32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3200" b="1" i="0" u="none" strike="noStrike" kern="1200" cap="none" spc="0" normalizeH="0" baseline="0" noProof="0" dirty="0" err="1">
                <a:ln>
                  <a:noFill/>
                </a:ln>
                <a:solidFill>
                  <a:prstClr val="black"/>
                </a:solidFill>
                <a:effectLst/>
                <a:uLnTx/>
                <a:uFillTx/>
                <a:latin typeface="Calibri" panose="020F0502020204030204"/>
                <a:ea typeface="+mn-ea"/>
                <a:cs typeface="+mn-cs"/>
              </a:rPr>
              <a:t>those</a:t>
            </a:r>
            <a:r>
              <a:rPr kumimoji="0" lang="fr-FR" sz="3200" b="1" i="0" u="none" strike="noStrike" kern="1200" cap="none" spc="0" normalizeH="0" baseline="0" noProof="0" dirty="0">
                <a:ln>
                  <a:noFill/>
                </a:ln>
                <a:solidFill>
                  <a:prstClr val="black"/>
                </a:solidFill>
                <a:effectLst/>
                <a:uLnTx/>
                <a:uFillTx/>
                <a:latin typeface="Calibri" panose="020F0502020204030204"/>
                <a:ea typeface="+mn-ea"/>
                <a:cs typeface="+mn-cs"/>
              </a:rPr>
              <a:t> concepts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0" i="0" u="sng" strike="noStrike" kern="1200" cap="none" spc="0" normalizeH="0" baseline="0" noProof="0" dirty="0" err="1">
                <a:ln>
                  <a:noFill/>
                </a:ln>
                <a:solidFill>
                  <a:prstClr val="black"/>
                </a:solidFill>
                <a:effectLst/>
                <a:uLnTx/>
                <a:uFillTx/>
                <a:latin typeface="Calibri" panose="020F0502020204030204"/>
                <a:ea typeface="+mn-ea"/>
                <a:cs typeface="+mn-cs"/>
              </a:rPr>
              <a:t>Exercise</a:t>
            </a:r>
            <a:endParaRPr kumimoji="0" lang="fr-FR" sz="2800" b="0" i="0" u="sng"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Big </a:t>
            </a:r>
            <a:r>
              <a:rPr kumimoji="0" lang="fr-FR" sz="2800" b="0" i="0" u="none" strike="noStrike" kern="1200" cap="none" spc="0" normalizeH="0" baseline="0" noProof="0" dirty="0" err="1">
                <a:ln>
                  <a:noFill/>
                </a:ln>
                <a:solidFill>
                  <a:prstClr val="black"/>
                </a:solidFill>
                <a:effectLst/>
                <a:uLnTx/>
                <a:uFillTx/>
                <a:latin typeface="Calibri" panose="020F0502020204030204"/>
                <a:ea typeface="+mn-ea"/>
                <a:cs typeface="+mn-cs"/>
              </a:rPr>
              <a:t>is</a:t>
            </a: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2800" b="0" i="0" u="none" strike="noStrike" kern="1200" cap="none" spc="0" normalizeH="0" baseline="0" noProof="0" dirty="0" err="1">
                <a:ln>
                  <a:noFill/>
                </a:ln>
                <a:solidFill>
                  <a:prstClr val="black"/>
                </a:solidFill>
                <a:effectLst/>
                <a:uLnTx/>
                <a:uFillTx/>
                <a:latin typeface="Calibri" panose="020F0502020204030204"/>
                <a:ea typeface="+mn-ea"/>
                <a:cs typeface="+mn-cs"/>
              </a:rPr>
              <a:t>Beautiful</a:t>
            </a: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2800" b="0" i="0" u="none" strike="noStrike" kern="1200" cap="none" spc="0" normalizeH="0" baseline="0" noProof="0" dirty="0" err="1">
                <a:ln>
                  <a:noFill/>
                </a:ln>
                <a:solidFill>
                  <a:prstClr val="black"/>
                </a:solidFill>
                <a:effectLst/>
                <a:uLnTx/>
                <a:uFillTx/>
                <a:latin typeface="Calibri" panose="020F0502020204030204"/>
                <a:ea typeface="+mn-ea"/>
                <a:cs typeface="+mn-cs"/>
              </a:rPr>
              <a:t>Too</a:t>
            </a: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Big to Fail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2800" b="0" i="0" u="none" strike="noStrike" kern="1200" cap="none" spc="0" normalizeH="0" baseline="0" noProof="0" dirty="0" err="1">
                <a:ln>
                  <a:noFill/>
                </a:ln>
                <a:solidFill>
                  <a:prstClr val="black"/>
                </a:solidFill>
                <a:effectLst/>
                <a:uLnTx/>
                <a:uFillTx/>
                <a:latin typeface="Calibri" panose="020F0502020204030204"/>
                <a:ea typeface="+mn-ea"/>
                <a:cs typeface="+mn-cs"/>
              </a:rPr>
              <a:t>Lender</a:t>
            </a: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of Last </a:t>
            </a:r>
            <a:r>
              <a:rPr kumimoji="0" lang="fr-FR" sz="2800" b="0" i="0" u="none" strike="noStrike" kern="1200" cap="none" spc="0" normalizeH="0" baseline="0" noProof="0" dirty="0" err="1">
                <a:ln>
                  <a:noFill/>
                </a:ln>
                <a:solidFill>
                  <a:prstClr val="black"/>
                </a:solidFill>
                <a:effectLst/>
                <a:uLnTx/>
                <a:uFillTx/>
                <a:latin typeface="Calibri" panose="020F0502020204030204"/>
                <a:ea typeface="+mn-ea"/>
                <a:cs typeface="+mn-cs"/>
              </a:rPr>
              <a:t>resort</a:t>
            </a: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2800" b="0" i="0" u="none" strike="noStrike" kern="1200" cap="none" spc="0" normalizeH="0" baseline="0" noProof="0" dirty="0" err="1">
                <a:ln>
                  <a:noFill/>
                </a:ln>
                <a:solidFill>
                  <a:prstClr val="black"/>
                </a:solidFill>
                <a:effectLst/>
                <a:uLnTx/>
                <a:uFillTx/>
                <a:latin typeface="Calibri" panose="020F0502020204030204"/>
                <a:ea typeface="+mn-ea"/>
                <a:cs typeface="+mn-cs"/>
              </a:rPr>
              <a:t>Hostage</a:t>
            </a: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of Bankers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rPr>
              <a:t>« Moral Hazard »</a:t>
            </a:r>
          </a:p>
        </p:txBody>
      </p:sp>
      <p:sp>
        <p:nvSpPr>
          <p:cNvPr id="3" name="Triangle isocèle 2">
            <a:extLst>
              <a:ext uri="{FF2B5EF4-FFF2-40B4-BE49-F238E27FC236}">
                <a16:creationId xmlns:a16="http://schemas.microsoft.com/office/drawing/2014/main" id="{37AAA6F4-4192-EF16-F410-68A183E77346}"/>
              </a:ext>
            </a:extLst>
          </p:cNvPr>
          <p:cNvSpPr/>
          <p:nvPr/>
        </p:nvSpPr>
        <p:spPr>
          <a:xfrm>
            <a:off x="11103429" y="233265"/>
            <a:ext cx="574620" cy="604938"/>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2336444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5868B6B-C8A6-92DC-3640-D020939C0C81}"/>
              </a:ext>
            </a:extLst>
          </p:cNvPr>
          <p:cNvSpPr txBox="1"/>
          <p:nvPr/>
        </p:nvSpPr>
        <p:spPr>
          <a:xfrm>
            <a:off x="976313" y="1119187"/>
            <a:ext cx="998934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Group Deliberation: The "Red/Blue" Split (30 Minutes)</a:t>
            </a:r>
          </a:p>
          <a:p>
            <a:endParaRPr lang="en-US" b="1" dirty="0"/>
          </a:p>
          <a:p>
            <a:r>
              <a:rPr lang="en-US"/>
              <a:t>Divide the room into two halves. Each group must prepare a 10</a:t>
            </a:r>
            <a:r>
              <a:rPr lang="en-US" b="1"/>
              <a:t>-minute defense</a:t>
            </a:r>
            <a:r>
              <a:rPr lang="en-US" dirty="0"/>
              <a:t> of their assigned path:</a:t>
            </a:r>
            <a:endParaRPr lang="en-US" dirty="0">
              <a:ea typeface="Calibri"/>
              <a:cs typeface="Calibri"/>
            </a:endParaRPr>
          </a:p>
          <a:p>
            <a:pPr marL="228600" indent="-228600">
              <a:buFont typeface=""/>
              <a:buChar char="•"/>
            </a:pPr>
            <a:r>
              <a:rPr lang="en-US" b="1"/>
              <a:t>Group RED (The Realists):</a:t>
            </a:r>
            <a:r>
              <a:rPr lang="en-US"/>
              <a:t> Argue for an immediate, unconditional bailout.</a:t>
            </a:r>
          </a:p>
          <a:p>
            <a:pPr marL="228600" lvl="1" indent="-228600">
              <a:buFont typeface=""/>
              <a:buChar char="•"/>
            </a:pPr>
            <a:r>
              <a:rPr lang="en-US" i="1"/>
              <a:t>Must use:</a:t>
            </a:r>
            <a:r>
              <a:rPr lang="en-US"/>
              <a:t> "Big is Beautiful" (market stability) and "Too Big to Fail" (avoiding total collapse).</a:t>
            </a:r>
          </a:p>
          <a:p>
            <a:pPr marL="228600" lvl="1" indent="-228600">
              <a:buFont typeface=""/>
              <a:buChar char="•"/>
            </a:pPr>
            <a:endParaRPr lang="en-US" dirty="0"/>
          </a:p>
          <a:p>
            <a:pPr marL="228600" indent="-228600">
              <a:buFont typeface=""/>
              <a:buChar char="•"/>
            </a:pPr>
            <a:r>
              <a:rPr lang="en-US" b="1"/>
              <a:t>Group BLUE (The Reformers):</a:t>
            </a:r>
            <a:r>
              <a:rPr lang="en-US"/>
              <a:t> Argue for controlled liquidation and letting the bank fail.</a:t>
            </a:r>
          </a:p>
          <a:p>
            <a:pPr marL="228600" lvl="1" indent="-228600">
              <a:buFont typeface=""/>
              <a:buChar char="•"/>
            </a:pPr>
            <a:r>
              <a:rPr lang="en-US" i="1"/>
              <a:t>Must use:</a:t>
            </a:r>
            <a:r>
              <a:rPr lang="en-US"/>
              <a:t> "Moral Hazard" (the need to teach the market a lesson) and "Hostage of Bankers" (the need to regain state sovereignty).</a:t>
            </a:r>
          </a:p>
          <a:p>
            <a:pPr algn="ctr"/>
            <a:endParaRPr lang="fr-FR"/>
          </a:p>
        </p:txBody>
      </p:sp>
      <p:sp>
        <p:nvSpPr>
          <p:cNvPr id="4" name="ZoneTexte 3">
            <a:extLst>
              <a:ext uri="{FF2B5EF4-FFF2-40B4-BE49-F238E27FC236}">
                <a16:creationId xmlns:a16="http://schemas.microsoft.com/office/drawing/2014/main" id="{264C78D9-DE7E-8F1F-9711-7687CFDC9B25}"/>
              </a:ext>
            </a:extLst>
          </p:cNvPr>
          <p:cNvSpPr txBox="1"/>
          <p:nvPr/>
        </p:nvSpPr>
        <p:spPr>
          <a:xfrm>
            <a:off x="988219" y="4250531"/>
            <a:ext cx="1012031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The Final Vote &amp; Debrief (10 Minutes)</a:t>
            </a:r>
          </a:p>
          <a:p>
            <a:pPr marL="228600" indent="-228600">
              <a:buFont typeface=""/>
              <a:buChar char="•"/>
            </a:pPr>
            <a:r>
              <a:rPr lang="en-US" b="1"/>
              <a:t>The Vote:</a:t>
            </a:r>
            <a:r>
              <a:rPr lang="en-US"/>
              <a:t> The class votes on which path to take.</a:t>
            </a:r>
          </a:p>
          <a:p>
            <a:pPr marL="228600" indent="-228600">
              <a:buFont typeface=""/>
              <a:buChar char="•"/>
            </a:pPr>
            <a:r>
              <a:rPr lang="en-US" b="1"/>
              <a:t>The Closing Question:</a:t>
            </a:r>
            <a:r>
              <a:rPr lang="en-US"/>
              <a:t> As the "Prime Minister," you force the winning group to answer: </a:t>
            </a:r>
            <a:r>
              <a:rPr lang="en-US" i="1"/>
              <a:t>"You have saved the system, but how will you answer to the taxpayers in ten years?"</a:t>
            </a:r>
          </a:p>
          <a:p>
            <a:pPr algn="ctr"/>
            <a:endParaRPr lang="fr-FR"/>
          </a:p>
        </p:txBody>
      </p:sp>
    </p:spTree>
    <p:extLst>
      <p:ext uri="{BB962C8B-B14F-4D97-AF65-F5344CB8AC3E}">
        <p14:creationId xmlns:p14="http://schemas.microsoft.com/office/powerpoint/2010/main" val="900659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ZoneTexte 2">
            <a:extLst>
              <a:ext uri="{FF2B5EF4-FFF2-40B4-BE49-F238E27FC236}">
                <a16:creationId xmlns:a16="http://schemas.microsoft.com/office/drawing/2014/main" id="{E6A34B9E-46A0-53C3-0FD2-C04FDAA44E6E}"/>
              </a:ext>
            </a:extLst>
          </p:cNvPr>
          <p:cNvSpPr txBox="1"/>
          <p:nvPr/>
        </p:nvSpPr>
        <p:spPr>
          <a:xfrm>
            <a:off x="4175760" y="101600"/>
            <a:ext cx="7721065" cy="6614160"/>
          </a:xfrm>
          <a:prstGeom prst="rect">
            <a:avLst/>
          </a:prstGeom>
        </p:spPr>
        <p:txBody>
          <a:bodyPr vert="horz" lIns="91440" tIns="45720" rIns="91440" bIns="45720" rtlCol="0" anchor="ctr">
            <a:normAutofit/>
          </a:bodyPr>
          <a:lstStyle/>
          <a:p>
            <a:pPr marL="4445" marR="0" lvl="0" indent="-228600" algn="l" defTabSz="914400" rtl="0" eaLnBrk="1" fontAlgn="auto" latinLnBrk="0" hangingPunct="1">
              <a:lnSpc>
                <a:spcPct val="90000"/>
              </a:lnSpc>
              <a:spcBef>
                <a:spcPts val="0"/>
              </a:spcBef>
              <a:spcAft>
                <a:spcPts val="13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The revoking of the </a:t>
            </a:r>
            <a:r>
              <a:rPr kumimoji="0" lang="en-US" sz="2800" b="0" i="0" u="sng" strike="noStrike" kern="1200" cap="none" spc="0" normalizeH="0" baseline="0" noProof="0" dirty="0">
                <a:ln>
                  <a:noFill/>
                </a:ln>
                <a:solidFill>
                  <a:prstClr val="black"/>
                </a:solidFill>
                <a:effectLst/>
                <a:uLnTx/>
                <a:uFillTx/>
                <a:latin typeface="Calibri" panose="020F0502020204030204"/>
                <a:ea typeface="+mn-ea"/>
                <a:cs typeface="+mn-cs"/>
              </a:rPr>
              <a:t>McFadden Act (1927)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the US in the 1980s proved a strong stimulus to the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cross-state merger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process. </a:t>
            </a:r>
          </a:p>
          <a:p>
            <a:pPr marL="4445" marR="0" lvl="0" indent="-228600" algn="l" defTabSz="914400" rtl="0" eaLnBrk="1" fontAlgn="auto" latinLnBrk="0" hangingPunct="1">
              <a:lnSpc>
                <a:spcPct val="90000"/>
              </a:lnSpc>
              <a:spcBef>
                <a:spcPts val="0"/>
              </a:spcBef>
              <a:spcAft>
                <a:spcPts val="13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2800" b="0" i="0" u="sng" strike="noStrike" kern="1200" cap="none" spc="0" normalizeH="0" baseline="0" noProof="0" dirty="0">
                <a:ln>
                  <a:noFill/>
                </a:ln>
                <a:solidFill>
                  <a:prstClr val="black"/>
                </a:solidFill>
                <a:effectLst/>
                <a:uLnTx/>
                <a:uFillTx/>
                <a:latin typeface="Calibri" panose="020F0502020204030204"/>
                <a:ea typeface="+mn-ea"/>
                <a:cs typeface="+mn-cs"/>
              </a:rPr>
              <a:t>Glass Steagall Act (1933)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also prohibited activities in US like joint ventures between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banks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insurers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thus causing institutions to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become powerful specialists,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particularly in the field of investment banking (about seven of the top ten investment banks in the world are American, though this is also due to the enormous capital markets in the US). </a:t>
            </a:r>
          </a:p>
          <a:p>
            <a:pPr marL="4445" marR="0" lvl="0" indent="-228600" algn="l" defTabSz="914400" rtl="0" eaLnBrk="1" fontAlgn="auto" latinLnBrk="0" hangingPunct="1">
              <a:lnSpc>
                <a:spcPct val="90000"/>
              </a:lnSpc>
              <a:spcBef>
                <a:spcPts val="0"/>
              </a:spcBef>
              <a:spcAft>
                <a:spcPts val="13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2800" b="0" i="0" u="sng" strike="noStrike" kern="1200" cap="none" spc="0" normalizeH="0" baseline="0" noProof="0" dirty="0">
                <a:ln>
                  <a:noFill/>
                </a:ln>
                <a:solidFill>
                  <a:prstClr val="black"/>
                </a:solidFill>
                <a:effectLst/>
                <a:uLnTx/>
                <a:uFillTx/>
                <a:latin typeface="Calibri" panose="020F0502020204030204"/>
                <a:ea typeface="+mn-ea"/>
                <a:cs typeface="+mn-cs"/>
              </a:rPr>
              <a:t>Gramm Leach Bliley Act of 2000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changed this, and allowed for far-reaching collaboration between banks, insurers and brokerage firms. Since then, a trend towards more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universal financial institutions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has emerged. </a:t>
            </a:r>
          </a:p>
        </p:txBody>
      </p:sp>
      <p:sp>
        <p:nvSpPr>
          <p:cNvPr id="4" name="ZoneTexte 3">
            <a:extLst>
              <a:ext uri="{FF2B5EF4-FFF2-40B4-BE49-F238E27FC236}">
                <a16:creationId xmlns:a16="http://schemas.microsoft.com/office/drawing/2014/main" id="{944DA16E-7E39-C9D7-8F28-093FE00F4140}"/>
              </a:ext>
            </a:extLst>
          </p:cNvPr>
          <p:cNvSpPr txBox="1"/>
          <p:nvPr/>
        </p:nvSpPr>
        <p:spPr>
          <a:xfrm>
            <a:off x="558266" y="1049154"/>
            <a:ext cx="2473692"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fr-FR" sz="3600" b="0" i="0" u="none" strike="noStrike" kern="1200" cap="none" spc="0" normalizeH="0" baseline="0" noProof="0" dirty="0">
                <a:ln>
                  <a:noFill/>
                </a:ln>
                <a:solidFill>
                  <a:prstClr val="white"/>
                </a:solidFill>
                <a:effectLst/>
                <a:uLnTx/>
                <a:uFillTx/>
                <a:latin typeface="Calibri" panose="020F0502020204030204"/>
                <a:ea typeface="+mn-ea"/>
                <a:cs typeface="+mn-cs"/>
              </a:rPr>
              <a:t>In the US: the </a:t>
            </a:r>
            <a:r>
              <a:rPr kumimoji="0" lang="fr-FR" sz="3600" b="0" i="0" u="none" strike="noStrike" kern="1200" cap="none" spc="0" normalizeH="0" baseline="0" noProof="0" dirty="0" err="1">
                <a:ln>
                  <a:noFill/>
                </a:ln>
                <a:solidFill>
                  <a:prstClr val="white"/>
                </a:solidFill>
                <a:effectLst/>
                <a:uLnTx/>
                <a:uFillTx/>
                <a:latin typeface="Calibri" panose="020F0502020204030204"/>
                <a:ea typeface="+mn-ea"/>
                <a:cs typeface="+mn-cs"/>
              </a:rPr>
              <a:t>effect</a:t>
            </a:r>
            <a:r>
              <a:rPr kumimoji="0" lang="fr-FR" sz="3600" b="0" i="0" u="none" strike="noStrike" kern="1200" cap="none" spc="0" normalizeH="0" baseline="0" noProof="0" dirty="0">
                <a:ln>
                  <a:noFill/>
                </a:ln>
                <a:solidFill>
                  <a:prstClr val="white"/>
                </a:solidFill>
                <a:effectLst/>
                <a:uLnTx/>
                <a:uFillTx/>
                <a:latin typeface="Calibri" panose="020F0502020204030204"/>
                <a:ea typeface="+mn-ea"/>
                <a:cs typeface="+mn-cs"/>
              </a:rPr>
              <a:t> of </a:t>
            </a:r>
            <a:r>
              <a:rPr kumimoji="0" lang="fr-FR" sz="3600" b="0" i="0" u="none" strike="noStrike" kern="1200" cap="none" spc="0" normalizeH="0" baseline="0" noProof="0" dirty="0" err="1">
                <a:ln>
                  <a:noFill/>
                </a:ln>
                <a:solidFill>
                  <a:prstClr val="white"/>
                </a:solidFill>
                <a:effectLst/>
                <a:uLnTx/>
                <a:uFillTx/>
                <a:latin typeface="Calibri" panose="020F0502020204030204"/>
                <a:ea typeface="+mn-ea"/>
                <a:cs typeface="+mn-cs"/>
              </a:rPr>
              <a:t>regulation</a:t>
            </a:r>
            <a:endParaRPr kumimoji="0" lang="fr-FR"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riangle isocèle 1">
            <a:extLst>
              <a:ext uri="{FF2B5EF4-FFF2-40B4-BE49-F238E27FC236}">
                <a16:creationId xmlns:a16="http://schemas.microsoft.com/office/drawing/2014/main" id="{1DAD693D-39FA-1BA8-0CA0-0362A400247E}"/>
              </a:ext>
            </a:extLst>
          </p:cNvPr>
          <p:cNvSpPr/>
          <p:nvPr/>
        </p:nvSpPr>
        <p:spPr>
          <a:xfrm>
            <a:off x="11346424" y="1004782"/>
            <a:ext cx="574620" cy="604938"/>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2873088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Triangle 23">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EBDBB88-0DC8-ABDF-E1E3-5AB37B8F5E12}"/>
              </a:ext>
            </a:extLst>
          </p:cNvPr>
          <p:cNvSpPr>
            <a:spLocks noGrp="1"/>
          </p:cNvSpPr>
          <p:nvPr>
            <p:ph type="ctrTitle"/>
          </p:nvPr>
        </p:nvSpPr>
        <p:spPr>
          <a:xfrm>
            <a:off x="1075767" y="1188637"/>
            <a:ext cx="2988234" cy="4480726"/>
          </a:xfrm>
        </p:spPr>
        <p:txBody>
          <a:bodyPr vert="horz" lIns="91440" tIns="45720" rIns="91440" bIns="45720" rtlCol="0" anchor="ctr">
            <a:normAutofit/>
          </a:bodyPr>
          <a:lstStyle/>
          <a:p>
            <a:pPr algn="r" defTabSz="914400"/>
            <a:r>
              <a:rPr kumimoji="0" lang="en-US" sz="4600" b="1" i="0" u="none" strike="noStrike" kern="1200" cap="none" spc="0" normalizeH="0" baseline="0" noProof="0">
                <a:ln>
                  <a:noFill/>
                </a:ln>
                <a:solidFill>
                  <a:schemeClr val="tx1"/>
                </a:solidFill>
                <a:effectLst/>
                <a:uLnTx/>
                <a:uFillTx/>
                <a:latin typeface="+mj-lt"/>
                <a:ea typeface="+mj-ea"/>
                <a:cs typeface="+mj-cs"/>
              </a:rPr>
              <a:t>A sustainable bank: new business model </a:t>
            </a:r>
            <a:br>
              <a:rPr kumimoji="0" lang="en-US" sz="4600" b="1" i="0" u="none" strike="noStrike" kern="1200" cap="none" spc="0" normalizeH="0" baseline="0" noProof="0">
                <a:ln>
                  <a:noFill/>
                </a:ln>
                <a:solidFill>
                  <a:schemeClr val="tx1"/>
                </a:solidFill>
                <a:effectLst/>
                <a:uLnTx/>
                <a:uFillTx/>
                <a:latin typeface="+mj-lt"/>
                <a:ea typeface="+mj-ea"/>
                <a:cs typeface="+mj-cs"/>
              </a:rPr>
            </a:br>
            <a:endParaRPr lang="en-US" sz="4600" kern="1200">
              <a:solidFill>
                <a:schemeClr val="tx1"/>
              </a:solidFill>
              <a:latin typeface="+mj-lt"/>
              <a:ea typeface="+mj-ea"/>
              <a:cs typeface="+mj-cs"/>
            </a:endParaRPr>
          </a:p>
        </p:txBody>
      </p:sp>
      <p:cxnSp>
        <p:nvCxnSpPr>
          <p:cNvPr id="46" name="Straight Connector 27">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619E3926-F8D1-F23F-45D0-6A1161CAACCF}"/>
              </a:ext>
            </a:extLst>
          </p:cNvPr>
          <p:cNvSpPr txBox="1"/>
          <p:nvPr/>
        </p:nvSpPr>
        <p:spPr>
          <a:xfrm>
            <a:off x="5255260" y="1708401"/>
            <a:ext cx="6131597" cy="3500729"/>
          </a:xfrm>
          <a:prstGeom prst="rect">
            <a:avLst/>
          </a:prstGeom>
        </p:spPr>
        <p:txBody>
          <a:bodyPr vert="horz" lIns="91440" tIns="45720" rIns="91440" bIns="45720" rtlCol="0" anchor="ctr">
            <a:normAutofit/>
          </a:bodyPr>
          <a:lstStyle/>
          <a:p>
            <a:pPr>
              <a:lnSpc>
                <a:spcPct val="90000"/>
              </a:lnSpc>
              <a:spcAft>
                <a:spcPts val="600"/>
              </a:spcAft>
            </a:pPr>
            <a:r>
              <a:rPr lang="en-US" sz="2400"/>
              <a:t>It should </a:t>
            </a:r>
            <a:br>
              <a:rPr lang="en-US" sz="2400"/>
            </a:br>
            <a:br>
              <a:rPr lang="en-US" sz="2400"/>
            </a:br>
            <a:r>
              <a:rPr lang="en-US" sz="2400"/>
              <a:t>1/ Guarantee a </a:t>
            </a:r>
            <a:r>
              <a:rPr lang="en-US" sz="2400" b="1"/>
              <a:t>strong ecological transition</a:t>
            </a:r>
            <a:r>
              <a:rPr lang="en-US" sz="2400"/>
              <a:t>.</a:t>
            </a:r>
            <a:br>
              <a:rPr lang="en-US" sz="2400"/>
            </a:br>
            <a:br>
              <a:rPr lang="en-US" sz="2400"/>
            </a:br>
            <a:r>
              <a:rPr lang="en-US" sz="2400"/>
              <a:t>2/ Respect not only its Shareholders but also </a:t>
            </a:r>
            <a:r>
              <a:rPr lang="en-US" sz="2400" b="1"/>
              <a:t>all the stakeholders</a:t>
            </a:r>
            <a:r>
              <a:rPr lang="en-US" sz="2400"/>
              <a:t>.</a:t>
            </a:r>
            <a:endParaRPr lang="fr-FR"/>
          </a:p>
        </p:txBody>
      </p:sp>
    </p:spTree>
    <p:extLst>
      <p:ext uri="{BB962C8B-B14F-4D97-AF65-F5344CB8AC3E}">
        <p14:creationId xmlns:p14="http://schemas.microsoft.com/office/powerpoint/2010/main" val="120492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2" name="Rectangle 36871">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74" name="Right Triangle 36873">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876" name="Rectangle 36875">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ZoneTexte 2">
            <a:extLst>
              <a:ext uri="{FF2B5EF4-FFF2-40B4-BE49-F238E27FC236}">
                <a16:creationId xmlns:a16="http://schemas.microsoft.com/office/drawing/2014/main" id="{B2822D61-426F-DCDE-5330-B788A2A08538}"/>
              </a:ext>
            </a:extLst>
          </p:cNvPr>
          <p:cNvSpPr txBox="1"/>
          <p:nvPr/>
        </p:nvSpPr>
        <p:spPr>
          <a:xfrm>
            <a:off x="1285240" y="1050595"/>
            <a:ext cx="8074815" cy="1618489"/>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kumimoji="0" lang="en-US" sz="6700" b="1" i="0" u="none" strike="noStrike" kern="1200" cap="none" spc="0" normalizeH="0" baseline="0" noProof="0">
                <a:ln>
                  <a:noFill/>
                </a:ln>
                <a:solidFill>
                  <a:schemeClr val="tx1"/>
                </a:solidFill>
                <a:effectLst/>
                <a:uLnTx/>
                <a:uFillTx/>
                <a:latin typeface="+mj-lt"/>
                <a:ea typeface="+mj-ea"/>
                <a:cs typeface="+mj-cs"/>
              </a:rPr>
              <a:t>The stakeholder Theory </a:t>
            </a:r>
          </a:p>
        </p:txBody>
      </p:sp>
      <p:sp>
        <p:nvSpPr>
          <p:cNvPr id="36867" name="ZoneTexte 2">
            <a:extLst>
              <a:ext uri="{FF2B5EF4-FFF2-40B4-BE49-F238E27FC236}">
                <a16:creationId xmlns:a16="http://schemas.microsoft.com/office/drawing/2014/main" id="{036B583D-C394-40E8-BCB6-C19BF6855ED3}"/>
              </a:ext>
            </a:extLst>
          </p:cNvPr>
          <p:cNvSpPr txBox="1">
            <a:spLocks noChangeArrowheads="1"/>
          </p:cNvSpPr>
          <p:nvPr/>
        </p:nvSpPr>
        <p:spPr bwMode="auto">
          <a:xfrm>
            <a:off x="1285240" y="2969469"/>
            <a:ext cx="8932064" cy="28003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marL="514350" indent="-228600">
              <a:lnSpc>
                <a:spcPct val="90000"/>
              </a:lnSpc>
              <a:spcBef>
                <a:spcPct val="0"/>
              </a:spcBef>
              <a:spcAft>
                <a:spcPts val="600"/>
              </a:spcAft>
              <a:buFont typeface="Arial" panose="020B0604020202020204" pitchFamily="34" charset="0"/>
              <a:buChar char="•"/>
              <a:defRPr/>
            </a:pPr>
            <a:r>
              <a:rPr kumimoji="0" lang="en-US" altLang="fr-FR" sz="2400" b="0" i="0" u="none" strike="noStrike" cap="none" spc="0" normalizeH="0" baseline="0" noProof="0" dirty="0">
                <a:ln>
                  <a:noFill/>
                </a:ln>
                <a:effectLst/>
                <a:uLnTx/>
                <a:uFillTx/>
                <a:latin typeface="+mn-lt"/>
              </a:rPr>
              <a:t>The stakeholder theory </a:t>
            </a:r>
            <a:r>
              <a:rPr lang="en-US" altLang="fr-FR" sz="2400" dirty="0">
                <a:latin typeface="+mn-lt"/>
              </a:rPr>
              <a:t>targets </a:t>
            </a:r>
            <a:r>
              <a:rPr lang="en-US" altLang="fr-FR" sz="2400">
                <a:latin typeface="+mn-lt"/>
              </a:rPr>
              <a:t>an ethical organizational</a:t>
            </a:r>
            <a:r>
              <a:rPr kumimoji="0" lang="en-US" altLang="fr-FR" sz="2400" b="0" i="0" u="none" strike="noStrike" cap="none" spc="0" normalizeH="0" baseline="0" noProof="0" dirty="0">
                <a:ln>
                  <a:noFill/>
                </a:ln>
                <a:effectLst/>
                <a:uLnTx/>
                <a:uFillTx/>
                <a:latin typeface="+mn-lt"/>
              </a:rPr>
              <a:t> </a:t>
            </a:r>
            <a:r>
              <a:rPr kumimoji="0" lang="en-US" altLang="fr-FR" sz="2400" b="1" i="0" u="none" strike="noStrike" cap="none" spc="0" normalizeH="0" baseline="0" noProof="0">
                <a:ln>
                  <a:noFill/>
                </a:ln>
                <a:effectLst/>
                <a:uLnTx/>
                <a:uFillTx/>
                <a:latin typeface="+mn-lt"/>
              </a:rPr>
              <a:t>management</a:t>
            </a:r>
            <a:endParaRPr lang="en-US" altLang="fr-FR" sz="2400" b="0" i="0" u="none" strike="noStrike" cap="none" spc="0" normalizeH="0" baseline="0" noProof="0">
              <a:ln>
                <a:noFill/>
              </a:ln>
              <a:effectLst/>
              <a:uLnTx/>
              <a:uFillTx/>
              <a:latin typeface="+mn-lt"/>
              <a:ea typeface="Calibri"/>
              <a:cs typeface="Calibri"/>
            </a:endParaRPr>
          </a:p>
          <a:p>
            <a:pPr marL="514350" marR="0" lvl="0" indent="-228600" fontAlgn="auto">
              <a:lnSpc>
                <a:spcPct val="90000"/>
              </a:lnSpc>
              <a:spcBef>
                <a:spcPct val="0"/>
              </a:spcBef>
              <a:spcAft>
                <a:spcPts val="600"/>
              </a:spcAft>
              <a:buClrTx/>
              <a:buSzTx/>
              <a:buFont typeface="Arial" panose="020B0604020202020204" pitchFamily="34" charset="0"/>
              <a:buChar char="•"/>
              <a:tabLst/>
              <a:defRPr/>
            </a:pPr>
            <a:endParaRPr kumimoji="0" lang="en-US" altLang="fr-FR" sz="2400" b="0" i="0" u="none" strike="noStrike" cap="none" spc="0" normalizeH="0" baseline="0" noProof="0">
              <a:ln>
                <a:noFill/>
              </a:ln>
              <a:effectLst/>
              <a:uLnTx/>
              <a:uFillTx/>
              <a:latin typeface="+mn-lt"/>
            </a:endParaRPr>
          </a:p>
          <a:p>
            <a:pPr marL="514350" marR="0" lvl="0" indent="-228600" fontAlgn="auto">
              <a:lnSpc>
                <a:spcPct val="90000"/>
              </a:lnSpc>
              <a:spcBef>
                <a:spcPct val="0"/>
              </a:spcBef>
              <a:spcAft>
                <a:spcPts val="600"/>
              </a:spcAft>
              <a:buClrTx/>
              <a:buSzTx/>
              <a:buFont typeface="Arial" panose="020B0604020202020204" pitchFamily="34" charset="0"/>
              <a:buChar char="•"/>
              <a:tabLst/>
              <a:defRPr/>
            </a:pPr>
            <a:r>
              <a:rPr kumimoji="0" lang="en-US" altLang="fr-FR" sz="2400" b="0" i="0" u="none" strike="noStrike" cap="none" spc="0" normalizeH="0" baseline="0" noProof="0">
                <a:ln>
                  <a:noFill/>
                </a:ln>
                <a:effectLst/>
                <a:uLnTx/>
                <a:uFillTx/>
                <a:latin typeface="+mn-lt"/>
              </a:rPr>
              <a:t>It was developed by </a:t>
            </a:r>
            <a:r>
              <a:rPr kumimoji="0" lang="en-US" altLang="fr-FR" sz="2400" b="1" i="0" u="none" strike="noStrike" cap="none" spc="0" normalizeH="0" baseline="0" noProof="0">
                <a:ln>
                  <a:noFill/>
                </a:ln>
                <a:effectLst/>
                <a:uLnTx/>
                <a:uFillTx/>
                <a:latin typeface="+mn-lt"/>
              </a:rPr>
              <a:t>Edward Freeman</a:t>
            </a:r>
            <a:r>
              <a:rPr kumimoji="0" lang="en-US" altLang="fr-FR" sz="2400" b="0" i="0" u="none" strike="noStrike" cap="none" spc="0" normalizeH="0" baseline="0" noProof="0">
                <a:ln>
                  <a:noFill/>
                </a:ln>
                <a:effectLst/>
                <a:uLnTx/>
                <a:uFillTx/>
                <a:latin typeface="+mn-lt"/>
              </a:rPr>
              <a:t> in the book </a:t>
            </a:r>
            <a:r>
              <a:rPr kumimoji="0" lang="en-US" altLang="fr-FR" sz="2400" b="0" i="1" u="none" strike="noStrike" cap="none" spc="0" normalizeH="0" baseline="0" noProof="0">
                <a:ln>
                  <a:noFill/>
                </a:ln>
                <a:effectLst/>
                <a:uLnTx/>
                <a:uFillTx/>
                <a:latin typeface="+mn-lt"/>
              </a:rPr>
              <a:t>Strategic Management: A Stakeholder Approach </a:t>
            </a:r>
            <a:r>
              <a:rPr kumimoji="0" lang="en-US" altLang="fr-FR" sz="2400" b="0" i="0" u="none" strike="noStrike" cap="none" spc="0" normalizeH="0" baseline="0" noProof="0">
                <a:ln>
                  <a:noFill/>
                </a:ln>
                <a:effectLst/>
                <a:uLnTx/>
                <a:uFillTx/>
                <a:latin typeface="+mn-lt"/>
              </a:rPr>
              <a:t>(1984). </a:t>
            </a:r>
          </a:p>
          <a:p>
            <a:pPr marL="514350" marR="0" lvl="0" indent="-228600" fontAlgn="auto">
              <a:lnSpc>
                <a:spcPct val="90000"/>
              </a:lnSpc>
              <a:spcBef>
                <a:spcPct val="0"/>
              </a:spcBef>
              <a:spcAft>
                <a:spcPts val="600"/>
              </a:spcAft>
              <a:buClrTx/>
              <a:buSzTx/>
              <a:buFont typeface="Arial" panose="020B0604020202020204" pitchFamily="34" charset="0"/>
              <a:buChar char="•"/>
              <a:tabLst/>
              <a:defRPr/>
            </a:pPr>
            <a:endParaRPr kumimoji="0" lang="en-US" altLang="fr-FR" sz="2400" b="0" i="0" u="none" strike="noStrike" cap="none" spc="0" normalizeH="0" baseline="0" noProof="0">
              <a:ln>
                <a:noFill/>
              </a:ln>
              <a:effectLst/>
              <a:uLnTx/>
              <a:uFillTx/>
              <a:latin typeface="+mn-lt"/>
            </a:endParaRPr>
          </a:p>
          <a:p>
            <a:pPr marL="514350" indent="-228600">
              <a:lnSpc>
                <a:spcPct val="90000"/>
              </a:lnSpc>
              <a:spcBef>
                <a:spcPct val="0"/>
              </a:spcBef>
              <a:spcAft>
                <a:spcPts val="600"/>
              </a:spcAft>
              <a:buFont typeface="Arial" panose="020B0604020202020204" pitchFamily="34" charset="0"/>
              <a:buChar char="•"/>
              <a:defRPr/>
            </a:pPr>
            <a:r>
              <a:rPr lang="en-US" altLang="fr-FR" sz="2400" dirty="0">
                <a:latin typeface="+mn-lt"/>
              </a:rPr>
              <a:t>It's a new governance open vision</a:t>
            </a:r>
            <a:r>
              <a:rPr kumimoji="0" lang="en-US" altLang="fr-FR" sz="2400" b="0" i="0" u="none" strike="noStrike" cap="none" spc="0" normalizeH="0" baseline="0" noProof="0" dirty="0">
                <a:ln>
                  <a:noFill/>
                </a:ln>
                <a:effectLst/>
                <a:uLnTx/>
                <a:uFillTx/>
                <a:latin typeface="+mn-lt"/>
              </a:rPr>
              <a:t>.</a:t>
            </a:r>
            <a:endParaRPr lang="en-US" altLang="fr-FR" sz="2400" b="0" i="0" u="none" strike="noStrike" cap="none" spc="0" normalizeH="0" baseline="0" noProof="0" dirty="0">
              <a:ln>
                <a:noFill/>
              </a:ln>
              <a:effectLst/>
              <a:uLnTx/>
              <a:uFillTx/>
              <a:latin typeface="+mn-lt"/>
              <a:ea typeface="Calibri"/>
              <a:cs typeface="Calibri"/>
            </a:endParaRPr>
          </a:p>
        </p:txBody>
      </p:sp>
      <p:sp>
        <p:nvSpPr>
          <p:cNvPr id="36866" name="Espace réservé du numéro de diapositive 1">
            <a:extLst>
              <a:ext uri="{FF2B5EF4-FFF2-40B4-BE49-F238E27FC236}">
                <a16:creationId xmlns:a16="http://schemas.microsoft.com/office/drawing/2014/main" id="{BCF472C3-5489-45F3-8291-308397D3911C}"/>
              </a:ext>
            </a:extLst>
          </p:cNvPr>
          <p:cNvSpPr>
            <a:spLocks noGrp="1"/>
          </p:cNvSpPr>
          <p:nvPr>
            <p:ph type="sldNum" sz="quarter" idx="12"/>
          </p:nvPr>
        </p:nvSpPr>
        <p:spPr>
          <a:xfrm>
            <a:off x="9683496" y="4892040"/>
            <a:ext cx="1673352" cy="100584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marR="0" lvl="0" indent="0" fontAlgn="auto">
              <a:lnSpc>
                <a:spcPct val="90000"/>
              </a:lnSpc>
              <a:spcBef>
                <a:spcPct val="0"/>
              </a:spcBef>
              <a:spcAft>
                <a:spcPts val="600"/>
              </a:spcAft>
              <a:buClrTx/>
              <a:buSzTx/>
              <a:buFontTx/>
              <a:buNone/>
              <a:tabLst/>
              <a:defRPr/>
            </a:pPr>
            <a:fld id="{BDF99FD6-5B26-4C15-8843-D2D30EBCB970}" type="slidenum">
              <a:rPr kumimoji="0" lang="en-US" altLang="fr-FR" sz="6600" b="0" i="0" u="none" strike="noStrike" cap="none" spc="0" normalizeH="0" baseline="0" noProof="0">
                <a:ln>
                  <a:noFill/>
                </a:ln>
                <a:solidFill>
                  <a:srgbClr val="FFFFFF"/>
                </a:solidFill>
                <a:effectLst/>
                <a:uLnTx/>
                <a:uFillTx/>
                <a:latin typeface="+mn-lt"/>
              </a:rPr>
              <a:pPr marR="0" lvl="0" indent="0" fontAlgn="auto">
                <a:lnSpc>
                  <a:spcPct val="90000"/>
                </a:lnSpc>
                <a:spcBef>
                  <a:spcPct val="0"/>
                </a:spcBef>
                <a:spcAft>
                  <a:spcPts val="600"/>
                </a:spcAft>
                <a:buClrTx/>
                <a:buSzTx/>
                <a:buFontTx/>
                <a:buNone/>
                <a:tabLst/>
                <a:defRPr/>
              </a:pPr>
              <a:t>20</a:t>
            </a:fld>
            <a:endParaRPr kumimoji="0" lang="en-US" altLang="fr-FR" sz="6600" b="0" i="0" u="none" strike="noStrike" cap="none" spc="0" normalizeH="0" baseline="0" noProof="0">
              <a:ln>
                <a:noFill/>
              </a:ln>
              <a:solidFill>
                <a:srgbClr val="FFFFFF"/>
              </a:solidFill>
              <a:effectLst/>
              <a:uLnTx/>
              <a:uFillTx/>
              <a:latin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ZoneTexte 30">
            <a:extLst>
              <a:ext uri="{FF2B5EF4-FFF2-40B4-BE49-F238E27FC236}">
                <a16:creationId xmlns:a16="http://schemas.microsoft.com/office/drawing/2014/main" id="{1F0E284A-6BCB-A1EE-80AC-A68A5C6F2F4C}"/>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anose="020F0502020204030204"/>
                <a:ea typeface="+mn-ea"/>
                <a:cs typeface="+mn-cs"/>
              </a:rPr>
              <a:t>Internal and external bank stakeholders </a:t>
            </a:r>
          </a:p>
        </p:txBody>
      </p:sp>
      <p:grpSp>
        <p:nvGrpSpPr>
          <p:cNvPr id="2" name="Group 349525">
            <a:extLst>
              <a:ext uri="{FF2B5EF4-FFF2-40B4-BE49-F238E27FC236}">
                <a16:creationId xmlns:a16="http://schemas.microsoft.com/office/drawing/2014/main" id="{3E3A9294-483B-C908-86BE-6CAA59874627}"/>
              </a:ext>
            </a:extLst>
          </p:cNvPr>
          <p:cNvGrpSpPr/>
          <p:nvPr/>
        </p:nvGrpSpPr>
        <p:grpSpPr>
          <a:xfrm>
            <a:off x="914400" y="2120329"/>
            <a:ext cx="9894771" cy="4192805"/>
            <a:chOff x="0" y="0"/>
            <a:chExt cx="3972862" cy="2305050"/>
          </a:xfrm>
        </p:grpSpPr>
        <p:sp>
          <p:nvSpPr>
            <p:cNvPr id="3" name="Shape 5955">
              <a:extLst>
                <a:ext uri="{FF2B5EF4-FFF2-40B4-BE49-F238E27FC236}">
                  <a16:creationId xmlns:a16="http://schemas.microsoft.com/office/drawing/2014/main" id="{3AFDFCE3-1DA2-F3CC-7B6D-4E5481708399}"/>
                </a:ext>
              </a:extLst>
            </p:cNvPr>
            <p:cNvSpPr/>
            <p:nvPr/>
          </p:nvSpPr>
          <p:spPr>
            <a:xfrm>
              <a:off x="361950" y="117475"/>
              <a:ext cx="3225800" cy="2146300"/>
            </a:xfrm>
            <a:custGeom>
              <a:avLst/>
              <a:gdLst/>
              <a:ahLst/>
              <a:cxnLst/>
              <a:rect l="0" t="0" r="0" b="0"/>
              <a:pathLst>
                <a:path w="3225800" h="2146300">
                  <a:moveTo>
                    <a:pt x="1612900" y="0"/>
                  </a:moveTo>
                  <a:cubicBezTo>
                    <a:pt x="2503170" y="0"/>
                    <a:pt x="3225800" y="480441"/>
                    <a:pt x="3225800" y="1073150"/>
                  </a:cubicBezTo>
                  <a:cubicBezTo>
                    <a:pt x="3225800" y="1665859"/>
                    <a:pt x="2503170" y="2146300"/>
                    <a:pt x="1612900" y="2146300"/>
                  </a:cubicBezTo>
                  <a:cubicBezTo>
                    <a:pt x="722122" y="2146300"/>
                    <a:pt x="0" y="1665859"/>
                    <a:pt x="0" y="1073150"/>
                  </a:cubicBezTo>
                  <a:cubicBezTo>
                    <a:pt x="0" y="480441"/>
                    <a:pt x="722122" y="0"/>
                    <a:pt x="1612900" y="0"/>
                  </a:cubicBezTo>
                  <a:close/>
                </a:path>
              </a:pathLst>
            </a:custGeom>
            <a:ln w="7201" cap="flat">
              <a:miter lim="100000"/>
            </a:ln>
          </p:spPr>
          <p:style>
            <a:lnRef idx="1">
              <a:srgbClr val="000000"/>
            </a:lnRef>
            <a:fillRef idx="0">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4" name="Shape 5956">
              <a:extLst>
                <a:ext uri="{FF2B5EF4-FFF2-40B4-BE49-F238E27FC236}">
                  <a16:creationId xmlns:a16="http://schemas.microsoft.com/office/drawing/2014/main" id="{27CA438B-07FF-8C42-881A-B147FE97155C}"/>
                </a:ext>
              </a:extLst>
            </p:cNvPr>
            <p:cNvSpPr/>
            <p:nvPr/>
          </p:nvSpPr>
          <p:spPr>
            <a:xfrm>
              <a:off x="2965450" y="1492250"/>
              <a:ext cx="901700" cy="425450"/>
            </a:xfrm>
            <a:custGeom>
              <a:avLst/>
              <a:gdLst/>
              <a:ahLst/>
              <a:cxnLst/>
              <a:rect l="0" t="0" r="0" b="0"/>
              <a:pathLst>
                <a:path w="901700" h="425450">
                  <a:moveTo>
                    <a:pt x="450850" y="0"/>
                  </a:moveTo>
                  <a:cubicBezTo>
                    <a:pt x="699897" y="0"/>
                    <a:pt x="901700" y="95237"/>
                    <a:pt x="901700" y="212725"/>
                  </a:cubicBezTo>
                  <a:cubicBezTo>
                    <a:pt x="901700" y="330213"/>
                    <a:pt x="699897" y="425450"/>
                    <a:pt x="450850" y="425450"/>
                  </a:cubicBezTo>
                  <a:cubicBezTo>
                    <a:pt x="201803" y="425450"/>
                    <a:pt x="0" y="330213"/>
                    <a:pt x="0" y="212725"/>
                  </a:cubicBezTo>
                  <a:cubicBezTo>
                    <a:pt x="0" y="95237"/>
                    <a:pt x="201803" y="0"/>
                    <a:pt x="450850" y="0"/>
                  </a:cubicBezTo>
                  <a:close/>
                </a:path>
              </a:pathLst>
            </a:custGeom>
            <a:ln w="7201"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5" name="Shape 5957">
              <a:extLst>
                <a:ext uri="{FF2B5EF4-FFF2-40B4-BE49-F238E27FC236}">
                  <a16:creationId xmlns:a16="http://schemas.microsoft.com/office/drawing/2014/main" id="{A449540D-9A55-D23B-C55A-75B0C6204998}"/>
                </a:ext>
              </a:extLst>
            </p:cNvPr>
            <p:cNvSpPr/>
            <p:nvPr/>
          </p:nvSpPr>
          <p:spPr>
            <a:xfrm>
              <a:off x="3054350" y="584200"/>
              <a:ext cx="901700" cy="425450"/>
            </a:xfrm>
            <a:custGeom>
              <a:avLst/>
              <a:gdLst/>
              <a:ahLst/>
              <a:cxnLst/>
              <a:rect l="0" t="0" r="0" b="0"/>
              <a:pathLst>
                <a:path w="901700" h="425450">
                  <a:moveTo>
                    <a:pt x="450850" y="0"/>
                  </a:moveTo>
                  <a:cubicBezTo>
                    <a:pt x="699897" y="0"/>
                    <a:pt x="901700" y="95237"/>
                    <a:pt x="901700" y="212725"/>
                  </a:cubicBezTo>
                  <a:cubicBezTo>
                    <a:pt x="901700" y="330213"/>
                    <a:pt x="699897" y="425450"/>
                    <a:pt x="450850" y="425450"/>
                  </a:cubicBezTo>
                  <a:cubicBezTo>
                    <a:pt x="201803" y="425450"/>
                    <a:pt x="0" y="330213"/>
                    <a:pt x="0" y="212725"/>
                  </a:cubicBezTo>
                  <a:cubicBezTo>
                    <a:pt x="0" y="95237"/>
                    <a:pt x="201803" y="0"/>
                    <a:pt x="450850" y="0"/>
                  </a:cubicBezTo>
                  <a:close/>
                </a:path>
              </a:pathLst>
            </a:custGeom>
            <a:ln w="7201"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6" name="Shape 5958">
              <a:extLst>
                <a:ext uri="{FF2B5EF4-FFF2-40B4-BE49-F238E27FC236}">
                  <a16:creationId xmlns:a16="http://schemas.microsoft.com/office/drawing/2014/main" id="{F35CEFA8-C8BC-EE03-0ADE-03CF5D6834F7}"/>
                </a:ext>
              </a:extLst>
            </p:cNvPr>
            <p:cNvSpPr/>
            <p:nvPr/>
          </p:nvSpPr>
          <p:spPr>
            <a:xfrm>
              <a:off x="2273300" y="57150"/>
              <a:ext cx="901700" cy="425450"/>
            </a:xfrm>
            <a:custGeom>
              <a:avLst/>
              <a:gdLst/>
              <a:ahLst/>
              <a:cxnLst/>
              <a:rect l="0" t="0" r="0" b="0"/>
              <a:pathLst>
                <a:path w="901700" h="425450">
                  <a:moveTo>
                    <a:pt x="450850" y="0"/>
                  </a:moveTo>
                  <a:cubicBezTo>
                    <a:pt x="699897" y="0"/>
                    <a:pt x="901700" y="95237"/>
                    <a:pt x="901700" y="212725"/>
                  </a:cubicBezTo>
                  <a:cubicBezTo>
                    <a:pt x="901700" y="330213"/>
                    <a:pt x="699897" y="425450"/>
                    <a:pt x="450850" y="425450"/>
                  </a:cubicBezTo>
                  <a:cubicBezTo>
                    <a:pt x="201803" y="425450"/>
                    <a:pt x="0" y="330213"/>
                    <a:pt x="0" y="212725"/>
                  </a:cubicBezTo>
                  <a:cubicBezTo>
                    <a:pt x="0" y="95237"/>
                    <a:pt x="201803" y="0"/>
                    <a:pt x="450850" y="0"/>
                  </a:cubicBezTo>
                  <a:close/>
                </a:path>
              </a:pathLst>
            </a:custGeom>
            <a:ln w="7201"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7" name="Shape 5959">
              <a:extLst>
                <a:ext uri="{FF2B5EF4-FFF2-40B4-BE49-F238E27FC236}">
                  <a16:creationId xmlns:a16="http://schemas.microsoft.com/office/drawing/2014/main" id="{0505AA6A-035F-858D-68DA-7E40D14955B6}"/>
                </a:ext>
              </a:extLst>
            </p:cNvPr>
            <p:cNvSpPr/>
            <p:nvPr/>
          </p:nvSpPr>
          <p:spPr>
            <a:xfrm>
              <a:off x="1054100" y="0"/>
              <a:ext cx="901700" cy="425450"/>
            </a:xfrm>
            <a:custGeom>
              <a:avLst/>
              <a:gdLst/>
              <a:ahLst/>
              <a:cxnLst/>
              <a:rect l="0" t="0" r="0" b="0"/>
              <a:pathLst>
                <a:path w="901700" h="425450">
                  <a:moveTo>
                    <a:pt x="450850" y="0"/>
                  </a:moveTo>
                  <a:cubicBezTo>
                    <a:pt x="699897" y="0"/>
                    <a:pt x="901700" y="95237"/>
                    <a:pt x="901700" y="212725"/>
                  </a:cubicBezTo>
                  <a:cubicBezTo>
                    <a:pt x="901700" y="330213"/>
                    <a:pt x="699897" y="425450"/>
                    <a:pt x="450850" y="425450"/>
                  </a:cubicBezTo>
                  <a:cubicBezTo>
                    <a:pt x="201803" y="425450"/>
                    <a:pt x="0" y="330213"/>
                    <a:pt x="0" y="212725"/>
                  </a:cubicBezTo>
                  <a:cubicBezTo>
                    <a:pt x="0" y="95237"/>
                    <a:pt x="201803" y="0"/>
                    <a:pt x="450850" y="0"/>
                  </a:cubicBezTo>
                  <a:close/>
                </a:path>
              </a:pathLst>
            </a:custGeom>
            <a:ln w="7201"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8" name="Shape 5960">
              <a:extLst>
                <a:ext uri="{FF2B5EF4-FFF2-40B4-BE49-F238E27FC236}">
                  <a16:creationId xmlns:a16="http://schemas.microsoft.com/office/drawing/2014/main" id="{29D9A614-8282-080F-7A93-DB16F0EDD426}"/>
                </a:ext>
              </a:extLst>
            </p:cNvPr>
            <p:cNvSpPr/>
            <p:nvPr/>
          </p:nvSpPr>
          <p:spPr>
            <a:xfrm>
              <a:off x="95250" y="488950"/>
              <a:ext cx="901700" cy="425450"/>
            </a:xfrm>
            <a:custGeom>
              <a:avLst/>
              <a:gdLst/>
              <a:ahLst/>
              <a:cxnLst/>
              <a:rect l="0" t="0" r="0" b="0"/>
              <a:pathLst>
                <a:path w="901700" h="425450">
                  <a:moveTo>
                    <a:pt x="450850" y="0"/>
                  </a:moveTo>
                  <a:cubicBezTo>
                    <a:pt x="699897" y="0"/>
                    <a:pt x="901700" y="95237"/>
                    <a:pt x="901700" y="212725"/>
                  </a:cubicBezTo>
                  <a:cubicBezTo>
                    <a:pt x="901700" y="330213"/>
                    <a:pt x="699897" y="425450"/>
                    <a:pt x="450850" y="425450"/>
                  </a:cubicBezTo>
                  <a:cubicBezTo>
                    <a:pt x="201803" y="425450"/>
                    <a:pt x="0" y="330213"/>
                    <a:pt x="0" y="212725"/>
                  </a:cubicBezTo>
                  <a:cubicBezTo>
                    <a:pt x="0" y="95237"/>
                    <a:pt x="201803" y="0"/>
                    <a:pt x="450850" y="0"/>
                  </a:cubicBezTo>
                  <a:close/>
                </a:path>
              </a:pathLst>
            </a:custGeom>
            <a:ln w="7201"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9" name="Shape 5961">
              <a:extLst>
                <a:ext uri="{FF2B5EF4-FFF2-40B4-BE49-F238E27FC236}">
                  <a16:creationId xmlns:a16="http://schemas.microsoft.com/office/drawing/2014/main" id="{A71D3C33-E7B6-C4A7-476B-617F6742F6A2}"/>
                </a:ext>
              </a:extLst>
            </p:cNvPr>
            <p:cNvSpPr/>
            <p:nvPr/>
          </p:nvSpPr>
          <p:spPr>
            <a:xfrm>
              <a:off x="0" y="1219200"/>
              <a:ext cx="901700" cy="425450"/>
            </a:xfrm>
            <a:custGeom>
              <a:avLst/>
              <a:gdLst/>
              <a:ahLst/>
              <a:cxnLst/>
              <a:rect l="0" t="0" r="0" b="0"/>
              <a:pathLst>
                <a:path w="901700" h="425450">
                  <a:moveTo>
                    <a:pt x="450850" y="0"/>
                  </a:moveTo>
                  <a:cubicBezTo>
                    <a:pt x="699897" y="0"/>
                    <a:pt x="901700" y="95237"/>
                    <a:pt x="901700" y="212725"/>
                  </a:cubicBezTo>
                  <a:cubicBezTo>
                    <a:pt x="901700" y="330213"/>
                    <a:pt x="699897" y="425450"/>
                    <a:pt x="450850" y="425450"/>
                  </a:cubicBezTo>
                  <a:cubicBezTo>
                    <a:pt x="201803" y="425450"/>
                    <a:pt x="0" y="330213"/>
                    <a:pt x="0" y="212725"/>
                  </a:cubicBezTo>
                  <a:cubicBezTo>
                    <a:pt x="0" y="95237"/>
                    <a:pt x="201803" y="0"/>
                    <a:pt x="450850" y="0"/>
                  </a:cubicBezTo>
                  <a:close/>
                </a:path>
              </a:pathLst>
            </a:custGeom>
            <a:ln w="7201"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10" name="Shape 5962">
              <a:extLst>
                <a:ext uri="{FF2B5EF4-FFF2-40B4-BE49-F238E27FC236}">
                  <a16:creationId xmlns:a16="http://schemas.microsoft.com/office/drawing/2014/main" id="{DA36C8FF-B5C4-5F7C-EDB9-A01F9E415FC4}"/>
                </a:ext>
              </a:extLst>
            </p:cNvPr>
            <p:cNvSpPr/>
            <p:nvPr/>
          </p:nvSpPr>
          <p:spPr>
            <a:xfrm>
              <a:off x="654050" y="1835150"/>
              <a:ext cx="901700" cy="425450"/>
            </a:xfrm>
            <a:custGeom>
              <a:avLst/>
              <a:gdLst/>
              <a:ahLst/>
              <a:cxnLst/>
              <a:rect l="0" t="0" r="0" b="0"/>
              <a:pathLst>
                <a:path w="901700" h="425450">
                  <a:moveTo>
                    <a:pt x="450850" y="0"/>
                  </a:moveTo>
                  <a:cubicBezTo>
                    <a:pt x="699897" y="0"/>
                    <a:pt x="901700" y="95237"/>
                    <a:pt x="901700" y="212725"/>
                  </a:cubicBezTo>
                  <a:cubicBezTo>
                    <a:pt x="901700" y="330213"/>
                    <a:pt x="699897" y="425450"/>
                    <a:pt x="450850" y="425450"/>
                  </a:cubicBezTo>
                  <a:cubicBezTo>
                    <a:pt x="201803" y="425450"/>
                    <a:pt x="0" y="330213"/>
                    <a:pt x="0" y="212725"/>
                  </a:cubicBezTo>
                  <a:cubicBezTo>
                    <a:pt x="0" y="95237"/>
                    <a:pt x="201803" y="0"/>
                    <a:pt x="450850" y="0"/>
                  </a:cubicBezTo>
                  <a:close/>
                </a:path>
              </a:pathLst>
            </a:custGeom>
            <a:ln w="7201"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11" name="Shape 5963">
              <a:extLst>
                <a:ext uri="{FF2B5EF4-FFF2-40B4-BE49-F238E27FC236}">
                  <a16:creationId xmlns:a16="http://schemas.microsoft.com/office/drawing/2014/main" id="{62DD08D0-D93E-D1B7-7DFD-396C596CF7DA}"/>
                </a:ext>
              </a:extLst>
            </p:cNvPr>
            <p:cNvSpPr/>
            <p:nvPr/>
          </p:nvSpPr>
          <p:spPr>
            <a:xfrm>
              <a:off x="2038350" y="1879600"/>
              <a:ext cx="901700" cy="425450"/>
            </a:xfrm>
            <a:custGeom>
              <a:avLst/>
              <a:gdLst/>
              <a:ahLst/>
              <a:cxnLst/>
              <a:rect l="0" t="0" r="0" b="0"/>
              <a:pathLst>
                <a:path w="901700" h="425450">
                  <a:moveTo>
                    <a:pt x="450850" y="0"/>
                  </a:moveTo>
                  <a:cubicBezTo>
                    <a:pt x="699897" y="0"/>
                    <a:pt x="901700" y="95237"/>
                    <a:pt x="901700" y="212725"/>
                  </a:cubicBezTo>
                  <a:cubicBezTo>
                    <a:pt x="901700" y="330213"/>
                    <a:pt x="699897" y="425450"/>
                    <a:pt x="450850" y="425450"/>
                  </a:cubicBezTo>
                  <a:cubicBezTo>
                    <a:pt x="201803" y="425450"/>
                    <a:pt x="0" y="330213"/>
                    <a:pt x="0" y="212725"/>
                  </a:cubicBezTo>
                  <a:cubicBezTo>
                    <a:pt x="0" y="95237"/>
                    <a:pt x="201803" y="0"/>
                    <a:pt x="450850" y="0"/>
                  </a:cubicBezTo>
                  <a:close/>
                </a:path>
              </a:pathLst>
            </a:custGeom>
            <a:ln w="7201" cap="flat">
              <a:miter lim="100000"/>
            </a:ln>
          </p:spPr>
          <p:style>
            <a:lnRef idx="1">
              <a:srgbClr val="000000"/>
            </a:lnRef>
            <a:fillRef idx="1">
              <a:srgbClr val="FFFFFF"/>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12" name="Shape 5964">
              <a:extLst>
                <a:ext uri="{FF2B5EF4-FFF2-40B4-BE49-F238E27FC236}">
                  <a16:creationId xmlns:a16="http://schemas.microsoft.com/office/drawing/2014/main" id="{812FDEA0-45FC-CF26-D63E-2B895DE9D14A}"/>
                </a:ext>
              </a:extLst>
            </p:cNvPr>
            <p:cNvSpPr/>
            <p:nvPr/>
          </p:nvSpPr>
          <p:spPr>
            <a:xfrm>
              <a:off x="1005840" y="546735"/>
              <a:ext cx="1935480" cy="1287780"/>
            </a:xfrm>
            <a:custGeom>
              <a:avLst/>
              <a:gdLst/>
              <a:ahLst/>
              <a:cxnLst/>
              <a:rect l="0" t="0" r="0" b="0"/>
              <a:pathLst>
                <a:path w="1935480" h="1287780">
                  <a:moveTo>
                    <a:pt x="967740" y="0"/>
                  </a:moveTo>
                  <a:cubicBezTo>
                    <a:pt x="1502410" y="0"/>
                    <a:pt x="1935480" y="288290"/>
                    <a:pt x="1935480" y="643890"/>
                  </a:cubicBezTo>
                  <a:cubicBezTo>
                    <a:pt x="1935480" y="999490"/>
                    <a:pt x="1502410" y="1287780"/>
                    <a:pt x="967740" y="1287780"/>
                  </a:cubicBezTo>
                  <a:cubicBezTo>
                    <a:pt x="433324" y="1287780"/>
                    <a:pt x="0" y="999490"/>
                    <a:pt x="0" y="643890"/>
                  </a:cubicBezTo>
                  <a:cubicBezTo>
                    <a:pt x="0" y="288290"/>
                    <a:pt x="433324" y="0"/>
                    <a:pt x="967740" y="0"/>
                  </a:cubicBezTo>
                  <a:close/>
                </a:path>
              </a:pathLst>
            </a:custGeom>
            <a:ln w="7201" cap="flat">
              <a:miter lim="100000"/>
            </a:ln>
          </p:spPr>
          <p:style>
            <a:lnRef idx="1">
              <a:srgbClr val="000000"/>
            </a:lnRef>
            <a:fillRef idx="1">
              <a:srgbClr val="E5E5E5"/>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dirty="0">
                <a:ln>
                  <a:noFill/>
                </a:ln>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DA2B1006-6AD8-CC59-E22F-631FF07B2635}"/>
                </a:ext>
              </a:extLst>
            </p:cNvPr>
            <p:cNvSpPr/>
            <p:nvPr/>
          </p:nvSpPr>
          <p:spPr>
            <a:xfrm>
              <a:off x="3100070" y="1616990"/>
              <a:ext cx="872792"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Other</a:t>
              </a:r>
              <a:r>
                <a:rPr kumimoji="0" lang="fr-FR" sz="1700" b="1" i="0" u="none" strike="noStrike" kern="1200" cap="none" spc="34" normalizeH="0" baseline="0" noProof="0">
                  <a:ln>
                    <a:noFill/>
                  </a:ln>
                  <a:effectLst/>
                  <a:uLnTx/>
                  <a:uFillTx/>
                  <a:latin typeface="Calibri" panose="020F0502020204030204" pitchFamily="34" charset="0"/>
                  <a:ea typeface="+mn-ea"/>
                  <a:cs typeface="+mn-cs"/>
                </a:rPr>
                <a:t> </a:t>
              </a:r>
              <a:r>
                <a:rPr kumimoji="0" lang="fr-FR" sz="1700" b="1" i="0" u="none" strike="noStrike" kern="1200" cap="none" spc="0" normalizeH="0" baseline="0" noProof="0">
                  <a:ln>
                    <a:noFill/>
                  </a:ln>
                  <a:effectLst/>
                  <a:uLnTx/>
                  <a:uFillTx/>
                  <a:latin typeface="Calibri" panose="020F0502020204030204" pitchFamily="34" charset="0"/>
                  <a:ea typeface="+mn-ea"/>
                  <a:cs typeface="+mn-cs"/>
                </a:rPr>
                <a:t>financial</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14" name="Rectangle 13">
              <a:extLst>
                <a:ext uri="{FF2B5EF4-FFF2-40B4-BE49-F238E27FC236}">
                  <a16:creationId xmlns:a16="http://schemas.microsoft.com/office/drawing/2014/main" id="{75CEECA2-4CA5-6120-99F5-3D23E4C32214}"/>
                </a:ext>
              </a:extLst>
            </p:cNvPr>
            <p:cNvSpPr/>
            <p:nvPr/>
          </p:nvSpPr>
          <p:spPr>
            <a:xfrm>
              <a:off x="3184906" y="1718590"/>
              <a:ext cx="647128"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institutions</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15" name="Rectangle 14">
              <a:extLst>
                <a:ext uri="{FF2B5EF4-FFF2-40B4-BE49-F238E27FC236}">
                  <a16:creationId xmlns:a16="http://schemas.microsoft.com/office/drawing/2014/main" id="{9FB484F8-14FE-E04F-FEA8-93DD1F80BF5A}"/>
                </a:ext>
              </a:extLst>
            </p:cNvPr>
            <p:cNvSpPr/>
            <p:nvPr/>
          </p:nvSpPr>
          <p:spPr>
            <a:xfrm>
              <a:off x="3377743" y="759689"/>
              <a:ext cx="372142"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NGOs</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16" name="Rectangle 15">
              <a:extLst>
                <a:ext uri="{FF2B5EF4-FFF2-40B4-BE49-F238E27FC236}">
                  <a16:creationId xmlns:a16="http://schemas.microsoft.com/office/drawing/2014/main" id="{5073CFCC-F36C-731C-46E4-DA5CA421FA65}"/>
                </a:ext>
              </a:extLst>
            </p:cNvPr>
            <p:cNvSpPr/>
            <p:nvPr/>
          </p:nvSpPr>
          <p:spPr>
            <a:xfrm>
              <a:off x="2597556" y="232690"/>
              <a:ext cx="369710"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Media</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17" name="Rectangle 16">
              <a:extLst>
                <a:ext uri="{FF2B5EF4-FFF2-40B4-BE49-F238E27FC236}">
                  <a16:creationId xmlns:a16="http://schemas.microsoft.com/office/drawing/2014/main" id="{8E8D8126-B683-C5D2-44D9-FB3491EA697D}"/>
                </a:ext>
              </a:extLst>
            </p:cNvPr>
            <p:cNvSpPr/>
            <p:nvPr/>
          </p:nvSpPr>
          <p:spPr>
            <a:xfrm>
              <a:off x="1239164" y="175591"/>
              <a:ext cx="741312"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Competitors</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18" name="Rectangle 17">
              <a:extLst>
                <a:ext uri="{FF2B5EF4-FFF2-40B4-BE49-F238E27FC236}">
                  <a16:creationId xmlns:a16="http://schemas.microsoft.com/office/drawing/2014/main" id="{14E599A9-3364-A069-48F4-0035CF00A2A6}"/>
                </a:ext>
              </a:extLst>
            </p:cNvPr>
            <p:cNvSpPr/>
            <p:nvPr/>
          </p:nvSpPr>
          <p:spPr>
            <a:xfrm>
              <a:off x="343865" y="664490"/>
              <a:ext cx="571051"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Suppliers</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19" name="Rectangle 18">
              <a:extLst>
                <a:ext uri="{FF2B5EF4-FFF2-40B4-BE49-F238E27FC236}">
                  <a16:creationId xmlns:a16="http://schemas.microsoft.com/office/drawing/2014/main" id="{C1AC77F9-64F9-693B-A434-7221A02F0DB8}"/>
                </a:ext>
              </a:extLst>
            </p:cNvPr>
            <p:cNvSpPr/>
            <p:nvPr/>
          </p:nvSpPr>
          <p:spPr>
            <a:xfrm>
              <a:off x="215747" y="1394689"/>
              <a:ext cx="658479"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Customers</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20" name="Rectangle 19">
              <a:extLst>
                <a:ext uri="{FF2B5EF4-FFF2-40B4-BE49-F238E27FC236}">
                  <a16:creationId xmlns:a16="http://schemas.microsoft.com/office/drawing/2014/main" id="{B45942F6-4A3D-F63E-8356-63EC329F1722}"/>
                </a:ext>
              </a:extLst>
            </p:cNvPr>
            <p:cNvSpPr/>
            <p:nvPr/>
          </p:nvSpPr>
          <p:spPr>
            <a:xfrm>
              <a:off x="811428" y="2010587"/>
              <a:ext cx="814146"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Governments</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21" name="Rectangle 20">
              <a:extLst>
                <a:ext uri="{FF2B5EF4-FFF2-40B4-BE49-F238E27FC236}">
                  <a16:creationId xmlns:a16="http://schemas.microsoft.com/office/drawing/2014/main" id="{D0B0B8A2-D11E-BB9B-9E8F-255935D5FC85}"/>
                </a:ext>
              </a:extLst>
            </p:cNvPr>
            <p:cNvSpPr/>
            <p:nvPr/>
          </p:nvSpPr>
          <p:spPr>
            <a:xfrm>
              <a:off x="2333396" y="2054986"/>
              <a:ext cx="447139"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Society</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22" name="Rectangle 21">
              <a:extLst>
                <a:ext uri="{FF2B5EF4-FFF2-40B4-BE49-F238E27FC236}">
                  <a16:creationId xmlns:a16="http://schemas.microsoft.com/office/drawing/2014/main" id="{4569D035-0F30-792D-D5C2-181C3DCFBFBA}"/>
                </a:ext>
              </a:extLst>
            </p:cNvPr>
            <p:cNvSpPr/>
            <p:nvPr/>
          </p:nvSpPr>
          <p:spPr>
            <a:xfrm>
              <a:off x="1290980" y="1100759"/>
              <a:ext cx="517675"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Board</a:t>
              </a:r>
              <a:r>
                <a:rPr kumimoji="0" lang="fr-FR" sz="1700" b="1" i="0" u="none" strike="noStrike" kern="1200" cap="none" spc="34" normalizeH="0" baseline="0" noProof="0">
                  <a:ln>
                    <a:noFill/>
                  </a:ln>
                  <a:effectLst/>
                  <a:uLnTx/>
                  <a:uFillTx/>
                  <a:latin typeface="Calibri" panose="020F0502020204030204" pitchFamily="34" charset="0"/>
                  <a:ea typeface="+mn-ea"/>
                  <a:cs typeface="+mn-cs"/>
                </a:rPr>
                <a:t> </a:t>
              </a:r>
              <a:r>
                <a:rPr kumimoji="0" lang="fr-FR" sz="1700" b="1" i="0" u="none" strike="noStrike" kern="1200" cap="none" spc="0" normalizeH="0" baseline="0" noProof="0">
                  <a:ln>
                    <a:noFill/>
                  </a:ln>
                  <a:effectLst/>
                  <a:uLnTx/>
                  <a:uFillTx/>
                  <a:latin typeface="Calibri" panose="020F0502020204030204" pitchFamily="34" charset="0"/>
                  <a:ea typeface="+mn-ea"/>
                  <a:cs typeface="+mn-cs"/>
                </a:rPr>
                <a:t>of</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23" name="Rectangle 22">
              <a:extLst>
                <a:ext uri="{FF2B5EF4-FFF2-40B4-BE49-F238E27FC236}">
                  <a16:creationId xmlns:a16="http://schemas.microsoft.com/office/drawing/2014/main" id="{A7A44A23-BA46-4703-957D-1DF25966CF6F}"/>
                </a:ext>
              </a:extLst>
            </p:cNvPr>
            <p:cNvSpPr/>
            <p:nvPr/>
          </p:nvSpPr>
          <p:spPr>
            <a:xfrm>
              <a:off x="1290676" y="1202359"/>
              <a:ext cx="518189"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9" normalizeH="0" baseline="0" noProof="0">
                  <a:ln>
                    <a:noFill/>
                  </a:ln>
                  <a:effectLst/>
                  <a:uLnTx/>
                  <a:uFillTx/>
                  <a:latin typeface="Calibri" panose="020F0502020204030204" pitchFamily="34" charset="0"/>
                  <a:ea typeface="+mn-ea"/>
                  <a:cs typeface="+mn-cs"/>
                </a:rPr>
                <a:t>directors</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24" name="Shape 5976">
              <a:extLst>
                <a:ext uri="{FF2B5EF4-FFF2-40B4-BE49-F238E27FC236}">
                  <a16:creationId xmlns:a16="http://schemas.microsoft.com/office/drawing/2014/main" id="{E0041D01-E0EC-6585-CCDD-0E062AD7977C}"/>
                </a:ext>
              </a:extLst>
            </p:cNvPr>
            <p:cNvSpPr/>
            <p:nvPr/>
          </p:nvSpPr>
          <p:spPr>
            <a:xfrm>
              <a:off x="1035050" y="990600"/>
              <a:ext cx="901700" cy="425450"/>
            </a:xfrm>
            <a:custGeom>
              <a:avLst/>
              <a:gdLst/>
              <a:ahLst/>
              <a:cxnLst/>
              <a:rect l="0" t="0" r="0" b="0"/>
              <a:pathLst>
                <a:path w="901700" h="425450">
                  <a:moveTo>
                    <a:pt x="0" y="212725"/>
                  </a:moveTo>
                  <a:cubicBezTo>
                    <a:pt x="0" y="95237"/>
                    <a:pt x="201803" y="0"/>
                    <a:pt x="450850" y="0"/>
                  </a:cubicBezTo>
                  <a:cubicBezTo>
                    <a:pt x="699897" y="0"/>
                    <a:pt x="901700" y="95237"/>
                    <a:pt x="901700" y="212725"/>
                  </a:cubicBezTo>
                  <a:cubicBezTo>
                    <a:pt x="901700" y="330213"/>
                    <a:pt x="699897" y="425450"/>
                    <a:pt x="450850" y="425450"/>
                  </a:cubicBezTo>
                  <a:cubicBezTo>
                    <a:pt x="201803" y="425450"/>
                    <a:pt x="0" y="330213"/>
                    <a:pt x="0" y="212725"/>
                  </a:cubicBezTo>
                  <a:close/>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C22D2122-C068-AC2B-055F-E3CB82D515D6}"/>
                </a:ext>
              </a:extLst>
            </p:cNvPr>
            <p:cNvSpPr/>
            <p:nvPr/>
          </p:nvSpPr>
          <p:spPr>
            <a:xfrm>
              <a:off x="1918970" y="797840"/>
              <a:ext cx="674964"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dirty="0" err="1">
                  <a:ln>
                    <a:noFill/>
                  </a:ln>
                  <a:effectLst/>
                  <a:uLnTx/>
                  <a:uFillTx/>
                  <a:latin typeface="Calibri" panose="020F0502020204030204" pitchFamily="34" charset="0"/>
                  <a:ea typeface="+mn-ea"/>
                  <a:cs typeface="+mn-cs"/>
                </a:rPr>
                <a:t>Employees</a:t>
              </a:r>
              <a:endParaRPr kumimoji="0" lang="fr-FR" sz="3600" b="1" i="0" u="none" strike="noStrike" kern="1200" cap="none" spc="0" normalizeH="0" baseline="0" noProof="0" dirty="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26" name="Shape 5978">
              <a:extLst>
                <a:ext uri="{FF2B5EF4-FFF2-40B4-BE49-F238E27FC236}">
                  <a16:creationId xmlns:a16="http://schemas.microsoft.com/office/drawing/2014/main" id="{B4CC4DA9-0506-B192-4B1F-45B2A15C31F6}"/>
                </a:ext>
              </a:extLst>
            </p:cNvPr>
            <p:cNvSpPr/>
            <p:nvPr/>
          </p:nvSpPr>
          <p:spPr>
            <a:xfrm>
              <a:off x="1708150" y="622300"/>
              <a:ext cx="901700" cy="425450"/>
            </a:xfrm>
            <a:custGeom>
              <a:avLst/>
              <a:gdLst/>
              <a:ahLst/>
              <a:cxnLst/>
              <a:rect l="0" t="0" r="0" b="0"/>
              <a:pathLst>
                <a:path w="901700" h="425450">
                  <a:moveTo>
                    <a:pt x="0" y="212725"/>
                  </a:moveTo>
                  <a:cubicBezTo>
                    <a:pt x="0" y="95237"/>
                    <a:pt x="201803" y="0"/>
                    <a:pt x="450850" y="0"/>
                  </a:cubicBezTo>
                  <a:cubicBezTo>
                    <a:pt x="699897" y="0"/>
                    <a:pt x="901700" y="95237"/>
                    <a:pt x="901700" y="212725"/>
                  </a:cubicBezTo>
                  <a:cubicBezTo>
                    <a:pt x="901700" y="330213"/>
                    <a:pt x="699897" y="425450"/>
                    <a:pt x="450850" y="425450"/>
                  </a:cubicBezTo>
                  <a:cubicBezTo>
                    <a:pt x="201803" y="425450"/>
                    <a:pt x="0" y="330213"/>
                    <a:pt x="0" y="212725"/>
                  </a:cubicBezTo>
                  <a:close/>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E58D994A-D12F-FFE7-6EB8-46D8F824EA5E}"/>
                </a:ext>
              </a:extLst>
            </p:cNvPr>
            <p:cNvSpPr/>
            <p:nvPr/>
          </p:nvSpPr>
          <p:spPr>
            <a:xfrm>
              <a:off x="2650490" y="1204240"/>
              <a:ext cx="808335" cy="120535"/>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1700" b="1" i="0" u="none" strike="noStrike" kern="1200" cap="none" spc="0" normalizeH="0" baseline="0" noProof="0">
                  <a:ln>
                    <a:noFill/>
                  </a:ln>
                  <a:effectLst/>
                  <a:uLnTx/>
                  <a:uFillTx/>
                  <a:latin typeface="Calibri" panose="020F0502020204030204" pitchFamily="34" charset="0"/>
                  <a:ea typeface="+mn-ea"/>
                  <a:cs typeface="+mn-cs"/>
                </a:rPr>
                <a:t>Shareholders</a:t>
              </a:r>
              <a:endParaRPr kumimoji="0" lang="fr-FR" sz="3600" b="1" i="0" u="none" strike="noStrike" kern="1200" cap="none" spc="0" normalizeH="0" baseline="0" noProof="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sp>
          <p:nvSpPr>
            <p:cNvPr id="28" name="Shape 5980">
              <a:extLst>
                <a:ext uri="{FF2B5EF4-FFF2-40B4-BE49-F238E27FC236}">
                  <a16:creationId xmlns:a16="http://schemas.microsoft.com/office/drawing/2014/main" id="{B976C5FA-48CC-0781-B38D-FF2059A80C58}"/>
                </a:ext>
              </a:extLst>
            </p:cNvPr>
            <p:cNvSpPr/>
            <p:nvPr/>
          </p:nvSpPr>
          <p:spPr>
            <a:xfrm>
              <a:off x="2489200" y="1028700"/>
              <a:ext cx="901700" cy="425450"/>
            </a:xfrm>
            <a:custGeom>
              <a:avLst/>
              <a:gdLst/>
              <a:ahLst/>
              <a:cxnLst/>
              <a:rect l="0" t="0" r="0" b="0"/>
              <a:pathLst>
                <a:path w="901700" h="425450">
                  <a:moveTo>
                    <a:pt x="0" y="212725"/>
                  </a:moveTo>
                  <a:cubicBezTo>
                    <a:pt x="0" y="95237"/>
                    <a:pt x="201803" y="0"/>
                    <a:pt x="450850" y="0"/>
                  </a:cubicBezTo>
                  <a:cubicBezTo>
                    <a:pt x="699897" y="0"/>
                    <a:pt x="901700" y="95237"/>
                    <a:pt x="901700" y="212725"/>
                  </a:cubicBezTo>
                  <a:cubicBezTo>
                    <a:pt x="901700" y="330213"/>
                    <a:pt x="699897" y="425450"/>
                    <a:pt x="450850" y="425450"/>
                  </a:cubicBezTo>
                  <a:cubicBezTo>
                    <a:pt x="201803" y="425450"/>
                    <a:pt x="0" y="330213"/>
                    <a:pt x="0" y="212725"/>
                  </a:cubicBezTo>
                  <a:close/>
                </a:path>
              </a:pathLst>
            </a:custGeom>
            <a:ln w="7201" cap="flat">
              <a:miter lim="100000"/>
            </a:ln>
          </p:spPr>
          <p:style>
            <a:lnRef idx="1">
              <a:srgbClr val="000000"/>
            </a:lnRef>
            <a:fillRef idx="0">
              <a:srgbClr val="000000">
                <a:alpha val="0"/>
              </a:srgbClr>
            </a:fillRef>
            <a:effectRef idx="0">
              <a:scrgbClr r="0" g="0" b="0"/>
            </a:effectRef>
            <a:fontRef idx="none"/>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5400" b="1" i="0" u="none" strike="noStrike" kern="1200" cap="none" spc="0" normalizeH="0" baseline="0" noProof="0">
                <a:ln>
                  <a:noFill/>
                </a:ln>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3F2B9BDF-7187-E4B0-B9BE-13F277D57687}"/>
                </a:ext>
              </a:extLst>
            </p:cNvPr>
            <p:cNvSpPr/>
            <p:nvPr/>
          </p:nvSpPr>
          <p:spPr>
            <a:xfrm>
              <a:off x="1814830" y="1532764"/>
              <a:ext cx="408256" cy="160802"/>
            </a:xfrm>
            <a:prstGeom prst="rect">
              <a:avLst/>
            </a:prstGeom>
            <a:ln>
              <a:noFill/>
            </a:ln>
          </p:spPr>
          <p:txBody>
            <a:bodyPr vert="horz" lIns="0" tIns="0" rIns="0" bIns="0" rtlCol="0">
              <a:noAutofit/>
            </a:bodyPr>
            <a:lstStyle/>
            <a:p>
              <a:pPr marL="3778" marR="0" lvl="0" indent="-3778" algn="l" defTabSz="777240" rtl="0" eaLnBrk="1" fontAlgn="auto" latinLnBrk="0" hangingPunct="1">
                <a:lnSpc>
                  <a:spcPct val="107000"/>
                </a:lnSpc>
                <a:spcBef>
                  <a:spcPts val="0"/>
                </a:spcBef>
                <a:spcAft>
                  <a:spcPts val="680"/>
                </a:spcAft>
                <a:buClrTx/>
                <a:buSzTx/>
                <a:buFontTx/>
                <a:buNone/>
                <a:tabLst/>
                <a:defRPr/>
              </a:pPr>
              <a:r>
                <a:rPr kumimoji="0" lang="fr-FR" sz="2380" b="1" i="0" u="none" strike="noStrike" kern="1200" cap="none" spc="0" normalizeH="0" baseline="0" noProof="0" dirty="0">
                  <a:ln>
                    <a:noFill/>
                  </a:ln>
                  <a:effectLst/>
                  <a:uLnTx/>
                  <a:uFillTx/>
                  <a:latin typeface="Calibri" panose="020F0502020204030204" pitchFamily="34" charset="0"/>
                  <a:ea typeface="+mn-ea"/>
                  <a:cs typeface="+mn-cs"/>
                </a:rPr>
                <a:t>BANK</a:t>
              </a:r>
              <a:endParaRPr kumimoji="0" lang="fr-FR" sz="3600" b="1" i="0" u="none" strike="noStrike" kern="1200" cap="none" spc="0" normalizeH="0" baseline="0" noProof="0" dirty="0">
                <a:ln>
                  <a:noFill/>
                </a:ln>
                <a:effectLst/>
                <a:uLnTx/>
                <a:uFillTx/>
                <a:latin typeface="Garamond" panose="02020404030301010803" pitchFamily="18" charset="0"/>
                <a:ea typeface="Garamond" panose="02020404030301010803" pitchFamily="18" charset="0"/>
                <a:cs typeface="Garamond" panose="02020404030301010803" pitchFamily="18" charset="0"/>
              </a:endParaRPr>
            </a:p>
          </p:txBody>
        </p:sp>
      </p:grpSp>
    </p:spTree>
    <p:extLst>
      <p:ext uri="{BB962C8B-B14F-4D97-AF65-F5344CB8AC3E}">
        <p14:creationId xmlns:p14="http://schemas.microsoft.com/office/powerpoint/2010/main" val="2962582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Triangle 2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BE877DB5-1E7B-BD8E-6041-216AC78199AB}"/>
              </a:ext>
            </a:extLst>
          </p:cNvPr>
          <p:cNvSpPr txBox="1"/>
          <p:nvPr/>
        </p:nvSpPr>
        <p:spPr>
          <a:xfrm>
            <a:off x="1285240" y="1050595"/>
            <a:ext cx="8943971" cy="1618489"/>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3400" b="1">
                <a:latin typeface="+mj-lt"/>
                <a:ea typeface="+mj-ea"/>
                <a:cs typeface="+mj-cs"/>
              </a:rPr>
              <a:t>What is the </a:t>
            </a:r>
            <a:r>
              <a:rPr kumimoji="0" lang="en-US" sz="3400" b="1" i="0" u="none" strike="noStrike" kern="1200" cap="none" spc="0" normalizeH="0" baseline="0" noProof="0">
                <a:ln>
                  <a:noFill/>
                </a:ln>
                <a:solidFill>
                  <a:schemeClr val="tx1"/>
                </a:solidFill>
                <a:effectLst/>
                <a:uLnTx/>
                <a:uFillTx/>
                <a:latin typeface="+mj-lt"/>
                <a:ea typeface="+mj-ea"/>
                <a:cs typeface="+mj-cs"/>
              </a:rPr>
              <a:t>environmental responsibility of </a:t>
            </a:r>
            <a:r>
              <a:rPr lang="en-US" sz="3400" b="1">
                <a:latin typeface="+mj-lt"/>
                <a:ea typeface="+mj-ea"/>
                <a:cs typeface="+mj-cs"/>
              </a:rPr>
              <a:t>banks?</a:t>
            </a:r>
            <a:endParaRPr lang="fr-FR">
              <a:ea typeface="+mj-ea"/>
              <a:cs typeface="+mj-cs"/>
            </a:endParaRPr>
          </a:p>
        </p:txBody>
      </p:sp>
      <p:sp>
        <p:nvSpPr>
          <p:cNvPr id="3" name="ZoneTexte 2">
            <a:extLst>
              <a:ext uri="{FF2B5EF4-FFF2-40B4-BE49-F238E27FC236}">
                <a16:creationId xmlns:a16="http://schemas.microsoft.com/office/drawing/2014/main" id="{7D626C68-CB1C-286E-1444-5C67A0E52369}"/>
              </a:ext>
            </a:extLst>
          </p:cNvPr>
          <p:cNvSpPr txBox="1"/>
          <p:nvPr/>
        </p:nvSpPr>
        <p:spPr>
          <a:xfrm>
            <a:off x="1285240" y="2969469"/>
            <a:ext cx="9158283" cy="2848019"/>
          </a:xfrm>
          <a:prstGeom prst="rect">
            <a:avLst/>
          </a:prstGeom>
        </p:spPr>
        <p:txBody>
          <a:bodyPr vert="horz" lIns="91440" tIns="45720" rIns="91440" bIns="45720" rtlCol="0" anchor="t">
            <a:normAutofit/>
          </a:bodyPr>
          <a:lstStyle/>
          <a:p>
            <a:pPr marL="575945" indent="-457200">
              <a:lnSpc>
                <a:spcPct val="90000"/>
              </a:lnSpc>
              <a:spcAft>
                <a:spcPts val="130"/>
              </a:spcAft>
              <a:buAutoNum type="arabicPeriod"/>
              <a:defRPr/>
            </a:pPr>
            <a:r>
              <a:rPr lang="en-US" sz="2400" b="1"/>
              <a:t>The p</a:t>
            </a:r>
            <a:r>
              <a:rPr lang="en-US" sz="2400" b="1" dirty="0"/>
              <a:t>ollution</a:t>
            </a:r>
            <a:r>
              <a:rPr kumimoji="0" lang="en-US" sz="2400" b="1" i="0" u="none" strike="noStrike" cap="none" spc="0" normalizeH="0" baseline="0" noProof="0" dirty="0">
                <a:ln>
                  <a:noFill/>
                </a:ln>
                <a:effectLst/>
                <a:uLnTx/>
                <a:uFillTx/>
              </a:rPr>
              <a:t> caused by companies </a:t>
            </a:r>
            <a:r>
              <a:rPr kumimoji="0" lang="en-US" sz="2400" b="0" i="0" u="none" strike="noStrike" cap="none" spc="0" normalizeH="0" baseline="0" noProof="0" dirty="0">
                <a:ln>
                  <a:noFill/>
                </a:ln>
                <a:effectLst/>
                <a:uLnTx/>
                <a:uFillTx/>
              </a:rPr>
              <a:t>financed by banks is the </a:t>
            </a:r>
            <a:r>
              <a:rPr kumimoji="0" lang="en-US" sz="2400" b="1" i="0" u="none" strike="noStrike" cap="none" spc="0" normalizeH="0" baseline="0" noProof="0" dirty="0">
                <a:ln>
                  <a:noFill/>
                </a:ln>
                <a:effectLst/>
                <a:uLnTx/>
                <a:uFillTx/>
              </a:rPr>
              <a:t>responsibility of the banks</a:t>
            </a:r>
            <a:r>
              <a:rPr kumimoji="0" lang="en-US" sz="2400" b="0" i="0" u="none" strike="noStrike" cap="none" spc="0" normalizeH="0" baseline="0" noProof="0" dirty="0">
                <a:ln>
                  <a:noFill/>
                </a:ln>
                <a:effectLst/>
                <a:uLnTx/>
                <a:uFillTx/>
              </a:rPr>
              <a:t>. </a:t>
            </a:r>
            <a:endParaRPr lang="fr-FR" dirty="0"/>
          </a:p>
          <a:p>
            <a:pPr marL="575945" marR="0" lvl="0" indent="-457200" fontAlgn="auto">
              <a:lnSpc>
                <a:spcPct val="90000"/>
              </a:lnSpc>
              <a:spcBef>
                <a:spcPts val="0"/>
              </a:spcBef>
              <a:spcAft>
                <a:spcPts val="130"/>
              </a:spcAft>
              <a:buClrTx/>
              <a:buSzTx/>
              <a:buAutoNum type="arabicPeriod"/>
              <a:tabLst/>
              <a:defRPr/>
            </a:pPr>
            <a:endParaRPr lang="en-US" sz="2400" b="0" i="0" u="none" strike="noStrike" cap="none" spc="0" normalizeH="0" baseline="0" noProof="0">
              <a:ln>
                <a:noFill/>
              </a:ln>
              <a:effectLst/>
              <a:uLnTx/>
              <a:uFillTx/>
              <a:ea typeface="Calibri" panose="020F0502020204030204"/>
              <a:cs typeface="Calibri" panose="020F0502020204030204"/>
            </a:endParaRPr>
          </a:p>
          <a:p>
            <a:pPr marL="575945" indent="-457200">
              <a:lnSpc>
                <a:spcPct val="90000"/>
              </a:lnSpc>
              <a:spcAft>
                <a:spcPts val="130"/>
              </a:spcAft>
              <a:buAutoNum type="arabicPeriod"/>
              <a:defRPr/>
            </a:pPr>
            <a:r>
              <a:rPr lang="en-US" sz="2400"/>
              <a:t>Banking </a:t>
            </a:r>
            <a:r>
              <a:rPr kumimoji="0" lang="en-US" sz="2400" i="0" u="none" strike="noStrike" cap="none" spc="0" normalizeH="0" baseline="0" noProof="0">
                <a:ln>
                  <a:noFill/>
                </a:ln>
                <a:effectLst/>
                <a:uLnTx/>
                <a:uFillTx/>
              </a:rPr>
              <a:t>products do not directly pollute</a:t>
            </a:r>
            <a:r>
              <a:rPr lang="en-US" sz="2400"/>
              <a:t>. </a:t>
            </a:r>
            <a:r>
              <a:rPr lang="en-US" sz="2400" b="1"/>
              <a:t>Bank customers</a:t>
            </a:r>
            <a:r>
              <a:rPr kumimoji="0" lang="en-US" sz="2400" b="1" i="0" u="none" strike="noStrike" cap="none" spc="0" normalizeH="0" baseline="0" noProof="0">
                <a:ln>
                  <a:noFill/>
                </a:ln>
                <a:effectLst/>
                <a:uLnTx/>
                <a:uFillTx/>
              </a:rPr>
              <a:t> must assume </a:t>
            </a:r>
            <a:r>
              <a:rPr lang="en-US" sz="2400" b="1"/>
              <a:t>full </a:t>
            </a:r>
            <a:r>
              <a:rPr kumimoji="0" lang="en-US" sz="2400" b="1" i="0" u="none" strike="noStrike" cap="none" spc="0" normalizeH="0" baseline="0" noProof="0">
                <a:ln>
                  <a:noFill/>
                </a:ln>
                <a:effectLst/>
                <a:uLnTx/>
                <a:uFillTx/>
              </a:rPr>
              <a:t>responsibility</a:t>
            </a:r>
            <a:r>
              <a:rPr kumimoji="0" lang="en-US" sz="2400" i="0" u="none" strike="noStrike" cap="none" spc="0" normalizeH="0" baseline="0" noProof="0">
                <a:ln>
                  <a:noFill/>
                </a:ln>
                <a:effectLst/>
                <a:uLnTx/>
                <a:uFillTx/>
              </a:rPr>
              <a:t> </a:t>
            </a:r>
            <a:r>
              <a:rPr kumimoji="0" lang="en-US" sz="2400" b="0" i="0" u="none" strike="noStrike" cap="none" spc="0" normalizeH="0" baseline="0" noProof="0">
                <a:ln>
                  <a:noFill/>
                </a:ln>
                <a:effectLst/>
                <a:uLnTx/>
                <a:uFillTx/>
              </a:rPr>
              <a:t>for the pollution they directly</a:t>
            </a:r>
            <a:r>
              <a:rPr lang="en-US" sz="2400"/>
              <a:t> generate</a:t>
            </a:r>
            <a:r>
              <a:rPr kumimoji="0" lang="en-US" sz="2400" b="0" i="0" u="none" strike="noStrike" cap="none" spc="0" normalizeH="0" baseline="0" noProof="0">
                <a:ln>
                  <a:noFill/>
                </a:ln>
                <a:effectLst/>
                <a:uLnTx/>
                <a:uFillTx/>
              </a:rPr>
              <a:t>.</a:t>
            </a:r>
            <a:endParaRPr lang="en-US" sz="2400" b="0" i="0" u="none" strike="noStrike" cap="none" spc="0" normalizeH="0" baseline="0" noProof="0">
              <a:ln>
                <a:noFill/>
              </a:ln>
              <a:effectLst/>
              <a:uLnTx/>
              <a:uFillTx/>
              <a:ea typeface="Calibri" panose="020F0502020204030204"/>
              <a:cs typeface="Calibri" panose="020F0502020204030204"/>
            </a:endParaRPr>
          </a:p>
        </p:txBody>
      </p:sp>
    </p:spTree>
    <p:extLst>
      <p:ext uri="{BB962C8B-B14F-4D97-AF65-F5344CB8AC3E}">
        <p14:creationId xmlns:p14="http://schemas.microsoft.com/office/powerpoint/2010/main" val="2353000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a:extLst>
              <a:ext uri="{FF2B5EF4-FFF2-40B4-BE49-F238E27FC236}">
                <a16:creationId xmlns:a16="http://schemas.microsoft.com/office/drawing/2014/main" id="{084368CB-C68D-8900-6869-98366E055CB1}"/>
              </a:ext>
            </a:extLst>
          </p:cNvPr>
          <p:cNvGraphicFramePr/>
          <p:nvPr>
            <p:extLst>
              <p:ext uri="{D42A27DB-BD31-4B8C-83A1-F6EECF244321}">
                <p14:modId xmlns:p14="http://schemas.microsoft.com/office/powerpoint/2010/main" val="74830514"/>
              </p:ext>
            </p:extLst>
          </p:nvPr>
        </p:nvGraphicFramePr>
        <p:xfrm>
          <a:off x="6766562" y="404709"/>
          <a:ext cx="542543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52C83C8F-6D2A-5FF9-48AD-ECC54684681A}"/>
              </a:ext>
            </a:extLst>
          </p:cNvPr>
          <p:cNvSpPr txBox="1"/>
          <p:nvPr/>
        </p:nvSpPr>
        <p:spPr>
          <a:xfrm>
            <a:off x="238764" y="247443"/>
            <a:ext cx="7512208" cy="1938992"/>
          </a:xfrm>
          <a:prstGeom prst="rect">
            <a:avLst/>
          </a:prstGeom>
          <a:noFill/>
        </p:spPr>
        <p:txBody>
          <a:bodyPr wrap="square" lIns="91440" tIns="45720" rIns="91440" bIns="45720" anchor="t">
            <a:spAutoFit/>
          </a:bodyPr>
          <a:lstStyle/>
          <a:p>
            <a:pPr>
              <a:defRPr/>
            </a:pPr>
            <a:r>
              <a:rPr lang="en-US" sz="2000" b="1" dirty="0">
                <a:solidFill>
                  <a:prstClr val="black"/>
                </a:solidFill>
                <a:latin typeface="Calibri" panose="020F0502020204030204"/>
              </a:rPr>
              <a:t>D</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efensive </a:t>
            </a:r>
            <a:r>
              <a:rPr lang="en-US" sz="2000" b="1" dirty="0">
                <a:solidFill>
                  <a:prstClr val="black"/>
                </a:solidFill>
                <a:latin typeface="Calibri" panose="020F0502020204030204"/>
              </a:rPr>
              <a:t>bank</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 </a:t>
            </a:r>
            <a:endParaRPr lang="fr-FR" sz="2000">
              <a:solidFill>
                <a:prstClr val="black"/>
              </a:solidFill>
              <a:latin typeface="Calibri" panose="020F0502020204030204"/>
              <a:ea typeface="Calibri"/>
              <a:cs typeface="Calibri"/>
            </a:endParaRPr>
          </a:p>
          <a:p>
            <a:pPr marL="285750" indent="-285750">
              <a:buFont typeface="Arial"/>
              <a:buChar char="•"/>
              <a:defRPr/>
            </a:pPr>
            <a:r>
              <a:rPr lang="en-US" sz="2000" dirty="0">
                <a:solidFill>
                  <a:prstClr val="black"/>
                </a:solidFill>
                <a:latin typeface="Calibri" panose="020F0502020204030204"/>
              </a:rPr>
              <a:t>Reluctant to support </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government measures </a:t>
            </a:r>
            <a:r>
              <a:rPr lang="en-US" sz="2000" dirty="0">
                <a:solidFill>
                  <a:prstClr val="black"/>
                </a:solidFill>
                <a:latin typeface="Calibri" panose="020F0502020204030204"/>
              </a:rPr>
              <a:t>for </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sustainable development. </a:t>
            </a:r>
            <a:endParaRPr lang="fr-FR" sz="2000">
              <a:solidFill>
                <a:prstClr val="black"/>
              </a:solidFill>
              <a:latin typeface="Calibri" panose="020F0502020204030204"/>
              <a:ea typeface="Calibri"/>
              <a:cs typeface="Calibri"/>
            </a:endParaRPr>
          </a:p>
          <a:p>
            <a:pPr marL="285750" indent="-285750">
              <a:buFont typeface="Arial"/>
              <a:buChar char="•"/>
              <a:defRPr/>
            </a:pPr>
            <a:r>
              <a:rPr lang="en-US" sz="2000" dirty="0">
                <a:solidFill>
                  <a:prstClr val="black"/>
                </a:solidFill>
                <a:latin typeface="Calibri" panose="020F0502020204030204"/>
              </a:rPr>
              <a:t>Prioritizes </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its </a:t>
            </a:r>
            <a:r>
              <a:rPr lang="en-US" sz="2000" dirty="0">
                <a:solidFill>
                  <a:prstClr val="black"/>
                </a:solidFill>
                <a:latin typeface="Calibri" panose="020F0502020204030204"/>
              </a:rPr>
              <a:t>own financial </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interests. </a:t>
            </a:r>
            <a:endParaRPr lang="fr-FR" sz="2000">
              <a:solidFill>
                <a:prstClr val="black"/>
              </a:solidFill>
              <a:latin typeface="Calibri" panose="020F0502020204030204"/>
              <a:ea typeface="Calibri" panose="020F0502020204030204"/>
              <a:cs typeface="Calibri" panose="020F0502020204030204"/>
            </a:endParaRPr>
          </a:p>
          <a:p>
            <a:pPr marL="285750" indent="-285750">
              <a:buFont typeface="Arial"/>
              <a:buChar char="•"/>
              <a:defRPr/>
            </a:pPr>
            <a:r>
              <a:rPr lang="en-US" sz="2000">
                <a:solidFill>
                  <a:prstClr val="black"/>
                </a:solidFill>
                <a:latin typeface="Calibri" panose="020F0502020204030204"/>
              </a:rPr>
              <a:t>E</a:t>
            </a:r>
            <a:r>
              <a:rPr kumimoji="0" lang="en-US" sz="2000" i="0" u="none" strike="noStrike" kern="1200" cap="none" spc="0" normalizeH="0" baseline="0" noProof="0">
                <a:ln>
                  <a:noFill/>
                </a:ln>
                <a:solidFill>
                  <a:prstClr val="black"/>
                </a:solidFill>
                <a:effectLst/>
                <a:uLnTx/>
                <a:uFillTx/>
                <a:latin typeface="Calibri" panose="020F0502020204030204"/>
                <a:ea typeface="+mn-ea"/>
                <a:cs typeface="+mn-cs"/>
              </a:rPr>
              <a:t>nvironmental protection increases </a:t>
            </a:r>
            <a:r>
              <a:rPr lang="en-US" sz="2000" dirty="0">
                <a:solidFill>
                  <a:prstClr val="black"/>
                </a:solidFill>
                <a:latin typeface="Calibri" panose="020F0502020204030204"/>
              </a:rPr>
              <a:t>its </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costs. </a:t>
            </a:r>
            <a:endParaRPr lang="fr-FR" sz="2000">
              <a:solidFill>
                <a:prstClr val="black"/>
              </a:solidFill>
              <a:latin typeface="Calibri" panose="020F0502020204030204"/>
              <a:ea typeface="Calibri" panose="020F0502020204030204"/>
              <a:cs typeface="Calibri" panose="020F0502020204030204"/>
            </a:endParaRPr>
          </a:p>
          <a:p>
            <a:pPr marL="285750" indent="-285750">
              <a:buFont typeface="Arial"/>
              <a:buChar char="•"/>
              <a:defRPr/>
            </a:pPr>
            <a:r>
              <a:rPr lang="en-US" sz="2000">
                <a:solidFill>
                  <a:prstClr val="black"/>
                </a:solidFill>
                <a:latin typeface="Calibri" panose="020F0502020204030204"/>
              </a:rPr>
              <a:t>Sustainable development is </a:t>
            </a:r>
            <a:r>
              <a:rPr lang="en-US" sz="2000" dirty="0">
                <a:solidFill>
                  <a:prstClr val="black"/>
                </a:solidFill>
                <a:latin typeface="Calibri" panose="020F0502020204030204"/>
              </a:rPr>
              <a:t>not profitable</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a:t>
            </a:r>
            <a:endParaRPr lang="fr-FR" sz="2000">
              <a:solidFill>
                <a:prstClr val="black"/>
              </a:solidFill>
              <a:ea typeface="Calibri"/>
              <a:cs typeface="Calibri"/>
            </a:endParaRPr>
          </a:p>
        </p:txBody>
      </p:sp>
      <p:sp>
        <p:nvSpPr>
          <p:cNvPr id="6" name="ZoneTexte 5">
            <a:extLst>
              <a:ext uri="{FF2B5EF4-FFF2-40B4-BE49-F238E27FC236}">
                <a16:creationId xmlns:a16="http://schemas.microsoft.com/office/drawing/2014/main" id="{5FE90D20-A025-FE4B-EA3A-F9F300361A3E}"/>
              </a:ext>
            </a:extLst>
          </p:cNvPr>
          <p:cNvSpPr txBox="1"/>
          <p:nvPr/>
        </p:nvSpPr>
        <p:spPr>
          <a:xfrm>
            <a:off x="233683" y="2354690"/>
            <a:ext cx="7074376" cy="132343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Preventive banking.</a:t>
            </a:r>
            <a:endParaRPr lang="en-US" sz="2000" b="1"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2000" i="0" u="none" strike="noStrike" kern="1200" cap="none" spc="0" normalizeH="0" baseline="0" noProof="0">
                <a:ln>
                  <a:noFill/>
                </a:ln>
                <a:solidFill>
                  <a:prstClr val="black"/>
                </a:solidFill>
                <a:effectLst/>
                <a:uLnTx/>
                <a:uFillTx/>
                <a:latin typeface="Calibri" panose="020F0502020204030204"/>
                <a:ea typeface="+mn-ea"/>
                <a:cs typeface="+mn-cs"/>
              </a:rPr>
              <a:t>Cost savings by taking the environment into account (reduction in </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paper, energy, and water consumption, business travel).</a:t>
            </a:r>
            <a:endParaRPr lang="en-US" sz="200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2000" i="0" u="none" strike="noStrike" kern="1200" cap="none" spc="0" normalizeH="0" baseline="0" noProof="0">
                <a:ln>
                  <a:noFill/>
                </a:ln>
                <a:solidFill>
                  <a:prstClr val="black"/>
                </a:solidFill>
                <a:effectLst/>
                <a:uLnTx/>
                <a:uFillTx/>
                <a:latin typeface="Calibri" panose="020F0502020204030204"/>
                <a:ea typeface="+mn-ea"/>
                <a:cs typeface="+mn-cs"/>
              </a:rPr>
              <a:t>Limiting costs and losses related to environmental risks.</a:t>
            </a:r>
            <a:endParaRPr lang="fr-FR" sz="2000" i="0" u="sng"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endParaRPr>
          </a:p>
        </p:txBody>
      </p:sp>
      <p:sp>
        <p:nvSpPr>
          <p:cNvPr id="8" name="ZoneTexte 7">
            <a:extLst>
              <a:ext uri="{FF2B5EF4-FFF2-40B4-BE49-F238E27FC236}">
                <a16:creationId xmlns:a16="http://schemas.microsoft.com/office/drawing/2014/main" id="{FF1D232A-9693-B81A-5777-8F7405D2BB51}"/>
              </a:ext>
            </a:extLst>
          </p:cNvPr>
          <p:cNvSpPr txBox="1"/>
          <p:nvPr/>
        </p:nvSpPr>
        <p:spPr>
          <a:xfrm>
            <a:off x="230504" y="4227533"/>
            <a:ext cx="7707313" cy="224676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prstClr val="black"/>
                </a:solidFill>
                <a:latin typeface="Calibri" panose="020F0502020204030204"/>
              </a:rPr>
              <a:t>Offensive/</a:t>
            </a:r>
            <a:r>
              <a:rPr lang="en-US" sz="2000" b="1" dirty="0" err="1">
                <a:solidFill>
                  <a:prstClr val="black"/>
                </a:solidFill>
                <a:latin typeface="Calibri" panose="020F0502020204030204"/>
              </a:rPr>
              <a:t>Sustainab</a:t>
            </a:r>
            <a:r>
              <a:rPr lang="en-US" sz="2000" b="1" dirty="0">
                <a:solidFill>
                  <a:prstClr val="black"/>
                </a:solidFill>
                <a:latin typeface="Calibri" panose="020F0502020204030204"/>
              </a:rPr>
              <a:t>le</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 banking.</a:t>
            </a:r>
            <a:endParaRPr lang="en-US" sz="2000" b="1"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2000" i="0" u="none" strike="noStrike" kern="1200" cap="none" spc="0" normalizeH="0" baseline="0" noProof="0">
                <a:ln>
                  <a:noFill/>
                </a:ln>
                <a:solidFill>
                  <a:prstClr val="black"/>
                </a:solidFill>
                <a:effectLst/>
                <a:uLnTx/>
                <a:uFillTx/>
                <a:latin typeface="Calibri" panose="020F0502020204030204"/>
                <a:ea typeface="+mn-ea"/>
                <a:cs typeface="+mn-cs"/>
              </a:rPr>
              <a:t>New opportunities such as the development of environmental </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investment funds (Calvert Social Investment Fund, UBS Eco-Performance-Portfolios),</a:t>
            </a:r>
            <a:endParaRPr lang="en-US" sz="200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2000" i="0" u="none" strike="noStrike" kern="1200" cap="none" spc="0" normalizeH="0" baseline="0" noProof="0">
                <a:ln>
                  <a:noFill/>
                </a:ln>
                <a:solidFill>
                  <a:prstClr val="black"/>
                </a:solidFill>
                <a:effectLst/>
                <a:uLnTx/>
                <a:uFillTx/>
                <a:latin typeface="Calibri" panose="020F0502020204030204"/>
                <a:ea typeface="+mn-ea"/>
                <a:cs typeface="+mn-cs"/>
              </a:rPr>
              <a:t>Financing sustainable energy (Solaris Project, a collaboration between </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Greenpeace and the Rabobank group)</a:t>
            </a:r>
            <a:endParaRPr lang="en-US" sz="200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endParaRPr>
          </a:p>
          <a:p>
            <a:pPr marL="285750" indent="-285750">
              <a:buFont typeface="Arial"/>
              <a:buChar char="•"/>
              <a:defRPr/>
            </a:pPr>
            <a:r>
              <a:rPr lang="en-US" sz="2000">
                <a:solidFill>
                  <a:prstClr val="black"/>
                </a:solidFill>
                <a:latin typeface="Calibri" panose="020F0502020204030204"/>
                <a:ea typeface="Calibri"/>
                <a:cs typeface="Calibri"/>
              </a:rPr>
              <a:t>Aiming for both ethical and profitability goals.</a:t>
            </a:r>
            <a:endParaRPr lang="en-US" sz="2000">
              <a:solidFill>
                <a:prstClr val="black"/>
              </a:solidFill>
              <a:ea typeface="Calibri"/>
              <a:cs typeface="Calibri"/>
            </a:endParaRPr>
          </a:p>
        </p:txBody>
      </p:sp>
    </p:spTree>
    <p:extLst>
      <p:ext uri="{BB962C8B-B14F-4D97-AF65-F5344CB8AC3E}">
        <p14:creationId xmlns:p14="http://schemas.microsoft.com/office/powerpoint/2010/main" val="1814103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0E13906-109B-9B1B-9990-D23F53561C77}"/>
              </a:ext>
            </a:extLst>
          </p:cNvPr>
          <p:cNvSpPr txBox="1"/>
          <p:nvPr/>
        </p:nvSpPr>
        <p:spPr>
          <a:xfrm>
            <a:off x="1336517" y="2990730"/>
            <a:ext cx="9083674"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Sustainable bank refers to financial institution that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priorities environmental, social, and governance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(ESG)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factors in their operations and investments (SRI)</a:t>
            </a:r>
            <a:endPar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A37BE6F6-6171-3F85-C3B1-4DE4E6C1F49A}"/>
              </a:ext>
            </a:extLst>
          </p:cNvPr>
          <p:cNvSpPr txBox="1"/>
          <p:nvPr/>
        </p:nvSpPr>
        <p:spPr>
          <a:xfrm>
            <a:off x="386080" y="1049774"/>
            <a:ext cx="239776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SUSTAINABLE BANK </a:t>
            </a:r>
          </a:p>
        </p:txBody>
      </p:sp>
    </p:spTree>
    <p:extLst>
      <p:ext uri="{BB962C8B-B14F-4D97-AF65-F5344CB8AC3E}">
        <p14:creationId xmlns:p14="http://schemas.microsoft.com/office/powerpoint/2010/main" val="1696921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9ACDFBDC-270A-A9F8-0FDB-446010D26064}"/>
              </a:ext>
            </a:extLst>
          </p:cNvPr>
          <p:cNvSpPr txBox="1"/>
          <p:nvPr/>
        </p:nvSpPr>
        <p:spPr>
          <a:xfrm>
            <a:off x="768097" y="838200"/>
            <a:ext cx="6736884" cy="921589"/>
          </a:xfrm>
        </p:spPr>
        <p:txBody>
          <a:bodyPr vert="horz" lIns="91440" tIns="45720" rIns="91440" bIns="45720" rtlCol="0" anchor="t">
            <a:normAutofit fontScale="92500"/>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SRI: Socially Responsible Investment </a:t>
            </a:r>
          </a:p>
        </p:txBody>
      </p:sp>
      <p:sp>
        <p:nvSpPr>
          <p:cNvPr id="3" name="ZoneTexte 2">
            <a:extLst>
              <a:ext uri="{FF2B5EF4-FFF2-40B4-BE49-F238E27FC236}">
                <a16:creationId xmlns:a16="http://schemas.microsoft.com/office/drawing/2014/main" id="{146784C7-2B0E-1557-768F-A509F558A2A2}"/>
              </a:ext>
            </a:extLst>
          </p:cNvPr>
          <p:cNvSpPr txBox="1"/>
          <p:nvPr/>
        </p:nvSpPr>
        <p:spPr>
          <a:xfrm>
            <a:off x="370167" y="3036972"/>
            <a:ext cx="10720145" cy="3880944"/>
          </a:xfrm>
        </p:spPr>
        <p:txBody>
          <a:bodyPr vert="horz" lIns="91440" tIns="45720" rIns="91440" bIns="45720" rtlCol="0" anchor="t">
            <a:normAutofit/>
          </a:bodyPr>
          <a:lstStyle/>
          <a:p>
            <a:pPr marL="228600" marR="0" lvl="0" indent="-228600" algn="just" defTabSz="914400" rtl="0" eaLnBrk="1" fontAlgn="auto" latinLnBrk="0" hangingPunct="1">
              <a:lnSpc>
                <a:spcPct val="110000"/>
              </a:lnSpc>
              <a:spcBef>
                <a:spcPts val="0"/>
              </a:spcBef>
              <a:spcAft>
                <a:spcPts val="600"/>
              </a:spcAft>
              <a:buClrTx/>
              <a:buSzPct val="8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Socially responsible investment, or SRI, is a strategy that considers not only the financial returns from an investment but also its impact on environmental, ethical, or social change (ESG).</a:t>
            </a:r>
          </a:p>
          <a:p>
            <a:pPr marL="228600" marR="0" lvl="0" indent="-228600" algn="l" defTabSz="914400" rtl="0" eaLnBrk="1" fontAlgn="auto" latinLnBrk="0" hangingPunct="1">
              <a:lnSpc>
                <a:spcPct val="110000"/>
              </a:lnSpc>
              <a:spcBef>
                <a:spcPts val="0"/>
              </a:spcBef>
              <a:spcAft>
                <a:spcPts val="600"/>
              </a:spcAft>
              <a:buClrTx/>
              <a:buSzPct val="80000"/>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110000"/>
              </a:lnSpc>
              <a:spcBef>
                <a:spcPts val="0"/>
              </a:spcBef>
              <a:spcAft>
                <a:spcPts val="600"/>
              </a:spcAft>
              <a:buClrTx/>
              <a:buSzPct val="8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SRI is an investment made in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sustainable sectors or companies</a:t>
            </a:r>
          </a:p>
        </p:txBody>
      </p:sp>
      <p:sp>
        <p:nvSpPr>
          <p:cNvPr id="13" name="Slide Number Placeholder 19">
            <a:extLst>
              <a:ext uri="{FF2B5EF4-FFF2-40B4-BE49-F238E27FC236}">
                <a16:creationId xmlns:a16="http://schemas.microsoft.com/office/drawing/2014/main" id="{52768403-B88C-4BF4-9D44-D8688719AE08}"/>
              </a:ext>
            </a:extLst>
          </p:cNvPr>
          <p:cNvSpPr>
            <a:spLocks noGrp="1"/>
          </p:cNvSpPr>
          <p:nvPr>
            <p:ph type="sldNum" sz="quarter" idx="12"/>
          </p:nvPr>
        </p:nvSpPr>
        <p:spPr>
          <a:xfrm>
            <a:off x="11512296" y="6356350"/>
            <a:ext cx="574620"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3E131995-E962-4131-8504-6B962D7140A6}" type="slidenum">
              <a:rPr kumimoji="0" lang="en-US"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25</a:t>
            </a:fld>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F6A8663E-4904-F9DF-E32F-8D25D9955DCF}"/>
              </a:ext>
            </a:extLst>
          </p:cNvPr>
          <p:cNvSpPr txBox="1"/>
          <p:nvPr/>
        </p:nvSpPr>
        <p:spPr>
          <a:xfrm>
            <a:off x="2682240" y="1666294"/>
            <a:ext cx="6096000" cy="542584"/>
          </a:xfrm>
          <a:prstGeom prst="rect">
            <a:avLst/>
          </a:prstGeom>
          <a:noFill/>
        </p:spPr>
        <p:txBody>
          <a:bodyPr wrap="square">
            <a:spAutoFit/>
          </a:bodyPr>
          <a:lstStyle/>
          <a:p>
            <a:pPr marR="0" lvl="0" algn="l" defTabSz="914400" rtl="0" eaLnBrk="1" fontAlgn="auto" latinLnBrk="0" hangingPunct="1">
              <a:lnSpc>
                <a:spcPct val="110000"/>
              </a:lnSpc>
              <a:spcBef>
                <a:spcPts val="0"/>
              </a:spcBef>
              <a:spcAft>
                <a:spcPts val="600"/>
              </a:spcAft>
              <a:buClrTx/>
              <a:buSzPct val="80000"/>
              <a:tabLst/>
              <a:defRPr/>
            </a:pPr>
            <a:r>
              <a:rPr lang="en-US" sz="2800" dirty="0">
                <a:solidFill>
                  <a:prstClr val="black"/>
                </a:solidFill>
                <a:latin typeface="Calibri" panose="020F0502020204030204"/>
              </a:rPr>
              <a:t>A S</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ustainable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Bank deals with SRI</a:t>
            </a:r>
          </a:p>
        </p:txBody>
      </p:sp>
    </p:spTree>
    <p:extLst>
      <p:ext uri="{BB962C8B-B14F-4D97-AF65-F5344CB8AC3E}">
        <p14:creationId xmlns:p14="http://schemas.microsoft.com/office/powerpoint/2010/main" val="1476206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a:extLst>
              <a:ext uri="{FF2B5EF4-FFF2-40B4-BE49-F238E27FC236}">
                <a16:creationId xmlns:a16="http://schemas.microsoft.com/office/drawing/2014/main" id="{A3193386-913D-A4D5-EA6D-10E0BE341EE2}"/>
              </a:ext>
            </a:extLst>
          </p:cNvPr>
          <p:cNvGraphicFramePr/>
          <p:nvPr>
            <p:extLst>
              <p:ext uri="{D42A27DB-BD31-4B8C-83A1-F6EECF244321}">
                <p14:modId xmlns:p14="http://schemas.microsoft.com/office/powerpoint/2010/main" val="2441723616"/>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Connecteur droit avec flèche 5">
            <a:extLst>
              <a:ext uri="{FF2B5EF4-FFF2-40B4-BE49-F238E27FC236}">
                <a16:creationId xmlns:a16="http://schemas.microsoft.com/office/drawing/2014/main" id="{44085C43-E6F7-B955-88BD-D58D12A83836}"/>
              </a:ext>
            </a:extLst>
          </p:cNvPr>
          <p:cNvCxnSpPr/>
          <p:nvPr/>
        </p:nvCxnSpPr>
        <p:spPr>
          <a:xfrm flipH="1">
            <a:off x="3690257" y="2209800"/>
            <a:ext cx="838200" cy="1066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6">
            <a:extLst>
              <a:ext uri="{FF2B5EF4-FFF2-40B4-BE49-F238E27FC236}">
                <a16:creationId xmlns:a16="http://schemas.microsoft.com/office/drawing/2014/main" id="{8AC6357E-1D84-5A40-2229-894E8380738A}"/>
              </a:ext>
            </a:extLst>
          </p:cNvPr>
          <p:cNvCxnSpPr>
            <a:cxnSpLocks/>
          </p:cNvCxnSpPr>
          <p:nvPr/>
        </p:nvCxnSpPr>
        <p:spPr>
          <a:xfrm>
            <a:off x="8229599" y="2057399"/>
            <a:ext cx="228601" cy="402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973639E3-96BC-6ABD-69B9-2B6E4C362143}"/>
              </a:ext>
            </a:extLst>
          </p:cNvPr>
          <p:cNvCxnSpPr>
            <a:cxnSpLocks/>
          </p:cNvCxnSpPr>
          <p:nvPr/>
        </p:nvCxnSpPr>
        <p:spPr>
          <a:xfrm flipH="1">
            <a:off x="6868886" y="2057399"/>
            <a:ext cx="315685" cy="402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3DC793B1-3696-2B3D-4C0E-766BCA0AF66C}"/>
              </a:ext>
            </a:extLst>
          </p:cNvPr>
          <p:cNvCxnSpPr>
            <a:cxnSpLocks/>
          </p:cNvCxnSpPr>
          <p:nvPr/>
        </p:nvCxnSpPr>
        <p:spPr>
          <a:xfrm>
            <a:off x="9122228" y="3320142"/>
            <a:ext cx="228601" cy="402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BCED181F-09B3-A51E-E865-2D3191F33104}"/>
              </a:ext>
            </a:extLst>
          </p:cNvPr>
          <p:cNvCxnSpPr>
            <a:cxnSpLocks/>
          </p:cNvCxnSpPr>
          <p:nvPr/>
        </p:nvCxnSpPr>
        <p:spPr>
          <a:xfrm flipH="1">
            <a:off x="7913914" y="3320142"/>
            <a:ext cx="315685" cy="402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ZoneTexte 4">
            <a:extLst>
              <a:ext uri="{FF2B5EF4-FFF2-40B4-BE49-F238E27FC236}">
                <a16:creationId xmlns:a16="http://schemas.microsoft.com/office/drawing/2014/main" id="{BD80940F-C722-2EBB-3392-8D871AEE787A}"/>
              </a:ext>
            </a:extLst>
          </p:cNvPr>
          <p:cNvSpPr txBox="1"/>
          <p:nvPr/>
        </p:nvSpPr>
        <p:spPr>
          <a:xfrm>
            <a:off x="6239510" y="5239657"/>
            <a:ext cx="3348808"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Thematic funds</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are investment funds that are focused on specific themes or trends, such as clean energy or technology. </a:t>
            </a:r>
            <a:endParaRPr kumimoji="0" lang="fr-FR"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ZoneTexte 9">
            <a:extLst>
              <a:ext uri="{FF2B5EF4-FFF2-40B4-BE49-F238E27FC236}">
                <a16:creationId xmlns:a16="http://schemas.microsoft.com/office/drawing/2014/main" id="{79EF8166-969A-2494-12F6-BBE1F1695262}"/>
              </a:ext>
            </a:extLst>
          </p:cNvPr>
          <p:cNvSpPr txBox="1"/>
          <p:nvPr/>
        </p:nvSpPr>
        <p:spPr>
          <a:xfrm>
            <a:off x="9588318" y="5039602"/>
            <a:ext cx="2903220"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02124"/>
                </a:solidFill>
                <a:effectLst/>
                <a:uLnTx/>
                <a:uFillTx/>
                <a:latin typeface="Google Sans"/>
                <a:ea typeface="+mn-ea"/>
                <a:cs typeface="+mn-cs"/>
              </a:rPr>
              <a:t>The best-in-class </a:t>
            </a:r>
            <a:r>
              <a:rPr kumimoji="0" lang="en-US" sz="1800" b="0" i="0" u="none" strike="noStrike" kern="1200" cap="none" spc="0" normalizeH="0" baseline="0" noProof="0" dirty="0">
                <a:ln>
                  <a:noFill/>
                </a:ln>
                <a:solidFill>
                  <a:srgbClr val="202124"/>
                </a:solidFill>
                <a:effectLst/>
                <a:uLnTx/>
                <a:uFillTx/>
                <a:latin typeface="Google Sans"/>
                <a:ea typeface="+mn-ea"/>
                <a:cs typeface="+mn-cs"/>
              </a:rPr>
              <a:t>: investing in </a:t>
            </a:r>
            <a:r>
              <a:rPr kumimoji="0" lang="en-US" sz="1800" b="0" i="0" u="none" strike="noStrike" kern="1200" cap="none" spc="0" normalizeH="0" baseline="0" noProof="0" dirty="0">
                <a:ln>
                  <a:noFill/>
                </a:ln>
                <a:solidFill>
                  <a:srgbClr val="040C28"/>
                </a:solidFill>
                <a:effectLst/>
                <a:uLnTx/>
                <a:uFillTx/>
                <a:latin typeface="Google Sans"/>
                <a:ea typeface="+mn-ea"/>
                <a:cs typeface="+mn-cs"/>
              </a:rPr>
              <a:t>companies that are leaders in environmental, social and governance (ESG) criteria</a:t>
            </a:r>
            <a:r>
              <a:rPr kumimoji="0" lang="en-US" sz="1800" b="0" i="0" u="none" strike="noStrike" kern="1200" cap="none" spc="0" normalizeH="0" baseline="0" noProof="0" dirty="0">
                <a:ln>
                  <a:noFill/>
                </a:ln>
                <a:solidFill>
                  <a:srgbClr val="202124"/>
                </a:solidFill>
                <a:effectLst/>
                <a:uLnTx/>
                <a:uFillTx/>
                <a:latin typeface="Google Sans"/>
                <a:ea typeface="+mn-ea"/>
                <a:cs typeface="+mn-cs"/>
              </a:rPr>
              <a:t>.</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ZoneTexte 11">
            <a:extLst>
              <a:ext uri="{FF2B5EF4-FFF2-40B4-BE49-F238E27FC236}">
                <a16:creationId xmlns:a16="http://schemas.microsoft.com/office/drawing/2014/main" id="{A06B98BA-1B3C-CEFC-2848-AAC2B79ACC75}"/>
              </a:ext>
            </a:extLst>
          </p:cNvPr>
          <p:cNvSpPr txBox="1"/>
          <p:nvPr/>
        </p:nvSpPr>
        <p:spPr>
          <a:xfrm>
            <a:off x="9365343" y="1807759"/>
            <a:ext cx="2903220"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F6368"/>
                </a:solidFill>
                <a:effectLst/>
                <a:uLnTx/>
                <a:uFillTx/>
                <a:latin typeface="arial" panose="020B0604020202020204" pitchFamily="34" charset="0"/>
                <a:ea typeface="+mn-ea"/>
                <a:cs typeface="+mn-cs"/>
              </a:rPr>
              <a:t>Positive screening</a:t>
            </a:r>
            <a:r>
              <a:rPr kumimoji="0" lang="en-US" sz="1600" b="0" i="0" u="none" strike="noStrike" kern="1200" cap="none" spc="0" normalizeH="0" baseline="0" noProof="0" dirty="0">
                <a:ln>
                  <a:noFill/>
                </a:ln>
                <a:solidFill>
                  <a:srgbClr val="4D5156"/>
                </a:solidFill>
                <a:effectLst/>
                <a:uLnTx/>
                <a:uFillTx/>
                <a:latin typeface="arial" panose="020B0604020202020204" pitchFamily="34" charset="0"/>
                <a:ea typeface="+mn-ea"/>
                <a:cs typeface="+mn-cs"/>
              </a:rPr>
              <a:t> : investing in companies that score highly on environmental, social and governance (ESG) factors relative to their peers.</a:t>
            </a:r>
            <a:endParaRPr kumimoji="0" lang="fr-FR"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ZoneTexte 15">
            <a:extLst>
              <a:ext uri="{FF2B5EF4-FFF2-40B4-BE49-F238E27FC236}">
                <a16:creationId xmlns:a16="http://schemas.microsoft.com/office/drawing/2014/main" id="{5C5F87D1-DFB0-111C-E279-AA355480D10C}"/>
              </a:ext>
            </a:extLst>
          </p:cNvPr>
          <p:cNvSpPr txBox="1"/>
          <p:nvPr/>
        </p:nvSpPr>
        <p:spPr>
          <a:xfrm>
            <a:off x="9236528" y="55908"/>
            <a:ext cx="2933700"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Negative screening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 investing in companies that score poorly on environmental, social and governance (ESG) factors relative to their peers.</a:t>
            </a:r>
            <a:endParaRPr kumimoji="0" lang="fr-FR"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ZoneTexte 17">
            <a:extLst>
              <a:ext uri="{FF2B5EF4-FFF2-40B4-BE49-F238E27FC236}">
                <a16:creationId xmlns:a16="http://schemas.microsoft.com/office/drawing/2014/main" id="{E1F9CB04-A598-BCA8-4153-4AC457E465E8}"/>
              </a:ext>
            </a:extLst>
          </p:cNvPr>
          <p:cNvSpPr txBox="1"/>
          <p:nvPr/>
        </p:nvSpPr>
        <p:spPr>
          <a:xfrm>
            <a:off x="-3810" y="0"/>
            <a:ext cx="3387090"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Active investing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involves a fund manager choosing investments, whereas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passive investing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tracks an existing group of investments called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an index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Passive investing strategies often perform better than active strategies and cost less.</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805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E61D288-0167-4242-8263-5BD3DA1DF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ZoneTexte 3">
            <a:extLst>
              <a:ext uri="{FF2B5EF4-FFF2-40B4-BE49-F238E27FC236}">
                <a16:creationId xmlns:a16="http://schemas.microsoft.com/office/drawing/2014/main" id="{45A2DF8E-E3C8-DD17-B7D8-3094C9B7F0E1}"/>
              </a:ext>
            </a:extLst>
          </p:cNvPr>
          <p:cNvSpPr txBox="1"/>
          <p:nvPr/>
        </p:nvSpPr>
        <p:spPr>
          <a:xfrm>
            <a:off x="838200" y="838200"/>
            <a:ext cx="5480713" cy="1514015"/>
          </a:xfrm>
          <a:prstGeom prst="rect">
            <a:avLst/>
          </a:prstGeom>
        </p:spPr>
        <p:txBody>
          <a:bodyPr vert="horz" lIns="91440" tIns="45720" rIns="91440" bIns="45720" rtlCol="0" anchor="ctr">
            <a:normAutofit/>
          </a:bodyPr>
          <a:lstStyle/>
          <a:p>
            <a:pPr marR="0" lvl="0" indent="-228600" algn="ctr" fontAlgn="auto">
              <a:lnSpc>
                <a:spcPct val="90000"/>
              </a:lnSpc>
              <a:spcBef>
                <a:spcPct val="0"/>
              </a:spcBef>
              <a:spcAft>
                <a:spcPts val="600"/>
              </a:spcAft>
              <a:buClrTx/>
              <a:buSzPct val="80000"/>
              <a:tabLst/>
              <a:defRPr/>
            </a:pPr>
            <a:r>
              <a:rPr kumimoji="0" lang="en-US" sz="4400" b="0" i="0" u="none" strike="noStrike" cap="none" spc="0" normalizeH="0" baseline="0" noProof="0">
                <a:ln>
                  <a:noFill/>
                </a:ln>
                <a:effectLst/>
                <a:uLnTx/>
                <a:uFillTx/>
                <a:latin typeface="+mj-lt"/>
                <a:ea typeface="+mj-ea"/>
                <a:cs typeface="+mj-cs"/>
              </a:rPr>
              <a:t>Sustainable banking is a business model</a:t>
            </a:r>
          </a:p>
        </p:txBody>
      </p:sp>
      <p:pic>
        <p:nvPicPr>
          <p:cNvPr id="7" name="Graphic 6" descr="Banque">
            <a:extLst>
              <a:ext uri="{FF2B5EF4-FFF2-40B4-BE49-F238E27FC236}">
                <a16:creationId xmlns:a16="http://schemas.microsoft.com/office/drawing/2014/main" id="{D0F05B36-6778-6B9A-4617-4ACFD83FF4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64518" y="2590800"/>
            <a:ext cx="3429000" cy="3429000"/>
          </a:xfrm>
          <a:prstGeom prst="rect">
            <a:avLst/>
          </a:prstGeom>
        </p:spPr>
      </p:pic>
      <p:cxnSp>
        <p:nvCxnSpPr>
          <p:cNvPr id="19" name="Straight Connector 18">
            <a:extLst>
              <a:ext uri="{FF2B5EF4-FFF2-40B4-BE49-F238E27FC236}">
                <a16:creationId xmlns:a16="http://schemas.microsoft.com/office/drawing/2014/main" id="{7882FDDB-12BA-4531-A762-4803DABD6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4874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513D5FBE-02B0-BF1C-0CA6-3994A532887D}"/>
              </a:ext>
            </a:extLst>
          </p:cNvPr>
          <p:cNvSpPr txBox="1"/>
          <p:nvPr/>
        </p:nvSpPr>
        <p:spPr>
          <a:xfrm>
            <a:off x="7769567" y="1123166"/>
            <a:ext cx="4157826" cy="5734834"/>
          </a:xfrm>
          <a:prstGeom prst="rect">
            <a:avLst/>
          </a:prstGeom>
        </p:spPr>
        <p:txBody>
          <a:bodyPr vert="horz" lIns="91440" tIns="45720" rIns="91440" bIns="45720" rtlCol="0" anchor="t">
            <a:normAutofit/>
          </a:bodyPr>
          <a:lstStyle/>
          <a:p>
            <a:pPr marL="457200" marR="0" lvl="0" indent="-228600" fontAlgn="auto">
              <a:lnSpc>
                <a:spcPct val="110000"/>
              </a:lnSpc>
              <a:spcBef>
                <a:spcPts val="0"/>
              </a:spcBef>
              <a:spcAft>
                <a:spcPts val="600"/>
              </a:spcAft>
              <a:buClrTx/>
              <a:buSzPct val="80000"/>
              <a:buFont typeface="Arial" panose="020F0502020204030204"/>
              <a:buChar char="•"/>
              <a:tabLst/>
              <a:defRPr/>
            </a:pPr>
            <a:r>
              <a:rPr lang="en-US" sz="2000" dirty="0"/>
              <a:t>O</a:t>
            </a:r>
            <a:r>
              <a:rPr kumimoji="0" lang="en-US" sz="2000" b="0" i="0" u="none" strike="noStrike" cap="none" spc="0" normalizeH="0" baseline="0" noProof="0" err="1">
                <a:ln>
                  <a:noFill/>
                </a:ln>
                <a:effectLst/>
                <a:uLnTx/>
                <a:uFillTx/>
              </a:rPr>
              <a:t>riented</a:t>
            </a:r>
            <a:r>
              <a:rPr kumimoji="0" lang="en-US" sz="2000" b="0" i="0" u="none" strike="noStrike" cap="none" spc="0" normalizeH="0" baseline="0" noProof="0" dirty="0">
                <a:ln>
                  <a:noFill/>
                </a:ln>
                <a:effectLst/>
                <a:uLnTx/>
                <a:uFillTx/>
              </a:rPr>
              <a:t> towards </a:t>
            </a:r>
            <a:r>
              <a:rPr kumimoji="0" lang="en-US" sz="2000" b="1" i="0" u="none" strike="noStrike" cap="none" spc="0" normalizeH="0" baseline="0" noProof="0" dirty="0">
                <a:ln>
                  <a:noFill/>
                </a:ln>
                <a:effectLst/>
                <a:uLnTx/>
                <a:uFillTx/>
              </a:rPr>
              <a:t>stakeholders + green and social credits</a:t>
            </a:r>
            <a:r>
              <a:rPr kumimoji="0" lang="en-US" sz="2000" b="0" i="0" u="none" strike="noStrike" cap="none" spc="0" normalizeH="0" baseline="0" noProof="0" dirty="0">
                <a:ln>
                  <a:noFill/>
                </a:ln>
                <a:effectLst/>
                <a:uLnTx/>
                <a:uFillTx/>
              </a:rPr>
              <a:t>.</a:t>
            </a:r>
            <a:endParaRPr lang="fr-FR">
              <a:ea typeface="Calibri" panose="020F0502020204030204"/>
              <a:cs typeface="Calibri" panose="020F0502020204030204"/>
            </a:endParaRPr>
          </a:p>
          <a:p>
            <a:pPr marL="457200" marR="0" lvl="0" indent="-228600" fontAlgn="auto">
              <a:lnSpc>
                <a:spcPct val="110000"/>
              </a:lnSpc>
              <a:spcBef>
                <a:spcPts val="0"/>
              </a:spcBef>
              <a:spcAft>
                <a:spcPts val="600"/>
              </a:spcAft>
              <a:buClrTx/>
              <a:buSzPct val="80000"/>
              <a:buFont typeface="Arial" panose="020F0502020204030204"/>
              <a:buChar char="•"/>
              <a:tabLst/>
              <a:defRPr/>
            </a:pPr>
            <a:r>
              <a:rPr lang="en-US" sz="2000" dirty="0"/>
              <a:t>A</a:t>
            </a:r>
            <a:r>
              <a:rPr kumimoji="0" lang="en-US" sz="2000" b="0" i="0" u="none" strike="noStrike" cap="none" spc="0" normalizeH="0" baseline="0" noProof="0">
                <a:ln>
                  <a:noFill/>
                </a:ln>
                <a:effectLst/>
                <a:uLnTx/>
                <a:uFillTx/>
              </a:rPr>
              <a:t>ccepts</a:t>
            </a:r>
            <a:r>
              <a:rPr kumimoji="0" lang="en-US" sz="2000" b="0" i="0" u="none" strike="noStrike" cap="none" spc="0" normalizeH="0" baseline="0" noProof="0" dirty="0">
                <a:ln>
                  <a:noFill/>
                </a:ln>
                <a:effectLst/>
                <a:uLnTx/>
                <a:uFillTx/>
              </a:rPr>
              <a:t> </a:t>
            </a:r>
            <a:r>
              <a:rPr lang="en-US" sz="2000" dirty="0"/>
              <a:t>“</a:t>
            </a:r>
            <a:r>
              <a:rPr lang="en-US" sz="2000" b="1" dirty="0"/>
              <a:t>acceptable</a:t>
            </a:r>
            <a:r>
              <a:rPr kumimoji="0" lang="en-US" sz="2000" b="1" i="0" u="none" strike="noStrike" cap="none" spc="0" normalizeH="0" baseline="0" noProof="0" dirty="0">
                <a:ln>
                  <a:noFill/>
                </a:ln>
                <a:effectLst/>
                <a:uLnTx/>
                <a:uFillTx/>
              </a:rPr>
              <a:t> margins</a:t>
            </a:r>
            <a:r>
              <a:rPr kumimoji="0" lang="en-US" sz="2000" b="0" i="0" u="none" strike="noStrike" cap="none" spc="0" normalizeH="0" baseline="0" noProof="0" dirty="0">
                <a:ln>
                  <a:noFill/>
                </a:ln>
                <a:effectLst/>
                <a:uLnTx/>
                <a:uFillTx/>
              </a:rPr>
              <a:t>” </a:t>
            </a:r>
            <a:r>
              <a:rPr kumimoji="0" lang="en-US" sz="2000" b="0" i="0" u="none" strike="noStrike" cap="none" spc="0" normalizeH="0" baseline="0" noProof="0">
                <a:ln>
                  <a:noFill/>
                </a:ln>
                <a:effectLst/>
                <a:uLnTx/>
                <a:uFillTx/>
              </a:rPr>
              <a:t>.</a:t>
            </a:r>
            <a:endParaRPr lang="en-US" sz="2000" b="0" i="0" u="none" strike="noStrike" cap="none" spc="0" normalizeH="0" baseline="0" noProof="0">
              <a:ln>
                <a:noFill/>
              </a:ln>
              <a:effectLst/>
              <a:uLnTx/>
              <a:uFillTx/>
              <a:ea typeface="Calibri"/>
              <a:cs typeface="Calibri"/>
            </a:endParaRPr>
          </a:p>
          <a:p>
            <a:pPr marR="0" lvl="0" indent="-228600" fontAlgn="auto">
              <a:lnSpc>
                <a:spcPct val="110000"/>
              </a:lnSpc>
              <a:spcBef>
                <a:spcPts val="0"/>
              </a:spcBef>
              <a:spcAft>
                <a:spcPts val="600"/>
              </a:spcAft>
              <a:buClrTx/>
              <a:buSzPct val="80000"/>
              <a:tabLst/>
              <a:defRPr/>
            </a:pPr>
            <a:endParaRPr kumimoji="0" lang="en-US" sz="2000" b="0" i="0" u="none" strike="noStrike" cap="none" spc="0" normalizeH="0" baseline="0" noProof="0" dirty="0">
              <a:ln>
                <a:noFill/>
              </a:ln>
              <a:effectLst/>
              <a:uLnTx/>
              <a:uFillTx/>
            </a:endParaRPr>
          </a:p>
          <a:p>
            <a:pPr marR="0" lvl="0" indent="-228600" fontAlgn="auto">
              <a:lnSpc>
                <a:spcPct val="110000"/>
              </a:lnSpc>
              <a:spcBef>
                <a:spcPts val="0"/>
              </a:spcBef>
              <a:spcAft>
                <a:spcPts val="600"/>
              </a:spcAft>
              <a:buClrTx/>
              <a:buSzPct val="80000"/>
              <a:tabLst/>
              <a:defRPr/>
            </a:pPr>
            <a:endParaRPr lang="en-US" sz="2000" dirty="0"/>
          </a:p>
          <a:p>
            <a:pPr indent="-228600">
              <a:lnSpc>
                <a:spcPct val="110000"/>
              </a:lnSpc>
              <a:spcAft>
                <a:spcPts val="600"/>
              </a:spcAft>
              <a:buSzPct val="80000"/>
              <a:defRPr/>
            </a:pPr>
            <a:r>
              <a:rPr kumimoji="0" lang="en-US" sz="2000" b="0" i="0" u="none" strike="noStrike" cap="none" spc="0" normalizeH="0" baseline="0" noProof="0" dirty="0">
                <a:ln>
                  <a:noFill/>
                </a:ln>
                <a:effectLst/>
                <a:uLnTx/>
                <a:uFillTx/>
              </a:rPr>
              <a:t>Examples: </a:t>
            </a:r>
            <a:endParaRPr lang="en-US" sz="2000" dirty="0"/>
          </a:p>
          <a:p>
            <a:pPr indent="-228600">
              <a:lnSpc>
                <a:spcPct val="110000"/>
              </a:lnSpc>
              <a:spcAft>
                <a:spcPts val="600"/>
              </a:spcAft>
              <a:defRPr/>
            </a:pPr>
            <a:endParaRPr lang="en-US" sz="2000" dirty="0"/>
          </a:p>
          <a:p>
            <a:pPr marL="114300" indent="-342900">
              <a:lnSpc>
                <a:spcPct val="110000"/>
              </a:lnSpc>
              <a:spcAft>
                <a:spcPts val="600"/>
              </a:spcAft>
              <a:buFont typeface="Arial"/>
              <a:buChar char="•"/>
              <a:defRPr/>
            </a:pPr>
            <a:r>
              <a:rPr kumimoji="0" lang="en-US" sz="2000" b="0" i="0" u="none" strike="noStrike" cap="none" spc="0" normalizeH="0" baseline="0" noProof="0" dirty="0" err="1">
                <a:ln>
                  <a:noFill/>
                </a:ln>
                <a:effectLst/>
                <a:uLnTx/>
                <a:uFillTx/>
              </a:rPr>
              <a:t>Triodos</a:t>
            </a:r>
            <a:r>
              <a:rPr kumimoji="0" lang="en-US" sz="2000" b="0" i="0" u="none" strike="noStrike" cap="none" spc="0" normalizeH="0" baseline="0" noProof="0" dirty="0">
                <a:ln>
                  <a:noFill/>
                </a:ln>
                <a:effectLst/>
                <a:uLnTx/>
                <a:uFillTx/>
              </a:rPr>
              <a:t> Bank in the Netherlands, </a:t>
            </a:r>
            <a:endParaRPr lang="en-US">
              <a:ea typeface="Calibri" panose="020F0502020204030204"/>
              <a:cs typeface="Calibri" panose="020F0502020204030204"/>
            </a:endParaRPr>
          </a:p>
          <a:p>
            <a:pPr marL="114300" indent="-342900">
              <a:lnSpc>
                <a:spcPct val="110000"/>
              </a:lnSpc>
              <a:spcAft>
                <a:spcPts val="600"/>
              </a:spcAft>
              <a:buFont typeface="Arial"/>
              <a:buChar char="•"/>
              <a:defRPr/>
            </a:pPr>
            <a:r>
              <a:rPr kumimoji="0" lang="en-US" sz="2000" b="0" i="0" u="none" strike="noStrike" cap="none" spc="0" normalizeH="0" baseline="0" noProof="0" dirty="0">
                <a:ln>
                  <a:noFill/>
                </a:ln>
                <a:effectLst/>
                <a:uLnTx/>
                <a:uFillTx/>
              </a:rPr>
              <a:t>The Co-operative Bank in the United Kingdom, </a:t>
            </a:r>
            <a:endParaRPr lang="en-US">
              <a:ea typeface="Calibri" panose="020F0502020204030204"/>
              <a:cs typeface="Calibri" panose="020F0502020204030204"/>
            </a:endParaRPr>
          </a:p>
          <a:p>
            <a:pPr marL="114300" marR="0" lvl="0" indent="-342900">
              <a:lnSpc>
                <a:spcPct val="110000"/>
              </a:lnSpc>
              <a:spcBef>
                <a:spcPts val="0"/>
              </a:spcBef>
              <a:spcAft>
                <a:spcPts val="600"/>
              </a:spcAft>
              <a:buClrTx/>
              <a:buFont typeface="Arial"/>
              <a:buChar char="•"/>
              <a:tabLst/>
              <a:defRPr/>
            </a:pPr>
            <a:r>
              <a:rPr kumimoji="0" lang="en-US" sz="2000" b="0" i="0" u="none" strike="noStrike" cap="none" spc="0" normalizeH="0" baseline="0" noProof="0">
                <a:ln>
                  <a:noFill/>
                </a:ln>
                <a:effectLst/>
                <a:uLnTx/>
                <a:uFillTx/>
              </a:rPr>
              <a:t>La Banque </a:t>
            </a:r>
            <a:r>
              <a:rPr kumimoji="0" lang="en-US" sz="2000" b="0" i="0" u="none" strike="noStrike" cap="none" spc="0" normalizeH="0" baseline="0" noProof="0" err="1">
                <a:ln>
                  <a:noFill/>
                </a:ln>
                <a:effectLst/>
                <a:uLnTx/>
                <a:uFillTx/>
              </a:rPr>
              <a:t>Postale</a:t>
            </a:r>
            <a:r>
              <a:rPr kumimoji="0" lang="en-US" sz="2000" b="0" i="0" u="none" strike="noStrike" cap="none" spc="0" normalizeH="0" baseline="0" noProof="0" dirty="0">
                <a:ln>
                  <a:noFill/>
                </a:ln>
                <a:effectLst/>
                <a:uLnTx/>
                <a:uFillTx/>
              </a:rPr>
              <a:t> in France...</a:t>
            </a:r>
            <a:endParaRPr lang="en-US">
              <a:ea typeface="Calibri"/>
              <a:cs typeface="Calibri"/>
            </a:endParaRPr>
          </a:p>
        </p:txBody>
      </p:sp>
    </p:spTree>
    <p:extLst>
      <p:ext uri="{BB962C8B-B14F-4D97-AF65-F5344CB8AC3E}">
        <p14:creationId xmlns:p14="http://schemas.microsoft.com/office/powerpoint/2010/main" val="2823128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2B823FB5-B213-4E2A-A000-2407962CD941}"/>
              </a:ext>
            </a:extLst>
          </p:cNvPr>
          <p:cNvSpPr>
            <a:spLocks noChangeArrowheads="1"/>
          </p:cNvSpPr>
          <p:nvPr/>
        </p:nvSpPr>
        <p:spPr bwMode="auto">
          <a:xfrm>
            <a:off x="1051560" y="2241103"/>
            <a:ext cx="10778490" cy="3539430"/>
          </a:xfrm>
          <a:prstGeom prst="rect">
            <a:avLst/>
          </a:prstGeom>
          <a:noFill/>
          <a:ln w="9525">
            <a:noFill/>
            <a:miter lim="800000"/>
            <a:headEnd/>
            <a:tailEnd/>
          </a:ln>
          <a:effectLst/>
        </p:spPr>
        <p:txBody>
          <a:bodyPr wrap="square" anchor="ctr">
            <a:spAutoFit/>
          </a:bodyPr>
          <a:lstStyle/>
          <a:p>
            <a:pPr marL="514350" marR="0" lvl="0" indent="-514350" algn="l" defTabSz="914400" rtl="0" eaLnBrk="1" fontAlgn="auto" latinLnBrk="0" hangingPunct="1">
              <a:lnSpc>
                <a:spcPct val="100000"/>
              </a:lnSpc>
              <a:spcBef>
                <a:spcPts val="0"/>
              </a:spcBef>
              <a:spcAft>
                <a:spcPts val="0"/>
              </a:spcAft>
              <a:buClr>
                <a:srgbClr val="AA7862">
                  <a:lumMod val="75000"/>
                </a:srgbClr>
              </a:buClr>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rPr>
              <a:t>Customer/ ecological environment satisfaction,</a:t>
            </a:r>
          </a:p>
          <a:p>
            <a:pPr marL="514350" marR="0" lvl="0" indent="-514350" algn="l" defTabSz="914400" rtl="0" eaLnBrk="1" fontAlgn="auto" latinLnBrk="0" hangingPunct="1">
              <a:lnSpc>
                <a:spcPct val="100000"/>
              </a:lnSpc>
              <a:spcBef>
                <a:spcPts val="0"/>
              </a:spcBef>
              <a:spcAft>
                <a:spcPts val="0"/>
              </a:spcAft>
              <a:buClr>
                <a:srgbClr val="AA7862">
                  <a:lumMod val="75000"/>
                </a:srgbClr>
              </a:buClr>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rPr>
              <a:t>No excessive profitability</a:t>
            </a:r>
          </a:p>
          <a:p>
            <a:pPr marL="514350" marR="0" lvl="0" indent="-514350" algn="l" defTabSz="914400" rtl="0" eaLnBrk="1" fontAlgn="auto" latinLnBrk="0" hangingPunct="1">
              <a:lnSpc>
                <a:spcPct val="100000"/>
              </a:lnSpc>
              <a:spcBef>
                <a:spcPts val="0"/>
              </a:spcBef>
              <a:spcAft>
                <a:spcPts val="0"/>
              </a:spcAft>
              <a:buClr>
                <a:srgbClr val="AA7862">
                  <a:lumMod val="75000"/>
                </a:srgbClr>
              </a:buClr>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rPr>
              <a:t>Contribution to the stability of the financial system.</a:t>
            </a:r>
          </a:p>
          <a:p>
            <a:pPr marL="514350" marR="0" lvl="0" indent="-514350" algn="l" defTabSz="914400" rtl="0" eaLnBrk="1" fontAlgn="auto" latinLnBrk="0" hangingPunct="1">
              <a:lnSpc>
                <a:spcPct val="100000"/>
              </a:lnSpc>
              <a:spcBef>
                <a:spcPts val="0"/>
              </a:spcBef>
              <a:spcAft>
                <a:spcPts val="0"/>
              </a:spcAft>
              <a:buClr>
                <a:srgbClr val="AA7862">
                  <a:lumMod val="75000"/>
                </a:srgbClr>
              </a:buClr>
              <a:buSzTx/>
              <a:buFont typeface="+mj-lt"/>
              <a:buAutoNum type="arabicPeriod"/>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endParaRPr>
          </a:p>
          <a:p>
            <a:pPr marL="0" marR="0" lvl="0" indent="0" algn="l" defTabSz="914400" rtl="0" eaLnBrk="1" fontAlgn="auto" latinLnBrk="0" hangingPunct="1">
              <a:lnSpc>
                <a:spcPct val="100000"/>
              </a:lnSpc>
              <a:spcBef>
                <a:spcPts val="0"/>
              </a:spcBef>
              <a:spcAft>
                <a:spcPts val="0"/>
              </a:spcAft>
              <a:buClr>
                <a:srgbClr val="AA7862">
                  <a:lumMod val="75000"/>
                </a:srgbClr>
              </a:buClr>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rPr>
              <a:t>The Sustainable Bank = </a:t>
            </a:r>
            <a:r>
              <a:rPr kumimoji="0" lang="en-US" sz="2800" b="1"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rPr>
              <a:t>strong financial business + performance + responsibility towards society + long-term financing</a:t>
            </a:r>
            <a:r>
              <a:rPr kumimoji="0" lang="en-US" sz="2800" b="0"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rPr>
              <a:t>.</a:t>
            </a:r>
          </a:p>
          <a:p>
            <a:pPr marL="514350" marR="0" lvl="0" indent="-514350" algn="l" defTabSz="914400" rtl="0" eaLnBrk="1" fontAlgn="auto" latinLnBrk="0" hangingPunct="1">
              <a:lnSpc>
                <a:spcPct val="100000"/>
              </a:lnSpc>
              <a:spcBef>
                <a:spcPts val="0"/>
              </a:spcBef>
              <a:spcAft>
                <a:spcPts val="0"/>
              </a:spcAft>
              <a:buClr>
                <a:srgbClr val="AA7862">
                  <a:lumMod val="75000"/>
                </a:srgbClr>
              </a:buClr>
              <a:buSzTx/>
              <a:buFont typeface="+mj-lt"/>
              <a:buAutoNum type="arabicPeriod"/>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endParaRPr>
          </a:p>
          <a:p>
            <a:pPr marL="0" marR="0" lvl="0" indent="0" algn="l" defTabSz="914400" rtl="0" eaLnBrk="1" fontAlgn="auto" latinLnBrk="0" hangingPunct="1">
              <a:lnSpc>
                <a:spcPct val="100000"/>
              </a:lnSpc>
              <a:spcBef>
                <a:spcPts val="0"/>
              </a:spcBef>
              <a:spcAft>
                <a:spcPts val="0"/>
              </a:spcAft>
              <a:buClr>
                <a:srgbClr val="AA7862">
                  <a:lumMod val="75000"/>
                </a:srgbClr>
              </a:buClr>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rPr>
              <a:t>It is the </a:t>
            </a:r>
            <a:r>
              <a:rPr kumimoji="0" lang="en-US" sz="2800" b="0" i="0" u="sng" strike="noStrike" kern="1200" cap="none" spc="0" normalizeH="0" baseline="0" noProof="0" dirty="0">
                <a:ln>
                  <a:noFill/>
                </a:ln>
                <a:solidFill>
                  <a:prstClr val="black"/>
                </a:solidFill>
                <a:effectLst/>
                <a:uLnTx/>
                <a:uFillTx/>
                <a:latin typeface="Calibri" panose="020F0502020204030204"/>
                <a:ea typeface="Times New Roman" pitchFamily="18" charset="0"/>
                <a:cs typeface="+mn-cs"/>
              </a:rPr>
              <a:t>antidote to the systemic financial crisis</a:t>
            </a:r>
            <a:r>
              <a:rPr kumimoji="0" lang="en-US" sz="2800" b="0" i="0" u="none" strike="noStrike" kern="1200" cap="none" spc="0" normalizeH="0" baseline="0" noProof="0" dirty="0">
                <a:ln>
                  <a:noFill/>
                </a:ln>
                <a:solidFill>
                  <a:prstClr val="black"/>
                </a:solidFill>
                <a:effectLst/>
                <a:uLnTx/>
                <a:uFillTx/>
                <a:latin typeface="Calibri" panose="020F0502020204030204"/>
                <a:ea typeface="Times New Roman" pitchFamily="18" charset="0"/>
                <a:cs typeface="+mn-cs"/>
              </a:rPr>
              <a:t>.</a:t>
            </a:r>
            <a:endParaRPr kumimoji="0" lang="fr-FR"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71" name="Espace réservé du numéro de diapositive 2">
            <a:extLst>
              <a:ext uri="{FF2B5EF4-FFF2-40B4-BE49-F238E27FC236}">
                <a16:creationId xmlns:a16="http://schemas.microsoft.com/office/drawing/2014/main" id="{E0213CC7-D86F-421D-B684-F4CB19BF95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fld id="{E598B58F-5960-454F-8198-ECFCFDD9E7D0}" type="slidenum">
              <a:rPr kumimoji="0" lang="fr-BE" altLang="fr-FR" sz="1400" b="0" i="0" u="none" strike="noStrike" kern="1200" cap="none" spc="0" normalizeH="0" baseline="0" noProof="0">
                <a:ln>
                  <a:noFill/>
                </a:ln>
                <a:solidFill>
                  <a:prstClr val="black"/>
                </a:solidFill>
                <a:effectLst/>
                <a:uLnTx/>
                <a:uFillTx/>
                <a:latin typeface="Times" panose="02020603050405020304" pitchFamily="18" charset="0"/>
                <a:ea typeface="+mn-ea"/>
                <a:cs typeface="+mn-cs"/>
              </a:rPr>
              <a:pPr marL="0" marR="0" lvl="0" indent="0" algn="ctr" defTabSz="914400" rtl="0" eaLnBrk="1" fontAlgn="auto" latinLnBrk="0" hangingPunct="1">
                <a:lnSpc>
                  <a:spcPct val="100000"/>
                </a:lnSpc>
                <a:spcBef>
                  <a:spcPct val="0"/>
                </a:spcBef>
                <a:spcAft>
                  <a:spcPts val="0"/>
                </a:spcAft>
                <a:buClrTx/>
                <a:buSzTx/>
                <a:buFontTx/>
                <a:buNone/>
                <a:tabLst/>
                <a:defRPr/>
              </a:pPr>
              <a:t>28</a:t>
            </a:fld>
            <a:endParaRPr kumimoji="0" lang="fr-BE" altLang="fr-FR" sz="1400" b="0" i="0" u="none" strike="noStrike" kern="1200" cap="none" spc="0" normalizeH="0" baseline="0" noProof="0">
              <a:ln>
                <a:noFill/>
              </a:ln>
              <a:solidFill>
                <a:prstClr val="black"/>
              </a:solidFill>
              <a:effectLst/>
              <a:uLnTx/>
              <a:uFillTx/>
              <a:latin typeface="Times" panose="02020603050405020304" pitchFamily="18" charset="0"/>
              <a:ea typeface="+mn-ea"/>
              <a:cs typeface="+mn-cs"/>
            </a:endParaRPr>
          </a:p>
        </p:txBody>
      </p:sp>
      <p:sp>
        <p:nvSpPr>
          <p:cNvPr id="2" name="Rectangle 1">
            <a:extLst>
              <a:ext uri="{FF2B5EF4-FFF2-40B4-BE49-F238E27FC236}">
                <a16:creationId xmlns:a16="http://schemas.microsoft.com/office/drawing/2014/main" id="{7DBA7685-1492-42B7-AA2C-EB9D6AE67F97}"/>
              </a:ext>
            </a:extLst>
          </p:cNvPr>
          <p:cNvSpPr/>
          <p:nvPr/>
        </p:nvSpPr>
        <p:spPr>
          <a:xfrm>
            <a:off x="1703389" y="404814"/>
            <a:ext cx="8281987" cy="485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How to define sustainable bank?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32CC1C-0216-BE4B-5153-AE830E7250D3}"/>
              </a:ext>
            </a:extLst>
          </p:cNvPr>
          <p:cNvSpPr>
            <a:spLocks noGrp="1"/>
          </p:cNvSpPr>
          <p:nvPr>
            <p:ph type="title"/>
          </p:nvPr>
        </p:nvSpPr>
        <p:spPr>
          <a:xfrm>
            <a:off x="838205" y="999595"/>
            <a:ext cx="10515600" cy="971445"/>
          </a:xfrm>
        </p:spPr>
        <p:txBody>
          <a:bodyPr/>
          <a:lstStyle/>
          <a:p>
            <a:r>
              <a:rPr lang="en-US" sz="4400" dirty="0"/>
              <a:t>Sustainable bank</a:t>
            </a:r>
            <a:endParaRPr lang="fr-FR" dirty="0"/>
          </a:p>
        </p:txBody>
      </p:sp>
      <p:sp>
        <p:nvSpPr>
          <p:cNvPr id="4" name="ZoneTexte 3">
            <a:extLst>
              <a:ext uri="{FF2B5EF4-FFF2-40B4-BE49-F238E27FC236}">
                <a16:creationId xmlns:a16="http://schemas.microsoft.com/office/drawing/2014/main" id="{E1C15A76-524F-8630-AD8D-3CEA1AA570EB}"/>
              </a:ext>
            </a:extLst>
          </p:cNvPr>
          <p:cNvSpPr txBox="1"/>
          <p:nvPr/>
        </p:nvSpPr>
        <p:spPr>
          <a:xfrm>
            <a:off x="406400" y="2596218"/>
            <a:ext cx="10515600" cy="3108543"/>
          </a:xfrm>
          <a:prstGeom prst="rect">
            <a:avLst/>
          </a:prstGeom>
          <a:noFill/>
        </p:spPr>
        <p:txBody>
          <a:bodyPr wrap="square">
            <a:spAutoFit/>
          </a:bodyPr>
          <a:lstStyle/>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Alternative,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Ethical</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Green</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Value</a:t>
            </a:r>
            <a:r>
              <a:rPr kumimoji="0" lang="en-US" sz="3600" b="1" i="0" u="none" strike="noStrike" kern="1200" cap="none" spc="0" normalizeH="0" baseline="0" noProof="0" dirty="0" err="1">
                <a:ln>
                  <a:noFill/>
                </a:ln>
                <a:solidFill>
                  <a:srgbClr val="00B050"/>
                </a:solidFill>
                <a:effectLst/>
                <a:uLnTx/>
                <a:uFillTx/>
                <a:latin typeface="Calibri" panose="020F0502020204030204"/>
                <a:ea typeface="+mn-ea"/>
                <a:cs typeface="+mn-cs"/>
              </a:rPr>
              <a:t>S</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-based (Finance/Human/Nature)</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Contribute to the development of people and the planet today and in the future</a:t>
            </a:r>
            <a:endParaRPr kumimoji="0" lang="fr-FR"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7951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4FEFF2-0FE8-4B61-91DB-30E294ED4DB7}"/>
              </a:ext>
            </a:extLst>
          </p:cNvPr>
          <p:cNvSpPr>
            <a:spLocks noGrp="1"/>
          </p:cNvSpPr>
          <p:nvPr>
            <p:ph type="title"/>
          </p:nvPr>
        </p:nvSpPr>
        <p:spPr>
          <a:xfrm>
            <a:off x="254000" y="365126"/>
            <a:ext cx="11490960" cy="584776"/>
          </a:xfrm>
        </p:spPr>
        <p:txBody>
          <a:bodyPr>
            <a:noAutofit/>
          </a:bodyPr>
          <a:lstStyle/>
          <a:p>
            <a:r>
              <a:rPr lang="en-US" sz="2800" b="1" dirty="0"/>
              <a:t>How to develop a comprehensive strategy for sustainable factors in a bank?</a:t>
            </a:r>
            <a:endParaRPr lang="fr-FR" sz="2800" b="1" dirty="0"/>
          </a:p>
        </p:txBody>
      </p:sp>
      <p:graphicFrame>
        <p:nvGraphicFramePr>
          <p:cNvPr id="4" name="Tableau 4">
            <a:extLst>
              <a:ext uri="{FF2B5EF4-FFF2-40B4-BE49-F238E27FC236}">
                <a16:creationId xmlns:a16="http://schemas.microsoft.com/office/drawing/2014/main" id="{F2D925C0-B44C-0E8C-A18C-88DFA6D8E02A}"/>
              </a:ext>
            </a:extLst>
          </p:cNvPr>
          <p:cNvGraphicFramePr>
            <a:graphicFrameLocks noGrp="1"/>
          </p:cNvGraphicFramePr>
          <p:nvPr>
            <p:ph idx="1"/>
            <p:extLst>
              <p:ext uri="{D42A27DB-BD31-4B8C-83A1-F6EECF244321}">
                <p14:modId xmlns:p14="http://schemas.microsoft.com/office/powerpoint/2010/main" val="3334287141"/>
              </p:ext>
            </p:extLst>
          </p:nvPr>
        </p:nvGraphicFramePr>
        <p:xfrm>
          <a:off x="3027680" y="2053274"/>
          <a:ext cx="6624320" cy="2657856"/>
        </p:xfrm>
        <a:graphic>
          <a:graphicData uri="http://schemas.openxmlformats.org/drawingml/2006/table">
            <a:tbl>
              <a:tblPr firstRow="1" bandRow="1">
                <a:tableStyleId>{5C22544A-7EE6-4342-B048-85BDC9FD1C3A}</a:tableStyleId>
              </a:tblPr>
              <a:tblGrid>
                <a:gridCol w="3312160">
                  <a:extLst>
                    <a:ext uri="{9D8B030D-6E8A-4147-A177-3AD203B41FA5}">
                      <a16:colId xmlns:a16="http://schemas.microsoft.com/office/drawing/2014/main" val="1318364740"/>
                    </a:ext>
                  </a:extLst>
                </a:gridCol>
                <a:gridCol w="3312160">
                  <a:extLst>
                    <a:ext uri="{9D8B030D-6E8A-4147-A177-3AD203B41FA5}">
                      <a16:colId xmlns:a16="http://schemas.microsoft.com/office/drawing/2014/main" val="1351625591"/>
                    </a:ext>
                  </a:extLst>
                </a:gridCol>
              </a:tblGrid>
              <a:tr h="370840">
                <a:tc>
                  <a:txBody>
                    <a:bodyPr/>
                    <a:lstStyle/>
                    <a:p>
                      <a:pPr algn="ctr"/>
                      <a:r>
                        <a:rPr lang="fr-FR" dirty="0"/>
                        <a:t>Assets</a:t>
                      </a:r>
                    </a:p>
                  </a:txBody>
                  <a:tcPr/>
                </a:tc>
                <a:tc>
                  <a:txBody>
                    <a:bodyPr/>
                    <a:lstStyle/>
                    <a:p>
                      <a:pPr algn="ctr"/>
                      <a:r>
                        <a:rPr lang="fr-FR" dirty="0" err="1"/>
                        <a:t>Liabilities</a:t>
                      </a:r>
                      <a:endParaRPr lang="fr-FR" dirty="0"/>
                    </a:p>
                  </a:txBody>
                  <a:tcPr/>
                </a:tc>
                <a:extLst>
                  <a:ext uri="{0D108BD9-81ED-4DB2-BD59-A6C34878D82A}">
                    <a16:rowId xmlns:a16="http://schemas.microsoft.com/office/drawing/2014/main" val="3933075422"/>
                  </a:ext>
                </a:extLst>
              </a:tr>
              <a:tr h="370840">
                <a:tc>
                  <a:txBody>
                    <a:bodyPr/>
                    <a:lstStyle/>
                    <a:p>
                      <a:endParaRPr lang="fr-FR" dirty="0"/>
                    </a:p>
                    <a:p>
                      <a:r>
                        <a:rPr lang="fr-FR" dirty="0" err="1"/>
                        <a:t>Loans</a:t>
                      </a:r>
                      <a:r>
                        <a:rPr lang="fr-FR" dirty="0"/>
                        <a:t> (2) (3) (4)</a:t>
                      </a:r>
                    </a:p>
                    <a:p>
                      <a:endParaRPr lang="fr-FR" dirty="0"/>
                    </a:p>
                    <a:p>
                      <a:r>
                        <a:rPr lang="fr-FR" dirty="0"/>
                        <a:t>Green Bonds (</a:t>
                      </a:r>
                      <a:r>
                        <a:rPr lang="fr-FR" dirty="0" err="1"/>
                        <a:t>Issued</a:t>
                      </a:r>
                      <a:r>
                        <a:rPr lang="fr-FR" dirty="0"/>
                        <a:t>)</a:t>
                      </a:r>
                    </a:p>
                  </a:txBody>
                  <a:tcPr/>
                </a:tc>
                <a:tc>
                  <a:txBody>
                    <a:bodyPr/>
                    <a:lstStyle/>
                    <a:p>
                      <a:endParaRPr lang="fr-FR" dirty="0"/>
                    </a:p>
                    <a:p>
                      <a:r>
                        <a:rPr lang="fr-FR" dirty="0" err="1"/>
                        <a:t>Debt</a:t>
                      </a:r>
                      <a:r>
                        <a:rPr lang="fr-FR" dirty="0"/>
                        <a:t> (</a:t>
                      </a:r>
                      <a:r>
                        <a:rPr lang="fr-FR" dirty="0" err="1"/>
                        <a:t>deposits</a:t>
                      </a:r>
                      <a:r>
                        <a:rPr lang="fr-FR" dirty="0"/>
                        <a:t>, bonds…) (5)</a:t>
                      </a:r>
                    </a:p>
                    <a:p>
                      <a:endParaRPr lang="fr-FR" dirty="0"/>
                    </a:p>
                    <a:p>
                      <a:r>
                        <a:rPr lang="fr-FR" dirty="0" err="1"/>
                        <a:t>Equity</a:t>
                      </a:r>
                      <a:r>
                        <a:rPr lang="fr-FR" dirty="0"/>
                        <a:t> (6)</a:t>
                      </a:r>
                    </a:p>
                    <a:p>
                      <a:endParaRPr lang="fr-FR" dirty="0"/>
                    </a:p>
                    <a:p>
                      <a:r>
                        <a:rPr lang="fr-FR" dirty="0"/>
                        <a:t>Green Bonds (</a:t>
                      </a:r>
                      <a:r>
                        <a:rPr lang="fr-FR" dirty="0" err="1"/>
                        <a:t>Susbscribed</a:t>
                      </a:r>
                      <a:r>
                        <a:rPr lang="fr-FR" dirty="0"/>
                        <a:t>)</a:t>
                      </a:r>
                    </a:p>
                    <a:p>
                      <a:endParaRPr lang="fr-FR" dirty="0"/>
                    </a:p>
                    <a:p>
                      <a:endParaRPr lang="fr-FR" dirty="0"/>
                    </a:p>
                  </a:txBody>
                  <a:tcPr/>
                </a:tc>
                <a:extLst>
                  <a:ext uri="{0D108BD9-81ED-4DB2-BD59-A6C34878D82A}">
                    <a16:rowId xmlns:a16="http://schemas.microsoft.com/office/drawing/2014/main" val="3168309122"/>
                  </a:ext>
                </a:extLst>
              </a:tr>
            </a:tbl>
          </a:graphicData>
        </a:graphic>
      </p:graphicFrame>
      <p:sp>
        <p:nvSpPr>
          <p:cNvPr id="6" name="Triangle isocèle 5">
            <a:extLst>
              <a:ext uri="{FF2B5EF4-FFF2-40B4-BE49-F238E27FC236}">
                <a16:creationId xmlns:a16="http://schemas.microsoft.com/office/drawing/2014/main" id="{C12DFCC6-29E0-FF7F-83F5-3FA333555440}"/>
              </a:ext>
            </a:extLst>
          </p:cNvPr>
          <p:cNvSpPr/>
          <p:nvPr/>
        </p:nvSpPr>
        <p:spPr>
          <a:xfrm>
            <a:off x="3134360" y="1290232"/>
            <a:ext cx="6410960" cy="584775"/>
          </a:xfrm>
          <a:prstGeom prst="triangle">
            <a:avLst/>
          </a:prstGeom>
          <a:solidFill>
            <a:schemeClr val="accent1"/>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A47DC478-E59E-B437-B6C2-38D0C7BD916E}"/>
              </a:ext>
            </a:extLst>
          </p:cNvPr>
          <p:cNvSpPr txBox="1"/>
          <p:nvPr/>
        </p:nvSpPr>
        <p:spPr>
          <a:xfrm>
            <a:off x="5186680" y="1396199"/>
            <a:ext cx="230632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0" i="0" u="none" strike="noStrike" kern="1200" cap="none" spc="0" normalizeH="0" baseline="0" noProof="0" dirty="0">
                <a:ln>
                  <a:noFill/>
                </a:ln>
                <a:solidFill>
                  <a:prstClr val="white"/>
                </a:solidFill>
                <a:effectLst/>
                <a:uLnTx/>
                <a:uFillTx/>
                <a:latin typeface="Calibri" panose="020F0502020204030204"/>
                <a:ea typeface="+mn-ea"/>
                <a:cs typeface="+mn-cs"/>
              </a:rPr>
              <a:t>Bank </a:t>
            </a:r>
            <a:r>
              <a:rPr kumimoji="0" lang="fr-FR" sz="2000" b="0" i="0" u="none" strike="noStrike" kern="1200" cap="none" spc="0" normalizeH="0" baseline="0" noProof="0" dirty="0">
                <a:ln>
                  <a:noFill/>
                </a:ln>
                <a:solidFill>
                  <a:prstClr val="white"/>
                </a:solidFill>
                <a:effectLst/>
                <a:uLnTx/>
                <a:uFillTx/>
                <a:latin typeface="Calibri" panose="020F0502020204030204"/>
                <a:ea typeface="+mn-ea"/>
                <a:cs typeface="+mn-cs"/>
              </a:rPr>
              <a:t>(1)</a:t>
            </a:r>
            <a:endParaRPr kumimoji="0" lang="fr-FR" sz="3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ZoneTexte 9">
            <a:extLst>
              <a:ext uri="{FF2B5EF4-FFF2-40B4-BE49-F238E27FC236}">
                <a16:creationId xmlns:a16="http://schemas.microsoft.com/office/drawing/2014/main" id="{45037ABB-5246-4AE3-2972-810257A7523F}"/>
              </a:ext>
            </a:extLst>
          </p:cNvPr>
          <p:cNvSpPr txBox="1"/>
          <p:nvPr/>
        </p:nvSpPr>
        <p:spPr>
          <a:xfrm>
            <a:off x="838200" y="4673608"/>
            <a:ext cx="10906760" cy="203132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Consideration of sustainability in the banking business strategy and the organizational system/governance</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rPr>
              <a:t>Identification/classification of </a:t>
            </a: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rPr>
              <a:t>sustainable</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rPr>
              <a:t> assets</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Reporting of ESG risks and their impact</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Consideration of ESG (risk) in pricing &amp; risk management</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rPr>
              <a:t>Refinancing</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rPr>
              <a:t>with</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rPr>
              <a:t>sustainable</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rPr>
              <a:t> instruments</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Consideration of ESG risks within the capital</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rPr>
              <a:t>ESG &amp; extra-</a:t>
            </a: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rPr>
              <a:t>financial</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rPr>
              <a:t> Data Management</a:t>
            </a:r>
          </a:p>
        </p:txBody>
      </p:sp>
      <p:sp>
        <p:nvSpPr>
          <p:cNvPr id="12" name="ZoneTexte 11">
            <a:extLst>
              <a:ext uri="{FF2B5EF4-FFF2-40B4-BE49-F238E27FC236}">
                <a16:creationId xmlns:a16="http://schemas.microsoft.com/office/drawing/2014/main" id="{014CF028-241C-CDC7-B6C9-F5DF8EAA3CBB}"/>
              </a:ext>
            </a:extLst>
          </p:cNvPr>
          <p:cNvSpPr txBox="1"/>
          <p:nvPr/>
        </p:nvSpPr>
        <p:spPr>
          <a:xfrm>
            <a:off x="4724400" y="4273498"/>
            <a:ext cx="3840480" cy="400110"/>
          </a:xfrm>
          <a:prstGeom prst="rect">
            <a:avLst/>
          </a:prstGeom>
          <a:solidFill>
            <a:schemeClr val="accent1">
              <a:lumMod val="40000"/>
              <a:lumOff val="6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prstClr val="black"/>
                </a:solidFill>
                <a:effectLst/>
                <a:uLnTx/>
                <a:uFillTx/>
                <a:latin typeface="Calibri" panose="020F0502020204030204"/>
                <a:ea typeface="+mn-ea"/>
                <a:cs typeface="+mn-cs"/>
              </a:rPr>
              <a:t>P&amp;L Profit and </a:t>
            </a:r>
            <a:r>
              <a:rPr kumimoji="0" lang="fr-FR" sz="2000" b="0" i="0" u="none" strike="noStrike" kern="1200" cap="none" spc="0" normalizeH="0" baseline="0" noProof="0" dirty="0" err="1">
                <a:ln>
                  <a:noFill/>
                </a:ln>
                <a:solidFill>
                  <a:prstClr val="black"/>
                </a:solidFill>
                <a:effectLst/>
                <a:uLnTx/>
                <a:uFillTx/>
                <a:latin typeface="Calibri" panose="020F0502020204030204"/>
                <a:ea typeface="+mn-ea"/>
                <a:cs typeface="+mn-cs"/>
              </a:rPr>
              <a:t>loss</a:t>
            </a:r>
            <a:r>
              <a:rPr kumimoji="0" lang="fr-FR"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2000" b="0" i="0" u="none" strike="noStrike" kern="1200" cap="none" spc="0" normalizeH="0" baseline="0" noProof="0" dirty="0" err="1">
                <a:ln>
                  <a:noFill/>
                </a:ln>
                <a:solidFill>
                  <a:prstClr val="black"/>
                </a:solidFill>
                <a:effectLst/>
                <a:uLnTx/>
                <a:uFillTx/>
                <a:latin typeface="Calibri" panose="020F0502020204030204"/>
                <a:ea typeface="+mn-ea"/>
                <a:cs typeface="+mn-cs"/>
              </a:rPr>
              <a:t>statement</a:t>
            </a:r>
            <a:r>
              <a:rPr kumimoji="0" lang="fr-FR" sz="2000" b="0" i="0" u="none" strike="noStrike" kern="1200" cap="none" spc="0" normalizeH="0" baseline="0" noProof="0" dirty="0">
                <a:ln>
                  <a:noFill/>
                </a:ln>
                <a:solidFill>
                  <a:prstClr val="black"/>
                </a:solidFill>
                <a:effectLst/>
                <a:uLnTx/>
                <a:uFillTx/>
                <a:latin typeface="Calibri" panose="020F0502020204030204"/>
                <a:ea typeface="+mn-ea"/>
                <a:cs typeface="+mn-cs"/>
              </a:rPr>
              <a:t> (7)</a:t>
            </a:r>
          </a:p>
        </p:txBody>
      </p:sp>
      <p:sp>
        <p:nvSpPr>
          <p:cNvPr id="7" name="ZoneTexte 6">
            <a:extLst>
              <a:ext uri="{FF2B5EF4-FFF2-40B4-BE49-F238E27FC236}">
                <a16:creationId xmlns:a16="http://schemas.microsoft.com/office/drawing/2014/main" id="{D16ED1F5-8EE1-8BDE-C426-2801C61A8213}"/>
              </a:ext>
            </a:extLst>
          </p:cNvPr>
          <p:cNvSpPr txBox="1"/>
          <p:nvPr/>
        </p:nvSpPr>
        <p:spPr>
          <a:xfrm>
            <a:off x="3027680" y="0"/>
            <a:ext cx="7233920" cy="461665"/>
          </a:xfrm>
          <a:prstGeom prst="rect">
            <a:avLst/>
          </a:prstGeom>
          <a:noFill/>
        </p:spPr>
        <p:txBody>
          <a:bodyPr wrap="square">
            <a:spAutoFit/>
          </a:bodyPr>
          <a:lstStyle/>
          <a:p>
            <a:r>
              <a:rPr lang="en-US" sz="2400" b="1" dirty="0">
                <a:solidFill>
                  <a:srgbClr val="FF0000"/>
                </a:solidFill>
              </a:rPr>
              <a:t>The right method for building a sustainable bank</a:t>
            </a:r>
            <a:endParaRPr lang="fr-FR" sz="2400" b="1" dirty="0">
              <a:solidFill>
                <a:srgbClr val="FF0000"/>
              </a:solidFill>
            </a:endParaRPr>
          </a:p>
        </p:txBody>
      </p:sp>
    </p:spTree>
    <p:extLst>
      <p:ext uri="{BB962C8B-B14F-4D97-AF65-F5344CB8AC3E}">
        <p14:creationId xmlns:p14="http://schemas.microsoft.com/office/powerpoint/2010/main" val="21127434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B0349C6-40E7-4680-A2C8-E84BC0141BB0}"/>
              </a:ext>
            </a:extLst>
          </p:cNvPr>
          <p:cNvSpPr>
            <a:spLocks noGrp="1"/>
          </p:cNvSpPr>
          <p:nvPr>
            <p:ph type="title"/>
          </p:nvPr>
        </p:nvSpPr>
        <p:spPr>
          <a:xfrm>
            <a:off x="313304" y="754916"/>
            <a:ext cx="3052300" cy="3400528"/>
          </a:xfrm>
        </p:spPr>
        <p:txBody>
          <a:bodyPr anchor="ctr">
            <a:normAutofit/>
          </a:bodyPr>
          <a:lstStyle/>
          <a:p>
            <a:pPr indent="-228610">
              <a:lnSpc>
                <a:spcPct val="110000"/>
              </a:lnSpc>
              <a:spcAft>
                <a:spcPts val="601"/>
              </a:spcAft>
            </a:pPr>
            <a:r>
              <a:rPr lang="en-US" sz="1801" dirty="0"/>
              <a:t>Micro-credit or micro-financing are examples of</a:t>
            </a:r>
            <a:br>
              <a:rPr lang="en-US" sz="1801" dirty="0"/>
            </a:br>
            <a:r>
              <a:rPr lang="en-US" sz="1801" dirty="0"/>
              <a:t>sustainable banking</a:t>
            </a:r>
            <a:br>
              <a:rPr lang="en-US" sz="1801" dirty="0"/>
            </a:br>
            <a:endParaRPr lang="en-US" dirty="0"/>
          </a:p>
        </p:txBody>
      </p:sp>
      <p:sp>
        <p:nvSpPr>
          <p:cNvPr id="3" name="ZoneTexte 2">
            <a:extLst>
              <a:ext uri="{FF2B5EF4-FFF2-40B4-BE49-F238E27FC236}">
                <a16:creationId xmlns:a16="http://schemas.microsoft.com/office/drawing/2014/main" id="{D3A049D2-67EE-AF82-5FC6-1C6E60CFA3EF}"/>
              </a:ext>
            </a:extLst>
          </p:cNvPr>
          <p:cNvSpPr txBox="1"/>
          <p:nvPr/>
        </p:nvSpPr>
        <p:spPr>
          <a:xfrm>
            <a:off x="1967234" y="766763"/>
            <a:ext cx="8967763" cy="5786119"/>
          </a:xfrm>
        </p:spPr>
        <p:txBody>
          <a:bodyPr vert="horz" lIns="91440" tIns="45721" rIns="91440" bIns="45721" rtlCol="0" anchor="ctr">
            <a:normAutofit/>
          </a:bodyPr>
          <a:lstStyle/>
          <a:p>
            <a:pPr marL="0" marR="0" lvl="0" indent="-228600" algn="l" defTabSz="914400" rtl="0" eaLnBrk="1" fontAlgn="auto" latinLnBrk="0" hangingPunct="1">
              <a:lnSpc>
                <a:spcPct val="110000"/>
              </a:lnSpc>
              <a:spcBef>
                <a:spcPts val="0"/>
              </a:spcBef>
              <a:spcAft>
                <a:spcPts val="601"/>
              </a:spcAft>
              <a:buClrTx/>
              <a:buSzPct val="80000"/>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Banks via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Micro-credit</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can in developing countries make a contribution to sustainable development by financing and facilitating sustainable energy.</a:t>
            </a:r>
            <a:endParaRPr lang="fr-FR">
              <a:solidFill>
                <a:prstClr val="black"/>
              </a:solidFill>
              <a:ea typeface="+mn-ea"/>
              <a:cs typeface="+mn-cs"/>
            </a:endParaRPr>
          </a:p>
        </p:txBody>
      </p:sp>
      <p:sp>
        <p:nvSpPr>
          <p:cNvPr id="14" name="Slide Number Placeholder 5">
            <a:extLst>
              <a:ext uri="{FF2B5EF4-FFF2-40B4-BE49-F238E27FC236}">
                <a16:creationId xmlns:a16="http://schemas.microsoft.com/office/drawing/2014/main" id="{7C41F5AD-86CF-4002-A24B-ED09D09239B3}"/>
              </a:ext>
            </a:extLst>
          </p:cNvPr>
          <p:cNvSpPr>
            <a:spLocks noGrp="1"/>
          </p:cNvSpPr>
          <p:nvPr>
            <p:ph type="sldNum" sz="quarter" idx="12"/>
          </p:nvPr>
        </p:nvSpPr>
        <p:spPr>
          <a:xfrm>
            <a:off x="11512295" y="6356354"/>
            <a:ext cx="574620" cy="365125"/>
          </a:xfrm>
        </p:spPr>
        <p:txBody>
          <a:bodyPr/>
          <a:lstStyle/>
          <a:p>
            <a:pPr marL="0" marR="0" lvl="0" indent="0" algn="ctr" defTabSz="914400" rtl="0" eaLnBrk="1" fontAlgn="auto" latinLnBrk="0" hangingPunct="1">
              <a:lnSpc>
                <a:spcPct val="100000"/>
              </a:lnSpc>
              <a:spcBef>
                <a:spcPts val="0"/>
              </a:spcBef>
              <a:spcAft>
                <a:spcPts val="601"/>
              </a:spcAft>
              <a:buClrTx/>
              <a:buSzTx/>
              <a:buFontTx/>
              <a:buNone/>
              <a:tabLst/>
              <a:defRPr/>
            </a:pPr>
            <a:fld id="{3E131995-E962-4131-8504-6B962D7140A6}" type="slidenum">
              <a:rPr kumimoji="0" lang="en-US" sz="1001"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1"/>
                </a:spcAft>
                <a:buClrTx/>
                <a:buSzTx/>
                <a:buFontTx/>
                <a:buNone/>
                <a:tabLst/>
                <a:defRPr/>
              </a:pPr>
              <a:t>31</a:t>
            </a:fld>
            <a:endParaRPr kumimoji="0" lang="en-US" sz="1001"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696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78CB9B89-C0F0-263C-5ACE-98BF57AD5C7B}"/>
              </a:ext>
            </a:extLst>
          </p:cNvPr>
          <p:cNvSpPr txBox="1"/>
          <p:nvPr/>
        </p:nvSpPr>
        <p:spPr>
          <a:xfrm>
            <a:off x="550506" y="1440221"/>
            <a:ext cx="10227749" cy="1477328"/>
          </a:xfrm>
          <a:prstGeom prst="rect">
            <a:avLst/>
          </a:prstGeom>
          <a:noFill/>
        </p:spPr>
        <p:txBody>
          <a:bodyPr wrap="square" lIns="91440" tIns="45720" rIns="91440" bIns="45720" anchor="t">
            <a:spAutoFit/>
          </a:bodyPr>
          <a:lstStyle/>
          <a:p>
            <a:pPr algn="l"/>
            <a:r>
              <a:rPr lang="en-US" b="1" i="0" dirty="0">
                <a:solidFill>
                  <a:srgbClr val="101010"/>
                </a:solidFill>
                <a:effectLst/>
                <a:latin typeface="var(--pangea-medium)"/>
              </a:rPr>
              <a:t>Impact materiality</a:t>
            </a:r>
          </a:p>
          <a:p>
            <a:endParaRPr lang="en-US" dirty="0">
              <a:solidFill>
                <a:srgbClr val="101010"/>
              </a:solidFill>
              <a:latin typeface="var(--inter-regular)"/>
            </a:endParaRPr>
          </a:p>
          <a:p>
            <a:r>
              <a:rPr lang="en-US" b="0" i="0">
                <a:solidFill>
                  <a:srgbClr val="101010"/>
                </a:solidFill>
                <a:effectLst/>
                <a:latin typeface="var(--inter-regular)"/>
              </a:rPr>
              <a:t>It assesses how a company's activities </a:t>
            </a:r>
            <a:r>
              <a:rPr lang="en-US" b="1" i="0" dirty="0">
                <a:solidFill>
                  <a:srgbClr val="101010"/>
                </a:solidFill>
                <a:effectLst/>
                <a:latin typeface="var(--inter-regular)"/>
              </a:rPr>
              <a:t>affect People and Planet and various stakeholders (including Nature)</a:t>
            </a:r>
            <a:r>
              <a:rPr lang="en-US" b="0" i="0" dirty="0">
                <a:solidFill>
                  <a:srgbClr val="101010"/>
                </a:solidFill>
                <a:effectLst/>
                <a:latin typeface="var(--inter-regular)"/>
              </a:rPr>
              <a:t>.</a:t>
            </a:r>
            <a:r>
              <a:rPr lang="en-US" b="0" i="0" dirty="0">
                <a:solidFill>
                  <a:srgbClr val="1D1D1B"/>
                </a:solidFill>
                <a:effectLst/>
                <a:latin typeface="Plusjakartasans"/>
              </a:rPr>
              <a:t> </a:t>
            </a:r>
            <a:endParaRPr lang="en-US" b="0" i="0">
              <a:solidFill>
                <a:srgbClr val="101010"/>
              </a:solidFill>
              <a:effectLst/>
              <a:latin typeface="var(--pangea-medium)"/>
            </a:endParaRPr>
          </a:p>
          <a:p>
            <a:pPr algn="l"/>
            <a:endParaRPr lang="en-US" b="0" i="0" dirty="0">
              <a:solidFill>
                <a:srgbClr val="101010"/>
              </a:solidFill>
              <a:effectLst/>
              <a:latin typeface="var(--inter-regular)"/>
            </a:endParaRPr>
          </a:p>
        </p:txBody>
      </p:sp>
      <p:sp>
        <p:nvSpPr>
          <p:cNvPr id="7" name="ZoneTexte 6">
            <a:extLst>
              <a:ext uri="{FF2B5EF4-FFF2-40B4-BE49-F238E27FC236}">
                <a16:creationId xmlns:a16="http://schemas.microsoft.com/office/drawing/2014/main" id="{C0D70196-4D0B-A99B-AC25-523E48B50CEF}"/>
              </a:ext>
            </a:extLst>
          </p:cNvPr>
          <p:cNvSpPr txBox="1"/>
          <p:nvPr/>
        </p:nvSpPr>
        <p:spPr>
          <a:xfrm>
            <a:off x="540008" y="3031241"/>
            <a:ext cx="10636898" cy="1200329"/>
          </a:xfrm>
          <a:prstGeom prst="rect">
            <a:avLst/>
          </a:prstGeom>
          <a:noFill/>
        </p:spPr>
        <p:txBody>
          <a:bodyPr wrap="square">
            <a:spAutoFit/>
          </a:bodyPr>
          <a:lstStyle/>
          <a:p>
            <a:pPr algn="l"/>
            <a:r>
              <a:rPr lang="en-US" b="1" i="0">
                <a:solidFill>
                  <a:srgbClr val="101010"/>
                </a:solidFill>
                <a:effectLst/>
                <a:latin typeface="var(--pangea-medium)"/>
              </a:rPr>
              <a:t>Financial materiality </a:t>
            </a:r>
          </a:p>
          <a:p>
            <a:pPr algn="l"/>
            <a:endParaRPr lang="en-US" b="0" i="0">
              <a:solidFill>
                <a:srgbClr val="101010"/>
              </a:solidFill>
              <a:effectLst/>
              <a:latin typeface="var(--pangea-medium)"/>
            </a:endParaRPr>
          </a:p>
          <a:p>
            <a:pPr algn="l"/>
            <a:r>
              <a:rPr lang="en-US" b="0" i="0">
                <a:solidFill>
                  <a:srgbClr val="101010"/>
                </a:solidFill>
                <a:effectLst/>
                <a:latin typeface="var(--inter-regular)"/>
              </a:rPr>
              <a:t>It focuses on factors that </a:t>
            </a:r>
            <a:r>
              <a:rPr lang="en-US" b="1" i="0">
                <a:solidFill>
                  <a:srgbClr val="101010"/>
                </a:solidFill>
                <a:effectLst/>
                <a:latin typeface="var(--inter-regular)"/>
              </a:rPr>
              <a:t>directly influence a company's financial performance</a:t>
            </a:r>
            <a:r>
              <a:rPr lang="en-US" b="0" i="0">
                <a:solidFill>
                  <a:srgbClr val="101010"/>
                </a:solidFill>
                <a:effectLst/>
                <a:latin typeface="var(--inter-regular)"/>
              </a:rPr>
              <a:t>. This includes the impact on financial indicators, such as </a:t>
            </a:r>
            <a:r>
              <a:rPr lang="en-US" b="1" i="0">
                <a:solidFill>
                  <a:srgbClr val="101010"/>
                </a:solidFill>
                <a:effectLst/>
                <a:latin typeface="var(--inter-regular)"/>
              </a:rPr>
              <a:t>cash flow, revenue growth, and profitability</a:t>
            </a:r>
            <a:r>
              <a:rPr lang="en-US" b="0" i="0">
                <a:solidFill>
                  <a:srgbClr val="101010"/>
                </a:solidFill>
                <a:effectLst/>
                <a:latin typeface="var(--inter-regular)"/>
              </a:rPr>
              <a:t>.</a:t>
            </a:r>
            <a:endParaRPr lang="en-US" b="0" i="0" dirty="0">
              <a:solidFill>
                <a:srgbClr val="101010"/>
              </a:solidFill>
              <a:effectLst/>
              <a:latin typeface="var(--inter-regular)"/>
            </a:endParaRPr>
          </a:p>
        </p:txBody>
      </p:sp>
      <p:sp>
        <p:nvSpPr>
          <p:cNvPr id="9" name="ZoneTexte 8">
            <a:extLst>
              <a:ext uri="{FF2B5EF4-FFF2-40B4-BE49-F238E27FC236}">
                <a16:creationId xmlns:a16="http://schemas.microsoft.com/office/drawing/2014/main" id="{4A5AACC0-06B7-5F73-5D17-4C99353D1FA8}"/>
              </a:ext>
            </a:extLst>
          </p:cNvPr>
          <p:cNvSpPr txBox="1"/>
          <p:nvPr/>
        </p:nvSpPr>
        <p:spPr>
          <a:xfrm>
            <a:off x="653143" y="329722"/>
            <a:ext cx="10410629" cy="954107"/>
          </a:xfrm>
          <a:prstGeom prst="rect">
            <a:avLst/>
          </a:prstGeom>
          <a:noFill/>
        </p:spPr>
        <p:txBody>
          <a:bodyPr wrap="square">
            <a:spAutoFit/>
          </a:bodyPr>
          <a:lstStyle/>
          <a:p>
            <a:pPr algn="ctr"/>
            <a:r>
              <a:rPr lang="en-US" sz="2800" b="0" i="0" dirty="0">
                <a:solidFill>
                  <a:srgbClr val="1D1D1B"/>
                </a:solidFill>
                <a:effectLst/>
                <a:latin typeface="Plusjakartasans"/>
              </a:rPr>
              <a:t>Under the </a:t>
            </a:r>
            <a:r>
              <a:rPr lang="en-US" sz="2800" b="1" i="0" dirty="0">
                <a:solidFill>
                  <a:srgbClr val="1D1D1B"/>
                </a:solidFill>
                <a:effectLst/>
                <a:latin typeface="Plusjakartasans"/>
              </a:rPr>
              <a:t>EU Sustainability Reporting Directive (CSRD), </a:t>
            </a:r>
            <a:r>
              <a:rPr lang="en-US" sz="2800" b="0" i="0" dirty="0">
                <a:solidFill>
                  <a:srgbClr val="1D1D1B"/>
                </a:solidFill>
                <a:effectLst/>
                <a:latin typeface="Plusjakartasans"/>
              </a:rPr>
              <a:t>companies are required to perform a double materiality assessment</a:t>
            </a:r>
          </a:p>
        </p:txBody>
      </p:sp>
      <p:sp>
        <p:nvSpPr>
          <p:cNvPr id="13" name="ZoneTexte 12">
            <a:extLst>
              <a:ext uri="{FF2B5EF4-FFF2-40B4-BE49-F238E27FC236}">
                <a16:creationId xmlns:a16="http://schemas.microsoft.com/office/drawing/2014/main" id="{1EB2751F-736B-F8C0-D3F7-A0A63978C333}"/>
              </a:ext>
            </a:extLst>
          </p:cNvPr>
          <p:cNvSpPr txBox="1"/>
          <p:nvPr/>
        </p:nvSpPr>
        <p:spPr>
          <a:xfrm>
            <a:off x="420945" y="4639589"/>
            <a:ext cx="10882759" cy="1754326"/>
          </a:xfrm>
          <a:prstGeom prst="rect">
            <a:avLst/>
          </a:prstGeom>
          <a:noFill/>
        </p:spPr>
        <p:txBody>
          <a:bodyPr wrap="square">
            <a:spAutoFit/>
          </a:bodyPr>
          <a:lstStyle/>
          <a:p>
            <a:r>
              <a:rPr lang="en-US" u="sng"/>
              <a:t>A big difference between USA and the EU</a:t>
            </a:r>
          </a:p>
          <a:p>
            <a:endParaRPr lang="en-US"/>
          </a:p>
          <a:p>
            <a:r>
              <a:rPr lang="en-US" b="1"/>
              <a:t>Double materiality </a:t>
            </a:r>
            <a:r>
              <a:rPr lang="en-US"/>
              <a:t>is a European concept, supported by EFRAG (European Financial Reporting Advisory Group) which published the ESRS standards (European Sustainability Reporting Standards) . </a:t>
            </a:r>
          </a:p>
          <a:p>
            <a:endParaRPr lang="en-US"/>
          </a:p>
          <a:p>
            <a:r>
              <a:rPr lang="en-US"/>
              <a:t>In the United States, the ISSB (International Sustainability Standards Board) advocates </a:t>
            </a:r>
            <a:r>
              <a:rPr lang="en-US" b="1"/>
              <a:t>financial materiality </a:t>
            </a:r>
            <a:r>
              <a:rPr lang="en-US"/>
              <a:t>only.</a:t>
            </a:r>
            <a:endParaRPr lang="en-US" dirty="0"/>
          </a:p>
        </p:txBody>
      </p:sp>
    </p:spTree>
    <p:extLst>
      <p:ext uri="{BB962C8B-B14F-4D97-AF65-F5344CB8AC3E}">
        <p14:creationId xmlns:p14="http://schemas.microsoft.com/office/powerpoint/2010/main" val="3230943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AADE8FE-12D1-75CD-1542-3112AB172B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688" y="0"/>
            <a:ext cx="105870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207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9FBF9B-C3DF-57CC-6CFA-78EA6C80150E}"/>
              </a:ext>
            </a:extLst>
          </p:cNvPr>
          <p:cNvSpPr>
            <a:spLocks noGrp="1"/>
          </p:cNvSpPr>
          <p:nvPr>
            <p:ph type="title"/>
          </p:nvPr>
        </p:nvSpPr>
        <p:spPr>
          <a:xfrm>
            <a:off x="508000" y="999595"/>
            <a:ext cx="11257280" cy="3846725"/>
          </a:xfrm>
        </p:spPr>
        <p:txBody>
          <a:bodyPr>
            <a:normAutofit/>
          </a:bodyPr>
          <a:lstStyle/>
          <a:p>
            <a:r>
              <a:rPr lang="en-US" dirty="0"/>
              <a:t>What did we learn from the lesson?</a:t>
            </a:r>
            <a:br>
              <a:rPr lang="en-US" dirty="0"/>
            </a:br>
            <a:br>
              <a:rPr lang="en-US" dirty="0"/>
            </a:br>
            <a:r>
              <a:rPr lang="en-US" sz="2400" b="1" dirty="0"/>
              <a:t>Identify and restore the points retained from the course.</a:t>
            </a:r>
            <a:endParaRPr lang="fr-FR" b="1" dirty="0"/>
          </a:p>
        </p:txBody>
      </p:sp>
      <p:sp>
        <p:nvSpPr>
          <p:cNvPr id="4" name="ZoneTexte 3">
            <a:extLst>
              <a:ext uri="{FF2B5EF4-FFF2-40B4-BE49-F238E27FC236}">
                <a16:creationId xmlns:a16="http://schemas.microsoft.com/office/drawing/2014/main" id="{C10C98C5-B6A9-903C-4C5F-C71A3E915054}"/>
              </a:ext>
            </a:extLst>
          </p:cNvPr>
          <p:cNvSpPr txBox="1"/>
          <p:nvPr/>
        </p:nvSpPr>
        <p:spPr>
          <a:xfrm>
            <a:off x="711200" y="4115415"/>
            <a:ext cx="9966960" cy="1815882"/>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How to build a sustainable finance and sustainable bank: rules and framework</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Why do banks exist?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Sustainable banking: a stakeholder approach</a:t>
            </a:r>
          </a:p>
        </p:txBody>
      </p:sp>
    </p:spTree>
    <p:extLst>
      <p:ext uri="{BB962C8B-B14F-4D97-AF65-F5344CB8AC3E}">
        <p14:creationId xmlns:p14="http://schemas.microsoft.com/office/powerpoint/2010/main" val="787635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D85AFCB-CDC8-2193-EC22-ECAE23244A6F}"/>
              </a:ext>
            </a:extLst>
          </p:cNvPr>
          <p:cNvSpPr txBox="1"/>
          <p:nvPr/>
        </p:nvSpPr>
        <p:spPr>
          <a:xfrm>
            <a:off x="3048778" y="3244334"/>
            <a:ext cx="6097554" cy="369332"/>
          </a:xfrm>
          <a:prstGeom prst="rect">
            <a:avLst/>
          </a:prstGeom>
          <a:noFill/>
        </p:spPr>
        <p:txBody>
          <a:bodyPr wrap="square">
            <a:spAutoFit/>
          </a:bodyPr>
          <a:lstStyle/>
          <a:p>
            <a:pPr algn="ctr"/>
            <a:r>
              <a:rPr lang="en-US" dirty="0"/>
              <a:t>WOOCLAP-Sustainable Finance</a:t>
            </a:r>
          </a:p>
        </p:txBody>
      </p:sp>
      <p:sp>
        <p:nvSpPr>
          <p:cNvPr id="5" name="ZoneTexte 4">
            <a:extLst>
              <a:ext uri="{FF2B5EF4-FFF2-40B4-BE49-F238E27FC236}">
                <a16:creationId xmlns:a16="http://schemas.microsoft.com/office/drawing/2014/main" id="{4D4B53F9-5671-0F42-8050-8517CE19E441}"/>
              </a:ext>
            </a:extLst>
          </p:cNvPr>
          <p:cNvSpPr txBox="1"/>
          <p:nvPr/>
        </p:nvSpPr>
        <p:spPr>
          <a:xfrm>
            <a:off x="4177782" y="4475975"/>
            <a:ext cx="6097554" cy="369332"/>
          </a:xfrm>
          <a:prstGeom prst="rect">
            <a:avLst/>
          </a:prstGeom>
          <a:noFill/>
        </p:spPr>
        <p:txBody>
          <a:bodyPr wrap="square">
            <a:spAutoFit/>
          </a:bodyPr>
          <a:lstStyle/>
          <a:p>
            <a:r>
              <a:rPr lang="en-US" dirty="0">
                <a:hlinkClick r:id="rId2"/>
              </a:rPr>
              <a:t>https://app.wooclap.com/events/OZPZGU/0</a:t>
            </a:r>
            <a:r>
              <a:rPr lang="en-US" dirty="0"/>
              <a:t> </a:t>
            </a:r>
          </a:p>
        </p:txBody>
      </p:sp>
    </p:spTree>
    <p:extLst>
      <p:ext uri="{BB962C8B-B14F-4D97-AF65-F5344CB8AC3E}">
        <p14:creationId xmlns:p14="http://schemas.microsoft.com/office/powerpoint/2010/main" val="1012667090"/>
      </p:ext>
    </p:extLst>
  </p:cSld>
  <p:clrMapOvr>
    <a:masterClrMapping/>
  </p:clrMapOvr>
</p:sld>
</file>

<file path=ppt/theme/theme1.xml><?xml version="1.0" encoding="utf-8"?>
<a:theme xmlns:a="http://schemas.openxmlformats.org/drawingml/2006/main" name="ArchwayVTI">
  <a:themeElements>
    <a:clrScheme name="Custom 1">
      <a:dk1>
        <a:sysClr val="windowText" lastClr="000000"/>
      </a:dk1>
      <a:lt1>
        <a:sysClr val="window" lastClr="FFFFFF"/>
      </a:lt1>
      <a:dk2>
        <a:srgbClr val="2E3A3C"/>
      </a:dk2>
      <a:lt2>
        <a:srgbClr val="EDE9E7"/>
      </a:lt2>
      <a:accent1>
        <a:srgbClr val="898470"/>
      </a:accent1>
      <a:accent2>
        <a:srgbClr val="7A8773"/>
      </a:accent2>
      <a:accent3>
        <a:srgbClr val="8C845E"/>
      </a:accent3>
      <a:accent4>
        <a:srgbClr val="9F7E56"/>
      </a:accent4>
      <a:accent5>
        <a:srgbClr val="9B7E69"/>
      </a:accent5>
      <a:accent6>
        <a:srgbClr val="AA7862"/>
      </a:accent6>
      <a:hlink>
        <a:srgbClr val="7A8773"/>
      </a:hlink>
      <a:folHlink>
        <a:srgbClr val="9F7E5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VTI" id="{309F1D27-9968-4F93-BA7C-3666A757FD2E}" vid="{76D8E8FD-8787-4E56-A14A-C28BF58ABEEE}"/>
    </a:ext>
  </a:extLst>
</a:theme>
</file>

<file path=ppt/theme/theme2.xml><?xml version="1.0" encoding="utf-8"?>
<a:theme xmlns:a="http://schemas.openxmlformats.org/drawingml/2006/main" name="1_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Metadata/LabelInfo.xml><?xml version="1.0" encoding="utf-8"?>
<clbl:labelList xmlns:clbl="http://schemas.microsoft.com/office/2020/mipLabelMetadata">
  <clbl:label id="{9860db96-b53f-4bd7-8137-e09357cab268}" enabled="1" method="Standard" siteId="{b78d03e6-f6a2-4cff-83be-847d1a6453f9}" removed="0"/>
</clbl:labelList>
</file>

<file path=docProps/app.xml><?xml version="1.0" encoding="utf-8"?>
<Properties xmlns="http://schemas.openxmlformats.org/officeDocument/2006/extended-properties" xmlns:vt="http://schemas.openxmlformats.org/officeDocument/2006/docPropsVTypes">
  <TotalTime>798</TotalTime>
  <Words>2901</Words>
  <Application>Microsoft Office PowerPoint</Application>
  <PresentationFormat>Grand écran</PresentationFormat>
  <Paragraphs>634</Paragraphs>
  <Slides>35</Slides>
  <Notes>0</Notes>
  <HiddenSlides>0</HiddenSlides>
  <MMClips>0</MMClips>
  <ScaleCrop>false</ScaleCrop>
  <HeadingPairs>
    <vt:vector size="4" baseType="variant">
      <vt:variant>
        <vt:lpstr>Thème</vt:lpstr>
      </vt:variant>
      <vt:variant>
        <vt:i4>2</vt:i4>
      </vt:variant>
      <vt:variant>
        <vt:lpstr>Titres des diapositives</vt:lpstr>
      </vt:variant>
      <vt:variant>
        <vt:i4>35</vt:i4>
      </vt:variant>
    </vt:vector>
  </HeadingPairs>
  <TitlesOfParts>
    <vt:vector size="37" baseType="lpstr">
      <vt:lpstr>ArchwayVTI</vt:lpstr>
      <vt:lpstr>1_Thème Office</vt:lpstr>
      <vt:lpstr>What is Sustainable Finance? </vt:lpstr>
      <vt:lpstr>What are we going to analyze?</vt:lpstr>
      <vt:lpstr>Présentation PowerPoint</vt:lpstr>
      <vt:lpstr>Présentation PowerPoint</vt:lpstr>
      <vt:lpstr>Présentation PowerPoint</vt:lpstr>
      <vt:lpstr>THE SUSTAINABLE FINANCE PRINCIPLES « The Magic Box »</vt:lpstr>
      <vt:lpstr>Conventional Finance vs Sustainable Finance</vt:lpstr>
      <vt:lpstr>Présentation PowerPoint</vt:lpstr>
      <vt:lpstr>Sustainable finance</vt:lpstr>
      <vt:lpstr>Présentation PowerPoint</vt:lpstr>
      <vt:lpstr>Présentation PowerPoint</vt:lpstr>
      <vt:lpstr>Why do banks exist?</vt:lpstr>
      <vt:lpstr>Présentation PowerPoint</vt:lpstr>
      <vt:lpstr>Présentation PowerPoint</vt:lpstr>
      <vt:lpstr>Présentation PowerPoint</vt:lpstr>
      <vt:lpstr>Présentation PowerPoint</vt:lpstr>
      <vt:lpstr>Présentation PowerPoint</vt:lpstr>
      <vt:lpstr>Présentation PowerPoint</vt:lpstr>
      <vt:lpstr>A sustainable bank: new business model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Sustainable bank</vt:lpstr>
      <vt:lpstr>How to develop a comprehensive strategy for sustainable factors in a bank?</vt:lpstr>
      <vt:lpstr>Micro-credit or micro-financing are examples of sustainable banking </vt:lpstr>
      <vt:lpstr>Présentation PowerPoint</vt:lpstr>
      <vt:lpstr>Présentation PowerPoint</vt:lpstr>
      <vt:lpstr>What did we learn from the lesson?  Identify and restore the points retained from the course.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SAIDANE Dhafer</dc:creator>
  <cp:lastModifiedBy>SAIDANE Dhafer</cp:lastModifiedBy>
  <cp:revision>145</cp:revision>
  <dcterms:created xsi:type="dcterms:W3CDTF">2023-08-30T16:59:44Z</dcterms:created>
  <dcterms:modified xsi:type="dcterms:W3CDTF">2026-06-04T09:28:56Z</dcterms:modified>
</cp:coreProperties>
</file>