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3"/>
  </p:notesMasterIdLst>
  <p:sldIdLst>
    <p:sldId id="343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559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F3C7BE-A12E-BB49-8222-98FD05669A8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2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company is “better” if you only see ROE?,Then reveal that net income is identical; the difference comes from equity and leverage.,Teaching point: high ROE can reflect operating strength, efficient asset use, or financial leverage.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One company, several ratios, hidden weaknesses. Identify what deserves investigation before recommending more debt.,Do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Two companies. Same sector. Different risk-return profiles. Decide as a </a:t>
            </a:r>
            <a:r>
              <a:rPr lang="en-US"/>
              <a:t>lender - </a:t>
            </a:r>
            <a:r>
              <a:rPr lang="en-US" dirty="0"/>
              <a:t>then as an equity investor.,Do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Use FV and PV, then decide whether the asking price is economically justified.,Do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Predict premium/par/discount, calculate the price, then explain how a change in market yield affects value.,Do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this: D1 is the future cash flow that enters Gordon.,If the statement says “the company just paid €3”, that is D0. Grow it once to obtain D1.,This is a classic source of small but embarrassing valuation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“5 years / 50 years / forever” question.,A high-growth firm can have g &gt; r for a finite forecast period; the restriction applies to the perpetual stable-growth stage.,If g &gt;= r, do not interpret a negative/infinite output as a real stock </a:t>
            </a:r>
            <a:r>
              <a:rPr lang="en-US"/>
              <a:t>value - </a:t>
            </a:r>
            <a:r>
              <a:rPr lang="en-US" dirty="0"/>
              <a:t>the assumptions are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real-company anchor, not as a stock recommendation.,Ask: what makes Coca-Cola closer to Gordon assumptions than a hyper-growth technology company?,Then change g from 3.5% to 4.0% orally and ask what happens to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Apply Gordon carefully, distinguish D₀ from D₁, test sensitivity, and decide what the model actually tells you.,Do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Discount project cash flows, calculate NPV, defend the decision, then reassess under a higher required return.,Do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students: Two mutually exclusive projects. Compare NPV and IRR, then make a recommendation to maximise value.,Do not reveal the diagnostic before they work.,During correction, ask for the reason before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7A8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CORPORATE FINANCE PREREQUISITES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MSc Corporate Financial Management · 2026–2027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6" y="6201067"/>
            <a:ext cx="2654949" cy="38594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202984D-AA9C-4D4A-99B8-1F28A8AF29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6031" y="738234"/>
            <a:ext cx="6197600" cy="21971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58FA644-DA71-4392-9516-05E74B0E4C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502461" y="3052804"/>
            <a:ext cx="6384739" cy="12954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fr-FR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E2CCCBC-02B6-4E29-9CFA-C45BBB0E77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4533" y="4581128"/>
            <a:ext cx="5400599" cy="1295400"/>
          </a:xfrm>
        </p:spPr>
        <p:txBody>
          <a:bodyPr/>
          <a:lstStyle>
            <a:lvl1pPr marL="0" indent="0" algn="ctr">
              <a:buNone/>
              <a:defRPr lang="fr-FR" sz="1350" kern="0" dirty="0" smtClean="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fr-FR" dirty="0"/>
              <a:t>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36719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02254-E0CA-4AB5-A250-FF02D2A51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32A46"/>
                </a:solidFill>
              </a:rPr>
              <a:t>CORPORATE FINANCE</a:t>
            </a:r>
            <a:br>
              <a:rPr lang="en-US" dirty="0"/>
            </a:br>
            <a:r>
              <a:rPr lang="en-US" b="1" dirty="0">
                <a:solidFill>
                  <a:srgbClr val="132A46"/>
                </a:solidFill>
              </a:rPr>
              <a:t>PREREQUISITES</a:t>
            </a:r>
            <a:br>
              <a:rPr lang="en-US" dirty="0"/>
            </a:br>
            <a:br>
              <a:rPr lang="en-US" altLang="fr-FR" dirty="0"/>
            </a:br>
            <a:endParaRPr lang="en-US" alt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3F4A47-0EB7-4A3D-B1D2-6A9058CD9A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9900" y="3826217"/>
            <a:ext cx="5300770" cy="1295400"/>
          </a:xfrm>
        </p:spPr>
        <p:txBody>
          <a:bodyPr>
            <a:normAutofit lnSpcReduction="10000"/>
          </a:bodyPr>
          <a:lstStyle/>
          <a:p>
            <a:pPr algn="l"/>
            <a:r>
              <a:rPr lang="fr-FR" sz="1800" b="1" dirty="0" err="1"/>
              <a:t>MSc</a:t>
            </a:r>
            <a:r>
              <a:rPr lang="fr-FR" sz="1800" b="1" dirty="0"/>
              <a:t> </a:t>
            </a:r>
            <a:r>
              <a:rPr lang="fr-FR" sz="1800" b="1" dirty="0" err="1"/>
              <a:t>Corporate</a:t>
            </a:r>
            <a:r>
              <a:rPr lang="fr-FR" sz="1800" b="1" dirty="0"/>
              <a:t> Financial Management &amp; SFF</a:t>
            </a:r>
          </a:p>
          <a:p>
            <a:pPr marL="42863" indent="-42863"/>
            <a:r>
              <a:rPr lang="en-US" altLang="fr-FR" sz="1800" b="1" dirty="0"/>
              <a:t>Fall 2026 </a:t>
            </a:r>
          </a:p>
          <a:p>
            <a:pPr marL="42863" indent="-42863"/>
            <a:endParaRPr lang="en-US" altLang="fr-FR" sz="1800" b="1" dirty="0"/>
          </a:p>
          <a:p>
            <a:pPr marL="42863" indent="-42863"/>
            <a:r>
              <a:rPr lang="en-US" altLang="fr-FR" sz="1800" b="1" dirty="0"/>
              <a:t>Jamil </a:t>
            </a:r>
            <a:r>
              <a:rPr lang="en-US" altLang="fr-FR" sz="1800" b="1" dirty="0" err="1"/>
              <a:t>Chaftar</a:t>
            </a:r>
            <a:endParaRPr lang="en-US" altLang="fr-FR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sessions, one decision-making journey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Designed around short explanations, practice, discussion and decision-making.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618488"/>
            <a:ext cx="45720" cy="13807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SESSION 1 · Read the company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Financial analysis + diagnostic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27648" y="1618488"/>
            <a:ext cx="45720" cy="13807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92240" y="17465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SESSION 1 · Value money through 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PV / FV + required return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344728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35753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SESSION 2 · Value financial assets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Bonds + stocks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327648" y="344728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92240" y="357530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SESSION 2 · Allocate capital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92240" y="3931920"/>
            <a:ext cx="488289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NPV + IRR + project choice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6235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57881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course is built around decisions - formulas are tools, not the destination.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should be able to do by the 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prerequisite is about financial reasoning, not memorising every formula.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594360" cy="59436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463040" y="1581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DIAGNOSE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Read liquidity, leverage, profitability and efficiency together.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594360" cy="59436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251960" y="1581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Move cash flows across time using PV and FV.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417320"/>
            <a:ext cx="594360" cy="59436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040880" y="1581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PRICE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Explain why bond and stock values react to required return.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9800" y="1417320"/>
            <a:ext cx="594360" cy="594360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829800" y="15819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DECIDE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0684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Use NPV and IRR to support an investment recommendation.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 not just calculate. Ask questions.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Session 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Read the company. Then understand the value of money.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Corporate finance in one sentence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How should a company use and finance money today to create value tomorrow?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35608"/>
            <a:ext cx="45720" cy="20665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INVEST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0540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Which projects, assets or acquisitions deserve capital?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07408" y="1435608"/>
            <a:ext cx="45720" cy="206654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5636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FINANCE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0540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Debt, equity or internally generated cash?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65008" y="1435608"/>
            <a:ext cx="45720" cy="20665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0" y="156362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RETURN / REINVEST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0" y="1920240"/>
            <a:ext cx="30540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Pay dividends, repay debt or reinvest?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Every corporate finance question eventually becomes a trade-off between cash, time, risk and return.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decisions - and one common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Different tools, same destination: sustainable value creation.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72768"/>
            <a:ext cx="45720" cy="211226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70078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INVESTMENT DECISION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00837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Where do we put capital?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Tool lens: NPV / IRR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98848" y="1572768"/>
            <a:ext cx="45720" cy="211226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63440" y="170078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FINANCING DECISION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057400"/>
            <a:ext cx="300837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How do we fund it?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Tool lens: Debt / Equity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5320" y="1554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93608" y="1572768"/>
            <a:ext cx="45720" cy="21122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58200" y="170078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PAYOUT DECISION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2057400"/>
            <a:ext cx="300837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do we do with cash generated?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Tool lens: Reinvest / Distribute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4251960"/>
            <a:ext cx="7223760" cy="685800"/>
          </a:xfrm>
          <a:prstGeom prst="chevron">
            <a:avLst/>
          </a:prstGeom>
          <a:solidFill>
            <a:srgbClr val="EAF0F6"/>
          </a:solidFill>
          <a:ln w="12700">
            <a:solidFill>
              <a:srgbClr val="DC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063240" y="448970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</a:rPr>
              <a:t>CREATE VALUE WHILE MANAGING RISK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basic sources of corporate funding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Financing choice changes flexibility, risk and the return expected by investors.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35608"/>
            <a:ext cx="45720" cy="22037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INTERNAL CASH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00837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Profits retained in the business.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No contractual repayment, but shareholders still expect a return.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53128" y="1435608"/>
            <a:ext cx="45720" cy="22037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17720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DEBT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1920240"/>
            <a:ext cx="300837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Bank loans or bonds.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Contractual interest and principal payments increase financial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3756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56448" y="1435608"/>
            <a:ext cx="45720" cy="22037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56362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EQUITY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1920240"/>
            <a:ext cx="300837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New shares / shareholder capital.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No mandatory repayment, but investors demand upside and ownership.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</a:rPr>
              <a:t>A CFO is always balancing cost, flexibility, control and risk.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441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creation is a chain, not a single ratio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good financial decision connects operating performance to financing and investment.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6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Revenue, margins, working capital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86584" y="2487168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70632" y="19659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862072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6"/>
                </a:solidFill>
              </a:rPr>
              <a:t>CASH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Operating cash flow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654296" y="2487168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38344" y="19659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9784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6"/>
                </a:solidFill>
              </a:rPr>
              <a:t>FINANCING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48072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Debt / equity / cost of capital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922008" y="2487168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06056" y="19659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397496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6"/>
                </a:solidFill>
              </a:rPr>
              <a:t>INVESTMENT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15784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Projects and assets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189720" y="2487168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573768" y="19659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BE9EE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665208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0E2B"/>
                </a:solidFill>
              </a:rPr>
              <a:t>VALUE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83496" y="2487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NPV and shareholder value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22960" y="47091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51560" y="4873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Corporate finance starts with accounting numbers - but it does not stop there.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Accounting tells us what happened. Finance asks what to do next.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Same statements, different questions.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35608"/>
            <a:ext cx="45720" cy="22037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ACCOUNTING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91693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happened?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Recognise, classify and report transactions.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53128" y="1435608"/>
            <a:ext cx="45720" cy="220370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17720" y="1563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FINANCE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1920240"/>
            <a:ext cx="291693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does it mean?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Diagnose performance, risk and value.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4612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156448" y="1435608"/>
            <a:ext cx="45720" cy="22037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563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DECISION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1920240"/>
            <a:ext cx="291693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should we do?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Lend? Invest? Refinance? Reject a project?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Today, the numbers become inputs for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Financial Analysis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Use ratios to diagnose - never to replace judgement.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questions behind most basic ratios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formula is the easy part. The diagnosis is the finance part.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344168"/>
            <a:ext cx="45720" cy="13807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4721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1 · LIQUIDITY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Can the company meet short-term obligations?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81928" y="134416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6520" y="14721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2 · LEVERAGE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How much financial pressure comes from debt?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218688"/>
            <a:ext cx="45720" cy="13807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3 · PROFITABILITY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Is the company generating attractive returns?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81928" y="3218688"/>
            <a:ext cx="45720" cy="138074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652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4 · EFFICIENCY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How effectively are assets used?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Liquidity: can the company pay soon?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Two ratios can tell different stories about the same balance sheet.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15819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Current Ratio = Current Assets / Current Liabilities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8408" y="2075688"/>
            <a:ext cx="4626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Broad short-term coverage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37960" y="15819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Quick Ratio = (Current Assets − Inventory) / Current Liabilities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56248" y="2075688"/>
            <a:ext cx="4626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Stricter view: inventory may not convert quickly into cash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" y="3246120"/>
            <a:ext cx="9966960" cy="109728"/>
          </a:xfrm>
          <a:prstGeom prst="rect">
            <a:avLst/>
          </a:prstGeom>
          <a:solidFill>
            <a:srgbClr val="DFE6ED"/>
          </a:solidFill>
          <a:ln w="12700">
            <a:solidFill>
              <a:srgbClr val="DFE6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46"/>
                </a:solidFill>
              </a:rPr>
              <a:t>Current assets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3456432"/>
            <a:ext cx="1188720" cy="502920"/>
          </a:xfrm>
          <a:prstGeom prst="roundRect">
            <a:avLst>
              <a:gd name="adj" fmla="val 727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063240" y="36210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25112" y="3456432"/>
            <a:ext cx="2377440" cy="502920"/>
          </a:xfrm>
          <a:prstGeom prst="roundRect">
            <a:avLst>
              <a:gd name="adj" fmla="val 7273"/>
            </a:avLst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325112" y="362102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Receivables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3456432"/>
            <a:ext cx="3657600" cy="502920"/>
          </a:xfrm>
          <a:prstGeom prst="roundRect">
            <a:avLst>
              <a:gd name="adj" fmla="val 7273"/>
            </a:avLst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775704" y="3621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Inventory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“good” current ratio can hide weak liquidity if inventory dominates current assets. And never forget concept of bargaining power that can affect Working capital need.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inventory changes the diagnosis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ratio improves numerically - but the business may not improve economically.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</a:rPr>
              <a:t>Imagine inventory rises sharply while cash and receivables do not move.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95528" y="2167128"/>
            <a:ext cx="45720" cy="17922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0120" y="2295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CURRENT RATIO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Usually rises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Looks better mechanically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90288" y="2167128"/>
            <a:ext cx="45720" cy="179222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54880" y="2295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QUICK RATIO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May not improve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Exposes dependence on inventory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21488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385048" y="2167128"/>
            <a:ext cx="45720" cy="17922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49640" y="229514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ANALYST QUESTION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49640" y="2651760"/>
            <a:ext cx="305409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Why is inventory rising?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Growth? seasonality? slowing demand? obsolete stock?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 not reward a ratio before understanding what moved inside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Leverage: how much financial pressure?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Debt can amplify returns - and losses.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5819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Debt to Equity ratio = Financial Debt /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075688"/>
            <a:ext cx="4489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How much debt supports each euro of equity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29400" y="158191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Interest Coverage = EBIT / Interest Expense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47688" y="2075688"/>
            <a:ext cx="4489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How many times operating profit covers interest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Higher leverage can: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41248" y="3721608"/>
            <a:ext cx="45720" cy="11978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5840" y="3849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BOOST ROE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206240"/>
            <a:ext cx="2916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When business returns exceed debt cost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44568" y="3721608"/>
            <a:ext cx="45720" cy="11978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09160" y="3849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250" b="1" dirty="0">
                <a:solidFill>
                  <a:srgbClr val="132A46"/>
                </a:solidFill>
              </a:rPr>
              <a:t>INCREASE MANDATORY FINANCIAL OBLIGATIONS</a:t>
            </a:r>
          </a:p>
        </p:txBody>
      </p:sp>
      <p:sp>
        <p:nvSpPr>
          <p:cNvPr id="18" name="Text 16"/>
          <p:cNvSpPr/>
          <p:nvPr/>
        </p:nvSpPr>
        <p:spPr>
          <a:xfrm>
            <a:off x="4709160" y="4206240"/>
            <a:ext cx="2916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50" dirty="0">
                <a:solidFill>
                  <a:srgbClr val="1C2733"/>
                </a:solidFill>
              </a:rPr>
              <a:t>Interest payments and debt repayment obligations remain even in difficult periods.</a:t>
            </a:r>
          </a:p>
        </p:txBody>
      </p:sp>
      <p:sp>
        <p:nvSpPr>
          <p:cNvPr id="19" name="Shape 17"/>
          <p:cNvSpPr/>
          <p:nvPr/>
        </p:nvSpPr>
        <p:spPr>
          <a:xfrm>
            <a:off x="822960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47888" y="3721608"/>
            <a:ext cx="45720" cy="119786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12480" y="38496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50" b="1" dirty="0">
                <a:solidFill>
                  <a:srgbClr val="132A46"/>
                </a:solidFill>
              </a:rPr>
              <a:t>REDUCE FINANCIAL FLEXIBILITY</a:t>
            </a:r>
          </a:p>
        </p:txBody>
      </p:sp>
      <p:sp>
        <p:nvSpPr>
          <p:cNvPr id="22" name="Text 20"/>
          <p:cNvSpPr/>
          <p:nvPr/>
        </p:nvSpPr>
        <p:spPr>
          <a:xfrm>
            <a:off x="8412480" y="4206240"/>
            <a:ext cx="291693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050" dirty="0">
                <a:solidFill>
                  <a:srgbClr val="1C2733"/>
                </a:solidFill>
              </a:rPr>
              <a:t>Less capacity to absorb shocks or finance new opportunities.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Interest coverage: profit before debt service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lender does not only ask “is EBIT positive?” - it asks whether debt service is comfortably covered.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10058400" cy="18288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</a:rPr>
              <a:t>EBIT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68880" y="2084832"/>
            <a:ext cx="1508760" cy="0"/>
          </a:xfrm>
          <a:prstGeom prst="line">
            <a:avLst/>
          </a:prstGeom>
          <a:noFill/>
          <a:ln w="2540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16052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90E2B"/>
                </a:solidFill>
              </a:rPr>
              <a:t>INTEREST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15000" y="2084832"/>
            <a:ext cx="1508760" cy="0"/>
          </a:xfrm>
          <a:prstGeom prst="line">
            <a:avLst/>
          </a:prstGeom>
          <a:noFill/>
          <a:ln w="2540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066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/>
              <a:t>SAFETY MARGIN</a:t>
            </a:r>
          </a:p>
        </p:txBody>
      </p:sp>
      <p:sp>
        <p:nvSpPr>
          <p:cNvPr id="10" name="Text 8"/>
          <p:cNvSpPr/>
          <p:nvPr/>
        </p:nvSpPr>
        <p:spPr>
          <a:xfrm>
            <a:off x="1234440" y="27432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C2733"/>
                </a:solidFill>
              </a:rPr>
              <a:t>6.0x coverage and 2.0x coverage can both be “positive” - but they do not represent the same resilience.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ratio is not a traffic light. It is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Profitability: several answers to “is the company profitable?”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Different ratios answer different questions.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51560" y="1581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Net Margin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581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733"/>
                </a:solidFill>
              </a:rPr>
              <a:t>Net Income /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0" y="156362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C2733"/>
                </a:solidFill>
              </a:rPr>
              <a:t>How much profit is kept from each euro of sales?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1051560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1560" y="2724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ROA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724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733"/>
                </a:solidFill>
              </a:rPr>
              <a:t>Net Income / Assets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70662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C2733"/>
                </a:solidFill>
              </a:rPr>
              <a:t>How productive is the asset base?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03320"/>
            <a:ext cx="10515600" cy="841248"/>
          </a:xfrm>
          <a:prstGeom prst="roundRect">
            <a:avLst>
              <a:gd name="adj" fmla="val 5435"/>
            </a:avLst>
          </a:prstGeom>
          <a:solidFill>
            <a:srgbClr val="FFF7F8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51560" y="38679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0E2B"/>
                </a:solidFill>
              </a:rPr>
              <a:t>ROE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733"/>
                </a:solidFill>
              </a:rPr>
              <a:t>Net Income / Equity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84962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C2733"/>
                </a:solidFill>
              </a:rPr>
              <a:t>What return is generated on shareholder capital?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“Company B is more profitable” is incomplete until you say: by which metric?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Efficiency: where does return come from?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High return can come from margins, asset productivity or financial leverage.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5819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Asset Turnover = Revenue / Assets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075688"/>
            <a:ext cx="43982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How much sales volume is generated per euro of assets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36208" y="1435608"/>
            <a:ext cx="45720" cy="110642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0" y="156362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ANALYST MINDSET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47457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Two firms can have the same ROA with very different business models: one may have high margins and low turnover; another the reverse.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32688" y="3355848"/>
            <a:ext cx="45720" cy="1289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9728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MARGIN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Profit / Sales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3367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A46"/>
                </a:solidFill>
              </a:rPr>
              <a:t>×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1772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636008" y="3355848"/>
            <a:ext cx="45720" cy="12893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0060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TURNOVER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Sales / Assets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36992" y="37490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A46"/>
                </a:solidFill>
              </a:rPr>
              <a:t>×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32104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339328" y="335584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LEVERAGE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0392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Assets / Equity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ratio is a clue, not a verdict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Interpretation needs context.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389888"/>
            <a:ext cx="45720" cy="13807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TREND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Improving or deteriorating over time?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81928" y="1389888"/>
            <a:ext cx="45720" cy="138074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652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PEERS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Better or worse than comparable companies?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310128"/>
            <a:ext cx="45720" cy="138074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4381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BUSINESS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Retail, software and utilities naturally look different.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81928" y="331012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6520" y="34381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QUALITY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47457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sits inside the numerator and denominator?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4406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5605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Never say “1.5 is good”. Say what 1.5 means in context.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high ROE can be impressive - or leverage-driven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Always ask what sits behind the denominator.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05156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</a:rPr>
              <a:t>Company 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</a:rPr>
              <a:t>Company 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69264" y="1956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Net income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19568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450592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9264" y="2578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Equity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54680" y="25786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72384"/>
            <a:ext cx="3657600" cy="457200"/>
          </a:xfrm>
          <a:prstGeom prst="roundRect">
            <a:avLst/>
          </a:prstGeom>
          <a:solidFill>
            <a:srgbClr val="FBE9EE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69264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ROE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32004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90E2B"/>
                </a:solidFill>
              </a:rPr>
              <a:t>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694176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69264" y="3822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Debt / Equity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680" y="38221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0.5x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1828800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461504" y="1956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Net income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46920" y="195681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20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2450592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461504" y="2578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Equity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46920" y="25786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50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072384"/>
            <a:ext cx="3657600" cy="457200"/>
          </a:xfrm>
          <a:prstGeom prst="roundRect">
            <a:avLst/>
          </a:prstGeom>
          <a:solidFill>
            <a:srgbClr val="FBE9EE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61504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ROE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46920" y="32004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90E2B"/>
                </a:solidFill>
              </a:rPr>
              <a:t>40%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3694176"/>
            <a:ext cx="3657600" cy="457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461504" y="3822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Debt / Equity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46920" y="38221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2A46"/>
                </a:solidFill>
              </a:rPr>
              <a:t>2.0x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3017520"/>
            <a:ext cx="1143000" cy="0"/>
          </a:xfrm>
          <a:prstGeom prst="line">
            <a:avLst/>
          </a:prstGeom>
          <a:noFill/>
          <a:ln w="29210">
            <a:solidFill>
              <a:srgbClr val="D719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7492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0E2B"/>
                </a:solidFill>
              </a:rPr>
              <a:t>Same profit.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90E2B"/>
                </a:solidFill>
              </a:rPr>
              <a:t>Different capital structure.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 not admire ROE before asking how it was produced.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/>
              <a:t>Why can two companies have the same ROE?</a:t>
            </a:r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ROE can be decomposed into profitability, efficiency and leverage.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7492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0E2B"/>
                </a:solidFill>
              </a:rPr>
              <a:t>ROE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41248" y="2258568"/>
            <a:ext cx="45720" cy="14264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23865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NET MARGIN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9169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Profitability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6"/>
                </a:solidFill>
              </a:rPr>
              <a:t>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26280" y="22402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44568" y="2258568"/>
            <a:ext cx="45720" cy="142646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09160" y="23865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ASSET TURNOVER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2743200"/>
            <a:ext cx="29169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Efficiency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8120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6"/>
                </a:solidFill>
              </a:rPr>
              <a:t>×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229600" y="2240280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47888" y="2258568"/>
            <a:ext cx="45720" cy="14264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0" y="23865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EQUITY MULTIPLIER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291693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Leverage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51560" y="4965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strong ROE is more convincing when it is supported by healthy margins and efficiency - not only debt.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headline ratio, different financial stories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Analysts compare combinations, not isolated numbers.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6304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86968" y="1481328"/>
            <a:ext cx="45720" cy="29352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609344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Firm X · ROE 24%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4562856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Net margin 12% · D/E 0.4x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Strong operations, moderate leverage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46520" y="146304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64808" y="1481328"/>
            <a:ext cx="45720" cy="29352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609344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Firm Y · ROE 24%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1965960"/>
            <a:ext cx="4562856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Net margin 4% · D/E 2.5x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Thin margins, high leverage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</a:rPr>
              <a:t>Would a bank and an equity investor necessarily rank these firms the same way?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diagnostic hierarchy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Use this sequence during the exercises.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25880" y="1773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CALCULATE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Get the numbers right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1920240"/>
            <a:ext cx="50292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206240" y="160020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206240" y="1773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3494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b="1" dirty="0">
                <a:solidFill>
                  <a:srgbClr val="132A46"/>
                </a:solidFill>
              </a:rPr>
              <a:t>COMPARE</a:t>
            </a:r>
            <a:endParaRPr sz="1300" b="1" dirty="0">
              <a:solidFill>
                <a:srgbClr val="132A4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2900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Across ratios / peers / 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1920240"/>
            <a:ext cx="50292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086600" y="160020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86600" y="1773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EXPLAIN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What drives the result?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49640" y="1920240"/>
            <a:ext cx="50292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966960" y="1600200"/>
            <a:ext cx="640080" cy="640080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966960" y="1773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DECIDE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733"/>
                </a:solidFill>
              </a:rPr>
              <a:t>What does it mean for the decision?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strongest answer contains a number AND a reason.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1 - Quick diagnostic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One company, several ratios, hidden weaknesses. Identify what deserves investigation before recommending more debt.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Exercise 1: the debrief is the real lesson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Do not correct ratio by ratio only. Rebuild the financial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389888"/>
            <a:ext cx="45720" cy="1289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WHAT LOOKS GOOD?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Which ratios support confidence?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81928" y="138988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652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WHAT LOOKS FRAGILE?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Where is liquidity, leverage or coverage weaker?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218688"/>
            <a:ext cx="45720" cy="128930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WHAT COULD MISLEAD?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Which headline ratio needs a second indicator?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81928" y="3218688"/>
            <a:ext cx="45720" cy="12893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652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WHAT WOULD YOU ASK NEXT?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Working capital ageing? debt maturity? cash flow? inventory quality?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2578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5422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goal is not “the answer”. The goal is a defendable diagnosis.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2 - Credit Committee vs Equity Investor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Two companies. Same sector. Different risk-return profiles. Decide as a lender - then as an equity investor.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“best” company depends on who asks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same statements can support different decisions.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481328"/>
            <a:ext cx="45720" cy="28895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60934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BANK / CREDIT LENS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4608576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Priority: downside protection and repayment.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Look closely at liquidity, leverage, interest coverage, cash generation and debt capacity.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19088" y="1481328"/>
            <a:ext cx="45720" cy="28895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0" y="160934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EQUITY INVESTOR LENS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608576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Priority: upside potential and return on capital.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May accept more volatility and leverage if the expected return compensates for the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51560" y="5239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Same financial statements. Different objectives. Different acceptable risks.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331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rgbClr val="FF0000"/>
                </a:solidFill>
              </a:rPr>
              <a:t>Transition: from valuation to capital allocation</a:t>
            </a:r>
          </a:p>
        </p:txBody>
      </p:sp>
      <p:sp>
        <p:nvSpPr>
          <p:cNvPr id="3" name="Text 1"/>
          <p:cNvSpPr/>
          <p:nvPr/>
        </p:nvSpPr>
        <p:spPr>
          <a:xfrm>
            <a:off x="1828800" y="3246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BD6E2"/>
                </a:solidFill>
              </a:rPr>
              <a:t>Why €1 today is not €1 tomorrow.</a:t>
            </a:r>
            <a:endParaRPr lang="en-US" sz="20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Time Value of Money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Move cash flows across time before you compare them.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€1 today worth more than €1 tomorrow?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Because money available today can earn a return.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2A46"/>
                </a:solidFill>
              </a:rPr>
              <a:t>€1,000 TODAY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1755648"/>
            <a:ext cx="3794760" cy="0"/>
          </a:xfrm>
          <a:prstGeom prst="line">
            <a:avLst/>
          </a:prstGeom>
          <a:noFill/>
          <a:ln w="38100">
            <a:solidFill>
              <a:srgbClr val="D719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74920" y="1234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0E2B"/>
                </a:solidFill>
              </a:rPr>
              <a:t>+5%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352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90E2B"/>
                </a:solidFill>
              </a:rPr>
              <a:t>€1,050 IN ONE YEAR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86968" y="3127248"/>
            <a:ext cx="45720" cy="13350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32552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EARNING POTENTIAL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296265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Money can be invested.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31089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636008" y="3127248"/>
            <a:ext cx="45720" cy="13350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800600" y="32552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OPPORTUNITY COST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3611880"/>
            <a:ext cx="296265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Using cash here means not using it elsewhere.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66760" y="31089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385048" y="3127248"/>
            <a:ext cx="45720" cy="13350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49640" y="325526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RISK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549640" y="3611880"/>
            <a:ext cx="296265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Future cash is not always certain.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timeline rule that prevents most mistakes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First decide the date at which you want to compare all cash flows.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88720" y="2743200"/>
            <a:ext cx="969264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98448" y="267004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30168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9184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61888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62356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93608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95528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625328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28700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5036" y="2034539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FB7"/>
                </a:solidFill>
              </a:rPr>
              <a:t>MOVE LEFT = DISCOUNT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3657600"/>
            <a:ext cx="324612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4005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MOVE RIGHT = COMPOUND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51560" y="5239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At which date do I want all cash flows to be comparable?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3430AE73-E166-C3DD-C6FB-700279FEF9BB}"/>
              </a:ext>
            </a:extLst>
          </p:cNvPr>
          <p:cNvCxnSpPr>
            <a:cxnSpLocks/>
          </p:cNvCxnSpPr>
          <p:nvPr/>
        </p:nvCxnSpPr>
        <p:spPr>
          <a:xfrm flipH="1">
            <a:off x="1051560" y="1797803"/>
            <a:ext cx="335879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Value: push money forward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Compounding answers: “what will today’s money become?”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0" y="1417320"/>
            <a:ext cx="6675120" cy="1371600"/>
          </a:xfrm>
          <a:prstGeom prst="roundRect">
            <a:avLst>
              <a:gd name="adj" fmla="val 5333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926080" y="15819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FV = PV × (1 + r)^n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44368" y="2075688"/>
            <a:ext cx="6272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PV today · r per period · n periods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3749040"/>
            <a:ext cx="923544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481328" y="367588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Today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€1,000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367588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7764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€1,080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50608" y="367588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1228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€1,166.40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985248" y="36758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46920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0976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€1,259.71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7587"/>
                </a:solidFill>
              </a:rPr>
              <a:t>8% per year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Compounding: interest earns interest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This is why 8% for three years is not simply 24% of the original principal.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527048"/>
            <a:ext cx="45720" cy="13350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65506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START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002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€1,000.00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90672" y="2194560"/>
            <a:ext cx="33832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52044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538728" y="1527048"/>
            <a:ext cx="45720" cy="13350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703320" y="165506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YEAR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2011680"/>
            <a:ext cx="2002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€1,080.00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79592" y="2194560"/>
            <a:ext cx="33832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327648" y="1527048"/>
            <a:ext cx="45720" cy="13350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92240" y="165506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YEAR 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2011680"/>
            <a:ext cx="2002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€1,166.40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68512" y="2194560"/>
            <a:ext cx="338328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098280" y="150876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116568" y="1527048"/>
            <a:ext cx="45720" cy="13350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81160" y="165506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YEAR 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281160" y="2011680"/>
            <a:ext cx="2002536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€1,259.71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A46"/>
                </a:solidFill>
              </a:rPr>
              <a:t>Year 2 interest is earned on €1,080 - not only on the original €1,000.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interest vs compound interest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Same rate, different economic result over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1527048"/>
            <a:ext cx="45720" cy="206654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1655064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SIMPLE INTEREST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4256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8% is always calculated on the original €1,000.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After 3 years: €1,240.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10528" y="1527048"/>
            <a:ext cx="45720" cy="20665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75120" y="1655064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COMPOUND INTEREST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44256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Each year’s interest becomes part of the base for the next year.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After 3 years: €1,259.71.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51560" y="5010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Corporate finance normally works with compounding.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 Value: bring future money back to today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Discounting answers: “what is a future cash flow worth now?”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0" y="1417320"/>
            <a:ext cx="6675120" cy="1371600"/>
          </a:xfrm>
          <a:prstGeom prst="roundRect">
            <a:avLst>
              <a:gd name="adj" fmla="val 5333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926080" y="15819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PV = FV / (1 + r)^n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44368" y="2075688"/>
            <a:ext cx="6272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The exact inverse of compounding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95528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0E2B"/>
                </a:solidFill>
              </a:rPr>
              <a:t>€10,000 in 3 years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3657600"/>
            <a:ext cx="0" cy="0"/>
          </a:xfrm>
          <a:prstGeom prst="line">
            <a:avLst/>
          </a:prstGeom>
          <a:noFill/>
          <a:ln w="38100">
            <a:solidFill>
              <a:srgbClr val="2D6FB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9834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FB7"/>
                </a:solidFill>
              </a:rPr>
              <a:t>discount at 8%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A46"/>
                </a:solidFill>
              </a:rPr>
              <a:t>€7,938 today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9377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51560" y="51023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If €7,938 grows at 8% for three years, it becomes €10,000.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discount rate actually mean?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It is not just an “interest rate”. It is the return required for giving up money today.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389888"/>
            <a:ext cx="45720" cy="12893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OPPORTUNITY COST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could I earn elsewhere?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81928" y="1389888"/>
            <a:ext cx="45720" cy="128930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6520" y="15179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TIME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How long is my money committed?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21868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RISK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How uncertain are the cash flows?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81928" y="3218688"/>
            <a:ext cx="45720" cy="128930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6520" y="334670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CAPITAL MARKET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returns are available for comparable risk?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5376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Required return is the hurdle that future cash flows must justify.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cash flows: value each one at the same date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Cash received at Year 1 is not economically identical to cash received at Year 4.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43000" y="2743200"/>
            <a:ext cx="969264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52728" y="267004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Today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11880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273552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36392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€200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71032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632704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95544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€400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30184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991856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54696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€600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689336" y="267004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51008" y="28895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13848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€800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9776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733"/>
                </a:solidFill>
              </a:rPr>
              <a:t>At 12%, each future cash flow has a different discount factor because each is a different distance from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€2,000 of future cash is not worth €2,000 today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Discount every cash flow, then add the present values.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2648" y="1435608"/>
            <a:ext cx="45720" cy="18379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5636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Y1 CASH FLOW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139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€200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PV @ 12% = €178.57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47288" y="1435608"/>
            <a:ext cx="45720" cy="18379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11880" y="15636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Y2 CASH FLOW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2139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€400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PV @ 12% = €318.88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81928" y="1435608"/>
            <a:ext cx="45720" cy="18379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46520" y="15636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Y3 CASH FLOW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2139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€600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PV @ 12% = €427.07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116568" y="1435608"/>
            <a:ext cx="45720" cy="18379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281160" y="156362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Y4 CASH FLOW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81160" y="1920240"/>
            <a:ext cx="2139696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€800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PV @ 12% = €508.41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4023360"/>
            <a:ext cx="6309360" cy="777240"/>
          </a:xfrm>
          <a:prstGeom prst="roundRect">
            <a:avLst>
              <a:gd name="adj" fmla="val 5882"/>
            </a:avLst>
          </a:prstGeom>
          <a:solidFill>
            <a:srgbClr val="FFF5F7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154680" y="42793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0E2B"/>
                </a:solidFill>
              </a:rPr>
              <a:t>TOTAL PRESENT VALUE = €1,432.93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2120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51560" y="5376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question is not “how much cash will I receive?” but “what is that cash worth today?”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enters through the required return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You do not need a full risk-management course to understand the valuation effect.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2286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7193F"/>
                </a:solidFill>
              </a:rPr>
              <a:t>HIGHER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2487168"/>
            <a:ext cx="32004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2286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52044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7C00"/>
                </a:solidFill>
              </a:rPr>
              <a:t>HIGHER REQUIRED RETURN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2487168"/>
            <a:ext cx="32004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2286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FB7"/>
                </a:solidFill>
              </a:rPr>
              <a:t>STRONGER DISCOUNTING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0" y="2487168"/>
            <a:ext cx="320040" cy="0"/>
          </a:xfrm>
          <a:prstGeom prst="line">
            <a:avLst/>
          </a:prstGeom>
          <a:noFill/>
          <a:ln w="2159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7F8FA"/>
          </a:solidFill>
          <a:ln w="2286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09828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A46"/>
                </a:solidFill>
              </a:rPr>
              <a:t>LOWER PRESENT VALUE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4325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Same promised cash flows + higher required return = lower value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decision is impossible without a required return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€100 today or €120 in five years? The answer depends on the opportunity cost.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1481328"/>
            <a:ext cx="45720" cy="1929384"/>
          </a:xfrm>
          <a:prstGeom prst="rect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160934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OPTION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405993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€100 today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Known value at t=0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0" y="146304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876288" y="1481328"/>
            <a:ext cx="45720" cy="192938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040880" y="160934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OPTION 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0" y="1965960"/>
            <a:ext cx="405993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€120 in 5 years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Must be discounted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B57"/>
                </a:solidFill>
              </a:rPr>
              <a:t>At 3%: PV of €120 ≈ €103.5 → B is worth more today.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0E2B"/>
                </a:solidFill>
              </a:rPr>
              <a:t>At 6%: PV of €120 ≈ €89.7 → A is worth more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3 - What is the promise worth?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Use FV and PV, then decide whether the economic value justifies the price.</a:t>
            </a:r>
          </a:p>
        </p:txBody>
      </p:sp>
      <p:sp>
        <p:nvSpPr>
          <p:cNvPr id="7" name="Shape 5"/>
          <p:cNvSpPr/>
          <p:nvPr/>
        </p:nvSpPr>
        <p:spPr>
          <a:xfrm>
            <a:off x="2194560" y="3154680"/>
            <a:ext cx="1920240" cy="329184"/>
          </a:xfrm>
          <a:prstGeom prst="roundRect">
            <a:avLst>
              <a:gd name="adj" fmla="val 4444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67712" y="321868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90E2B"/>
                </a:solidFill>
              </a:rPr>
              <a:t>15 min work + 10 min debrief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TVM debrief: four questions before any formula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These four questions prevent most mistakes.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What cash flow?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206240" y="1737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At what date?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554480"/>
            <a:ext cx="640080" cy="64008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40880" y="1737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What required return?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875520" y="1554480"/>
            <a:ext cx="640080" cy="640080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875520" y="1737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9828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What decision am I making?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553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Valuation is disciplined discounting.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1 - what should now feel natural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You have moved from reading numbers to valuing money across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95528" y="1572768"/>
            <a:ext cx="45720" cy="17922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7007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FINANCIAL STATEMENTS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happened?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69080" y="2450592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44568" y="1572768"/>
            <a:ext cx="45720" cy="179222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09160" y="17007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RATIOS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09160" y="205740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does it mean?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18120" y="2450592"/>
            <a:ext cx="320040" cy="0"/>
          </a:xfrm>
          <a:prstGeom prst="line">
            <a:avLst/>
          </a:prstGeom>
          <a:noFill/>
          <a:ln w="2286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75320" y="15544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93608" y="1572768"/>
            <a:ext cx="45720" cy="17922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458200" y="170078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TVM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58200" y="205740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What are future cash flows worth today?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51560" y="4919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session: apply the exact same valuation logic to bonds, stocks and projects.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Session 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Apply the same valuation logic to bonds, stocks and projects.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valuation idea, three applications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VALUE = Present Value of future cash flows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847088"/>
            <a:ext cx="45720" cy="17922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97510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BOND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Coupons + principal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44568" y="1847088"/>
            <a:ext cx="45720" cy="17922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09160" y="197510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STOCK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Dividends / future shareholder cash flows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47888" y="1847088"/>
            <a:ext cx="45720" cy="17922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12480" y="197510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PROJECT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2331720"/>
            <a:ext cx="29169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Operating project cash flows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873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Different assets. Same logic.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Bond Valuation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A bond is simply a sequence of contractual future cash flows.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Bond valuation starts with four inputs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Know what each input means before calculating anything.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2648" y="1481328"/>
            <a:ext cx="45720" cy="1883664"/>
          </a:xfrm>
          <a:prstGeom prst="rect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FACE 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1396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Amount repaid at maturity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47288" y="1481328"/>
            <a:ext cx="45720" cy="188366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11880" y="16093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COUPON RATE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1396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% used to determine annual coupon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281928" y="1481328"/>
            <a:ext cx="45720" cy="188366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46520" y="16093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MATURITY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1965960"/>
            <a:ext cx="21396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When principal is repaid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46304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116568" y="1481328"/>
            <a:ext cx="45720" cy="18836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281160" y="1609344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MARKET YIELD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281160" y="1965960"/>
            <a:ext cx="213969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Required return used to discount cash flows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507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Coupon rate determines cash flow. Market yield determines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bond is a timeline of coupons plus principal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Example: €1,000 face value, 5% annual coupon, 3 years.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960120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89888" y="276148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Price?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33088" y="2761488"/>
            <a:ext cx="146304" cy="146304"/>
          </a:xfrm>
          <a:prstGeom prst="ellipse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9476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€50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76288" y="2761488"/>
            <a:ext cx="146304" cy="146304"/>
          </a:xfrm>
          <a:prstGeom prst="ellipse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53796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619488" y="2761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28116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Year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€1,050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Bond value = PV of all promised cash 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Bond price = PV of coupons + PV of principal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There is no new valuation logic here - only a new cash-flow pattern.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43000" y="1417320"/>
            <a:ext cx="9875520" cy="1417320"/>
          </a:xfrm>
          <a:prstGeom prst="roundRect">
            <a:avLst>
              <a:gd name="adj" fmla="val 5161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25880" y="15819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Price = Σ Couponₜ / (1 + y)^t  +  Face Value / (1 + y)^n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44168" y="2075688"/>
            <a:ext cx="9473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y = market yield / required return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Step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Find the coupon payment.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Step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977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Discount coupons and principal at the market yield.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Step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</a:rPr>
              <a:t>Add the present values.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calculating, predict the bond price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Coupon rate vs market yield tells you whether the bond trades at premium, par or discount.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7F9FB"/>
          </a:solidFill>
          <a:ln w="2286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57"/>
                </a:solidFill>
              </a:rPr>
              <a:t>COUPON &gt; YIELD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/>
              <a:t>PRICE &gt; FACE VALUE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</a:rPr>
              <a:t>PREMIUM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7F9FB"/>
          </a:solidFill>
          <a:ln w="2286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46"/>
                </a:solidFill>
              </a:rPr>
              <a:t>COUPON = YIELD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/>
              <a:t>PRICE = FACE VALUE</a:t>
            </a:r>
          </a:p>
        </p:txBody>
      </p:sp>
      <p:sp>
        <p:nvSpPr>
          <p:cNvPr id="11" name="Text 9"/>
          <p:cNvSpPr/>
          <p:nvPr/>
        </p:nvSpPr>
        <p:spPr>
          <a:xfrm>
            <a:off x="539496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1" dirty="0"/>
              <a:t>AT FACE VALUE</a:t>
            </a:r>
          </a:p>
        </p:txBody>
      </p:sp>
      <p:sp>
        <p:nvSpPr>
          <p:cNvPr id="12" name="Shape 10"/>
          <p:cNvSpPr/>
          <p:nvPr/>
        </p:nvSpPr>
        <p:spPr>
          <a:xfrm>
            <a:off x="8275320" y="1600200"/>
            <a:ext cx="3337560" cy="2148840"/>
          </a:xfrm>
          <a:prstGeom prst="roundRect">
            <a:avLst>
              <a:gd name="adj" fmla="val 2553"/>
            </a:avLst>
          </a:prstGeom>
          <a:solidFill>
            <a:srgbClr val="F7F9FB"/>
          </a:solidFill>
          <a:ln w="2286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58200" y="1828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193F"/>
                </a:solidFill>
              </a:rPr>
              <a:t>COUPON &lt; YIELD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15400" y="2468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/>
              <a:t>PRICE &lt; FACE VALUE</a:t>
            </a:r>
          </a:p>
        </p:txBody>
      </p:sp>
      <p:sp>
        <p:nvSpPr>
          <p:cNvPr id="15" name="Text 13"/>
          <p:cNvSpPr/>
          <p:nvPr/>
        </p:nvSpPr>
        <p:spPr>
          <a:xfrm>
            <a:off x="845820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193F"/>
                </a:solidFill>
              </a:rPr>
              <a:t>DISCOUNT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873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Prediction first. Calculation second.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market yields and bond prices move in opposite directions?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coupon is fixed. The price must adjust when the market required return changes.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435608"/>
            <a:ext cx="45720" cy="20208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63624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OLD BOND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56285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Face value €1,000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Coupon 5% = €50 per year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Coupon remains fixed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489204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64808" y="1435608"/>
            <a:ext cx="45720" cy="20208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29400" y="1563624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MARKET CHANGES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29400" y="1920240"/>
            <a:ext cx="456285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Comparable new bonds now offer 8% required return.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Why pay €1,000 for only €50 of annual coupon?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4160520"/>
            <a:ext cx="1280160" cy="0"/>
          </a:xfrm>
          <a:prstGeom prst="line">
            <a:avLst/>
          </a:prstGeom>
          <a:noFill/>
          <a:ln w="31750">
            <a:solidFill>
              <a:srgbClr val="D7193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1228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90E2B"/>
                </a:solidFill>
              </a:rPr>
              <a:t>PRICE MUST FALL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0982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733"/>
                </a:solidFill>
              </a:rPr>
              <a:t>until the bond offers a competitive yield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53309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 yield ↑  →  bond price 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bond example: predict before you calculate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Face value €1,000 · Coupon 5% · 10 years · Market yield 6%.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STEP 1 · Prediction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Coupon 5% &lt; market yield 6% → price must be below €1,000.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</a:rPr>
              <a:t>STEP 2 · Calculation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733"/>
                </a:solidFill>
              </a:rPr>
              <a:t>PV of 10 coupons of €50 + PV of €1,000 principal ≈ €926.40.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60020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6F8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41248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90E2B"/>
                </a:solidFill>
              </a:rPr>
              <a:t>€926.40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41248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0E2B"/>
                </a:solidFill>
              </a:rPr>
              <a:t>DISCOUNT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8463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51560" y="5010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calculation should confirm the economic intuition - not replace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4 - Would you pay €1,000 for this bond?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Predict premium/par/discount, calculate the price, then explain how a change in market yield affects value.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194560" y="3154680"/>
            <a:ext cx="1920240" cy="329184"/>
          </a:xfrm>
          <a:prstGeom prst="roundRect">
            <a:avLst>
              <a:gd name="adj" fmla="val 4444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67712" y="321868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90E2B"/>
                </a:solidFill>
              </a:rPr>
              <a:t>10 min work + 8 min debrief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Stock Valuation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A share is a residual claim on future shareholder cash flows.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gives a share value?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share is worth the present value of the cash flows its owner ultimately expects to receive.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95528" y="1527048"/>
            <a:ext cx="45720" cy="202082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6550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DIVIDENDS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Cash distributed to shareholders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44568" y="1527048"/>
            <a:ext cx="45720" cy="202082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09160" y="16550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GROWTH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Future cash flows may increase over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5320" y="1508760"/>
            <a:ext cx="324612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93608" y="1527048"/>
            <a:ext cx="45720" cy="202082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58200" y="16550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REQUIRED RETURN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58200" y="2011680"/>
            <a:ext cx="291693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Investors discount those cash flows for time and 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873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 valuation is still present value - but the cash flows are less contractual than for a bond.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Dividend Discount Model: the general idea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If dividends are the shareholder cash flows, value equals the PV of expected future dividends.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10058400" cy="1371600"/>
          </a:xfrm>
          <a:prstGeom prst="roundRect">
            <a:avLst>
              <a:gd name="adj" fmla="val 5333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188720" y="15819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P₀ = D₁/(1+r) + D₂/(1+r)² + D₃/(1+r)³ + ...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07008" y="2075688"/>
            <a:ext cx="96560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The series can continue for as long as the company exists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90E2B"/>
                </a:solidFill>
              </a:rPr>
              <a:t>Problem: calculating an infinite stream one dividend at a time is not practical.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</a:rPr>
              <a:t>Gordon Growth gives a shortcut - but only under strong assumptions.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Gordon Growth Model: a stable-growth perpetuity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Use it when dividends are expected to grow at a constant sustainable rate forever.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0" y="1325880"/>
            <a:ext cx="6675120" cy="1463040"/>
          </a:xfrm>
          <a:prstGeom prst="roundRect">
            <a:avLst>
              <a:gd name="adj" fmla="val 5000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926080" y="149047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P₀ = D₁ / (r − 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44368" y="1984248"/>
            <a:ext cx="6272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D₁ = next expected dividend · r = required return · g = perpetual dividend growth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41248" y="3355848"/>
            <a:ext cx="45720" cy="1289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Cash expected next year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44568" y="335584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0916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Return required for the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47888" y="3355848"/>
            <a:ext cx="45720" cy="12893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0" y="348386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3840480"/>
            <a:ext cx="29169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Sustainable long-term dividend growth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trap: D₀ is not D₁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Gordon uses the NEXT dividend because valuation is based on future cash flows.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435608"/>
            <a:ext cx="45720" cy="211226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6362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D₀ · DIVIDEND JUST PAID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4714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Suppose the company has just paid €3.00 today.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This cash flow belongs to the past/current date.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10528" y="1435608"/>
            <a:ext cx="45720" cy="21122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75120" y="156362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D₁ · NEXT EXPECTED DIVIDEND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4714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If long-run growth is 3%: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D₁ = €3.00 × 1.03 = €3.09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416052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37560" y="43251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P₀ = 3.09 / (r − g)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4818888"/>
            <a:ext cx="5449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Do not insert D₀ directly unless the exercise explicitly tells you that the stated dividend is D₁.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g mean concretely?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g is the assumed sustainable annual growth rate of dividends - not the stock price.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97280" y="2834640"/>
            <a:ext cx="978408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52728" y="276148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€3.00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2761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73552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36392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€3.09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71032" y="2761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632704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95544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€3.18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30184" y="2761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991856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54696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€3.28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89336" y="276148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351008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13848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€3.38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</a:rPr>
              <a:t>Here g = 3%: each year the dividend is assumed to be 3% higher than the previous year.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C2733"/>
                </a:solidFill>
              </a:rPr>
              <a:t>It is not automatically revenue growth, earnings growth or share-price growth.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must r be greater than 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Because discounting must eventually dominate perpetual growth for the value to remain finite.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435608"/>
            <a:ext cx="45720" cy="22951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IF r &gt; 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14553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Dividends grow, but their present values eventually shrink.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The infinite series converges to a finite value.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0" y="1435608"/>
            <a:ext cx="45720" cy="229514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53712" y="15636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IF r = 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1920240"/>
            <a:ext cx="314553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Growth exactly offsets discounting.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Far-future dividends do not fade enough in PV terms. The series does not converge.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28432" y="1435608"/>
            <a:ext cx="45720" cy="22951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193024" y="156362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IF g &gt; 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93024" y="1920240"/>
            <a:ext cx="3145536" cy="1709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Growth dominates discounting.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The single-stage Gordon formula produces a meaningless result.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965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company can grow faster than r temporarily. Gordon says it cannot do so forever within a stable-growth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Gordon is extremely sensitive to assumptions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small change in g or r can produce a large change in value.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3383280" cy="2514600"/>
          </a:xfrm>
          <a:prstGeom prst="roundRect">
            <a:avLst>
              <a:gd name="adj" fmla="val 2182"/>
            </a:avLst>
          </a:prstGeom>
          <a:solidFill>
            <a:srgbClr val="F7F9FB"/>
          </a:solidFill>
          <a:ln w="2032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86968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D₁ = €3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86968" y="2258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r = 9%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86968" y="2734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g = 3%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A46"/>
                </a:solidFill>
              </a:rPr>
              <a:t>Value = €50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53128" y="1463040"/>
            <a:ext cx="3383280" cy="2514600"/>
          </a:xfrm>
          <a:prstGeom prst="roundRect">
            <a:avLst>
              <a:gd name="adj" fmla="val 2182"/>
            </a:avLst>
          </a:prstGeom>
          <a:solidFill>
            <a:srgbClr val="F7F9FB"/>
          </a:solidFill>
          <a:ln w="2032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81728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D₁ = €3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81728" y="2258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r = 9%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81728" y="2734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g = 4%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81728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B57"/>
                </a:solidFill>
              </a:rPr>
              <a:t>Value = €60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47888" y="1463040"/>
            <a:ext cx="3383280" cy="2514600"/>
          </a:xfrm>
          <a:prstGeom prst="roundRect">
            <a:avLst>
              <a:gd name="adj" fmla="val 2182"/>
            </a:avLst>
          </a:prstGeom>
          <a:solidFill>
            <a:srgbClr val="F7F9FB"/>
          </a:solidFill>
          <a:ln w="2032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76488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D₁ = €3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76488" y="2258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r = 11%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76488" y="27340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733"/>
                </a:solidFill>
              </a:rPr>
              <a:t>g = 3%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76488" y="3209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3F"/>
                </a:solidFill>
              </a:rPr>
              <a:t>Value = €37.50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51560" y="4965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Do not treat a valuation model as a truth machine. Challenge the assumptions.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Real-company illustration: Coca-Cola and stable dividends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mature dividend-paying company is the type of profile Gordon was designed to approximate.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78992" y="28163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COCA-COLA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28016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447288" y="129844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11880" y="142646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REAL CONTEXT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11880" y="1783080"/>
            <a:ext cx="33741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In 2026 Coca-Cola approved its 64th consecutive annual dividend increase. Quarterly dividend: $0.53 per share.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128016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562088" y="1298448"/>
            <a:ext cx="45720" cy="138074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26680" y="1426464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ILLUSTRATIVE GORDON INPUTS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26680" y="1783080"/>
            <a:ext cx="33741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Use D₁ = $2.12 annualised, r = 6.5%, g = 4.0%.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Illustration only - not an investment recommendation.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3246120"/>
            <a:ext cx="7132320" cy="1097280"/>
          </a:xfrm>
          <a:prstGeom prst="roundRect">
            <a:avLst>
              <a:gd name="adj" fmla="val 6667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977640" y="341071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Illustrative value = 2.12 / (0.065 − 0.040) = $88.19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95928" y="3904488"/>
            <a:ext cx="6729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The lesson is the logic and sensitivity, not a claim about the “true” market price.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0" y="60807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587"/>
                </a:solidFill>
              </a:rPr>
              <a:t>Source: The Coca-Cola Company Investor Relations, 2026.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61</a:t>
            </a:fld>
            <a:endParaRPr lang="en-US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73788DB4-A704-472E-CD15-62B6FE6E4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24" y="2915434"/>
            <a:ext cx="308610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High-growth company: separate the forecast into stages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Gordon can still be useful - later, when growth becomes stable.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2880360"/>
            <a:ext cx="1033272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80720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TODAY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52928" y="280720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1460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High growth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280720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3484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High growth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93408" y="280720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5508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High growth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13648" y="2807208"/>
            <a:ext cx="146304" cy="146304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7532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Transition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33888" y="2807208"/>
            <a:ext cx="146304" cy="14630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195560" y="302666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Y5+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Stable growth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5840" y="3977640"/>
            <a:ext cx="6035040" cy="713232"/>
          </a:xfrm>
          <a:prstGeom prst="roundRect">
            <a:avLst>
              <a:gd name="adj" fmla="val 6410"/>
            </a:avLst>
          </a:prstGeom>
          <a:solidFill>
            <a:srgbClr val="EDF2F7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2A46"/>
                </a:solidFill>
              </a:rPr>
              <a:t>Explicit forecast: revenue, margins, cash flows, changing growth rates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0" y="3977640"/>
            <a:ext cx="3474720" cy="713232"/>
          </a:xfrm>
          <a:prstGeom prst="roundRect">
            <a:avLst>
              <a:gd name="adj" fmla="val 6410"/>
            </a:avLst>
          </a:prstGeom>
          <a:solidFill>
            <a:srgbClr val="EEF8F1"/>
          </a:solidFill>
          <a:ln w="12700">
            <a:solidFill>
              <a:srgbClr val="CBE8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26680" y="4224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B57"/>
                </a:solidFill>
              </a:rPr>
              <a:t>Terminal value: stable 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07492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51560" y="5239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Gordon is a stable-growth model, not a universal stock-valuation model.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should you NOT use single-stage Gordon?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Check the assumptions before touching the formula.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34416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4721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NO / TINY DIVIDENDS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Cash distributed to shareholders is not representative.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81928" y="1344168"/>
            <a:ext cx="45720" cy="128930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46520" y="14721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UNSTABLE GROWTH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182880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Growth is changing rapidly from year to year.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4088" y="317296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33009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g ≥ 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65760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The perpetual stable-growth assumptions are invalid.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81928" y="3172968"/>
            <a:ext cx="45720" cy="12893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46520" y="33009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MAJOR BUSINESS TRANSITION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657600"/>
            <a:ext cx="47457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Margins, payout policy or capital structure are changing materially.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5 - Price or value?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Apply Gordon carefully, distinguish D₀ from D₁, test sensitivity, and decide what the model actually tells you.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194560" y="3154680"/>
            <a:ext cx="1920240" cy="329184"/>
          </a:xfrm>
          <a:prstGeom prst="roundRect">
            <a:avLst>
              <a:gd name="adj" fmla="val 4444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67712" y="321868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90E2B"/>
                </a:solidFill>
              </a:rPr>
              <a:t>10–12 min work + 8 min debrief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331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b="1" dirty="0">
                <a:solidFill>
                  <a:srgbClr val="FF0000"/>
                </a:solidFill>
              </a:rPr>
              <a:t>Transition: from valuation to capital allocation</a:t>
            </a:r>
          </a:p>
        </p:txBody>
      </p:sp>
      <p:sp>
        <p:nvSpPr>
          <p:cNvPr id="3" name="Text 1"/>
          <p:cNvSpPr/>
          <p:nvPr/>
        </p:nvSpPr>
        <p:spPr>
          <a:xfrm>
            <a:off x="1828800" y="32461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BD6E2"/>
                </a:solidFill>
              </a:rPr>
              <a:t>Final block: from valuation to capital-allocation decisions</a:t>
            </a:r>
            <a:r>
              <a:rPr lang="en-US" sz="1400" dirty="0">
                <a:solidFill>
                  <a:srgbClr val="CBD6E2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7C4D2"/>
                </a:solidFill>
              </a:rPr>
              <a:t>SESSION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07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783080" y="1143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Capital Budgeting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20848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FD8E3"/>
                </a:solidFill>
              </a:rPr>
              <a:t>Turn discounted cash flows into an investment decision.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2907792"/>
            <a:ext cx="21031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 Present Value measures value creation today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Compare the present value of what you receive with what you invest.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103120" y="1417320"/>
            <a:ext cx="7955280" cy="1371600"/>
          </a:xfrm>
          <a:prstGeom prst="roundRect">
            <a:avLst>
              <a:gd name="adj" fmla="val 5333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286000" y="15819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NPV = PV of future project cash flows − Initial investment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04288" y="2075688"/>
            <a:ext cx="7552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Initial investment at t=0 is already expressed in today’s money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33375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04088" y="3355848"/>
            <a:ext cx="45720" cy="13807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34838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NPV &gt; 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Creates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ACCEPT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33375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98848" y="3355848"/>
            <a:ext cx="45720" cy="1380744"/>
          </a:xfrm>
          <a:prstGeom prst="rect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34838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NPV = 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384048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Earns exactly the required return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INDIFFERENT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75320" y="33375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93608" y="3355848"/>
            <a:ext cx="45720" cy="138074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58200" y="34838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NPV &lt; 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3840480"/>
            <a:ext cx="300837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Fails to meet the required return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REJECT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NPV example: the answer is not the sum of cash flows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 project can generate positive cash and still fail to create value.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97280" y="2788920"/>
            <a:ext cx="9875520" cy="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07008" y="2715768"/>
            <a:ext cx="146304" cy="146304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29352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−€100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67328" y="2715768"/>
            <a:ext cx="146304" cy="146304"/>
          </a:xfrm>
          <a:prstGeom prst="ellipse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429000" y="29352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€40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2715768"/>
            <a:ext cx="146304" cy="146304"/>
          </a:xfrm>
          <a:prstGeom prst="ellipse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89320" y="29352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587"/>
                </a:solidFill>
              </a:rPr>
              <a:t>Y2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733"/>
                </a:solidFill>
              </a:rPr>
              <a:t>€75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90E2B"/>
                </a:solidFill>
              </a:rPr>
              <a:t>Required return = 15%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A46"/>
                </a:solidFill>
              </a:rPr>
              <a:t>PV of inflows ≈ €91.49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1812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90E2B"/>
                </a:solidFill>
              </a:rPr>
              <a:t>NPV ≈ −€8.51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Positive future cash flows do not guarantee a positive NPV.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 required return → lower NPV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project cash flows can stay identical while the investment decision changes.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9808" y="1618488"/>
            <a:ext cx="45720" cy="18836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14400" y="17465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REQUIRED RETURN 8%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Higher PV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Higher NPV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98848" y="1618488"/>
            <a:ext cx="45720" cy="1883664"/>
          </a:xfrm>
          <a:prstGeom prst="rect">
            <a:avLst/>
          </a:prstGeom>
          <a:solidFill>
            <a:srgbClr val="C17C00"/>
          </a:solidFill>
          <a:ln w="12700">
            <a:solidFill>
              <a:srgbClr val="C17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63440" y="17465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REQUIRED RETURN 12%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Lower PV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Lower NPV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47888" y="1618488"/>
            <a:ext cx="45720" cy="18836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12480" y="174650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REQUIRED RETURN 16%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29626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Even lower PV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Possibly negative NPV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does not have to change the promised cash flows to change the valuation.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6 - Project Alpha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Discount project cash flows, calculate NPV, defend the decision, then reassess under a higher required return.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194560" y="3154680"/>
            <a:ext cx="1920240" cy="329184"/>
          </a:xfrm>
          <a:prstGeom prst="roundRect">
            <a:avLst>
              <a:gd name="adj" fmla="val 4444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67712" y="321868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90E2B"/>
                </a:solidFill>
              </a:rPr>
              <a:t>12–15 min work + 10 min debrief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IRR asks a different question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What discount rate makes the project break even in present-value terms?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560320" y="1417320"/>
            <a:ext cx="7040880" cy="1371600"/>
          </a:xfrm>
          <a:prstGeom prst="roundRect">
            <a:avLst>
              <a:gd name="adj" fmla="val 5333"/>
            </a:avLst>
          </a:prstGeom>
          <a:solidFill>
            <a:srgbClr val="FFF8F9"/>
          </a:solidFill>
          <a:ln w="1524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0" y="15819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0E2B"/>
                </a:solidFill>
              </a:rPr>
              <a:t>IRR = the discount rate that makes NPV = 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61488" y="2075688"/>
            <a:ext cx="6638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587"/>
                </a:solidFill>
              </a:rPr>
              <a:t>At the IRR: PV of future cash flows = initial investment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0120" y="342900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78408" y="3447288"/>
            <a:ext cx="45720" cy="1289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143000" y="3575304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IF IRR &gt; REQUIRED RETURN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3000" y="3931920"/>
            <a:ext cx="44256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Project return exceeds the hurdle rate → NPV is positive.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4754880" cy="1325880"/>
          </a:xfrm>
          <a:prstGeom prst="roundRect">
            <a:avLst>
              <a:gd name="adj" fmla="val 5517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64808" y="3447288"/>
            <a:ext cx="45720" cy="12893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29400" y="3575304"/>
            <a:ext cx="4443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IF IRR &lt; REQUIRED RETURN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3931920"/>
            <a:ext cx="442569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Project return is below the hurdle rate → NPV is negative.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 intuition: IRR is where the NPV curve crosses zero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As the discount rate rises, NPV normally falls for a conventional project.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371600" y="4983480"/>
            <a:ext cx="8686800" cy="0"/>
          </a:xfrm>
          <a:prstGeom prst="line">
            <a:avLst/>
          </a:prstGeom>
          <a:noFill/>
          <a:ln w="2286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011680" y="1325880"/>
            <a:ext cx="0" cy="4023360"/>
          </a:xfrm>
          <a:prstGeom prst="line">
            <a:avLst/>
          </a:prstGeom>
          <a:noFill/>
          <a:ln w="2286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2A46"/>
                </a:solidFill>
              </a:rPr>
              <a:t>NPV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0" y="5212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6"/>
                </a:solidFill>
              </a:rPr>
              <a:t>Discount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828800"/>
            <a:ext cx="6949440" cy="2926080"/>
          </a:xfrm>
          <a:prstGeom prst="line">
            <a:avLst/>
          </a:prstGeom>
          <a:noFill/>
          <a:ln w="381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080760" y="3401568"/>
            <a:ext cx="164592" cy="164592"/>
          </a:xfrm>
          <a:prstGeom prst="ellipse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669280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0E2B"/>
                </a:solidFill>
              </a:rPr>
              <a:t>IRR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NPV &gt;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0E2B"/>
                </a:solidFill>
              </a:rPr>
              <a:t>NPV &lt;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NPV and IRR answer different questions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Both are useful - but they are not interchangeable.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480060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86968" y="1435608"/>
            <a:ext cx="45720" cy="2203704"/>
          </a:xfrm>
          <a:prstGeom prst="rect">
            <a:avLst/>
          </a:prstGeom>
          <a:solidFill>
            <a:srgbClr val="2D6FB7"/>
          </a:solidFill>
          <a:ln w="12700">
            <a:solidFill>
              <a:srgbClr val="2D6F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56362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NPV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920240"/>
            <a:ext cx="447141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“How much value is created today?”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Output: € / $ / monetary value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Directly aligned with value maximisation.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4800600" cy="22402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510528" y="1435608"/>
            <a:ext cx="45720" cy="220370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75120" y="156362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IRR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1920240"/>
            <a:ext cx="447141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“What percentage return does the project generate?”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Output: % return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Intuitive, but can mis-rank mutually exclusive projects.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51560" y="4919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IRR tells you the percentage return. NPV tells you the value created.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highest IRR is not always the best project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Percentage return and absolute value creation can point to different winners.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1527048"/>
            <a:ext cx="45720" cy="2112264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165506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PROJECT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44714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IRR 30%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NPV €5m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0" y="1508760"/>
            <a:ext cx="4800600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 w="12700">
            <a:solidFill>
              <a:srgbClr val="DFE5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601968" y="1527048"/>
            <a:ext cx="45720" cy="21122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66560" y="1655064"/>
            <a:ext cx="4489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</a:rPr>
              <a:t>PROJECT B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4471416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IRR 15%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</a:rPr>
              <a:t>NPV €50m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A46"/>
                </a:solidFill>
              </a:rPr>
              <a:t>If projects are mutually exclusive and risk is comparable, which one creates more shareholder value?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51560" y="51023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company does not exist to maximise percentages. It exists to create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7 - Investment Committee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Work first. Defend the reasoning, not just the calculation.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20391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4560" y="16916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32A46"/>
                </a:solidFill>
              </a:rPr>
              <a:t>Two mutually exclusive projects. Compare NPV and IRR, then make a recommendation to maximise value.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194560" y="3154680"/>
            <a:ext cx="1920240" cy="329184"/>
          </a:xfrm>
          <a:prstGeom prst="roundRect">
            <a:avLst>
              <a:gd name="adj" fmla="val 4444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67712" y="321868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A90E2B"/>
                </a:solidFill>
              </a:rPr>
              <a:t>12–15 min work + 10 min debrief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194560" y="3703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733"/>
                </a:solidFill>
              </a:rPr>
              <a:t>Use the separate exercise document. Do not rush to a formula: identify the financial question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5193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CALCULATE → INTERPRET →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disciplined investment recommendation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The finance answer should combine number, reasoning and assumptions.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965960" cy="18288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97280" y="1901952"/>
            <a:ext cx="594360" cy="594360"/>
          </a:xfrm>
          <a:prstGeom prst="rect">
            <a:avLst/>
          </a:prstGeom>
          <a:solidFill>
            <a:srgbClr val="132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CASH FLOWS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120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do we invest and receive?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386584" y="2606040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1965960" cy="18288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29000" y="1901952"/>
            <a:ext cx="594360" cy="594360"/>
          </a:xfrm>
          <a:prstGeom prst="rect">
            <a:avLst/>
          </a:prstGeom>
          <a:solidFill>
            <a:srgbClr val="132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52928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REQUIRED RETURN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5292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return compensates for risk?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718304" y="2606040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74920" y="1737360"/>
            <a:ext cx="1965960" cy="18288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60720" y="1901952"/>
            <a:ext cx="594360" cy="594360"/>
          </a:xfrm>
          <a:prstGeom prst="rect">
            <a:avLst/>
          </a:prstGeom>
          <a:solidFill>
            <a:srgbClr val="132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84648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NPV / IRR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8464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do the metrics say?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050024" y="2606040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406640" y="1737360"/>
            <a:ext cx="1965960" cy="18288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092440" y="1901952"/>
            <a:ext cx="594360" cy="594360"/>
          </a:xfrm>
          <a:prstGeom prst="rect">
            <a:avLst/>
          </a:prstGeom>
          <a:solidFill>
            <a:srgbClr val="132A4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16368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CONTEXT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1636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Mutually exclusive? capital constraints? different risk?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9381744" y="2606040"/>
            <a:ext cx="292608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738360" y="1737360"/>
            <a:ext cx="1965960" cy="1828800"/>
          </a:xfrm>
          <a:prstGeom prst="roundRect">
            <a:avLst>
              <a:gd name="adj" fmla="val 2500"/>
            </a:avLst>
          </a:prstGeom>
          <a:solidFill>
            <a:srgbClr val="FFF3F6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424160" y="1901952"/>
            <a:ext cx="594360" cy="594360"/>
          </a:xfrm>
          <a:prstGeom prst="rect">
            <a:avLst/>
          </a:prstGeom>
          <a:solidFill>
            <a:srgbClr val="D719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48088" y="2697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0E2B"/>
                </a:solidFill>
              </a:rPr>
              <a:t>RECOMMEND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48088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Choose and defend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22960" y="466344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5156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recommendation must contain a NUMBER and a REASON.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whole course on one page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587"/>
                </a:solidFill>
              </a:rPr>
              <a:t>Corporate finance is a connected chain of questions.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ACCOUNTING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24963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happened?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50008" y="2450592"/>
            <a:ext cx="256032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679192" y="182880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770632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RATIOS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88920" y="24963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does it mean?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2450592"/>
            <a:ext cx="256032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038344" y="182880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129784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TVM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48072" y="24963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is future cash worth today?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068312" y="2450592"/>
            <a:ext cx="256032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397496" y="182880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4F7FA"/>
          </a:solidFill>
          <a:ln w="12700">
            <a:solidFill>
              <a:srgbClr val="DDE4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88936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2A46"/>
                </a:solidFill>
              </a:rPr>
              <a:t>BONDS / STOCKS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07224" y="24963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What are financial assets worth?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427464" y="2450592"/>
            <a:ext cx="256032" cy="0"/>
          </a:xfrm>
          <a:prstGeom prst="line">
            <a:avLst/>
          </a:prstGeom>
          <a:noFill/>
          <a:ln w="19050">
            <a:solidFill>
              <a:srgbClr val="66758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756648" y="182880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3F6"/>
          </a:solidFill>
          <a:ln w="12700">
            <a:solidFill>
              <a:srgbClr val="F2B7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8480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0E2B"/>
                </a:solidFill>
              </a:rPr>
              <a:t>NPV / IRR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66376" y="249631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C2733"/>
                </a:solidFill>
              </a:rPr>
              <a:t>Should we invest?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22960" y="452628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51560" y="4690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Good corporate finance is not about knowing the most formulas. It is about using the right information to make the right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AA4B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7193F"/>
          </a:solidFill>
          <a:ln w="127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97280" y="18288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DO NOT JUST CALCULATE.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MAKE A DECISION.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D8E3"/>
                </a:solidFill>
              </a:rPr>
              <a:t>Numbers are the inputs. Judgement is the output.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00600" y="4617720"/>
            <a:ext cx="2560320" cy="0"/>
          </a:xfrm>
          <a:prstGeom prst="line">
            <a:avLst/>
          </a:prstGeom>
          <a:noFill/>
          <a:ln w="25400">
            <a:solidFill>
              <a:srgbClr val="D7193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fe1e27-1439-452c-8e92-e326d555a19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30CF83270AB469930A5E352B1B51C" ma:contentTypeVersion="13" ma:contentTypeDescription="Create a new document." ma:contentTypeScope="" ma:versionID="1bd86b4e3d01d5ded2bdc8671772bb00">
  <xsd:schema xmlns:xsd="http://www.w3.org/2001/XMLSchema" xmlns:xs="http://www.w3.org/2001/XMLSchema" xmlns:p="http://schemas.microsoft.com/office/2006/metadata/properties" xmlns:ns3="9efe1e27-1439-452c-8e92-e326d555a195" xmlns:ns4="af74f662-8d9a-4038-9161-27aac3ff2bcf" targetNamespace="http://schemas.microsoft.com/office/2006/metadata/properties" ma:root="true" ma:fieldsID="161ad15548c2c1a6ac26e8b1e9c65d55" ns3:_="" ns4:_="">
    <xsd:import namespace="9efe1e27-1439-452c-8e92-e326d555a195"/>
    <xsd:import namespace="af74f662-8d9a-4038-9161-27aac3ff2b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e1e27-1439-452c-8e92-e326d555a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74f662-8d9a-4038-9161-27aac3ff2bc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679EA8-628D-4DB6-B153-B985AF4A88AE}">
  <ds:schemaRefs>
    <ds:schemaRef ds:uri="http://schemas.openxmlformats.org/package/2006/metadata/core-properties"/>
    <ds:schemaRef ds:uri="af74f662-8d9a-4038-9161-27aac3ff2bcf"/>
    <ds:schemaRef ds:uri="http://schemas.microsoft.com/office/2006/documentManagement/types"/>
    <ds:schemaRef ds:uri="9efe1e27-1439-452c-8e92-e326d555a195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96D5018-42AD-40AA-924B-B6F8444523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fe1e27-1439-452c-8e92-e326d555a195"/>
    <ds:schemaRef ds:uri="af74f662-8d9a-4038-9161-27aac3ff2b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6FE42D-5023-4D3F-A7AD-B8095B12923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5477</Words>
  <Application>Microsoft Office PowerPoint</Application>
  <PresentationFormat>Grand écran</PresentationFormat>
  <Paragraphs>965</Paragraphs>
  <Slides>78</Slides>
  <Notes>78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78</vt:i4>
      </vt:variant>
    </vt:vector>
  </HeadingPairs>
  <TitlesOfParts>
    <vt:vector size="83" baseType="lpstr">
      <vt:lpstr>Aptos</vt:lpstr>
      <vt:lpstr>Aptos Display</vt:lpstr>
      <vt:lpstr>Arial</vt:lpstr>
      <vt:lpstr>Calibri</vt:lpstr>
      <vt:lpstr>Office Theme</vt:lpstr>
      <vt:lpstr>CORPORATE FINANCE PREREQUISITES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SKEMA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Finance Prerequisites 2026-2027</dc:title>
  <dc:subject>Corporate Finance Prerequisites</dc:subject>
  <dc:creator>Jamil Chaftar</dc:creator>
  <cp:lastModifiedBy>KAMMOUN Mohamed Ali</cp:lastModifiedBy>
  <cp:revision>4</cp:revision>
  <dcterms:created xsi:type="dcterms:W3CDTF">2026-09-12T20:47:53Z</dcterms:created>
  <dcterms:modified xsi:type="dcterms:W3CDTF">2026-09-14T05:55:36Z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0x01010010930CF83270AB469930A5E352B1B51C</vt:lpwstr>
  </property>
</Properties>
</file>