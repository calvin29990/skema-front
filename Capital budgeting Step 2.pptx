
<file path=[Content_Types].xml><?xml version="1.0" encoding="utf-8"?>
<Types xmlns="http://schemas.openxmlformats.org/package/2006/content-types">
  <Default Extension="bin" ContentType="application/vnd.openxmlformats-officedocument.oleObject"/>
  <Default Extension="jp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63" r:id="rId1"/>
    <p:sldMasterId id="2147483659" r:id="rId2"/>
  </p:sldMasterIdLst>
  <p:notesMasterIdLst>
    <p:notesMasterId r:id="rId52"/>
  </p:notesMasterIdLst>
  <p:handoutMasterIdLst>
    <p:handoutMasterId r:id="rId53"/>
  </p:handoutMasterIdLst>
  <p:sldIdLst>
    <p:sldId id="680" r:id="rId3"/>
    <p:sldId id="425" r:id="rId4"/>
    <p:sldId id="426" r:id="rId5"/>
    <p:sldId id="427" r:id="rId6"/>
    <p:sldId id="549" r:id="rId7"/>
    <p:sldId id="550" r:id="rId8"/>
    <p:sldId id="622" r:id="rId9"/>
    <p:sldId id="552" r:id="rId10"/>
    <p:sldId id="553" r:id="rId11"/>
    <p:sldId id="554" r:id="rId12"/>
    <p:sldId id="555" r:id="rId13"/>
    <p:sldId id="556" r:id="rId14"/>
    <p:sldId id="557" r:id="rId15"/>
    <p:sldId id="559" r:id="rId16"/>
    <p:sldId id="623" r:id="rId17"/>
    <p:sldId id="561" r:id="rId18"/>
    <p:sldId id="562" r:id="rId19"/>
    <p:sldId id="563" r:id="rId20"/>
    <p:sldId id="624" r:id="rId21"/>
    <p:sldId id="565" r:id="rId22"/>
    <p:sldId id="566" r:id="rId23"/>
    <p:sldId id="567" r:id="rId24"/>
    <p:sldId id="568" r:id="rId25"/>
    <p:sldId id="575" r:id="rId26"/>
    <p:sldId id="576" r:id="rId27"/>
    <p:sldId id="577" r:id="rId28"/>
    <p:sldId id="580" r:id="rId29"/>
    <p:sldId id="581" r:id="rId30"/>
    <p:sldId id="582" r:id="rId31"/>
    <p:sldId id="620" r:id="rId32"/>
    <p:sldId id="586" r:id="rId33"/>
    <p:sldId id="587" r:id="rId34"/>
    <p:sldId id="588" r:id="rId35"/>
    <p:sldId id="589" r:id="rId36"/>
    <p:sldId id="590" r:id="rId37"/>
    <p:sldId id="591" r:id="rId38"/>
    <p:sldId id="592" r:id="rId39"/>
    <p:sldId id="593" r:id="rId40"/>
    <p:sldId id="594" r:id="rId41"/>
    <p:sldId id="618" r:id="rId42"/>
    <p:sldId id="601" r:id="rId43"/>
    <p:sldId id="602" r:id="rId44"/>
    <p:sldId id="603" r:id="rId45"/>
    <p:sldId id="604" r:id="rId46"/>
    <p:sldId id="605" r:id="rId47"/>
    <p:sldId id="606" r:id="rId48"/>
    <p:sldId id="610" r:id="rId49"/>
    <p:sldId id="611" r:id="rId50"/>
    <p:sldId id="613" r:id="rId51"/>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2" pos="272" userDrawn="1">
          <p15:clr>
            <a:srgbClr val="A4A3A4"/>
          </p15:clr>
        </p15:guide>
        <p15:guide id="3" orient="horz" pos="436" userDrawn="1">
          <p15:clr>
            <a:srgbClr val="A4A3A4"/>
          </p15:clr>
        </p15:guide>
        <p15:guide id="4" pos="5488" userDrawn="1">
          <p15:clr>
            <a:srgbClr val="A4A3A4"/>
          </p15:clr>
        </p15:guide>
        <p15:guide id="5" orient="horz" pos="913" userDrawn="1">
          <p15:clr>
            <a:srgbClr val="A4A3A4"/>
          </p15:clr>
        </p15:guide>
        <p15:guide id="6" pos="2857" userDrawn="1">
          <p15:clr>
            <a:srgbClr val="A4A3A4"/>
          </p15:clr>
        </p15:guide>
        <p15:guide id="7" orient="horz" pos="2160" userDrawn="1">
          <p15:clr>
            <a:srgbClr val="A4A3A4"/>
          </p15:clr>
        </p15:guide>
        <p15:guide id="8" orient="horz" pos="1253" userDrawn="1">
          <p15:clr>
            <a:srgbClr val="A4A3A4"/>
          </p15:clr>
        </p15:guide>
        <p15:guide id="9" orient="horz" pos="402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Author" initials="A" lastIdx="0" clrIdx="7"/>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EAE4"/>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894" autoAdjust="0"/>
    <p:restoredTop sz="78367" autoAdjust="0"/>
  </p:normalViewPr>
  <p:slideViewPr>
    <p:cSldViewPr snapToGrid="0" snapToObjects="1">
      <p:cViewPr varScale="1">
        <p:scale>
          <a:sx n="89" d="100"/>
          <a:sy n="89" d="100"/>
        </p:scale>
        <p:origin x="2536" y="168"/>
      </p:cViewPr>
      <p:guideLst>
        <p:guide pos="272"/>
        <p:guide orient="horz" pos="436"/>
        <p:guide pos="5488"/>
        <p:guide orient="horz" pos="913"/>
        <p:guide pos="2857"/>
        <p:guide orient="horz" pos="2160"/>
        <p:guide orient="horz" pos="1253"/>
        <p:guide orient="horz" pos="4020"/>
      </p:guideLst>
    </p:cSldViewPr>
  </p:slideViewPr>
  <p:outlineViewPr>
    <p:cViewPr>
      <p:scale>
        <a:sx n="33" d="100"/>
        <a:sy n="33" d="100"/>
      </p:scale>
      <p:origin x="0" y="-37248"/>
    </p:cViewPr>
  </p:outlineViewPr>
  <p:notesTextViewPr>
    <p:cViewPr>
      <p:scale>
        <a:sx n="150" d="100"/>
        <a:sy n="150" d="100"/>
      </p:scale>
      <p:origin x="0" y="0"/>
    </p:cViewPr>
  </p:notesTextViewPr>
  <p:sorterViewPr>
    <p:cViewPr>
      <p:scale>
        <a:sx n="100" d="100"/>
        <a:sy n="100" d="100"/>
      </p:scale>
      <p:origin x="0" y="-3346"/>
    </p:cViewPr>
  </p:sorterViewPr>
  <p:notesViewPr>
    <p:cSldViewPr snapToGrid="0" snapToObjects="1">
      <p:cViewPr varScale="1">
        <p:scale>
          <a:sx n="68" d="100"/>
          <a:sy n="68" d="100"/>
        </p:scale>
        <p:origin x="306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handoutMaster" Target="handoutMasters/handoutMaster1.xml"/><Relationship Id="rId58" Type="http://schemas.openxmlformats.org/officeDocument/2006/relationships/tableStyles" Target="tableStyles.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theme" Target="theme/theme1.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9/29/26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‹N°›</a:t>
            </a:fld>
            <a:endParaRPr lang="en-US"/>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dirty="0"/>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‹N°›</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this PowerPoint presentation contains mathematical equations, you may need to check that your computer has the following installed:</a:t>
            </a:r>
          </a:p>
          <a:p>
            <a:r>
              <a:rPr lang="en-US" dirty="0"/>
              <a:t>1) Math Type Plugin</a:t>
            </a:r>
          </a:p>
          <a:p>
            <a:r>
              <a:rPr lang="en-US" dirty="0"/>
              <a:t>2) Math Player (free versions available)</a:t>
            </a:r>
          </a:p>
          <a:p>
            <a:r>
              <a:rPr lang="en-US" dirty="0"/>
              <a:t>3) NVDA Reader (free versions available)</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3541993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3799410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Long Description:</a:t>
            </a:r>
          </a:p>
          <a:p>
            <a:r>
              <a:rPr lang="en-US" dirty="0"/>
              <a:t>The x-axis shows the discount rate ranging from 5 to 30 in increments of 5 and the y-axis shows the value of N P V in dollars ranging from 0 to 500 in increments of 100. The graph is a descending curve that shows positive value of N P V for discount rates less than 14 percent and negative value for discount rates greater than 14 percent. Here, I R </a:t>
            </a:r>
            <a:r>
              <a:rPr lang="en-US" dirty="0" err="1"/>
              <a:t>R</a:t>
            </a:r>
            <a:r>
              <a:rPr lang="en-US" dirty="0"/>
              <a:t> equals 14 percent. The N P V values at different discount rates are as follows- 5 percent: 450, 10 percent: 100, 14 percent: 0.</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6857148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Long Description:</a:t>
            </a:r>
          </a:p>
          <a:p>
            <a:r>
              <a:rPr lang="en-US" dirty="0"/>
              <a:t>The x-axis shows the discount rate ranging from 0 to 35 in increments of 5 and the y-axis shows the value of N P V in dollars ranging from negative 400 to 100 in increments of 100. The graph is an ascending curve the that shows positive value of N P V for discount rates greater than 23.38 percent and negative value for discount rates less than 23.38 percent. Here, I R </a:t>
            </a:r>
            <a:r>
              <a:rPr lang="en-US" dirty="0" err="1"/>
              <a:t>R</a:t>
            </a:r>
            <a:r>
              <a:rPr lang="en-US" dirty="0"/>
              <a:t> equals 23.38 percent.</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1454804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1173096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Long Description:</a:t>
            </a:r>
          </a:p>
          <a:p>
            <a:r>
              <a:rPr lang="en-US" dirty="0"/>
              <a:t>N P V equals 550,000 minus start fraction 500,000 over 1 plus r end fraction minus start fraction 500,000 over left parenthesis 1 plus r right parenthesis superscript 2 baseline end fraction minus start fraction 500,000 over left parenthesis 1 plus r right parenthesis superscript 3 baseline end fraction minus start fraction 1,000,000 over left parenthesis 1 plus r right parenthesis superscript 4 baseline end fraction.</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7585100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Long Description:</a:t>
            </a:r>
          </a:p>
          <a:p>
            <a:r>
              <a:rPr lang="en-US" dirty="0"/>
              <a:t>The graph is plotted between the discount rate on the x-axis ranging from 0 to 50 in increments of 10 and N P V from negative 30 to 60 in increments of 10. The values plotted are as follows: 0 percent, 50; 10 percent: negative 10.41; 20 percent: negative 19.5; 30 percent: negative 5.93; 40 percent: 15.85; 50 percent: 47.5 percent. All data are approximate. Marked on the curve are I R </a:t>
            </a:r>
            <a:r>
              <a:rPr lang="en-US" dirty="0" err="1"/>
              <a:t>R</a:t>
            </a:r>
            <a:r>
              <a:rPr lang="en-US" dirty="0"/>
              <a:t> equals 7.164 percent; I R </a:t>
            </a:r>
            <a:r>
              <a:rPr lang="en-US" dirty="0" err="1"/>
              <a:t>R</a:t>
            </a:r>
            <a:r>
              <a:rPr lang="en-US" dirty="0"/>
              <a:t> equals 33.673 percent. </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846374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Long Description:</a:t>
            </a:r>
          </a:p>
          <a:p>
            <a:r>
              <a:rPr lang="en-US" dirty="0"/>
              <a:t>The x-axis shows the discount rate ranging from 0 to 50 in increments of 10 and the y-axis shows the value of N P V in thousand dollars ranging from 0 to 300 in increments of 50. The graph is a curve that starts at (0, 250) and ends at (50, 250). The lowest point of the curve is at (18, 154).</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6034229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002842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3918852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Long Description:</a:t>
            </a:r>
          </a:p>
          <a:p>
            <a:r>
              <a:rPr lang="en-US" dirty="0"/>
              <a:t>The x-axis shows the discount rate ranging from 8 to 36.3 varied intervals and the y-axis shows the value of N P V in million dollars ranging from 0 to 15 in increments of 5.</a:t>
            </a:r>
          </a:p>
          <a:p>
            <a:r>
              <a:rPr lang="en-US" dirty="0"/>
              <a:t>The plot for minor overhaul is a descending curve that starts from (8, 15) and ends at (36, minus 5). It shows positive value of N P V for discount rates less than 23.4 percent and negative value for discount rates greater than 23.4 percent. The plot for major overhaul is a descending curve that starts from (8, 5.5) and ends at around (44, minus 0.05). It shows positive value of N P V for discount rates less than 36.3 percent and negative value for discount rates greater than 36.3 percent. The point where the two plots cross (crossover point) shows an incremental IRR value of 20 percent. The cost of capital is shown as 12 percent. For plots A and C, the IRR value is 20 percent.</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870095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buNone/>
              <a:defRPr sz="3000"/>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101600" indent="0">
              <a:buNone/>
              <a:defRPr sz="2200"/>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‹N°›</a:t>
            </a:fld>
            <a:endParaRPr lang="en-US" sz="900" dirty="0"/>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2_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buNone/>
              <a:defRPr sz="3000"/>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101600" indent="0">
              <a:buNone/>
              <a:defRPr sz="2200"/>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‹N°›</a:t>
            </a:fld>
            <a:endParaRPr lang="en-US" sz="900" dirty="0"/>
          </a:p>
        </p:txBody>
      </p:sp>
      <p:sp>
        <p:nvSpPr>
          <p:cNvPr id="2" name="Shape 14">
            <a:extLst>
              <a:ext uri="{FF2B5EF4-FFF2-40B4-BE49-F238E27FC236}">
                <a16:creationId xmlns:a16="http://schemas.microsoft.com/office/drawing/2014/main" id="{E714B342-B984-6217-58A5-4511DF080863}"/>
              </a:ext>
            </a:extLst>
          </p:cNvPr>
          <p:cNvSpPr txBox="1">
            <a:spLocks/>
          </p:cNvSpPr>
          <p:nvPr userDrawn="1"/>
        </p:nvSpPr>
        <p:spPr>
          <a:xfrm>
            <a:off x="8086382" y="6433851"/>
            <a:ext cx="876310" cy="222697"/>
          </a:xfrm>
          <a:prstGeom prst="rect">
            <a:avLst/>
          </a:prstGeom>
          <a:noFill/>
          <a:ln>
            <a:noFill/>
          </a:ln>
        </p:spPr>
        <p:txBody>
          <a:bodyPr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None/>
              <a:defRPr sz="2000" b="0" i="0" u="none" strike="noStrike" cap="none">
                <a:solidFill>
                  <a:schemeClr val="tx1"/>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algn="r">
              <a:buSzPct val="25000"/>
              <a:defRPr/>
            </a:pPr>
            <a:fld id="{00000000-1234-1234-1234-123412341234}" type="slidenum">
              <a:rPr lang="en-US" smtClean="0"/>
              <a:pPr algn="r">
                <a:buSzPct val="25000"/>
                <a:defRPr/>
              </a:pPr>
              <a:t>‹N°›</a:t>
            </a:fld>
            <a:endParaRPr lang="en-US" dirty="0"/>
          </a:p>
        </p:txBody>
      </p:sp>
    </p:spTree>
    <p:extLst>
      <p:ext uri="{BB962C8B-B14F-4D97-AF65-F5344CB8AC3E}">
        <p14:creationId xmlns:p14="http://schemas.microsoft.com/office/powerpoint/2010/main" val="1944343939"/>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‹N°›</a:t>
            </a:fld>
            <a:endParaRPr kumimoji="0" lang="en-US" sz="900" b="0" i="0" u="none" strike="noStrike" kern="0" cap="none" spc="0" normalizeH="0" baseline="0" noProof="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421594099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32583-235A-F751-E1A0-22340F52DA5B}"/>
              </a:ext>
            </a:extLst>
          </p:cNvPr>
          <p:cNvSpPr>
            <a:spLocks noGrp="1"/>
          </p:cNvSpPr>
          <p:nvPr>
            <p:ph type="title"/>
          </p:nvPr>
        </p:nvSpPr>
        <p:spPr>
          <a:xfrm>
            <a:off x="457200" y="391922"/>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DE946B8D-69D3-F67C-54D4-69E12CEBEFAB}"/>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7CFF72C7-E3FC-EE33-8DFC-71709F451346}"/>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‹N°›</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980EA191-22D4-E86D-9E1B-E682EC5FFB87}"/>
              </a:ext>
            </a:extLst>
          </p:cNvPr>
          <p:cNvSpPr>
            <a:spLocks noGrp="1"/>
          </p:cNvSpPr>
          <p:nvPr>
            <p:ph sz="quarter" idx="12"/>
          </p:nvPr>
        </p:nvSpPr>
        <p:spPr>
          <a:xfrm>
            <a:off x="457200" y="1128713"/>
            <a:ext cx="4114800" cy="374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02FF8749-5E2C-C5EC-07A2-82A184A69105}"/>
              </a:ext>
            </a:extLst>
          </p:cNvPr>
          <p:cNvSpPr>
            <a:spLocks noGrp="1"/>
          </p:cNvSpPr>
          <p:nvPr>
            <p:ph sz="quarter" idx="13"/>
          </p:nvPr>
        </p:nvSpPr>
        <p:spPr>
          <a:xfrm>
            <a:off x="457200" y="1608165"/>
            <a:ext cx="4114800" cy="374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5F39784D-F00D-2F87-FE7C-5D6A7003EA61}"/>
              </a:ext>
            </a:extLst>
          </p:cNvPr>
          <p:cNvSpPr>
            <a:spLocks noGrp="1"/>
          </p:cNvSpPr>
          <p:nvPr>
            <p:ph sz="quarter" idx="14"/>
          </p:nvPr>
        </p:nvSpPr>
        <p:spPr>
          <a:xfrm>
            <a:off x="457200" y="2105187"/>
            <a:ext cx="4114800" cy="374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37FD5A9B-F30A-F9FE-F0FB-551D875EA878}"/>
              </a:ext>
            </a:extLst>
          </p:cNvPr>
          <p:cNvSpPr>
            <a:spLocks noGrp="1"/>
          </p:cNvSpPr>
          <p:nvPr>
            <p:ph sz="quarter" idx="15"/>
          </p:nvPr>
        </p:nvSpPr>
        <p:spPr>
          <a:xfrm>
            <a:off x="457200" y="2593367"/>
            <a:ext cx="4114800" cy="374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3D570F16-0FB9-8033-D49A-B21D5EAAE3A6}"/>
              </a:ext>
            </a:extLst>
          </p:cNvPr>
          <p:cNvSpPr>
            <a:spLocks noGrp="1"/>
          </p:cNvSpPr>
          <p:nvPr>
            <p:ph sz="quarter" idx="16"/>
          </p:nvPr>
        </p:nvSpPr>
        <p:spPr>
          <a:xfrm>
            <a:off x="457200" y="3089403"/>
            <a:ext cx="4114800" cy="3630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92100C21-4082-CFE4-CF31-313ECAF0FAEC}"/>
              </a:ext>
            </a:extLst>
          </p:cNvPr>
          <p:cNvSpPr>
            <a:spLocks noGrp="1"/>
          </p:cNvSpPr>
          <p:nvPr>
            <p:ph sz="quarter" idx="17"/>
          </p:nvPr>
        </p:nvSpPr>
        <p:spPr>
          <a:xfrm>
            <a:off x="457200" y="3547825"/>
            <a:ext cx="4114800" cy="3635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C08D2A52-88A7-C982-5611-B9B749149E07}"/>
              </a:ext>
            </a:extLst>
          </p:cNvPr>
          <p:cNvSpPr>
            <a:spLocks noGrp="1"/>
          </p:cNvSpPr>
          <p:nvPr>
            <p:ph sz="quarter" idx="18"/>
          </p:nvPr>
        </p:nvSpPr>
        <p:spPr>
          <a:xfrm>
            <a:off x="457200" y="4025424"/>
            <a:ext cx="4114800" cy="3635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47BB806B-DC10-6241-CF76-B7F73B1DA0D0}"/>
              </a:ext>
            </a:extLst>
          </p:cNvPr>
          <p:cNvSpPr>
            <a:spLocks noGrp="1"/>
          </p:cNvSpPr>
          <p:nvPr>
            <p:ph sz="quarter" idx="19"/>
          </p:nvPr>
        </p:nvSpPr>
        <p:spPr>
          <a:xfrm>
            <a:off x="457200" y="4512284"/>
            <a:ext cx="4114800" cy="3635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4D975668-C112-6258-3ABF-18621F9F14E0}"/>
              </a:ext>
            </a:extLst>
          </p:cNvPr>
          <p:cNvSpPr>
            <a:spLocks noGrp="1"/>
          </p:cNvSpPr>
          <p:nvPr>
            <p:ph sz="quarter" idx="20"/>
          </p:nvPr>
        </p:nvSpPr>
        <p:spPr>
          <a:xfrm>
            <a:off x="457200" y="4999038"/>
            <a:ext cx="4114800" cy="3635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id="{76E060E6-6ED1-8915-956E-0F517E970AFE}"/>
              </a:ext>
            </a:extLst>
          </p:cNvPr>
          <p:cNvSpPr>
            <a:spLocks noGrp="1"/>
          </p:cNvSpPr>
          <p:nvPr>
            <p:ph sz="quarter" idx="21"/>
          </p:nvPr>
        </p:nvSpPr>
        <p:spPr>
          <a:xfrm>
            <a:off x="457200" y="5486400"/>
            <a:ext cx="4114800" cy="3635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25">
            <a:extLst>
              <a:ext uri="{FF2B5EF4-FFF2-40B4-BE49-F238E27FC236}">
                <a16:creationId xmlns:a16="http://schemas.microsoft.com/office/drawing/2014/main" id="{709CE1C0-2756-5A79-79FA-820DAF2BBE0F}"/>
              </a:ext>
            </a:extLst>
          </p:cNvPr>
          <p:cNvSpPr>
            <a:spLocks noGrp="1"/>
          </p:cNvSpPr>
          <p:nvPr>
            <p:ph sz="quarter" idx="22"/>
          </p:nvPr>
        </p:nvSpPr>
        <p:spPr>
          <a:xfrm>
            <a:off x="457200" y="5965217"/>
            <a:ext cx="4114800" cy="3635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Content Placeholder 27">
            <a:extLst>
              <a:ext uri="{FF2B5EF4-FFF2-40B4-BE49-F238E27FC236}">
                <a16:creationId xmlns:a16="http://schemas.microsoft.com/office/drawing/2014/main" id="{759F8E62-A50E-4D96-F629-9CCE09A34988}"/>
              </a:ext>
            </a:extLst>
          </p:cNvPr>
          <p:cNvSpPr>
            <a:spLocks noGrp="1"/>
          </p:cNvSpPr>
          <p:nvPr>
            <p:ph sz="quarter" idx="23"/>
          </p:nvPr>
        </p:nvSpPr>
        <p:spPr>
          <a:xfrm>
            <a:off x="4854575" y="1128713"/>
            <a:ext cx="3832225" cy="374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Content Placeholder 29">
            <a:extLst>
              <a:ext uri="{FF2B5EF4-FFF2-40B4-BE49-F238E27FC236}">
                <a16:creationId xmlns:a16="http://schemas.microsoft.com/office/drawing/2014/main" id="{5C755B44-BFDE-4900-5131-8BF154C7F7BE}"/>
              </a:ext>
            </a:extLst>
          </p:cNvPr>
          <p:cNvSpPr>
            <a:spLocks noGrp="1"/>
          </p:cNvSpPr>
          <p:nvPr>
            <p:ph sz="quarter" idx="24"/>
          </p:nvPr>
        </p:nvSpPr>
        <p:spPr>
          <a:xfrm>
            <a:off x="4854575" y="1633796"/>
            <a:ext cx="3832225" cy="3646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Content Placeholder 31">
            <a:extLst>
              <a:ext uri="{FF2B5EF4-FFF2-40B4-BE49-F238E27FC236}">
                <a16:creationId xmlns:a16="http://schemas.microsoft.com/office/drawing/2014/main" id="{9156BDEE-5497-09AD-373B-6A3C917DB056}"/>
              </a:ext>
            </a:extLst>
          </p:cNvPr>
          <p:cNvSpPr>
            <a:spLocks noGrp="1"/>
          </p:cNvSpPr>
          <p:nvPr>
            <p:ph sz="quarter" idx="25"/>
          </p:nvPr>
        </p:nvSpPr>
        <p:spPr>
          <a:xfrm>
            <a:off x="4854575" y="2123983"/>
            <a:ext cx="3832225" cy="3672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Content Placeholder 33">
            <a:extLst>
              <a:ext uri="{FF2B5EF4-FFF2-40B4-BE49-F238E27FC236}">
                <a16:creationId xmlns:a16="http://schemas.microsoft.com/office/drawing/2014/main" id="{BC2F1532-2F8D-53B2-AE5A-DDDCC36EA7DB}"/>
              </a:ext>
            </a:extLst>
          </p:cNvPr>
          <p:cNvSpPr>
            <a:spLocks noGrp="1"/>
          </p:cNvSpPr>
          <p:nvPr>
            <p:ph sz="quarter" idx="26"/>
          </p:nvPr>
        </p:nvSpPr>
        <p:spPr>
          <a:xfrm>
            <a:off x="4854575" y="2616200"/>
            <a:ext cx="3832225" cy="3524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Content Placeholder 35">
            <a:extLst>
              <a:ext uri="{FF2B5EF4-FFF2-40B4-BE49-F238E27FC236}">
                <a16:creationId xmlns:a16="http://schemas.microsoft.com/office/drawing/2014/main" id="{0D0E76CD-FF1E-8052-73C4-F70E6A89FCD8}"/>
              </a:ext>
            </a:extLst>
          </p:cNvPr>
          <p:cNvSpPr>
            <a:spLocks noGrp="1"/>
          </p:cNvSpPr>
          <p:nvPr>
            <p:ph sz="quarter" idx="27"/>
          </p:nvPr>
        </p:nvSpPr>
        <p:spPr>
          <a:xfrm>
            <a:off x="4854575" y="3089275"/>
            <a:ext cx="3832225" cy="3635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8" name="Content Placeholder 37">
            <a:extLst>
              <a:ext uri="{FF2B5EF4-FFF2-40B4-BE49-F238E27FC236}">
                <a16:creationId xmlns:a16="http://schemas.microsoft.com/office/drawing/2014/main" id="{2A96D52B-34E2-ED71-EE09-2815EB18F646}"/>
              </a:ext>
            </a:extLst>
          </p:cNvPr>
          <p:cNvSpPr>
            <a:spLocks noGrp="1"/>
          </p:cNvSpPr>
          <p:nvPr>
            <p:ph sz="quarter" idx="28"/>
          </p:nvPr>
        </p:nvSpPr>
        <p:spPr>
          <a:xfrm>
            <a:off x="4854575" y="3571772"/>
            <a:ext cx="3832225" cy="3415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0" name="Content Placeholder 39">
            <a:extLst>
              <a:ext uri="{FF2B5EF4-FFF2-40B4-BE49-F238E27FC236}">
                <a16:creationId xmlns:a16="http://schemas.microsoft.com/office/drawing/2014/main" id="{4DF2A458-95C6-C2F5-E379-F2225D575D78}"/>
              </a:ext>
            </a:extLst>
          </p:cNvPr>
          <p:cNvSpPr>
            <a:spLocks noGrp="1"/>
          </p:cNvSpPr>
          <p:nvPr>
            <p:ph sz="quarter" idx="29"/>
          </p:nvPr>
        </p:nvSpPr>
        <p:spPr>
          <a:xfrm>
            <a:off x="4854575" y="4032250"/>
            <a:ext cx="3832225" cy="3635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2" name="Content Placeholder 41">
            <a:extLst>
              <a:ext uri="{FF2B5EF4-FFF2-40B4-BE49-F238E27FC236}">
                <a16:creationId xmlns:a16="http://schemas.microsoft.com/office/drawing/2014/main" id="{2BF9EE99-5E98-407D-122B-1CA821074B1B}"/>
              </a:ext>
            </a:extLst>
          </p:cNvPr>
          <p:cNvSpPr>
            <a:spLocks noGrp="1"/>
          </p:cNvSpPr>
          <p:nvPr>
            <p:ph sz="quarter" idx="30"/>
          </p:nvPr>
        </p:nvSpPr>
        <p:spPr>
          <a:xfrm>
            <a:off x="4854575" y="4511675"/>
            <a:ext cx="3832225" cy="3635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4" name="Content Placeholder 43">
            <a:extLst>
              <a:ext uri="{FF2B5EF4-FFF2-40B4-BE49-F238E27FC236}">
                <a16:creationId xmlns:a16="http://schemas.microsoft.com/office/drawing/2014/main" id="{9D6C01BF-865C-825E-C404-4554AE6B3AFF}"/>
              </a:ext>
            </a:extLst>
          </p:cNvPr>
          <p:cNvSpPr>
            <a:spLocks noGrp="1"/>
          </p:cNvSpPr>
          <p:nvPr>
            <p:ph sz="quarter" idx="31"/>
          </p:nvPr>
        </p:nvSpPr>
        <p:spPr>
          <a:xfrm>
            <a:off x="4854575" y="4999038"/>
            <a:ext cx="3832225" cy="3635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6" name="Content Placeholder 45">
            <a:extLst>
              <a:ext uri="{FF2B5EF4-FFF2-40B4-BE49-F238E27FC236}">
                <a16:creationId xmlns:a16="http://schemas.microsoft.com/office/drawing/2014/main" id="{E536DCFE-59E2-9F57-8BF8-BFE27FB40934}"/>
              </a:ext>
            </a:extLst>
          </p:cNvPr>
          <p:cNvSpPr>
            <a:spLocks noGrp="1"/>
          </p:cNvSpPr>
          <p:nvPr>
            <p:ph sz="quarter" idx="32"/>
          </p:nvPr>
        </p:nvSpPr>
        <p:spPr>
          <a:xfrm>
            <a:off x="4854575" y="5486400"/>
            <a:ext cx="3832225" cy="3635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8" name="Content Placeholder 47">
            <a:extLst>
              <a:ext uri="{FF2B5EF4-FFF2-40B4-BE49-F238E27FC236}">
                <a16:creationId xmlns:a16="http://schemas.microsoft.com/office/drawing/2014/main" id="{30C27756-687A-98CB-7277-9F68F90686E3}"/>
              </a:ext>
            </a:extLst>
          </p:cNvPr>
          <p:cNvSpPr>
            <a:spLocks noGrp="1"/>
          </p:cNvSpPr>
          <p:nvPr>
            <p:ph sz="quarter" idx="33"/>
          </p:nvPr>
        </p:nvSpPr>
        <p:spPr>
          <a:xfrm>
            <a:off x="4854575" y="5973763"/>
            <a:ext cx="3832225" cy="3635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504942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57200" y="1556327"/>
            <a:ext cx="3635375" cy="4520623"/>
          </a:xfrm>
        </p:spPr>
        <p:txBody>
          <a:bodyPr/>
          <a:lstStyle/>
          <a:p>
            <a:pPr lvl="0"/>
            <a:r>
              <a:rPr lang="en-US" dirty="0"/>
              <a:t>Edit Master text styles</a:t>
            </a: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234542" y="1556327"/>
            <a:ext cx="4452257" cy="2267528"/>
          </a:xfrm>
        </p:spPr>
        <p:txBody>
          <a:bodyPr/>
          <a:lstStyle/>
          <a:p>
            <a:pPr lvl="0"/>
            <a:r>
              <a:rPr lang="en-US" dirty="0"/>
              <a:t>Edit Master text styles</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3971925"/>
            <a:ext cx="4452258" cy="2105025"/>
          </a:xfrm>
        </p:spPr>
        <p:txBody>
          <a:bodyPr/>
          <a:lstStyle/>
          <a:p>
            <a:pPr lvl="0"/>
            <a:r>
              <a:rPr lang="en-US" dirty="0"/>
              <a:t>Edit Master text styles</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‹N°›</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399197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694830" y="1552575"/>
            <a:ext cx="3991970"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‹N°›</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57201" y="1552575"/>
            <a:ext cx="2595603" cy="4438650"/>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3274199" y="1552575"/>
            <a:ext cx="2595602" cy="4438650"/>
          </a:xfrm>
        </p:spPr>
        <p:txBody>
          <a:bodyPr/>
          <a:lstStyle>
            <a:lvl1pPr>
              <a:defRPr/>
            </a:lvl1p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6091197" y="1552575"/>
            <a:ext cx="2595603"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‹N°›</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188595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2572593" y="1552575"/>
            <a:ext cx="1885950" cy="4438650"/>
          </a:xfrm>
        </p:spPr>
        <p:txBody>
          <a:body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4687986" y="1552575"/>
            <a:ext cx="1885950" cy="4438650"/>
          </a:xfrm>
        </p:spPr>
        <p:txBody>
          <a:bodyPr/>
          <a:lstStyle/>
          <a:p>
            <a:pPr lvl="0"/>
            <a:r>
              <a:rPr lang="en-US" dirty="0"/>
              <a:t>Click to add text</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hasCustomPrompt="1"/>
          </p:nvPr>
        </p:nvSpPr>
        <p:spPr>
          <a:xfrm>
            <a:off x="6803378" y="1552575"/>
            <a:ext cx="1885950" cy="4438650"/>
          </a:xfrm>
        </p:spPr>
        <p:txBody>
          <a:bodyPr/>
          <a:lstStyle/>
          <a:p>
            <a:pPr marL="256032" marR="0" lvl="0" indent="-154432" algn="l" defTabSz="914400" rtl="0" eaLnBrk="1" fontAlgn="auto" latinLnBrk="0" hangingPunct="1">
              <a:lnSpc>
                <a:spcPct val="100000"/>
              </a:lnSpc>
              <a:spcBef>
                <a:spcPts val="1500"/>
              </a:spcBef>
              <a:spcAft>
                <a:spcPts val="0"/>
              </a:spcAft>
              <a:buClr>
                <a:srgbClr val="007FA3"/>
              </a:buClr>
              <a:buSzPct val="100000"/>
              <a:buFont typeface="Arial"/>
              <a:buChar char="•"/>
              <a:tabLst/>
              <a:defRPr/>
            </a:pPr>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‹N°›</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32583-235A-F751-E1A0-22340F52DA5B}"/>
              </a:ext>
            </a:extLst>
          </p:cNvPr>
          <p:cNvSpPr>
            <a:spLocks noGrp="1"/>
          </p:cNvSpPr>
          <p:nvPr>
            <p:ph type="title"/>
          </p:nvPr>
        </p:nvSpPr>
        <p:spPr>
          <a:xfrm>
            <a:off x="457200" y="391922"/>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DE946B8D-69D3-F67C-54D4-69E12CEBEFAB}"/>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7CFF72C7-E3FC-EE33-8DFC-71709F451346}"/>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‹N°›</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980EA191-22D4-E86D-9E1B-E682EC5FFB87}"/>
              </a:ext>
            </a:extLst>
          </p:cNvPr>
          <p:cNvSpPr>
            <a:spLocks noGrp="1"/>
          </p:cNvSpPr>
          <p:nvPr>
            <p:ph sz="quarter" idx="12"/>
          </p:nvPr>
        </p:nvSpPr>
        <p:spPr>
          <a:xfrm>
            <a:off x="457200" y="1128713"/>
            <a:ext cx="4114800" cy="374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02FF8749-5E2C-C5EC-07A2-82A184A69105}"/>
              </a:ext>
            </a:extLst>
          </p:cNvPr>
          <p:cNvSpPr>
            <a:spLocks noGrp="1"/>
          </p:cNvSpPr>
          <p:nvPr>
            <p:ph sz="quarter" idx="13"/>
          </p:nvPr>
        </p:nvSpPr>
        <p:spPr>
          <a:xfrm>
            <a:off x="457200" y="1608165"/>
            <a:ext cx="4114800" cy="374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5F39784D-F00D-2F87-FE7C-5D6A7003EA61}"/>
              </a:ext>
            </a:extLst>
          </p:cNvPr>
          <p:cNvSpPr>
            <a:spLocks noGrp="1"/>
          </p:cNvSpPr>
          <p:nvPr>
            <p:ph sz="quarter" idx="14"/>
          </p:nvPr>
        </p:nvSpPr>
        <p:spPr>
          <a:xfrm>
            <a:off x="457200" y="2105187"/>
            <a:ext cx="4114800" cy="374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37FD5A9B-F30A-F9FE-F0FB-551D875EA878}"/>
              </a:ext>
            </a:extLst>
          </p:cNvPr>
          <p:cNvSpPr>
            <a:spLocks noGrp="1"/>
          </p:cNvSpPr>
          <p:nvPr>
            <p:ph sz="quarter" idx="15"/>
          </p:nvPr>
        </p:nvSpPr>
        <p:spPr>
          <a:xfrm>
            <a:off x="457200" y="2593367"/>
            <a:ext cx="4114800" cy="374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3D570F16-0FB9-8033-D49A-B21D5EAAE3A6}"/>
              </a:ext>
            </a:extLst>
          </p:cNvPr>
          <p:cNvSpPr>
            <a:spLocks noGrp="1"/>
          </p:cNvSpPr>
          <p:nvPr>
            <p:ph sz="quarter" idx="16"/>
          </p:nvPr>
        </p:nvSpPr>
        <p:spPr>
          <a:xfrm>
            <a:off x="457200" y="3089403"/>
            <a:ext cx="4114800" cy="3630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92100C21-4082-CFE4-CF31-313ECAF0FAEC}"/>
              </a:ext>
            </a:extLst>
          </p:cNvPr>
          <p:cNvSpPr>
            <a:spLocks noGrp="1"/>
          </p:cNvSpPr>
          <p:nvPr>
            <p:ph sz="quarter" idx="17"/>
          </p:nvPr>
        </p:nvSpPr>
        <p:spPr>
          <a:xfrm>
            <a:off x="457200" y="3547825"/>
            <a:ext cx="4114800" cy="3635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C08D2A52-88A7-C982-5611-B9B749149E07}"/>
              </a:ext>
            </a:extLst>
          </p:cNvPr>
          <p:cNvSpPr>
            <a:spLocks noGrp="1"/>
          </p:cNvSpPr>
          <p:nvPr>
            <p:ph sz="quarter" idx="18"/>
          </p:nvPr>
        </p:nvSpPr>
        <p:spPr>
          <a:xfrm>
            <a:off x="457200" y="4025424"/>
            <a:ext cx="4114800" cy="3635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47BB806B-DC10-6241-CF76-B7F73B1DA0D0}"/>
              </a:ext>
            </a:extLst>
          </p:cNvPr>
          <p:cNvSpPr>
            <a:spLocks noGrp="1"/>
          </p:cNvSpPr>
          <p:nvPr>
            <p:ph sz="quarter" idx="19"/>
          </p:nvPr>
        </p:nvSpPr>
        <p:spPr>
          <a:xfrm>
            <a:off x="457200" y="4512284"/>
            <a:ext cx="4114800" cy="3635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4D975668-C112-6258-3ABF-18621F9F14E0}"/>
              </a:ext>
            </a:extLst>
          </p:cNvPr>
          <p:cNvSpPr>
            <a:spLocks noGrp="1"/>
          </p:cNvSpPr>
          <p:nvPr>
            <p:ph sz="quarter" idx="20"/>
          </p:nvPr>
        </p:nvSpPr>
        <p:spPr>
          <a:xfrm>
            <a:off x="457200" y="4999038"/>
            <a:ext cx="4114800" cy="3635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id="{76E060E6-6ED1-8915-956E-0F517E970AFE}"/>
              </a:ext>
            </a:extLst>
          </p:cNvPr>
          <p:cNvSpPr>
            <a:spLocks noGrp="1"/>
          </p:cNvSpPr>
          <p:nvPr>
            <p:ph sz="quarter" idx="21"/>
          </p:nvPr>
        </p:nvSpPr>
        <p:spPr>
          <a:xfrm>
            <a:off x="457200" y="5486400"/>
            <a:ext cx="4114800" cy="3635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25">
            <a:extLst>
              <a:ext uri="{FF2B5EF4-FFF2-40B4-BE49-F238E27FC236}">
                <a16:creationId xmlns:a16="http://schemas.microsoft.com/office/drawing/2014/main" id="{709CE1C0-2756-5A79-79FA-820DAF2BBE0F}"/>
              </a:ext>
            </a:extLst>
          </p:cNvPr>
          <p:cNvSpPr>
            <a:spLocks noGrp="1"/>
          </p:cNvSpPr>
          <p:nvPr>
            <p:ph sz="quarter" idx="22"/>
          </p:nvPr>
        </p:nvSpPr>
        <p:spPr>
          <a:xfrm>
            <a:off x="457200" y="5965217"/>
            <a:ext cx="4114800" cy="3635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Content Placeholder 27">
            <a:extLst>
              <a:ext uri="{FF2B5EF4-FFF2-40B4-BE49-F238E27FC236}">
                <a16:creationId xmlns:a16="http://schemas.microsoft.com/office/drawing/2014/main" id="{759F8E62-A50E-4D96-F629-9CCE09A34988}"/>
              </a:ext>
            </a:extLst>
          </p:cNvPr>
          <p:cNvSpPr>
            <a:spLocks noGrp="1"/>
          </p:cNvSpPr>
          <p:nvPr>
            <p:ph sz="quarter" idx="23"/>
          </p:nvPr>
        </p:nvSpPr>
        <p:spPr>
          <a:xfrm>
            <a:off x="4854575" y="1128713"/>
            <a:ext cx="3832225" cy="374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Content Placeholder 29">
            <a:extLst>
              <a:ext uri="{FF2B5EF4-FFF2-40B4-BE49-F238E27FC236}">
                <a16:creationId xmlns:a16="http://schemas.microsoft.com/office/drawing/2014/main" id="{5C755B44-BFDE-4900-5131-8BF154C7F7BE}"/>
              </a:ext>
            </a:extLst>
          </p:cNvPr>
          <p:cNvSpPr>
            <a:spLocks noGrp="1"/>
          </p:cNvSpPr>
          <p:nvPr>
            <p:ph sz="quarter" idx="24"/>
          </p:nvPr>
        </p:nvSpPr>
        <p:spPr>
          <a:xfrm>
            <a:off x="4854575" y="1633796"/>
            <a:ext cx="3832225" cy="3646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Content Placeholder 31">
            <a:extLst>
              <a:ext uri="{FF2B5EF4-FFF2-40B4-BE49-F238E27FC236}">
                <a16:creationId xmlns:a16="http://schemas.microsoft.com/office/drawing/2014/main" id="{9156BDEE-5497-09AD-373B-6A3C917DB056}"/>
              </a:ext>
            </a:extLst>
          </p:cNvPr>
          <p:cNvSpPr>
            <a:spLocks noGrp="1"/>
          </p:cNvSpPr>
          <p:nvPr>
            <p:ph sz="quarter" idx="25"/>
          </p:nvPr>
        </p:nvSpPr>
        <p:spPr>
          <a:xfrm>
            <a:off x="4854575" y="2123983"/>
            <a:ext cx="3832225" cy="3672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Content Placeholder 33">
            <a:extLst>
              <a:ext uri="{FF2B5EF4-FFF2-40B4-BE49-F238E27FC236}">
                <a16:creationId xmlns:a16="http://schemas.microsoft.com/office/drawing/2014/main" id="{BC2F1532-2F8D-53B2-AE5A-DDDCC36EA7DB}"/>
              </a:ext>
            </a:extLst>
          </p:cNvPr>
          <p:cNvSpPr>
            <a:spLocks noGrp="1"/>
          </p:cNvSpPr>
          <p:nvPr>
            <p:ph sz="quarter" idx="26"/>
          </p:nvPr>
        </p:nvSpPr>
        <p:spPr>
          <a:xfrm>
            <a:off x="4854575" y="2616200"/>
            <a:ext cx="3832225" cy="3524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Content Placeholder 35">
            <a:extLst>
              <a:ext uri="{FF2B5EF4-FFF2-40B4-BE49-F238E27FC236}">
                <a16:creationId xmlns:a16="http://schemas.microsoft.com/office/drawing/2014/main" id="{0D0E76CD-FF1E-8052-73C4-F70E6A89FCD8}"/>
              </a:ext>
            </a:extLst>
          </p:cNvPr>
          <p:cNvSpPr>
            <a:spLocks noGrp="1"/>
          </p:cNvSpPr>
          <p:nvPr>
            <p:ph sz="quarter" idx="27"/>
          </p:nvPr>
        </p:nvSpPr>
        <p:spPr>
          <a:xfrm>
            <a:off x="4854575" y="3089275"/>
            <a:ext cx="3832225" cy="3635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8" name="Content Placeholder 37">
            <a:extLst>
              <a:ext uri="{FF2B5EF4-FFF2-40B4-BE49-F238E27FC236}">
                <a16:creationId xmlns:a16="http://schemas.microsoft.com/office/drawing/2014/main" id="{2A96D52B-34E2-ED71-EE09-2815EB18F646}"/>
              </a:ext>
            </a:extLst>
          </p:cNvPr>
          <p:cNvSpPr>
            <a:spLocks noGrp="1"/>
          </p:cNvSpPr>
          <p:nvPr>
            <p:ph sz="quarter" idx="28"/>
          </p:nvPr>
        </p:nvSpPr>
        <p:spPr>
          <a:xfrm>
            <a:off x="4854575" y="3571772"/>
            <a:ext cx="3832225" cy="3415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0" name="Content Placeholder 39">
            <a:extLst>
              <a:ext uri="{FF2B5EF4-FFF2-40B4-BE49-F238E27FC236}">
                <a16:creationId xmlns:a16="http://schemas.microsoft.com/office/drawing/2014/main" id="{4DF2A458-95C6-C2F5-E379-F2225D575D78}"/>
              </a:ext>
            </a:extLst>
          </p:cNvPr>
          <p:cNvSpPr>
            <a:spLocks noGrp="1"/>
          </p:cNvSpPr>
          <p:nvPr>
            <p:ph sz="quarter" idx="29"/>
          </p:nvPr>
        </p:nvSpPr>
        <p:spPr>
          <a:xfrm>
            <a:off x="4854575" y="4032250"/>
            <a:ext cx="3832225" cy="3635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2" name="Content Placeholder 41">
            <a:extLst>
              <a:ext uri="{FF2B5EF4-FFF2-40B4-BE49-F238E27FC236}">
                <a16:creationId xmlns:a16="http://schemas.microsoft.com/office/drawing/2014/main" id="{2BF9EE99-5E98-407D-122B-1CA821074B1B}"/>
              </a:ext>
            </a:extLst>
          </p:cNvPr>
          <p:cNvSpPr>
            <a:spLocks noGrp="1"/>
          </p:cNvSpPr>
          <p:nvPr>
            <p:ph sz="quarter" idx="30"/>
          </p:nvPr>
        </p:nvSpPr>
        <p:spPr>
          <a:xfrm>
            <a:off x="4854575" y="4511675"/>
            <a:ext cx="3832225" cy="3635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4" name="Content Placeholder 43">
            <a:extLst>
              <a:ext uri="{FF2B5EF4-FFF2-40B4-BE49-F238E27FC236}">
                <a16:creationId xmlns:a16="http://schemas.microsoft.com/office/drawing/2014/main" id="{9D6C01BF-865C-825E-C404-4554AE6B3AFF}"/>
              </a:ext>
            </a:extLst>
          </p:cNvPr>
          <p:cNvSpPr>
            <a:spLocks noGrp="1"/>
          </p:cNvSpPr>
          <p:nvPr>
            <p:ph sz="quarter" idx="31"/>
          </p:nvPr>
        </p:nvSpPr>
        <p:spPr>
          <a:xfrm>
            <a:off x="4854575" y="4999038"/>
            <a:ext cx="3832225" cy="3635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6" name="Content Placeholder 45">
            <a:extLst>
              <a:ext uri="{FF2B5EF4-FFF2-40B4-BE49-F238E27FC236}">
                <a16:creationId xmlns:a16="http://schemas.microsoft.com/office/drawing/2014/main" id="{E536DCFE-59E2-9F57-8BF8-BFE27FB40934}"/>
              </a:ext>
            </a:extLst>
          </p:cNvPr>
          <p:cNvSpPr>
            <a:spLocks noGrp="1"/>
          </p:cNvSpPr>
          <p:nvPr>
            <p:ph sz="quarter" idx="32"/>
          </p:nvPr>
        </p:nvSpPr>
        <p:spPr>
          <a:xfrm>
            <a:off x="4854575" y="5486400"/>
            <a:ext cx="3832225" cy="3635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8" name="Content Placeholder 47">
            <a:extLst>
              <a:ext uri="{FF2B5EF4-FFF2-40B4-BE49-F238E27FC236}">
                <a16:creationId xmlns:a16="http://schemas.microsoft.com/office/drawing/2014/main" id="{30C27756-687A-98CB-7277-9F68F90686E3}"/>
              </a:ext>
            </a:extLst>
          </p:cNvPr>
          <p:cNvSpPr>
            <a:spLocks noGrp="1"/>
          </p:cNvSpPr>
          <p:nvPr>
            <p:ph sz="quarter" idx="33"/>
          </p:nvPr>
        </p:nvSpPr>
        <p:spPr>
          <a:xfrm>
            <a:off x="4854575" y="5973763"/>
            <a:ext cx="3832225" cy="3635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956461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28600"/>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12888"/>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050971"/>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‹N°›</a:t>
            </a:fld>
            <a:endParaRPr lang="en-US" sz="9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481138"/>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hasCustomPrompt="1"/>
          </p:nvPr>
        </p:nvSpPr>
        <p:spPr>
          <a:xfrm>
            <a:off x="5048250" y="1481138"/>
            <a:ext cx="3638550" cy="3754437"/>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343525"/>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‹N°›</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‹N°›</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‹N°›</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‹N°›</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theme" Target="../theme/theme2.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‹N°›</a:t>
            </a:fld>
            <a:endParaRPr lang="en-US" sz="900" dirty="0"/>
          </a:p>
        </p:txBody>
      </p:sp>
      <p:sp>
        <p:nvSpPr>
          <p:cNvPr id="2" name="Shape 14">
            <a:extLst>
              <a:ext uri="{FF2B5EF4-FFF2-40B4-BE49-F238E27FC236}">
                <a16:creationId xmlns:a16="http://schemas.microsoft.com/office/drawing/2014/main" id="{F18CC2EB-F58B-820E-1567-95FC2EA4E297}"/>
              </a:ext>
            </a:extLst>
          </p:cNvPr>
          <p:cNvSpPr txBox="1">
            <a:spLocks/>
          </p:cNvSpPr>
          <p:nvPr userDrawn="1"/>
        </p:nvSpPr>
        <p:spPr>
          <a:xfrm>
            <a:off x="8086382" y="6433851"/>
            <a:ext cx="876310" cy="222697"/>
          </a:xfrm>
          <a:prstGeom prst="rect">
            <a:avLst/>
          </a:prstGeom>
          <a:noFill/>
          <a:ln>
            <a:noFill/>
          </a:ln>
        </p:spPr>
        <p:txBody>
          <a:bodyPr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None/>
              <a:defRPr sz="2000" b="0" i="0" u="none" strike="noStrike" cap="none">
                <a:solidFill>
                  <a:schemeClr val="tx1"/>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algn="r">
              <a:buSzPct val="25000"/>
              <a:defRPr/>
            </a:pPr>
            <a:fld id="{00000000-1234-1234-1234-123412341234}" type="slidenum">
              <a:rPr lang="en-US" smtClean="0"/>
              <a:pPr algn="r">
                <a:buSzPct val="25000"/>
                <a:defRPr/>
              </a:pPr>
              <a:t>‹N°›</a:t>
            </a:fld>
            <a:endParaRPr lang="en-US"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 id="2147483682"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‹N°›</a:t>
            </a:fld>
            <a:endParaRPr lang="en-US" sz="900" b="0" i="0" u="none" strike="noStrike" cap="none">
              <a:solidFill>
                <a:schemeClr val="lt1"/>
              </a:solidFill>
              <a:latin typeface="Arial"/>
              <a:ea typeface="Arial"/>
              <a:cs typeface="Arial"/>
              <a:sym typeface="Arial"/>
            </a:endParaRPr>
          </a:p>
        </p:txBody>
      </p:sp>
      <p:sp>
        <p:nvSpPr>
          <p:cNvPr id="2" name="Shape 14">
            <a:extLst>
              <a:ext uri="{FF2B5EF4-FFF2-40B4-BE49-F238E27FC236}">
                <a16:creationId xmlns:a16="http://schemas.microsoft.com/office/drawing/2014/main" id="{4D4444EA-9F42-50D1-15D7-1C68E4A72B5C}"/>
              </a:ext>
            </a:extLst>
          </p:cNvPr>
          <p:cNvSpPr txBox="1">
            <a:spLocks/>
          </p:cNvSpPr>
          <p:nvPr userDrawn="1"/>
        </p:nvSpPr>
        <p:spPr>
          <a:xfrm>
            <a:off x="8086382" y="6433851"/>
            <a:ext cx="876310" cy="222697"/>
          </a:xfrm>
          <a:prstGeom prst="rect">
            <a:avLst/>
          </a:prstGeom>
          <a:noFill/>
          <a:ln>
            <a:noFill/>
          </a:ln>
        </p:spPr>
        <p:txBody>
          <a:bodyPr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None/>
              <a:defRPr sz="2000" b="0" i="0" u="none" strike="noStrike" cap="none">
                <a:solidFill>
                  <a:schemeClr val="tx1"/>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algn="r">
              <a:buSzPct val="25000"/>
              <a:defRPr/>
            </a:pPr>
            <a:fld id="{00000000-1234-1234-1234-123412341234}" type="slidenum">
              <a:rPr lang="en-US" smtClean="0"/>
              <a:pPr algn="r">
                <a:buSzPct val="25000"/>
                <a:defRPr/>
              </a:pPr>
              <a:t>‹N°›</a:t>
            </a:fld>
            <a:endParaRPr lang="en-US" dirty="0"/>
          </a:p>
        </p:txBody>
      </p:sp>
    </p:spTree>
  </p:cSld>
  <p:clrMap bg1="lt1" tx1="dk1" bg2="dk2" tx2="lt2" accent1="accent1" accent2="accent2" accent3="accent3" accent4="accent4" accent5="accent5" accent6="accent6" hlink="hlink" folHlink="folHlink"/>
  <p:sldLayoutIdLst>
    <p:sldLayoutId id="2147483664" r:id="rId1"/>
    <p:sldLayoutId id="2147483681" r:id="rId2"/>
    <p:sldLayoutId id="2147483676" r:id="rId3"/>
    <p:sldLayoutId id="2147483677" r:id="rId4"/>
    <p:sldLayoutId id="2147483678" r:id="rId5"/>
    <p:sldLayoutId id="2147483679" r:id="rId6"/>
    <p:sldLayoutId id="2147483680" r:id="rId7"/>
    <p:sldLayoutId id="2147483671" r:id="rId8"/>
    <p:sldLayoutId id="2147483673" r:id="rId9"/>
    <p:sldLayoutId id="2147483670" r:id="rId10"/>
    <p:sldLayoutId id="2147483669" r:id="rId11"/>
    <p:sldLayoutId id="2147483655"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hyperlink" Target="mailto:Sebastien.Dereeper@skema.edu"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1.bin"/><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oleObject" Target="../embeddings/oleObject2.bin"/><Relationship Id="rId1" Type="http://schemas.openxmlformats.org/officeDocument/2006/relationships/slideLayout" Target="../slideLayouts/slideLayout9.xml"/><Relationship Id="rId5" Type="http://schemas.openxmlformats.org/officeDocument/2006/relationships/image" Target="../media/image5.wmf"/><Relationship Id="rId4" Type="http://schemas.openxmlformats.org/officeDocument/2006/relationships/oleObject" Target="../embeddings/oleObject3.bin"/></Relationships>
</file>

<file path=ppt/slides/_rels/slide14.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4.bin"/><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6.xml"/><Relationship Id="rId1" Type="http://schemas.openxmlformats.org/officeDocument/2006/relationships/slideLayout" Target="../slideLayouts/slideLayout9.xml"/><Relationship Id="rId5" Type="http://schemas.openxmlformats.org/officeDocument/2006/relationships/image" Target="../media/image9.wmf"/><Relationship Id="rId4" Type="http://schemas.openxmlformats.org/officeDocument/2006/relationships/oleObject" Target="../embeddings/oleObject5.bin"/></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oleObject" Target="../embeddings/oleObject6.bin"/><Relationship Id="rId1" Type="http://schemas.openxmlformats.org/officeDocument/2006/relationships/slideLayout" Target="../slideLayouts/slideLayout9.xml"/><Relationship Id="rId5" Type="http://schemas.openxmlformats.org/officeDocument/2006/relationships/image" Target="../media/image13.wmf"/><Relationship Id="rId4" Type="http://schemas.openxmlformats.org/officeDocument/2006/relationships/oleObject" Target="../embeddings/oleObject7.bin"/></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oleObject" Target="../embeddings/oleObject8.bin"/><Relationship Id="rId1" Type="http://schemas.openxmlformats.org/officeDocument/2006/relationships/slideLayout" Target="../slideLayouts/slideLayout9.xml"/><Relationship Id="rId5" Type="http://schemas.openxmlformats.org/officeDocument/2006/relationships/image" Target="../media/image15.wmf"/><Relationship Id="rId4" Type="http://schemas.openxmlformats.org/officeDocument/2006/relationships/oleObject" Target="../embeddings/oleObject9.bin"/></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13.bin"/><Relationship Id="rId3" Type="http://schemas.openxmlformats.org/officeDocument/2006/relationships/image" Target="../media/image16.wmf"/><Relationship Id="rId7" Type="http://schemas.openxmlformats.org/officeDocument/2006/relationships/image" Target="../media/image18.wmf"/><Relationship Id="rId2" Type="http://schemas.openxmlformats.org/officeDocument/2006/relationships/oleObject" Target="../embeddings/oleObject10.bin"/><Relationship Id="rId1" Type="http://schemas.openxmlformats.org/officeDocument/2006/relationships/slideLayout" Target="../slideLayouts/slideLayout9.xml"/><Relationship Id="rId6" Type="http://schemas.openxmlformats.org/officeDocument/2006/relationships/oleObject" Target="../embeddings/oleObject12.bin"/><Relationship Id="rId5" Type="http://schemas.openxmlformats.org/officeDocument/2006/relationships/image" Target="../media/image17.wmf"/><Relationship Id="rId4" Type="http://schemas.openxmlformats.org/officeDocument/2006/relationships/oleObject" Target="../embeddings/oleObject11.bin"/><Relationship Id="rId9" Type="http://schemas.openxmlformats.org/officeDocument/2006/relationships/image" Target="../media/image19.wm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notesSlide" Target="../notesSlides/notesSlide9.xml"/><Relationship Id="rId1" Type="http://schemas.openxmlformats.org/officeDocument/2006/relationships/slideLayout" Target="../slideLayouts/slideLayout9.xml"/><Relationship Id="rId4" Type="http://schemas.openxmlformats.org/officeDocument/2006/relationships/image" Target="../media/image20.wm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oleObject" Target="../embeddings/oleObject15.bin"/><Relationship Id="rId1" Type="http://schemas.openxmlformats.org/officeDocument/2006/relationships/slideLayout" Target="../slideLayouts/slideLayout9.xml"/><Relationship Id="rId5" Type="http://schemas.openxmlformats.org/officeDocument/2006/relationships/image" Target="../media/image22.wmf"/><Relationship Id="rId4" Type="http://schemas.openxmlformats.org/officeDocument/2006/relationships/oleObject" Target="../embeddings/oleObject16.bin"/></Relationships>
</file>

<file path=ppt/slides/_rels/slide37.xml.rels><?xml version="1.0" encoding="UTF-8" standalone="yes"?>
<Relationships xmlns="http://schemas.openxmlformats.org/package/2006/relationships"><Relationship Id="rId8" Type="http://schemas.openxmlformats.org/officeDocument/2006/relationships/image" Target="../media/image25.wmf"/><Relationship Id="rId3" Type="http://schemas.openxmlformats.org/officeDocument/2006/relationships/oleObject" Target="../embeddings/oleObject17.bin"/><Relationship Id="rId7" Type="http://schemas.openxmlformats.org/officeDocument/2006/relationships/oleObject" Target="../embeddings/oleObject19.bin"/><Relationship Id="rId2" Type="http://schemas.openxmlformats.org/officeDocument/2006/relationships/notesSlide" Target="../notesSlides/notesSlide10.xml"/><Relationship Id="rId1" Type="http://schemas.openxmlformats.org/officeDocument/2006/relationships/slideLayout" Target="../slideLayouts/slideLayout9.xml"/><Relationship Id="rId6" Type="http://schemas.openxmlformats.org/officeDocument/2006/relationships/image" Target="../media/image24.wmf"/><Relationship Id="rId5" Type="http://schemas.openxmlformats.org/officeDocument/2006/relationships/oleObject" Target="../embeddings/oleObject18.bin"/><Relationship Id="rId10" Type="http://schemas.openxmlformats.org/officeDocument/2006/relationships/image" Target="../media/image26.wmf"/><Relationship Id="rId4" Type="http://schemas.openxmlformats.org/officeDocument/2006/relationships/image" Target="../media/image23.wmf"/><Relationship Id="rId9" Type="http://schemas.openxmlformats.org/officeDocument/2006/relationships/oleObject" Target="../embeddings/oleObject20.bin"/></Relationships>
</file>

<file path=ppt/slides/_rels/slide38.xml.rels><?xml version="1.0" encoding="UTF-8" standalone="yes"?>
<Relationships xmlns="http://schemas.openxmlformats.org/package/2006/relationships"><Relationship Id="rId8" Type="http://schemas.openxmlformats.org/officeDocument/2006/relationships/oleObject" Target="../embeddings/oleObject23.bin"/><Relationship Id="rId3" Type="http://schemas.openxmlformats.org/officeDocument/2006/relationships/image" Target="../media/image22.wmf"/><Relationship Id="rId7" Type="http://schemas.openxmlformats.org/officeDocument/2006/relationships/image" Target="../media/image28.wmf"/><Relationship Id="rId2" Type="http://schemas.openxmlformats.org/officeDocument/2006/relationships/oleObject" Target="../embeddings/oleObject16.bin"/><Relationship Id="rId1" Type="http://schemas.openxmlformats.org/officeDocument/2006/relationships/slideLayout" Target="../slideLayouts/slideLayout9.xml"/><Relationship Id="rId6" Type="http://schemas.openxmlformats.org/officeDocument/2006/relationships/oleObject" Target="../embeddings/oleObject22.bin"/><Relationship Id="rId5" Type="http://schemas.openxmlformats.org/officeDocument/2006/relationships/image" Target="../media/image27.wmf"/><Relationship Id="rId4" Type="http://schemas.openxmlformats.org/officeDocument/2006/relationships/oleObject" Target="../embeddings/oleObject21.bin"/><Relationship Id="rId9" Type="http://schemas.openxmlformats.org/officeDocument/2006/relationships/image" Target="../media/image29.wmf"/></Relationships>
</file>

<file path=ppt/slides/_rels/slide39.xml.rels><?xml version="1.0" encoding="UTF-8" standalone="yes"?>
<Relationships xmlns="http://schemas.openxmlformats.org/package/2006/relationships"><Relationship Id="rId3" Type="http://schemas.openxmlformats.org/officeDocument/2006/relationships/image" Target="../media/image30.wmf"/><Relationship Id="rId7" Type="http://schemas.openxmlformats.org/officeDocument/2006/relationships/image" Target="../media/image32.wmf"/><Relationship Id="rId2" Type="http://schemas.openxmlformats.org/officeDocument/2006/relationships/oleObject" Target="../embeddings/oleObject24.bin"/><Relationship Id="rId1" Type="http://schemas.openxmlformats.org/officeDocument/2006/relationships/slideLayout" Target="../slideLayouts/slideLayout9.xml"/><Relationship Id="rId6" Type="http://schemas.openxmlformats.org/officeDocument/2006/relationships/oleObject" Target="../embeddings/oleObject26.bin"/><Relationship Id="rId5" Type="http://schemas.openxmlformats.org/officeDocument/2006/relationships/image" Target="../media/image31.wmf"/><Relationship Id="rId4" Type="http://schemas.openxmlformats.org/officeDocument/2006/relationships/oleObject" Target="../embeddings/oleObject25.bin"/></Relationships>
</file>

<file path=ppt/slides/_rels/slide40.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3" Type="http://schemas.openxmlformats.org/officeDocument/2006/relationships/image" Target="../media/image34.wmf"/><Relationship Id="rId7" Type="http://schemas.openxmlformats.org/officeDocument/2006/relationships/image" Target="../media/image36.wmf"/><Relationship Id="rId2" Type="http://schemas.openxmlformats.org/officeDocument/2006/relationships/oleObject" Target="../embeddings/oleObject27.bin"/><Relationship Id="rId1" Type="http://schemas.openxmlformats.org/officeDocument/2006/relationships/slideLayout" Target="../slideLayouts/slideLayout9.xml"/><Relationship Id="rId6" Type="http://schemas.openxmlformats.org/officeDocument/2006/relationships/oleObject" Target="../embeddings/oleObject29.bin"/><Relationship Id="rId5" Type="http://schemas.openxmlformats.org/officeDocument/2006/relationships/image" Target="../media/image35.wmf"/><Relationship Id="rId4" Type="http://schemas.openxmlformats.org/officeDocument/2006/relationships/oleObject" Target="../embeddings/oleObject28.bin"/></Relationships>
</file>

<file path=ppt/slides/_rels/slide43.xml.rels><?xml version="1.0" encoding="UTF-8" standalone="yes"?>
<Relationships xmlns="http://schemas.openxmlformats.org/package/2006/relationships"><Relationship Id="rId8" Type="http://schemas.openxmlformats.org/officeDocument/2006/relationships/oleObject" Target="../embeddings/oleObject33.bin"/><Relationship Id="rId3" Type="http://schemas.openxmlformats.org/officeDocument/2006/relationships/image" Target="../media/image37.wmf"/><Relationship Id="rId7" Type="http://schemas.openxmlformats.org/officeDocument/2006/relationships/image" Target="../media/image39.wmf"/><Relationship Id="rId2" Type="http://schemas.openxmlformats.org/officeDocument/2006/relationships/oleObject" Target="../embeddings/oleObject30.bin"/><Relationship Id="rId1" Type="http://schemas.openxmlformats.org/officeDocument/2006/relationships/slideLayout" Target="../slideLayouts/slideLayout9.xml"/><Relationship Id="rId6" Type="http://schemas.openxmlformats.org/officeDocument/2006/relationships/oleObject" Target="../embeddings/oleObject32.bin"/><Relationship Id="rId5" Type="http://schemas.openxmlformats.org/officeDocument/2006/relationships/image" Target="../media/image38.wmf"/><Relationship Id="rId4" Type="http://schemas.openxmlformats.org/officeDocument/2006/relationships/oleObject" Target="../embeddings/oleObject31.bin"/><Relationship Id="rId9" Type="http://schemas.openxmlformats.org/officeDocument/2006/relationships/image" Target="../media/image40.wmf"/></Relationships>
</file>

<file path=ppt/slides/_rels/slide44.x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oleObject" Target="../embeddings/oleObject34.bin"/><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8" Type="http://schemas.openxmlformats.org/officeDocument/2006/relationships/oleObject" Target="../embeddings/oleObject38.bin"/><Relationship Id="rId13" Type="http://schemas.openxmlformats.org/officeDocument/2006/relationships/image" Target="../media/image47.wmf"/><Relationship Id="rId3" Type="http://schemas.openxmlformats.org/officeDocument/2006/relationships/image" Target="../media/image42.wmf"/><Relationship Id="rId7" Type="http://schemas.openxmlformats.org/officeDocument/2006/relationships/image" Target="../media/image44.wmf"/><Relationship Id="rId12" Type="http://schemas.openxmlformats.org/officeDocument/2006/relationships/oleObject" Target="../embeddings/oleObject40.bin"/><Relationship Id="rId17" Type="http://schemas.openxmlformats.org/officeDocument/2006/relationships/image" Target="../media/image49.wmf"/><Relationship Id="rId2" Type="http://schemas.openxmlformats.org/officeDocument/2006/relationships/oleObject" Target="../embeddings/oleObject35.bin"/><Relationship Id="rId16" Type="http://schemas.openxmlformats.org/officeDocument/2006/relationships/oleObject" Target="../embeddings/oleObject42.bin"/><Relationship Id="rId1" Type="http://schemas.openxmlformats.org/officeDocument/2006/relationships/slideLayout" Target="../slideLayouts/slideLayout9.xml"/><Relationship Id="rId6" Type="http://schemas.openxmlformats.org/officeDocument/2006/relationships/oleObject" Target="../embeddings/oleObject37.bin"/><Relationship Id="rId11" Type="http://schemas.openxmlformats.org/officeDocument/2006/relationships/image" Target="../media/image46.wmf"/><Relationship Id="rId5" Type="http://schemas.openxmlformats.org/officeDocument/2006/relationships/image" Target="../media/image43.wmf"/><Relationship Id="rId15" Type="http://schemas.openxmlformats.org/officeDocument/2006/relationships/image" Target="../media/image48.wmf"/><Relationship Id="rId10" Type="http://schemas.openxmlformats.org/officeDocument/2006/relationships/oleObject" Target="../embeddings/oleObject39.bin"/><Relationship Id="rId4" Type="http://schemas.openxmlformats.org/officeDocument/2006/relationships/oleObject" Target="../embeddings/oleObject36.bin"/><Relationship Id="rId9" Type="http://schemas.openxmlformats.org/officeDocument/2006/relationships/image" Target="../media/image45.wmf"/><Relationship Id="rId14" Type="http://schemas.openxmlformats.org/officeDocument/2006/relationships/oleObject" Target="../embeddings/oleObject41.bin"/></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3" Type="http://schemas.openxmlformats.org/officeDocument/2006/relationships/image" Target="../media/image50.wmf"/><Relationship Id="rId2" Type="http://schemas.openxmlformats.org/officeDocument/2006/relationships/oleObject" Target="../embeddings/oleObject43.bin"/><Relationship Id="rId1" Type="http://schemas.openxmlformats.org/officeDocument/2006/relationships/slideLayout" Target="../slideLayouts/slideLayout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Lst>
          </p:cNvPr>
          <p:cNvSpPr>
            <a:spLocks noGrp="1"/>
          </p:cNvSpPr>
          <p:nvPr>
            <p:ph type="title"/>
          </p:nvPr>
        </p:nvSpPr>
        <p:spPr>
          <a:xfrm>
            <a:off x="448593" y="386495"/>
            <a:ext cx="8263966" cy="528794"/>
          </a:xfrm>
        </p:spPr>
        <p:txBody>
          <a:bodyPr wrap="square" lIns="0" tIns="18000" rIns="0" bIns="18000" anchor="ctr">
            <a:spAutoFit/>
          </a:bodyPr>
          <a:lstStyle/>
          <a:p>
            <a:r>
              <a:rPr lang="en-US" sz="3200" dirty="0"/>
              <a:t>Capital Budgeting</a:t>
            </a:r>
          </a:p>
        </p:txBody>
      </p:sp>
      <p:sp>
        <p:nvSpPr>
          <p:cNvPr id="3" name="Content Placeholder 2">
            <a:extLst>
              <a:ext uri="{FF2B5EF4-FFF2-40B4-BE49-F238E27FC236}">
                <a16:creationId xmlns:a16="http://schemas.microsoft.com/office/drawing/2014/main" id="{ABE18F80-D4FC-4D8F-B2BD-E7BEE7E012B5}"/>
              </a:ext>
            </a:extLst>
          </p:cNvPr>
          <p:cNvSpPr>
            <a:spLocks noGrp="1"/>
          </p:cNvSpPr>
          <p:nvPr>
            <p:ph type="body" idx="1"/>
          </p:nvPr>
        </p:nvSpPr>
        <p:spPr>
          <a:xfrm>
            <a:off x="448952" y="1742355"/>
            <a:ext cx="8263607" cy="4991554"/>
          </a:xfrm>
        </p:spPr>
        <p:txBody>
          <a:bodyPr wrap="square" lIns="0" tIns="18000" rIns="0" bIns="18000" anchor="ctr">
            <a:spAutoFit/>
          </a:bodyPr>
          <a:lstStyle/>
          <a:p>
            <a:pPr>
              <a:spcAft>
                <a:spcPts val="300"/>
              </a:spcAft>
            </a:pPr>
            <a:r>
              <a:rPr lang="en-US" sz="2800" dirty="0" err="1">
                <a:solidFill>
                  <a:schemeClr val="tx1"/>
                </a:solidFill>
              </a:rPr>
              <a:t>Msc</a:t>
            </a:r>
            <a:r>
              <a:rPr lang="en-US" sz="2800" dirty="0">
                <a:solidFill>
                  <a:schemeClr val="tx1"/>
                </a:solidFill>
              </a:rPr>
              <a:t> Corporate Financial Management</a:t>
            </a:r>
          </a:p>
          <a:p>
            <a:pPr>
              <a:spcAft>
                <a:spcPts val="300"/>
              </a:spcAft>
            </a:pPr>
            <a:r>
              <a:rPr lang="en-US" sz="2800" dirty="0">
                <a:solidFill>
                  <a:schemeClr val="tx1"/>
                </a:solidFill>
              </a:rPr>
              <a:t>Lille Campus - 18 hours</a:t>
            </a:r>
          </a:p>
          <a:p>
            <a:pPr>
              <a:spcAft>
                <a:spcPts val="300"/>
              </a:spcAft>
            </a:pPr>
            <a:r>
              <a:rPr lang="en-US" sz="2800" dirty="0">
                <a:solidFill>
                  <a:schemeClr val="tx1"/>
                </a:solidFill>
              </a:rPr>
              <a:t>Skema Business School </a:t>
            </a:r>
          </a:p>
          <a:p>
            <a:pPr>
              <a:spcAft>
                <a:spcPts val="300"/>
              </a:spcAft>
            </a:pPr>
            <a:endParaRPr lang="fr-FR" dirty="0">
              <a:solidFill>
                <a:schemeClr val="tx1"/>
              </a:solidFill>
            </a:endParaRPr>
          </a:p>
          <a:p>
            <a:pPr>
              <a:spcAft>
                <a:spcPts val="300"/>
              </a:spcAft>
            </a:pPr>
            <a:r>
              <a:rPr lang="fr-FR" sz="2400" dirty="0" err="1">
                <a:solidFill>
                  <a:schemeClr val="tx1"/>
                </a:solidFill>
              </a:rPr>
              <a:t>Step</a:t>
            </a:r>
            <a:r>
              <a:rPr lang="fr-FR" sz="2400" dirty="0">
                <a:solidFill>
                  <a:schemeClr val="tx1"/>
                </a:solidFill>
              </a:rPr>
              <a:t> 2 : </a:t>
            </a:r>
            <a:r>
              <a:rPr lang="fr-FR" sz="2400" dirty="0" err="1">
                <a:solidFill>
                  <a:schemeClr val="tx1"/>
                </a:solidFill>
              </a:rPr>
              <a:t>Remind</a:t>
            </a:r>
            <a:r>
              <a:rPr lang="fr-FR" sz="2400" dirty="0">
                <a:solidFill>
                  <a:schemeClr val="tx1"/>
                </a:solidFill>
              </a:rPr>
              <a:t> Value </a:t>
            </a:r>
            <a:r>
              <a:rPr lang="fr-FR" sz="2400" dirty="0" err="1">
                <a:solidFill>
                  <a:schemeClr val="tx1"/>
                </a:solidFill>
              </a:rPr>
              <a:t>Creation</a:t>
            </a:r>
            <a:r>
              <a:rPr lang="fr-FR" sz="2400" dirty="0">
                <a:solidFill>
                  <a:schemeClr val="tx1"/>
                </a:solidFill>
              </a:rPr>
              <a:t> Investment </a:t>
            </a:r>
            <a:r>
              <a:rPr lang="fr-FR" sz="2400" dirty="0" err="1">
                <a:solidFill>
                  <a:schemeClr val="tx1"/>
                </a:solidFill>
              </a:rPr>
              <a:t>Decision</a:t>
            </a:r>
            <a:r>
              <a:rPr lang="fr-FR" sz="2400" dirty="0">
                <a:solidFill>
                  <a:schemeClr val="tx1"/>
                </a:solidFill>
              </a:rPr>
              <a:t> Rules</a:t>
            </a:r>
          </a:p>
          <a:p>
            <a:pPr>
              <a:spcAft>
                <a:spcPts val="300"/>
              </a:spcAft>
            </a:pPr>
            <a:r>
              <a:rPr lang="fr-FR" sz="2400" dirty="0">
                <a:solidFill>
                  <a:schemeClr val="tx1"/>
                </a:solidFill>
              </a:rPr>
              <a:t>Investment </a:t>
            </a:r>
            <a:r>
              <a:rPr lang="fr-FR" sz="2400" dirty="0" err="1">
                <a:solidFill>
                  <a:schemeClr val="tx1"/>
                </a:solidFill>
              </a:rPr>
              <a:t>Decision</a:t>
            </a:r>
            <a:r>
              <a:rPr lang="fr-FR" sz="2400" dirty="0">
                <a:solidFill>
                  <a:schemeClr val="tx1"/>
                </a:solidFill>
              </a:rPr>
              <a:t> Rules</a:t>
            </a:r>
          </a:p>
          <a:p>
            <a:pPr>
              <a:spcAft>
                <a:spcPts val="300"/>
              </a:spcAft>
            </a:pPr>
            <a:endParaRPr lang="en-US" dirty="0">
              <a:solidFill>
                <a:schemeClr val="tx1"/>
              </a:solidFill>
            </a:endParaRPr>
          </a:p>
          <a:p>
            <a:pPr>
              <a:spcAft>
                <a:spcPts val="300"/>
              </a:spcAft>
            </a:pPr>
            <a:r>
              <a:rPr lang="en-US" dirty="0">
                <a:solidFill>
                  <a:schemeClr val="tx1"/>
                </a:solidFill>
              </a:rPr>
              <a:t>Pr. Sébastien DEREEPER</a:t>
            </a:r>
          </a:p>
          <a:p>
            <a:pPr>
              <a:spcAft>
                <a:spcPts val="300"/>
              </a:spcAft>
            </a:pPr>
            <a:r>
              <a:rPr lang="en-US" dirty="0">
                <a:hlinkClick r:id="rId3">
                  <a:extLst>
                    <a:ext uri="{A12FA001-AC4F-418D-AE19-62706E023703}">
                      <ahyp:hlinkClr xmlns:ahyp="http://schemas.microsoft.com/office/drawing/2018/hyperlinkcolor" val="tx"/>
                    </a:ext>
                  </a:extLst>
                </a:hlinkClick>
              </a:rPr>
              <a:t>Sebastien.Dereeper@skema.edu</a:t>
            </a:r>
            <a:endParaRPr lang="fr-FR" dirty="0"/>
          </a:p>
          <a:p>
            <a:pPr>
              <a:spcAft>
                <a:spcPts val="300"/>
              </a:spcAft>
            </a:pPr>
            <a:endParaRPr lang="fr-FR" dirty="0">
              <a:solidFill>
                <a:schemeClr val="tx2">
                  <a:lumMod val="60000"/>
                  <a:lumOff val="40000"/>
                </a:schemeClr>
              </a:solidFill>
            </a:endParaRPr>
          </a:p>
          <a:p>
            <a:pPr>
              <a:spcAft>
                <a:spcPts val="300"/>
              </a:spcAft>
            </a:pPr>
            <a:r>
              <a:rPr lang="fr-FR" dirty="0">
                <a:solidFill>
                  <a:schemeClr val="tx1"/>
                </a:solidFill>
              </a:rPr>
              <a:t>Course Based on : </a:t>
            </a:r>
          </a:p>
          <a:p>
            <a:pPr>
              <a:spcAft>
                <a:spcPts val="300"/>
              </a:spcAft>
            </a:pPr>
            <a:r>
              <a:rPr lang="fr-FR" dirty="0">
                <a:solidFill>
                  <a:schemeClr val="tx1"/>
                </a:solidFill>
              </a:rPr>
              <a:t>J. Berk &amp; P. De Marzo - </a:t>
            </a:r>
            <a:r>
              <a:rPr lang="fr-FR" dirty="0" err="1">
                <a:solidFill>
                  <a:schemeClr val="tx1"/>
                </a:solidFill>
              </a:rPr>
              <a:t>Corporate</a:t>
            </a:r>
            <a:r>
              <a:rPr lang="fr-FR" dirty="0">
                <a:solidFill>
                  <a:schemeClr val="tx1"/>
                </a:solidFill>
              </a:rPr>
              <a:t> Finance - Pearson, 2024</a:t>
            </a:r>
          </a:p>
          <a:p>
            <a:pPr>
              <a:spcAft>
                <a:spcPts val="300"/>
              </a:spcAft>
            </a:pPr>
            <a:endParaRPr lang="en-US" dirty="0">
              <a:solidFill>
                <a:schemeClr val="tx1"/>
              </a:solidFill>
            </a:endParaRPr>
          </a:p>
        </p:txBody>
      </p:sp>
      <p:pic>
        <p:nvPicPr>
          <p:cNvPr id="14" name="Image 13">
            <a:extLst>
              <a:ext uri="{FF2B5EF4-FFF2-40B4-BE49-F238E27FC236}">
                <a16:creationId xmlns:a16="http://schemas.microsoft.com/office/drawing/2014/main" id="{4F20EAC4-619E-132A-A2CB-EE292EB4745E}"/>
              </a:ext>
            </a:extLst>
          </p:cNvPr>
          <p:cNvPicPr>
            <a:picLocks noChangeAspect="1"/>
          </p:cNvPicPr>
          <p:nvPr/>
        </p:nvPicPr>
        <p:blipFill>
          <a:blip r:embed="rId4"/>
          <a:stretch>
            <a:fillRect/>
          </a:stretch>
        </p:blipFill>
        <p:spPr>
          <a:xfrm>
            <a:off x="6543453" y="180830"/>
            <a:ext cx="1815265" cy="1213736"/>
          </a:xfrm>
          <a:prstGeom prst="rect">
            <a:avLst/>
          </a:prstGeom>
        </p:spPr>
      </p:pic>
    </p:spTree>
    <p:extLst>
      <p:ext uri="{BB962C8B-B14F-4D97-AF65-F5344CB8AC3E}">
        <p14:creationId xmlns:p14="http://schemas.microsoft.com/office/powerpoint/2010/main" val="27497290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21371"/>
            <a:ext cx="8266346" cy="590349"/>
          </a:xfrm>
        </p:spPr>
        <p:txBody>
          <a:bodyPr/>
          <a:lstStyle/>
          <a:p>
            <a:r>
              <a:rPr lang="en-US" noProof="0" dirty="0"/>
              <a:t>Outline</a:t>
            </a:r>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37228" y="1421010"/>
            <a:ext cx="8266346" cy="2652452"/>
          </a:xfrm>
        </p:spPr>
        <p:txBody>
          <a:bodyPr wrap="square" lIns="0" tIns="18000" rIns="0" bIns="18000" anchor="ctr">
            <a:spAutoFit/>
          </a:bodyPr>
          <a:lstStyle/>
          <a:p>
            <a:pPr marL="640080" indent="-640080">
              <a:buNone/>
            </a:pPr>
            <a:r>
              <a:rPr lang="en-US" altLang="en-US" sz="2400" b="1" noProof="0" dirty="0">
                <a:solidFill>
                  <a:srgbClr val="007FA3"/>
                </a:solidFill>
              </a:rPr>
              <a:t>1</a:t>
            </a:r>
            <a:r>
              <a:rPr lang="en-US" altLang="en-US" sz="2400" b="1" noProof="0" dirty="0"/>
              <a:t> </a:t>
            </a:r>
            <a:r>
              <a:rPr lang="en-US" altLang="en-US" sz="2400" spc="-300" dirty="0"/>
              <a:t>N P </a:t>
            </a:r>
            <a:r>
              <a:rPr lang="en-US" altLang="en-US" sz="2400" dirty="0"/>
              <a:t>V and Stand-Alone Projects</a:t>
            </a:r>
          </a:p>
          <a:p>
            <a:pPr marL="640080" indent="-640080">
              <a:buNone/>
            </a:pPr>
            <a:r>
              <a:rPr lang="en-US" altLang="en-US" sz="2400" b="1" noProof="0" dirty="0">
                <a:solidFill>
                  <a:srgbClr val="007FA3"/>
                </a:solidFill>
              </a:rPr>
              <a:t>2</a:t>
            </a:r>
            <a:r>
              <a:rPr lang="en-US" altLang="en-US" sz="2400" b="1" noProof="0" dirty="0"/>
              <a:t> </a:t>
            </a:r>
            <a:r>
              <a:rPr lang="en-US" altLang="en-US" sz="2400" dirty="0"/>
              <a:t>The Internal Rate of Return Rule</a:t>
            </a:r>
            <a:endParaRPr lang="en-US" altLang="en-US" sz="2400" b="1" noProof="0" dirty="0"/>
          </a:p>
          <a:p>
            <a:pPr marL="640080" indent="-640080">
              <a:buNone/>
            </a:pPr>
            <a:r>
              <a:rPr lang="en-US" altLang="en-US" sz="2400" b="1" noProof="0" dirty="0">
                <a:solidFill>
                  <a:srgbClr val="007FA3"/>
                </a:solidFill>
              </a:rPr>
              <a:t>3</a:t>
            </a:r>
            <a:r>
              <a:rPr lang="en-US" altLang="en-US" sz="2400" b="1" noProof="0" dirty="0"/>
              <a:t> </a:t>
            </a:r>
            <a:r>
              <a:rPr lang="en-US" altLang="en-US" sz="2400" dirty="0"/>
              <a:t>The Payback Rule</a:t>
            </a:r>
          </a:p>
          <a:p>
            <a:pPr marL="640080" indent="-640080">
              <a:buNone/>
            </a:pPr>
            <a:r>
              <a:rPr lang="en-US" altLang="en-US" sz="2400" b="1" noProof="0" dirty="0">
                <a:solidFill>
                  <a:srgbClr val="007FA3"/>
                </a:solidFill>
              </a:rPr>
              <a:t>4</a:t>
            </a:r>
            <a:r>
              <a:rPr lang="en-US" altLang="en-US" sz="2400" b="1" noProof="0" dirty="0"/>
              <a:t> </a:t>
            </a:r>
            <a:r>
              <a:rPr lang="en-US" altLang="en-US" sz="2400" dirty="0"/>
              <a:t>Choosing between Projects</a:t>
            </a:r>
          </a:p>
          <a:p>
            <a:pPr marL="640080" indent="-640080">
              <a:buNone/>
            </a:pPr>
            <a:r>
              <a:rPr lang="en-US" altLang="en-US" sz="2400" b="1" noProof="0" dirty="0">
                <a:solidFill>
                  <a:srgbClr val="007FA3"/>
                </a:solidFill>
              </a:rPr>
              <a:t>5</a:t>
            </a:r>
            <a:r>
              <a:rPr lang="en-US" altLang="en-US" sz="2400" b="1" noProof="0" dirty="0"/>
              <a:t> </a:t>
            </a:r>
            <a:r>
              <a:rPr lang="en-US" altLang="en-US" sz="2400" dirty="0"/>
              <a:t>Project Selection with Resource Constraints</a:t>
            </a:r>
          </a:p>
        </p:txBody>
      </p:sp>
    </p:spTree>
    <p:extLst>
      <p:ext uri="{BB962C8B-B14F-4D97-AF65-F5344CB8AC3E}">
        <p14:creationId xmlns:p14="http://schemas.microsoft.com/office/powerpoint/2010/main" val="24118831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21371"/>
            <a:ext cx="8266346" cy="590349"/>
          </a:xfrm>
        </p:spPr>
        <p:txBody>
          <a:bodyPr/>
          <a:lstStyle/>
          <a:p>
            <a:r>
              <a:rPr lang="en-US" noProof="0" dirty="0"/>
              <a:t>Learning Objectives </a:t>
            </a:r>
            <a:r>
              <a:rPr lang="en-US" sz="2800" noProof="0" dirty="0"/>
              <a:t>(1 of 2)</a:t>
            </a:r>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37228" y="1124422"/>
            <a:ext cx="8266346" cy="2775563"/>
          </a:xfrm>
        </p:spPr>
        <p:txBody>
          <a:bodyPr wrap="square" lIns="0" tIns="18000" rIns="0" bIns="18000" anchor="ctr">
            <a:spAutoFit/>
          </a:bodyPr>
          <a:lstStyle/>
          <a:p>
            <a:pPr marL="342900" indent="-342900">
              <a:spcBef>
                <a:spcPts val="600"/>
              </a:spcBef>
            </a:pPr>
            <a:r>
              <a:rPr lang="en-US" altLang="en-US" sz="2400" dirty="0">
                <a:solidFill>
                  <a:schemeClr val="tx1"/>
                </a:solidFill>
              </a:rPr>
              <a:t>Define net present value, payback period, internal rate of return, profitability index, and incremental </a:t>
            </a:r>
            <a:r>
              <a:rPr lang="en-US" altLang="en-US" sz="2400" spc="-300" dirty="0">
                <a:solidFill>
                  <a:schemeClr val="tx1"/>
                </a:solidFill>
              </a:rPr>
              <a:t>I R </a:t>
            </a:r>
            <a:r>
              <a:rPr lang="en-US" altLang="en-US" sz="2400" dirty="0" err="1">
                <a:solidFill>
                  <a:schemeClr val="tx1"/>
                </a:solidFill>
              </a:rPr>
              <a:t>R</a:t>
            </a:r>
            <a:r>
              <a:rPr lang="en-US" altLang="en-US" sz="2400" dirty="0">
                <a:solidFill>
                  <a:schemeClr val="tx1"/>
                </a:solidFill>
              </a:rPr>
              <a:t>.</a:t>
            </a:r>
          </a:p>
          <a:p>
            <a:pPr marL="342900" indent="-342900">
              <a:spcBef>
                <a:spcPts val="600"/>
              </a:spcBef>
            </a:pPr>
            <a:r>
              <a:rPr lang="en-US" altLang="en-US" sz="2400" dirty="0">
                <a:solidFill>
                  <a:schemeClr val="tx1"/>
                </a:solidFill>
              </a:rPr>
              <a:t>Describe decision rules for each of the tools in objective 1, for both stand-alone and mutually exclusive projects.</a:t>
            </a:r>
          </a:p>
          <a:p>
            <a:pPr marL="342900" indent="-342900">
              <a:spcBef>
                <a:spcPts val="600"/>
              </a:spcBef>
            </a:pPr>
            <a:r>
              <a:rPr lang="en-US" altLang="en-US" sz="2400" dirty="0">
                <a:solidFill>
                  <a:schemeClr val="tx1"/>
                </a:solidFill>
              </a:rPr>
              <a:t>Given cash flows, compute the </a:t>
            </a:r>
            <a:r>
              <a:rPr lang="en-US" altLang="en-US" sz="2400" spc="-300" dirty="0">
                <a:solidFill>
                  <a:schemeClr val="tx1"/>
                </a:solidFill>
              </a:rPr>
              <a:t>N P </a:t>
            </a:r>
            <a:r>
              <a:rPr lang="en-US" altLang="en-US" sz="2400" dirty="0">
                <a:solidFill>
                  <a:schemeClr val="tx1"/>
                </a:solidFill>
              </a:rPr>
              <a:t>V, payback period, internal rate of return, and profitability index for a given project, and the incremental </a:t>
            </a:r>
            <a:r>
              <a:rPr lang="en-US" altLang="en-US" sz="2400" spc="-300" dirty="0">
                <a:solidFill>
                  <a:schemeClr val="tx1"/>
                </a:solidFill>
              </a:rPr>
              <a:t>I R </a:t>
            </a:r>
            <a:r>
              <a:rPr lang="en-US" altLang="en-US" sz="2400" dirty="0" err="1">
                <a:solidFill>
                  <a:schemeClr val="tx1"/>
                </a:solidFill>
              </a:rPr>
              <a:t>R</a:t>
            </a:r>
            <a:r>
              <a:rPr lang="en-US" altLang="en-US" sz="2400" dirty="0">
                <a:solidFill>
                  <a:schemeClr val="tx1"/>
                </a:solidFill>
              </a:rPr>
              <a:t> for a pair of projects.</a:t>
            </a:r>
          </a:p>
        </p:txBody>
      </p:sp>
    </p:spTree>
    <p:extLst>
      <p:ext uri="{BB962C8B-B14F-4D97-AF65-F5344CB8AC3E}">
        <p14:creationId xmlns:p14="http://schemas.microsoft.com/office/powerpoint/2010/main" val="11403054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21371"/>
            <a:ext cx="8266346" cy="590349"/>
          </a:xfrm>
        </p:spPr>
        <p:txBody>
          <a:bodyPr/>
          <a:lstStyle/>
          <a:p>
            <a:r>
              <a:rPr lang="en-US" noProof="0" dirty="0"/>
              <a:t>Learning Objectives </a:t>
            </a:r>
            <a:r>
              <a:rPr lang="en-US" sz="2800" noProof="0" dirty="0"/>
              <a:t>(2 of 2)</a:t>
            </a:r>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37228" y="1131449"/>
            <a:ext cx="8266346" cy="2036899"/>
          </a:xfrm>
        </p:spPr>
        <p:txBody>
          <a:bodyPr wrap="square" lIns="0" tIns="18000" rIns="0" bIns="18000" anchor="ctr">
            <a:spAutoFit/>
          </a:bodyPr>
          <a:lstStyle/>
          <a:p>
            <a:pPr marL="342900" indent="-342900">
              <a:spcBef>
                <a:spcPts val="600"/>
              </a:spcBef>
            </a:pPr>
            <a:r>
              <a:rPr lang="en-US" altLang="en-US" sz="2400" dirty="0">
                <a:solidFill>
                  <a:schemeClr val="tx1"/>
                </a:solidFill>
              </a:rPr>
              <a:t>Compare each of the capital budgeting tools above, and tell why </a:t>
            </a:r>
            <a:r>
              <a:rPr lang="en-US" altLang="en-US" sz="2400" spc="-300" dirty="0">
                <a:solidFill>
                  <a:schemeClr val="tx1"/>
                </a:solidFill>
              </a:rPr>
              <a:t>N P </a:t>
            </a:r>
            <a:r>
              <a:rPr lang="en-US" altLang="en-US" sz="2400" dirty="0">
                <a:solidFill>
                  <a:schemeClr val="tx1"/>
                </a:solidFill>
              </a:rPr>
              <a:t>V always gives the correct decision.</a:t>
            </a:r>
          </a:p>
          <a:p>
            <a:pPr marL="342900" indent="-342900">
              <a:spcBef>
                <a:spcPts val="600"/>
              </a:spcBef>
            </a:pPr>
            <a:r>
              <a:rPr lang="en-US" altLang="en-US" sz="2400" dirty="0">
                <a:solidFill>
                  <a:schemeClr val="tx1"/>
                </a:solidFill>
              </a:rPr>
              <a:t>Discuss the reasons </a:t>
            </a:r>
            <a:r>
              <a:rPr lang="en-US" altLang="en-US" sz="2400" spc="-300" dirty="0">
                <a:solidFill>
                  <a:schemeClr val="tx1"/>
                </a:solidFill>
              </a:rPr>
              <a:t>I R </a:t>
            </a:r>
            <a:r>
              <a:rPr lang="en-US" altLang="en-US" sz="2400" dirty="0" err="1">
                <a:solidFill>
                  <a:schemeClr val="tx1"/>
                </a:solidFill>
              </a:rPr>
              <a:t>R</a:t>
            </a:r>
            <a:r>
              <a:rPr lang="en-US" altLang="en-US" sz="2400" dirty="0">
                <a:solidFill>
                  <a:schemeClr val="tx1"/>
                </a:solidFill>
              </a:rPr>
              <a:t> can give a flawed decision.</a:t>
            </a:r>
          </a:p>
          <a:p>
            <a:pPr marL="342900" indent="-342900">
              <a:spcBef>
                <a:spcPts val="600"/>
              </a:spcBef>
            </a:pPr>
            <a:r>
              <a:rPr lang="en-US" altLang="en-US" sz="2400" dirty="0">
                <a:solidFill>
                  <a:schemeClr val="tx1"/>
                </a:solidFill>
              </a:rPr>
              <a:t>Describe situations in which profitability index cannot be used to make a decision.</a:t>
            </a:r>
          </a:p>
        </p:txBody>
      </p:sp>
    </p:spTree>
    <p:extLst>
      <p:ext uri="{BB962C8B-B14F-4D97-AF65-F5344CB8AC3E}">
        <p14:creationId xmlns:p14="http://schemas.microsoft.com/office/powerpoint/2010/main" val="37205129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21371"/>
            <a:ext cx="8266346" cy="590349"/>
          </a:xfrm>
        </p:spPr>
        <p:txBody>
          <a:bodyPr/>
          <a:lstStyle/>
          <a:p>
            <a:r>
              <a:rPr lang="en-US" dirty="0"/>
              <a:t>1 </a:t>
            </a:r>
            <a:r>
              <a:rPr lang="en-US" spc="-500" dirty="0"/>
              <a:t>N P </a:t>
            </a:r>
            <a:r>
              <a:rPr lang="en-US" dirty="0"/>
              <a:t>V and Stand-Alone Projects</a:t>
            </a:r>
            <a:endParaRPr lang="en-US" sz="2800" noProof="0" dirty="0"/>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37228" y="1123280"/>
            <a:ext cx="8266346" cy="2329287"/>
          </a:xfrm>
        </p:spPr>
        <p:txBody>
          <a:bodyPr wrap="square" lIns="0" tIns="18000" rIns="0" bIns="18000" anchor="ctr">
            <a:spAutoFit/>
          </a:bodyPr>
          <a:lstStyle/>
          <a:p>
            <a:pPr marL="342900" indent="-342900">
              <a:spcBef>
                <a:spcPts val="600"/>
              </a:spcBef>
            </a:pPr>
            <a:r>
              <a:rPr lang="en-US" altLang="en-US" sz="2400" dirty="0">
                <a:solidFill>
                  <a:schemeClr val="tx1"/>
                </a:solidFill>
              </a:rPr>
              <a:t>Consider a take-it-or-leave-it investment decision involving a single, stand-alone project for Fredrick’s Feed and Farm (</a:t>
            </a:r>
            <a:r>
              <a:rPr lang="en-US" altLang="en-US" sz="2400" spc="-300" dirty="0">
                <a:solidFill>
                  <a:schemeClr val="tx1"/>
                </a:solidFill>
              </a:rPr>
              <a:t>F </a:t>
            </a:r>
            <a:r>
              <a:rPr lang="en-US" altLang="en-US" sz="2400" spc="-300" dirty="0" err="1">
                <a:solidFill>
                  <a:schemeClr val="tx1"/>
                </a:solidFill>
              </a:rPr>
              <a:t>F</a:t>
            </a:r>
            <a:r>
              <a:rPr lang="en-US" altLang="en-US" sz="2400" spc="-300" dirty="0">
                <a:solidFill>
                  <a:schemeClr val="tx1"/>
                </a:solidFill>
              </a:rPr>
              <a:t> </a:t>
            </a:r>
            <a:r>
              <a:rPr lang="en-US" altLang="en-US" sz="2400" dirty="0">
                <a:solidFill>
                  <a:schemeClr val="tx1"/>
                </a:solidFill>
              </a:rPr>
              <a:t>F)</a:t>
            </a:r>
          </a:p>
          <a:p>
            <a:pPr marL="829818" lvl="1" indent="-342900"/>
            <a:r>
              <a:rPr lang="en-US" altLang="en-US" sz="2400" dirty="0">
                <a:solidFill>
                  <a:schemeClr val="tx1"/>
                </a:solidFill>
              </a:rPr>
              <a:t>The project costs $250 million and is expected to generate cash flows of $35 million per year, starting at the end of the first year and lasting forever</a:t>
            </a:r>
          </a:p>
        </p:txBody>
      </p:sp>
    </p:spTree>
    <p:extLst>
      <p:ext uri="{BB962C8B-B14F-4D97-AF65-F5344CB8AC3E}">
        <p14:creationId xmlns:p14="http://schemas.microsoft.com/office/powerpoint/2010/main" val="9926727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21371"/>
            <a:ext cx="8266346" cy="590349"/>
          </a:xfrm>
        </p:spPr>
        <p:txBody>
          <a:bodyPr/>
          <a:lstStyle/>
          <a:p>
            <a:r>
              <a:rPr lang="en-US" dirty="0"/>
              <a:t>Applying the </a:t>
            </a:r>
            <a:r>
              <a:rPr lang="en-US" spc="-500" dirty="0"/>
              <a:t>N P </a:t>
            </a:r>
            <a:r>
              <a:rPr lang="en-US" dirty="0"/>
              <a:t>V Rule</a:t>
            </a:r>
            <a:endParaRPr lang="en-US" noProof="0" dirty="0"/>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37228" y="1136174"/>
            <a:ext cx="8266346" cy="405683"/>
          </a:xfrm>
        </p:spPr>
        <p:txBody>
          <a:bodyPr wrap="square" lIns="0" tIns="18000" rIns="0" bIns="18000" anchor="ctr">
            <a:spAutoFit/>
          </a:bodyPr>
          <a:lstStyle/>
          <a:p>
            <a:pPr marL="342900" indent="-342900">
              <a:spcBef>
                <a:spcPts val="600"/>
              </a:spcBef>
            </a:pPr>
            <a:r>
              <a:rPr lang="en-US" altLang="en-US" sz="2400" dirty="0"/>
              <a:t>The </a:t>
            </a:r>
            <a:r>
              <a:rPr lang="en-US" altLang="en-US" sz="2400" spc="-300" dirty="0"/>
              <a:t>N P </a:t>
            </a:r>
            <a:r>
              <a:rPr lang="en-US" altLang="en-US" sz="2400" dirty="0"/>
              <a:t>V of the project is calculated as:</a:t>
            </a:r>
          </a:p>
        </p:txBody>
      </p:sp>
      <p:graphicFrame>
        <p:nvGraphicFramePr>
          <p:cNvPr id="6" name="Object 4" descr="N P V equals negative 250 plus 35 over r.">
            <a:extLst>
              <a:ext uri="{FF2B5EF4-FFF2-40B4-BE49-F238E27FC236}">
                <a16:creationId xmlns:a16="http://schemas.microsoft.com/office/drawing/2014/main" id="{E51A3ABB-FC5B-46FC-BD16-D8B2BB51E118}"/>
              </a:ext>
            </a:extLst>
          </p:cNvPr>
          <p:cNvGraphicFramePr>
            <a:graphicFrameLocks noChangeAspect="1"/>
          </p:cNvGraphicFramePr>
          <p:nvPr>
            <p:extLst>
              <p:ext uri="{D42A27DB-BD31-4B8C-83A1-F6EECF244321}">
                <p14:modId xmlns:p14="http://schemas.microsoft.com/office/powerpoint/2010/main" val="1314469851"/>
              </p:ext>
            </p:extLst>
          </p:nvPr>
        </p:nvGraphicFramePr>
        <p:xfrm>
          <a:off x="3444533" y="1723704"/>
          <a:ext cx="2177893" cy="690104"/>
        </p:xfrm>
        <a:graphic>
          <a:graphicData uri="http://schemas.openxmlformats.org/presentationml/2006/ole">
            <mc:AlternateContent xmlns:mc="http://schemas.openxmlformats.org/markup-compatibility/2006">
              <mc:Choice xmlns:v="urn:schemas-microsoft-com:vml" Requires="v">
                <p:oleObj name="Equation" r:id="rId2" imgW="1244520" imgH="393480" progId="Equation.DSMT4">
                  <p:embed/>
                </p:oleObj>
              </mc:Choice>
              <mc:Fallback>
                <p:oleObj name="Equation" r:id="rId2" imgW="1244520" imgH="393480" progId="Equation.DSMT4">
                  <p:embed/>
                  <p:pic>
                    <p:nvPicPr>
                      <p:cNvPr id="28673" name="Object 4" descr="N P V = negative 250 + start fraction 35 over r end fraction."/>
                      <p:cNvPicPr>
                        <a:picLocks noChangeAspect="1" noChangeArrowheads="1"/>
                      </p:cNvPicPr>
                      <p:nvPr/>
                    </p:nvPicPr>
                    <p:blipFill>
                      <a:blip r:embed="rId3"/>
                      <a:srcRect/>
                      <a:stretch>
                        <a:fillRect/>
                      </a:stretch>
                    </p:blipFill>
                    <p:spPr bwMode="auto">
                      <a:xfrm>
                        <a:off x="3444533" y="1723704"/>
                        <a:ext cx="2177893" cy="6901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4" name="Content Placeholder 3">
            <a:extLst>
              <a:ext uri="{FF2B5EF4-FFF2-40B4-BE49-F238E27FC236}">
                <a16:creationId xmlns:a16="http://schemas.microsoft.com/office/drawing/2014/main" id="{0DD52A53-AA06-30A3-80A8-F6004494B0FE}"/>
              </a:ext>
            </a:extLst>
          </p:cNvPr>
          <p:cNvSpPr>
            <a:spLocks noGrp="1"/>
          </p:cNvSpPr>
          <p:nvPr>
            <p:ph sz="quarter" idx="13"/>
          </p:nvPr>
        </p:nvSpPr>
        <p:spPr>
          <a:xfrm>
            <a:off x="437224" y="2557127"/>
            <a:ext cx="8274976" cy="385992"/>
          </a:xfrm>
        </p:spPr>
        <p:txBody>
          <a:bodyPr wrap="square" lIns="0" tIns="18000" rIns="0" bIns="18000" anchor="ctr">
            <a:spAutoFit/>
          </a:bodyPr>
          <a:lstStyle/>
          <a:p>
            <a:pPr marL="829818" lvl="1" indent="-342900"/>
            <a:r>
              <a:rPr lang="en-US" altLang="en-US" sz="2400" dirty="0"/>
              <a:t>The </a:t>
            </a:r>
            <a:r>
              <a:rPr lang="en-US" altLang="en-US" sz="2400" spc="-300" dirty="0"/>
              <a:t>N P </a:t>
            </a:r>
            <a:r>
              <a:rPr lang="en-US" altLang="en-US" sz="2400" dirty="0"/>
              <a:t>V is dependent on the discount rate</a:t>
            </a:r>
          </a:p>
        </p:txBody>
      </p:sp>
    </p:spTree>
    <p:extLst>
      <p:ext uri="{BB962C8B-B14F-4D97-AF65-F5344CB8AC3E}">
        <p14:creationId xmlns:p14="http://schemas.microsoft.com/office/powerpoint/2010/main" val="1903878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219413" y="427415"/>
            <a:ext cx="8705173" cy="528794"/>
          </a:xfrm>
        </p:spPr>
        <p:txBody>
          <a:bodyPr/>
          <a:lstStyle/>
          <a:p>
            <a:r>
              <a:rPr lang="en-US" sz="3200" dirty="0"/>
              <a:t>Figure 1 : NPV of Fredrick’s Fertilizer Project</a:t>
            </a:r>
            <a:endParaRPr lang="en-US" sz="3200" noProof="0" dirty="0"/>
          </a:p>
        </p:txBody>
      </p:sp>
      <p:pic>
        <p:nvPicPr>
          <p:cNvPr id="7" name="Picture 6" descr="A graph shows the variation in the value of N P V with discount rate.&#10;Long description is available in notes, press F6.">
            <a:extLst>
              <a:ext uri="{FF2B5EF4-FFF2-40B4-BE49-F238E27FC236}">
                <a16:creationId xmlns:a16="http://schemas.microsoft.com/office/drawing/2014/main" id="{2C493045-B2B8-3CE6-C6E2-CCB1AD21F5C0}"/>
              </a:ext>
            </a:extLst>
          </p:cNvPr>
          <p:cNvPicPr>
            <a:picLocks noChangeAspect="1"/>
          </p:cNvPicPr>
          <p:nvPr/>
        </p:nvPicPr>
        <p:blipFill>
          <a:blip r:embed="rId3"/>
          <a:stretch>
            <a:fillRect/>
          </a:stretch>
        </p:blipFill>
        <p:spPr>
          <a:xfrm>
            <a:off x="974987" y="1406345"/>
            <a:ext cx="6326145" cy="4272457"/>
          </a:xfrm>
          <a:prstGeom prst="rect">
            <a:avLst/>
          </a:prstGeom>
        </p:spPr>
      </p:pic>
      <p:sp>
        <p:nvSpPr>
          <p:cNvPr id="4" name="Content Placeholder 3">
            <a:extLst>
              <a:ext uri="{FF2B5EF4-FFF2-40B4-BE49-F238E27FC236}">
                <a16:creationId xmlns:a16="http://schemas.microsoft.com/office/drawing/2014/main" id="{0DD52A53-AA06-30A3-80A8-F6004494B0FE}"/>
              </a:ext>
            </a:extLst>
          </p:cNvPr>
          <p:cNvSpPr>
            <a:spLocks noGrp="1"/>
          </p:cNvSpPr>
          <p:nvPr>
            <p:ph sz="quarter" idx="13"/>
          </p:nvPr>
        </p:nvSpPr>
        <p:spPr>
          <a:xfrm>
            <a:off x="440415" y="6050281"/>
            <a:ext cx="8484171" cy="590349"/>
          </a:xfrm>
        </p:spPr>
        <p:txBody>
          <a:bodyPr wrap="square" lIns="0" tIns="18000" rIns="0" bIns="18000" anchor="ctr">
            <a:spAutoFit/>
          </a:bodyPr>
          <a:lstStyle/>
          <a:p>
            <a:pPr marL="0" indent="0">
              <a:buNone/>
            </a:pPr>
            <a:r>
              <a:rPr lang="en-US" sz="1800" b="1" dirty="0"/>
              <a:t>If </a:t>
            </a:r>
            <a:r>
              <a:rPr lang="en-US" sz="1800" b="1" spc="-200" dirty="0"/>
              <a:t>F </a:t>
            </a:r>
            <a:r>
              <a:rPr lang="en-US" sz="1800" b="1" spc="-200" dirty="0" err="1"/>
              <a:t>F</a:t>
            </a:r>
            <a:r>
              <a:rPr lang="en-US" sz="1800" b="1" spc="-200" dirty="0"/>
              <a:t> </a:t>
            </a:r>
            <a:r>
              <a:rPr lang="en-US" sz="1800" b="1" dirty="0"/>
              <a:t>F’s cost of capital is 10%, the </a:t>
            </a:r>
            <a:r>
              <a:rPr lang="en-US" sz="1800" b="1" spc="-200" dirty="0"/>
              <a:t>N P </a:t>
            </a:r>
            <a:r>
              <a:rPr lang="en-US" sz="1800" b="1" dirty="0"/>
              <a:t>V is $100 million, and they should undertake the investment</a:t>
            </a:r>
          </a:p>
        </p:txBody>
      </p:sp>
    </p:spTree>
    <p:extLst>
      <p:ext uri="{BB962C8B-B14F-4D97-AF65-F5344CB8AC3E}">
        <p14:creationId xmlns:p14="http://schemas.microsoft.com/office/powerpoint/2010/main" val="52338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512801"/>
            <a:ext cx="8266346" cy="559572"/>
          </a:xfrm>
        </p:spPr>
        <p:txBody>
          <a:bodyPr/>
          <a:lstStyle/>
          <a:p>
            <a:r>
              <a:rPr lang="en-US" sz="3400" dirty="0"/>
              <a:t>Alternative Rules Versus the </a:t>
            </a:r>
            <a:r>
              <a:rPr lang="en-US" sz="3400" spc="-500" dirty="0"/>
              <a:t>N P </a:t>
            </a:r>
            <a:r>
              <a:rPr lang="en-US" sz="3400" dirty="0"/>
              <a:t>V Rule</a:t>
            </a:r>
            <a:endParaRPr lang="en-US" sz="3400" noProof="0" dirty="0"/>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37228" y="1979740"/>
            <a:ext cx="8266346" cy="1959955"/>
          </a:xfrm>
        </p:spPr>
        <p:txBody>
          <a:bodyPr wrap="square" lIns="0" tIns="18000" rIns="0" bIns="18000" anchor="ctr">
            <a:spAutoFit/>
          </a:bodyPr>
          <a:lstStyle/>
          <a:p>
            <a:pPr marL="342900" indent="-342900">
              <a:spcBef>
                <a:spcPts val="600"/>
              </a:spcBef>
            </a:pPr>
            <a:r>
              <a:rPr lang="en-US" altLang="en-US" sz="2400" dirty="0"/>
              <a:t>Sometimes alternative investment rules may give the same answer as the </a:t>
            </a:r>
            <a:r>
              <a:rPr lang="en-US" altLang="en-US" sz="2400" spc="-300" dirty="0"/>
              <a:t>N P </a:t>
            </a:r>
            <a:r>
              <a:rPr lang="en-US" altLang="en-US" sz="2400" dirty="0"/>
              <a:t>V rule, but at other times they may disagree</a:t>
            </a:r>
          </a:p>
          <a:p>
            <a:pPr marL="829818" lvl="1" indent="-342900"/>
            <a:r>
              <a:rPr lang="en-US" altLang="en-US" sz="2400" dirty="0"/>
              <a:t>When the rules conflict, the </a:t>
            </a:r>
            <a:r>
              <a:rPr lang="en-US" altLang="en-US" sz="2400" spc="-300" dirty="0"/>
              <a:t>N P </a:t>
            </a:r>
            <a:r>
              <a:rPr lang="en-US" altLang="en-US" sz="2400" dirty="0"/>
              <a:t>V decision rule should be followed</a:t>
            </a:r>
          </a:p>
        </p:txBody>
      </p:sp>
    </p:spTree>
    <p:extLst>
      <p:ext uri="{BB962C8B-B14F-4D97-AF65-F5344CB8AC3E}">
        <p14:creationId xmlns:p14="http://schemas.microsoft.com/office/powerpoint/2010/main" val="3312222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21585"/>
            <a:ext cx="8374589" cy="1021237"/>
          </a:xfrm>
        </p:spPr>
        <p:txBody>
          <a:bodyPr/>
          <a:lstStyle/>
          <a:p>
            <a:r>
              <a:rPr lang="en-US" dirty="0"/>
              <a:t>2. </a:t>
            </a:r>
            <a:r>
              <a:rPr lang="en-US" sz="3300" dirty="0"/>
              <a:t>The Internal Rate of Return Rule </a:t>
            </a:r>
            <a:r>
              <a:rPr lang="en-US" sz="2800" dirty="0"/>
              <a:t>(1 of 2)</a:t>
            </a:r>
            <a:endParaRPr lang="en-US" sz="2800" noProof="0" dirty="0"/>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37228" y="1674908"/>
            <a:ext cx="8266346" cy="2036899"/>
          </a:xfrm>
        </p:spPr>
        <p:txBody>
          <a:bodyPr wrap="square" lIns="0" tIns="18000" rIns="0" bIns="18000" anchor="ctr">
            <a:spAutoFit/>
          </a:bodyPr>
          <a:lstStyle/>
          <a:p>
            <a:pPr marL="342900" indent="-342900">
              <a:spcBef>
                <a:spcPts val="600"/>
              </a:spcBef>
            </a:pPr>
            <a:r>
              <a:rPr lang="en-US" altLang="en-US" sz="2400" b="1" dirty="0"/>
              <a:t>Internal Rate of Return (</a:t>
            </a:r>
            <a:r>
              <a:rPr lang="en-US" altLang="en-US" sz="2400" b="1" spc="-300" dirty="0"/>
              <a:t>I R </a:t>
            </a:r>
            <a:r>
              <a:rPr lang="en-US" altLang="en-US" sz="2400" b="1" dirty="0"/>
              <a:t>R) Investment Rule</a:t>
            </a:r>
          </a:p>
          <a:p>
            <a:pPr marL="829818" lvl="1" indent="-342900"/>
            <a:r>
              <a:rPr lang="en-US" altLang="en-US" sz="2400" dirty="0"/>
              <a:t>Take any investment where the </a:t>
            </a:r>
            <a:r>
              <a:rPr lang="en-US" altLang="en-US" sz="2400" spc="-300" dirty="0"/>
              <a:t>I R </a:t>
            </a:r>
            <a:r>
              <a:rPr lang="en-US" altLang="en-US" sz="2400" dirty="0" err="1"/>
              <a:t>R</a:t>
            </a:r>
            <a:r>
              <a:rPr lang="en-US" altLang="en-US" sz="2400" dirty="0"/>
              <a:t> exceeds the cost of capital</a:t>
            </a:r>
          </a:p>
          <a:p>
            <a:pPr marL="829818" lvl="1" indent="-342900"/>
            <a:r>
              <a:rPr lang="en-US" altLang="en-US" sz="2400" dirty="0"/>
              <a:t>Turn down any investment whose </a:t>
            </a:r>
            <a:r>
              <a:rPr lang="en-US" altLang="en-US" sz="2400" spc="-300" dirty="0"/>
              <a:t>I R </a:t>
            </a:r>
            <a:r>
              <a:rPr lang="en-US" altLang="en-US" sz="2400" dirty="0" err="1"/>
              <a:t>R</a:t>
            </a:r>
            <a:r>
              <a:rPr lang="en-US" altLang="en-US" sz="2400" dirty="0"/>
              <a:t> is less than the cost of capital</a:t>
            </a:r>
          </a:p>
        </p:txBody>
      </p:sp>
    </p:spTree>
    <p:extLst>
      <p:ext uri="{BB962C8B-B14F-4D97-AF65-F5344CB8AC3E}">
        <p14:creationId xmlns:p14="http://schemas.microsoft.com/office/powerpoint/2010/main" val="1025898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37228" y="1587426"/>
            <a:ext cx="8266346" cy="3298783"/>
          </a:xfrm>
        </p:spPr>
        <p:txBody>
          <a:bodyPr wrap="square" lIns="0" tIns="18000" rIns="0" bIns="18000" anchor="ctr">
            <a:spAutoFit/>
          </a:bodyPr>
          <a:lstStyle/>
          <a:p>
            <a:pPr marL="342900" indent="-342900">
              <a:spcBef>
                <a:spcPts val="600"/>
              </a:spcBef>
              <a:spcAft>
                <a:spcPts val="600"/>
              </a:spcAft>
            </a:pPr>
            <a:r>
              <a:rPr lang="en-US" altLang="en-US" sz="2400" dirty="0"/>
              <a:t>The </a:t>
            </a:r>
            <a:r>
              <a:rPr lang="en-US" altLang="en-US" sz="2400" spc="-300" dirty="0"/>
              <a:t>I R </a:t>
            </a:r>
            <a:r>
              <a:rPr lang="en-US" altLang="en-US" sz="2400" dirty="0" err="1"/>
              <a:t>R</a:t>
            </a:r>
            <a:r>
              <a:rPr lang="en-US" altLang="en-US" sz="2400" dirty="0"/>
              <a:t> Investment Rule will give the same answer as the </a:t>
            </a:r>
            <a:r>
              <a:rPr lang="en-US" altLang="en-US" sz="2400" spc="-300" dirty="0"/>
              <a:t>N P </a:t>
            </a:r>
            <a:r>
              <a:rPr lang="en-US" altLang="en-US" sz="2400" dirty="0"/>
              <a:t>V rule in many, but not all, situations</a:t>
            </a:r>
          </a:p>
          <a:p>
            <a:pPr marL="342900" indent="-342900">
              <a:spcBef>
                <a:spcPts val="600"/>
              </a:spcBef>
              <a:spcAft>
                <a:spcPts val="600"/>
              </a:spcAft>
            </a:pPr>
            <a:r>
              <a:rPr lang="en-US" altLang="en-US" sz="2400" dirty="0"/>
              <a:t>In general, the </a:t>
            </a:r>
            <a:r>
              <a:rPr lang="en-US" altLang="en-US" sz="2400" spc="-300" dirty="0"/>
              <a:t>I R </a:t>
            </a:r>
            <a:r>
              <a:rPr lang="en-US" altLang="en-US" sz="2400" dirty="0" err="1"/>
              <a:t>R</a:t>
            </a:r>
            <a:r>
              <a:rPr lang="en-US" altLang="en-US" sz="2400" dirty="0"/>
              <a:t> rule works for a stand-alone project if all of the project’s negative cash flows precede its positive cash flows</a:t>
            </a:r>
          </a:p>
          <a:p>
            <a:pPr marL="829818" lvl="1" indent="-342900">
              <a:spcAft>
                <a:spcPts val="600"/>
              </a:spcAft>
            </a:pPr>
            <a:r>
              <a:rPr lang="en-US" altLang="en-US" sz="2400" dirty="0"/>
              <a:t>In Figure 1, whenever the cost of capital is below the </a:t>
            </a:r>
            <a:r>
              <a:rPr lang="en-US" altLang="en-US" sz="2400" spc="-300" dirty="0"/>
              <a:t>I R </a:t>
            </a:r>
            <a:r>
              <a:rPr lang="en-US" altLang="en-US" sz="2400" dirty="0"/>
              <a:t>R of 14%, the project has a positive </a:t>
            </a:r>
            <a:r>
              <a:rPr lang="en-US" altLang="en-US" sz="2400" spc="-300" dirty="0"/>
              <a:t>N P </a:t>
            </a:r>
            <a:r>
              <a:rPr lang="en-US" altLang="en-US" sz="2400" dirty="0"/>
              <a:t>V, and you should undertake the investment</a:t>
            </a:r>
          </a:p>
        </p:txBody>
      </p:sp>
      <p:sp>
        <p:nvSpPr>
          <p:cNvPr id="6" name="Title 1">
            <a:extLst>
              <a:ext uri="{FF2B5EF4-FFF2-40B4-BE49-F238E27FC236}">
                <a16:creationId xmlns:a16="http://schemas.microsoft.com/office/drawing/2014/main" id="{6433E83E-AA33-0D05-4DA4-647A12A17340}"/>
              </a:ext>
            </a:extLst>
          </p:cNvPr>
          <p:cNvSpPr>
            <a:spLocks noGrp="1"/>
          </p:cNvSpPr>
          <p:nvPr>
            <p:ph type="title"/>
          </p:nvPr>
        </p:nvSpPr>
        <p:spPr>
          <a:xfrm>
            <a:off x="445854" y="221585"/>
            <a:ext cx="8374589" cy="1021237"/>
          </a:xfrm>
        </p:spPr>
        <p:txBody>
          <a:bodyPr/>
          <a:lstStyle/>
          <a:p>
            <a:r>
              <a:rPr lang="en-US" dirty="0"/>
              <a:t>2. </a:t>
            </a:r>
            <a:r>
              <a:rPr lang="en-US" sz="3300" dirty="0"/>
              <a:t>The Internal Rate of Return Rule </a:t>
            </a:r>
            <a:r>
              <a:rPr lang="en-US" sz="2800" dirty="0"/>
              <a:t>(1 of 2)</a:t>
            </a:r>
            <a:endParaRPr lang="en-US" sz="2800" noProof="0" dirty="0"/>
          </a:p>
        </p:txBody>
      </p:sp>
    </p:spTree>
    <p:extLst>
      <p:ext uri="{BB962C8B-B14F-4D97-AF65-F5344CB8AC3E}">
        <p14:creationId xmlns:p14="http://schemas.microsoft.com/office/powerpoint/2010/main" val="9393250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37228" y="1589344"/>
            <a:ext cx="8266346" cy="2929451"/>
          </a:xfrm>
        </p:spPr>
        <p:txBody>
          <a:bodyPr wrap="square" lIns="0" tIns="18000" rIns="0" bIns="18000" anchor="ctr">
            <a:spAutoFit/>
          </a:bodyPr>
          <a:lstStyle/>
          <a:p>
            <a:pPr marL="342900" indent="-342900">
              <a:spcBef>
                <a:spcPts val="600"/>
              </a:spcBef>
            </a:pPr>
            <a:r>
              <a:rPr lang="en-US" altLang="en-US" sz="2400" dirty="0"/>
              <a:t>In other cases, the </a:t>
            </a:r>
            <a:r>
              <a:rPr lang="en-US" altLang="en-US" sz="2400" spc="-300" dirty="0"/>
              <a:t>I R </a:t>
            </a:r>
            <a:r>
              <a:rPr lang="en-US" altLang="en-US" sz="2400" dirty="0" err="1"/>
              <a:t>R</a:t>
            </a:r>
            <a:r>
              <a:rPr lang="en-US" altLang="en-US" sz="2400" dirty="0"/>
              <a:t> rule may disagree with the </a:t>
            </a:r>
            <a:r>
              <a:rPr lang="en-US" altLang="en-US" sz="2400" spc="-300" dirty="0"/>
              <a:t>N P </a:t>
            </a:r>
            <a:r>
              <a:rPr lang="en-US" altLang="en-US" sz="2400" dirty="0"/>
              <a:t>V rule and thus be incorrect</a:t>
            </a:r>
          </a:p>
          <a:p>
            <a:pPr marL="829818" lvl="1" indent="-342900"/>
            <a:r>
              <a:rPr lang="en-US" altLang="en-US" sz="2400" dirty="0"/>
              <a:t>Situations where the </a:t>
            </a:r>
            <a:r>
              <a:rPr lang="en-US" altLang="en-US" sz="2400" spc="-300" dirty="0"/>
              <a:t>I R </a:t>
            </a:r>
            <a:r>
              <a:rPr lang="en-US" altLang="en-US" sz="2400" dirty="0" err="1"/>
              <a:t>R</a:t>
            </a:r>
            <a:r>
              <a:rPr lang="en-US" altLang="en-US" sz="2400" dirty="0"/>
              <a:t> rule and </a:t>
            </a:r>
            <a:r>
              <a:rPr lang="en-US" altLang="en-US" sz="2400" spc="-300" dirty="0"/>
              <a:t>N P </a:t>
            </a:r>
            <a:r>
              <a:rPr lang="en-US" altLang="en-US" sz="2400" dirty="0"/>
              <a:t>V rule may be in conflict:</a:t>
            </a:r>
          </a:p>
          <a:p>
            <a:pPr marL="1229868" lvl="2" indent="-342900"/>
            <a:r>
              <a:rPr lang="en-US" altLang="en-US" sz="2400" dirty="0"/>
              <a:t>Delayed Investments</a:t>
            </a:r>
          </a:p>
          <a:p>
            <a:pPr marL="1229868" lvl="2" indent="-342900"/>
            <a:r>
              <a:rPr lang="en-US" altLang="en-US" sz="2400" dirty="0"/>
              <a:t>Nonexistent </a:t>
            </a:r>
            <a:r>
              <a:rPr lang="en-US" altLang="en-US" sz="2400" spc="-300" dirty="0"/>
              <a:t>I R </a:t>
            </a:r>
            <a:r>
              <a:rPr lang="en-US" altLang="en-US" sz="2400" dirty="0" err="1"/>
              <a:t>R</a:t>
            </a:r>
            <a:endParaRPr lang="en-US" altLang="en-US" sz="2400" dirty="0"/>
          </a:p>
          <a:p>
            <a:pPr marL="1229868" lvl="2" indent="-342900"/>
            <a:r>
              <a:rPr lang="en-US" altLang="en-US" sz="2400" dirty="0"/>
              <a:t>Multiple </a:t>
            </a:r>
            <a:r>
              <a:rPr lang="en-US" altLang="en-US" sz="2400" spc="-300" dirty="0"/>
              <a:t>I R </a:t>
            </a:r>
            <a:r>
              <a:rPr lang="en-US" altLang="en-US" sz="2400" spc="-300" dirty="0" err="1"/>
              <a:t>R</a:t>
            </a:r>
            <a:r>
              <a:rPr lang="en-US" altLang="en-US" sz="2400" spc="-300" dirty="0"/>
              <a:t> </a:t>
            </a:r>
            <a:r>
              <a:rPr lang="en-US" altLang="en-US" sz="2400" dirty="0"/>
              <a:t>s</a:t>
            </a:r>
          </a:p>
        </p:txBody>
      </p:sp>
      <p:sp>
        <p:nvSpPr>
          <p:cNvPr id="6" name="Title 1">
            <a:extLst>
              <a:ext uri="{FF2B5EF4-FFF2-40B4-BE49-F238E27FC236}">
                <a16:creationId xmlns:a16="http://schemas.microsoft.com/office/drawing/2014/main" id="{EB3FD2B2-EF64-5EAD-2684-AFE8561101BC}"/>
              </a:ext>
            </a:extLst>
          </p:cNvPr>
          <p:cNvSpPr>
            <a:spLocks noGrp="1"/>
          </p:cNvSpPr>
          <p:nvPr>
            <p:ph type="title"/>
          </p:nvPr>
        </p:nvSpPr>
        <p:spPr>
          <a:xfrm>
            <a:off x="437228" y="282285"/>
            <a:ext cx="8374589" cy="590349"/>
          </a:xfrm>
        </p:spPr>
        <p:txBody>
          <a:bodyPr/>
          <a:lstStyle/>
          <a:p>
            <a:r>
              <a:rPr lang="en-US" dirty="0"/>
              <a:t>Applying the IRR rule</a:t>
            </a:r>
            <a:endParaRPr lang="en-US" sz="2800" noProof="0" dirty="0"/>
          </a:p>
        </p:txBody>
      </p:sp>
    </p:spTree>
    <p:extLst>
      <p:ext uri="{BB962C8B-B14F-4D97-AF65-F5344CB8AC3E}">
        <p14:creationId xmlns:p14="http://schemas.microsoft.com/office/powerpoint/2010/main" val="5131175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21365"/>
            <a:ext cx="8128803" cy="590349"/>
          </a:xfrm>
        </p:spPr>
        <p:txBody>
          <a:bodyPr/>
          <a:lstStyle/>
          <a:p>
            <a:r>
              <a:rPr lang="en-US" dirty="0"/>
              <a:t>Pitfall 1: Delayed Investments </a:t>
            </a:r>
            <a:r>
              <a:rPr lang="en-US" sz="2800" dirty="0"/>
              <a:t>(1 of 3)</a:t>
            </a:r>
            <a:endParaRPr lang="en-US" sz="2800" noProof="0" dirty="0"/>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37228" y="1810450"/>
            <a:ext cx="8266346" cy="3144895"/>
          </a:xfrm>
        </p:spPr>
        <p:txBody>
          <a:bodyPr wrap="square" lIns="0" tIns="18000" rIns="0" bIns="18000" anchor="ctr">
            <a:spAutoFit/>
          </a:bodyPr>
          <a:lstStyle/>
          <a:p>
            <a:pPr marL="342900" indent="-342900">
              <a:spcBef>
                <a:spcPts val="600"/>
              </a:spcBef>
              <a:spcAft>
                <a:spcPts val="600"/>
              </a:spcAft>
            </a:pPr>
            <a:r>
              <a:rPr lang="en-US" altLang="en-US" sz="2400" dirty="0"/>
              <a:t>Assume you have just retired as the </a:t>
            </a:r>
            <a:r>
              <a:rPr lang="en-US" altLang="en-US" sz="2400" spc="-300" dirty="0"/>
              <a:t>C E </a:t>
            </a:r>
            <a:r>
              <a:rPr lang="en-US" altLang="en-US" sz="2400" dirty="0"/>
              <a:t>O of a successful company. A major publisher has offered you a book deal. The publisher will pay you $1 million upfront if you agree to write a book about your experiences. </a:t>
            </a:r>
          </a:p>
          <a:p>
            <a:pPr marL="342900" indent="-342900">
              <a:spcBef>
                <a:spcPts val="600"/>
              </a:spcBef>
              <a:spcAft>
                <a:spcPts val="600"/>
              </a:spcAft>
            </a:pPr>
            <a:r>
              <a:rPr lang="en-US" altLang="en-US" sz="2400" dirty="0"/>
              <a:t>You estimate that it will take three years to write the book. The time you spend writing will cause you to give up speaking engagements amounting to $500,000 per year. You estimate your opportunity cost to be 10%.</a:t>
            </a:r>
          </a:p>
        </p:txBody>
      </p:sp>
    </p:spTree>
    <p:extLst>
      <p:ext uri="{BB962C8B-B14F-4D97-AF65-F5344CB8AC3E}">
        <p14:creationId xmlns:p14="http://schemas.microsoft.com/office/powerpoint/2010/main" val="15596219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21371"/>
            <a:ext cx="8266346" cy="590349"/>
          </a:xfrm>
        </p:spPr>
        <p:txBody>
          <a:bodyPr/>
          <a:lstStyle/>
          <a:p>
            <a:r>
              <a:rPr lang="en-US" dirty="0"/>
              <a:t>Pitfall 1: Delayed Investments </a:t>
            </a:r>
            <a:r>
              <a:rPr lang="en-US" sz="2800" dirty="0"/>
              <a:t>(2 of 3)</a:t>
            </a:r>
            <a:endParaRPr lang="en-US" sz="2800" noProof="0" dirty="0"/>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37228" y="1132842"/>
            <a:ext cx="8266346" cy="851959"/>
          </a:xfrm>
        </p:spPr>
        <p:txBody>
          <a:bodyPr wrap="square" lIns="0" tIns="18000" rIns="0" bIns="18000" anchor="ctr">
            <a:spAutoFit/>
          </a:bodyPr>
          <a:lstStyle/>
          <a:p>
            <a:pPr marL="342900" indent="-342900">
              <a:spcBef>
                <a:spcPts val="600"/>
              </a:spcBef>
            </a:pPr>
            <a:r>
              <a:rPr lang="en-US" altLang="en-US" sz="2400" dirty="0"/>
              <a:t>Should you accept the deal?</a:t>
            </a:r>
          </a:p>
          <a:p>
            <a:pPr marL="829818" lvl="1" indent="-342900"/>
            <a:r>
              <a:rPr lang="en-US" altLang="en-US" sz="2400" dirty="0"/>
              <a:t>Calculate the </a:t>
            </a:r>
            <a:r>
              <a:rPr lang="en-US" altLang="en-US" sz="2400" spc="-300" dirty="0"/>
              <a:t>I R </a:t>
            </a:r>
            <a:r>
              <a:rPr lang="en-US" altLang="en-US" sz="2400" dirty="0" err="1"/>
              <a:t>R</a:t>
            </a:r>
            <a:endParaRPr lang="en-US" altLang="en-US" sz="2400" dirty="0"/>
          </a:p>
        </p:txBody>
      </p:sp>
      <p:graphicFrame>
        <p:nvGraphicFramePr>
          <p:cNvPr id="7" name="Table 11">
            <a:extLst>
              <a:ext uri="{FF2B5EF4-FFF2-40B4-BE49-F238E27FC236}">
                <a16:creationId xmlns:a16="http://schemas.microsoft.com/office/drawing/2014/main" id="{3E6ED6F8-9E12-4BC3-8009-847990372F22}"/>
              </a:ext>
            </a:extLst>
          </p:cNvPr>
          <p:cNvGraphicFramePr>
            <a:graphicFrameLocks noGrp="1"/>
          </p:cNvGraphicFramePr>
          <p:nvPr>
            <p:extLst>
              <p:ext uri="{D42A27DB-BD31-4B8C-83A1-F6EECF244321}">
                <p14:modId xmlns:p14="http://schemas.microsoft.com/office/powerpoint/2010/main" val="826384477"/>
              </p:ext>
            </p:extLst>
          </p:nvPr>
        </p:nvGraphicFramePr>
        <p:xfrm>
          <a:off x="457200" y="2858335"/>
          <a:ext cx="8229599" cy="1878676"/>
        </p:xfrm>
        <a:graphic>
          <a:graphicData uri="http://schemas.openxmlformats.org/drawingml/2006/table">
            <a:tbl>
              <a:tblPr firstRow="1" bandRow="1">
                <a:tableStyleId>{40F9630F-82C1-40B7-BC3A-925EFCFF5E92}</a:tableStyleId>
              </a:tblPr>
              <a:tblGrid>
                <a:gridCol w="1427018">
                  <a:extLst>
                    <a:ext uri="{9D8B030D-6E8A-4147-A177-3AD203B41FA5}">
                      <a16:colId xmlns:a16="http://schemas.microsoft.com/office/drawing/2014/main" val="467200679"/>
                    </a:ext>
                  </a:extLst>
                </a:gridCol>
                <a:gridCol w="867774">
                  <a:extLst>
                    <a:ext uri="{9D8B030D-6E8A-4147-A177-3AD203B41FA5}">
                      <a16:colId xmlns:a16="http://schemas.microsoft.com/office/drawing/2014/main" val="3156988431"/>
                    </a:ext>
                  </a:extLst>
                </a:gridCol>
                <a:gridCol w="967154">
                  <a:extLst>
                    <a:ext uri="{9D8B030D-6E8A-4147-A177-3AD203B41FA5}">
                      <a16:colId xmlns:a16="http://schemas.microsoft.com/office/drawing/2014/main" val="2535743945"/>
                    </a:ext>
                  </a:extLst>
                </a:gridCol>
                <a:gridCol w="1204546">
                  <a:extLst>
                    <a:ext uri="{9D8B030D-6E8A-4147-A177-3AD203B41FA5}">
                      <a16:colId xmlns:a16="http://schemas.microsoft.com/office/drawing/2014/main" val="2120472885"/>
                    </a:ext>
                  </a:extLst>
                </a:gridCol>
                <a:gridCol w="1380393">
                  <a:extLst>
                    <a:ext uri="{9D8B030D-6E8A-4147-A177-3AD203B41FA5}">
                      <a16:colId xmlns:a16="http://schemas.microsoft.com/office/drawing/2014/main" val="1335280307"/>
                    </a:ext>
                  </a:extLst>
                </a:gridCol>
                <a:gridCol w="623188">
                  <a:extLst>
                    <a:ext uri="{9D8B030D-6E8A-4147-A177-3AD203B41FA5}">
                      <a16:colId xmlns:a16="http://schemas.microsoft.com/office/drawing/2014/main" val="691551917"/>
                    </a:ext>
                  </a:extLst>
                </a:gridCol>
                <a:gridCol w="1759526">
                  <a:extLst>
                    <a:ext uri="{9D8B030D-6E8A-4147-A177-3AD203B41FA5}">
                      <a16:colId xmlns:a16="http://schemas.microsoft.com/office/drawing/2014/main" val="3130720241"/>
                    </a:ext>
                  </a:extLst>
                </a:gridCol>
              </a:tblGrid>
              <a:tr h="454622">
                <a:tc>
                  <a:txBody>
                    <a:bodyPr/>
                    <a:lstStyle/>
                    <a:p>
                      <a:pPr algn="l"/>
                      <a:r>
                        <a:rPr lang="en-US" sz="100" noProof="0">
                          <a:solidFill>
                            <a:schemeClr val="bg1"/>
                          </a:solidFill>
                          <a:latin typeface="Arial" panose="020B0604020202020204" pitchFamily="34" charset="0"/>
                          <a:cs typeface="Arial" panose="020B0604020202020204" pitchFamily="34" charset="0"/>
                        </a:rPr>
                        <a:t>Blank</a:t>
                      </a:r>
                    </a:p>
                  </a:txBody>
                  <a:tcPr marL="90856" marR="90856" marT="45428" marB="4542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l"/>
                      <a:r>
                        <a:rPr lang="en-US" sz="1800" b="1" spc="-200" baseline="0" noProof="0">
                          <a:solidFill>
                            <a:schemeClr val="bg1"/>
                          </a:solidFill>
                          <a:latin typeface="Arial" panose="020B0604020202020204" pitchFamily="34" charset="0"/>
                          <a:cs typeface="Arial" panose="020B0604020202020204" pitchFamily="34" charset="0"/>
                        </a:rPr>
                        <a:t>N P E R</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l"/>
                      <a:r>
                        <a:rPr lang="en-US" sz="1800" b="1" spc="0" baseline="0" noProof="0" dirty="0">
                          <a:solidFill>
                            <a:schemeClr val="bg1"/>
                          </a:solidFill>
                          <a:latin typeface="Arial" panose="020B0604020202020204" pitchFamily="34" charset="0"/>
                          <a:cs typeface="Arial" panose="020B0604020202020204" pitchFamily="34" charset="0"/>
                        </a:rPr>
                        <a:t>RATE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1" spc="-200" baseline="0" noProof="0">
                          <a:solidFill>
                            <a:schemeClr val="bg1"/>
                          </a:solidFill>
                          <a:latin typeface="Arial" panose="020B0604020202020204" pitchFamily="34" charset="0"/>
                          <a:cs typeface="Arial" panose="020B0604020202020204" pitchFamily="34" charset="0"/>
                        </a:rPr>
                        <a:t>P V</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l"/>
                      <a:r>
                        <a:rPr lang="en-US" sz="1800" b="1" spc="-200" baseline="0" noProof="0">
                          <a:solidFill>
                            <a:schemeClr val="bg1"/>
                          </a:solidFill>
                          <a:latin typeface="Arial" panose="020B0604020202020204" pitchFamily="34" charset="0"/>
                          <a:cs typeface="Arial" panose="020B0604020202020204" pitchFamily="34" charset="0"/>
                        </a:rPr>
                        <a:t>P M 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l"/>
                      <a:r>
                        <a:rPr lang="en-US" sz="1800" b="1" spc="-200" baseline="0" noProof="0">
                          <a:solidFill>
                            <a:schemeClr val="bg1"/>
                          </a:solidFill>
                          <a:latin typeface="Arial" panose="020B0604020202020204" pitchFamily="34" charset="0"/>
                          <a:cs typeface="Arial" panose="020B0604020202020204" pitchFamily="34" charset="0"/>
                        </a:rPr>
                        <a:t>F V</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l"/>
                      <a:r>
                        <a:rPr lang="en-US" sz="1800" b="1" noProof="0">
                          <a:solidFill>
                            <a:schemeClr val="bg1"/>
                          </a:solidFill>
                          <a:latin typeface="Arial" panose="020B0604020202020204" pitchFamily="34" charset="0"/>
                          <a:cs typeface="Arial" panose="020B0604020202020204" pitchFamily="34" charset="0"/>
                        </a:rPr>
                        <a:t>Excel Formula</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extLst>
                  <a:ext uri="{0D108BD9-81ED-4DB2-BD59-A6C34878D82A}">
                    <a16:rowId xmlns:a16="http://schemas.microsoft.com/office/drawing/2014/main" val="400099166"/>
                  </a:ext>
                </a:extLst>
              </a:tr>
              <a:tr h="550999">
                <a:tc>
                  <a:txBody>
                    <a:bodyPr/>
                    <a:lstStyle/>
                    <a:p>
                      <a:pPr algn="l"/>
                      <a:r>
                        <a:rPr lang="en-US" sz="1800" b="0" noProof="0">
                          <a:latin typeface="Arial" panose="020B0604020202020204" pitchFamily="34" charset="0"/>
                          <a:cs typeface="Arial" panose="020B0604020202020204" pitchFamily="34" charset="0"/>
                        </a:rPr>
                        <a:t>Given</a:t>
                      </a:r>
                    </a:p>
                  </a:txBody>
                  <a:tcPr marL="90856" marR="90856" marT="45428" marB="4542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l"/>
                      <a:r>
                        <a:rPr lang="en-US" sz="1800" noProof="0">
                          <a:latin typeface="Arial" panose="020B0604020202020204" pitchFamily="34" charset="0"/>
                          <a:cs typeface="Arial" panose="020B0604020202020204" pitchFamily="34"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l"/>
                      <a:r>
                        <a:rPr lang="en-US" sz="100" noProof="0">
                          <a:solidFill>
                            <a:schemeClr val="tx1"/>
                          </a:solidFill>
                          <a:latin typeface="Arial" panose="020B0604020202020204" pitchFamily="34" charset="0"/>
                          <a:cs typeface="Arial" panose="020B0604020202020204" pitchFamily="34" charset="0"/>
                        </a:rPr>
                        <a:t>Blank</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l"/>
                      <a:r>
                        <a:rPr lang="en-US" sz="1800" baseline="0" noProof="0">
                          <a:latin typeface="Arial" panose="020B0604020202020204" pitchFamily="34" charset="0"/>
                          <a:cs typeface="Arial" panose="020B0604020202020204" pitchFamily="34" charset="0"/>
                        </a:rPr>
                        <a:t>1,000,000</a:t>
                      </a:r>
                    </a:p>
                    <a:p>
                      <a:pPr algn="l"/>
                      <a:endParaRPr lang="en-US" sz="1800" baseline="0" noProof="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noProof="0">
                          <a:latin typeface="Arial" panose="020B0604020202020204" pitchFamily="34" charset="0"/>
                          <a:cs typeface="Arial" panose="020B0604020202020204" pitchFamily="34" charset="0"/>
                        </a:rPr>
                        <a:t>Negative 500,000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l"/>
                      <a:r>
                        <a:rPr lang="en-US" sz="1800" noProof="0">
                          <a:latin typeface="Arial" panose="020B0604020202020204" pitchFamily="34" charset="0"/>
                          <a:cs typeface="Arial" panose="020B0604020202020204" pitchFamily="34" charset="0"/>
                        </a:rPr>
                        <a:t>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l"/>
                      <a:r>
                        <a:rPr lang="en-US" sz="100" baseline="0" noProof="0">
                          <a:latin typeface="Arial" panose="020B0604020202020204" pitchFamily="34" charset="0"/>
                          <a:cs typeface="Arial" panose="020B0604020202020204" pitchFamily="34" charset="0"/>
                        </a:rPr>
                        <a:t>Blank</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436264602"/>
                  </a:ext>
                </a:extLst>
              </a:tr>
              <a:tr h="78397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noProof="0" dirty="0">
                          <a:latin typeface="Arial" panose="020B0604020202020204" pitchFamily="34" charset="0"/>
                          <a:cs typeface="Arial" panose="020B0604020202020204" pitchFamily="34" charset="0"/>
                        </a:rPr>
                        <a:t>Solve for 1</a:t>
                      </a:r>
                    </a:p>
                  </a:txBody>
                  <a:tcPr marL="90856" marR="90856" marT="45428" marB="4542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l"/>
                      <a:r>
                        <a:rPr lang="en-US" sz="100" noProof="0">
                          <a:solidFill>
                            <a:schemeClr val="tx1"/>
                          </a:solidFill>
                          <a:latin typeface="Arial" panose="020B0604020202020204" pitchFamily="34" charset="0"/>
                          <a:cs typeface="Arial" panose="020B0604020202020204" pitchFamily="34" charset="0"/>
                        </a:rPr>
                        <a:t>blank</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l"/>
                      <a:r>
                        <a:rPr lang="en-US" sz="1800" noProof="0">
                          <a:latin typeface="Arial" panose="020B0604020202020204" pitchFamily="34" charset="0"/>
                          <a:cs typeface="Arial" panose="020B0604020202020204" pitchFamily="34" charset="0"/>
                        </a:rPr>
                        <a:t>23.38%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l"/>
                      <a:r>
                        <a:rPr lang="en-US" sz="100" baseline="0" noProof="0">
                          <a:latin typeface="Arial" panose="020B0604020202020204" pitchFamily="34" charset="0"/>
                          <a:cs typeface="Arial" panose="020B0604020202020204" pitchFamily="34" charset="0"/>
                        </a:rPr>
                        <a:t>Blank</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l"/>
                      <a:r>
                        <a:rPr lang="en-US" sz="100" baseline="0" noProof="0">
                          <a:latin typeface="Arial" panose="020B0604020202020204" pitchFamily="34" charset="0"/>
                          <a:cs typeface="Arial" panose="020B0604020202020204" pitchFamily="34" charset="0"/>
                        </a:rPr>
                        <a:t>Blank</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l"/>
                      <a:r>
                        <a:rPr lang="en-US" sz="100" baseline="0" noProof="0">
                          <a:latin typeface="Arial" panose="020B0604020202020204" pitchFamily="34" charset="0"/>
                          <a:cs typeface="Arial" panose="020B0604020202020204" pitchFamily="34" charset="0"/>
                        </a:rPr>
                        <a:t>Blank</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l"/>
                      <a:r>
                        <a:rPr lang="en-US" sz="100" baseline="0" noProof="0" dirty="0">
                          <a:latin typeface="Arial" panose="020B0604020202020204" pitchFamily="34" charset="0"/>
                          <a:cs typeface="Arial" panose="020B0604020202020204" pitchFamily="34" charset="0"/>
                        </a:rPr>
                        <a:t>Equals rate left parenthesis 3 comma 500000 comma 1000000 comma 0 right parenthesis.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371393853"/>
                  </a:ext>
                </a:extLst>
              </a:tr>
            </a:tbl>
          </a:graphicData>
        </a:graphic>
      </p:graphicFrame>
      <p:graphicFrame>
        <p:nvGraphicFramePr>
          <p:cNvPr id="8" name="Object 7">
            <a:extLst>
              <a:ext uri="{FF2B5EF4-FFF2-40B4-BE49-F238E27FC236}">
                <a16:creationId xmlns:a16="http://schemas.microsoft.com/office/drawing/2014/main" id="{B6DA25FA-2844-4881-9398-7B2BC220B668}"/>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6999234"/>
              </p:ext>
            </p:extLst>
          </p:nvPr>
        </p:nvGraphicFramePr>
        <p:xfrm>
          <a:off x="4967044" y="3393625"/>
          <a:ext cx="1044575" cy="252413"/>
        </p:xfrm>
        <a:graphic>
          <a:graphicData uri="http://schemas.openxmlformats.org/presentationml/2006/ole">
            <mc:AlternateContent xmlns:mc="http://schemas.openxmlformats.org/markup-compatibility/2006">
              <mc:Choice xmlns:v="urn:schemas-microsoft-com:vml" Requires="v">
                <p:oleObj name="Equation" r:id="rId2" imgW="1269720" imgH="304560" progId="Equation.DSMT4">
                  <p:embed/>
                </p:oleObj>
              </mc:Choice>
              <mc:Fallback>
                <p:oleObj name="Equation" r:id="rId2" imgW="1269720" imgH="304560" progId="Equation.DSMT4">
                  <p:embed/>
                  <p:pic>
                    <p:nvPicPr>
                      <p:cNvPr id="12" name="Object 11">
                        <a:extLst>
                          <a:ext uri="{FF2B5EF4-FFF2-40B4-BE49-F238E27FC236}">
                            <a16:creationId xmlns:a16="http://schemas.microsoft.com/office/drawing/2014/main" id="{775CA9D1-73A5-31F8-17A2-419DA28493CF}"/>
                          </a:ext>
                          <a:ext uri="{C183D7F6-B498-43B3-948B-1728B52AA6E4}">
                            <adec:decorative xmlns:adec="http://schemas.microsoft.com/office/drawing/2017/decorative" val="1"/>
                          </a:ext>
                        </a:extLst>
                      </p:cNvPr>
                      <p:cNvPicPr>
                        <a:picLocks noChangeAspect="1" noChangeArrowheads="1"/>
                      </p:cNvPicPr>
                      <p:nvPr/>
                    </p:nvPicPr>
                    <p:blipFill>
                      <a:blip r:embed="rId3"/>
                      <a:srcRect/>
                      <a:stretch>
                        <a:fillRect/>
                      </a:stretch>
                    </p:blipFill>
                    <p:spPr bwMode="auto">
                      <a:xfrm>
                        <a:off x="4967044" y="3393625"/>
                        <a:ext cx="1044575" cy="252413"/>
                      </a:xfrm>
                      <a:prstGeom prst="rect">
                        <a:avLst/>
                      </a:prstGeom>
                      <a:solidFill>
                        <a:srgbClr val="D4EAE4"/>
                      </a:solidFill>
                      <a:ln>
                        <a:noFill/>
                      </a:ln>
                    </p:spPr>
                  </p:pic>
                </p:oleObj>
              </mc:Fallback>
            </mc:AlternateContent>
          </a:graphicData>
        </a:graphic>
      </p:graphicFrame>
      <p:graphicFrame>
        <p:nvGraphicFramePr>
          <p:cNvPr id="9" name="Object 8">
            <a:extLst>
              <a:ext uri="{FF2B5EF4-FFF2-40B4-BE49-F238E27FC236}">
                <a16:creationId xmlns:a16="http://schemas.microsoft.com/office/drawing/2014/main" id="{0962CDC7-87BC-4D77-88E5-EA9FB031E265}"/>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4194888274"/>
              </p:ext>
            </p:extLst>
          </p:nvPr>
        </p:nvGraphicFramePr>
        <p:xfrm>
          <a:off x="6964426" y="3916425"/>
          <a:ext cx="1116378" cy="820586"/>
        </p:xfrm>
        <a:graphic>
          <a:graphicData uri="http://schemas.openxmlformats.org/presentationml/2006/ole">
            <mc:AlternateContent xmlns:mc="http://schemas.openxmlformats.org/markup-compatibility/2006">
              <mc:Choice xmlns:v="urn:schemas-microsoft-com:vml" Requires="v">
                <p:oleObj name="Equation" r:id="rId4" imgW="1485720" imgH="1091880" progId="Equation.DSMT4">
                  <p:embed/>
                </p:oleObj>
              </mc:Choice>
              <mc:Fallback>
                <p:oleObj name="Equation" r:id="rId4" imgW="1485720" imgH="1091880" progId="Equation.DSMT4">
                  <p:embed/>
                  <p:pic>
                    <p:nvPicPr>
                      <p:cNvPr id="13" name="Object 12">
                        <a:extLst>
                          <a:ext uri="{FF2B5EF4-FFF2-40B4-BE49-F238E27FC236}">
                            <a16:creationId xmlns:a16="http://schemas.microsoft.com/office/drawing/2014/main" id="{53AD29B9-2C45-4856-E829-E217F3A70FBB}"/>
                          </a:ext>
                          <a:ext uri="{C183D7F6-B498-43B3-948B-1728B52AA6E4}">
                            <adec:decorative xmlns:adec="http://schemas.microsoft.com/office/drawing/2017/decorative" val="1"/>
                          </a:ext>
                        </a:extLst>
                      </p:cNvPr>
                      <p:cNvPicPr/>
                      <p:nvPr/>
                    </p:nvPicPr>
                    <p:blipFill>
                      <a:blip r:embed="rId5"/>
                      <a:stretch>
                        <a:fillRect/>
                      </a:stretch>
                    </p:blipFill>
                    <p:spPr>
                      <a:xfrm>
                        <a:off x="6964426" y="3916425"/>
                        <a:ext cx="1116378" cy="820586"/>
                      </a:xfrm>
                      <a:prstGeom prst="rect">
                        <a:avLst/>
                      </a:prstGeom>
                      <a:solidFill>
                        <a:srgbClr val="D4EAE4"/>
                      </a:solidFill>
                    </p:spPr>
                  </p:pic>
                </p:oleObj>
              </mc:Fallback>
            </mc:AlternateContent>
          </a:graphicData>
        </a:graphic>
      </p:graphicFrame>
      <p:sp>
        <p:nvSpPr>
          <p:cNvPr id="4" name="Content Placeholder 3">
            <a:extLst>
              <a:ext uri="{FF2B5EF4-FFF2-40B4-BE49-F238E27FC236}">
                <a16:creationId xmlns:a16="http://schemas.microsoft.com/office/drawing/2014/main" id="{0DD52A53-AA06-30A3-80A8-F6004494B0FE}"/>
              </a:ext>
            </a:extLst>
          </p:cNvPr>
          <p:cNvSpPr>
            <a:spLocks noGrp="1"/>
          </p:cNvSpPr>
          <p:nvPr>
            <p:ph sz="quarter" idx="13"/>
          </p:nvPr>
        </p:nvSpPr>
        <p:spPr>
          <a:xfrm>
            <a:off x="437224" y="5183402"/>
            <a:ext cx="8411354" cy="851959"/>
          </a:xfrm>
        </p:spPr>
        <p:txBody>
          <a:bodyPr wrap="square" lIns="0" tIns="18000" rIns="0" bIns="18000" anchor="ctr">
            <a:spAutoFit/>
          </a:bodyPr>
          <a:lstStyle/>
          <a:p>
            <a:pPr marL="829818" lvl="1" indent="-342900"/>
            <a:r>
              <a:rPr lang="en-US" altLang="en-US" sz="2400" dirty="0"/>
              <a:t>The </a:t>
            </a:r>
            <a:r>
              <a:rPr lang="en-US" altLang="en-US" sz="2400" spc="-300" dirty="0"/>
              <a:t>I R </a:t>
            </a:r>
            <a:r>
              <a:rPr lang="en-US" altLang="en-US" sz="2400" dirty="0" err="1"/>
              <a:t>R</a:t>
            </a:r>
            <a:r>
              <a:rPr lang="en-US" altLang="en-US" sz="2400" dirty="0"/>
              <a:t> is greater than the cost of capital</a:t>
            </a:r>
          </a:p>
          <a:p>
            <a:pPr marL="829818" lvl="1" indent="-342900"/>
            <a:r>
              <a:rPr lang="en-US" altLang="en-US" sz="2400" dirty="0"/>
              <a:t>Thus, the </a:t>
            </a:r>
            <a:r>
              <a:rPr lang="en-US" altLang="en-US" sz="2400" spc="-300" dirty="0"/>
              <a:t>I R </a:t>
            </a:r>
            <a:r>
              <a:rPr lang="en-US" altLang="en-US" sz="2400" dirty="0" err="1"/>
              <a:t>R</a:t>
            </a:r>
            <a:r>
              <a:rPr lang="en-US" altLang="en-US" sz="2400" dirty="0"/>
              <a:t> rule indicates you should accept the deal</a:t>
            </a:r>
          </a:p>
        </p:txBody>
      </p:sp>
      <p:sp>
        <p:nvSpPr>
          <p:cNvPr id="5" name="ZoneTexte 4">
            <a:extLst>
              <a:ext uri="{FF2B5EF4-FFF2-40B4-BE49-F238E27FC236}">
                <a16:creationId xmlns:a16="http://schemas.microsoft.com/office/drawing/2014/main" id="{D5A854F4-E68D-6F28-9CE7-6F2B3835031B}"/>
              </a:ext>
            </a:extLst>
          </p:cNvPr>
          <p:cNvSpPr txBox="1"/>
          <p:nvPr/>
        </p:nvSpPr>
        <p:spPr>
          <a:xfrm>
            <a:off x="437224" y="2265808"/>
            <a:ext cx="979755" cy="369332"/>
          </a:xfrm>
          <a:prstGeom prst="rect">
            <a:avLst/>
          </a:prstGeom>
          <a:noFill/>
        </p:spPr>
        <p:txBody>
          <a:bodyPr wrap="none" rtlCol="0">
            <a:spAutoFit/>
          </a:bodyPr>
          <a:lstStyle/>
          <a:p>
            <a:r>
              <a:rPr lang="fr-FR" sz="1800" b="1" dirty="0"/>
              <a:t>Table 1</a:t>
            </a:r>
          </a:p>
        </p:txBody>
      </p:sp>
    </p:spTree>
    <p:extLst>
      <p:ext uri="{BB962C8B-B14F-4D97-AF65-F5344CB8AC3E}">
        <p14:creationId xmlns:p14="http://schemas.microsoft.com/office/powerpoint/2010/main" val="34911518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21371"/>
            <a:ext cx="8266346" cy="590349"/>
          </a:xfrm>
        </p:spPr>
        <p:txBody>
          <a:bodyPr/>
          <a:lstStyle/>
          <a:p>
            <a:r>
              <a:rPr lang="en-US" dirty="0"/>
              <a:t>Pitfall 1: Delayed Investments </a:t>
            </a:r>
            <a:r>
              <a:rPr lang="en-US" sz="2800" dirty="0"/>
              <a:t>(3 of 3)</a:t>
            </a:r>
            <a:endParaRPr lang="en-US" sz="2800" noProof="0" dirty="0"/>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37228" y="1994300"/>
            <a:ext cx="8266346" cy="405683"/>
          </a:xfrm>
        </p:spPr>
        <p:txBody>
          <a:bodyPr wrap="square" lIns="0" tIns="18000" rIns="0" bIns="18000" anchor="ctr">
            <a:spAutoFit/>
          </a:bodyPr>
          <a:lstStyle/>
          <a:p>
            <a:pPr marL="342900" indent="-342900">
              <a:spcBef>
                <a:spcPts val="600"/>
              </a:spcBef>
            </a:pPr>
            <a:r>
              <a:rPr lang="en-US" altLang="en-US" sz="2400" dirty="0"/>
              <a:t>Should you accept the deal?</a:t>
            </a:r>
          </a:p>
        </p:txBody>
      </p:sp>
      <p:graphicFrame>
        <p:nvGraphicFramePr>
          <p:cNvPr id="10" name="Object 2" descr="N P V equals 1,000,000 minus start fraction 500,000 over 1.1 end fraction minus start fraction 500,000 over 1.1 superscript 2 baseline end fraction minus start fraction 500,000 over 1.1 superscript 3 baseline end fraction equals negative 243,426 dollars.">
            <a:extLst>
              <a:ext uri="{FF2B5EF4-FFF2-40B4-BE49-F238E27FC236}">
                <a16:creationId xmlns:a16="http://schemas.microsoft.com/office/drawing/2014/main" id="{24DAC473-88DE-4F5C-AED2-BE12F4036C7C}"/>
              </a:ext>
            </a:extLst>
          </p:cNvPr>
          <p:cNvGraphicFramePr>
            <a:graphicFrameLocks noChangeAspect="1"/>
          </p:cNvGraphicFramePr>
          <p:nvPr>
            <p:extLst>
              <p:ext uri="{D42A27DB-BD31-4B8C-83A1-F6EECF244321}">
                <p14:modId xmlns:p14="http://schemas.microsoft.com/office/powerpoint/2010/main" val="2727369782"/>
              </p:ext>
            </p:extLst>
          </p:nvPr>
        </p:nvGraphicFramePr>
        <p:xfrm>
          <a:off x="769110" y="2797676"/>
          <a:ext cx="7520420" cy="678295"/>
        </p:xfrm>
        <a:graphic>
          <a:graphicData uri="http://schemas.openxmlformats.org/presentationml/2006/ole">
            <mc:AlternateContent xmlns:mc="http://schemas.openxmlformats.org/markup-compatibility/2006">
              <mc:Choice xmlns:v="urn:schemas-microsoft-com:vml" Requires="v">
                <p:oleObj name="Equation" r:id="rId2" imgW="4356000" imgH="393480" progId="Equation.DSMT4">
                  <p:embed/>
                </p:oleObj>
              </mc:Choice>
              <mc:Fallback>
                <p:oleObj name="Equation" r:id="rId2" imgW="4356000" imgH="393480" progId="Equation.DSMT4">
                  <p:embed/>
                  <p:pic>
                    <p:nvPicPr>
                      <p:cNvPr id="19457" name="Object 2" descr="N P V = 1,000,000 minus start fraction 500,000 over 1.1 end fraction minus start fraction 500,000 over 1.1 squared end fraction minus start fraction 500,000 over 1.1 cubed end fraction = negative $243,426."/>
                      <p:cNvPicPr>
                        <a:picLocks noChangeAspect="1" noChangeArrowheads="1"/>
                      </p:cNvPicPr>
                      <p:nvPr/>
                    </p:nvPicPr>
                    <p:blipFill>
                      <a:blip r:embed="rId3"/>
                      <a:srcRect/>
                      <a:stretch>
                        <a:fillRect/>
                      </a:stretch>
                    </p:blipFill>
                    <p:spPr bwMode="auto">
                      <a:xfrm>
                        <a:off x="769110" y="2797676"/>
                        <a:ext cx="7520420" cy="6782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4" name="Content Placeholder 3">
            <a:extLst>
              <a:ext uri="{FF2B5EF4-FFF2-40B4-BE49-F238E27FC236}">
                <a16:creationId xmlns:a16="http://schemas.microsoft.com/office/drawing/2014/main" id="{0DD52A53-AA06-30A3-80A8-F6004494B0FE}"/>
              </a:ext>
            </a:extLst>
          </p:cNvPr>
          <p:cNvSpPr>
            <a:spLocks noGrp="1"/>
          </p:cNvSpPr>
          <p:nvPr>
            <p:ph sz="quarter" idx="13"/>
          </p:nvPr>
        </p:nvSpPr>
        <p:spPr>
          <a:xfrm>
            <a:off x="437224" y="3889558"/>
            <a:ext cx="8274976" cy="759745"/>
          </a:xfrm>
        </p:spPr>
        <p:txBody>
          <a:bodyPr wrap="square" lIns="0" tIns="18000" rIns="0" bIns="18000" anchor="ctr">
            <a:spAutoFit/>
          </a:bodyPr>
          <a:lstStyle/>
          <a:p>
            <a:pPr marL="342900" indent="-342900">
              <a:spcBef>
                <a:spcPts val="600"/>
              </a:spcBef>
            </a:pPr>
            <a:r>
              <a:rPr lang="en-US" altLang="en-US" sz="2400" dirty="0"/>
              <a:t>Since the </a:t>
            </a:r>
            <a:r>
              <a:rPr lang="en-US" altLang="en-US" sz="2400" spc="-300" dirty="0"/>
              <a:t>N P </a:t>
            </a:r>
            <a:r>
              <a:rPr lang="en-US" altLang="en-US" sz="2400" dirty="0"/>
              <a:t>V is negative, the </a:t>
            </a:r>
            <a:r>
              <a:rPr lang="en-US" altLang="en-US" sz="2400" spc="-300" dirty="0"/>
              <a:t>N P </a:t>
            </a:r>
            <a:r>
              <a:rPr lang="en-US" altLang="en-US" sz="2400" dirty="0"/>
              <a:t>V rule indicates you should reject the deal</a:t>
            </a:r>
          </a:p>
        </p:txBody>
      </p:sp>
    </p:spTree>
    <p:extLst>
      <p:ext uri="{BB962C8B-B14F-4D97-AF65-F5344CB8AC3E}">
        <p14:creationId xmlns:p14="http://schemas.microsoft.com/office/powerpoint/2010/main" val="27799836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204111" y="423225"/>
            <a:ext cx="8735777" cy="528794"/>
          </a:xfrm>
        </p:spPr>
        <p:txBody>
          <a:bodyPr/>
          <a:lstStyle/>
          <a:p>
            <a:r>
              <a:rPr lang="en-US" sz="3200" dirty="0"/>
              <a:t>Figure 2 : NPV of Star’s $1 Million Book Deal</a:t>
            </a:r>
            <a:endParaRPr lang="en-US" sz="3200" noProof="0" dirty="0"/>
          </a:p>
        </p:txBody>
      </p:sp>
      <p:pic>
        <p:nvPicPr>
          <p:cNvPr id="7" name="Picture 6" descr="A graph shows the variation in the value of N P V with discount rate.&#10;Long description is available in notes, press F6.">
            <a:extLst>
              <a:ext uri="{FF2B5EF4-FFF2-40B4-BE49-F238E27FC236}">
                <a16:creationId xmlns:a16="http://schemas.microsoft.com/office/drawing/2014/main" id="{BE86D940-F1CD-44CB-435D-B1A419202E2D}"/>
              </a:ext>
            </a:extLst>
          </p:cNvPr>
          <p:cNvPicPr>
            <a:picLocks noChangeAspect="1"/>
          </p:cNvPicPr>
          <p:nvPr/>
        </p:nvPicPr>
        <p:blipFill>
          <a:blip r:embed="rId3"/>
          <a:stretch>
            <a:fillRect/>
          </a:stretch>
        </p:blipFill>
        <p:spPr>
          <a:xfrm>
            <a:off x="328755" y="1440873"/>
            <a:ext cx="8569557" cy="3876716"/>
          </a:xfrm>
          <a:prstGeom prst="rect">
            <a:avLst/>
          </a:prstGeom>
        </p:spPr>
      </p:pic>
      <p:sp>
        <p:nvSpPr>
          <p:cNvPr id="4" name="Content Placeholder 3">
            <a:extLst>
              <a:ext uri="{FF2B5EF4-FFF2-40B4-BE49-F238E27FC236}">
                <a16:creationId xmlns:a16="http://schemas.microsoft.com/office/drawing/2014/main" id="{0DD52A53-AA06-30A3-80A8-F6004494B0FE}"/>
              </a:ext>
            </a:extLst>
          </p:cNvPr>
          <p:cNvSpPr>
            <a:spLocks noGrp="1"/>
          </p:cNvSpPr>
          <p:nvPr>
            <p:ph sz="quarter" idx="13"/>
          </p:nvPr>
        </p:nvSpPr>
        <p:spPr>
          <a:xfrm>
            <a:off x="438827" y="5806443"/>
            <a:ext cx="8266346" cy="590349"/>
          </a:xfrm>
        </p:spPr>
        <p:txBody>
          <a:bodyPr wrap="square" lIns="0" tIns="18000" rIns="0" bIns="18000" anchor="ctr">
            <a:spAutoFit/>
          </a:bodyPr>
          <a:lstStyle/>
          <a:p>
            <a:pPr marL="0" indent="0">
              <a:buNone/>
            </a:pPr>
            <a:r>
              <a:rPr lang="en-US" sz="1800" b="1" dirty="0"/>
              <a:t>When the benefits of an investment occur before the costs, the </a:t>
            </a:r>
            <a:r>
              <a:rPr lang="en-US" sz="1800" b="1" spc="-200" dirty="0"/>
              <a:t>NP</a:t>
            </a:r>
            <a:r>
              <a:rPr lang="en-US" sz="1800" b="1" dirty="0"/>
              <a:t>V is an increasing function of the discount rate</a:t>
            </a:r>
          </a:p>
        </p:txBody>
      </p:sp>
    </p:spTree>
    <p:extLst>
      <p:ext uri="{BB962C8B-B14F-4D97-AF65-F5344CB8AC3E}">
        <p14:creationId xmlns:p14="http://schemas.microsoft.com/office/powerpoint/2010/main" val="29612170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37228" y="221371"/>
            <a:ext cx="8266346" cy="590349"/>
          </a:xfrm>
        </p:spPr>
        <p:txBody>
          <a:bodyPr/>
          <a:lstStyle/>
          <a:p>
            <a:r>
              <a:rPr lang="en-US" dirty="0"/>
              <a:t>Pitfall 2: Multiple </a:t>
            </a:r>
            <a:r>
              <a:rPr lang="en-US" spc="-500" dirty="0"/>
              <a:t>I R </a:t>
            </a:r>
            <a:r>
              <a:rPr lang="en-US" spc="-500" dirty="0" err="1"/>
              <a:t>R</a:t>
            </a:r>
            <a:r>
              <a:rPr lang="en-US" spc="-500" dirty="0"/>
              <a:t> </a:t>
            </a:r>
            <a:r>
              <a:rPr lang="en-US" dirty="0"/>
              <a:t>s </a:t>
            </a:r>
            <a:r>
              <a:rPr lang="en-US" sz="2800" dirty="0"/>
              <a:t>(1 of 4)</a:t>
            </a:r>
            <a:endParaRPr lang="en-US" sz="2800" noProof="0" dirty="0"/>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40415" y="1685469"/>
            <a:ext cx="8266346" cy="2190788"/>
          </a:xfrm>
        </p:spPr>
        <p:txBody>
          <a:bodyPr wrap="square" lIns="0" tIns="18000" rIns="0" bIns="18000" anchor="ctr">
            <a:spAutoFit/>
          </a:bodyPr>
          <a:lstStyle/>
          <a:p>
            <a:pPr marL="342900" indent="-342900">
              <a:spcBef>
                <a:spcPts val="600"/>
              </a:spcBef>
              <a:spcAft>
                <a:spcPts val="600"/>
              </a:spcAft>
            </a:pPr>
            <a:r>
              <a:rPr lang="en-US" sz="2400" dirty="0"/>
              <a:t>Suppose Star informs the publisher that it needs to sweeten the deal before he will accept it</a:t>
            </a:r>
          </a:p>
          <a:p>
            <a:pPr marL="342900" indent="-342900">
              <a:spcBef>
                <a:spcPts val="600"/>
              </a:spcBef>
              <a:spcAft>
                <a:spcPts val="600"/>
              </a:spcAft>
            </a:pPr>
            <a:r>
              <a:rPr lang="en-US" sz="2400" dirty="0"/>
              <a:t>The publisher offers $550,000 advance and $1,000,000 in four years when the book is published</a:t>
            </a:r>
          </a:p>
          <a:p>
            <a:pPr marL="342900" indent="-342900">
              <a:spcBef>
                <a:spcPts val="600"/>
              </a:spcBef>
              <a:spcAft>
                <a:spcPts val="600"/>
              </a:spcAft>
            </a:pPr>
            <a:r>
              <a:rPr lang="en-US" sz="2400" dirty="0"/>
              <a:t>Should he accept or reject the new offer?</a:t>
            </a:r>
          </a:p>
        </p:txBody>
      </p:sp>
    </p:spTree>
    <p:extLst>
      <p:ext uri="{BB962C8B-B14F-4D97-AF65-F5344CB8AC3E}">
        <p14:creationId xmlns:p14="http://schemas.microsoft.com/office/powerpoint/2010/main" val="5004136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21371"/>
            <a:ext cx="8266346" cy="590349"/>
          </a:xfrm>
        </p:spPr>
        <p:txBody>
          <a:bodyPr/>
          <a:lstStyle/>
          <a:p>
            <a:r>
              <a:rPr lang="en-US" dirty="0"/>
              <a:t>Pitfall 2: Multiple </a:t>
            </a:r>
            <a:r>
              <a:rPr lang="en-US" spc="-500" dirty="0"/>
              <a:t>I R </a:t>
            </a:r>
            <a:r>
              <a:rPr lang="en-US" spc="-500" dirty="0" err="1"/>
              <a:t>R</a:t>
            </a:r>
            <a:r>
              <a:rPr lang="en-US" spc="-500" dirty="0"/>
              <a:t> </a:t>
            </a:r>
            <a:r>
              <a:rPr lang="en-US" dirty="0"/>
              <a:t>s </a:t>
            </a:r>
            <a:r>
              <a:rPr lang="en-US" sz="2800" dirty="0"/>
              <a:t>(2 of 4)</a:t>
            </a:r>
            <a:endParaRPr lang="en-US" sz="2800" noProof="0" dirty="0"/>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37228" y="1586340"/>
            <a:ext cx="8266346" cy="405683"/>
          </a:xfrm>
        </p:spPr>
        <p:txBody>
          <a:bodyPr wrap="square" lIns="0" tIns="18000" rIns="0" bIns="18000" anchor="ctr">
            <a:spAutoFit/>
          </a:bodyPr>
          <a:lstStyle/>
          <a:p>
            <a:pPr marL="342900" indent="-342900">
              <a:spcBef>
                <a:spcPts val="600"/>
              </a:spcBef>
            </a:pPr>
            <a:r>
              <a:rPr lang="en-US" altLang="en-US" sz="2400" dirty="0"/>
              <a:t>The cash flows would now look like</a:t>
            </a:r>
          </a:p>
        </p:txBody>
      </p:sp>
      <p:pic>
        <p:nvPicPr>
          <p:cNvPr id="7" name="Picture 6" descr="A timeline reads years and cash flow in dollars as follows: 0, Negative 550,000; 1, Negative 500,000; 2, Negative 500,000; 3, Negative 500,000; 4, Negative 1,000,000.">
            <a:extLst>
              <a:ext uri="{FF2B5EF4-FFF2-40B4-BE49-F238E27FC236}">
                <a16:creationId xmlns:a16="http://schemas.microsoft.com/office/drawing/2014/main" id="{762DDC6B-792E-4E58-A7E8-6081968A0D25}"/>
              </a:ext>
            </a:extLst>
          </p:cNvPr>
          <p:cNvPicPr>
            <a:picLocks noChangeAspect="1"/>
          </p:cNvPicPr>
          <p:nvPr/>
        </p:nvPicPr>
        <p:blipFill>
          <a:blip r:embed="rId3"/>
          <a:stretch>
            <a:fillRect/>
          </a:stretch>
        </p:blipFill>
        <p:spPr>
          <a:xfrm>
            <a:off x="586468" y="2257789"/>
            <a:ext cx="7971064" cy="867196"/>
          </a:xfrm>
          <a:prstGeom prst="rect">
            <a:avLst/>
          </a:prstGeom>
        </p:spPr>
      </p:pic>
      <p:sp>
        <p:nvSpPr>
          <p:cNvPr id="4" name="Content Placeholder 3">
            <a:extLst>
              <a:ext uri="{FF2B5EF4-FFF2-40B4-BE49-F238E27FC236}">
                <a16:creationId xmlns:a16="http://schemas.microsoft.com/office/drawing/2014/main" id="{0DD52A53-AA06-30A3-80A8-F6004494B0FE}"/>
              </a:ext>
            </a:extLst>
          </p:cNvPr>
          <p:cNvSpPr>
            <a:spLocks noGrp="1"/>
          </p:cNvSpPr>
          <p:nvPr>
            <p:ph sz="quarter" idx="13"/>
          </p:nvPr>
        </p:nvSpPr>
        <p:spPr>
          <a:xfrm>
            <a:off x="437224" y="3604385"/>
            <a:ext cx="8274976" cy="405683"/>
          </a:xfrm>
        </p:spPr>
        <p:txBody>
          <a:bodyPr wrap="square" lIns="0" tIns="18000" rIns="0" bIns="18000" anchor="ctr">
            <a:spAutoFit/>
          </a:bodyPr>
          <a:lstStyle/>
          <a:p>
            <a:pPr marL="342900" indent="-342900">
              <a:spcBef>
                <a:spcPts val="600"/>
              </a:spcBef>
            </a:pPr>
            <a:r>
              <a:rPr lang="en-US" altLang="en-US" sz="2400" dirty="0"/>
              <a:t>The </a:t>
            </a:r>
            <a:r>
              <a:rPr lang="en-US" altLang="en-US" sz="2400" spc="-300" dirty="0"/>
              <a:t>N P </a:t>
            </a:r>
            <a:r>
              <a:rPr lang="en-US" altLang="en-US" sz="2400" dirty="0"/>
              <a:t>V is calculated as</a:t>
            </a:r>
          </a:p>
        </p:txBody>
      </p:sp>
      <p:graphicFrame>
        <p:nvGraphicFramePr>
          <p:cNvPr id="6" name="Object 3" descr="An expression shows N P V calculation. &#10;Long description is available in notes, press F6.">
            <a:extLst>
              <a:ext uri="{FF2B5EF4-FFF2-40B4-BE49-F238E27FC236}">
                <a16:creationId xmlns:a16="http://schemas.microsoft.com/office/drawing/2014/main" id="{A9233C58-F626-4632-9A28-D7BD5711AAD7}"/>
              </a:ext>
            </a:extLst>
          </p:cNvPr>
          <p:cNvGraphicFramePr>
            <a:graphicFrameLocks noChangeAspect="1"/>
          </p:cNvGraphicFramePr>
          <p:nvPr>
            <p:extLst>
              <p:ext uri="{D42A27DB-BD31-4B8C-83A1-F6EECF244321}">
                <p14:modId xmlns:p14="http://schemas.microsoft.com/office/powerpoint/2010/main" val="3600506673"/>
              </p:ext>
            </p:extLst>
          </p:nvPr>
        </p:nvGraphicFramePr>
        <p:xfrm>
          <a:off x="1037287" y="4388546"/>
          <a:ext cx="6997988" cy="699944"/>
        </p:xfrm>
        <a:graphic>
          <a:graphicData uri="http://schemas.openxmlformats.org/presentationml/2006/ole">
            <mc:AlternateContent xmlns:mc="http://schemas.openxmlformats.org/markup-compatibility/2006">
              <mc:Choice xmlns:v="urn:schemas-microsoft-com:vml" Requires="v">
                <p:oleObj name="Equation" r:id="rId4" imgW="4178160" imgH="419040" progId="Equation.DSMT4">
                  <p:embed/>
                </p:oleObj>
              </mc:Choice>
              <mc:Fallback>
                <p:oleObj name="Equation" r:id="rId4" imgW="4178160" imgH="419040" progId="Equation.DSMT4">
                  <p:embed/>
                  <p:pic>
                    <p:nvPicPr>
                      <p:cNvPr id="16386" name="Object 3" descr="N P V = 550,000 minus start fraction 500,000 over 1 + r end fraction minus start fraction 500,000 over left parenthesis 1 + r right parenthesis squared end fraction minus start fraction 500,000 over left parenthesis 1 + r right parenthesis cubed end fraction minus start fraction 1,000,000 over left parenthesis 1 + r right parenthesis to the power 4 end fraction."/>
                      <p:cNvPicPr>
                        <a:picLocks noChangeAspect="1" noChangeArrowheads="1"/>
                      </p:cNvPicPr>
                      <p:nvPr/>
                    </p:nvPicPr>
                    <p:blipFill>
                      <a:blip r:embed="rId5"/>
                      <a:srcRect/>
                      <a:stretch>
                        <a:fillRect/>
                      </a:stretch>
                    </p:blipFill>
                    <p:spPr bwMode="auto">
                      <a:xfrm>
                        <a:off x="1037287" y="4388546"/>
                        <a:ext cx="6997988" cy="6999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5" name="ZoneTexte 4">
            <a:extLst>
              <a:ext uri="{FF2B5EF4-FFF2-40B4-BE49-F238E27FC236}">
                <a16:creationId xmlns:a16="http://schemas.microsoft.com/office/drawing/2014/main" id="{4B7CC9D7-2EE4-1D77-5041-4D4D4F39733E}"/>
              </a:ext>
            </a:extLst>
          </p:cNvPr>
          <p:cNvSpPr txBox="1"/>
          <p:nvPr/>
        </p:nvSpPr>
        <p:spPr>
          <a:xfrm>
            <a:off x="6500821" y="4486265"/>
            <a:ext cx="364202" cy="461665"/>
          </a:xfrm>
          <a:prstGeom prst="rect">
            <a:avLst/>
          </a:prstGeom>
          <a:noFill/>
        </p:spPr>
        <p:txBody>
          <a:bodyPr wrap="none" rtlCol="0">
            <a:spAutoFit/>
          </a:bodyPr>
          <a:lstStyle/>
          <a:p>
            <a:r>
              <a:rPr lang="fr-FR" sz="2400" dirty="0"/>
              <a:t>+</a:t>
            </a:r>
          </a:p>
        </p:txBody>
      </p:sp>
    </p:spTree>
    <p:extLst>
      <p:ext uri="{BB962C8B-B14F-4D97-AF65-F5344CB8AC3E}">
        <p14:creationId xmlns:p14="http://schemas.microsoft.com/office/powerpoint/2010/main" val="20045454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21371"/>
            <a:ext cx="8266346" cy="590349"/>
          </a:xfrm>
        </p:spPr>
        <p:txBody>
          <a:bodyPr/>
          <a:lstStyle/>
          <a:p>
            <a:r>
              <a:rPr lang="en-US" dirty="0"/>
              <a:t>Pitfall 2: Multiple </a:t>
            </a:r>
            <a:r>
              <a:rPr lang="en-US" spc="-500" dirty="0"/>
              <a:t>I R </a:t>
            </a:r>
            <a:r>
              <a:rPr lang="en-US" spc="-500" dirty="0" err="1"/>
              <a:t>R</a:t>
            </a:r>
            <a:r>
              <a:rPr lang="en-US" spc="-500" dirty="0"/>
              <a:t> </a:t>
            </a:r>
            <a:r>
              <a:rPr lang="en-US" dirty="0"/>
              <a:t>s </a:t>
            </a:r>
            <a:r>
              <a:rPr lang="en-US" sz="2800" dirty="0"/>
              <a:t>(3 of 4)</a:t>
            </a:r>
            <a:endParaRPr lang="en-US" sz="2800" noProof="0" dirty="0"/>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37228" y="1631100"/>
            <a:ext cx="8266346" cy="2190788"/>
          </a:xfrm>
        </p:spPr>
        <p:txBody>
          <a:bodyPr wrap="square" lIns="0" tIns="18000" rIns="0" bIns="18000" anchor="ctr">
            <a:spAutoFit/>
          </a:bodyPr>
          <a:lstStyle/>
          <a:p>
            <a:pPr marL="342900" indent="-342900">
              <a:spcBef>
                <a:spcPts val="600"/>
              </a:spcBef>
              <a:spcAft>
                <a:spcPts val="600"/>
              </a:spcAft>
            </a:pPr>
            <a:r>
              <a:rPr lang="en-US" altLang="en-US" sz="2400" dirty="0"/>
              <a:t>By setting the </a:t>
            </a:r>
            <a:r>
              <a:rPr lang="en-US" altLang="en-US" sz="2400" spc="-300" dirty="0"/>
              <a:t>N P </a:t>
            </a:r>
            <a:r>
              <a:rPr lang="en-US" altLang="en-US" sz="2400" dirty="0"/>
              <a:t>V equal to zero and solving for </a:t>
            </a:r>
            <a:r>
              <a:rPr lang="en-US" altLang="en-US" sz="2400" i="1" dirty="0"/>
              <a:t>r</a:t>
            </a:r>
            <a:r>
              <a:rPr lang="en-US" altLang="en-US" sz="2400" dirty="0"/>
              <a:t>, we find the </a:t>
            </a:r>
            <a:r>
              <a:rPr lang="en-US" altLang="en-US" sz="2400" spc="-300" dirty="0"/>
              <a:t>I R </a:t>
            </a:r>
            <a:r>
              <a:rPr lang="en-US" altLang="en-US" sz="2400" dirty="0" err="1"/>
              <a:t>R</a:t>
            </a:r>
            <a:endParaRPr lang="en-US" altLang="en-US" sz="2400" dirty="0"/>
          </a:p>
          <a:p>
            <a:pPr marL="342900" indent="-342900">
              <a:spcBef>
                <a:spcPts val="600"/>
              </a:spcBef>
              <a:spcAft>
                <a:spcPts val="600"/>
              </a:spcAft>
            </a:pPr>
            <a:r>
              <a:rPr lang="en-US" altLang="en-US" sz="2400" dirty="0"/>
              <a:t>In this case, there are two </a:t>
            </a:r>
            <a:r>
              <a:rPr lang="en-US" altLang="en-US" sz="2400" spc="-300" dirty="0"/>
              <a:t>I R </a:t>
            </a:r>
            <a:r>
              <a:rPr lang="en-US" altLang="en-US" sz="2400" dirty="0"/>
              <a:t>Rs: 7.164% and 33.673%</a:t>
            </a:r>
          </a:p>
          <a:p>
            <a:pPr marL="342900" indent="-342900">
              <a:spcBef>
                <a:spcPts val="600"/>
              </a:spcBef>
              <a:spcAft>
                <a:spcPts val="600"/>
              </a:spcAft>
            </a:pPr>
            <a:r>
              <a:rPr lang="en-US" altLang="en-US" sz="2400" dirty="0"/>
              <a:t>Because there is more than one </a:t>
            </a:r>
            <a:r>
              <a:rPr lang="en-US" altLang="en-US" sz="2400" spc="-300" dirty="0"/>
              <a:t>I R </a:t>
            </a:r>
            <a:r>
              <a:rPr lang="en-US" altLang="en-US" sz="2400" dirty="0" err="1"/>
              <a:t>R</a:t>
            </a:r>
            <a:r>
              <a:rPr lang="en-US" altLang="en-US" sz="2400" dirty="0"/>
              <a:t>, the </a:t>
            </a:r>
            <a:r>
              <a:rPr lang="en-US" altLang="en-US" sz="2400" spc="-300" dirty="0"/>
              <a:t>I R </a:t>
            </a:r>
            <a:r>
              <a:rPr lang="en-US" altLang="en-US" sz="2400" dirty="0" err="1"/>
              <a:t>R</a:t>
            </a:r>
            <a:r>
              <a:rPr lang="en-US" altLang="en-US" sz="2400" dirty="0"/>
              <a:t> rule cannot be applied</a:t>
            </a:r>
          </a:p>
        </p:txBody>
      </p:sp>
    </p:spTree>
    <p:extLst>
      <p:ext uri="{BB962C8B-B14F-4D97-AF65-F5344CB8AC3E}">
        <p14:creationId xmlns:p14="http://schemas.microsoft.com/office/powerpoint/2010/main" val="1341682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9978" y="229688"/>
            <a:ext cx="8266346" cy="1052014"/>
          </a:xfrm>
        </p:spPr>
        <p:txBody>
          <a:bodyPr/>
          <a:lstStyle/>
          <a:p>
            <a:r>
              <a:rPr lang="en-US" sz="3300" dirty="0"/>
              <a:t>Figure 3 : NPV of Star’s Book Deal with Royalties</a:t>
            </a:r>
            <a:endParaRPr lang="en-US" sz="3300" noProof="0" dirty="0"/>
          </a:p>
        </p:txBody>
      </p:sp>
      <p:pic>
        <p:nvPicPr>
          <p:cNvPr id="6" name="Picture 5" descr="A graph between N P V and discount rates.&#10;Long description is available in notes, press F6.">
            <a:extLst>
              <a:ext uri="{FF2B5EF4-FFF2-40B4-BE49-F238E27FC236}">
                <a16:creationId xmlns:a16="http://schemas.microsoft.com/office/drawing/2014/main" id="{ED0D7FB0-132D-D605-E4CF-FEE54528F34D}"/>
              </a:ext>
            </a:extLst>
          </p:cNvPr>
          <p:cNvPicPr>
            <a:picLocks noChangeAspect="1"/>
          </p:cNvPicPr>
          <p:nvPr/>
        </p:nvPicPr>
        <p:blipFill>
          <a:blip r:embed="rId3"/>
          <a:stretch>
            <a:fillRect/>
          </a:stretch>
        </p:blipFill>
        <p:spPr>
          <a:xfrm>
            <a:off x="719220" y="1516253"/>
            <a:ext cx="7480475" cy="4687599"/>
          </a:xfrm>
          <a:prstGeom prst="rect">
            <a:avLst/>
          </a:prstGeom>
        </p:spPr>
      </p:pic>
    </p:spTree>
    <p:extLst>
      <p:ext uri="{BB962C8B-B14F-4D97-AF65-F5344CB8AC3E}">
        <p14:creationId xmlns:p14="http://schemas.microsoft.com/office/powerpoint/2010/main" val="38393709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21371"/>
            <a:ext cx="8266346" cy="590349"/>
          </a:xfrm>
        </p:spPr>
        <p:txBody>
          <a:bodyPr/>
          <a:lstStyle/>
          <a:p>
            <a:r>
              <a:rPr lang="en-US" dirty="0"/>
              <a:t>Pitfall 2: Multiple </a:t>
            </a:r>
            <a:r>
              <a:rPr lang="en-US" spc="-500" dirty="0"/>
              <a:t>I R </a:t>
            </a:r>
            <a:r>
              <a:rPr lang="en-US" spc="-500" dirty="0" err="1"/>
              <a:t>R</a:t>
            </a:r>
            <a:r>
              <a:rPr lang="en-US" spc="-500" dirty="0"/>
              <a:t> </a:t>
            </a:r>
            <a:r>
              <a:rPr lang="en-US" dirty="0"/>
              <a:t>s </a:t>
            </a:r>
            <a:r>
              <a:rPr lang="en-US" sz="2800" dirty="0"/>
              <a:t>(4 of 4)</a:t>
            </a:r>
            <a:endParaRPr lang="en-US" sz="2800" noProof="0" dirty="0"/>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38827" y="1507080"/>
            <a:ext cx="8266346" cy="1667567"/>
          </a:xfrm>
        </p:spPr>
        <p:txBody>
          <a:bodyPr wrap="square" lIns="0" tIns="18000" rIns="0" bIns="18000" anchor="ctr">
            <a:spAutoFit/>
          </a:bodyPr>
          <a:lstStyle/>
          <a:p>
            <a:pPr marL="342900" indent="-342900">
              <a:spcBef>
                <a:spcPts val="600"/>
              </a:spcBef>
              <a:spcAft>
                <a:spcPts val="600"/>
              </a:spcAft>
            </a:pPr>
            <a:r>
              <a:rPr lang="en-US" altLang="en-US" sz="2400" dirty="0"/>
              <a:t>As seen in Figure 3, between 7.164% and 33.673%, the book deal has a negative </a:t>
            </a:r>
            <a:r>
              <a:rPr lang="en-US" altLang="en-US" sz="2400" spc="-300" dirty="0"/>
              <a:t>N P </a:t>
            </a:r>
            <a:r>
              <a:rPr lang="en-US" altLang="en-US" sz="2400" dirty="0"/>
              <a:t>V</a:t>
            </a:r>
          </a:p>
          <a:p>
            <a:pPr marL="342900" indent="-342900">
              <a:spcBef>
                <a:spcPts val="600"/>
              </a:spcBef>
              <a:spcAft>
                <a:spcPts val="600"/>
              </a:spcAft>
            </a:pPr>
            <a:r>
              <a:rPr lang="en-US" altLang="en-US" sz="2400" dirty="0"/>
              <a:t>Since your opportunity cost of capital is 10%, you should reject the deal</a:t>
            </a:r>
          </a:p>
        </p:txBody>
      </p:sp>
    </p:spTree>
    <p:extLst>
      <p:ext uri="{BB962C8B-B14F-4D97-AF65-F5344CB8AC3E}">
        <p14:creationId xmlns:p14="http://schemas.microsoft.com/office/powerpoint/2010/main" val="4279304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21371"/>
            <a:ext cx="8266346" cy="590349"/>
          </a:xfrm>
        </p:spPr>
        <p:txBody>
          <a:bodyPr/>
          <a:lstStyle/>
          <a:p>
            <a:r>
              <a:rPr lang="en-US" dirty="0"/>
              <a:t>Pitfall 3: Nonexistent </a:t>
            </a:r>
            <a:r>
              <a:rPr lang="en-US" spc="-500" dirty="0"/>
              <a:t>I R </a:t>
            </a:r>
            <a:r>
              <a:rPr lang="en-US" dirty="0" err="1"/>
              <a:t>R</a:t>
            </a:r>
            <a:endParaRPr lang="en-US" sz="2800" noProof="0" dirty="0"/>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45854" y="1726609"/>
            <a:ext cx="8266346" cy="2036899"/>
          </a:xfrm>
        </p:spPr>
        <p:txBody>
          <a:bodyPr wrap="square" lIns="0" tIns="18000" rIns="0" bIns="18000" anchor="ctr">
            <a:spAutoFit/>
          </a:bodyPr>
          <a:lstStyle/>
          <a:p>
            <a:pPr marL="342900" indent="-342900">
              <a:spcBef>
                <a:spcPts val="600"/>
              </a:spcBef>
              <a:spcAft>
                <a:spcPts val="600"/>
              </a:spcAft>
            </a:pPr>
            <a:r>
              <a:rPr lang="en-US" altLang="en-US" sz="2400" dirty="0"/>
              <a:t>Finally, Star is able to get the publisher to increase his advance to $750,000, in addition to the $1 million when the book is published in four years</a:t>
            </a:r>
          </a:p>
          <a:p>
            <a:pPr marL="342900" indent="-342900">
              <a:spcBef>
                <a:spcPts val="600"/>
              </a:spcBef>
              <a:spcAft>
                <a:spcPts val="600"/>
              </a:spcAft>
            </a:pPr>
            <a:r>
              <a:rPr lang="en-US" altLang="en-US" sz="2400" dirty="0"/>
              <a:t>With these cash flows, no </a:t>
            </a:r>
            <a:r>
              <a:rPr lang="en-US" altLang="en-US" sz="2400" spc="-300" dirty="0"/>
              <a:t>I R </a:t>
            </a:r>
            <a:r>
              <a:rPr lang="en-US" altLang="en-US" sz="2400" dirty="0" err="1"/>
              <a:t>R</a:t>
            </a:r>
            <a:r>
              <a:rPr lang="en-US" altLang="en-US" sz="2400" dirty="0"/>
              <a:t> exists; there is no discount rate that makes </a:t>
            </a:r>
            <a:r>
              <a:rPr lang="en-US" altLang="en-US" sz="2400" spc="-300" dirty="0"/>
              <a:t>N P </a:t>
            </a:r>
            <a:r>
              <a:rPr lang="en-US" altLang="en-US" sz="2400" dirty="0"/>
              <a:t>V equal to zero</a:t>
            </a:r>
          </a:p>
        </p:txBody>
      </p:sp>
    </p:spTree>
    <p:extLst>
      <p:ext uri="{BB962C8B-B14F-4D97-AF65-F5344CB8AC3E}">
        <p14:creationId xmlns:p14="http://schemas.microsoft.com/office/powerpoint/2010/main" val="33571164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37228" y="221371"/>
            <a:ext cx="8266346" cy="590349"/>
          </a:xfrm>
        </p:spPr>
        <p:txBody>
          <a:bodyPr/>
          <a:lstStyle/>
          <a:p>
            <a:r>
              <a:rPr lang="en-US" dirty="0"/>
              <a:t>Figure 4 : N P V of Star’s Final Offer </a:t>
            </a:r>
            <a:endParaRPr lang="en-US" sz="2800" noProof="0" dirty="0"/>
          </a:p>
        </p:txBody>
      </p:sp>
      <p:pic>
        <p:nvPicPr>
          <p:cNvPr id="6" name="Picture 5" descr="A graph shows the variation in the value of N P V with discount rate.&#10;Long description is available in notes, press F6.">
            <a:extLst>
              <a:ext uri="{FF2B5EF4-FFF2-40B4-BE49-F238E27FC236}">
                <a16:creationId xmlns:a16="http://schemas.microsoft.com/office/drawing/2014/main" id="{CE41D78A-3394-4683-BC07-FCC9CDC94AC0}"/>
              </a:ext>
            </a:extLst>
          </p:cNvPr>
          <p:cNvPicPr>
            <a:picLocks noChangeAspect="1"/>
          </p:cNvPicPr>
          <p:nvPr/>
        </p:nvPicPr>
        <p:blipFill>
          <a:blip r:embed="rId3"/>
          <a:stretch>
            <a:fillRect/>
          </a:stretch>
        </p:blipFill>
        <p:spPr>
          <a:xfrm>
            <a:off x="562349" y="1424550"/>
            <a:ext cx="7596913" cy="4048533"/>
          </a:xfrm>
          <a:prstGeom prst="rect">
            <a:avLst/>
          </a:prstGeom>
        </p:spPr>
      </p:pic>
      <p:sp>
        <p:nvSpPr>
          <p:cNvPr id="4" name="Content Placeholder 3">
            <a:extLst>
              <a:ext uri="{FF2B5EF4-FFF2-40B4-BE49-F238E27FC236}">
                <a16:creationId xmlns:a16="http://schemas.microsoft.com/office/drawing/2014/main" id="{0DD52A53-AA06-30A3-80A8-F6004494B0FE}"/>
              </a:ext>
            </a:extLst>
          </p:cNvPr>
          <p:cNvSpPr>
            <a:spLocks noGrp="1"/>
          </p:cNvSpPr>
          <p:nvPr>
            <p:ph sz="quarter" idx="13"/>
          </p:nvPr>
        </p:nvSpPr>
        <p:spPr>
          <a:xfrm>
            <a:off x="440415" y="5845833"/>
            <a:ext cx="8266346" cy="590349"/>
          </a:xfrm>
        </p:spPr>
        <p:txBody>
          <a:bodyPr wrap="square" lIns="0" tIns="18000" rIns="0" bIns="18000" anchor="ctr">
            <a:spAutoFit/>
          </a:bodyPr>
          <a:lstStyle/>
          <a:p>
            <a:pPr marL="0" indent="0">
              <a:buNone/>
            </a:pPr>
            <a:r>
              <a:rPr lang="en-US" sz="1800" b="1" dirty="0"/>
              <a:t>No </a:t>
            </a:r>
            <a:r>
              <a:rPr lang="en-US" sz="1800" b="1" spc="-200" dirty="0"/>
              <a:t>I R </a:t>
            </a:r>
            <a:r>
              <a:rPr lang="en-US" sz="1800" b="1" dirty="0" err="1"/>
              <a:t>R</a:t>
            </a:r>
            <a:r>
              <a:rPr lang="en-US" sz="1800" b="1" dirty="0"/>
              <a:t> exists because the </a:t>
            </a:r>
            <a:r>
              <a:rPr lang="en-US" sz="1800" b="1" spc="-200" dirty="0"/>
              <a:t>N P </a:t>
            </a:r>
            <a:r>
              <a:rPr lang="en-US" sz="1800" b="1" dirty="0"/>
              <a:t>V is positive for all values of the discount rate. Thus the </a:t>
            </a:r>
            <a:r>
              <a:rPr lang="en-US" sz="1800" b="1" spc="-200" dirty="0"/>
              <a:t>I R </a:t>
            </a:r>
            <a:r>
              <a:rPr lang="en-US" sz="1800" b="1" dirty="0" err="1"/>
              <a:t>R</a:t>
            </a:r>
            <a:r>
              <a:rPr lang="en-US" sz="1800" b="1" dirty="0"/>
              <a:t> rule cannot be used</a:t>
            </a:r>
          </a:p>
        </p:txBody>
      </p:sp>
    </p:spTree>
    <p:extLst>
      <p:ext uri="{BB962C8B-B14F-4D97-AF65-F5344CB8AC3E}">
        <p14:creationId xmlns:p14="http://schemas.microsoft.com/office/powerpoint/2010/main" val="10490227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21371"/>
            <a:ext cx="8266346" cy="590349"/>
          </a:xfrm>
        </p:spPr>
        <p:txBody>
          <a:bodyPr/>
          <a:lstStyle/>
          <a:p>
            <a:r>
              <a:rPr lang="en-US" dirty="0"/>
              <a:t>Common Mistake</a:t>
            </a:r>
            <a:endParaRPr lang="en-US" sz="2800" noProof="0" dirty="0"/>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38827" y="1372331"/>
            <a:ext cx="8266346" cy="2560119"/>
          </a:xfrm>
        </p:spPr>
        <p:txBody>
          <a:bodyPr wrap="square" lIns="0" tIns="18000" rIns="0" bIns="18000" anchor="ctr">
            <a:spAutoFit/>
          </a:bodyPr>
          <a:lstStyle/>
          <a:p>
            <a:pPr marL="342900" indent="-342900">
              <a:spcBef>
                <a:spcPts val="600"/>
              </a:spcBef>
              <a:spcAft>
                <a:spcPts val="600"/>
              </a:spcAft>
            </a:pPr>
            <a:r>
              <a:rPr lang="en-US" altLang="en-US" sz="2400" spc="-300" dirty="0"/>
              <a:t>I R </a:t>
            </a:r>
            <a:r>
              <a:rPr lang="en-US" altLang="en-US" sz="2400" dirty="0" err="1"/>
              <a:t>R</a:t>
            </a:r>
            <a:r>
              <a:rPr lang="en-US" altLang="en-US" sz="2400" dirty="0"/>
              <a:t> Versus the </a:t>
            </a:r>
            <a:r>
              <a:rPr lang="en-US" altLang="en-US" sz="2400" spc="-300" dirty="0"/>
              <a:t>I R </a:t>
            </a:r>
            <a:r>
              <a:rPr lang="en-US" altLang="en-US" sz="2400" dirty="0" err="1"/>
              <a:t>R</a:t>
            </a:r>
            <a:r>
              <a:rPr lang="en-US" altLang="en-US" sz="2400" dirty="0"/>
              <a:t> Rule</a:t>
            </a:r>
          </a:p>
          <a:p>
            <a:pPr marL="829818" lvl="1" indent="-342900">
              <a:spcAft>
                <a:spcPts val="600"/>
              </a:spcAft>
            </a:pPr>
            <a:r>
              <a:rPr lang="en-US" altLang="en-US" sz="2400" dirty="0"/>
              <a:t>While the </a:t>
            </a:r>
            <a:r>
              <a:rPr lang="en-US" altLang="en-US" sz="2400" spc="-300" dirty="0"/>
              <a:t>I R </a:t>
            </a:r>
            <a:r>
              <a:rPr lang="en-US" altLang="en-US" sz="2400" dirty="0" err="1"/>
              <a:t>R</a:t>
            </a:r>
            <a:r>
              <a:rPr lang="en-US" altLang="en-US" sz="2400" dirty="0"/>
              <a:t> rule has shortcomings for making investment decisions, the </a:t>
            </a:r>
            <a:r>
              <a:rPr lang="en-US" altLang="en-US" sz="2400" spc="-300" dirty="0"/>
              <a:t>I R </a:t>
            </a:r>
            <a:r>
              <a:rPr lang="en-US" altLang="en-US" sz="2400" dirty="0" err="1"/>
              <a:t>R</a:t>
            </a:r>
            <a:r>
              <a:rPr lang="en-US" altLang="en-US" sz="2400" dirty="0"/>
              <a:t> itself remains useful</a:t>
            </a:r>
          </a:p>
          <a:p>
            <a:pPr marL="829818" lvl="1" indent="-342900">
              <a:spcAft>
                <a:spcPts val="600"/>
              </a:spcAft>
            </a:pPr>
            <a:r>
              <a:rPr lang="en-US" altLang="en-US" sz="2400" spc="-300" dirty="0"/>
              <a:t>I R </a:t>
            </a:r>
            <a:r>
              <a:rPr lang="en-US" altLang="en-US" sz="2400" dirty="0" err="1"/>
              <a:t>R</a:t>
            </a:r>
            <a:r>
              <a:rPr lang="en-US" altLang="en-US" sz="2400" dirty="0"/>
              <a:t> measures the average return of the investment and the sensitivity of the </a:t>
            </a:r>
            <a:r>
              <a:rPr lang="en-US" altLang="en-US" sz="2400" spc="-300" dirty="0"/>
              <a:t>N P </a:t>
            </a:r>
            <a:r>
              <a:rPr lang="en-US" altLang="en-US" sz="2400" dirty="0"/>
              <a:t>V to any estimation error in the cost of capital</a:t>
            </a:r>
          </a:p>
        </p:txBody>
      </p:sp>
    </p:spTree>
    <p:extLst>
      <p:ext uri="{BB962C8B-B14F-4D97-AF65-F5344CB8AC3E}">
        <p14:creationId xmlns:p14="http://schemas.microsoft.com/office/powerpoint/2010/main" val="24505790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21371"/>
            <a:ext cx="8266346" cy="590349"/>
          </a:xfrm>
        </p:spPr>
        <p:txBody>
          <a:bodyPr/>
          <a:lstStyle/>
          <a:p>
            <a:r>
              <a:rPr lang="en-US" dirty="0"/>
              <a:t>3. The Payback Rule </a:t>
            </a:r>
            <a:r>
              <a:rPr lang="en-US" sz="2800" dirty="0"/>
              <a:t>(1 of 2)</a:t>
            </a:r>
            <a:endParaRPr lang="en-US" sz="2800" noProof="0" dirty="0"/>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38827" y="1388058"/>
            <a:ext cx="8266346" cy="3083340"/>
          </a:xfrm>
        </p:spPr>
        <p:txBody>
          <a:bodyPr wrap="square" lIns="0" tIns="18000" rIns="0" bIns="18000" anchor="ctr">
            <a:spAutoFit/>
          </a:bodyPr>
          <a:lstStyle/>
          <a:p>
            <a:pPr marL="342900" indent="-342900">
              <a:spcBef>
                <a:spcPts val="600"/>
              </a:spcBef>
              <a:spcAft>
                <a:spcPts val="600"/>
              </a:spcAft>
            </a:pPr>
            <a:r>
              <a:rPr lang="en-US" altLang="en-US" sz="2400" dirty="0"/>
              <a:t>The </a:t>
            </a:r>
            <a:r>
              <a:rPr lang="en-US" altLang="en-US" sz="2400" b="1" dirty="0"/>
              <a:t>payback period </a:t>
            </a:r>
            <a:r>
              <a:rPr lang="en-US" altLang="en-US" sz="2400" dirty="0"/>
              <a:t>is amount of time it takes to recover or pay back the initial investment</a:t>
            </a:r>
          </a:p>
          <a:p>
            <a:pPr marL="342900" indent="-342900">
              <a:spcBef>
                <a:spcPts val="600"/>
              </a:spcBef>
              <a:spcAft>
                <a:spcPts val="600"/>
              </a:spcAft>
            </a:pPr>
            <a:r>
              <a:rPr lang="en-US" altLang="en-US" sz="2400" dirty="0"/>
              <a:t>If the payback period is less than a pre-specified length of time, you accept the project</a:t>
            </a:r>
          </a:p>
          <a:p>
            <a:pPr marL="342900" indent="-342900">
              <a:spcBef>
                <a:spcPts val="600"/>
              </a:spcBef>
              <a:spcAft>
                <a:spcPts val="600"/>
              </a:spcAft>
            </a:pPr>
            <a:r>
              <a:rPr lang="en-US" altLang="en-US" sz="2400" dirty="0"/>
              <a:t>Otherwise, you reject the project</a:t>
            </a:r>
          </a:p>
          <a:p>
            <a:pPr marL="829818" lvl="1" indent="-342900">
              <a:spcAft>
                <a:spcPts val="600"/>
              </a:spcAft>
            </a:pPr>
            <a:r>
              <a:rPr lang="en-US" altLang="en-US" sz="2400" dirty="0"/>
              <a:t>The payback rule is used by many companies because of its simplicity</a:t>
            </a:r>
          </a:p>
        </p:txBody>
      </p:sp>
    </p:spTree>
    <p:extLst>
      <p:ext uri="{BB962C8B-B14F-4D97-AF65-F5344CB8AC3E}">
        <p14:creationId xmlns:p14="http://schemas.microsoft.com/office/powerpoint/2010/main" val="12927626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21371"/>
            <a:ext cx="8266346" cy="590349"/>
          </a:xfrm>
        </p:spPr>
        <p:txBody>
          <a:bodyPr/>
          <a:lstStyle/>
          <a:p>
            <a:r>
              <a:rPr lang="en-US" dirty="0"/>
              <a:t>Frederick’s Example </a:t>
            </a:r>
            <a:r>
              <a:rPr lang="en-US" sz="2800" dirty="0"/>
              <a:t>(1 of 2)</a:t>
            </a:r>
            <a:endParaRPr lang="en-US" sz="2800" noProof="0" dirty="0"/>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37229" y="1438410"/>
            <a:ext cx="8266346" cy="2190788"/>
          </a:xfrm>
        </p:spPr>
        <p:txBody>
          <a:bodyPr wrap="square" lIns="0" tIns="18000" rIns="0" bIns="18000" anchor="ctr">
            <a:spAutoFit/>
          </a:bodyPr>
          <a:lstStyle/>
          <a:p>
            <a:pPr marL="0" indent="0">
              <a:spcBef>
                <a:spcPts val="600"/>
              </a:spcBef>
              <a:spcAft>
                <a:spcPts val="600"/>
              </a:spcAft>
              <a:buNone/>
            </a:pPr>
            <a:r>
              <a:rPr lang="en-US" altLang="en-US" sz="2400" b="1" dirty="0"/>
              <a:t>The Payback Rule</a:t>
            </a:r>
          </a:p>
          <a:p>
            <a:pPr marL="0" indent="0">
              <a:spcBef>
                <a:spcPts val="600"/>
              </a:spcBef>
              <a:spcAft>
                <a:spcPts val="600"/>
              </a:spcAft>
              <a:buNone/>
            </a:pPr>
            <a:r>
              <a:rPr lang="en-US" altLang="en-US" sz="2400" b="1" dirty="0"/>
              <a:t>Problem</a:t>
            </a:r>
          </a:p>
          <a:p>
            <a:pPr marL="0" indent="0">
              <a:spcBef>
                <a:spcPts val="600"/>
              </a:spcBef>
              <a:spcAft>
                <a:spcPts val="600"/>
              </a:spcAft>
              <a:buNone/>
            </a:pPr>
            <a:r>
              <a:rPr lang="en-US" altLang="en-US" sz="2400" dirty="0"/>
              <a:t>Assume Fredrick’s requires all projects to have a payback period of five years or less. Would the firm undertake the fertilizer project under this rule?</a:t>
            </a:r>
          </a:p>
        </p:txBody>
      </p:sp>
    </p:spTree>
    <p:extLst>
      <p:ext uri="{BB962C8B-B14F-4D97-AF65-F5344CB8AC3E}">
        <p14:creationId xmlns:p14="http://schemas.microsoft.com/office/powerpoint/2010/main" val="27965972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21371"/>
            <a:ext cx="8266346" cy="590349"/>
          </a:xfrm>
        </p:spPr>
        <p:txBody>
          <a:bodyPr/>
          <a:lstStyle/>
          <a:p>
            <a:r>
              <a:rPr lang="en-US" dirty="0"/>
              <a:t>Frederick’s Example </a:t>
            </a:r>
            <a:r>
              <a:rPr lang="en-US" sz="2800" dirty="0"/>
              <a:t>(2 of 2)</a:t>
            </a:r>
            <a:endParaRPr lang="en-US" sz="2800" noProof="0" dirty="0"/>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37228" y="1132428"/>
            <a:ext cx="8266345" cy="1590623"/>
          </a:xfrm>
        </p:spPr>
        <p:txBody>
          <a:bodyPr wrap="square" lIns="0" tIns="18000" rIns="0" bIns="18000" anchor="ctr">
            <a:spAutoFit/>
          </a:bodyPr>
          <a:lstStyle/>
          <a:p>
            <a:pPr marL="0" indent="0">
              <a:spcBef>
                <a:spcPts val="600"/>
              </a:spcBef>
              <a:buNone/>
            </a:pPr>
            <a:r>
              <a:rPr lang="en-US" altLang="en-US" sz="2400" b="1" dirty="0"/>
              <a:t>Solution</a:t>
            </a:r>
          </a:p>
          <a:p>
            <a:pPr marL="0" indent="0">
              <a:spcBef>
                <a:spcPts val="600"/>
              </a:spcBef>
              <a:buNone/>
            </a:pPr>
            <a:r>
              <a:rPr lang="en-US" altLang="en-US" sz="2400" dirty="0"/>
              <a:t>Recall that the project requires an initial investment of $250 million, and will generate $35 million per year. The sum of the cash flows from year 1 to year 5 is</a:t>
            </a:r>
          </a:p>
        </p:txBody>
      </p:sp>
      <p:graphicFrame>
        <p:nvGraphicFramePr>
          <p:cNvPr id="8" name="Object 7" descr="35 dollars times 5 dollars equals 175 dollars.">
            <a:extLst>
              <a:ext uri="{FF2B5EF4-FFF2-40B4-BE49-F238E27FC236}">
                <a16:creationId xmlns:a16="http://schemas.microsoft.com/office/drawing/2014/main" id="{612F9E2E-835F-4812-A334-F536D1D5180E}"/>
              </a:ext>
            </a:extLst>
          </p:cNvPr>
          <p:cNvGraphicFramePr>
            <a:graphicFrameLocks noChangeAspect="1"/>
          </p:cNvGraphicFramePr>
          <p:nvPr>
            <p:extLst>
              <p:ext uri="{D42A27DB-BD31-4B8C-83A1-F6EECF244321}">
                <p14:modId xmlns:p14="http://schemas.microsoft.com/office/powerpoint/2010/main" val="1771327516"/>
              </p:ext>
            </p:extLst>
          </p:nvPr>
        </p:nvGraphicFramePr>
        <p:xfrm>
          <a:off x="2362200" y="2887859"/>
          <a:ext cx="1816100" cy="306387"/>
        </p:xfrm>
        <a:graphic>
          <a:graphicData uri="http://schemas.openxmlformats.org/presentationml/2006/ole">
            <mc:AlternateContent xmlns:mc="http://schemas.openxmlformats.org/markup-compatibility/2006">
              <mc:Choice xmlns:v="urn:schemas-microsoft-com:vml" Requires="v">
                <p:oleObj name="Equation" r:id="rId2" imgW="1650960" imgH="279360" progId="Equation.DSMT4">
                  <p:embed/>
                </p:oleObj>
              </mc:Choice>
              <mc:Fallback>
                <p:oleObj name="Equation" r:id="rId2" imgW="1650960" imgH="279360" progId="Equation.DSMT4">
                  <p:embed/>
                  <p:pic>
                    <p:nvPicPr>
                      <p:cNvPr id="6" name="Object 5" descr="$ 35 times 5 = $ 175.">
                        <a:extLst>
                          <a:ext uri="{FF2B5EF4-FFF2-40B4-BE49-F238E27FC236}">
                            <a16:creationId xmlns:a16="http://schemas.microsoft.com/office/drawing/2014/main" id="{E17335BE-71D5-4693-B234-7B7BB7B1473D}"/>
                          </a:ext>
                        </a:extLst>
                      </p:cNvPr>
                      <p:cNvPicPr/>
                      <p:nvPr/>
                    </p:nvPicPr>
                    <p:blipFill>
                      <a:blip r:embed="rId3"/>
                      <a:stretch>
                        <a:fillRect/>
                      </a:stretch>
                    </p:blipFill>
                    <p:spPr>
                      <a:xfrm>
                        <a:off x="2362200" y="2887859"/>
                        <a:ext cx="1816100" cy="306387"/>
                      </a:xfrm>
                      <a:prstGeom prst="rect">
                        <a:avLst/>
                      </a:prstGeom>
                    </p:spPr>
                  </p:pic>
                </p:oleObj>
              </mc:Fallback>
            </mc:AlternateContent>
          </a:graphicData>
        </a:graphic>
      </p:graphicFrame>
      <p:sp>
        <p:nvSpPr>
          <p:cNvPr id="4" name="Content Placeholder 3">
            <a:extLst>
              <a:ext uri="{FF2B5EF4-FFF2-40B4-BE49-F238E27FC236}">
                <a16:creationId xmlns:a16="http://schemas.microsoft.com/office/drawing/2014/main" id="{0DD52A53-AA06-30A3-80A8-F6004494B0FE}"/>
              </a:ext>
            </a:extLst>
          </p:cNvPr>
          <p:cNvSpPr>
            <a:spLocks noGrp="1"/>
          </p:cNvSpPr>
          <p:nvPr>
            <p:ph sz="quarter" idx="13"/>
          </p:nvPr>
        </p:nvSpPr>
        <p:spPr>
          <a:xfrm>
            <a:off x="445854" y="3338157"/>
            <a:ext cx="8257719" cy="1144347"/>
          </a:xfrm>
        </p:spPr>
        <p:txBody>
          <a:bodyPr wrap="square" lIns="0" tIns="18000" rIns="0" bIns="18000" anchor="ctr">
            <a:spAutoFit/>
          </a:bodyPr>
          <a:lstStyle/>
          <a:p>
            <a:pPr marL="0" indent="0">
              <a:buNone/>
            </a:pPr>
            <a:r>
              <a:rPr lang="en-US" sz="2400" dirty="0"/>
              <a:t>million, which will not cover the initial investment of $250 million. In fact, it will not be until year 8 that the initial investment will be paid back</a:t>
            </a:r>
          </a:p>
        </p:txBody>
      </p:sp>
      <p:graphicFrame>
        <p:nvGraphicFramePr>
          <p:cNvPr id="7" name="Object 6" descr="Left parenthesis 35 dollars times 8 equals 280 million dollars right parenthesis.">
            <a:extLst>
              <a:ext uri="{FF2B5EF4-FFF2-40B4-BE49-F238E27FC236}">
                <a16:creationId xmlns:a16="http://schemas.microsoft.com/office/drawing/2014/main" id="{3904CC69-AB3A-41A7-8D36-A81D7D24C78C}"/>
              </a:ext>
            </a:extLst>
          </p:cNvPr>
          <p:cNvGraphicFramePr>
            <a:graphicFrameLocks noChangeAspect="1"/>
          </p:cNvGraphicFramePr>
          <p:nvPr>
            <p:extLst>
              <p:ext uri="{D42A27DB-BD31-4B8C-83A1-F6EECF244321}">
                <p14:modId xmlns:p14="http://schemas.microsoft.com/office/powerpoint/2010/main" val="3772022131"/>
              </p:ext>
            </p:extLst>
          </p:nvPr>
        </p:nvGraphicFramePr>
        <p:xfrm>
          <a:off x="2258060" y="4642419"/>
          <a:ext cx="2989580" cy="419100"/>
        </p:xfrm>
        <a:graphic>
          <a:graphicData uri="http://schemas.openxmlformats.org/presentationml/2006/ole">
            <mc:AlternateContent xmlns:mc="http://schemas.openxmlformats.org/markup-compatibility/2006">
              <mc:Choice xmlns:v="urn:schemas-microsoft-com:vml" Requires="v">
                <p:oleObj name="Equation" r:id="rId4" imgW="2717640" imgH="380880" progId="Equation.DSMT4">
                  <p:embed/>
                </p:oleObj>
              </mc:Choice>
              <mc:Fallback>
                <p:oleObj name="Equation" r:id="rId4" imgW="2717640" imgH="380880" progId="Equation.DSMT4">
                  <p:embed/>
                  <p:pic>
                    <p:nvPicPr>
                      <p:cNvPr id="7" name="Object 6" descr="Left parenthesis $ 35 times 8 = $ 280 million right parenthesis.">
                        <a:extLst>
                          <a:ext uri="{FF2B5EF4-FFF2-40B4-BE49-F238E27FC236}">
                            <a16:creationId xmlns:a16="http://schemas.microsoft.com/office/drawing/2014/main" id="{EEC3FE2F-1E1D-444C-B435-D0E769B6938A}"/>
                          </a:ext>
                        </a:extLst>
                      </p:cNvPr>
                      <p:cNvPicPr/>
                      <p:nvPr/>
                    </p:nvPicPr>
                    <p:blipFill>
                      <a:blip r:embed="rId5"/>
                      <a:stretch>
                        <a:fillRect/>
                      </a:stretch>
                    </p:blipFill>
                    <p:spPr>
                      <a:xfrm>
                        <a:off x="2258060" y="4642419"/>
                        <a:ext cx="2989580" cy="419100"/>
                      </a:xfrm>
                      <a:prstGeom prst="rect">
                        <a:avLst/>
                      </a:prstGeom>
                    </p:spPr>
                  </p:pic>
                </p:oleObj>
              </mc:Fallback>
            </mc:AlternateContent>
          </a:graphicData>
        </a:graphic>
      </p:graphicFrame>
      <p:sp>
        <p:nvSpPr>
          <p:cNvPr id="5" name="Content Placeholder 4">
            <a:extLst>
              <a:ext uri="{FF2B5EF4-FFF2-40B4-BE49-F238E27FC236}">
                <a16:creationId xmlns:a16="http://schemas.microsoft.com/office/drawing/2014/main" id="{B030C7B8-0389-DAFE-D0DE-7BB944A22220}"/>
              </a:ext>
            </a:extLst>
          </p:cNvPr>
          <p:cNvSpPr>
            <a:spLocks noGrp="1"/>
          </p:cNvSpPr>
          <p:nvPr>
            <p:ph sz="quarter" idx="14"/>
          </p:nvPr>
        </p:nvSpPr>
        <p:spPr>
          <a:xfrm>
            <a:off x="440425" y="5230703"/>
            <a:ext cx="8280400" cy="775015"/>
          </a:xfrm>
        </p:spPr>
        <p:txBody>
          <a:bodyPr wrap="square" lIns="0" tIns="18000" rIns="0" bIns="18000" anchor="ctr">
            <a:spAutoFit/>
          </a:bodyPr>
          <a:lstStyle/>
          <a:p>
            <a:pPr marL="0" indent="0">
              <a:buNone/>
            </a:pPr>
            <a:r>
              <a:rPr lang="en-US" sz="2400" dirty="0"/>
              <a:t>Because the payback period for this project exceeds five years, Fredrick’s will reject the project.</a:t>
            </a:r>
          </a:p>
        </p:txBody>
      </p:sp>
    </p:spTree>
    <p:extLst>
      <p:ext uri="{BB962C8B-B14F-4D97-AF65-F5344CB8AC3E}">
        <p14:creationId xmlns:p14="http://schemas.microsoft.com/office/powerpoint/2010/main" val="32265636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21371"/>
            <a:ext cx="8266346" cy="590349"/>
          </a:xfrm>
        </p:spPr>
        <p:txBody>
          <a:bodyPr/>
          <a:lstStyle/>
          <a:p>
            <a:r>
              <a:rPr lang="en-US" dirty="0"/>
              <a:t>The Payback Rule </a:t>
            </a:r>
            <a:r>
              <a:rPr lang="en-US" sz="2800" dirty="0"/>
              <a:t>(2 of 2)</a:t>
            </a:r>
            <a:endParaRPr lang="en-US" sz="2800" noProof="0" dirty="0"/>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37229" y="1258498"/>
            <a:ext cx="8266346" cy="2344676"/>
          </a:xfrm>
        </p:spPr>
        <p:txBody>
          <a:bodyPr wrap="square" lIns="0" tIns="18000" rIns="0" bIns="18000" anchor="ctr">
            <a:spAutoFit/>
          </a:bodyPr>
          <a:lstStyle/>
          <a:p>
            <a:pPr marL="342900" indent="-342900">
              <a:spcBef>
                <a:spcPts val="600"/>
              </a:spcBef>
              <a:spcAft>
                <a:spcPts val="600"/>
              </a:spcAft>
            </a:pPr>
            <a:r>
              <a:rPr lang="en-US" altLang="en-US" sz="2400" dirty="0"/>
              <a:t>Pitfalls</a:t>
            </a:r>
          </a:p>
          <a:p>
            <a:pPr marL="829818" lvl="1" indent="-342900">
              <a:spcAft>
                <a:spcPts val="600"/>
              </a:spcAft>
            </a:pPr>
            <a:r>
              <a:rPr lang="en-US" altLang="en-US" sz="2400" dirty="0"/>
              <a:t>Ignores the project’s cost of capital and time value of money</a:t>
            </a:r>
          </a:p>
          <a:p>
            <a:pPr marL="829818" lvl="1" indent="-342900">
              <a:spcAft>
                <a:spcPts val="600"/>
              </a:spcAft>
            </a:pPr>
            <a:r>
              <a:rPr lang="en-US" altLang="en-US" sz="2400" dirty="0"/>
              <a:t>Ignores cash flows after the payback period</a:t>
            </a:r>
          </a:p>
          <a:p>
            <a:pPr marL="829818" lvl="1" indent="-342900">
              <a:spcAft>
                <a:spcPts val="600"/>
              </a:spcAft>
            </a:pPr>
            <a:r>
              <a:rPr lang="en-US" altLang="en-US" sz="2400" dirty="0"/>
              <a:t>Relies on an ad hoc decision criterion</a:t>
            </a:r>
          </a:p>
        </p:txBody>
      </p:sp>
    </p:spTree>
    <p:extLst>
      <p:ext uri="{BB962C8B-B14F-4D97-AF65-F5344CB8AC3E}">
        <p14:creationId xmlns:p14="http://schemas.microsoft.com/office/powerpoint/2010/main" val="28341776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21371"/>
            <a:ext cx="8266346" cy="590349"/>
          </a:xfrm>
        </p:spPr>
        <p:txBody>
          <a:bodyPr/>
          <a:lstStyle/>
          <a:p>
            <a:r>
              <a:rPr lang="en-US" dirty="0"/>
              <a:t>4 Choosing between Projects</a:t>
            </a:r>
            <a:endParaRPr lang="en-US" sz="2800" noProof="0" dirty="0"/>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37229" y="1265698"/>
            <a:ext cx="8266346" cy="4129780"/>
          </a:xfrm>
        </p:spPr>
        <p:txBody>
          <a:bodyPr wrap="square" lIns="0" tIns="18000" rIns="0" bIns="18000" anchor="ctr">
            <a:spAutoFit/>
          </a:bodyPr>
          <a:lstStyle/>
          <a:p>
            <a:pPr marL="342900" indent="-342900">
              <a:spcBef>
                <a:spcPts val="600"/>
              </a:spcBef>
              <a:spcAft>
                <a:spcPts val="600"/>
              </a:spcAft>
            </a:pPr>
            <a:r>
              <a:rPr lang="en-US" altLang="en-US" sz="2400" dirty="0"/>
              <a:t>Mutually Exclusive Projects</a:t>
            </a:r>
          </a:p>
          <a:p>
            <a:pPr marL="829818" lvl="1" indent="-342900">
              <a:spcAft>
                <a:spcPts val="600"/>
              </a:spcAft>
            </a:pPr>
            <a:r>
              <a:rPr lang="en-US" altLang="en-US" sz="2400" dirty="0"/>
              <a:t>When you must choose only one project among several possible projects, the choice is mutually exclusive</a:t>
            </a:r>
          </a:p>
          <a:p>
            <a:pPr marL="829818" lvl="1" indent="-342900">
              <a:spcAft>
                <a:spcPts val="600"/>
              </a:spcAft>
            </a:pPr>
            <a:r>
              <a:rPr lang="en-US" altLang="en-US" sz="2400" spc="-300" dirty="0"/>
              <a:t>N P </a:t>
            </a:r>
            <a:r>
              <a:rPr lang="en-US" altLang="en-US" sz="2400" dirty="0"/>
              <a:t>V Rule</a:t>
            </a:r>
          </a:p>
          <a:p>
            <a:pPr marL="1229868" lvl="2" indent="-342900">
              <a:spcAft>
                <a:spcPts val="600"/>
              </a:spcAft>
            </a:pPr>
            <a:r>
              <a:rPr lang="en-US" altLang="en-US" sz="2400" dirty="0"/>
              <a:t>Select the project with the highest </a:t>
            </a:r>
            <a:r>
              <a:rPr lang="en-US" altLang="en-US" sz="2400" spc="-300" dirty="0"/>
              <a:t>N P </a:t>
            </a:r>
            <a:r>
              <a:rPr lang="en-US" altLang="en-US" sz="2400" dirty="0"/>
              <a:t>V</a:t>
            </a:r>
          </a:p>
          <a:p>
            <a:pPr marL="829818" lvl="1" indent="-342900">
              <a:spcAft>
                <a:spcPts val="600"/>
              </a:spcAft>
            </a:pPr>
            <a:r>
              <a:rPr lang="en-US" altLang="en-US" sz="2400" spc="-300" dirty="0"/>
              <a:t>I R </a:t>
            </a:r>
            <a:r>
              <a:rPr lang="en-US" altLang="en-US" sz="2400" dirty="0" err="1"/>
              <a:t>R</a:t>
            </a:r>
            <a:r>
              <a:rPr lang="en-US" altLang="en-US" sz="2400" dirty="0"/>
              <a:t> Rule</a:t>
            </a:r>
          </a:p>
          <a:p>
            <a:pPr marL="1229868" lvl="2" indent="-342900">
              <a:spcAft>
                <a:spcPts val="600"/>
              </a:spcAft>
            </a:pPr>
            <a:r>
              <a:rPr lang="en-US" altLang="en-US" sz="2400" dirty="0"/>
              <a:t>Selecting the project with the highest </a:t>
            </a:r>
            <a:r>
              <a:rPr lang="en-US" altLang="en-US" sz="2400" spc="-300" dirty="0"/>
              <a:t>I R </a:t>
            </a:r>
            <a:r>
              <a:rPr lang="en-US" altLang="en-US" sz="2400" dirty="0" err="1"/>
              <a:t>R</a:t>
            </a:r>
            <a:r>
              <a:rPr lang="en-US" altLang="en-US" sz="2400" dirty="0"/>
              <a:t> may lead to mistakes</a:t>
            </a:r>
          </a:p>
        </p:txBody>
      </p:sp>
    </p:spTree>
    <p:extLst>
      <p:ext uri="{BB962C8B-B14F-4D97-AF65-F5344CB8AC3E}">
        <p14:creationId xmlns:p14="http://schemas.microsoft.com/office/powerpoint/2010/main" val="33456458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21371"/>
            <a:ext cx="8266346" cy="590349"/>
          </a:xfrm>
        </p:spPr>
        <p:txBody>
          <a:bodyPr/>
          <a:lstStyle/>
          <a:p>
            <a:r>
              <a:rPr lang="en-US" dirty="0"/>
              <a:t>Mutually exclusive projects </a:t>
            </a:r>
            <a:r>
              <a:rPr lang="en-US" sz="2800" dirty="0"/>
              <a:t>(1 of 2)</a:t>
            </a:r>
            <a:endParaRPr lang="en-US" sz="2800" noProof="0" dirty="0"/>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37228" y="994840"/>
            <a:ext cx="8266345" cy="284404"/>
          </a:xfrm>
        </p:spPr>
        <p:txBody>
          <a:bodyPr wrap="square" lIns="0" tIns="18000" rIns="0" bIns="18000" anchor="ctr">
            <a:spAutoFit/>
          </a:bodyPr>
          <a:lstStyle/>
          <a:p>
            <a:pPr marL="0" indent="0">
              <a:spcBef>
                <a:spcPts val="600"/>
              </a:spcBef>
              <a:buNone/>
            </a:pPr>
            <a:r>
              <a:rPr lang="en-US" altLang="en-US" sz="2000" b="1" spc="-300" dirty="0"/>
              <a:t>N P </a:t>
            </a:r>
            <a:r>
              <a:rPr lang="en-US" altLang="en-US" sz="2000" b="1" dirty="0"/>
              <a:t>V and Mutually Exclusive Projects</a:t>
            </a:r>
          </a:p>
        </p:txBody>
      </p:sp>
      <p:sp>
        <p:nvSpPr>
          <p:cNvPr id="4" name="Content Placeholder 3">
            <a:extLst>
              <a:ext uri="{FF2B5EF4-FFF2-40B4-BE49-F238E27FC236}">
                <a16:creationId xmlns:a16="http://schemas.microsoft.com/office/drawing/2014/main" id="{0DD52A53-AA06-30A3-80A8-F6004494B0FE}"/>
              </a:ext>
            </a:extLst>
          </p:cNvPr>
          <p:cNvSpPr>
            <a:spLocks noGrp="1"/>
          </p:cNvSpPr>
          <p:nvPr>
            <p:ph sz="quarter" idx="13"/>
          </p:nvPr>
        </p:nvSpPr>
        <p:spPr>
          <a:xfrm>
            <a:off x="445855" y="1486415"/>
            <a:ext cx="1053007" cy="344128"/>
          </a:xfrm>
        </p:spPr>
        <p:txBody>
          <a:bodyPr wrap="square" lIns="0" tIns="18000" rIns="0" bIns="18000" anchor="ctr">
            <a:spAutoFit/>
          </a:bodyPr>
          <a:lstStyle/>
          <a:p>
            <a:pPr marL="0" indent="0">
              <a:buNone/>
            </a:pPr>
            <a:r>
              <a:rPr lang="en-US" sz="2000" b="1" dirty="0"/>
              <a:t>Problem</a:t>
            </a:r>
          </a:p>
        </p:txBody>
      </p:sp>
      <p:sp>
        <p:nvSpPr>
          <p:cNvPr id="5" name="Content Placeholder 4">
            <a:extLst>
              <a:ext uri="{FF2B5EF4-FFF2-40B4-BE49-F238E27FC236}">
                <a16:creationId xmlns:a16="http://schemas.microsoft.com/office/drawing/2014/main" id="{B030C7B8-0389-DAFE-D0DE-7BB944A22220}"/>
              </a:ext>
            </a:extLst>
          </p:cNvPr>
          <p:cNvSpPr>
            <a:spLocks noGrp="1"/>
          </p:cNvSpPr>
          <p:nvPr>
            <p:ph sz="quarter" idx="14"/>
          </p:nvPr>
        </p:nvSpPr>
        <p:spPr>
          <a:xfrm>
            <a:off x="440425" y="1994280"/>
            <a:ext cx="8280400" cy="1575234"/>
          </a:xfrm>
        </p:spPr>
        <p:txBody>
          <a:bodyPr wrap="square" lIns="0" tIns="18000" rIns="0" bIns="18000" anchor="ctr">
            <a:spAutoFit/>
          </a:bodyPr>
          <a:lstStyle/>
          <a:p>
            <a:pPr marL="0" indent="0">
              <a:buNone/>
            </a:pPr>
            <a:r>
              <a:rPr lang="en-US" sz="2000" dirty="0"/>
              <a:t>A small commercial property is for sale near your university. Given its location, you believe a student – oriented business would be very successful there. You have researched several possibilities and come up with the following cash flow estimates (including the cost of purchasing the property). Which investment should you choose?</a:t>
            </a:r>
          </a:p>
        </p:txBody>
      </p:sp>
      <p:graphicFrame>
        <p:nvGraphicFramePr>
          <p:cNvPr id="9" name="Table 8">
            <a:extLst>
              <a:ext uri="{FF2B5EF4-FFF2-40B4-BE49-F238E27FC236}">
                <a16:creationId xmlns:a16="http://schemas.microsoft.com/office/drawing/2014/main" id="{59C56D4F-0A77-4B2E-B7B1-F016C5B29095}"/>
              </a:ext>
            </a:extLst>
          </p:cNvPr>
          <p:cNvGraphicFramePr>
            <a:graphicFrameLocks noGrp="1"/>
          </p:cNvGraphicFramePr>
          <p:nvPr>
            <p:extLst>
              <p:ext uri="{D42A27DB-BD31-4B8C-83A1-F6EECF244321}">
                <p14:modId xmlns:p14="http://schemas.microsoft.com/office/powerpoint/2010/main" val="2319858096"/>
              </p:ext>
            </p:extLst>
          </p:nvPr>
        </p:nvGraphicFramePr>
        <p:xfrm>
          <a:off x="539701" y="4157330"/>
          <a:ext cx="7990463" cy="2263360"/>
        </p:xfrm>
        <a:graphic>
          <a:graphicData uri="http://schemas.openxmlformats.org/drawingml/2006/table">
            <a:tbl>
              <a:tblPr firstRow="1" bandRow="1">
                <a:tableStyleId>{3B4B98B0-60AC-42C2-AFA5-B58CD77FA1E5}</a:tableStyleId>
              </a:tblPr>
              <a:tblGrid>
                <a:gridCol w="1637891">
                  <a:extLst>
                    <a:ext uri="{9D8B030D-6E8A-4147-A177-3AD203B41FA5}">
                      <a16:colId xmlns:a16="http://schemas.microsoft.com/office/drawing/2014/main" val="1271790693"/>
                    </a:ext>
                  </a:extLst>
                </a:gridCol>
                <a:gridCol w="1442301">
                  <a:extLst>
                    <a:ext uri="{9D8B030D-6E8A-4147-A177-3AD203B41FA5}">
                      <a16:colId xmlns:a16="http://schemas.microsoft.com/office/drawing/2014/main" val="1583790126"/>
                    </a:ext>
                  </a:extLst>
                </a:gridCol>
                <a:gridCol w="1649691">
                  <a:extLst>
                    <a:ext uri="{9D8B030D-6E8A-4147-A177-3AD203B41FA5}">
                      <a16:colId xmlns:a16="http://schemas.microsoft.com/office/drawing/2014/main" val="2222602916"/>
                    </a:ext>
                  </a:extLst>
                </a:gridCol>
                <a:gridCol w="1564849">
                  <a:extLst>
                    <a:ext uri="{9D8B030D-6E8A-4147-A177-3AD203B41FA5}">
                      <a16:colId xmlns:a16="http://schemas.microsoft.com/office/drawing/2014/main" val="4010123886"/>
                    </a:ext>
                  </a:extLst>
                </a:gridCol>
                <a:gridCol w="1695731">
                  <a:extLst>
                    <a:ext uri="{9D8B030D-6E8A-4147-A177-3AD203B41FA5}">
                      <a16:colId xmlns:a16="http://schemas.microsoft.com/office/drawing/2014/main" val="4239381413"/>
                    </a:ext>
                  </a:extLst>
                </a:gridCol>
              </a:tblGrid>
              <a:tr h="421060">
                <a:tc>
                  <a:txBody>
                    <a:bodyPr/>
                    <a:lstStyle/>
                    <a:p>
                      <a:pPr algn="ctr"/>
                      <a:r>
                        <a:rPr lang="en-US" sz="1600" noProof="0">
                          <a:solidFill>
                            <a:schemeClr val="bg1"/>
                          </a:solidFill>
                          <a:latin typeface="Arial" panose="020B0604020202020204" pitchFamily="34" charset="0"/>
                          <a:cs typeface="Arial" panose="020B0604020202020204" pitchFamily="34" charset="0"/>
                        </a:rPr>
                        <a:t>Project</a:t>
                      </a:r>
                    </a:p>
                  </a:txBody>
                  <a:tcPr marL="121706" marR="121706"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r>
                        <a:rPr lang="en-US" sz="1600" b="1" noProof="0" dirty="0">
                          <a:solidFill>
                            <a:schemeClr val="bg1"/>
                          </a:solidFill>
                          <a:latin typeface="Arial" panose="020B0604020202020204" pitchFamily="34" charset="0"/>
                          <a:cs typeface="Arial" panose="020B0604020202020204" pitchFamily="34" charset="0"/>
                        </a:rPr>
                        <a:t>Initial Investment</a:t>
                      </a:r>
                    </a:p>
                  </a:txBody>
                  <a:tcPr marL="121706" marR="121706"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r>
                        <a:rPr lang="en-US" sz="1600" b="1" noProof="0">
                          <a:solidFill>
                            <a:schemeClr val="bg1"/>
                          </a:solidFill>
                          <a:latin typeface="Arial" panose="020B0604020202020204" pitchFamily="34" charset="0"/>
                          <a:cs typeface="Arial" panose="020B0604020202020204" pitchFamily="34" charset="0"/>
                        </a:rPr>
                        <a:t>First-Year Cash Flow</a:t>
                      </a:r>
                    </a:p>
                  </a:txBody>
                  <a:tcPr marL="121706" marR="121706"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r>
                        <a:rPr lang="en-US" sz="1600" b="1" noProof="0">
                          <a:solidFill>
                            <a:schemeClr val="bg1"/>
                          </a:solidFill>
                          <a:latin typeface="Arial" panose="020B0604020202020204" pitchFamily="34" charset="0"/>
                          <a:cs typeface="Arial" panose="020B0604020202020204" pitchFamily="34" charset="0"/>
                        </a:rPr>
                        <a:t>Growth Rate</a:t>
                      </a:r>
                    </a:p>
                  </a:txBody>
                  <a:tcPr marL="121706" marR="121706"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r>
                        <a:rPr lang="en-US" sz="1600" b="1" noProof="0">
                          <a:solidFill>
                            <a:schemeClr val="bg1"/>
                          </a:solidFill>
                          <a:latin typeface="Arial" panose="020B0604020202020204" pitchFamily="34" charset="0"/>
                          <a:cs typeface="Arial" panose="020B0604020202020204" pitchFamily="34" charset="0"/>
                        </a:rPr>
                        <a:t>Cost of Capital</a:t>
                      </a:r>
                    </a:p>
                  </a:txBody>
                  <a:tcPr marL="121706" marR="121706"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2038514718"/>
                  </a:ext>
                </a:extLst>
              </a:tr>
              <a:tr h="421060">
                <a:tc>
                  <a:txBody>
                    <a:bodyPr/>
                    <a:lstStyle/>
                    <a:p>
                      <a:r>
                        <a:rPr lang="en-US" sz="1600" noProof="0">
                          <a:solidFill>
                            <a:schemeClr val="tx1"/>
                          </a:solidFill>
                          <a:latin typeface="Arial" panose="020B0604020202020204" pitchFamily="34" charset="0"/>
                          <a:cs typeface="Arial" panose="020B0604020202020204" pitchFamily="34" charset="0"/>
                        </a:rPr>
                        <a:t>Book store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600" noProof="0">
                          <a:solidFill>
                            <a:schemeClr val="tx1"/>
                          </a:solidFill>
                          <a:latin typeface="Arial" panose="020B0604020202020204" pitchFamily="34" charset="0"/>
                          <a:cs typeface="Arial" panose="020B0604020202020204" pitchFamily="34" charset="0"/>
                        </a:rPr>
                        <a:t>$300,000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600" noProof="0">
                          <a:solidFill>
                            <a:schemeClr val="tx1"/>
                          </a:solidFill>
                          <a:latin typeface="Arial" panose="020B0604020202020204" pitchFamily="34" charset="0"/>
                          <a:cs typeface="Arial" panose="020B0604020202020204" pitchFamily="34" charset="0"/>
                        </a:rPr>
                        <a:t>$63,000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noProof="0" dirty="0">
                          <a:solidFill>
                            <a:schemeClr val="tx1"/>
                          </a:solidFill>
                          <a:latin typeface="Arial" panose="020B0604020202020204" pitchFamily="34" charset="0"/>
                          <a:cs typeface="Arial" panose="020B0604020202020204" pitchFamily="34" charset="0"/>
                        </a:rPr>
                        <a:t>3.0 percent.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600" noProof="0">
                          <a:solidFill>
                            <a:schemeClr val="tx1"/>
                          </a:solidFill>
                          <a:latin typeface="Arial" panose="020B0604020202020204" pitchFamily="34" charset="0"/>
                          <a:cs typeface="Arial" panose="020B0604020202020204" pitchFamily="34"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2048807982"/>
                  </a:ext>
                </a:extLst>
              </a:tr>
              <a:tr h="421060">
                <a:tc>
                  <a:txBody>
                    <a:bodyPr/>
                    <a:lstStyle/>
                    <a:p>
                      <a:r>
                        <a:rPr lang="en-US" sz="1600" noProof="0" dirty="0">
                          <a:solidFill>
                            <a:schemeClr val="tx1"/>
                          </a:solidFill>
                          <a:latin typeface="Arial" panose="020B0604020202020204" pitchFamily="34" charset="0"/>
                          <a:cs typeface="Arial" panose="020B0604020202020204" pitchFamily="34" charset="0"/>
                        </a:rPr>
                        <a:t>Coffee shop</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600" noProof="0">
                          <a:solidFill>
                            <a:schemeClr val="tx1"/>
                          </a:solidFill>
                          <a:latin typeface="Arial" panose="020B0604020202020204" pitchFamily="34" charset="0"/>
                          <a:cs typeface="Arial" panose="020B0604020202020204" pitchFamily="34" charset="0"/>
                        </a:rPr>
                        <a:t>$400,000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600" noProof="0">
                          <a:solidFill>
                            <a:schemeClr val="tx1"/>
                          </a:solidFill>
                          <a:latin typeface="Arial" panose="020B0604020202020204" pitchFamily="34" charset="0"/>
                          <a:cs typeface="Arial" panose="020B0604020202020204" pitchFamily="34" charset="0"/>
                        </a:rPr>
                        <a:t>$80,000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noProof="0" dirty="0">
                          <a:solidFill>
                            <a:schemeClr val="tx1"/>
                          </a:solidFill>
                          <a:latin typeface="Arial" panose="020B0604020202020204" pitchFamily="34" charset="0"/>
                          <a:cs typeface="Arial" panose="020B0604020202020204" pitchFamily="34" charset="0"/>
                        </a:rPr>
                        <a:t>3.0 percent.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600" noProof="0">
                          <a:solidFill>
                            <a:schemeClr val="tx1"/>
                          </a:solidFill>
                          <a:latin typeface="Arial" panose="020B0604020202020204" pitchFamily="34" charset="0"/>
                          <a:cs typeface="Arial" panose="020B0604020202020204" pitchFamily="34"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14310709"/>
                  </a:ext>
                </a:extLst>
              </a:tr>
              <a:tr h="421060">
                <a:tc>
                  <a:txBody>
                    <a:bodyPr/>
                    <a:lstStyle/>
                    <a:p>
                      <a:r>
                        <a:rPr lang="en-US" sz="1600" noProof="0">
                          <a:solidFill>
                            <a:schemeClr val="tx1"/>
                          </a:solidFill>
                          <a:latin typeface="Arial" panose="020B0604020202020204" pitchFamily="34" charset="0"/>
                          <a:cs typeface="Arial" panose="020B0604020202020204" pitchFamily="34" charset="0"/>
                        </a:rPr>
                        <a:t>Music store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600" noProof="0">
                          <a:solidFill>
                            <a:schemeClr val="tx1"/>
                          </a:solidFill>
                          <a:latin typeface="Arial" panose="020B0604020202020204" pitchFamily="34" charset="0"/>
                          <a:cs typeface="Arial" panose="020B0604020202020204" pitchFamily="34" charset="0"/>
                        </a:rPr>
                        <a:t>$400,000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600" noProof="0">
                          <a:solidFill>
                            <a:schemeClr val="tx1"/>
                          </a:solidFill>
                          <a:latin typeface="Arial" panose="020B0604020202020204" pitchFamily="34" charset="0"/>
                          <a:cs typeface="Arial" panose="020B0604020202020204" pitchFamily="34" charset="0"/>
                        </a:rPr>
                        <a:t>$104,000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noProof="0" dirty="0">
                          <a:solidFill>
                            <a:schemeClr val="tx1"/>
                          </a:solidFill>
                          <a:latin typeface="Arial" panose="020B0604020202020204" pitchFamily="34" charset="0"/>
                          <a:cs typeface="Arial" panose="020B0604020202020204" pitchFamily="34" charset="0"/>
                        </a:rPr>
                        <a:t>0.0 percent.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600" noProof="0">
                          <a:solidFill>
                            <a:schemeClr val="tx1"/>
                          </a:solidFill>
                          <a:latin typeface="Arial" panose="020B0604020202020204" pitchFamily="34" charset="0"/>
                          <a:cs typeface="Arial" panose="020B0604020202020204" pitchFamily="34"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2997050804"/>
                  </a:ext>
                </a:extLst>
              </a:tr>
              <a:tr h="421060">
                <a:tc>
                  <a:txBody>
                    <a:bodyPr/>
                    <a:lstStyle/>
                    <a:p>
                      <a:r>
                        <a:rPr lang="en-US" sz="1600" noProof="0">
                          <a:solidFill>
                            <a:schemeClr val="tx1"/>
                          </a:solidFill>
                          <a:latin typeface="Arial" panose="020B0604020202020204" pitchFamily="34" charset="0"/>
                          <a:cs typeface="Arial" panose="020B0604020202020204" pitchFamily="34" charset="0"/>
                        </a:rPr>
                        <a:t>Electronic store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600" noProof="0">
                          <a:solidFill>
                            <a:schemeClr val="tx1"/>
                          </a:solidFill>
                          <a:latin typeface="Arial" panose="020B0604020202020204" pitchFamily="34" charset="0"/>
                          <a:cs typeface="Arial" panose="020B0604020202020204" pitchFamily="34" charset="0"/>
                        </a:rPr>
                        <a:t>$400,000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600" noProof="0">
                          <a:solidFill>
                            <a:schemeClr val="tx1"/>
                          </a:solidFill>
                          <a:latin typeface="Arial" panose="020B0604020202020204" pitchFamily="34" charset="0"/>
                          <a:cs typeface="Arial" panose="020B0604020202020204" pitchFamily="34" charset="0"/>
                        </a:rPr>
                        <a:t>$100,000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noProof="0" dirty="0">
                          <a:solidFill>
                            <a:schemeClr val="tx1"/>
                          </a:solidFill>
                          <a:latin typeface="Arial" panose="020B0604020202020204" pitchFamily="34" charset="0"/>
                          <a:cs typeface="Arial" panose="020B0604020202020204" pitchFamily="34" charset="0"/>
                        </a:rPr>
                        <a:t>3.0 percent.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600" noProof="0" dirty="0">
                          <a:solidFill>
                            <a:schemeClr val="tx1"/>
                          </a:solidFill>
                          <a:latin typeface="Arial" panose="020B0604020202020204" pitchFamily="34" charset="0"/>
                          <a:cs typeface="Arial" panose="020B0604020202020204" pitchFamily="34" charset="0"/>
                        </a:rPr>
                        <a:t>11%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580142998"/>
                  </a:ext>
                </a:extLst>
              </a:tr>
            </a:tbl>
          </a:graphicData>
        </a:graphic>
      </p:graphicFrame>
      <p:graphicFrame>
        <p:nvGraphicFramePr>
          <p:cNvPr id="10" name="Object 9">
            <a:extLst>
              <a:ext uri="{FF2B5EF4-FFF2-40B4-BE49-F238E27FC236}">
                <a16:creationId xmlns:a16="http://schemas.microsoft.com/office/drawing/2014/main" id="{6B0A5354-B68E-4F9D-9DBB-F9DD2FFFBBAE}"/>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510493492"/>
              </p:ext>
            </p:extLst>
          </p:nvPr>
        </p:nvGraphicFramePr>
        <p:xfrm>
          <a:off x="5786086" y="4832618"/>
          <a:ext cx="562841" cy="255444"/>
        </p:xfrm>
        <a:graphic>
          <a:graphicData uri="http://schemas.openxmlformats.org/presentationml/2006/ole">
            <mc:AlternateContent xmlns:mc="http://schemas.openxmlformats.org/markup-compatibility/2006">
              <mc:Choice xmlns:v="urn:schemas-microsoft-com:vml" Requires="v">
                <p:oleObj name="Equation" r:id="rId2" imgW="393480" imgH="177480" progId="Equation.DSMT4">
                  <p:embed/>
                </p:oleObj>
              </mc:Choice>
              <mc:Fallback>
                <p:oleObj name="Equation" r:id="rId2" imgW="393480" imgH="177480" progId="Equation.DSMT4">
                  <p:embed/>
                  <p:pic>
                    <p:nvPicPr>
                      <p:cNvPr id="11" name="Object 10">
                        <a:extLst>
                          <a:ext uri="{FF2B5EF4-FFF2-40B4-BE49-F238E27FC236}">
                            <a16:creationId xmlns:a16="http://schemas.microsoft.com/office/drawing/2014/main" id="{41EAD119-2E6C-4E72-9E95-3D7B16C7C9DD}"/>
                          </a:ext>
                        </a:extLst>
                      </p:cNvPr>
                      <p:cNvPicPr/>
                      <p:nvPr/>
                    </p:nvPicPr>
                    <p:blipFill>
                      <a:blip r:embed="rId3"/>
                      <a:stretch>
                        <a:fillRect/>
                      </a:stretch>
                    </p:blipFill>
                    <p:spPr>
                      <a:xfrm>
                        <a:off x="5786086" y="4832618"/>
                        <a:ext cx="562841" cy="255444"/>
                      </a:xfrm>
                      <a:prstGeom prst="rect">
                        <a:avLst/>
                      </a:prstGeom>
                      <a:solidFill>
                        <a:srgbClr val="D4EAE4"/>
                      </a:solidFill>
                    </p:spPr>
                  </p:pic>
                </p:oleObj>
              </mc:Fallback>
            </mc:AlternateContent>
          </a:graphicData>
        </a:graphic>
      </p:graphicFrame>
      <p:graphicFrame>
        <p:nvGraphicFramePr>
          <p:cNvPr id="11" name="Object 10">
            <a:extLst>
              <a:ext uri="{FF2B5EF4-FFF2-40B4-BE49-F238E27FC236}">
                <a16:creationId xmlns:a16="http://schemas.microsoft.com/office/drawing/2014/main" id="{EC4E41E5-37E3-4D27-8937-E89F54DC8BB4}"/>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412389292"/>
              </p:ext>
            </p:extLst>
          </p:nvPr>
        </p:nvGraphicFramePr>
        <p:xfrm>
          <a:off x="5786086" y="5202754"/>
          <a:ext cx="562841" cy="255444"/>
        </p:xfrm>
        <a:graphic>
          <a:graphicData uri="http://schemas.openxmlformats.org/presentationml/2006/ole">
            <mc:AlternateContent xmlns:mc="http://schemas.openxmlformats.org/markup-compatibility/2006">
              <mc:Choice xmlns:v="urn:schemas-microsoft-com:vml" Requires="v">
                <p:oleObj name="Equation" r:id="rId2" imgW="393480" imgH="177480" progId="Equation.DSMT4">
                  <p:embed/>
                </p:oleObj>
              </mc:Choice>
              <mc:Fallback>
                <p:oleObj name="Equation" r:id="rId2" imgW="393480" imgH="177480" progId="Equation.DSMT4">
                  <p:embed/>
                  <p:pic>
                    <p:nvPicPr>
                      <p:cNvPr id="10" name="Object 9">
                        <a:extLst>
                          <a:ext uri="{FF2B5EF4-FFF2-40B4-BE49-F238E27FC236}">
                            <a16:creationId xmlns:a16="http://schemas.microsoft.com/office/drawing/2014/main" id="{6B0A5354-B68E-4F9D-9DBB-F9DD2FFFBBAE}"/>
                          </a:ext>
                        </a:extLst>
                      </p:cNvPr>
                      <p:cNvPicPr/>
                      <p:nvPr/>
                    </p:nvPicPr>
                    <p:blipFill>
                      <a:blip r:embed="rId3"/>
                      <a:stretch>
                        <a:fillRect/>
                      </a:stretch>
                    </p:blipFill>
                    <p:spPr>
                      <a:xfrm>
                        <a:off x="5786086" y="5202754"/>
                        <a:ext cx="562841" cy="255444"/>
                      </a:xfrm>
                      <a:prstGeom prst="rect">
                        <a:avLst/>
                      </a:prstGeom>
                      <a:solidFill>
                        <a:srgbClr val="D4EAE4"/>
                      </a:solidFill>
                    </p:spPr>
                  </p:pic>
                </p:oleObj>
              </mc:Fallback>
            </mc:AlternateContent>
          </a:graphicData>
        </a:graphic>
      </p:graphicFrame>
      <p:graphicFrame>
        <p:nvGraphicFramePr>
          <p:cNvPr id="12" name="Object 11">
            <a:extLst>
              <a:ext uri="{FF2B5EF4-FFF2-40B4-BE49-F238E27FC236}">
                <a16:creationId xmlns:a16="http://schemas.microsoft.com/office/drawing/2014/main" id="{714DF5F9-BA42-44F3-AEFA-04F6E6461ABB}"/>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4160161752"/>
              </p:ext>
            </p:extLst>
          </p:nvPr>
        </p:nvGraphicFramePr>
        <p:xfrm>
          <a:off x="5786086" y="5602265"/>
          <a:ext cx="562841" cy="255444"/>
        </p:xfrm>
        <a:graphic>
          <a:graphicData uri="http://schemas.openxmlformats.org/presentationml/2006/ole">
            <mc:AlternateContent xmlns:mc="http://schemas.openxmlformats.org/markup-compatibility/2006">
              <mc:Choice xmlns:v="urn:schemas-microsoft-com:vml" Requires="v">
                <p:oleObj name="Equation" r:id="rId4" imgW="393480" imgH="177480" progId="Equation.DSMT4">
                  <p:embed/>
                </p:oleObj>
              </mc:Choice>
              <mc:Fallback>
                <p:oleObj name="Equation" r:id="rId4" imgW="393480" imgH="177480" progId="Equation.DSMT4">
                  <p:embed/>
                  <p:pic>
                    <p:nvPicPr>
                      <p:cNvPr id="11" name="Object 10">
                        <a:extLst>
                          <a:ext uri="{FF2B5EF4-FFF2-40B4-BE49-F238E27FC236}">
                            <a16:creationId xmlns:a16="http://schemas.microsoft.com/office/drawing/2014/main" id="{EC4E41E5-37E3-4D27-8937-E89F54DC8BB4}"/>
                          </a:ext>
                        </a:extLst>
                      </p:cNvPr>
                      <p:cNvPicPr/>
                      <p:nvPr/>
                    </p:nvPicPr>
                    <p:blipFill>
                      <a:blip r:embed="rId5"/>
                      <a:stretch>
                        <a:fillRect/>
                      </a:stretch>
                    </p:blipFill>
                    <p:spPr>
                      <a:xfrm>
                        <a:off x="5786086" y="5602265"/>
                        <a:ext cx="562841" cy="255444"/>
                      </a:xfrm>
                      <a:prstGeom prst="rect">
                        <a:avLst/>
                      </a:prstGeom>
                      <a:solidFill>
                        <a:srgbClr val="D4EAE4"/>
                      </a:solidFill>
                    </p:spPr>
                  </p:pic>
                </p:oleObj>
              </mc:Fallback>
            </mc:AlternateContent>
          </a:graphicData>
        </a:graphic>
      </p:graphicFrame>
      <p:graphicFrame>
        <p:nvGraphicFramePr>
          <p:cNvPr id="13" name="Object 12">
            <a:extLst>
              <a:ext uri="{FF2B5EF4-FFF2-40B4-BE49-F238E27FC236}">
                <a16:creationId xmlns:a16="http://schemas.microsoft.com/office/drawing/2014/main" id="{757A9B32-D9CA-4327-BD74-0A4C1A41BCEE}"/>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17124437"/>
              </p:ext>
            </p:extLst>
          </p:nvPr>
        </p:nvGraphicFramePr>
        <p:xfrm>
          <a:off x="5801584" y="6024715"/>
          <a:ext cx="562841" cy="255444"/>
        </p:xfrm>
        <a:graphic>
          <a:graphicData uri="http://schemas.openxmlformats.org/presentationml/2006/ole">
            <mc:AlternateContent xmlns:mc="http://schemas.openxmlformats.org/markup-compatibility/2006">
              <mc:Choice xmlns:v="urn:schemas-microsoft-com:vml" Requires="v">
                <p:oleObj name="Equation" r:id="rId2" imgW="393480" imgH="177480" progId="Equation.DSMT4">
                  <p:embed/>
                </p:oleObj>
              </mc:Choice>
              <mc:Fallback>
                <p:oleObj name="Equation" r:id="rId2" imgW="393480" imgH="177480" progId="Equation.DSMT4">
                  <p:embed/>
                  <p:pic>
                    <p:nvPicPr>
                      <p:cNvPr id="11" name="Object 10">
                        <a:extLst>
                          <a:ext uri="{FF2B5EF4-FFF2-40B4-BE49-F238E27FC236}">
                            <a16:creationId xmlns:a16="http://schemas.microsoft.com/office/drawing/2014/main" id="{EC4E41E5-37E3-4D27-8937-E89F54DC8BB4}"/>
                          </a:ext>
                        </a:extLst>
                      </p:cNvPr>
                      <p:cNvPicPr/>
                      <p:nvPr/>
                    </p:nvPicPr>
                    <p:blipFill>
                      <a:blip r:embed="rId3"/>
                      <a:stretch>
                        <a:fillRect/>
                      </a:stretch>
                    </p:blipFill>
                    <p:spPr>
                      <a:xfrm>
                        <a:off x="5801584" y="6024715"/>
                        <a:ext cx="562841" cy="255444"/>
                      </a:xfrm>
                      <a:prstGeom prst="rect">
                        <a:avLst/>
                      </a:prstGeom>
                      <a:solidFill>
                        <a:srgbClr val="D4EAE4"/>
                      </a:solidFill>
                    </p:spPr>
                  </p:pic>
                </p:oleObj>
              </mc:Fallback>
            </mc:AlternateContent>
          </a:graphicData>
        </a:graphic>
      </p:graphicFrame>
      <p:sp>
        <p:nvSpPr>
          <p:cNvPr id="6" name="ZoneTexte 5">
            <a:extLst>
              <a:ext uri="{FF2B5EF4-FFF2-40B4-BE49-F238E27FC236}">
                <a16:creationId xmlns:a16="http://schemas.microsoft.com/office/drawing/2014/main" id="{E9D6A95E-C514-1857-23A5-E515891BFA16}"/>
              </a:ext>
            </a:extLst>
          </p:cNvPr>
          <p:cNvSpPr txBox="1"/>
          <p:nvPr/>
        </p:nvSpPr>
        <p:spPr>
          <a:xfrm>
            <a:off x="482480" y="3678756"/>
            <a:ext cx="979755" cy="369332"/>
          </a:xfrm>
          <a:prstGeom prst="rect">
            <a:avLst/>
          </a:prstGeom>
          <a:noFill/>
        </p:spPr>
        <p:txBody>
          <a:bodyPr wrap="none" rtlCol="0">
            <a:spAutoFit/>
          </a:bodyPr>
          <a:lstStyle/>
          <a:p>
            <a:r>
              <a:rPr lang="fr-FR" sz="1800" b="1" dirty="0"/>
              <a:t>Table 2</a:t>
            </a:r>
          </a:p>
        </p:txBody>
      </p:sp>
    </p:spTree>
    <p:extLst>
      <p:ext uri="{BB962C8B-B14F-4D97-AF65-F5344CB8AC3E}">
        <p14:creationId xmlns:p14="http://schemas.microsoft.com/office/powerpoint/2010/main" val="33219311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37228" y="1186781"/>
            <a:ext cx="8131737" cy="1331091"/>
          </a:xfrm>
        </p:spPr>
        <p:txBody>
          <a:bodyPr wrap="square" lIns="0" tIns="18000" rIns="0" bIns="18000" anchor="ctr">
            <a:spAutoFit/>
          </a:bodyPr>
          <a:lstStyle/>
          <a:p>
            <a:pPr marL="0" indent="0">
              <a:spcBef>
                <a:spcPts val="600"/>
              </a:spcBef>
              <a:buNone/>
            </a:pPr>
            <a:r>
              <a:rPr lang="en-US" altLang="en-US" sz="2000" b="1" dirty="0"/>
              <a:t>Solution</a:t>
            </a:r>
          </a:p>
          <a:p>
            <a:pPr marL="0" indent="0">
              <a:spcBef>
                <a:spcPts val="600"/>
              </a:spcBef>
              <a:buNone/>
            </a:pPr>
            <a:r>
              <a:rPr lang="en-US" altLang="en-US" sz="2000" dirty="0"/>
              <a:t>Assuming each business lasts indefinitely, we can compute the present value of the cash flows from each as a constant growth perpetuity. The </a:t>
            </a:r>
            <a:r>
              <a:rPr lang="en-US" altLang="en-US" sz="2000" spc="-300" dirty="0"/>
              <a:t>N P </a:t>
            </a:r>
            <a:r>
              <a:rPr lang="en-US" altLang="en-US" sz="2000" dirty="0"/>
              <a:t>V of each project is</a:t>
            </a:r>
          </a:p>
        </p:txBody>
      </p:sp>
      <p:graphicFrame>
        <p:nvGraphicFramePr>
          <p:cNvPr id="14" name="Object 13" descr="N P V left parenthesis book store right parenthesis equals negative 300,000 plus start fraction 63,000 over 8 percent minus 3 percent end fraction equals 960,000 dollars.">
            <a:extLst>
              <a:ext uri="{FF2B5EF4-FFF2-40B4-BE49-F238E27FC236}">
                <a16:creationId xmlns:a16="http://schemas.microsoft.com/office/drawing/2014/main" id="{0775CC80-BA27-4568-8E75-7C3F05A348CA}"/>
              </a:ext>
            </a:extLst>
          </p:cNvPr>
          <p:cNvGraphicFramePr>
            <a:graphicFrameLocks noChangeAspect="1"/>
          </p:cNvGraphicFramePr>
          <p:nvPr>
            <p:extLst>
              <p:ext uri="{D42A27DB-BD31-4B8C-83A1-F6EECF244321}">
                <p14:modId xmlns:p14="http://schemas.microsoft.com/office/powerpoint/2010/main" val="1032425616"/>
              </p:ext>
            </p:extLst>
          </p:nvPr>
        </p:nvGraphicFramePr>
        <p:xfrm>
          <a:off x="1562070" y="2676701"/>
          <a:ext cx="5740400" cy="598487"/>
        </p:xfrm>
        <a:graphic>
          <a:graphicData uri="http://schemas.openxmlformats.org/presentationml/2006/ole">
            <mc:AlternateContent xmlns:mc="http://schemas.openxmlformats.org/markup-compatibility/2006">
              <mc:Choice xmlns:v="urn:schemas-microsoft-com:vml" Requires="v">
                <p:oleObj name="Equation" r:id="rId2" imgW="5968800" imgH="622080" progId="Equation.DSMT4">
                  <p:embed/>
                </p:oleObj>
              </mc:Choice>
              <mc:Fallback>
                <p:oleObj name="Equation" r:id="rId2" imgW="5968800" imgH="622080" progId="Equation.DSMT4">
                  <p:embed/>
                  <p:pic>
                    <p:nvPicPr>
                      <p:cNvPr id="14" name="Object 13" descr="N P V of start expression Book store end expression = negative 300,000 + start fraction 63,000 over 8% minus 3% end fraction = $960,000.&#10;N P V of start expression Coffee shop end expression = negative 400,000 + start fraction 80,000 over 8% minus 3% end fraction = $1,200,000.&#10;N P V of start expression Music store end expression = negative 400,000 + start fraction 104,000 over 8% end fraction = $900,000.&#10;N P V of start expression Electronic store end expression = negative 400,000 + start fraction 100,000 over 11% minus 3% end fraction = $850,000.">
                        <a:extLst>
                          <a:ext uri="{FF2B5EF4-FFF2-40B4-BE49-F238E27FC236}">
                            <a16:creationId xmlns:a16="http://schemas.microsoft.com/office/drawing/2014/main" id="{0775CC80-BA27-4568-8E75-7C3F05A348CA}"/>
                          </a:ext>
                        </a:extLst>
                      </p:cNvPr>
                      <p:cNvPicPr>
                        <a:picLocks noChangeAspect="1" noChangeArrowheads="1"/>
                      </p:cNvPicPr>
                      <p:nvPr/>
                    </p:nvPicPr>
                    <p:blipFill>
                      <a:blip r:embed="rId3"/>
                      <a:srcRect/>
                      <a:stretch>
                        <a:fillRect/>
                      </a:stretch>
                    </p:blipFill>
                    <p:spPr bwMode="auto">
                      <a:xfrm>
                        <a:off x="1562070" y="2676701"/>
                        <a:ext cx="5740400" cy="598487"/>
                      </a:xfrm>
                      <a:prstGeom prst="rect">
                        <a:avLst/>
                      </a:prstGeom>
                      <a:noFill/>
                    </p:spPr>
                  </p:pic>
                </p:oleObj>
              </mc:Fallback>
            </mc:AlternateContent>
          </a:graphicData>
        </a:graphic>
      </p:graphicFrame>
      <p:graphicFrame>
        <p:nvGraphicFramePr>
          <p:cNvPr id="7" name="Object 6" descr="N P V left parenthesis coffee shop right parenthesis equals negative 400,000 plus start fraction 80,000 over 8 percent minus 3 percent end fraction equals 1,200,000 dollars.">
            <a:extLst>
              <a:ext uri="{FF2B5EF4-FFF2-40B4-BE49-F238E27FC236}">
                <a16:creationId xmlns:a16="http://schemas.microsoft.com/office/drawing/2014/main" id="{C09FB932-942F-4557-AA2A-FDB16D5DDCFB}"/>
              </a:ext>
            </a:extLst>
          </p:cNvPr>
          <p:cNvGraphicFramePr>
            <a:graphicFrameLocks noChangeAspect="1"/>
          </p:cNvGraphicFramePr>
          <p:nvPr>
            <p:extLst>
              <p:ext uri="{D42A27DB-BD31-4B8C-83A1-F6EECF244321}">
                <p14:modId xmlns:p14="http://schemas.microsoft.com/office/powerpoint/2010/main" val="1273147451"/>
              </p:ext>
            </p:extLst>
          </p:nvPr>
        </p:nvGraphicFramePr>
        <p:xfrm>
          <a:off x="1579563" y="3436760"/>
          <a:ext cx="5972175" cy="598488"/>
        </p:xfrm>
        <a:graphic>
          <a:graphicData uri="http://schemas.openxmlformats.org/presentationml/2006/ole">
            <mc:AlternateContent xmlns:mc="http://schemas.openxmlformats.org/markup-compatibility/2006">
              <mc:Choice xmlns:v="urn:schemas-microsoft-com:vml" Requires="v">
                <p:oleObj name="Equation" r:id="rId4" imgW="6210000" imgH="622080" progId="Equation.DSMT4">
                  <p:embed/>
                </p:oleObj>
              </mc:Choice>
              <mc:Fallback>
                <p:oleObj name="Equation" r:id="rId4" imgW="6210000" imgH="622080" progId="Equation.DSMT4">
                  <p:embed/>
                  <p:pic>
                    <p:nvPicPr>
                      <p:cNvPr id="7" name="Object 6" descr="N P V of start expression Book store end expression = negative 300,000 + start fraction 63,000 over 8% minus 3% end fraction = $960,000.&#10;N P V of start expression Coffee shop end expression = negative 400,000 + start fraction 80,000 over 8% minus 3% end fraction = $1,200,000.&#10;N P V of start expression Music store end expression = negative 400,000 + start fraction 104,000 over 8% end fraction = $900,000.&#10;N P V of start expression Electronic store end expression = negative 400,000 + start fraction 100,000 over 11% minus 3% end fraction = $850,000.">
                        <a:extLst>
                          <a:ext uri="{FF2B5EF4-FFF2-40B4-BE49-F238E27FC236}">
                            <a16:creationId xmlns:a16="http://schemas.microsoft.com/office/drawing/2014/main" id="{C09FB932-942F-4557-AA2A-FDB16D5DDCFB}"/>
                          </a:ext>
                        </a:extLst>
                      </p:cNvPr>
                      <p:cNvPicPr>
                        <a:picLocks noChangeAspect="1" noChangeArrowheads="1"/>
                      </p:cNvPicPr>
                      <p:nvPr/>
                    </p:nvPicPr>
                    <p:blipFill>
                      <a:blip r:embed="rId5"/>
                      <a:srcRect/>
                      <a:stretch>
                        <a:fillRect/>
                      </a:stretch>
                    </p:blipFill>
                    <p:spPr bwMode="auto">
                      <a:xfrm>
                        <a:off x="1579563" y="3436760"/>
                        <a:ext cx="5972175" cy="598488"/>
                      </a:xfrm>
                      <a:prstGeom prst="rect">
                        <a:avLst/>
                      </a:prstGeom>
                      <a:noFill/>
                    </p:spPr>
                  </p:pic>
                </p:oleObj>
              </mc:Fallback>
            </mc:AlternateContent>
          </a:graphicData>
        </a:graphic>
      </p:graphicFrame>
      <p:graphicFrame>
        <p:nvGraphicFramePr>
          <p:cNvPr id="8" name="Object 7" descr="N P V left parenthesis music store right parenthesis equals negative 400,000 plus start fraction 104,000 over 8 percent end fraction equals 900,000 dollars.">
            <a:extLst>
              <a:ext uri="{FF2B5EF4-FFF2-40B4-BE49-F238E27FC236}">
                <a16:creationId xmlns:a16="http://schemas.microsoft.com/office/drawing/2014/main" id="{479868B5-0443-4CA3-A7B5-5909DF9C197D}"/>
              </a:ext>
            </a:extLst>
          </p:cNvPr>
          <p:cNvGraphicFramePr>
            <a:graphicFrameLocks noChangeAspect="1"/>
          </p:cNvGraphicFramePr>
          <p:nvPr>
            <p:extLst>
              <p:ext uri="{D42A27DB-BD31-4B8C-83A1-F6EECF244321}">
                <p14:modId xmlns:p14="http://schemas.microsoft.com/office/powerpoint/2010/main" val="3925290030"/>
              </p:ext>
            </p:extLst>
          </p:nvPr>
        </p:nvGraphicFramePr>
        <p:xfrm>
          <a:off x="1562276" y="4169654"/>
          <a:ext cx="5764212" cy="598487"/>
        </p:xfrm>
        <a:graphic>
          <a:graphicData uri="http://schemas.openxmlformats.org/presentationml/2006/ole">
            <mc:AlternateContent xmlns:mc="http://schemas.openxmlformats.org/markup-compatibility/2006">
              <mc:Choice xmlns:v="urn:schemas-microsoft-com:vml" Requires="v">
                <p:oleObj name="Equation" r:id="rId6" imgW="5994360" imgH="622080" progId="Equation.DSMT4">
                  <p:embed/>
                </p:oleObj>
              </mc:Choice>
              <mc:Fallback>
                <p:oleObj name="Equation" r:id="rId6" imgW="5994360" imgH="622080" progId="Equation.DSMT4">
                  <p:embed/>
                  <p:pic>
                    <p:nvPicPr>
                      <p:cNvPr id="8" name="Object 7" descr="N P V of start expression Book store end expression = negative 300,000 + start fraction 63,000 over 8% minus 3% end fraction = $960,000.&#10;N P V of start expression Coffee shop end expression = negative 400,000 + start fraction 80,000 over 8% minus 3% end fraction = $1,200,000.&#10;N P V of start expression Music store end expression = negative 400,000 + start fraction 104,000 over 8% end fraction = $900,000.&#10;N P V of start expression Electronic store end expression = negative 400,000 + start fraction 100,000 over 11% minus 3% end fraction = $850,000.">
                        <a:extLst>
                          <a:ext uri="{FF2B5EF4-FFF2-40B4-BE49-F238E27FC236}">
                            <a16:creationId xmlns:a16="http://schemas.microsoft.com/office/drawing/2014/main" id="{479868B5-0443-4CA3-A7B5-5909DF9C197D}"/>
                          </a:ext>
                        </a:extLst>
                      </p:cNvPr>
                      <p:cNvPicPr>
                        <a:picLocks noChangeAspect="1" noChangeArrowheads="1"/>
                      </p:cNvPicPr>
                      <p:nvPr/>
                    </p:nvPicPr>
                    <p:blipFill>
                      <a:blip r:embed="rId7"/>
                      <a:srcRect/>
                      <a:stretch>
                        <a:fillRect/>
                      </a:stretch>
                    </p:blipFill>
                    <p:spPr bwMode="auto">
                      <a:xfrm>
                        <a:off x="1562276" y="4169654"/>
                        <a:ext cx="5764212" cy="598487"/>
                      </a:xfrm>
                      <a:prstGeom prst="rect">
                        <a:avLst/>
                      </a:prstGeom>
                      <a:noFill/>
                    </p:spPr>
                  </p:pic>
                </p:oleObj>
              </mc:Fallback>
            </mc:AlternateContent>
          </a:graphicData>
        </a:graphic>
      </p:graphicFrame>
      <p:graphicFrame>
        <p:nvGraphicFramePr>
          <p:cNvPr id="9" name="Object 8" descr="N P V left parenthesis electronic store right parenthesis equals negative 400,000 plus start fraction 100,000 over 11 percent minus 3 percent end fraction equals 850,000 dollars.">
            <a:extLst>
              <a:ext uri="{FF2B5EF4-FFF2-40B4-BE49-F238E27FC236}">
                <a16:creationId xmlns:a16="http://schemas.microsoft.com/office/drawing/2014/main" id="{36B05E9E-426A-46C2-82C5-035B90E09ABC}"/>
              </a:ext>
            </a:extLst>
          </p:cNvPr>
          <p:cNvGraphicFramePr>
            <a:graphicFrameLocks noChangeAspect="1"/>
          </p:cNvGraphicFramePr>
          <p:nvPr>
            <p:extLst>
              <p:ext uri="{D42A27DB-BD31-4B8C-83A1-F6EECF244321}">
                <p14:modId xmlns:p14="http://schemas.microsoft.com/office/powerpoint/2010/main" val="1782545157"/>
              </p:ext>
            </p:extLst>
          </p:nvPr>
        </p:nvGraphicFramePr>
        <p:xfrm>
          <a:off x="1562070" y="4926827"/>
          <a:ext cx="6386512" cy="598487"/>
        </p:xfrm>
        <a:graphic>
          <a:graphicData uri="http://schemas.openxmlformats.org/presentationml/2006/ole">
            <mc:AlternateContent xmlns:mc="http://schemas.openxmlformats.org/markup-compatibility/2006">
              <mc:Choice xmlns:v="urn:schemas-microsoft-com:vml" Requires="v">
                <p:oleObj name="Equation" r:id="rId8" imgW="6642000" imgH="622080" progId="Equation.DSMT4">
                  <p:embed/>
                </p:oleObj>
              </mc:Choice>
              <mc:Fallback>
                <p:oleObj name="Equation" r:id="rId8" imgW="6642000" imgH="622080" progId="Equation.DSMT4">
                  <p:embed/>
                  <p:pic>
                    <p:nvPicPr>
                      <p:cNvPr id="9" name="Object 8" descr="N P V of start expression Book store end expression = negative 300,000 + start fraction 63,000 over 8% minus 3% end fraction = $960,000.&#10;N P V of start expression Coffee shop end expression = negative 400,000 + start fraction 80,000 over 8% minus 3% end fraction = $1,200,000.&#10;N P V of start expression Music store end expression = negative 400,000 + start fraction 104,000 over 8% end fraction = $900,000.&#10;N P V of start expression Electronic store end expression = negative 400,000 + start fraction 100,000 over 11% minus 3% end fraction = $850,000.">
                        <a:extLst>
                          <a:ext uri="{FF2B5EF4-FFF2-40B4-BE49-F238E27FC236}">
                            <a16:creationId xmlns:a16="http://schemas.microsoft.com/office/drawing/2014/main" id="{36B05E9E-426A-46C2-82C5-035B90E09ABC}"/>
                          </a:ext>
                        </a:extLst>
                      </p:cNvPr>
                      <p:cNvPicPr>
                        <a:picLocks noChangeAspect="1" noChangeArrowheads="1"/>
                      </p:cNvPicPr>
                      <p:nvPr/>
                    </p:nvPicPr>
                    <p:blipFill>
                      <a:blip r:embed="rId9"/>
                      <a:srcRect/>
                      <a:stretch>
                        <a:fillRect/>
                      </a:stretch>
                    </p:blipFill>
                    <p:spPr bwMode="auto">
                      <a:xfrm>
                        <a:off x="1562070" y="4926827"/>
                        <a:ext cx="6386512" cy="598487"/>
                      </a:xfrm>
                      <a:prstGeom prst="rect">
                        <a:avLst/>
                      </a:prstGeom>
                      <a:noFill/>
                    </p:spPr>
                  </p:pic>
                </p:oleObj>
              </mc:Fallback>
            </mc:AlternateContent>
          </a:graphicData>
        </a:graphic>
      </p:graphicFrame>
      <p:sp>
        <p:nvSpPr>
          <p:cNvPr id="5" name="Content Placeholder 4">
            <a:extLst>
              <a:ext uri="{FF2B5EF4-FFF2-40B4-BE49-F238E27FC236}">
                <a16:creationId xmlns:a16="http://schemas.microsoft.com/office/drawing/2014/main" id="{B030C7B8-0389-DAFE-D0DE-7BB944A22220}"/>
              </a:ext>
            </a:extLst>
          </p:cNvPr>
          <p:cNvSpPr>
            <a:spLocks noGrp="1"/>
          </p:cNvSpPr>
          <p:nvPr>
            <p:ph sz="quarter" idx="14"/>
          </p:nvPr>
        </p:nvSpPr>
        <p:spPr>
          <a:xfrm>
            <a:off x="440425" y="5645268"/>
            <a:ext cx="8280400" cy="639059"/>
          </a:xfrm>
        </p:spPr>
        <p:txBody>
          <a:bodyPr wrap="square" lIns="0" tIns="18000" rIns="0" bIns="18000" anchor="ctr">
            <a:spAutoFit/>
          </a:bodyPr>
          <a:lstStyle/>
          <a:p>
            <a:pPr marL="0" indent="0">
              <a:buNone/>
            </a:pPr>
            <a:r>
              <a:rPr lang="en-US" sz="2000" dirty="0"/>
              <a:t>Thus, all of the alternatives have a positive </a:t>
            </a:r>
            <a:r>
              <a:rPr lang="en-US" sz="2000" spc="-300" dirty="0"/>
              <a:t>N P </a:t>
            </a:r>
            <a:r>
              <a:rPr lang="en-US" sz="2000" dirty="0"/>
              <a:t>V. But, because we can only choose one, the coffee shop is the best alternative.</a:t>
            </a:r>
          </a:p>
        </p:txBody>
      </p:sp>
      <p:sp>
        <p:nvSpPr>
          <p:cNvPr id="10" name="Title 1">
            <a:extLst>
              <a:ext uri="{FF2B5EF4-FFF2-40B4-BE49-F238E27FC236}">
                <a16:creationId xmlns:a16="http://schemas.microsoft.com/office/drawing/2014/main" id="{BA768053-138C-FB82-2DF6-0C013FDBB47A}"/>
              </a:ext>
            </a:extLst>
          </p:cNvPr>
          <p:cNvSpPr>
            <a:spLocks noGrp="1"/>
          </p:cNvSpPr>
          <p:nvPr>
            <p:ph type="title"/>
          </p:nvPr>
        </p:nvSpPr>
        <p:spPr>
          <a:xfrm>
            <a:off x="445854" y="221371"/>
            <a:ext cx="8266346" cy="590349"/>
          </a:xfrm>
        </p:spPr>
        <p:txBody>
          <a:bodyPr/>
          <a:lstStyle/>
          <a:p>
            <a:r>
              <a:rPr lang="en-US" dirty="0"/>
              <a:t>Mutually exclusive projects </a:t>
            </a:r>
            <a:r>
              <a:rPr lang="en-US" sz="2800" dirty="0"/>
              <a:t>(2 of 2)</a:t>
            </a:r>
            <a:endParaRPr lang="en-US" sz="2800" noProof="0" dirty="0"/>
          </a:p>
        </p:txBody>
      </p:sp>
    </p:spTree>
    <p:extLst>
      <p:ext uri="{BB962C8B-B14F-4D97-AF65-F5344CB8AC3E}">
        <p14:creationId xmlns:p14="http://schemas.microsoft.com/office/powerpoint/2010/main" val="38229394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17750"/>
            <a:ext cx="8266346" cy="1144347"/>
          </a:xfrm>
        </p:spPr>
        <p:txBody>
          <a:bodyPr/>
          <a:lstStyle/>
          <a:p>
            <a:r>
              <a:rPr lang="en-US" spc="-500" dirty="0"/>
              <a:t>I R </a:t>
            </a:r>
            <a:r>
              <a:rPr lang="en-US" dirty="0" err="1"/>
              <a:t>R</a:t>
            </a:r>
            <a:r>
              <a:rPr lang="en-US" dirty="0"/>
              <a:t> Rule and Mutually Exclusive Investments </a:t>
            </a:r>
            <a:r>
              <a:rPr lang="en-US" sz="2800" dirty="0"/>
              <a:t>(1 of 4)</a:t>
            </a:r>
            <a:endParaRPr lang="en-US" sz="2800" noProof="0" dirty="0"/>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37228" y="1672099"/>
            <a:ext cx="8266346" cy="2113843"/>
          </a:xfrm>
        </p:spPr>
        <p:txBody>
          <a:bodyPr wrap="square" lIns="0" tIns="18000" rIns="0" bIns="18000" anchor="ctr">
            <a:spAutoFit/>
          </a:bodyPr>
          <a:lstStyle/>
          <a:p>
            <a:pPr marL="342900" indent="-342900">
              <a:spcBef>
                <a:spcPts val="600"/>
              </a:spcBef>
            </a:pPr>
            <a:r>
              <a:rPr lang="en-US" altLang="en-US" sz="2400" dirty="0"/>
              <a:t>Differences in Scale </a:t>
            </a:r>
          </a:p>
          <a:p>
            <a:pPr marL="829818" lvl="1" indent="-342900"/>
            <a:r>
              <a:rPr lang="en-US" altLang="en-US" sz="2400" dirty="0"/>
              <a:t>If a project’s size is doubled, its </a:t>
            </a:r>
            <a:r>
              <a:rPr lang="en-US" altLang="en-US" sz="2400" spc="-300" dirty="0"/>
              <a:t>N P </a:t>
            </a:r>
            <a:r>
              <a:rPr lang="en-US" altLang="en-US" sz="2400" dirty="0"/>
              <a:t>V will double</a:t>
            </a:r>
          </a:p>
          <a:p>
            <a:pPr marL="1229868" lvl="2" indent="-342900"/>
            <a:r>
              <a:rPr lang="en-US" altLang="en-US" sz="2400" dirty="0"/>
              <a:t>This is not the case with </a:t>
            </a:r>
            <a:r>
              <a:rPr lang="en-US" altLang="en-US" sz="2400" spc="-300" dirty="0"/>
              <a:t>I R </a:t>
            </a:r>
            <a:r>
              <a:rPr lang="en-US" altLang="en-US" sz="2400" dirty="0" err="1"/>
              <a:t>R</a:t>
            </a:r>
            <a:endParaRPr lang="en-US" altLang="en-US" sz="2400" dirty="0"/>
          </a:p>
          <a:p>
            <a:pPr marL="829818" lvl="1" indent="-342900"/>
            <a:r>
              <a:rPr lang="en-US" altLang="en-US" sz="2400" dirty="0"/>
              <a:t>Thus, the </a:t>
            </a:r>
            <a:r>
              <a:rPr lang="en-US" altLang="en-US" sz="2400" spc="-300" dirty="0"/>
              <a:t>I R </a:t>
            </a:r>
            <a:r>
              <a:rPr lang="en-US" altLang="en-US" sz="2400" dirty="0" err="1"/>
              <a:t>R</a:t>
            </a:r>
            <a:r>
              <a:rPr lang="en-US" altLang="en-US" sz="2400" dirty="0"/>
              <a:t> rule cannot be used to compare projects of different scales</a:t>
            </a:r>
          </a:p>
        </p:txBody>
      </p:sp>
    </p:spTree>
    <p:extLst>
      <p:ext uri="{BB962C8B-B14F-4D97-AF65-F5344CB8AC3E}">
        <p14:creationId xmlns:p14="http://schemas.microsoft.com/office/powerpoint/2010/main" val="16941692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17750"/>
            <a:ext cx="8266346" cy="1144347"/>
          </a:xfrm>
        </p:spPr>
        <p:txBody>
          <a:bodyPr/>
          <a:lstStyle/>
          <a:p>
            <a:r>
              <a:rPr lang="en-US" spc="-500" dirty="0"/>
              <a:t>I R </a:t>
            </a:r>
            <a:r>
              <a:rPr lang="en-US" dirty="0" err="1"/>
              <a:t>R</a:t>
            </a:r>
            <a:r>
              <a:rPr lang="en-US" dirty="0"/>
              <a:t> Rule and Mutually Exclusive Investments </a:t>
            </a:r>
            <a:r>
              <a:rPr lang="en-US" sz="2800" dirty="0"/>
              <a:t>(2 of 4)</a:t>
            </a:r>
            <a:endParaRPr lang="en-US" sz="2800" noProof="0" dirty="0"/>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37228" y="1671447"/>
            <a:ext cx="8266346" cy="851959"/>
          </a:xfrm>
        </p:spPr>
        <p:txBody>
          <a:bodyPr wrap="square" lIns="0" tIns="18000" rIns="0" bIns="18000" anchor="ctr">
            <a:spAutoFit/>
          </a:bodyPr>
          <a:lstStyle/>
          <a:p>
            <a:pPr marL="342900" indent="-342900">
              <a:spcBef>
                <a:spcPts val="600"/>
              </a:spcBef>
            </a:pPr>
            <a:r>
              <a:rPr lang="en-US" altLang="en-US" sz="2400" dirty="0"/>
              <a:t>Differences in Scale</a:t>
            </a:r>
          </a:p>
          <a:p>
            <a:pPr marL="829818" lvl="1" indent="-342900"/>
            <a:r>
              <a:rPr lang="en-US" altLang="en-US" sz="2400" dirty="0"/>
              <a:t>Consider two of the projects from precedent Example</a:t>
            </a:r>
          </a:p>
        </p:txBody>
      </p:sp>
      <p:graphicFrame>
        <p:nvGraphicFramePr>
          <p:cNvPr id="4" name="Table 3">
            <a:extLst>
              <a:ext uri="{FF2B5EF4-FFF2-40B4-BE49-F238E27FC236}">
                <a16:creationId xmlns:a16="http://schemas.microsoft.com/office/drawing/2014/main" id="{B5D7CC22-A455-470E-8A11-193F223A5A87}"/>
              </a:ext>
            </a:extLst>
          </p:cNvPr>
          <p:cNvGraphicFramePr>
            <a:graphicFrameLocks noGrp="1"/>
          </p:cNvGraphicFramePr>
          <p:nvPr>
            <p:extLst>
              <p:ext uri="{D42A27DB-BD31-4B8C-83A1-F6EECF244321}">
                <p14:modId xmlns:p14="http://schemas.microsoft.com/office/powerpoint/2010/main" val="831417359"/>
              </p:ext>
            </p:extLst>
          </p:nvPr>
        </p:nvGraphicFramePr>
        <p:xfrm>
          <a:off x="545492" y="3396370"/>
          <a:ext cx="7942270" cy="2947420"/>
        </p:xfrm>
        <a:graphic>
          <a:graphicData uri="http://schemas.openxmlformats.org/drawingml/2006/table">
            <a:tbl>
              <a:tblPr firstRow="1" bandRow="1">
                <a:tableStyleId>{3B4B98B0-60AC-42C2-AFA5-B58CD77FA1E5}</a:tableStyleId>
              </a:tblPr>
              <a:tblGrid>
                <a:gridCol w="3075568">
                  <a:extLst>
                    <a:ext uri="{9D8B030D-6E8A-4147-A177-3AD203B41FA5}">
                      <a16:colId xmlns:a16="http://schemas.microsoft.com/office/drawing/2014/main" val="1271790693"/>
                    </a:ext>
                  </a:extLst>
                </a:gridCol>
                <a:gridCol w="2473243">
                  <a:extLst>
                    <a:ext uri="{9D8B030D-6E8A-4147-A177-3AD203B41FA5}">
                      <a16:colId xmlns:a16="http://schemas.microsoft.com/office/drawing/2014/main" val="1583790126"/>
                    </a:ext>
                  </a:extLst>
                </a:gridCol>
                <a:gridCol w="2393459">
                  <a:extLst>
                    <a:ext uri="{9D8B030D-6E8A-4147-A177-3AD203B41FA5}">
                      <a16:colId xmlns:a16="http://schemas.microsoft.com/office/drawing/2014/main" val="2222602916"/>
                    </a:ext>
                  </a:extLst>
                </a:gridCol>
              </a:tblGrid>
              <a:tr h="421060">
                <a:tc>
                  <a:txBody>
                    <a:bodyPr/>
                    <a:lstStyle/>
                    <a:p>
                      <a:pPr algn="ctr"/>
                      <a:r>
                        <a:rPr lang="en-US" sz="100" noProof="0">
                          <a:solidFill>
                            <a:schemeClr val="bg1"/>
                          </a:solidFill>
                          <a:latin typeface="Arial" panose="020B0604020202020204" pitchFamily="34" charset="0"/>
                          <a:cs typeface="Arial" panose="020B0604020202020204" pitchFamily="34" charset="0"/>
                        </a:rPr>
                        <a:t>Blank</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r>
                        <a:rPr lang="en-US" sz="2000" b="1" noProof="0">
                          <a:solidFill>
                            <a:schemeClr val="bg1"/>
                          </a:solidFill>
                          <a:latin typeface="Arial" panose="020B0604020202020204" pitchFamily="34" charset="0"/>
                          <a:cs typeface="Arial" panose="020B0604020202020204" pitchFamily="34" charset="0"/>
                        </a:rPr>
                        <a:t>Book store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r>
                        <a:rPr lang="en-US" sz="2000" b="1" noProof="0">
                          <a:solidFill>
                            <a:schemeClr val="bg1"/>
                          </a:solidFill>
                          <a:latin typeface="Arial" panose="020B0604020202020204" pitchFamily="34" charset="0"/>
                          <a:cs typeface="Arial" panose="020B0604020202020204" pitchFamily="34" charset="0"/>
                        </a:rPr>
                        <a:t>Coffee</a:t>
                      </a:r>
                      <a:r>
                        <a:rPr lang="en-US" sz="2000" b="1" baseline="0" noProof="0">
                          <a:solidFill>
                            <a:schemeClr val="bg1"/>
                          </a:solidFill>
                          <a:latin typeface="Arial" panose="020B0604020202020204" pitchFamily="34" charset="0"/>
                          <a:cs typeface="Arial" panose="020B0604020202020204" pitchFamily="34" charset="0"/>
                        </a:rPr>
                        <a:t> shop</a:t>
                      </a:r>
                      <a:endParaRPr lang="en-US" sz="2000" b="1" noProof="0">
                        <a:solidFill>
                          <a:schemeClr val="bg1"/>
                        </a:solidFill>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2038514718"/>
                  </a:ext>
                </a:extLst>
              </a:tr>
              <a:tr h="421060">
                <a:tc>
                  <a:txBody>
                    <a:bodyPr/>
                    <a:lstStyle/>
                    <a:p>
                      <a:r>
                        <a:rPr lang="en-US" sz="2000" noProof="0">
                          <a:solidFill>
                            <a:schemeClr val="tx1"/>
                          </a:solidFill>
                          <a:latin typeface="Arial" panose="020B0604020202020204" pitchFamily="34" charset="0"/>
                          <a:cs typeface="Arial" panose="020B0604020202020204" pitchFamily="34" charset="0"/>
                        </a:rPr>
                        <a:t>Initial Investment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2000" noProof="0">
                          <a:solidFill>
                            <a:schemeClr val="tx1"/>
                          </a:solidFill>
                          <a:latin typeface="Arial" panose="020B0604020202020204" pitchFamily="34" charset="0"/>
                          <a:cs typeface="Arial" panose="020B0604020202020204" pitchFamily="34" charset="0"/>
                        </a:rPr>
                        <a:t>$300,000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2000" noProof="0">
                          <a:solidFill>
                            <a:schemeClr val="tx1"/>
                          </a:solidFill>
                          <a:latin typeface="Arial" panose="020B0604020202020204" pitchFamily="34" charset="0"/>
                          <a:cs typeface="Arial" panose="020B0604020202020204" pitchFamily="34" charset="0"/>
                        </a:rPr>
                        <a:t>$400,000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2048807982"/>
                  </a:ext>
                </a:extLst>
              </a:tr>
              <a:tr h="421060">
                <a:tc>
                  <a:txBody>
                    <a:bodyPr/>
                    <a:lstStyle/>
                    <a:p>
                      <a:pPr algn="ctr"/>
                      <a:r>
                        <a:rPr lang="en-US" sz="100" baseline="-25000" noProof="0" dirty="0">
                          <a:solidFill>
                            <a:schemeClr val="tx1"/>
                          </a:solidFill>
                          <a:latin typeface="Arial" panose="020B0604020202020204" pitchFamily="34" charset="0"/>
                          <a:cs typeface="Arial" panose="020B0604020202020204" pitchFamily="34" charset="0"/>
                        </a:rPr>
                        <a:t>Cash flow subscript year 1 baseline.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2000" noProof="0" dirty="0">
                          <a:solidFill>
                            <a:schemeClr val="tx1"/>
                          </a:solidFill>
                          <a:latin typeface="Arial" panose="020B0604020202020204" pitchFamily="34" charset="0"/>
                          <a:cs typeface="Arial" panose="020B0604020202020204" pitchFamily="34" charset="0"/>
                        </a:rPr>
                        <a:t>$63,000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2000" noProof="0">
                          <a:solidFill>
                            <a:schemeClr val="tx1"/>
                          </a:solidFill>
                          <a:latin typeface="Arial" panose="020B0604020202020204" pitchFamily="34" charset="0"/>
                          <a:cs typeface="Arial" panose="020B0604020202020204" pitchFamily="34" charset="0"/>
                        </a:rPr>
                        <a:t>$80,000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14310709"/>
                  </a:ext>
                </a:extLst>
              </a:tr>
              <a:tr h="421060">
                <a:tc>
                  <a:txBody>
                    <a:bodyPr/>
                    <a:lstStyle/>
                    <a:p>
                      <a:r>
                        <a:rPr lang="en-US" sz="2000" baseline="0" noProof="0">
                          <a:solidFill>
                            <a:schemeClr val="tx1"/>
                          </a:solidFill>
                          <a:latin typeface="Arial" panose="020B0604020202020204" pitchFamily="34" charset="0"/>
                          <a:cs typeface="Arial" panose="020B0604020202020204" pitchFamily="34" charset="0"/>
                        </a:rPr>
                        <a:t>Annual Growth Rate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2000" baseline="0" noProof="0">
                          <a:solidFill>
                            <a:schemeClr val="tx1"/>
                          </a:solidFill>
                          <a:latin typeface="Arial" panose="020B0604020202020204" pitchFamily="34" charset="0"/>
                          <a:cs typeface="Arial" panose="020B0604020202020204" pitchFamily="34"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2000" noProof="0">
                          <a:solidFill>
                            <a:schemeClr val="tx1"/>
                          </a:solidFill>
                          <a:latin typeface="Arial" panose="020B0604020202020204" pitchFamily="34" charset="0"/>
                          <a:cs typeface="Arial" panose="020B0604020202020204" pitchFamily="34"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2997050804"/>
                  </a:ext>
                </a:extLst>
              </a:tr>
              <a:tr h="421060">
                <a:tc>
                  <a:txBody>
                    <a:bodyPr/>
                    <a:lstStyle/>
                    <a:p>
                      <a:r>
                        <a:rPr lang="en-US" sz="2000" baseline="0" noProof="0" dirty="0">
                          <a:solidFill>
                            <a:schemeClr val="tx1"/>
                          </a:solidFill>
                          <a:latin typeface="Arial" panose="020B0604020202020204" pitchFamily="34" charset="0"/>
                          <a:cs typeface="Arial" panose="020B0604020202020204" pitchFamily="34" charset="0"/>
                        </a:rPr>
                        <a:t>Cost of capital</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2000" baseline="0" noProof="0">
                          <a:solidFill>
                            <a:schemeClr val="tx1"/>
                          </a:solidFill>
                          <a:latin typeface="Arial" panose="020B0604020202020204" pitchFamily="34" charset="0"/>
                          <a:cs typeface="Arial" panose="020B0604020202020204" pitchFamily="34"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2000" noProof="0">
                          <a:solidFill>
                            <a:schemeClr val="tx1"/>
                          </a:solidFill>
                          <a:latin typeface="Arial" panose="020B0604020202020204" pitchFamily="34" charset="0"/>
                          <a:cs typeface="Arial" panose="020B0604020202020204" pitchFamily="34"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580142998"/>
                  </a:ext>
                </a:extLst>
              </a:tr>
              <a:tr h="421060">
                <a:tc>
                  <a:txBody>
                    <a:bodyPr/>
                    <a:lstStyle/>
                    <a:p>
                      <a:r>
                        <a:rPr lang="en-US" sz="2000" spc="-300" baseline="0" noProof="0">
                          <a:solidFill>
                            <a:schemeClr val="tx1"/>
                          </a:solidFill>
                          <a:latin typeface="Arial" panose="020B0604020202020204" pitchFamily="34" charset="0"/>
                          <a:cs typeface="Arial" panose="020B0604020202020204" pitchFamily="34" charset="0"/>
                        </a:rPr>
                        <a:t>I R </a:t>
                      </a:r>
                      <a:r>
                        <a:rPr lang="en-US" sz="2000" baseline="0" noProof="0">
                          <a:solidFill>
                            <a:schemeClr val="tx1"/>
                          </a:solidFill>
                          <a:latin typeface="Arial" panose="020B0604020202020204" pitchFamily="34" charset="0"/>
                          <a:cs typeface="Arial" panose="020B0604020202020204" pitchFamily="34" charset="0"/>
                        </a:rPr>
                        <a:t>R</a:t>
                      </a:r>
                      <a:endParaRPr lang="en-US" sz="2000" spc="-300" baseline="0" noProof="0">
                        <a:solidFill>
                          <a:schemeClr val="tx1"/>
                        </a:solidFill>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2000" baseline="0" noProof="0">
                          <a:solidFill>
                            <a:schemeClr val="tx1"/>
                          </a:solidFill>
                          <a:latin typeface="Arial" panose="020B0604020202020204" pitchFamily="34" charset="0"/>
                          <a:cs typeface="Arial" panose="020B0604020202020204" pitchFamily="34" charset="0"/>
                        </a:rPr>
                        <a:t>24%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2000" noProof="0">
                          <a:solidFill>
                            <a:schemeClr val="tx1"/>
                          </a:solidFill>
                          <a:latin typeface="Arial" panose="020B0604020202020204" pitchFamily="34" charset="0"/>
                          <a:cs typeface="Arial" panose="020B0604020202020204" pitchFamily="34" charset="0"/>
                        </a:rPr>
                        <a:t>23%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3781444237"/>
                  </a:ext>
                </a:extLst>
              </a:tr>
              <a:tr h="421060">
                <a:tc>
                  <a:txBody>
                    <a:bodyPr/>
                    <a:lstStyle/>
                    <a:p>
                      <a:r>
                        <a:rPr lang="en-US" sz="2000" spc="-300" baseline="0" noProof="0">
                          <a:solidFill>
                            <a:schemeClr val="tx1"/>
                          </a:solidFill>
                          <a:latin typeface="Arial" panose="020B0604020202020204" pitchFamily="34" charset="0"/>
                          <a:cs typeface="Arial" panose="020B0604020202020204" pitchFamily="34" charset="0"/>
                        </a:rPr>
                        <a:t>N P </a:t>
                      </a:r>
                      <a:r>
                        <a:rPr lang="en-US" sz="2000" baseline="0" noProof="0">
                          <a:solidFill>
                            <a:schemeClr val="tx1"/>
                          </a:solidFill>
                          <a:latin typeface="Arial" panose="020B0604020202020204" pitchFamily="34" charset="0"/>
                          <a:cs typeface="Arial" panose="020B0604020202020204" pitchFamily="34" charset="0"/>
                        </a:rPr>
                        <a:t>V</a:t>
                      </a:r>
                      <a:endParaRPr lang="en-US" sz="2000" spc="-300" baseline="0" noProof="0">
                        <a:solidFill>
                          <a:schemeClr val="tx1"/>
                        </a:solidFill>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2000" baseline="0" noProof="0">
                          <a:solidFill>
                            <a:schemeClr val="tx1"/>
                          </a:solidFill>
                          <a:latin typeface="Arial" panose="020B0604020202020204" pitchFamily="34" charset="0"/>
                          <a:cs typeface="Arial" panose="020B0604020202020204" pitchFamily="34" charset="0"/>
                        </a:rPr>
                        <a:t>$960,000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2000" noProof="0" dirty="0">
                          <a:solidFill>
                            <a:schemeClr val="tx1"/>
                          </a:solidFill>
                          <a:latin typeface="Arial" panose="020B0604020202020204" pitchFamily="34" charset="0"/>
                          <a:cs typeface="Arial" panose="020B0604020202020204" pitchFamily="34" charset="0"/>
                        </a:rPr>
                        <a:t>$1,200,000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3554377251"/>
                  </a:ext>
                </a:extLst>
              </a:tr>
            </a:tbl>
          </a:graphicData>
        </a:graphic>
      </p:graphicFrame>
      <p:graphicFrame>
        <p:nvGraphicFramePr>
          <p:cNvPr id="5" name="Object 4">
            <a:extLst>
              <a:ext uri="{FF2B5EF4-FFF2-40B4-BE49-F238E27FC236}">
                <a16:creationId xmlns:a16="http://schemas.microsoft.com/office/drawing/2014/main" id="{7F58A0A2-CD80-41A8-9443-66CE807D769E}"/>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561800637"/>
              </p:ext>
            </p:extLst>
          </p:nvPr>
        </p:nvGraphicFramePr>
        <p:xfrm>
          <a:off x="607249" y="4249968"/>
          <a:ext cx="1759522" cy="418751"/>
        </p:xfrm>
        <a:graphic>
          <a:graphicData uri="http://schemas.openxmlformats.org/presentationml/2006/ole">
            <mc:AlternateContent xmlns:mc="http://schemas.openxmlformats.org/markup-compatibility/2006">
              <mc:Choice xmlns:v="urn:schemas-microsoft-com:vml" Requires="v">
                <p:oleObj name="Equation" r:id="rId3" imgW="1015920" imgH="241200" progId="Equation.DSMT4">
                  <p:embed/>
                </p:oleObj>
              </mc:Choice>
              <mc:Fallback>
                <p:oleObj name="Equation" r:id="rId3" imgW="1015920" imgH="241200" progId="Equation.DSMT4">
                  <p:embed/>
                  <p:pic>
                    <p:nvPicPr>
                      <p:cNvPr id="10" name="Object 9">
                        <a:extLst>
                          <a:ext uri="{FF2B5EF4-FFF2-40B4-BE49-F238E27FC236}">
                            <a16:creationId xmlns:a16="http://schemas.microsoft.com/office/drawing/2014/main" id="{6B0A5354-B68E-4F9D-9DBB-F9DD2FFFBBAE}"/>
                          </a:ext>
                        </a:extLst>
                      </p:cNvPr>
                      <p:cNvPicPr/>
                      <p:nvPr/>
                    </p:nvPicPr>
                    <p:blipFill>
                      <a:blip r:embed="rId4"/>
                      <a:stretch>
                        <a:fillRect/>
                      </a:stretch>
                    </p:blipFill>
                    <p:spPr>
                      <a:xfrm>
                        <a:off x="607249" y="4249968"/>
                        <a:ext cx="1759522" cy="418751"/>
                      </a:xfrm>
                      <a:prstGeom prst="rect">
                        <a:avLst/>
                      </a:prstGeom>
                      <a:solidFill>
                        <a:srgbClr val="D4EAE4"/>
                      </a:solidFill>
                    </p:spPr>
                  </p:pic>
                </p:oleObj>
              </mc:Fallback>
            </mc:AlternateContent>
          </a:graphicData>
        </a:graphic>
      </p:graphicFrame>
      <p:sp>
        <p:nvSpPr>
          <p:cNvPr id="6" name="ZoneTexte 5">
            <a:extLst>
              <a:ext uri="{FF2B5EF4-FFF2-40B4-BE49-F238E27FC236}">
                <a16:creationId xmlns:a16="http://schemas.microsoft.com/office/drawing/2014/main" id="{4A85FF41-CBED-73C9-31DC-9775A3F5F804}"/>
              </a:ext>
            </a:extLst>
          </p:cNvPr>
          <p:cNvSpPr txBox="1"/>
          <p:nvPr/>
        </p:nvSpPr>
        <p:spPr>
          <a:xfrm>
            <a:off x="509593" y="2887764"/>
            <a:ext cx="979755" cy="369332"/>
          </a:xfrm>
          <a:prstGeom prst="rect">
            <a:avLst/>
          </a:prstGeom>
          <a:noFill/>
        </p:spPr>
        <p:txBody>
          <a:bodyPr wrap="none" rtlCol="0">
            <a:spAutoFit/>
          </a:bodyPr>
          <a:lstStyle/>
          <a:p>
            <a:r>
              <a:rPr lang="fr-FR" sz="1800" b="1" dirty="0"/>
              <a:t>Table 3</a:t>
            </a:r>
          </a:p>
        </p:txBody>
      </p:sp>
    </p:spTree>
    <p:extLst>
      <p:ext uri="{BB962C8B-B14F-4D97-AF65-F5344CB8AC3E}">
        <p14:creationId xmlns:p14="http://schemas.microsoft.com/office/powerpoint/2010/main" val="41510201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17750"/>
            <a:ext cx="8266346" cy="1144347"/>
          </a:xfrm>
        </p:spPr>
        <p:txBody>
          <a:bodyPr/>
          <a:lstStyle/>
          <a:p>
            <a:r>
              <a:rPr lang="en-US" spc="-500" dirty="0"/>
              <a:t>I R </a:t>
            </a:r>
            <a:r>
              <a:rPr lang="en-US" dirty="0" err="1"/>
              <a:t>R</a:t>
            </a:r>
            <a:r>
              <a:rPr lang="en-US" dirty="0"/>
              <a:t> Rule and Mutually Exclusive Investments </a:t>
            </a:r>
            <a:r>
              <a:rPr lang="en-US" sz="2800" dirty="0"/>
              <a:t>(3 of 4)</a:t>
            </a:r>
            <a:endParaRPr lang="en-US" sz="2800" noProof="0" dirty="0"/>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37228" y="1679119"/>
            <a:ext cx="8266346" cy="4529889"/>
          </a:xfrm>
        </p:spPr>
        <p:txBody>
          <a:bodyPr wrap="square" lIns="0" tIns="18000" rIns="0" bIns="18000" anchor="ctr">
            <a:spAutoFit/>
          </a:bodyPr>
          <a:lstStyle/>
          <a:p>
            <a:pPr marL="342900" indent="-342900">
              <a:spcBef>
                <a:spcPts val="600"/>
              </a:spcBef>
              <a:spcAft>
                <a:spcPts val="600"/>
              </a:spcAft>
            </a:pPr>
            <a:r>
              <a:rPr lang="en-US" altLang="en-US" sz="2200" dirty="0"/>
              <a:t>Timing of Cash Flows</a:t>
            </a:r>
          </a:p>
          <a:p>
            <a:pPr marL="829818" lvl="1" indent="-342900">
              <a:spcAft>
                <a:spcPts val="600"/>
              </a:spcAft>
            </a:pPr>
            <a:r>
              <a:rPr lang="en-US" altLang="en-US" sz="2200" dirty="0"/>
              <a:t>Another problem with the </a:t>
            </a:r>
            <a:r>
              <a:rPr lang="en-US" altLang="en-US" sz="2200" spc="-300" dirty="0"/>
              <a:t>I R </a:t>
            </a:r>
            <a:r>
              <a:rPr lang="en-US" altLang="en-US" sz="2200" dirty="0" err="1"/>
              <a:t>R</a:t>
            </a:r>
            <a:r>
              <a:rPr lang="en-US" altLang="en-US" sz="2200" dirty="0"/>
              <a:t> is that it can be affected by changing the timing of the cash flows, even when the scale is the same</a:t>
            </a:r>
          </a:p>
          <a:p>
            <a:pPr marL="1229868" lvl="2" indent="-342900">
              <a:spcAft>
                <a:spcPts val="600"/>
              </a:spcAft>
            </a:pPr>
            <a:r>
              <a:rPr lang="en-US" altLang="en-US" sz="2200" spc="-300" dirty="0"/>
              <a:t>I R </a:t>
            </a:r>
            <a:r>
              <a:rPr lang="en-US" altLang="en-US" sz="2200" dirty="0" err="1"/>
              <a:t>R</a:t>
            </a:r>
            <a:r>
              <a:rPr lang="en-US" altLang="en-US" sz="2200" dirty="0"/>
              <a:t> is a return, but the dollar value of earning a given return depends on how long the return is earned</a:t>
            </a:r>
          </a:p>
          <a:p>
            <a:pPr marL="829818" lvl="1" indent="-342900">
              <a:spcAft>
                <a:spcPts val="600"/>
              </a:spcAft>
            </a:pPr>
            <a:r>
              <a:rPr lang="en-US" altLang="en-US" sz="2200" dirty="0"/>
              <a:t>Consider again the coffee shop and the music store investment in precedent Example</a:t>
            </a:r>
          </a:p>
          <a:p>
            <a:pPr marL="829818" lvl="1" indent="-342900">
              <a:spcAft>
                <a:spcPts val="600"/>
              </a:spcAft>
            </a:pPr>
            <a:r>
              <a:rPr lang="en-US" altLang="en-US" sz="2200" dirty="0"/>
              <a:t>Both have the same initial scale and the same horizon.</a:t>
            </a:r>
          </a:p>
          <a:p>
            <a:pPr marL="829818" lvl="1" indent="-342900">
              <a:spcAft>
                <a:spcPts val="600"/>
              </a:spcAft>
            </a:pPr>
            <a:r>
              <a:rPr lang="en-US" altLang="en-US" sz="2200" dirty="0"/>
              <a:t>The coffee shop has a lower </a:t>
            </a:r>
            <a:r>
              <a:rPr lang="en-US" altLang="en-US" sz="2200" spc="-300" dirty="0"/>
              <a:t>I R </a:t>
            </a:r>
            <a:r>
              <a:rPr lang="en-US" altLang="en-US" sz="2200" dirty="0" err="1"/>
              <a:t>R</a:t>
            </a:r>
            <a:r>
              <a:rPr lang="en-US" altLang="en-US" sz="2200" dirty="0"/>
              <a:t>, but a higher </a:t>
            </a:r>
            <a:r>
              <a:rPr lang="en-US" altLang="en-US" sz="2200" spc="-300" dirty="0"/>
              <a:t>N P </a:t>
            </a:r>
            <a:r>
              <a:rPr lang="en-US" altLang="en-US" sz="2200" dirty="0"/>
              <a:t>V because of its higher growth rate</a:t>
            </a:r>
          </a:p>
        </p:txBody>
      </p:sp>
    </p:spTree>
    <p:extLst>
      <p:ext uri="{BB962C8B-B14F-4D97-AF65-F5344CB8AC3E}">
        <p14:creationId xmlns:p14="http://schemas.microsoft.com/office/powerpoint/2010/main" val="31033243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17750"/>
            <a:ext cx="8266346" cy="1144347"/>
          </a:xfrm>
        </p:spPr>
        <p:txBody>
          <a:bodyPr/>
          <a:lstStyle/>
          <a:p>
            <a:r>
              <a:rPr lang="en-US" spc="-500" dirty="0"/>
              <a:t>I R </a:t>
            </a:r>
            <a:r>
              <a:rPr lang="en-US" dirty="0" err="1"/>
              <a:t>R</a:t>
            </a:r>
            <a:r>
              <a:rPr lang="en-US" dirty="0"/>
              <a:t> Rule and Mutually Exclusive Investments </a:t>
            </a:r>
            <a:r>
              <a:rPr lang="en-US" sz="2800" dirty="0"/>
              <a:t>(4 of 4)</a:t>
            </a:r>
            <a:endParaRPr lang="en-US" sz="2800" noProof="0" dirty="0"/>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37228" y="1658535"/>
            <a:ext cx="8266346" cy="3668115"/>
          </a:xfrm>
        </p:spPr>
        <p:txBody>
          <a:bodyPr wrap="square" lIns="0" tIns="18000" rIns="0" bIns="18000" anchor="ctr">
            <a:spAutoFit/>
          </a:bodyPr>
          <a:lstStyle/>
          <a:p>
            <a:pPr marL="342900" indent="-342900">
              <a:spcBef>
                <a:spcPts val="600"/>
              </a:spcBef>
            </a:pPr>
            <a:r>
              <a:rPr lang="en-US" altLang="en-US" sz="2400" dirty="0"/>
              <a:t>Differences in Risk</a:t>
            </a:r>
          </a:p>
          <a:p>
            <a:pPr marL="829818" lvl="1" indent="-342900"/>
            <a:r>
              <a:rPr lang="en-US" altLang="en-US" sz="2400" dirty="0"/>
              <a:t>An </a:t>
            </a:r>
            <a:r>
              <a:rPr lang="en-US" altLang="en-US" sz="2400" spc="-300" dirty="0"/>
              <a:t>I R </a:t>
            </a:r>
            <a:r>
              <a:rPr lang="en-US" altLang="en-US" sz="2400" dirty="0" err="1"/>
              <a:t>R</a:t>
            </a:r>
            <a:r>
              <a:rPr lang="en-US" altLang="en-US" sz="2400" dirty="0"/>
              <a:t> that is attractive for a safe project need not be attractive for a riskier project</a:t>
            </a:r>
          </a:p>
          <a:p>
            <a:pPr marL="829818" lvl="1" indent="-342900"/>
            <a:r>
              <a:rPr lang="en-US" altLang="en-US" sz="2400" dirty="0"/>
              <a:t>Consider the investment in the electronics store from the precedent example</a:t>
            </a:r>
          </a:p>
          <a:p>
            <a:pPr marL="829818" lvl="1" indent="-342900"/>
            <a:r>
              <a:rPr lang="en-US" altLang="en-US" sz="2400" dirty="0"/>
              <a:t>The </a:t>
            </a:r>
            <a:r>
              <a:rPr lang="en-US" altLang="en-US" sz="2400" spc="-300" dirty="0"/>
              <a:t>I R </a:t>
            </a:r>
            <a:r>
              <a:rPr lang="en-US" altLang="en-US" sz="2400" dirty="0" err="1"/>
              <a:t>R</a:t>
            </a:r>
            <a:r>
              <a:rPr lang="en-US" altLang="en-US" sz="2400" dirty="0"/>
              <a:t> is higher than those of the other investment opportunities, yet the </a:t>
            </a:r>
            <a:r>
              <a:rPr lang="en-US" altLang="en-US" sz="2400" spc="-300" dirty="0"/>
              <a:t>N P </a:t>
            </a:r>
            <a:r>
              <a:rPr lang="en-US" altLang="en-US" sz="2400" dirty="0"/>
              <a:t>V is the lowest</a:t>
            </a:r>
          </a:p>
          <a:p>
            <a:pPr marL="829818" lvl="1" indent="-342900"/>
            <a:r>
              <a:rPr lang="en-US" altLang="en-US" sz="2400" dirty="0"/>
              <a:t>The higher cost of capital means a higher </a:t>
            </a:r>
            <a:r>
              <a:rPr lang="en-US" altLang="en-US" sz="2400" spc="-300" dirty="0"/>
              <a:t>I R </a:t>
            </a:r>
            <a:r>
              <a:rPr lang="en-US" altLang="en-US" sz="2400" dirty="0" err="1"/>
              <a:t>R</a:t>
            </a:r>
            <a:r>
              <a:rPr lang="en-US" altLang="en-US" sz="2400" dirty="0"/>
              <a:t> is necessary to make the project attractive</a:t>
            </a:r>
          </a:p>
        </p:txBody>
      </p:sp>
    </p:spTree>
    <p:extLst>
      <p:ext uri="{BB962C8B-B14F-4D97-AF65-F5344CB8AC3E}">
        <p14:creationId xmlns:p14="http://schemas.microsoft.com/office/powerpoint/2010/main" val="10820181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21372"/>
            <a:ext cx="8266346" cy="590349"/>
          </a:xfrm>
        </p:spPr>
        <p:txBody>
          <a:bodyPr/>
          <a:lstStyle/>
          <a:p>
            <a:r>
              <a:rPr lang="en-US" dirty="0"/>
              <a:t>The Incremental </a:t>
            </a:r>
            <a:r>
              <a:rPr lang="en-US" spc="-500" dirty="0"/>
              <a:t>I R </a:t>
            </a:r>
            <a:r>
              <a:rPr lang="en-US" dirty="0" err="1"/>
              <a:t>R</a:t>
            </a:r>
            <a:r>
              <a:rPr lang="en-US" dirty="0"/>
              <a:t> Rule </a:t>
            </a:r>
            <a:r>
              <a:rPr lang="en-US" sz="2800" dirty="0"/>
              <a:t>(1 of 2)</a:t>
            </a:r>
            <a:endParaRPr lang="en-US" sz="2800" noProof="0" dirty="0"/>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38827" y="1505791"/>
            <a:ext cx="8266346" cy="2036899"/>
          </a:xfrm>
        </p:spPr>
        <p:txBody>
          <a:bodyPr wrap="square" lIns="0" tIns="18000" rIns="0" bIns="18000" anchor="ctr">
            <a:spAutoFit/>
          </a:bodyPr>
          <a:lstStyle/>
          <a:p>
            <a:pPr marL="342900" indent="-342900">
              <a:spcBef>
                <a:spcPts val="600"/>
              </a:spcBef>
              <a:spcAft>
                <a:spcPts val="600"/>
              </a:spcAft>
            </a:pPr>
            <a:r>
              <a:rPr lang="en-US" altLang="en-US" sz="2400" dirty="0"/>
              <a:t>Incremental </a:t>
            </a:r>
            <a:r>
              <a:rPr lang="en-US" altLang="en-US" sz="2400" spc="-300" dirty="0"/>
              <a:t>I R </a:t>
            </a:r>
            <a:r>
              <a:rPr lang="en-US" altLang="en-US" sz="2400" dirty="0" err="1"/>
              <a:t>R</a:t>
            </a:r>
            <a:r>
              <a:rPr lang="en-US" altLang="en-US" sz="2400" dirty="0"/>
              <a:t> Investment Rule</a:t>
            </a:r>
          </a:p>
          <a:p>
            <a:pPr marL="829818" lvl="1" indent="-342900">
              <a:spcAft>
                <a:spcPts val="600"/>
              </a:spcAft>
            </a:pPr>
            <a:r>
              <a:rPr lang="en-US" altLang="en-US" sz="2400" dirty="0"/>
              <a:t>Apply the </a:t>
            </a:r>
            <a:r>
              <a:rPr lang="en-US" altLang="en-US" sz="2400" spc="-300" dirty="0"/>
              <a:t>I R </a:t>
            </a:r>
            <a:r>
              <a:rPr lang="en-US" altLang="en-US" sz="2400" dirty="0" err="1"/>
              <a:t>R</a:t>
            </a:r>
            <a:r>
              <a:rPr lang="en-US" altLang="en-US" sz="2400" dirty="0"/>
              <a:t> rule to the difference between the cash flows of the two mutually exclusive alternatives (the increment to the cash flows of one investment over the other)</a:t>
            </a:r>
          </a:p>
        </p:txBody>
      </p:sp>
    </p:spTree>
    <p:extLst>
      <p:ext uri="{BB962C8B-B14F-4D97-AF65-F5344CB8AC3E}">
        <p14:creationId xmlns:p14="http://schemas.microsoft.com/office/powerpoint/2010/main" val="24612495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21371"/>
            <a:ext cx="8266346" cy="590349"/>
          </a:xfrm>
        </p:spPr>
        <p:txBody>
          <a:bodyPr/>
          <a:lstStyle/>
          <a:p>
            <a:r>
              <a:rPr lang="en-US" dirty="0"/>
              <a:t>Overhaul Example </a:t>
            </a:r>
            <a:r>
              <a:rPr lang="en-US" sz="2800" dirty="0"/>
              <a:t>(1 of 4)</a:t>
            </a:r>
            <a:endParaRPr lang="en-US" sz="2800" noProof="0" dirty="0"/>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37228" y="1182372"/>
            <a:ext cx="8266345" cy="359517"/>
          </a:xfrm>
        </p:spPr>
        <p:txBody>
          <a:bodyPr wrap="square" lIns="0" tIns="18000" rIns="0" bIns="18000" anchor="ctr">
            <a:spAutoFit/>
          </a:bodyPr>
          <a:lstStyle/>
          <a:p>
            <a:pPr marL="0" indent="0">
              <a:spcBef>
                <a:spcPts val="600"/>
              </a:spcBef>
              <a:buNone/>
            </a:pPr>
            <a:r>
              <a:rPr lang="en-US" altLang="en-US" sz="2100" dirty="0"/>
              <a:t>Using the Incremental </a:t>
            </a:r>
            <a:r>
              <a:rPr lang="en-US" altLang="en-US" sz="2100" spc="-260" dirty="0"/>
              <a:t>I R </a:t>
            </a:r>
            <a:r>
              <a:rPr lang="en-US" altLang="en-US" sz="2100" dirty="0" err="1"/>
              <a:t>R</a:t>
            </a:r>
            <a:r>
              <a:rPr lang="en-US" altLang="en-US" sz="2100" dirty="0"/>
              <a:t> to Compare Alternatives </a:t>
            </a:r>
          </a:p>
        </p:txBody>
      </p:sp>
      <p:sp>
        <p:nvSpPr>
          <p:cNvPr id="4" name="Content Placeholder 3">
            <a:extLst>
              <a:ext uri="{FF2B5EF4-FFF2-40B4-BE49-F238E27FC236}">
                <a16:creationId xmlns:a16="http://schemas.microsoft.com/office/drawing/2014/main" id="{0DD52A53-AA06-30A3-80A8-F6004494B0FE}"/>
              </a:ext>
            </a:extLst>
          </p:cNvPr>
          <p:cNvSpPr>
            <a:spLocks noGrp="1"/>
          </p:cNvSpPr>
          <p:nvPr>
            <p:ph sz="quarter" idx="13"/>
          </p:nvPr>
        </p:nvSpPr>
        <p:spPr>
          <a:xfrm>
            <a:off x="445855" y="1678882"/>
            <a:ext cx="8257718" cy="1729123"/>
          </a:xfrm>
        </p:spPr>
        <p:txBody>
          <a:bodyPr wrap="square" lIns="0" tIns="18000" rIns="0" bIns="18000" anchor="ctr">
            <a:spAutoFit/>
          </a:bodyPr>
          <a:lstStyle/>
          <a:p>
            <a:pPr marL="0" indent="0">
              <a:spcBef>
                <a:spcPts val="600"/>
              </a:spcBef>
              <a:buNone/>
            </a:pPr>
            <a:r>
              <a:rPr lang="en-US" sz="2100" b="1" dirty="0"/>
              <a:t>Problem</a:t>
            </a:r>
          </a:p>
          <a:p>
            <a:pPr marL="0" indent="0">
              <a:spcBef>
                <a:spcPts val="600"/>
              </a:spcBef>
              <a:buNone/>
            </a:pPr>
            <a:r>
              <a:rPr lang="en-US" sz="2100" dirty="0"/>
              <a:t>Your firm is considering overhauling its production plant. The engineering team has come up with two proposals, one for a minor overhaul and one for a major overhaul. The two options have the following cash flows(in millions of dollars):</a:t>
            </a:r>
          </a:p>
        </p:txBody>
      </p:sp>
      <p:graphicFrame>
        <p:nvGraphicFramePr>
          <p:cNvPr id="14" name="Table 13">
            <a:extLst>
              <a:ext uri="{FF2B5EF4-FFF2-40B4-BE49-F238E27FC236}">
                <a16:creationId xmlns:a16="http://schemas.microsoft.com/office/drawing/2014/main" id="{E20DC970-BEC0-42FC-ADED-FBA027ED0932}"/>
              </a:ext>
            </a:extLst>
          </p:cNvPr>
          <p:cNvGraphicFramePr>
            <a:graphicFrameLocks noGrp="1"/>
          </p:cNvGraphicFramePr>
          <p:nvPr>
            <p:extLst>
              <p:ext uri="{D42A27DB-BD31-4B8C-83A1-F6EECF244321}">
                <p14:modId xmlns:p14="http://schemas.microsoft.com/office/powerpoint/2010/main" val="902228101"/>
              </p:ext>
            </p:extLst>
          </p:nvPr>
        </p:nvGraphicFramePr>
        <p:xfrm>
          <a:off x="694268" y="4000994"/>
          <a:ext cx="7676849" cy="1263180"/>
        </p:xfrm>
        <a:graphic>
          <a:graphicData uri="http://schemas.openxmlformats.org/drawingml/2006/table">
            <a:tbl>
              <a:tblPr firstRow="1" bandRow="1">
                <a:tableStyleId>{3B4B98B0-60AC-42C2-AFA5-B58CD77FA1E5}</a:tableStyleId>
              </a:tblPr>
              <a:tblGrid>
                <a:gridCol w="2011225">
                  <a:extLst>
                    <a:ext uri="{9D8B030D-6E8A-4147-A177-3AD203B41FA5}">
                      <a16:colId xmlns:a16="http://schemas.microsoft.com/office/drawing/2014/main" val="1271790693"/>
                    </a:ext>
                  </a:extLst>
                </a:gridCol>
                <a:gridCol w="1404594">
                  <a:extLst>
                    <a:ext uri="{9D8B030D-6E8A-4147-A177-3AD203B41FA5}">
                      <a16:colId xmlns:a16="http://schemas.microsoft.com/office/drawing/2014/main" val="1583790126"/>
                    </a:ext>
                  </a:extLst>
                </a:gridCol>
                <a:gridCol w="1348033">
                  <a:extLst>
                    <a:ext uri="{9D8B030D-6E8A-4147-A177-3AD203B41FA5}">
                      <a16:colId xmlns:a16="http://schemas.microsoft.com/office/drawing/2014/main" val="2222602916"/>
                    </a:ext>
                  </a:extLst>
                </a:gridCol>
                <a:gridCol w="1611983">
                  <a:extLst>
                    <a:ext uri="{9D8B030D-6E8A-4147-A177-3AD203B41FA5}">
                      <a16:colId xmlns:a16="http://schemas.microsoft.com/office/drawing/2014/main" val="4010123886"/>
                    </a:ext>
                  </a:extLst>
                </a:gridCol>
                <a:gridCol w="1301014">
                  <a:extLst>
                    <a:ext uri="{9D8B030D-6E8A-4147-A177-3AD203B41FA5}">
                      <a16:colId xmlns:a16="http://schemas.microsoft.com/office/drawing/2014/main" val="1958803098"/>
                    </a:ext>
                  </a:extLst>
                </a:gridCol>
              </a:tblGrid>
              <a:tr h="421060">
                <a:tc>
                  <a:txBody>
                    <a:bodyPr/>
                    <a:lstStyle/>
                    <a:p>
                      <a:pPr algn="ctr"/>
                      <a:r>
                        <a:rPr lang="en-US" sz="2000" noProof="0">
                          <a:solidFill>
                            <a:schemeClr val="bg1"/>
                          </a:solidFill>
                          <a:latin typeface="Arial" panose="020B0604020202020204" pitchFamily="34" charset="0"/>
                          <a:cs typeface="Arial" panose="020B0604020202020204" pitchFamily="34" charset="0"/>
                        </a:rPr>
                        <a:t>Proposal</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r>
                        <a:rPr lang="en-US" sz="2000" b="1" noProof="0">
                          <a:solidFill>
                            <a:schemeClr val="bg1"/>
                          </a:solidFill>
                          <a:latin typeface="Arial" panose="020B0604020202020204" pitchFamily="34" charset="0"/>
                          <a:cs typeface="Arial" panose="020B0604020202020204" pitchFamily="34" charset="0"/>
                        </a:rPr>
                        <a:t>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r>
                        <a:rPr lang="en-US" sz="2000" b="1" noProof="0">
                          <a:solidFill>
                            <a:schemeClr val="bg1"/>
                          </a:solidFill>
                          <a:latin typeface="Arial" panose="020B0604020202020204" pitchFamily="34" charset="0"/>
                          <a:cs typeface="Arial" panose="020B0604020202020204" pitchFamily="34" charset="0"/>
                        </a:rPr>
                        <a:t>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r>
                        <a:rPr lang="en-US" sz="2000" b="1" noProof="0">
                          <a:solidFill>
                            <a:schemeClr val="bg1"/>
                          </a:solidFill>
                          <a:latin typeface="Arial" panose="020B0604020202020204" pitchFamily="34" charset="0"/>
                          <a:cs typeface="Arial" panose="020B0604020202020204" pitchFamily="34" charset="0"/>
                        </a:rPr>
                        <a:t>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r>
                        <a:rPr lang="en-US" sz="2000" b="1" noProof="0">
                          <a:solidFill>
                            <a:schemeClr val="bg1"/>
                          </a:solidFill>
                          <a:latin typeface="Arial" panose="020B0604020202020204" pitchFamily="34" charset="0"/>
                          <a:cs typeface="Arial" panose="020B0604020202020204" pitchFamily="34" charset="0"/>
                        </a:rPr>
                        <a:t>3</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2038514718"/>
                  </a:ext>
                </a:extLst>
              </a:tr>
              <a:tr h="421060">
                <a:tc>
                  <a:txBody>
                    <a:bodyPr/>
                    <a:lstStyle/>
                    <a:p>
                      <a:pPr algn="l"/>
                      <a:r>
                        <a:rPr lang="en-US" sz="2000" b="0" noProof="0" dirty="0">
                          <a:solidFill>
                            <a:schemeClr val="tx1"/>
                          </a:solidFill>
                          <a:latin typeface="Arial" panose="020B0604020202020204" pitchFamily="34" charset="0"/>
                          <a:cs typeface="Arial" panose="020B0604020202020204" pitchFamily="34" charset="0"/>
                        </a:rPr>
                        <a:t>Major overhaul</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b="0" noProof="0" dirty="0">
                          <a:solidFill>
                            <a:schemeClr val="tx1"/>
                          </a:solidFill>
                          <a:latin typeface="Arial" panose="020B0604020202020204" pitchFamily="34" charset="0"/>
                          <a:cs typeface="Arial" panose="020B0604020202020204" pitchFamily="34" charset="0"/>
                        </a:rPr>
                        <a:t>Negative 10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2000" b="0" noProof="0">
                          <a:solidFill>
                            <a:schemeClr val="bg2"/>
                          </a:solidFill>
                          <a:latin typeface="Arial" panose="020B0604020202020204" pitchFamily="34" charset="0"/>
                          <a:cs typeface="Arial" panose="020B0604020202020204" pitchFamily="34" charset="0"/>
                        </a:rPr>
                        <a:t>6</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2000" b="0" noProof="0">
                          <a:solidFill>
                            <a:schemeClr val="tx1"/>
                          </a:solidFill>
                          <a:latin typeface="Arial" panose="020B0604020202020204" pitchFamily="34" charset="0"/>
                          <a:cs typeface="Arial" panose="020B0604020202020204" pitchFamily="34" charset="0"/>
                        </a:rPr>
                        <a:t>6</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2000" b="0" noProof="0">
                          <a:solidFill>
                            <a:schemeClr val="tx1"/>
                          </a:solidFill>
                          <a:latin typeface="Arial" panose="020B0604020202020204" pitchFamily="34" charset="0"/>
                          <a:cs typeface="Arial" panose="020B0604020202020204" pitchFamily="34" charset="0"/>
                        </a:rPr>
                        <a:t>6</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2048807982"/>
                  </a:ext>
                </a:extLst>
              </a:tr>
              <a:tr h="421060">
                <a:tc>
                  <a:txBody>
                    <a:bodyPr/>
                    <a:lstStyle/>
                    <a:p>
                      <a:pPr algn="l"/>
                      <a:r>
                        <a:rPr lang="en-US" sz="2000" b="0" noProof="0">
                          <a:solidFill>
                            <a:schemeClr val="tx1"/>
                          </a:solidFill>
                          <a:latin typeface="Arial" panose="020B0604020202020204" pitchFamily="34" charset="0"/>
                          <a:cs typeface="Arial" panose="020B0604020202020204" pitchFamily="34" charset="0"/>
                        </a:rPr>
                        <a:t>Minor overhaul</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b="0" noProof="0">
                          <a:solidFill>
                            <a:schemeClr val="tx1"/>
                          </a:solidFill>
                          <a:latin typeface="Arial" panose="020B0604020202020204" pitchFamily="34" charset="0"/>
                          <a:cs typeface="Arial" panose="020B0604020202020204" pitchFamily="34" charset="0"/>
                        </a:rPr>
                        <a:t>negative 50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2000" b="0" noProof="0">
                          <a:solidFill>
                            <a:schemeClr val="tx1"/>
                          </a:solidFill>
                          <a:latin typeface="Arial" panose="020B0604020202020204" pitchFamily="34" charset="0"/>
                          <a:cs typeface="Arial" panose="020B0604020202020204" pitchFamily="34" charset="0"/>
                        </a:rPr>
                        <a:t>25</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2000" b="0" noProof="0">
                          <a:solidFill>
                            <a:schemeClr val="tx1"/>
                          </a:solidFill>
                          <a:latin typeface="Arial" panose="020B0604020202020204" pitchFamily="34" charset="0"/>
                          <a:cs typeface="Arial" panose="020B0604020202020204" pitchFamily="34" charset="0"/>
                        </a:rPr>
                        <a:t>25</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2000" b="0" noProof="0" dirty="0">
                          <a:solidFill>
                            <a:schemeClr val="tx1"/>
                          </a:solidFill>
                          <a:latin typeface="Arial" panose="020B0604020202020204" pitchFamily="34" charset="0"/>
                          <a:cs typeface="Arial" panose="020B0604020202020204" pitchFamily="34" charset="0"/>
                        </a:rPr>
                        <a:t>25</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14310709"/>
                  </a:ext>
                </a:extLst>
              </a:tr>
            </a:tbl>
          </a:graphicData>
        </a:graphic>
      </p:graphicFrame>
      <p:graphicFrame>
        <p:nvGraphicFramePr>
          <p:cNvPr id="15" name="Object 14">
            <a:extLst>
              <a:ext uri="{FF2B5EF4-FFF2-40B4-BE49-F238E27FC236}">
                <a16:creationId xmlns:a16="http://schemas.microsoft.com/office/drawing/2014/main" id="{51AC2AEB-0E15-4DEB-89B1-36B406F00B32}"/>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213877916"/>
              </p:ext>
            </p:extLst>
          </p:nvPr>
        </p:nvGraphicFramePr>
        <p:xfrm>
          <a:off x="3182289" y="4576615"/>
          <a:ext cx="435578" cy="253214"/>
        </p:xfrm>
        <a:graphic>
          <a:graphicData uri="http://schemas.openxmlformats.org/presentationml/2006/ole">
            <mc:AlternateContent xmlns:mc="http://schemas.openxmlformats.org/markup-compatibility/2006">
              <mc:Choice xmlns:v="urn:schemas-microsoft-com:vml" Requires="v">
                <p:oleObj name="Equation" r:id="rId2" imgW="304560" imgH="177480" progId="Equation.DSMT4">
                  <p:embed/>
                </p:oleObj>
              </mc:Choice>
              <mc:Fallback>
                <p:oleObj name="Equation" r:id="rId2" imgW="304560" imgH="177480" progId="Equation.DSMT4">
                  <p:embed/>
                  <p:pic>
                    <p:nvPicPr>
                      <p:cNvPr id="5" name="Object 4">
                        <a:extLst>
                          <a:ext uri="{FF2B5EF4-FFF2-40B4-BE49-F238E27FC236}">
                            <a16:creationId xmlns:a16="http://schemas.microsoft.com/office/drawing/2014/main" id="{7F58A0A2-CD80-41A8-9443-66CE807D769E}"/>
                          </a:ext>
                        </a:extLst>
                      </p:cNvPr>
                      <p:cNvPicPr/>
                      <p:nvPr/>
                    </p:nvPicPr>
                    <p:blipFill>
                      <a:blip r:embed="rId3"/>
                      <a:stretch>
                        <a:fillRect/>
                      </a:stretch>
                    </p:blipFill>
                    <p:spPr>
                      <a:xfrm>
                        <a:off x="3182289" y="4576615"/>
                        <a:ext cx="435578" cy="253214"/>
                      </a:xfrm>
                      <a:prstGeom prst="rect">
                        <a:avLst/>
                      </a:prstGeom>
                    </p:spPr>
                  </p:pic>
                </p:oleObj>
              </mc:Fallback>
            </mc:AlternateContent>
          </a:graphicData>
        </a:graphic>
      </p:graphicFrame>
      <p:graphicFrame>
        <p:nvGraphicFramePr>
          <p:cNvPr id="16" name="Object 15">
            <a:extLst>
              <a:ext uri="{FF2B5EF4-FFF2-40B4-BE49-F238E27FC236}">
                <a16:creationId xmlns:a16="http://schemas.microsoft.com/office/drawing/2014/main" id="{1CB7B635-D689-4251-A2B2-6D3C33222E8A}"/>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405792076"/>
              </p:ext>
            </p:extLst>
          </p:nvPr>
        </p:nvGraphicFramePr>
        <p:xfrm>
          <a:off x="3182289" y="4946035"/>
          <a:ext cx="435578" cy="253214"/>
        </p:xfrm>
        <a:graphic>
          <a:graphicData uri="http://schemas.openxmlformats.org/presentationml/2006/ole">
            <mc:AlternateContent xmlns:mc="http://schemas.openxmlformats.org/markup-compatibility/2006">
              <mc:Choice xmlns:v="urn:schemas-microsoft-com:vml" Requires="v">
                <p:oleObj name="Equation" r:id="rId4" imgW="304560" imgH="177480" progId="Equation.DSMT4">
                  <p:embed/>
                </p:oleObj>
              </mc:Choice>
              <mc:Fallback>
                <p:oleObj name="Equation" r:id="rId4" imgW="304560" imgH="177480" progId="Equation.DSMT4">
                  <p:embed/>
                  <p:pic>
                    <p:nvPicPr>
                      <p:cNvPr id="15" name="Object 14">
                        <a:extLst>
                          <a:ext uri="{FF2B5EF4-FFF2-40B4-BE49-F238E27FC236}">
                            <a16:creationId xmlns:a16="http://schemas.microsoft.com/office/drawing/2014/main" id="{51AC2AEB-0E15-4DEB-89B1-36B406F00B32}"/>
                          </a:ext>
                        </a:extLst>
                      </p:cNvPr>
                      <p:cNvPicPr/>
                      <p:nvPr/>
                    </p:nvPicPr>
                    <p:blipFill>
                      <a:blip r:embed="rId5"/>
                      <a:stretch>
                        <a:fillRect/>
                      </a:stretch>
                    </p:blipFill>
                    <p:spPr>
                      <a:xfrm>
                        <a:off x="3182289" y="4946035"/>
                        <a:ext cx="435578" cy="253214"/>
                      </a:xfrm>
                      <a:prstGeom prst="rect">
                        <a:avLst/>
                      </a:prstGeom>
                    </p:spPr>
                  </p:pic>
                </p:oleObj>
              </mc:Fallback>
            </mc:AlternateContent>
          </a:graphicData>
        </a:graphic>
      </p:graphicFrame>
      <p:sp>
        <p:nvSpPr>
          <p:cNvPr id="5" name="Content Placeholder 4">
            <a:extLst>
              <a:ext uri="{FF2B5EF4-FFF2-40B4-BE49-F238E27FC236}">
                <a16:creationId xmlns:a16="http://schemas.microsoft.com/office/drawing/2014/main" id="{B030C7B8-0389-DAFE-D0DE-7BB944A22220}"/>
              </a:ext>
            </a:extLst>
          </p:cNvPr>
          <p:cNvSpPr>
            <a:spLocks noGrp="1"/>
          </p:cNvSpPr>
          <p:nvPr>
            <p:ph sz="quarter" idx="14"/>
          </p:nvPr>
        </p:nvSpPr>
        <p:spPr>
          <a:xfrm>
            <a:off x="440425" y="5560811"/>
            <a:ext cx="8280400" cy="1005848"/>
          </a:xfrm>
        </p:spPr>
        <p:txBody>
          <a:bodyPr wrap="square" lIns="0" tIns="18000" rIns="0" bIns="18000" anchor="ctr">
            <a:spAutoFit/>
          </a:bodyPr>
          <a:lstStyle/>
          <a:p>
            <a:pPr marL="0" indent="0">
              <a:buNone/>
            </a:pPr>
            <a:r>
              <a:rPr lang="en-US" sz="2100" dirty="0"/>
              <a:t>What is the </a:t>
            </a:r>
            <a:r>
              <a:rPr lang="en-US" sz="2100" spc="-260" dirty="0"/>
              <a:t>I R </a:t>
            </a:r>
            <a:r>
              <a:rPr lang="en-US" sz="2100" dirty="0" err="1"/>
              <a:t>R</a:t>
            </a:r>
            <a:r>
              <a:rPr lang="en-US" sz="2100" dirty="0"/>
              <a:t> of each proposal? What is the incremental </a:t>
            </a:r>
            <a:r>
              <a:rPr lang="en-US" sz="2100" spc="-260" dirty="0"/>
              <a:t>I R</a:t>
            </a:r>
            <a:r>
              <a:rPr lang="en-US" sz="2100" spc="-300" dirty="0"/>
              <a:t> </a:t>
            </a:r>
            <a:r>
              <a:rPr lang="en-US" sz="2100" dirty="0" err="1"/>
              <a:t>R</a:t>
            </a:r>
            <a:r>
              <a:rPr lang="en-US" sz="2100" dirty="0"/>
              <a:t>? If the cost of capital for both of these projects is 12%, what should your firm do?</a:t>
            </a:r>
          </a:p>
        </p:txBody>
      </p:sp>
      <p:sp>
        <p:nvSpPr>
          <p:cNvPr id="6" name="ZoneTexte 5">
            <a:extLst>
              <a:ext uri="{FF2B5EF4-FFF2-40B4-BE49-F238E27FC236}">
                <a16:creationId xmlns:a16="http://schemas.microsoft.com/office/drawing/2014/main" id="{E895D8DE-628C-C56F-2A70-A49269744F93}"/>
              </a:ext>
            </a:extLst>
          </p:cNvPr>
          <p:cNvSpPr txBox="1"/>
          <p:nvPr/>
        </p:nvSpPr>
        <p:spPr>
          <a:xfrm>
            <a:off x="609860" y="3519833"/>
            <a:ext cx="979755" cy="369332"/>
          </a:xfrm>
          <a:prstGeom prst="rect">
            <a:avLst/>
          </a:prstGeom>
          <a:noFill/>
        </p:spPr>
        <p:txBody>
          <a:bodyPr wrap="none" rtlCol="0">
            <a:spAutoFit/>
          </a:bodyPr>
          <a:lstStyle/>
          <a:p>
            <a:r>
              <a:rPr lang="fr-FR" sz="1800" b="1" dirty="0"/>
              <a:t>Table 4</a:t>
            </a:r>
          </a:p>
        </p:txBody>
      </p:sp>
    </p:spTree>
    <p:extLst>
      <p:ext uri="{BB962C8B-B14F-4D97-AF65-F5344CB8AC3E}">
        <p14:creationId xmlns:p14="http://schemas.microsoft.com/office/powerpoint/2010/main" val="177396861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21371"/>
            <a:ext cx="8266346" cy="590349"/>
          </a:xfrm>
        </p:spPr>
        <p:txBody>
          <a:bodyPr/>
          <a:lstStyle/>
          <a:p>
            <a:r>
              <a:rPr lang="en-US" dirty="0"/>
              <a:t>Overhaul Example </a:t>
            </a:r>
            <a:r>
              <a:rPr lang="en-US" sz="2800" dirty="0"/>
              <a:t>(2 of 4)</a:t>
            </a:r>
            <a:endParaRPr lang="en-US" sz="2800" noProof="0" dirty="0"/>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37228" y="1091591"/>
            <a:ext cx="1118195" cy="344128"/>
          </a:xfrm>
        </p:spPr>
        <p:txBody>
          <a:bodyPr wrap="square" lIns="0" tIns="18000" rIns="0" bIns="18000" anchor="ctr">
            <a:spAutoFit/>
          </a:bodyPr>
          <a:lstStyle/>
          <a:p>
            <a:pPr marL="0" indent="0">
              <a:spcBef>
                <a:spcPts val="600"/>
              </a:spcBef>
              <a:buNone/>
            </a:pPr>
            <a:r>
              <a:rPr lang="en-US" altLang="en-US" sz="2000" b="1" dirty="0"/>
              <a:t>Solution</a:t>
            </a:r>
          </a:p>
        </p:txBody>
      </p:sp>
      <p:sp>
        <p:nvSpPr>
          <p:cNvPr id="4" name="Content Placeholder 3">
            <a:extLst>
              <a:ext uri="{FF2B5EF4-FFF2-40B4-BE49-F238E27FC236}">
                <a16:creationId xmlns:a16="http://schemas.microsoft.com/office/drawing/2014/main" id="{0DD52A53-AA06-30A3-80A8-F6004494B0FE}"/>
              </a:ext>
            </a:extLst>
          </p:cNvPr>
          <p:cNvSpPr>
            <a:spLocks noGrp="1"/>
          </p:cNvSpPr>
          <p:nvPr>
            <p:ph sz="quarter" idx="13"/>
          </p:nvPr>
        </p:nvSpPr>
        <p:spPr>
          <a:xfrm>
            <a:off x="445855" y="1603619"/>
            <a:ext cx="8257718" cy="608043"/>
          </a:xfrm>
        </p:spPr>
        <p:txBody>
          <a:bodyPr wrap="square" lIns="0" tIns="18000" rIns="0" bIns="18000" anchor="ctr">
            <a:spAutoFit/>
          </a:bodyPr>
          <a:lstStyle/>
          <a:p>
            <a:pPr marL="0" indent="0">
              <a:spcBef>
                <a:spcPts val="600"/>
              </a:spcBef>
              <a:buNone/>
            </a:pPr>
            <a:r>
              <a:rPr lang="en-US" sz="2000" dirty="0"/>
              <a:t>We can compute the </a:t>
            </a:r>
            <a:r>
              <a:rPr lang="en-US" sz="2000" spc="-260" dirty="0"/>
              <a:t>I R </a:t>
            </a:r>
            <a:r>
              <a:rPr lang="en-US" sz="2000" dirty="0" err="1"/>
              <a:t>R</a:t>
            </a:r>
            <a:r>
              <a:rPr lang="en-US" sz="2000" dirty="0"/>
              <a:t> of each proposal using the annuity calculator. For the minor overhaul, the </a:t>
            </a:r>
            <a:r>
              <a:rPr lang="en-US" sz="2000" spc="-260" dirty="0"/>
              <a:t>I R </a:t>
            </a:r>
            <a:r>
              <a:rPr lang="en-US" sz="2000" dirty="0" err="1"/>
              <a:t>R</a:t>
            </a:r>
            <a:r>
              <a:rPr lang="en-US" sz="2000" dirty="0"/>
              <a:t> is 36.3%:</a:t>
            </a:r>
          </a:p>
        </p:txBody>
      </p:sp>
      <p:graphicFrame>
        <p:nvGraphicFramePr>
          <p:cNvPr id="9" name="Table 11">
            <a:extLst>
              <a:ext uri="{FF2B5EF4-FFF2-40B4-BE49-F238E27FC236}">
                <a16:creationId xmlns:a16="http://schemas.microsoft.com/office/drawing/2014/main" id="{11B74B00-E467-4C5F-87EF-10421CB6A7F8}"/>
              </a:ext>
            </a:extLst>
          </p:cNvPr>
          <p:cNvGraphicFramePr>
            <a:graphicFrameLocks noGrp="1"/>
          </p:cNvGraphicFramePr>
          <p:nvPr>
            <p:extLst>
              <p:ext uri="{D42A27DB-BD31-4B8C-83A1-F6EECF244321}">
                <p14:modId xmlns:p14="http://schemas.microsoft.com/office/powerpoint/2010/main" val="2619115362"/>
              </p:ext>
            </p:extLst>
          </p:nvPr>
        </p:nvGraphicFramePr>
        <p:xfrm>
          <a:off x="497941" y="2747680"/>
          <a:ext cx="8148117" cy="1302825"/>
        </p:xfrm>
        <a:graphic>
          <a:graphicData uri="http://schemas.openxmlformats.org/drawingml/2006/table">
            <a:tbl>
              <a:tblPr firstRow="1" bandRow="1">
                <a:tableStyleId>{40F9630F-82C1-40B7-BC3A-925EFCFF5E92}</a:tableStyleId>
              </a:tblPr>
              <a:tblGrid>
                <a:gridCol w="1412889">
                  <a:extLst>
                    <a:ext uri="{9D8B030D-6E8A-4147-A177-3AD203B41FA5}">
                      <a16:colId xmlns:a16="http://schemas.microsoft.com/office/drawing/2014/main" val="467200679"/>
                    </a:ext>
                  </a:extLst>
                </a:gridCol>
                <a:gridCol w="859182">
                  <a:extLst>
                    <a:ext uri="{9D8B030D-6E8A-4147-A177-3AD203B41FA5}">
                      <a16:colId xmlns:a16="http://schemas.microsoft.com/office/drawing/2014/main" val="3156988431"/>
                    </a:ext>
                  </a:extLst>
                </a:gridCol>
                <a:gridCol w="957578">
                  <a:extLst>
                    <a:ext uri="{9D8B030D-6E8A-4147-A177-3AD203B41FA5}">
                      <a16:colId xmlns:a16="http://schemas.microsoft.com/office/drawing/2014/main" val="2535743945"/>
                    </a:ext>
                  </a:extLst>
                </a:gridCol>
                <a:gridCol w="1192620">
                  <a:extLst>
                    <a:ext uri="{9D8B030D-6E8A-4147-A177-3AD203B41FA5}">
                      <a16:colId xmlns:a16="http://schemas.microsoft.com/office/drawing/2014/main" val="2120472885"/>
                    </a:ext>
                  </a:extLst>
                </a:gridCol>
                <a:gridCol w="1070477">
                  <a:extLst>
                    <a:ext uri="{9D8B030D-6E8A-4147-A177-3AD203B41FA5}">
                      <a16:colId xmlns:a16="http://schemas.microsoft.com/office/drawing/2014/main" val="1335280307"/>
                    </a:ext>
                  </a:extLst>
                </a:gridCol>
                <a:gridCol w="913266">
                  <a:extLst>
                    <a:ext uri="{9D8B030D-6E8A-4147-A177-3AD203B41FA5}">
                      <a16:colId xmlns:a16="http://schemas.microsoft.com/office/drawing/2014/main" val="691551917"/>
                    </a:ext>
                  </a:extLst>
                </a:gridCol>
                <a:gridCol w="1742105">
                  <a:extLst>
                    <a:ext uri="{9D8B030D-6E8A-4147-A177-3AD203B41FA5}">
                      <a16:colId xmlns:a16="http://schemas.microsoft.com/office/drawing/2014/main" val="3130720241"/>
                    </a:ext>
                  </a:extLst>
                </a:gridCol>
              </a:tblGrid>
              <a:tr h="319951">
                <a:tc>
                  <a:txBody>
                    <a:bodyPr/>
                    <a:lstStyle/>
                    <a:p>
                      <a:pPr algn="l"/>
                      <a:r>
                        <a:rPr lang="en-US" sz="100" noProof="0">
                          <a:solidFill>
                            <a:schemeClr val="bg1"/>
                          </a:solidFill>
                        </a:rPr>
                        <a:t>Blank</a:t>
                      </a:r>
                    </a:p>
                  </a:txBody>
                  <a:tcPr marL="89956" marR="89956" marT="45428" marB="4542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1400" b="1" spc="-200" baseline="0" noProof="0">
                          <a:solidFill>
                            <a:schemeClr val="bg1"/>
                          </a:solidFill>
                        </a:rPr>
                        <a:t>N P E R</a:t>
                      </a:r>
                      <a:endParaRPr lang="en-US" sz="1400" b="1" spc="-200" baseline="0" noProof="0">
                        <a:solidFill>
                          <a:schemeClr val="bg1"/>
                        </a:solidFill>
                        <a:latin typeface="+mn-lt"/>
                      </a:endParaRPr>
                    </a:p>
                  </a:txBody>
                  <a:tcPr marL="90535" marR="9053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1400" b="1" spc="-200" baseline="0" noProof="0">
                          <a:solidFill>
                            <a:schemeClr val="bg1"/>
                          </a:solidFill>
                        </a:rPr>
                        <a:t>R A T E</a:t>
                      </a:r>
                      <a:endParaRPr lang="en-US" sz="1400" b="1" spc="-200" baseline="0" noProof="0">
                        <a:solidFill>
                          <a:schemeClr val="bg1"/>
                        </a:solidFill>
                        <a:latin typeface="+mn-lt"/>
                      </a:endParaRPr>
                    </a:p>
                  </a:txBody>
                  <a:tcPr marL="90535" marR="9053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1" spc="-200" baseline="0" noProof="0">
                          <a:solidFill>
                            <a:schemeClr val="bg1"/>
                          </a:solidFill>
                        </a:rPr>
                        <a:t>P V</a:t>
                      </a:r>
                      <a:endParaRPr lang="en-US" sz="1400" b="1" spc="-200" baseline="0" noProof="0">
                        <a:solidFill>
                          <a:schemeClr val="bg1"/>
                        </a:solidFill>
                        <a:latin typeface="+mn-lt"/>
                      </a:endParaRPr>
                    </a:p>
                  </a:txBody>
                  <a:tcPr marL="90535" marR="9053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1400" b="1" spc="-200" baseline="0" noProof="0">
                          <a:solidFill>
                            <a:schemeClr val="bg1"/>
                          </a:solidFill>
                        </a:rPr>
                        <a:t>P M T</a:t>
                      </a:r>
                      <a:endParaRPr lang="en-US" sz="1400" b="1" spc="-200" baseline="0" noProof="0">
                        <a:solidFill>
                          <a:schemeClr val="bg1"/>
                        </a:solidFill>
                        <a:latin typeface="+mn-lt"/>
                      </a:endParaRPr>
                    </a:p>
                  </a:txBody>
                  <a:tcPr marL="90535" marR="9053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1400" b="1" spc="-200" baseline="0" noProof="0">
                          <a:solidFill>
                            <a:schemeClr val="bg1"/>
                          </a:solidFill>
                        </a:rPr>
                        <a:t>F V</a:t>
                      </a:r>
                      <a:endParaRPr lang="en-US" sz="1400" b="1" spc="-200" baseline="0" noProof="0">
                        <a:solidFill>
                          <a:schemeClr val="bg1"/>
                        </a:solidFill>
                        <a:latin typeface="+mn-lt"/>
                      </a:endParaRPr>
                    </a:p>
                  </a:txBody>
                  <a:tcPr marL="90535" marR="9053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1400" b="1" noProof="0">
                          <a:solidFill>
                            <a:schemeClr val="bg1"/>
                          </a:solidFill>
                        </a:rPr>
                        <a:t>Excel Formula</a:t>
                      </a:r>
                      <a:endParaRPr lang="en-US" sz="1400" b="1" noProof="0">
                        <a:solidFill>
                          <a:schemeClr val="bg1"/>
                        </a:solidFill>
                        <a:latin typeface="+mn-lt"/>
                      </a:endParaRPr>
                    </a:p>
                  </a:txBody>
                  <a:tcPr marL="90535" marR="9053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extLst>
                  <a:ext uri="{0D108BD9-81ED-4DB2-BD59-A6C34878D82A}">
                    <a16:rowId xmlns:a16="http://schemas.microsoft.com/office/drawing/2014/main" val="400099166"/>
                  </a:ext>
                </a:extLst>
              </a:tr>
              <a:tr h="386499">
                <a:tc>
                  <a:txBody>
                    <a:bodyPr/>
                    <a:lstStyle/>
                    <a:p>
                      <a:pPr algn="l"/>
                      <a:r>
                        <a:rPr lang="en-US" sz="1400" b="1" noProof="0" dirty="0"/>
                        <a:t>Given</a:t>
                      </a:r>
                    </a:p>
                  </a:txBody>
                  <a:tcPr marL="89956" marR="89956" marT="45428" marB="4542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400" noProof="0"/>
                        <a:t>3</a:t>
                      </a:r>
                      <a:endParaRPr lang="en-US" sz="1400" noProof="0">
                        <a:latin typeface="+mn-lt"/>
                      </a:endParaRPr>
                    </a:p>
                  </a:txBody>
                  <a:tcPr marL="90535" marR="9053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noProof="0">
                          <a:solidFill>
                            <a:schemeClr val="tx1"/>
                          </a:solidFill>
                        </a:rPr>
                        <a:t>Blank</a:t>
                      </a:r>
                      <a:endParaRPr lang="en-US" sz="100" noProof="0">
                        <a:solidFill>
                          <a:schemeClr val="tx1"/>
                        </a:solidFill>
                        <a:latin typeface="+mn-lt"/>
                      </a:endParaRPr>
                    </a:p>
                  </a:txBody>
                  <a:tcPr marL="90535" marR="9053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baseline="0" noProof="0"/>
                        <a:t>Negative 10</a:t>
                      </a:r>
                    </a:p>
                  </a:txBody>
                  <a:tcPr marL="90535" marR="9053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400" noProof="0">
                          <a:latin typeface="+mn-lt"/>
                        </a:rPr>
                        <a:t>6</a:t>
                      </a:r>
                    </a:p>
                  </a:txBody>
                  <a:tcPr marL="90535" marR="9053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400" noProof="0"/>
                        <a:t>0</a:t>
                      </a:r>
                      <a:endParaRPr lang="en-US" sz="1400" noProof="0">
                        <a:latin typeface="+mn-lt"/>
                      </a:endParaRPr>
                    </a:p>
                  </a:txBody>
                  <a:tcPr marL="90535" marR="9053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baseline="0" noProof="0"/>
                        <a:t>Blank</a:t>
                      </a:r>
                    </a:p>
                  </a:txBody>
                  <a:tcPr marL="90535" marR="9053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436264602"/>
                  </a:ext>
                </a:extLst>
              </a:tr>
              <a:tr h="59637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noProof="0"/>
                        <a:t>Solve for rate</a:t>
                      </a:r>
                    </a:p>
                  </a:txBody>
                  <a:tcPr marL="89956" marR="89956" marT="45428" marB="4542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noProof="0">
                          <a:solidFill>
                            <a:schemeClr val="tx1"/>
                          </a:solidFill>
                        </a:rPr>
                        <a:t>Blank</a:t>
                      </a:r>
                      <a:endParaRPr lang="en-US" sz="100" noProof="0">
                        <a:solidFill>
                          <a:schemeClr val="tx1"/>
                        </a:solidFill>
                        <a:latin typeface="+mn-lt"/>
                      </a:endParaRPr>
                    </a:p>
                  </a:txBody>
                  <a:tcPr marL="90535" marR="9053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400" b="1" noProof="0"/>
                        <a:t>36.3%</a:t>
                      </a:r>
                    </a:p>
                  </a:txBody>
                  <a:tcPr marL="90535" marR="9053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baseline="0" noProof="0"/>
                        <a:t>Blank</a:t>
                      </a:r>
                    </a:p>
                  </a:txBody>
                  <a:tcPr marL="90535" marR="9053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baseline="0" noProof="0"/>
                        <a:t>Blank</a:t>
                      </a:r>
                    </a:p>
                  </a:txBody>
                  <a:tcPr marL="90535" marR="9053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baseline="0" noProof="0"/>
                        <a:t>Blank</a:t>
                      </a:r>
                    </a:p>
                  </a:txBody>
                  <a:tcPr marL="90535" marR="9053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baseline="0" noProof="0" dirty="0"/>
                        <a:t>Equals R A T E left parenthesis 3 comma 6 comma negative 10 comma 0 right parenthesis.</a:t>
                      </a:r>
                    </a:p>
                  </a:txBody>
                  <a:tcPr marL="90535" marR="9053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371393853"/>
                  </a:ext>
                </a:extLst>
              </a:tr>
            </a:tbl>
          </a:graphicData>
        </a:graphic>
      </p:graphicFrame>
      <p:graphicFrame>
        <p:nvGraphicFramePr>
          <p:cNvPr id="10" name="Object 9">
            <a:extLst>
              <a:ext uri="{FF2B5EF4-FFF2-40B4-BE49-F238E27FC236}">
                <a16:creationId xmlns:a16="http://schemas.microsoft.com/office/drawing/2014/main" id="{F21FE3A0-FBB5-4DC8-9603-D1F4C14188C2}"/>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362734194"/>
              </p:ext>
            </p:extLst>
          </p:nvPr>
        </p:nvGraphicFramePr>
        <p:xfrm>
          <a:off x="4116513" y="3147953"/>
          <a:ext cx="379163" cy="182365"/>
        </p:xfrm>
        <a:graphic>
          <a:graphicData uri="http://schemas.openxmlformats.org/presentationml/2006/ole">
            <mc:AlternateContent xmlns:mc="http://schemas.openxmlformats.org/markup-compatibility/2006">
              <mc:Choice xmlns:v="urn:schemas-microsoft-com:vml" Requires="v">
                <p:oleObj name="Equation" r:id="rId3" imgW="558720" imgH="266400" progId="Equation.DSMT4">
                  <p:embed/>
                </p:oleObj>
              </mc:Choice>
              <mc:Fallback>
                <p:oleObj name="Equation" r:id="rId3" imgW="558720" imgH="266400" progId="Equation.DSMT4">
                  <p:embed/>
                  <p:pic>
                    <p:nvPicPr>
                      <p:cNvPr id="8" name="Object 7">
                        <a:extLst>
                          <a:ext uri="{FF2B5EF4-FFF2-40B4-BE49-F238E27FC236}">
                            <a16:creationId xmlns:a16="http://schemas.microsoft.com/office/drawing/2014/main" id="{B6DA25FA-2844-4881-9398-7B2BC220B668}"/>
                          </a:ext>
                          <a:ext uri="{C183D7F6-B498-43B3-948B-1728B52AA6E4}">
                            <adec:decorative xmlns:adec="http://schemas.microsoft.com/office/drawing/2017/decorative" val="0"/>
                          </a:ext>
                        </a:extLst>
                      </p:cNvPr>
                      <p:cNvPicPr>
                        <a:picLocks noChangeAspect="1" noChangeArrowheads="1"/>
                      </p:cNvPicPr>
                      <p:nvPr/>
                    </p:nvPicPr>
                    <p:blipFill>
                      <a:blip r:embed="rId4"/>
                      <a:srcRect/>
                      <a:stretch>
                        <a:fillRect/>
                      </a:stretch>
                    </p:blipFill>
                    <p:spPr bwMode="auto">
                      <a:xfrm>
                        <a:off x="4116513" y="3147953"/>
                        <a:ext cx="379163" cy="182365"/>
                      </a:xfrm>
                      <a:prstGeom prst="rect">
                        <a:avLst/>
                      </a:prstGeom>
                      <a:solidFill>
                        <a:srgbClr val="D4EAE4"/>
                      </a:solidFill>
                      <a:ln>
                        <a:noFill/>
                      </a:ln>
                    </p:spPr>
                  </p:pic>
                </p:oleObj>
              </mc:Fallback>
            </mc:AlternateContent>
          </a:graphicData>
        </a:graphic>
      </p:graphicFrame>
      <p:graphicFrame>
        <p:nvGraphicFramePr>
          <p:cNvPr id="11" name="Object 10">
            <a:extLst>
              <a:ext uri="{FF2B5EF4-FFF2-40B4-BE49-F238E27FC236}">
                <a16:creationId xmlns:a16="http://schemas.microsoft.com/office/drawing/2014/main" id="{FE470CBF-5CD9-403E-AF02-AAEB38DF7DCE}"/>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656292773"/>
              </p:ext>
            </p:extLst>
          </p:nvPr>
        </p:nvGraphicFramePr>
        <p:xfrm>
          <a:off x="7331037" y="3543272"/>
          <a:ext cx="910516" cy="503802"/>
        </p:xfrm>
        <a:graphic>
          <a:graphicData uri="http://schemas.openxmlformats.org/presentationml/2006/ole">
            <mc:AlternateContent xmlns:mc="http://schemas.openxmlformats.org/markup-compatibility/2006">
              <mc:Choice xmlns:v="urn:schemas-microsoft-com:vml" Requires="v">
                <p:oleObj name="Equation" r:id="rId5" imgW="1333440" imgH="736560" progId="Equation.DSMT4">
                  <p:embed/>
                </p:oleObj>
              </mc:Choice>
              <mc:Fallback>
                <p:oleObj name="Equation" r:id="rId5" imgW="1333440" imgH="736560" progId="Equation.DSMT4">
                  <p:embed/>
                  <p:pic>
                    <p:nvPicPr>
                      <p:cNvPr id="9" name="Object 8">
                        <a:extLst>
                          <a:ext uri="{FF2B5EF4-FFF2-40B4-BE49-F238E27FC236}">
                            <a16:creationId xmlns:a16="http://schemas.microsoft.com/office/drawing/2014/main" id="{0962CDC7-87BC-4D77-88E5-EA9FB031E265}"/>
                          </a:ext>
                          <a:ext uri="{C183D7F6-B498-43B3-948B-1728B52AA6E4}">
                            <adec:decorative xmlns:adec="http://schemas.microsoft.com/office/drawing/2017/decorative" val="0"/>
                          </a:ext>
                        </a:extLst>
                      </p:cNvPr>
                      <p:cNvPicPr/>
                      <p:nvPr/>
                    </p:nvPicPr>
                    <p:blipFill>
                      <a:blip r:embed="rId6"/>
                      <a:stretch>
                        <a:fillRect/>
                      </a:stretch>
                    </p:blipFill>
                    <p:spPr>
                      <a:xfrm>
                        <a:off x="7331037" y="3543272"/>
                        <a:ext cx="910516" cy="503802"/>
                      </a:xfrm>
                      <a:prstGeom prst="rect">
                        <a:avLst/>
                      </a:prstGeom>
                      <a:solidFill>
                        <a:srgbClr val="D4EAE4"/>
                      </a:solidFill>
                    </p:spPr>
                  </p:pic>
                </p:oleObj>
              </mc:Fallback>
            </mc:AlternateContent>
          </a:graphicData>
        </a:graphic>
      </p:graphicFrame>
      <p:sp>
        <p:nvSpPr>
          <p:cNvPr id="5" name="Content Placeholder 4">
            <a:extLst>
              <a:ext uri="{FF2B5EF4-FFF2-40B4-BE49-F238E27FC236}">
                <a16:creationId xmlns:a16="http://schemas.microsoft.com/office/drawing/2014/main" id="{B030C7B8-0389-DAFE-D0DE-7BB944A22220}"/>
              </a:ext>
            </a:extLst>
          </p:cNvPr>
          <p:cNvSpPr>
            <a:spLocks noGrp="1"/>
          </p:cNvSpPr>
          <p:nvPr>
            <p:ph sz="quarter" idx="14"/>
          </p:nvPr>
        </p:nvSpPr>
        <p:spPr>
          <a:xfrm>
            <a:off x="440425" y="4284694"/>
            <a:ext cx="8280400" cy="327427"/>
          </a:xfrm>
        </p:spPr>
        <p:txBody>
          <a:bodyPr wrap="square" lIns="0" tIns="18000" rIns="0" bIns="18000" anchor="ctr">
            <a:spAutoFit/>
          </a:bodyPr>
          <a:lstStyle/>
          <a:p>
            <a:pPr marL="0" indent="0">
              <a:buNone/>
            </a:pPr>
            <a:r>
              <a:rPr lang="en-US" sz="2000" dirty="0"/>
              <a:t>For the major overhaul, the </a:t>
            </a:r>
            <a:r>
              <a:rPr lang="en-US" sz="2000" spc="-260" dirty="0"/>
              <a:t>I R </a:t>
            </a:r>
            <a:r>
              <a:rPr lang="en-US" sz="2000" dirty="0" err="1"/>
              <a:t>R</a:t>
            </a:r>
            <a:r>
              <a:rPr lang="en-US" sz="2000" dirty="0"/>
              <a:t> is 23.4%:</a:t>
            </a:r>
          </a:p>
        </p:txBody>
      </p:sp>
      <p:graphicFrame>
        <p:nvGraphicFramePr>
          <p:cNvPr id="18" name="Table 11">
            <a:extLst>
              <a:ext uri="{FF2B5EF4-FFF2-40B4-BE49-F238E27FC236}">
                <a16:creationId xmlns:a16="http://schemas.microsoft.com/office/drawing/2014/main" id="{D4059FBF-D47B-446C-80B1-986AE7A7CCB7}"/>
              </a:ext>
            </a:extLst>
          </p:cNvPr>
          <p:cNvGraphicFramePr>
            <a:graphicFrameLocks noGrp="1"/>
          </p:cNvGraphicFramePr>
          <p:nvPr>
            <p:extLst>
              <p:ext uri="{D42A27DB-BD31-4B8C-83A1-F6EECF244321}">
                <p14:modId xmlns:p14="http://schemas.microsoft.com/office/powerpoint/2010/main" val="2836849940"/>
              </p:ext>
            </p:extLst>
          </p:nvPr>
        </p:nvGraphicFramePr>
        <p:xfrm>
          <a:off x="499512" y="5094927"/>
          <a:ext cx="8148117" cy="1302825"/>
        </p:xfrm>
        <a:graphic>
          <a:graphicData uri="http://schemas.openxmlformats.org/drawingml/2006/table">
            <a:tbl>
              <a:tblPr firstRow="1" bandRow="1">
                <a:tableStyleId>{40F9630F-82C1-40B7-BC3A-925EFCFF5E92}</a:tableStyleId>
              </a:tblPr>
              <a:tblGrid>
                <a:gridCol w="1412889">
                  <a:extLst>
                    <a:ext uri="{9D8B030D-6E8A-4147-A177-3AD203B41FA5}">
                      <a16:colId xmlns:a16="http://schemas.microsoft.com/office/drawing/2014/main" val="467200679"/>
                    </a:ext>
                  </a:extLst>
                </a:gridCol>
                <a:gridCol w="859182">
                  <a:extLst>
                    <a:ext uri="{9D8B030D-6E8A-4147-A177-3AD203B41FA5}">
                      <a16:colId xmlns:a16="http://schemas.microsoft.com/office/drawing/2014/main" val="3156988431"/>
                    </a:ext>
                  </a:extLst>
                </a:gridCol>
                <a:gridCol w="957578">
                  <a:extLst>
                    <a:ext uri="{9D8B030D-6E8A-4147-A177-3AD203B41FA5}">
                      <a16:colId xmlns:a16="http://schemas.microsoft.com/office/drawing/2014/main" val="2535743945"/>
                    </a:ext>
                  </a:extLst>
                </a:gridCol>
                <a:gridCol w="1192620">
                  <a:extLst>
                    <a:ext uri="{9D8B030D-6E8A-4147-A177-3AD203B41FA5}">
                      <a16:colId xmlns:a16="http://schemas.microsoft.com/office/drawing/2014/main" val="2120472885"/>
                    </a:ext>
                  </a:extLst>
                </a:gridCol>
                <a:gridCol w="1070477">
                  <a:extLst>
                    <a:ext uri="{9D8B030D-6E8A-4147-A177-3AD203B41FA5}">
                      <a16:colId xmlns:a16="http://schemas.microsoft.com/office/drawing/2014/main" val="1335280307"/>
                    </a:ext>
                  </a:extLst>
                </a:gridCol>
                <a:gridCol w="913266">
                  <a:extLst>
                    <a:ext uri="{9D8B030D-6E8A-4147-A177-3AD203B41FA5}">
                      <a16:colId xmlns:a16="http://schemas.microsoft.com/office/drawing/2014/main" val="691551917"/>
                    </a:ext>
                  </a:extLst>
                </a:gridCol>
                <a:gridCol w="1742105">
                  <a:extLst>
                    <a:ext uri="{9D8B030D-6E8A-4147-A177-3AD203B41FA5}">
                      <a16:colId xmlns:a16="http://schemas.microsoft.com/office/drawing/2014/main" val="3130720241"/>
                    </a:ext>
                  </a:extLst>
                </a:gridCol>
              </a:tblGrid>
              <a:tr h="319951">
                <a:tc>
                  <a:txBody>
                    <a:bodyPr/>
                    <a:lstStyle/>
                    <a:p>
                      <a:pPr algn="l"/>
                      <a:r>
                        <a:rPr lang="en-US" sz="100" noProof="0">
                          <a:solidFill>
                            <a:schemeClr val="bg1"/>
                          </a:solidFill>
                        </a:rPr>
                        <a:t>Blank</a:t>
                      </a:r>
                    </a:p>
                  </a:txBody>
                  <a:tcPr marL="89956" marR="89956" marT="45428" marB="4542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1400" b="1" spc="-200" baseline="0" noProof="0">
                          <a:solidFill>
                            <a:schemeClr val="bg1"/>
                          </a:solidFill>
                        </a:rPr>
                        <a:t>N P E R</a:t>
                      </a:r>
                      <a:endParaRPr lang="en-US" sz="1400" b="1" spc="-200" baseline="0" noProof="0">
                        <a:solidFill>
                          <a:schemeClr val="bg1"/>
                        </a:solidFill>
                        <a:latin typeface="+mn-lt"/>
                      </a:endParaRPr>
                    </a:p>
                  </a:txBody>
                  <a:tcPr marL="90535" marR="9053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1400" b="1" spc="-200" baseline="0" noProof="0">
                          <a:solidFill>
                            <a:schemeClr val="bg1"/>
                          </a:solidFill>
                        </a:rPr>
                        <a:t>R A T E</a:t>
                      </a:r>
                      <a:endParaRPr lang="en-US" sz="1400" b="1" spc="-200" baseline="0" noProof="0">
                        <a:solidFill>
                          <a:schemeClr val="bg1"/>
                        </a:solidFill>
                        <a:latin typeface="+mn-lt"/>
                      </a:endParaRPr>
                    </a:p>
                  </a:txBody>
                  <a:tcPr marL="90535" marR="9053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1" spc="-200" baseline="0" noProof="0">
                          <a:solidFill>
                            <a:schemeClr val="bg1"/>
                          </a:solidFill>
                        </a:rPr>
                        <a:t>P V</a:t>
                      </a:r>
                      <a:endParaRPr lang="en-US" sz="1400" b="1" spc="-200" baseline="0" noProof="0">
                        <a:solidFill>
                          <a:schemeClr val="bg1"/>
                        </a:solidFill>
                        <a:latin typeface="+mn-lt"/>
                      </a:endParaRPr>
                    </a:p>
                  </a:txBody>
                  <a:tcPr marL="90535" marR="9053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1400" b="1" spc="-200" baseline="0" noProof="0">
                          <a:solidFill>
                            <a:schemeClr val="bg1"/>
                          </a:solidFill>
                        </a:rPr>
                        <a:t>P M T</a:t>
                      </a:r>
                      <a:endParaRPr lang="en-US" sz="1400" b="1" spc="-200" baseline="0" noProof="0">
                        <a:solidFill>
                          <a:schemeClr val="bg1"/>
                        </a:solidFill>
                        <a:latin typeface="+mn-lt"/>
                      </a:endParaRPr>
                    </a:p>
                  </a:txBody>
                  <a:tcPr marL="90535" marR="9053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1400" b="1" spc="-200" baseline="0" noProof="0">
                          <a:solidFill>
                            <a:schemeClr val="bg1"/>
                          </a:solidFill>
                        </a:rPr>
                        <a:t>F V</a:t>
                      </a:r>
                      <a:endParaRPr lang="en-US" sz="1400" b="1" spc="-200" baseline="0" noProof="0">
                        <a:solidFill>
                          <a:schemeClr val="bg1"/>
                        </a:solidFill>
                        <a:latin typeface="+mn-lt"/>
                      </a:endParaRPr>
                    </a:p>
                  </a:txBody>
                  <a:tcPr marL="90535" marR="9053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1400" b="1" noProof="0">
                          <a:solidFill>
                            <a:schemeClr val="bg1"/>
                          </a:solidFill>
                        </a:rPr>
                        <a:t>Excel Formula</a:t>
                      </a:r>
                      <a:endParaRPr lang="en-US" sz="1400" b="1" noProof="0">
                        <a:solidFill>
                          <a:schemeClr val="bg1"/>
                        </a:solidFill>
                        <a:latin typeface="+mn-lt"/>
                      </a:endParaRPr>
                    </a:p>
                  </a:txBody>
                  <a:tcPr marL="90535" marR="9053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extLst>
                  <a:ext uri="{0D108BD9-81ED-4DB2-BD59-A6C34878D82A}">
                    <a16:rowId xmlns:a16="http://schemas.microsoft.com/office/drawing/2014/main" val="400099166"/>
                  </a:ext>
                </a:extLst>
              </a:tr>
              <a:tr h="386499">
                <a:tc>
                  <a:txBody>
                    <a:bodyPr/>
                    <a:lstStyle/>
                    <a:p>
                      <a:pPr algn="l"/>
                      <a:r>
                        <a:rPr lang="en-US" sz="1400" b="1" noProof="0"/>
                        <a:t>Given</a:t>
                      </a:r>
                    </a:p>
                  </a:txBody>
                  <a:tcPr marL="89956" marR="89956" marT="45428" marB="4542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400" noProof="0"/>
                        <a:t>3</a:t>
                      </a:r>
                      <a:endParaRPr lang="en-US" sz="1400" noProof="0">
                        <a:latin typeface="+mn-lt"/>
                      </a:endParaRPr>
                    </a:p>
                  </a:txBody>
                  <a:tcPr marL="90535" marR="9053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noProof="0">
                          <a:solidFill>
                            <a:schemeClr val="tx1"/>
                          </a:solidFill>
                        </a:rPr>
                        <a:t>Blank</a:t>
                      </a:r>
                      <a:endParaRPr lang="en-US" sz="100" noProof="0">
                        <a:solidFill>
                          <a:schemeClr val="tx1"/>
                        </a:solidFill>
                        <a:latin typeface="+mn-lt"/>
                      </a:endParaRPr>
                    </a:p>
                  </a:txBody>
                  <a:tcPr marL="90535" marR="9053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baseline="0" noProof="0"/>
                        <a:t>Negative 50</a:t>
                      </a:r>
                    </a:p>
                  </a:txBody>
                  <a:tcPr marL="90535" marR="9053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400" noProof="0">
                          <a:latin typeface="+mn-lt"/>
                        </a:rPr>
                        <a:t>25</a:t>
                      </a:r>
                    </a:p>
                  </a:txBody>
                  <a:tcPr marL="90535" marR="9053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400" noProof="0"/>
                        <a:t>0</a:t>
                      </a:r>
                      <a:endParaRPr lang="en-US" sz="1400" noProof="0">
                        <a:latin typeface="+mn-lt"/>
                      </a:endParaRPr>
                    </a:p>
                  </a:txBody>
                  <a:tcPr marL="90535" marR="9053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baseline="0" noProof="0"/>
                        <a:t>Blank</a:t>
                      </a:r>
                    </a:p>
                  </a:txBody>
                  <a:tcPr marL="90535" marR="9053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436264602"/>
                  </a:ext>
                </a:extLst>
              </a:tr>
              <a:tr h="59637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noProof="0" dirty="0"/>
                        <a:t>Solve for rate</a:t>
                      </a:r>
                    </a:p>
                  </a:txBody>
                  <a:tcPr marL="89956" marR="89956" marT="45428" marB="4542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noProof="0">
                          <a:solidFill>
                            <a:schemeClr val="tx1"/>
                          </a:solidFill>
                        </a:rPr>
                        <a:t>Blank</a:t>
                      </a:r>
                      <a:endParaRPr lang="en-US" sz="100" noProof="0">
                        <a:solidFill>
                          <a:schemeClr val="tx1"/>
                        </a:solidFill>
                        <a:latin typeface="+mn-lt"/>
                      </a:endParaRPr>
                    </a:p>
                  </a:txBody>
                  <a:tcPr marL="90535" marR="9053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400" b="1" noProof="0"/>
                        <a:t>23.4%</a:t>
                      </a:r>
                    </a:p>
                  </a:txBody>
                  <a:tcPr marL="90535" marR="9053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baseline="0" noProof="0"/>
                        <a:t>Blank</a:t>
                      </a:r>
                    </a:p>
                  </a:txBody>
                  <a:tcPr marL="90535" marR="9053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baseline="0" noProof="0"/>
                        <a:t>Blank</a:t>
                      </a:r>
                    </a:p>
                  </a:txBody>
                  <a:tcPr marL="90535" marR="9053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baseline="0" noProof="0"/>
                        <a:t>Blank</a:t>
                      </a:r>
                    </a:p>
                  </a:txBody>
                  <a:tcPr marL="90535" marR="9053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baseline="0" noProof="0" dirty="0"/>
                        <a:t>Equals R A T E left parenthesis 3 comma 25 comma negative 50 comma 0 right parenthesis.</a:t>
                      </a:r>
                    </a:p>
                  </a:txBody>
                  <a:tcPr marL="90535" marR="9053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371393853"/>
                  </a:ext>
                </a:extLst>
              </a:tr>
            </a:tbl>
          </a:graphicData>
        </a:graphic>
      </p:graphicFrame>
      <p:graphicFrame>
        <p:nvGraphicFramePr>
          <p:cNvPr id="19" name="Object 18">
            <a:extLst>
              <a:ext uri="{FF2B5EF4-FFF2-40B4-BE49-F238E27FC236}">
                <a16:creationId xmlns:a16="http://schemas.microsoft.com/office/drawing/2014/main" id="{22D0687A-BA47-4425-8E0C-3C24DBD93020}"/>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593698055"/>
              </p:ext>
            </p:extLst>
          </p:nvPr>
        </p:nvGraphicFramePr>
        <p:xfrm>
          <a:off x="4118084" y="5523481"/>
          <a:ext cx="379163" cy="182365"/>
        </p:xfrm>
        <a:graphic>
          <a:graphicData uri="http://schemas.openxmlformats.org/presentationml/2006/ole">
            <mc:AlternateContent xmlns:mc="http://schemas.openxmlformats.org/markup-compatibility/2006">
              <mc:Choice xmlns:v="urn:schemas-microsoft-com:vml" Requires="v">
                <p:oleObj name="Equation" r:id="rId7" imgW="558720" imgH="266400" progId="Equation.DSMT4">
                  <p:embed/>
                </p:oleObj>
              </mc:Choice>
              <mc:Fallback>
                <p:oleObj name="Equation" r:id="rId7" imgW="558720" imgH="266400" progId="Equation.DSMT4">
                  <p:embed/>
                  <p:pic>
                    <p:nvPicPr>
                      <p:cNvPr id="10" name="Object 9">
                        <a:extLst>
                          <a:ext uri="{FF2B5EF4-FFF2-40B4-BE49-F238E27FC236}">
                            <a16:creationId xmlns:a16="http://schemas.microsoft.com/office/drawing/2014/main" id="{F21FE3A0-FBB5-4DC8-9603-D1F4C14188C2}"/>
                          </a:ext>
                          <a:ext uri="{C183D7F6-B498-43B3-948B-1728B52AA6E4}">
                            <adec:decorative xmlns:adec="http://schemas.microsoft.com/office/drawing/2017/decorative" val="0"/>
                          </a:ext>
                        </a:extLst>
                      </p:cNvPr>
                      <p:cNvPicPr>
                        <a:picLocks noChangeAspect="1" noChangeArrowheads="1"/>
                      </p:cNvPicPr>
                      <p:nvPr/>
                    </p:nvPicPr>
                    <p:blipFill>
                      <a:blip r:embed="rId8"/>
                      <a:srcRect/>
                      <a:stretch>
                        <a:fillRect/>
                      </a:stretch>
                    </p:blipFill>
                    <p:spPr bwMode="auto">
                      <a:xfrm>
                        <a:off x="4118084" y="5523481"/>
                        <a:ext cx="379163" cy="182365"/>
                      </a:xfrm>
                      <a:prstGeom prst="rect">
                        <a:avLst/>
                      </a:prstGeom>
                      <a:solidFill>
                        <a:srgbClr val="D4EAE4"/>
                      </a:solidFill>
                      <a:ln>
                        <a:noFill/>
                      </a:ln>
                    </p:spPr>
                  </p:pic>
                </p:oleObj>
              </mc:Fallback>
            </mc:AlternateContent>
          </a:graphicData>
        </a:graphic>
      </p:graphicFrame>
      <p:graphicFrame>
        <p:nvGraphicFramePr>
          <p:cNvPr id="20" name="Object 19">
            <a:extLst>
              <a:ext uri="{FF2B5EF4-FFF2-40B4-BE49-F238E27FC236}">
                <a16:creationId xmlns:a16="http://schemas.microsoft.com/office/drawing/2014/main" id="{30206E5F-4B11-414F-9B79-ADE7865168D3}"/>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081857941"/>
              </p:ext>
            </p:extLst>
          </p:nvPr>
        </p:nvGraphicFramePr>
        <p:xfrm>
          <a:off x="7331037" y="5865434"/>
          <a:ext cx="1004887" cy="503237"/>
        </p:xfrm>
        <a:graphic>
          <a:graphicData uri="http://schemas.openxmlformats.org/presentationml/2006/ole">
            <mc:AlternateContent xmlns:mc="http://schemas.openxmlformats.org/markup-compatibility/2006">
              <mc:Choice xmlns:v="urn:schemas-microsoft-com:vml" Requires="v">
                <p:oleObj name="Equation" r:id="rId9" imgW="1473120" imgH="736560" progId="Equation.DSMT4">
                  <p:embed/>
                </p:oleObj>
              </mc:Choice>
              <mc:Fallback>
                <p:oleObj name="Equation" r:id="rId9" imgW="1473120" imgH="736560" progId="Equation.DSMT4">
                  <p:embed/>
                  <p:pic>
                    <p:nvPicPr>
                      <p:cNvPr id="11" name="Object 10">
                        <a:extLst>
                          <a:ext uri="{FF2B5EF4-FFF2-40B4-BE49-F238E27FC236}">
                            <a16:creationId xmlns:a16="http://schemas.microsoft.com/office/drawing/2014/main" id="{FE470CBF-5CD9-403E-AF02-AAEB38DF7DCE}"/>
                          </a:ext>
                          <a:ext uri="{C183D7F6-B498-43B3-948B-1728B52AA6E4}">
                            <adec:decorative xmlns:adec="http://schemas.microsoft.com/office/drawing/2017/decorative" val="0"/>
                          </a:ext>
                        </a:extLst>
                      </p:cNvPr>
                      <p:cNvPicPr/>
                      <p:nvPr/>
                    </p:nvPicPr>
                    <p:blipFill>
                      <a:blip r:embed="rId10"/>
                      <a:stretch>
                        <a:fillRect/>
                      </a:stretch>
                    </p:blipFill>
                    <p:spPr>
                      <a:xfrm>
                        <a:off x="7331037" y="5865434"/>
                        <a:ext cx="1004887" cy="503237"/>
                      </a:xfrm>
                      <a:prstGeom prst="rect">
                        <a:avLst/>
                      </a:prstGeom>
                      <a:solidFill>
                        <a:srgbClr val="D4EAE4"/>
                      </a:solidFill>
                    </p:spPr>
                  </p:pic>
                </p:oleObj>
              </mc:Fallback>
            </mc:AlternateContent>
          </a:graphicData>
        </a:graphic>
      </p:graphicFrame>
      <p:sp>
        <p:nvSpPr>
          <p:cNvPr id="6" name="ZoneTexte 5">
            <a:extLst>
              <a:ext uri="{FF2B5EF4-FFF2-40B4-BE49-F238E27FC236}">
                <a16:creationId xmlns:a16="http://schemas.microsoft.com/office/drawing/2014/main" id="{527CF139-5873-DA04-730B-29F266B491D2}"/>
              </a:ext>
            </a:extLst>
          </p:cNvPr>
          <p:cNvSpPr txBox="1"/>
          <p:nvPr/>
        </p:nvSpPr>
        <p:spPr>
          <a:xfrm>
            <a:off x="437224" y="2336148"/>
            <a:ext cx="979755" cy="369332"/>
          </a:xfrm>
          <a:prstGeom prst="rect">
            <a:avLst/>
          </a:prstGeom>
          <a:noFill/>
        </p:spPr>
        <p:txBody>
          <a:bodyPr wrap="none" rtlCol="0">
            <a:spAutoFit/>
          </a:bodyPr>
          <a:lstStyle/>
          <a:p>
            <a:r>
              <a:rPr lang="fr-FR" sz="1800" b="1" dirty="0"/>
              <a:t>Table 5</a:t>
            </a:r>
          </a:p>
        </p:txBody>
      </p:sp>
      <p:sp>
        <p:nvSpPr>
          <p:cNvPr id="7" name="ZoneTexte 6">
            <a:extLst>
              <a:ext uri="{FF2B5EF4-FFF2-40B4-BE49-F238E27FC236}">
                <a16:creationId xmlns:a16="http://schemas.microsoft.com/office/drawing/2014/main" id="{EA28BACB-0FA0-7225-EF84-6751087C18FF}"/>
              </a:ext>
            </a:extLst>
          </p:cNvPr>
          <p:cNvSpPr txBox="1"/>
          <p:nvPr/>
        </p:nvSpPr>
        <p:spPr>
          <a:xfrm>
            <a:off x="423175" y="4657826"/>
            <a:ext cx="979755" cy="369332"/>
          </a:xfrm>
          <a:prstGeom prst="rect">
            <a:avLst/>
          </a:prstGeom>
          <a:noFill/>
        </p:spPr>
        <p:txBody>
          <a:bodyPr wrap="none" rtlCol="0">
            <a:spAutoFit/>
          </a:bodyPr>
          <a:lstStyle/>
          <a:p>
            <a:r>
              <a:rPr lang="fr-FR" sz="1800" b="1" dirty="0"/>
              <a:t>Table 6</a:t>
            </a:r>
          </a:p>
        </p:txBody>
      </p:sp>
    </p:spTree>
    <p:extLst>
      <p:ext uri="{BB962C8B-B14F-4D97-AF65-F5344CB8AC3E}">
        <p14:creationId xmlns:p14="http://schemas.microsoft.com/office/powerpoint/2010/main" val="6195107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21372"/>
            <a:ext cx="8266346" cy="590349"/>
          </a:xfrm>
        </p:spPr>
        <p:txBody>
          <a:bodyPr/>
          <a:lstStyle/>
          <a:p>
            <a:r>
              <a:rPr lang="en-US" dirty="0"/>
              <a:t>Overhaul Example </a:t>
            </a:r>
            <a:r>
              <a:rPr lang="en-US" sz="2800" dirty="0"/>
              <a:t>(3 of 4)</a:t>
            </a:r>
            <a:endParaRPr lang="en-US" sz="2800" noProof="0" dirty="0"/>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45854" y="1147944"/>
            <a:ext cx="8374589" cy="1452124"/>
          </a:xfrm>
        </p:spPr>
        <p:txBody>
          <a:bodyPr wrap="square" lIns="0" tIns="18000" rIns="0" bIns="18000" anchor="ctr">
            <a:spAutoFit/>
          </a:bodyPr>
          <a:lstStyle/>
          <a:p>
            <a:pPr marL="0" indent="0">
              <a:spcBef>
                <a:spcPts val="600"/>
              </a:spcBef>
              <a:buNone/>
            </a:pPr>
            <a:r>
              <a:rPr lang="en-US" altLang="en-US" sz="2300" dirty="0"/>
              <a:t>Which project is best? Because the projects have different scales, we cannot compare their </a:t>
            </a:r>
            <a:r>
              <a:rPr lang="en-US" altLang="en-US" sz="2300" spc="-300" dirty="0"/>
              <a:t>I R </a:t>
            </a:r>
            <a:r>
              <a:rPr lang="en-US" altLang="en-US" sz="2300" spc="-300" dirty="0" err="1"/>
              <a:t>R</a:t>
            </a:r>
            <a:r>
              <a:rPr lang="en-US" altLang="en-US" sz="2300" spc="-300" dirty="0"/>
              <a:t> </a:t>
            </a:r>
            <a:r>
              <a:rPr lang="en-US" altLang="en-US" sz="2300" dirty="0"/>
              <a:t>s directly. To compute the incremental </a:t>
            </a:r>
            <a:r>
              <a:rPr lang="en-US" altLang="en-US" sz="2300" spc="-300" dirty="0"/>
              <a:t>I R </a:t>
            </a:r>
            <a:r>
              <a:rPr lang="en-US" altLang="en-US" sz="2300" dirty="0" err="1"/>
              <a:t>R</a:t>
            </a:r>
            <a:r>
              <a:rPr lang="en-US" altLang="en-US" sz="2300" dirty="0"/>
              <a:t> of switching from the minor overhaul to the major overhaul, we first compute the incremental cash flows:</a:t>
            </a:r>
          </a:p>
        </p:txBody>
      </p:sp>
      <p:graphicFrame>
        <p:nvGraphicFramePr>
          <p:cNvPr id="4" name="Table 3">
            <a:extLst>
              <a:ext uri="{FF2B5EF4-FFF2-40B4-BE49-F238E27FC236}">
                <a16:creationId xmlns:a16="http://schemas.microsoft.com/office/drawing/2014/main" id="{91CB8AF3-F69D-4804-B6E5-ED07B04CD041}"/>
              </a:ext>
            </a:extLst>
          </p:cNvPr>
          <p:cNvGraphicFramePr>
            <a:graphicFrameLocks noGrp="1"/>
          </p:cNvGraphicFramePr>
          <p:nvPr>
            <p:extLst>
              <p:ext uri="{D42A27DB-BD31-4B8C-83A1-F6EECF244321}">
                <p14:modId xmlns:p14="http://schemas.microsoft.com/office/powerpoint/2010/main" val="1078330202"/>
              </p:ext>
            </p:extLst>
          </p:nvPr>
        </p:nvGraphicFramePr>
        <p:xfrm>
          <a:off x="680200" y="3642483"/>
          <a:ext cx="7676849" cy="2244200"/>
        </p:xfrm>
        <a:graphic>
          <a:graphicData uri="http://schemas.openxmlformats.org/drawingml/2006/table">
            <a:tbl>
              <a:tblPr firstRow="1" bandRow="1">
                <a:tableStyleId>{3B4B98B0-60AC-42C2-AFA5-B58CD77FA1E5}</a:tableStyleId>
              </a:tblPr>
              <a:tblGrid>
                <a:gridCol w="2011225">
                  <a:extLst>
                    <a:ext uri="{9D8B030D-6E8A-4147-A177-3AD203B41FA5}">
                      <a16:colId xmlns:a16="http://schemas.microsoft.com/office/drawing/2014/main" val="1271790693"/>
                    </a:ext>
                  </a:extLst>
                </a:gridCol>
                <a:gridCol w="1404594">
                  <a:extLst>
                    <a:ext uri="{9D8B030D-6E8A-4147-A177-3AD203B41FA5}">
                      <a16:colId xmlns:a16="http://schemas.microsoft.com/office/drawing/2014/main" val="1583790126"/>
                    </a:ext>
                  </a:extLst>
                </a:gridCol>
                <a:gridCol w="1348033">
                  <a:extLst>
                    <a:ext uri="{9D8B030D-6E8A-4147-A177-3AD203B41FA5}">
                      <a16:colId xmlns:a16="http://schemas.microsoft.com/office/drawing/2014/main" val="2222602916"/>
                    </a:ext>
                  </a:extLst>
                </a:gridCol>
                <a:gridCol w="1611983">
                  <a:extLst>
                    <a:ext uri="{9D8B030D-6E8A-4147-A177-3AD203B41FA5}">
                      <a16:colId xmlns:a16="http://schemas.microsoft.com/office/drawing/2014/main" val="4010123886"/>
                    </a:ext>
                  </a:extLst>
                </a:gridCol>
                <a:gridCol w="1301014">
                  <a:extLst>
                    <a:ext uri="{9D8B030D-6E8A-4147-A177-3AD203B41FA5}">
                      <a16:colId xmlns:a16="http://schemas.microsoft.com/office/drawing/2014/main" val="1958803098"/>
                    </a:ext>
                  </a:extLst>
                </a:gridCol>
              </a:tblGrid>
              <a:tr h="421060">
                <a:tc>
                  <a:txBody>
                    <a:bodyPr/>
                    <a:lstStyle/>
                    <a:p>
                      <a:pPr algn="ctr"/>
                      <a:r>
                        <a:rPr lang="en-US" sz="2000" noProof="0">
                          <a:solidFill>
                            <a:schemeClr val="bg1"/>
                          </a:solidFill>
                          <a:latin typeface="Arial" panose="020B0604020202020204" pitchFamily="34" charset="0"/>
                          <a:cs typeface="Arial" panose="020B0604020202020204" pitchFamily="34" charset="0"/>
                        </a:rPr>
                        <a:t>Proposal</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r>
                        <a:rPr lang="en-US" sz="2000" b="1" noProof="0">
                          <a:solidFill>
                            <a:schemeClr val="bg1"/>
                          </a:solidFill>
                          <a:latin typeface="Arial" panose="020B0604020202020204" pitchFamily="34" charset="0"/>
                          <a:cs typeface="Arial" panose="020B0604020202020204" pitchFamily="34" charset="0"/>
                        </a:rPr>
                        <a:t>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r>
                        <a:rPr lang="en-US" sz="2000" b="1" noProof="0">
                          <a:solidFill>
                            <a:schemeClr val="bg1"/>
                          </a:solidFill>
                          <a:latin typeface="Arial" panose="020B0604020202020204" pitchFamily="34" charset="0"/>
                          <a:cs typeface="Arial" panose="020B0604020202020204" pitchFamily="34" charset="0"/>
                        </a:rPr>
                        <a:t>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r>
                        <a:rPr lang="en-US" sz="2000" b="1" noProof="0">
                          <a:solidFill>
                            <a:schemeClr val="bg1"/>
                          </a:solidFill>
                          <a:latin typeface="Arial" panose="020B0604020202020204" pitchFamily="34" charset="0"/>
                          <a:cs typeface="Arial" panose="020B0604020202020204" pitchFamily="34" charset="0"/>
                        </a:rPr>
                        <a:t>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r>
                        <a:rPr lang="en-US" sz="2000" b="1" noProof="0">
                          <a:solidFill>
                            <a:schemeClr val="bg1"/>
                          </a:solidFill>
                          <a:latin typeface="Arial" panose="020B0604020202020204" pitchFamily="34" charset="0"/>
                          <a:cs typeface="Arial" panose="020B0604020202020204" pitchFamily="34" charset="0"/>
                        </a:rPr>
                        <a:t>3</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2038514718"/>
                  </a:ext>
                </a:extLst>
              </a:tr>
              <a:tr h="421060">
                <a:tc>
                  <a:txBody>
                    <a:bodyPr/>
                    <a:lstStyle/>
                    <a:p>
                      <a:pPr algn="l"/>
                      <a:r>
                        <a:rPr lang="en-US" sz="2000" b="0" noProof="0">
                          <a:solidFill>
                            <a:schemeClr val="tx1"/>
                          </a:solidFill>
                          <a:latin typeface="Arial" panose="020B0604020202020204" pitchFamily="34" charset="0"/>
                          <a:cs typeface="Arial" panose="020B0604020202020204" pitchFamily="34" charset="0"/>
                        </a:rPr>
                        <a:t>Major overhaul</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b="0" noProof="0">
                          <a:solidFill>
                            <a:schemeClr val="tx1"/>
                          </a:solidFill>
                          <a:latin typeface="Arial" panose="020B0604020202020204" pitchFamily="34" charset="0"/>
                          <a:cs typeface="Arial" panose="020B0604020202020204" pitchFamily="34" charset="0"/>
                        </a:rPr>
                        <a:t>Negative 50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2000" b="0" noProof="0">
                          <a:solidFill>
                            <a:schemeClr val="bg2"/>
                          </a:solidFill>
                          <a:latin typeface="Arial" panose="020B0604020202020204" pitchFamily="34" charset="0"/>
                          <a:cs typeface="Arial" panose="020B0604020202020204" pitchFamily="34" charset="0"/>
                        </a:rPr>
                        <a:t>25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2000" b="0" noProof="0">
                          <a:solidFill>
                            <a:schemeClr val="tx1"/>
                          </a:solidFill>
                          <a:latin typeface="Arial" panose="020B0604020202020204" pitchFamily="34" charset="0"/>
                          <a:cs typeface="Arial" panose="020B0604020202020204" pitchFamily="34" charset="0"/>
                        </a:rPr>
                        <a:t>25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2000" b="0" noProof="0">
                          <a:solidFill>
                            <a:schemeClr val="tx1"/>
                          </a:solidFill>
                          <a:latin typeface="Arial" panose="020B0604020202020204" pitchFamily="34" charset="0"/>
                          <a:cs typeface="Arial" panose="020B0604020202020204" pitchFamily="34" charset="0"/>
                        </a:rPr>
                        <a:t>25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2048807982"/>
                  </a:ext>
                </a:extLst>
              </a:tr>
              <a:tr h="421060">
                <a:tc>
                  <a:txBody>
                    <a:bodyPr/>
                    <a:lstStyle/>
                    <a:p>
                      <a:pPr algn="l"/>
                      <a:r>
                        <a:rPr lang="en-US" sz="2000" b="0" noProof="0" dirty="0">
                          <a:solidFill>
                            <a:schemeClr val="tx1"/>
                          </a:solidFill>
                          <a:latin typeface="Arial" panose="020B0604020202020204" pitchFamily="34" charset="0"/>
                          <a:cs typeface="Arial" panose="020B0604020202020204" pitchFamily="34" charset="0"/>
                        </a:rPr>
                        <a:t>Less: Minor overhaul</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b="0" noProof="0">
                          <a:solidFill>
                            <a:schemeClr val="tx1"/>
                          </a:solidFill>
                          <a:latin typeface="Arial" panose="020B0604020202020204" pitchFamily="34" charset="0"/>
                          <a:cs typeface="Arial" panose="020B0604020202020204" pitchFamily="34" charset="0"/>
                        </a:rPr>
                        <a:t>Negative left parenthesis negative 10 right parenthesis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b="0" noProof="0">
                          <a:solidFill>
                            <a:schemeClr val="tx1"/>
                          </a:solidFill>
                          <a:latin typeface="Arial" panose="020B0604020202020204" pitchFamily="34" charset="0"/>
                          <a:cs typeface="Arial" panose="020B0604020202020204" pitchFamily="34" charset="0"/>
                        </a:rPr>
                        <a:t>Negative 6</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baseline="0" noProof="0">
                          <a:solidFill>
                            <a:schemeClr val="tx1"/>
                          </a:solidFill>
                          <a:latin typeface="Arial" panose="020B0604020202020204" pitchFamily="34" charset="0"/>
                          <a:cs typeface="Arial" panose="020B0604020202020204" pitchFamily="34" charset="0"/>
                        </a:rPr>
                        <a:t>Negative 6</a:t>
                      </a:r>
                      <a:endParaRPr lang="en-US" sz="100" b="0" noProof="0">
                        <a:solidFill>
                          <a:schemeClr val="tx1"/>
                        </a:solidFill>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b="0" noProof="0">
                          <a:solidFill>
                            <a:schemeClr val="tx1"/>
                          </a:solidFill>
                          <a:latin typeface="Arial" panose="020B0604020202020204" pitchFamily="34" charset="0"/>
                          <a:cs typeface="Arial" panose="020B0604020202020204" pitchFamily="34" charset="0"/>
                        </a:rPr>
                        <a:t>Negative 6</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14310709"/>
                  </a:ext>
                </a:extLst>
              </a:tr>
              <a:tr h="421060">
                <a:tc>
                  <a:txBody>
                    <a:bodyPr/>
                    <a:lstStyle/>
                    <a:p>
                      <a:pPr algn="l"/>
                      <a:r>
                        <a:rPr lang="en-US" sz="2000" b="0" noProof="0" dirty="0">
                          <a:solidFill>
                            <a:schemeClr val="tx1"/>
                          </a:solidFill>
                          <a:latin typeface="Arial" panose="020B0604020202020204" pitchFamily="34" charset="0"/>
                          <a:cs typeface="Arial" panose="020B0604020202020204" pitchFamily="34" charset="0"/>
                        </a:rPr>
                        <a:t>Incremental cash flow</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b="0" noProof="0" dirty="0">
                          <a:solidFill>
                            <a:schemeClr val="tx1"/>
                          </a:solidFill>
                          <a:latin typeface="Arial" panose="020B0604020202020204" pitchFamily="34" charset="0"/>
                          <a:cs typeface="Arial" panose="020B0604020202020204" pitchFamily="34" charset="0"/>
                        </a:rPr>
                        <a:t>Negative 40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2000" b="0" noProof="0">
                          <a:solidFill>
                            <a:schemeClr val="tx1"/>
                          </a:solidFill>
                          <a:latin typeface="Arial" panose="020B0604020202020204" pitchFamily="34" charset="0"/>
                          <a:cs typeface="Arial" panose="020B0604020202020204" pitchFamily="34" charset="0"/>
                        </a:rPr>
                        <a:t>19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2000" b="0" noProof="0">
                          <a:solidFill>
                            <a:schemeClr val="tx1"/>
                          </a:solidFill>
                          <a:latin typeface="Arial" panose="020B0604020202020204" pitchFamily="34" charset="0"/>
                          <a:cs typeface="Arial" panose="020B0604020202020204" pitchFamily="34" charset="0"/>
                        </a:rPr>
                        <a:t>19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2000" b="0" noProof="0" dirty="0">
                          <a:solidFill>
                            <a:schemeClr val="tx1"/>
                          </a:solidFill>
                          <a:latin typeface="Arial" panose="020B0604020202020204" pitchFamily="34" charset="0"/>
                          <a:cs typeface="Arial" panose="020B0604020202020204" pitchFamily="34" charset="0"/>
                        </a:rPr>
                        <a:t>19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2020762648"/>
                  </a:ext>
                </a:extLst>
              </a:tr>
            </a:tbl>
          </a:graphicData>
        </a:graphic>
      </p:graphicFrame>
      <p:graphicFrame>
        <p:nvGraphicFramePr>
          <p:cNvPr id="6" name="Object 5">
            <a:extLst>
              <a:ext uri="{FF2B5EF4-FFF2-40B4-BE49-F238E27FC236}">
                <a16:creationId xmlns:a16="http://schemas.microsoft.com/office/drawing/2014/main" id="{25D08989-D234-4766-8A14-CA5E5A66492F}"/>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392391588"/>
              </p:ext>
            </p:extLst>
          </p:nvPr>
        </p:nvGraphicFramePr>
        <p:xfrm>
          <a:off x="3103631" y="4117876"/>
          <a:ext cx="527050" cy="306389"/>
        </p:xfrm>
        <a:graphic>
          <a:graphicData uri="http://schemas.openxmlformats.org/presentationml/2006/ole">
            <mc:AlternateContent xmlns:mc="http://schemas.openxmlformats.org/markup-compatibility/2006">
              <mc:Choice xmlns:v="urn:schemas-microsoft-com:vml" Requires="v">
                <p:oleObj name="Equation" r:id="rId2" imgW="304560" imgH="177480" progId="Equation.DSMT4">
                  <p:embed/>
                </p:oleObj>
              </mc:Choice>
              <mc:Fallback>
                <p:oleObj name="Equation" r:id="rId2" imgW="304560" imgH="177480" progId="Equation.DSMT4">
                  <p:embed/>
                  <p:pic>
                    <p:nvPicPr>
                      <p:cNvPr id="16" name="Object 15">
                        <a:extLst>
                          <a:ext uri="{FF2B5EF4-FFF2-40B4-BE49-F238E27FC236}">
                            <a16:creationId xmlns:a16="http://schemas.microsoft.com/office/drawing/2014/main" id="{1CB7B635-D689-4251-A2B2-6D3C33222E8A}"/>
                          </a:ext>
                        </a:extLst>
                      </p:cNvPr>
                      <p:cNvPicPr/>
                      <p:nvPr/>
                    </p:nvPicPr>
                    <p:blipFill>
                      <a:blip r:embed="rId3"/>
                      <a:stretch>
                        <a:fillRect/>
                      </a:stretch>
                    </p:blipFill>
                    <p:spPr>
                      <a:xfrm>
                        <a:off x="3103631" y="4117876"/>
                        <a:ext cx="527050" cy="306389"/>
                      </a:xfrm>
                      <a:prstGeom prst="rect">
                        <a:avLst/>
                      </a:prstGeom>
                      <a:solidFill>
                        <a:srgbClr val="D4EAE4"/>
                      </a:solidFill>
                    </p:spPr>
                  </p:pic>
                </p:oleObj>
              </mc:Fallback>
            </mc:AlternateContent>
          </a:graphicData>
        </a:graphic>
      </p:graphicFrame>
      <p:graphicFrame>
        <p:nvGraphicFramePr>
          <p:cNvPr id="7" name="Object 6">
            <a:extLst>
              <a:ext uri="{FF2B5EF4-FFF2-40B4-BE49-F238E27FC236}">
                <a16:creationId xmlns:a16="http://schemas.microsoft.com/office/drawing/2014/main" id="{996ECF3C-67FE-4B40-A89C-7095E9E7C4F4}"/>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210017052"/>
              </p:ext>
            </p:extLst>
          </p:nvPr>
        </p:nvGraphicFramePr>
        <p:xfrm>
          <a:off x="2951382" y="4695360"/>
          <a:ext cx="833438" cy="350838"/>
        </p:xfrm>
        <a:graphic>
          <a:graphicData uri="http://schemas.openxmlformats.org/presentationml/2006/ole">
            <mc:AlternateContent xmlns:mc="http://schemas.openxmlformats.org/markup-compatibility/2006">
              <mc:Choice xmlns:v="urn:schemas-microsoft-com:vml" Requires="v">
                <p:oleObj name="Equation" r:id="rId4" imgW="482400" imgH="203040" progId="Equation.DSMT4">
                  <p:embed/>
                </p:oleObj>
              </mc:Choice>
              <mc:Fallback>
                <p:oleObj name="Equation" r:id="rId4" imgW="482400" imgH="203040" progId="Equation.DSMT4">
                  <p:embed/>
                  <p:pic>
                    <p:nvPicPr>
                      <p:cNvPr id="6" name="Object 5">
                        <a:extLst>
                          <a:ext uri="{FF2B5EF4-FFF2-40B4-BE49-F238E27FC236}">
                            <a16:creationId xmlns:a16="http://schemas.microsoft.com/office/drawing/2014/main" id="{25D08989-D234-4766-8A14-CA5E5A66492F}"/>
                          </a:ext>
                        </a:extLst>
                      </p:cNvPr>
                      <p:cNvPicPr/>
                      <p:nvPr/>
                    </p:nvPicPr>
                    <p:blipFill>
                      <a:blip r:embed="rId5"/>
                      <a:stretch>
                        <a:fillRect/>
                      </a:stretch>
                    </p:blipFill>
                    <p:spPr>
                      <a:xfrm>
                        <a:off x="2951382" y="4695360"/>
                        <a:ext cx="833438" cy="350838"/>
                      </a:xfrm>
                      <a:prstGeom prst="rect">
                        <a:avLst/>
                      </a:prstGeom>
                      <a:solidFill>
                        <a:srgbClr val="D4EAE4"/>
                      </a:solidFill>
                    </p:spPr>
                  </p:pic>
                </p:oleObj>
              </mc:Fallback>
            </mc:AlternateContent>
          </a:graphicData>
        </a:graphic>
      </p:graphicFrame>
      <p:graphicFrame>
        <p:nvGraphicFramePr>
          <p:cNvPr id="8" name="Object 7">
            <a:extLst>
              <a:ext uri="{FF2B5EF4-FFF2-40B4-BE49-F238E27FC236}">
                <a16:creationId xmlns:a16="http://schemas.microsoft.com/office/drawing/2014/main" id="{182C8DF1-1601-4006-BAAE-F742D9F3D7E8}"/>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003723862"/>
              </p:ext>
            </p:extLst>
          </p:nvPr>
        </p:nvGraphicFramePr>
        <p:xfrm>
          <a:off x="4568555" y="4693773"/>
          <a:ext cx="373062" cy="307975"/>
        </p:xfrm>
        <a:graphic>
          <a:graphicData uri="http://schemas.openxmlformats.org/presentationml/2006/ole">
            <mc:AlternateContent xmlns:mc="http://schemas.openxmlformats.org/markup-compatibility/2006">
              <mc:Choice xmlns:v="urn:schemas-microsoft-com:vml" Requires="v">
                <p:oleObj name="Equation" r:id="rId6" imgW="215640" imgH="177480" progId="Equation.DSMT4">
                  <p:embed/>
                </p:oleObj>
              </mc:Choice>
              <mc:Fallback>
                <p:oleObj name="Equation" r:id="rId6" imgW="215640" imgH="177480" progId="Equation.DSMT4">
                  <p:embed/>
                  <p:pic>
                    <p:nvPicPr>
                      <p:cNvPr id="7" name="Object 6">
                        <a:extLst>
                          <a:ext uri="{FF2B5EF4-FFF2-40B4-BE49-F238E27FC236}">
                            <a16:creationId xmlns:a16="http://schemas.microsoft.com/office/drawing/2014/main" id="{996ECF3C-67FE-4B40-A89C-7095E9E7C4F4}"/>
                          </a:ext>
                        </a:extLst>
                      </p:cNvPr>
                      <p:cNvPicPr/>
                      <p:nvPr/>
                    </p:nvPicPr>
                    <p:blipFill>
                      <a:blip r:embed="rId7"/>
                      <a:stretch>
                        <a:fillRect/>
                      </a:stretch>
                    </p:blipFill>
                    <p:spPr>
                      <a:xfrm>
                        <a:off x="4568555" y="4693773"/>
                        <a:ext cx="373062" cy="307975"/>
                      </a:xfrm>
                      <a:prstGeom prst="rect">
                        <a:avLst/>
                      </a:prstGeom>
                    </p:spPr>
                  </p:pic>
                </p:oleObj>
              </mc:Fallback>
            </mc:AlternateContent>
          </a:graphicData>
        </a:graphic>
      </p:graphicFrame>
      <p:graphicFrame>
        <p:nvGraphicFramePr>
          <p:cNvPr id="9" name="Object 8">
            <a:extLst>
              <a:ext uri="{FF2B5EF4-FFF2-40B4-BE49-F238E27FC236}">
                <a16:creationId xmlns:a16="http://schemas.microsoft.com/office/drawing/2014/main" id="{4A74756E-F80E-4144-B66E-DEEA84184091}"/>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988619263"/>
              </p:ext>
            </p:extLst>
          </p:nvPr>
        </p:nvGraphicFramePr>
        <p:xfrm>
          <a:off x="6068986" y="4704769"/>
          <a:ext cx="373062" cy="307975"/>
        </p:xfrm>
        <a:graphic>
          <a:graphicData uri="http://schemas.openxmlformats.org/presentationml/2006/ole">
            <mc:AlternateContent xmlns:mc="http://schemas.openxmlformats.org/markup-compatibility/2006">
              <mc:Choice xmlns:v="urn:schemas-microsoft-com:vml" Requires="v">
                <p:oleObj name="Equation" r:id="rId6" imgW="215640" imgH="177480" progId="Equation.DSMT4">
                  <p:embed/>
                </p:oleObj>
              </mc:Choice>
              <mc:Fallback>
                <p:oleObj name="Equation" r:id="rId6" imgW="215640" imgH="177480" progId="Equation.DSMT4">
                  <p:embed/>
                  <p:pic>
                    <p:nvPicPr>
                      <p:cNvPr id="8" name="Object 7">
                        <a:extLst>
                          <a:ext uri="{FF2B5EF4-FFF2-40B4-BE49-F238E27FC236}">
                            <a16:creationId xmlns:a16="http://schemas.microsoft.com/office/drawing/2014/main" id="{182C8DF1-1601-4006-BAAE-F742D9F3D7E8}"/>
                          </a:ext>
                        </a:extLst>
                      </p:cNvPr>
                      <p:cNvPicPr/>
                      <p:nvPr/>
                    </p:nvPicPr>
                    <p:blipFill>
                      <a:blip r:embed="rId7"/>
                      <a:stretch>
                        <a:fillRect/>
                      </a:stretch>
                    </p:blipFill>
                    <p:spPr>
                      <a:xfrm>
                        <a:off x="6068986" y="4704769"/>
                        <a:ext cx="373062" cy="307975"/>
                      </a:xfrm>
                      <a:prstGeom prst="rect">
                        <a:avLst/>
                      </a:prstGeom>
                      <a:solidFill>
                        <a:srgbClr val="D4EAE4"/>
                      </a:solidFill>
                    </p:spPr>
                  </p:pic>
                </p:oleObj>
              </mc:Fallback>
            </mc:AlternateContent>
          </a:graphicData>
        </a:graphic>
      </p:graphicFrame>
      <p:graphicFrame>
        <p:nvGraphicFramePr>
          <p:cNvPr id="10" name="Object 9">
            <a:extLst>
              <a:ext uri="{FF2B5EF4-FFF2-40B4-BE49-F238E27FC236}">
                <a16:creationId xmlns:a16="http://schemas.microsoft.com/office/drawing/2014/main" id="{792142A3-31A4-4E23-BD75-7276187A75C0}"/>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313102502"/>
              </p:ext>
            </p:extLst>
          </p:nvPr>
        </p:nvGraphicFramePr>
        <p:xfrm>
          <a:off x="7503431" y="4706338"/>
          <a:ext cx="373062" cy="307975"/>
        </p:xfrm>
        <a:graphic>
          <a:graphicData uri="http://schemas.openxmlformats.org/presentationml/2006/ole">
            <mc:AlternateContent xmlns:mc="http://schemas.openxmlformats.org/markup-compatibility/2006">
              <mc:Choice xmlns:v="urn:schemas-microsoft-com:vml" Requires="v">
                <p:oleObj name="Equation" r:id="rId6" imgW="215640" imgH="177480" progId="Equation.DSMT4">
                  <p:embed/>
                </p:oleObj>
              </mc:Choice>
              <mc:Fallback>
                <p:oleObj name="Equation" r:id="rId6" imgW="215640" imgH="177480" progId="Equation.DSMT4">
                  <p:embed/>
                  <p:pic>
                    <p:nvPicPr>
                      <p:cNvPr id="9" name="Object 8">
                        <a:extLst>
                          <a:ext uri="{FF2B5EF4-FFF2-40B4-BE49-F238E27FC236}">
                            <a16:creationId xmlns:a16="http://schemas.microsoft.com/office/drawing/2014/main" id="{4A74756E-F80E-4144-B66E-DEEA84184091}"/>
                          </a:ext>
                        </a:extLst>
                      </p:cNvPr>
                      <p:cNvPicPr/>
                      <p:nvPr/>
                    </p:nvPicPr>
                    <p:blipFill>
                      <a:blip r:embed="rId7"/>
                      <a:stretch>
                        <a:fillRect/>
                      </a:stretch>
                    </p:blipFill>
                    <p:spPr>
                      <a:xfrm>
                        <a:off x="7503431" y="4706338"/>
                        <a:ext cx="373062" cy="307975"/>
                      </a:xfrm>
                      <a:prstGeom prst="rect">
                        <a:avLst/>
                      </a:prstGeom>
                      <a:solidFill>
                        <a:srgbClr val="D4EAE4"/>
                      </a:solidFill>
                    </p:spPr>
                  </p:pic>
                </p:oleObj>
              </mc:Fallback>
            </mc:AlternateContent>
          </a:graphicData>
        </a:graphic>
      </p:graphicFrame>
      <p:graphicFrame>
        <p:nvGraphicFramePr>
          <p:cNvPr id="11" name="Object 10">
            <a:extLst>
              <a:ext uri="{FF2B5EF4-FFF2-40B4-BE49-F238E27FC236}">
                <a16:creationId xmlns:a16="http://schemas.microsoft.com/office/drawing/2014/main" id="{DE5358EB-47A0-4235-A0BD-371F7BE1E3D1}"/>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71066269"/>
              </p:ext>
            </p:extLst>
          </p:nvPr>
        </p:nvGraphicFramePr>
        <p:xfrm>
          <a:off x="3190193" y="5265763"/>
          <a:ext cx="527050" cy="306387"/>
        </p:xfrm>
        <a:graphic>
          <a:graphicData uri="http://schemas.openxmlformats.org/presentationml/2006/ole">
            <mc:AlternateContent xmlns:mc="http://schemas.openxmlformats.org/markup-compatibility/2006">
              <mc:Choice xmlns:v="urn:schemas-microsoft-com:vml" Requires="v">
                <p:oleObj name="Equation" r:id="rId8" imgW="304560" imgH="177480" progId="Equation.DSMT4">
                  <p:embed/>
                </p:oleObj>
              </mc:Choice>
              <mc:Fallback>
                <p:oleObj name="Equation" r:id="rId8" imgW="304560" imgH="177480" progId="Equation.DSMT4">
                  <p:embed/>
                  <p:pic>
                    <p:nvPicPr>
                      <p:cNvPr id="7" name="Object 6">
                        <a:extLst>
                          <a:ext uri="{FF2B5EF4-FFF2-40B4-BE49-F238E27FC236}">
                            <a16:creationId xmlns:a16="http://schemas.microsoft.com/office/drawing/2014/main" id="{996ECF3C-67FE-4B40-A89C-7095E9E7C4F4}"/>
                          </a:ext>
                        </a:extLst>
                      </p:cNvPr>
                      <p:cNvPicPr/>
                      <p:nvPr/>
                    </p:nvPicPr>
                    <p:blipFill>
                      <a:blip r:embed="rId9"/>
                      <a:stretch>
                        <a:fillRect/>
                      </a:stretch>
                    </p:blipFill>
                    <p:spPr>
                      <a:xfrm>
                        <a:off x="3190193" y="5265763"/>
                        <a:ext cx="527050" cy="306387"/>
                      </a:xfrm>
                      <a:prstGeom prst="rect">
                        <a:avLst/>
                      </a:prstGeom>
                      <a:solidFill>
                        <a:srgbClr val="D4EAE4"/>
                      </a:solidFill>
                    </p:spPr>
                  </p:pic>
                </p:oleObj>
              </mc:Fallback>
            </mc:AlternateContent>
          </a:graphicData>
        </a:graphic>
      </p:graphicFrame>
      <p:sp>
        <p:nvSpPr>
          <p:cNvPr id="5" name="ZoneTexte 4">
            <a:extLst>
              <a:ext uri="{FF2B5EF4-FFF2-40B4-BE49-F238E27FC236}">
                <a16:creationId xmlns:a16="http://schemas.microsoft.com/office/drawing/2014/main" id="{FCE0248C-9739-CBC6-478A-AABE616E63D6}"/>
              </a:ext>
            </a:extLst>
          </p:cNvPr>
          <p:cNvSpPr txBox="1"/>
          <p:nvPr/>
        </p:nvSpPr>
        <p:spPr>
          <a:xfrm>
            <a:off x="628880" y="3128655"/>
            <a:ext cx="979755" cy="369332"/>
          </a:xfrm>
          <a:prstGeom prst="rect">
            <a:avLst/>
          </a:prstGeom>
          <a:noFill/>
        </p:spPr>
        <p:txBody>
          <a:bodyPr wrap="none" rtlCol="0">
            <a:spAutoFit/>
          </a:bodyPr>
          <a:lstStyle/>
          <a:p>
            <a:r>
              <a:rPr lang="fr-FR" sz="1800" b="1" dirty="0"/>
              <a:t>Table 7</a:t>
            </a:r>
          </a:p>
        </p:txBody>
      </p:sp>
    </p:spTree>
    <p:extLst>
      <p:ext uri="{BB962C8B-B14F-4D97-AF65-F5344CB8AC3E}">
        <p14:creationId xmlns:p14="http://schemas.microsoft.com/office/powerpoint/2010/main" val="4751908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21371"/>
            <a:ext cx="8266346" cy="590349"/>
          </a:xfrm>
        </p:spPr>
        <p:txBody>
          <a:bodyPr/>
          <a:lstStyle/>
          <a:p>
            <a:r>
              <a:rPr lang="en-US" dirty="0"/>
              <a:t>Overhaul Example </a:t>
            </a:r>
            <a:r>
              <a:rPr lang="en-US" sz="2800" dirty="0"/>
              <a:t>(4 of 4)</a:t>
            </a:r>
            <a:endParaRPr lang="en-US" sz="2800" noProof="0" dirty="0"/>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37228" y="1204182"/>
            <a:ext cx="3408908" cy="313350"/>
          </a:xfrm>
        </p:spPr>
        <p:txBody>
          <a:bodyPr wrap="square" lIns="0" tIns="18000" rIns="0" bIns="18000" anchor="ctr">
            <a:spAutoFit/>
          </a:bodyPr>
          <a:lstStyle/>
          <a:p>
            <a:pPr marL="0" indent="0">
              <a:spcBef>
                <a:spcPts val="600"/>
              </a:spcBef>
              <a:buNone/>
            </a:pPr>
            <a:r>
              <a:rPr lang="en-US" altLang="en-US" sz="1800" dirty="0"/>
              <a:t>These cash flows have an </a:t>
            </a:r>
            <a:r>
              <a:rPr lang="en-US" altLang="en-US" sz="1800" spc="-260" dirty="0"/>
              <a:t>I R </a:t>
            </a:r>
            <a:r>
              <a:rPr lang="en-US" altLang="en-US" sz="1800" dirty="0" err="1"/>
              <a:t>R</a:t>
            </a:r>
            <a:r>
              <a:rPr lang="en-US" altLang="en-US" sz="1800" dirty="0"/>
              <a:t> of</a:t>
            </a:r>
          </a:p>
        </p:txBody>
      </p:sp>
      <p:graphicFrame>
        <p:nvGraphicFramePr>
          <p:cNvPr id="10" name="Object 1" descr="20.0 percent.">
            <a:extLst>
              <a:ext uri="{FF2B5EF4-FFF2-40B4-BE49-F238E27FC236}">
                <a16:creationId xmlns:a16="http://schemas.microsoft.com/office/drawing/2014/main" id="{2D2FA632-2D30-4C00-93DC-AB3D69D92ECB}"/>
              </a:ext>
            </a:extLst>
          </p:cNvPr>
          <p:cNvGraphicFramePr>
            <a:graphicFrameLocks noChangeAspect="1"/>
          </p:cNvGraphicFramePr>
          <p:nvPr>
            <p:extLst>
              <p:ext uri="{D42A27DB-BD31-4B8C-83A1-F6EECF244321}">
                <p14:modId xmlns:p14="http://schemas.microsoft.com/office/powerpoint/2010/main" val="1964971867"/>
              </p:ext>
            </p:extLst>
          </p:nvPr>
        </p:nvGraphicFramePr>
        <p:xfrm>
          <a:off x="3919591" y="1241740"/>
          <a:ext cx="710045" cy="262659"/>
        </p:xfrm>
        <a:graphic>
          <a:graphicData uri="http://schemas.openxmlformats.org/presentationml/2006/ole">
            <mc:AlternateContent xmlns:mc="http://schemas.openxmlformats.org/markup-compatibility/2006">
              <mc:Choice xmlns:v="urn:schemas-microsoft-com:vml" Requires="v">
                <p:oleObj name="Equation" r:id="rId2" imgW="482400" imgH="177480" progId="Equation.DSMT4">
                  <p:embed/>
                </p:oleObj>
              </mc:Choice>
              <mc:Fallback>
                <p:oleObj name="Equation" r:id="rId2" imgW="482400" imgH="177480" progId="Equation.DSMT4">
                  <p:embed/>
                  <p:pic>
                    <p:nvPicPr>
                      <p:cNvPr id="6" name="Object 1">
                        <a:extLst>
                          <a:ext uri="{FF2B5EF4-FFF2-40B4-BE49-F238E27FC236}">
                            <a16:creationId xmlns:a16="http://schemas.microsoft.com/office/drawing/2014/main" id="{DA9180DC-43D2-4354-8945-790F7B5552E8}"/>
                          </a:ext>
                        </a:extLst>
                      </p:cNvPr>
                      <p:cNvPicPr>
                        <a:picLocks noChangeAspect="1" noChangeArrowheads="1"/>
                      </p:cNvPicPr>
                      <p:nvPr/>
                    </p:nvPicPr>
                    <p:blipFill>
                      <a:blip r:embed="rId3"/>
                      <a:srcRect/>
                      <a:stretch>
                        <a:fillRect/>
                      </a:stretch>
                    </p:blipFill>
                    <p:spPr bwMode="auto">
                      <a:xfrm>
                        <a:off x="3919591" y="1241740"/>
                        <a:ext cx="710045" cy="262659"/>
                      </a:xfrm>
                      <a:prstGeom prst="rect">
                        <a:avLst/>
                      </a:prstGeom>
                      <a:noFill/>
                    </p:spPr>
                  </p:pic>
                </p:oleObj>
              </mc:Fallback>
            </mc:AlternateContent>
          </a:graphicData>
        </a:graphic>
      </p:graphicFrame>
      <p:graphicFrame>
        <p:nvGraphicFramePr>
          <p:cNvPr id="7" name="Table 11">
            <a:extLst>
              <a:ext uri="{FF2B5EF4-FFF2-40B4-BE49-F238E27FC236}">
                <a16:creationId xmlns:a16="http://schemas.microsoft.com/office/drawing/2014/main" id="{3E6ED6F8-9E12-4BC3-8009-847990372F22}"/>
              </a:ext>
            </a:extLst>
          </p:cNvPr>
          <p:cNvGraphicFramePr>
            <a:graphicFrameLocks noGrp="1"/>
          </p:cNvGraphicFramePr>
          <p:nvPr>
            <p:extLst>
              <p:ext uri="{D42A27DB-BD31-4B8C-83A1-F6EECF244321}">
                <p14:modId xmlns:p14="http://schemas.microsoft.com/office/powerpoint/2010/main" val="920201819"/>
              </p:ext>
            </p:extLst>
          </p:nvPr>
        </p:nvGraphicFramePr>
        <p:xfrm>
          <a:off x="457200" y="2242114"/>
          <a:ext cx="8229599" cy="1789595"/>
        </p:xfrm>
        <a:graphic>
          <a:graphicData uri="http://schemas.openxmlformats.org/drawingml/2006/table">
            <a:tbl>
              <a:tblPr firstRow="1" bandRow="1">
                <a:tableStyleId>{40F9630F-82C1-40B7-BC3A-925EFCFF5E92}</a:tableStyleId>
              </a:tblPr>
              <a:tblGrid>
                <a:gridCol w="1427018">
                  <a:extLst>
                    <a:ext uri="{9D8B030D-6E8A-4147-A177-3AD203B41FA5}">
                      <a16:colId xmlns:a16="http://schemas.microsoft.com/office/drawing/2014/main" val="467200679"/>
                    </a:ext>
                  </a:extLst>
                </a:gridCol>
                <a:gridCol w="867774">
                  <a:extLst>
                    <a:ext uri="{9D8B030D-6E8A-4147-A177-3AD203B41FA5}">
                      <a16:colId xmlns:a16="http://schemas.microsoft.com/office/drawing/2014/main" val="3156988431"/>
                    </a:ext>
                  </a:extLst>
                </a:gridCol>
                <a:gridCol w="967154">
                  <a:extLst>
                    <a:ext uri="{9D8B030D-6E8A-4147-A177-3AD203B41FA5}">
                      <a16:colId xmlns:a16="http://schemas.microsoft.com/office/drawing/2014/main" val="2535743945"/>
                    </a:ext>
                  </a:extLst>
                </a:gridCol>
                <a:gridCol w="1204546">
                  <a:extLst>
                    <a:ext uri="{9D8B030D-6E8A-4147-A177-3AD203B41FA5}">
                      <a16:colId xmlns:a16="http://schemas.microsoft.com/office/drawing/2014/main" val="2120472885"/>
                    </a:ext>
                  </a:extLst>
                </a:gridCol>
                <a:gridCol w="1380393">
                  <a:extLst>
                    <a:ext uri="{9D8B030D-6E8A-4147-A177-3AD203B41FA5}">
                      <a16:colId xmlns:a16="http://schemas.microsoft.com/office/drawing/2014/main" val="1335280307"/>
                    </a:ext>
                  </a:extLst>
                </a:gridCol>
                <a:gridCol w="623188">
                  <a:extLst>
                    <a:ext uri="{9D8B030D-6E8A-4147-A177-3AD203B41FA5}">
                      <a16:colId xmlns:a16="http://schemas.microsoft.com/office/drawing/2014/main" val="691551917"/>
                    </a:ext>
                  </a:extLst>
                </a:gridCol>
                <a:gridCol w="1759526">
                  <a:extLst>
                    <a:ext uri="{9D8B030D-6E8A-4147-A177-3AD203B41FA5}">
                      <a16:colId xmlns:a16="http://schemas.microsoft.com/office/drawing/2014/main" val="3130720241"/>
                    </a:ext>
                  </a:extLst>
                </a:gridCol>
              </a:tblGrid>
              <a:tr h="454622">
                <a:tc>
                  <a:txBody>
                    <a:bodyPr/>
                    <a:lstStyle/>
                    <a:p>
                      <a:pPr algn="l"/>
                      <a:r>
                        <a:rPr lang="en-US" sz="100" noProof="0">
                          <a:solidFill>
                            <a:schemeClr val="bg1"/>
                          </a:solidFill>
                        </a:rPr>
                        <a:t>Blank</a:t>
                      </a:r>
                    </a:p>
                  </a:txBody>
                  <a:tcPr marL="90856" marR="90856" marT="45428" marB="4542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1800" b="1" spc="-200" baseline="0" noProof="0">
                          <a:solidFill>
                            <a:schemeClr val="bg1"/>
                          </a:solidFill>
                        </a:rPr>
                        <a:t>N P E R</a:t>
                      </a:r>
                      <a:endParaRPr lang="en-US" sz="1800" b="1" spc="-200" baseline="0" noProof="0">
                        <a:solidFill>
                          <a:schemeClr val="bg1"/>
                        </a:solidFill>
                        <a:latin typeface="+mn-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1800" b="1" spc="-200" baseline="0" noProof="0">
                          <a:solidFill>
                            <a:schemeClr val="bg1"/>
                          </a:solidFill>
                        </a:rPr>
                        <a:t>R A T E</a:t>
                      </a:r>
                      <a:endParaRPr lang="en-US" sz="1800" b="1" spc="-200" baseline="0" noProof="0">
                        <a:solidFill>
                          <a:schemeClr val="bg1"/>
                        </a:solidFill>
                        <a:latin typeface="+mn-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spc="-200" baseline="0" noProof="0">
                          <a:solidFill>
                            <a:schemeClr val="bg1"/>
                          </a:solidFill>
                        </a:rPr>
                        <a:t>P V</a:t>
                      </a:r>
                      <a:endParaRPr lang="en-US" sz="1800" b="1" spc="-200" baseline="0" noProof="0">
                        <a:solidFill>
                          <a:schemeClr val="bg1"/>
                        </a:solidFill>
                        <a:latin typeface="+mn-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1800" b="1" spc="-200" baseline="0" noProof="0">
                          <a:solidFill>
                            <a:schemeClr val="bg1"/>
                          </a:solidFill>
                        </a:rPr>
                        <a:t>P M T</a:t>
                      </a:r>
                      <a:endParaRPr lang="en-US" sz="1800" b="1" spc="-200" baseline="0" noProof="0">
                        <a:solidFill>
                          <a:schemeClr val="bg1"/>
                        </a:solidFill>
                        <a:latin typeface="+mn-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1800" b="1" spc="-200" baseline="0" noProof="0">
                          <a:solidFill>
                            <a:schemeClr val="bg1"/>
                          </a:solidFill>
                        </a:rPr>
                        <a:t>F V</a:t>
                      </a:r>
                      <a:endParaRPr lang="en-US" sz="1800" b="1" spc="-200" baseline="0" noProof="0">
                        <a:solidFill>
                          <a:schemeClr val="bg1"/>
                        </a:solidFill>
                        <a:latin typeface="+mn-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1800" b="1" noProof="0">
                          <a:solidFill>
                            <a:schemeClr val="bg1"/>
                          </a:solidFill>
                        </a:rPr>
                        <a:t>Excel Formula</a:t>
                      </a:r>
                      <a:endParaRPr lang="en-US" sz="1800" b="1" noProof="0">
                        <a:solidFill>
                          <a:schemeClr val="bg1"/>
                        </a:solidFill>
                        <a:latin typeface="+mn-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extLst>
                  <a:ext uri="{0D108BD9-81ED-4DB2-BD59-A6C34878D82A}">
                    <a16:rowId xmlns:a16="http://schemas.microsoft.com/office/drawing/2014/main" val="400099166"/>
                  </a:ext>
                </a:extLst>
              </a:tr>
              <a:tr h="550999">
                <a:tc>
                  <a:txBody>
                    <a:bodyPr/>
                    <a:lstStyle/>
                    <a:p>
                      <a:pPr algn="l"/>
                      <a:r>
                        <a:rPr lang="en-US" sz="1800" b="0" noProof="0" dirty="0"/>
                        <a:t>Given</a:t>
                      </a:r>
                    </a:p>
                  </a:txBody>
                  <a:tcPr marL="90856" marR="90856" marT="45428" marB="4542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800" noProof="0"/>
                        <a:t>3</a:t>
                      </a:r>
                      <a:endParaRPr lang="en-US" sz="1800" noProof="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noProof="0">
                          <a:solidFill>
                            <a:schemeClr val="tx1"/>
                          </a:solidFill>
                        </a:rPr>
                        <a:t>Blank</a:t>
                      </a:r>
                      <a:endParaRPr lang="en-US" sz="100" noProof="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baseline="0" noProof="0"/>
                        <a:t>negative 40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800" noProof="0">
                          <a:latin typeface="+mn-lt"/>
                        </a:rPr>
                        <a:t>19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800" noProof="0"/>
                        <a:t>0</a:t>
                      </a:r>
                      <a:endParaRPr lang="en-US" sz="1800" noProof="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baseline="0" noProof="0"/>
                        <a:t>Blank</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436264602"/>
                  </a:ext>
                </a:extLst>
              </a:tr>
              <a:tr h="78397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noProof="0" dirty="0"/>
                        <a:t>Solve for rate</a:t>
                      </a:r>
                    </a:p>
                  </a:txBody>
                  <a:tcPr marL="90856" marR="90856" marT="45428" marB="4542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noProof="0">
                          <a:solidFill>
                            <a:schemeClr val="tx1"/>
                          </a:solidFill>
                        </a:rPr>
                        <a:t>blank</a:t>
                      </a:r>
                      <a:endParaRPr lang="en-US" sz="100" noProof="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noProof="0" dirty="0"/>
                        <a:t>20.0 percent.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baseline="0" noProof="0" dirty="0"/>
                        <a:t>Blank</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baseline="0" noProof="0"/>
                        <a:t>Blank</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baseline="0" noProof="0"/>
                        <a:t>Blank</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baseline="0" noProof="0" dirty="0"/>
                        <a:t>Equals R A T E left parenthesis 3 comma 19 comma negative 40 comma 0 right parenthesis.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371393853"/>
                  </a:ext>
                </a:extLst>
              </a:tr>
            </a:tbl>
          </a:graphicData>
        </a:graphic>
      </p:graphicFrame>
      <p:graphicFrame>
        <p:nvGraphicFramePr>
          <p:cNvPr id="11" name="Object 1">
            <a:extLst>
              <a:ext uri="{FF2B5EF4-FFF2-40B4-BE49-F238E27FC236}">
                <a16:creationId xmlns:a16="http://schemas.microsoft.com/office/drawing/2014/main" id="{907F6E84-A563-4404-BCEC-8EF5BD629D5B}"/>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137760956"/>
              </p:ext>
            </p:extLst>
          </p:nvPr>
        </p:nvGraphicFramePr>
        <p:xfrm>
          <a:off x="4202113" y="2775072"/>
          <a:ext cx="447675" cy="261937"/>
        </p:xfrm>
        <a:graphic>
          <a:graphicData uri="http://schemas.openxmlformats.org/presentationml/2006/ole">
            <mc:AlternateContent xmlns:mc="http://schemas.openxmlformats.org/markup-compatibility/2006">
              <mc:Choice xmlns:v="urn:schemas-microsoft-com:vml" Requires="v">
                <p:oleObj name="Equation" r:id="rId4" imgW="304560" imgH="177480" progId="Equation.DSMT4">
                  <p:embed/>
                </p:oleObj>
              </mc:Choice>
              <mc:Fallback>
                <p:oleObj name="Equation" r:id="rId4" imgW="304560" imgH="177480" progId="Equation.DSMT4">
                  <p:embed/>
                  <p:pic>
                    <p:nvPicPr>
                      <p:cNvPr id="10" name="Object 1">
                        <a:extLst>
                          <a:ext uri="{FF2B5EF4-FFF2-40B4-BE49-F238E27FC236}">
                            <a16:creationId xmlns:a16="http://schemas.microsoft.com/office/drawing/2014/main" id="{2D2FA632-2D30-4C00-93DC-AB3D69D92ECB}"/>
                          </a:ext>
                        </a:extLst>
                      </p:cNvPr>
                      <p:cNvPicPr>
                        <a:picLocks noChangeAspect="1" noChangeArrowheads="1"/>
                      </p:cNvPicPr>
                      <p:nvPr/>
                    </p:nvPicPr>
                    <p:blipFill>
                      <a:blip r:embed="rId5"/>
                      <a:srcRect/>
                      <a:stretch>
                        <a:fillRect/>
                      </a:stretch>
                    </p:blipFill>
                    <p:spPr bwMode="auto">
                      <a:xfrm>
                        <a:off x="4202113" y="2775072"/>
                        <a:ext cx="447675" cy="261937"/>
                      </a:xfrm>
                      <a:prstGeom prst="rect">
                        <a:avLst/>
                      </a:prstGeom>
                      <a:solidFill>
                        <a:srgbClr val="D4EAE4"/>
                      </a:solidFill>
                    </p:spPr>
                  </p:pic>
                </p:oleObj>
              </mc:Fallback>
            </mc:AlternateContent>
          </a:graphicData>
        </a:graphic>
      </p:graphicFrame>
      <p:graphicFrame>
        <p:nvGraphicFramePr>
          <p:cNvPr id="9" name="Object 8">
            <a:extLst>
              <a:ext uri="{FF2B5EF4-FFF2-40B4-BE49-F238E27FC236}">
                <a16:creationId xmlns:a16="http://schemas.microsoft.com/office/drawing/2014/main" id="{0962CDC7-87BC-4D77-88E5-EA9FB031E265}"/>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4185932512"/>
              </p:ext>
            </p:extLst>
          </p:nvPr>
        </p:nvGraphicFramePr>
        <p:xfrm>
          <a:off x="7210294" y="3381154"/>
          <a:ext cx="1155988" cy="552738"/>
        </p:xfrm>
        <a:graphic>
          <a:graphicData uri="http://schemas.openxmlformats.org/presentationml/2006/ole">
            <mc:AlternateContent xmlns:mc="http://schemas.openxmlformats.org/markup-compatibility/2006">
              <mc:Choice xmlns:v="urn:schemas-microsoft-com:vml" Requires="v">
                <p:oleObj name="Equation" r:id="rId6" imgW="1536480" imgH="736560" progId="Equation.DSMT4">
                  <p:embed/>
                </p:oleObj>
              </mc:Choice>
              <mc:Fallback>
                <p:oleObj name="Equation" r:id="rId6" imgW="1536480" imgH="736560" progId="Equation.DSMT4">
                  <p:embed/>
                  <p:pic>
                    <p:nvPicPr>
                      <p:cNvPr id="9" name="Object 8">
                        <a:extLst>
                          <a:ext uri="{FF2B5EF4-FFF2-40B4-BE49-F238E27FC236}">
                            <a16:creationId xmlns:a16="http://schemas.microsoft.com/office/drawing/2014/main" id="{0962CDC7-87BC-4D77-88E5-EA9FB031E265}"/>
                          </a:ext>
                          <a:ext uri="{C183D7F6-B498-43B3-948B-1728B52AA6E4}">
                            <adec:decorative xmlns:adec="http://schemas.microsoft.com/office/drawing/2017/decorative" val="0"/>
                          </a:ext>
                        </a:extLst>
                      </p:cNvPr>
                      <p:cNvPicPr/>
                      <p:nvPr/>
                    </p:nvPicPr>
                    <p:blipFill>
                      <a:blip r:embed="rId7"/>
                      <a:stretch>
                        <a:fillRect/>
                      </a:stretch>
                    </p:blipFill>
                    <p:spPr>
                      <a:xfrm>
                        <a:off x="7210294" y="3381154"/>
                        <a:ext cx="1155988" cy="552738"/>
                      </a:xfrm>
                      <a:prstGeom prst="rect">
                        <a:avLst/>
                      </a:prstGeom>
                      <a:solidFill>
                        <a:srgbClr val="D4EAE4"/>
                      </a:solidFill>
                    </p:spPr>
                  </p:pic>
                </p:oleObj>
              </mc:Fallback>
            </mc:AlternateContent>
          </a:graphicData>
        </a:graphic>
      </p:graphicFrame>
      <p:graphicFrame>
        <p:nvGraphicFramePr>
          <p:cNvPr id="12" name="Object 1">
            <a:extLst>
              <a:ext uri="{FF2B5EF4-FFF2-40B4-BE49-F238E27FC236}">
                <a16:creationId xmlns:a16="http://schemas.microsoft.com/office/drawing/2014/main" id="{097672EE-17D3-4798-9991-0427A257971D}"/>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803250349"/>
              </p:ext>
            </p:extLst>
          </p:nvPr>
        </p:nvGraphicFramePr>
        <p:xfrm>
          <a:off x="2959629" y="3383713"/>
          <a:ext cx="710045" cy="262659"/>
        </p:xfrm>
        <a:graphic>
          <a:graphicData uri="http://schemas.openxmlformats.org/presentationml/2006/ole">
            <mc:AlternateContent xmlns:mc="http://schemas.openxmlformats.org/markup-compatibility/2006">
              <mc:Choice xmlns:v="urn:schemas-microsoft-com:vml" Requires="v">
                <p:oleObj name="Equation" r:id="rId2" imgW="482400" imgH="177480" progId="Equation.DSMT4">
                  <p:embed/>
                </p:oleObj>
              </mc:Choice>
              <mc:Fallback>
                <p:oleObj name="Equation" r:id="rId2" imgW="482400" imgH="177480" progId="Equation.DSMT4">
                  <p:embed/>
                  <p:pic>
                    <p:nvPicPr>
                      <p:cNvPr id="10" name="Object 1">
                        <a:extLst>
                          <a:ext uri="{FF2B5EF4-FFF2-40B4-BE49-F238E27FC236}">
                            <a16:creationId xmlns:a16="http://schemas.microsoft.com/office/drawing/2014/main" id="{2D2FA632-2D30-4C00-93DC-AB3D69D92ECB}"/>
                          </a:ext>
                        </a:extLst>
                      </p:cNvPr>
                      <p:cNvPicPr>
                        <a:picLocks noChangeAspect="1" noChangeArrowheads="1"/>
                      </p:cNvPicPr>
                      <p:nvPr/>
                    </p:nvPicPr>
                    <p:blipFill>
                      <a:blip r:embed="rId3"/>
                      <a:srcRect/>
                      <a:stretch>
                        <a:fillRect/>
                      </a:stretch>
                    </p:blipFill>
                    <p:spPr bwMode="auto">
                      <a:xfrm>
                        <a:off x="2959629" y="3383713"/>
                        <a:ext cx="710045" cy="262659"/>
                      </a:xfrm>
                      <a:prstGeom prst="rect">
                        <a:avLst/>
                      </a:prstGeom>
                      <a:solidFill>
                        <a:srgbClr val="D4EAE4"/>
                      </a:solidFill>
                    </p:spPr>
                  </p:pic>
                </p:oleObj>
              </mc:Fallback>
            </mc:AlternateContent>
          </a:graphicData>
        </a:graphic>
      </p:graphicFrame>
      <p:sp>
        <p:nvSpPr>
          <p:cNvPr id="4" name="Content Placeholder 3">
            <a:extLst>
              <a:ext uri="{FF2B5EF4-FFF2-40B4-BE49-F238E27FC236}">
                <a16:creationId xmlns:a16="http://schemas.microsoft.com/office/drawing/2014/main" id="{0DD52A53-AA06-30A3-80A8-F6004494B0FE}"/>
              </a:ext>
            </a:extLst>
          </p:cNvPr>
          <p:cNvSpPr>
            <a:spLocks noGrp="1"/>
          </p:cNvSpPr>
          <p:nvPr>
            <p:ph sz="quarter" idx="13"/>
          </p:nvPr>
        </p:nvSpPr>
        <p:spPr>
          <a:xfrm>
            <a:off x="492102" y="4384286"/>
            <a:ext cx="8274976" cy="2252343"/>
          </a:xfrm>
        </p:spPr>
        <p:txBody>
          <a:bodyPr wrap="square" lIns="0" tIns="18000" rIns="0" bIns="18000" anchor="ctr">
            <a:spAutoFit/>
          </a:bodyPr>
          <a:lstStyle/>
          <a:p>
            <a:pPr marL="0" indent="0">
              <a:spcBef>
                <a:spcPts val="600"/>
              </a:spcBef>
              <a:buNone/>
            </a:pPr>
            <a:r>
              <a:rPr lang="en-US" altLang="en-US" sz="1800" dirty="0"/>
              <a:t>Because the incremental </a:t>
            </a:r>
            <a:r>
              <a:rPr lang="en-US" altLang="en-US" sz="1800" spc="-260" dirty="0"/>
              <a:t>I R </a:t>
            </a:r>
            <a:r>
              <a:rPr lang="en-US" altLang="en-US" sz="1800" dirty="0" err="1"/>
              <a:t>R</a:t>
            </a:r>
            <a:r>
              <a:rPr lang="en-US" altLang="en-US" sz="1800" dirty="0"/>
              <a:t> exceeds the 12% cost of capital, switching to the major overhaul looks attractive (i.e., its larger scale is sufficient to make up for its lower </a:t>
            </a:r>
            <a:r>
              <a:rPr lang="en-US" altLang="en-US" sz="1800" spc="-260" dirty="0"/>
              <a:t>I R </a:t>
            </a:r>
            <a:r>
              <a:rPr lang="en-US" altLang="en-US" sz="1800" dirty="0"/>
              <a:t>R). We can check this result using Figure 7.5, which shows the </a:t>
            </a:r>
            <a:r>
              <a:rPr lang="en-US" altLang="en-US" sz="1800" spc="-260" dirty="0"/>
              <a:t>N P </a:t>
            </a:r>
            <a:r>
              <a:rPr lang="en-US" altLang="en-US" sz="1800" dirty="0"/>
              <a:t>V profiles for each project. At the 12% cost of capital, the </a:t>
            </a:r>
            <a:r>
              <a:rPr lang="en-US" altLang="en-US" sz="1800" spc="-260" dirty="0"/>
              <a:t>N P </a:t>
            </a:r>
            <a:r>
              <a:rPr lang="en-US" altLang="en-US" sz="1800" dirty="0"/>
              <a:t>V of the major overhaul does indeed exceed that of the minor overhaul, despite its lower </a:t>
            </a:r>
            <a:r>
              <a:rPr lang="en-US" altLang="en-US" sz="1800" spc="-260" dirty="0"/>
              <a:t>I R </a:t>
            </a:r>
            <a:r>
              <a:rPr lang="en-US" altLang="en-US" sz="1800" dirty="0" err="1"/>
              <a:t>R</a:t>
            </a:r>
            <a:r>
              <a:rPr lang="en-US" altLang="en-US" sz="1800" dirty="0"/>
              <a:t>. Note also that the incremental </a:t>
            </a:r>
            <a:r>
              <a:rPr lang="en-US" altLang="en-US" sz="1800" spc="-260" dirty="0"/>
              <a:t>I R </a:t>
            </a:r>
            <a:r>
              <a:rPr lang="en-US" altLang="en-US" sz="1800" dirty="0" err="1"/>
              <a:t>R</a:t>
            </a:r>
            <a:r>
              <a:rPr lang="en-US" altLang="en-US" sz="1800" dirty="0"/>
              <a:t> determines the crossover point of the </a:t>
            </a:r>
            <a:r>
              <a:rPr lang="en-US" altLang="en-US" sz="1800" spc="-260" dirty="0"/>
              <a:t>N P </a:t>
            </a:r>
            <a:r>
              <a:rPr lang="en-US" altLang="en-US" sz="1800" dirty="0"/>
              <a:t>V profiles, the discount rate for which the best project choice switches from the major overhaul to minor one.</a:t>
            </a:r>
          </a:p>
        </p:txBody>
      </p:sp>
      <p:sp>
        <p:nvSpPr>
          <p:cNvPr id="5" name="ZoneTexte 4">
            <a:extLst>
              <a:ext uri="{FF2B5EF4-FFF2-40B4-BE49-F238E27FC236}">
                <a16:creationId xmlns:a16="http://schemas.microsoft.com/office/drawing/2014/main" id="{85D645C1-635D-74AA-0E0D-48ACAE9D5267}"/>
              </a:ext>
            </a:extLst>
          </p:cNvPr>
          <p:cNvSpPr txBox="1"/>
          <p:nvPr/>
        </p:nvSpPr>
        <p:spPr>
          <a:xfrm>
            <a:off x="437228" y="1725328"/>
            <a:ext cx="979755" cy="369332"/>
          </a:xfrm>
          <a:prstGeom prst="rect">
            <a:avLst/>
          </a:prstGeom>
          <a:noFill/>
        </p:spPr>
        <p:txBody>
          <a:bodyPr wrap="none" rtlCol="0">
            <a:spAutoFit/>
          </a:bodyPr>
          <a:lstStyle/>
          <a:p>
            <a:r>
              <a:rPr lang="fr-FR" sz="1800" b="1" dirty="0"/>
              <a:t>Table 8</a:t>
            </a:r>
          </a:p>
        </p:txBody>
      </p:sp>
    </p:spTree>
    <p:extLst>
      <p:ext uri="{BB962C8B-B14F-4D97-AF65-F5344CB8AC3E}">
        <p14:creationId xmlns:p14="http://schemas.microsoft.com/office/powerpoint/2010/main" val="329059499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38827" y="192910"/>
            <a:ext cx="8266346" cy="1082792"/>
          </a:xfrm>
        </p:spPr>
        <p:txBody>
          <a:bodyPr/>
          <a:lstStyle/>
          <a:p>
            <a:r>
              <a:rPr lang="en-US" sz="3400" dirty="0"/>
              <a:t>Figure 5 : Comparison of Minor and Major Overhauls</a:t>
            </a:r>
            <a:endParaRPr lang="en-US" sz="3400" noProof="0" dirty="0"/>
          </a:p>
        </p:txBody>
      </p:sp>
      <p:pic>
        <p:nvPicPr>
          <p:cNvPr id="6" name="Picture 5" descr="Two plots in a graph show the variation in the value of N P V for minor overhaul and major overhaul with discount rate.&#10;Long description is available in notes, press F6.">
            <a:extLst>
              <a:ext uri="{FF2B5EF4-FFF2-40B4-BE49-F238E27FC236}">
                <a16:creationId xmlns:a16="http://schemas.microsoft.com/office/drawing/2014/main" id="{11F74718-363A-41D7-B3FE-94583B9BEBA3}"/>
              </a:ext>
            </a:extLst>
          </p:cNvPr>
          <p:cNvPicPr>
            <a:picLocks noChangeAspect="1"/>
          </p:cNvPicPr>
          <p:nvPr/>
        </p:nvPicPr>
        <p:blipFill>
          <a:blip r:embed="rId3"/>
          <a:stretch>
            <a:fillRect/>
          </a:stretch>
        </p:blipFill>
        <p:spPr>
          <a:xfrm>
            <a:off x="1201556" y="1604571"/>
            <a:ext cx="6082054" cy="3938100"/>
          </a:xfrm>
          <a:prstGeom prst="rect">
            <a:avLst/>
          </a:prstGeom>
        </p:spPr>
      </p:pic>
      <p:sp>
        <p:nvSpPr>
          <p:cNvPr id="4" name="Content Placeholder 3">
            <a:extLst>
              <a:ext uri="{FF2B5EF4-FFF2-40B4-BE49-F238E27FC236}">
                <a16:creationId xmlns:a16="http://schemas.microsoft.com/office/drawing/2014/main" id="{0DD52A53-AA06-30A3-80A8-F6004494B0FE}"/>
              </a:ext>
            </a:extLst>
          </p:cNvPr>
          <p:cNvSpPr>
            <a:spLocks noGrp="1"/>
          </p:cNvSpPr>
          <p:nvPr>
            <p:ph sz="quarter" idx="13"/>
          </p:nvPr>
        </p:nvSpPr>
        <p:spPr>
          <a:xfrm>
            <a:off x="672260" y="5798846"/>
            <a:ext cx="7968295" cy="775015"/>
          </a:xfrm>
        </p:spPr>
        <p:txBody>
          <a:bodyPr wrap="square" lIns="0" tIns="18000" rIns="0" bIns="18000" anchor="ctr">
            <a:spAutoFit/>
          </a:bodyPr>
          <a:lstStyle/>
          <a:p>
            <a:pPr marL="0" indent="0">
              <a:buNone/>
            </a:pPr>
            <a:r>
              <a:rPr lang="en-US" dirty="0"/>
              <a:t>We can see that despite its lower </a:t>
            </a:r>
            <a:r>
              <a:rPr lang="en-US" spc="-200" dirty="0"/>
              <a:t>I R </a:t>
            </a:r>
            <a:r>
              <a:rPr lang="en-US" dirty="0"/>
              <a:t>R, the major overhaul has a higher </a:t>
            </a:r>
            <a:r>
              <a:rPr lang="en-US" spc="-200" dirty="0"/>
              <a:t>N P </a:t>
            </a:r>
            <a:r>
              <a:rPr lang="en-US" dirty="0"/>
              <a:t>V at the cost of capital of 12%. The incremental </a:t>
            </a:r>
            <a:r>
              <a:rPr lang="en-US" spc="-200" dirty="0"/>
              <a:t>I R </a:t>
            </a:r>
            <a:r>
              <a:rPr lang="en-US" dirty="0" err="1"/>
              <a:t>R</a:t>
            </a:r>
            <a:r>
              <a:rPr lang="en-US" dirty="0"/>
              <a:t> of 20% is the crossover point at which the optimal decision changes.</a:t>
            </a:r>
          </a:p>
        </p:txBody>
      </p:sp>
    </p:spTree>
    <p:extLst>
      <p:ext uri="{BB962C8B-B14F-4D97-AF65-F5344CB8AC3E}">
        <p14:creationId xmlns:p14="http://schemas.microsoft.com/office/powerpoint/2010/main" val="348726174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37228" y="221371"/>
            <a:ext cx="8266346" cy="590349"/>
          </a:xfrm>
        </p:spPr>
        <p:txBody>
          <a:bodyPr/>
          <a:lstStyle/>
          <a:p>
            <a:r>
              <a:rPr lang="en-US" dirty="0"/>
              <a:t>The Incremental </a:t>
            </a:r>
            <a:r>
              <a:rPr lang="en-US" spc="-500" dirty="0"/>
              <a:t>I R </a:t>
            </a:r>
            <a:r>
              <a:rPr lang="en-US" dirty="0" err="1"/>
              <a:t>R</a:t>
            </a:r>
            <a:r>
              <a:rPr lang="en-US" dirty="0"/>
              <a:t> Rule </a:t>
            </a:r>
            <a:r>
              <a:rPr lang="en-US" sz="2800" dirty="0"/>
              <a:t>(2 of 2)</a:t>
            </a:r>
            <a:endParaRPr lang="en-US" sz="2800" noProof="0" dirty="0"/>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40415" y="1364485"/>
            <a:ext cx="8166257" cy="3975892"/>
          </a:xfrm>
        </p:spPr>
        <p:txBody>
          <a:bodyPr wrap="square" lIns="0" tIns="18000" rIns="0" bIns="18000" anchor="ctr">
            <a:spAutoFit/>
          </a:bodyPr>
          <a:lstStyle/>
          <a:p>
            <a:pPr marL="342900" indent="-342900">
              <a:spcBef>
                <a:spcPts val="600"/>
              </a:spcBef>
              <a:spcAft>
                <a:spcPts val="600"/>
              </a:spcAft>
            </a:pPr>
            <a:r>
              <a:rPr lang="en-US" sz="2400" dirty="0"/>
              <a:t>Shortcomings of the Incremental </a:t>
            </a:r>
            <a:r>
              <a:rPr lang="en-US" sz="2400" spc="-300" dirty="0"/>
              <a:t>I R </a:t>
            </a:r>
            <a:r>
              <a:rPr lang="en-US" sz="2400" dirty="0" err="1"/>
              <a:t>R</a:t>
            </a:r>
            <a:r>
              <a:rPr lang="en-US" sz="2400" dirty="0"/>
              <a:t> Rule</a:t>
            </a:r>
          </a:p>
          <a:p>
            <a:pPr marL="829818" lvl="1" indent="-342900">
              <a:spcAft>
                <a:spcPts val="600"/>
              </a:spcAft>
            </a:pPr>
            <a:r>
              <a:rPr lang="en-US" sz="2400" dirty="0"/>
              <a:t>The incremental </a:t>
            </a:r>
            <a:r>
              <a:rPr lang="en-US" sz="2400" spc="-300" dirty="0"/>
              <a:t>I R </a:t>
            </a:r>
            <a:r>
              <a:rPr lang="en-US" sz="2400" dirty="0" err="1"/>
              <a:t>R</a:t>
            </a:r>
            <a:r>
              <a:rPr lang="en-US" sz="2400" dirty="0"/>
              <a:t> may not exist</a:t>
            </a:r>
          </a:p>
          <a:p>
            <a:pPr marL="829818" lvl="1" indent="-342900">
              <a:spcAft>
                <a:spcPts val="600"/>
              </a:spcAft>
            </a:pPr>
            <a:r>
              <a:rPr lang="en-US" sz="2400" dirty="0"/>
              <a:t>Multiple incremental </a:t>
            </a:r>
            <a:r>
              <a:rPr lang="en-US" sz="2400" spc="-300" dirty="0"/>
              <a:t>I R </a:t>
            </a:r>
            <a:r>
              <a:rPr lang="en-US" sz="2400" spc="-300" dirty="0" err="1"/>
              <a:t>R</a:t>
            </a:r>
            <a:r>
              <a:rPr lang="en-US" sz="2400" spc="-300" dirty="0"/>
              <a:t> </a:t>
            </a:r>
            <a:r>
              <a:rPr lang="en-US" sz="2400" dirty="0"/>
              <a:t>s could exist</a:t>
            </a:r>
          </a:p>
          <a:p>
            <a:pPr marL="829818" lvl="1" indent="-342900">
              <a:spcAft>
                <a:spcPts val="600"/>
              </a:spcAft>
            </a:pPr>
            <a:r>
              <a:rPr lang="en-US" sz="2400" dirty="0"/>
              <a:t>The fact that the </a:t>
            </a:r>
            <a:r>
              <a:rPr lang="en-US" sz="2400" spc="-300" dirty="0"/>
              <a:t>I R </a:t>
            </a:r>
            <a:r>
              <a:rPr lang="en-US" sz="2400" dirty="0" err="1"/>
              <a:t>R</a:t>
            </a:r>
            <a:r>
              <a:rPr lang="en-US" sz="2400" dirty="0"/>
              <a:t> exceeds the cost of capital for both projects does not imply that either project has a positive </a:t>
            </a:r>
            <a:r>
              <a:rPr lang="en-US" sz="2400" spc="-300" dirty="0"/>
              <a:t>N P </a:t>
            </a:r>
            <a:r>
              <a:rPr lang="en-US" sz="2400" dirty="0"/>
              <a:t>V</a:t>
            </a:r>
          </a:p>
          <a:p>
            <a:pPr marL="829818" lvl="1" indent="-342900">
              <a:spcAft>
                <a:spcPts val="600"/>
              </a:spcAft>
            </a:pPr>
            <a:r>
              <a:rPr lang="en-US" sz="2400" dirty="0"/>
              <a:t>When individual projects have different costs of capital, it is not obvious which cost of capital the incremental </a:t>
            </a:r>
            <a:r>
              <a:rPr lang="en-US" sz="2400" spc="-300" dirty="0"/>
              <a:t>I R </a:t>
            </a:r>
            <a:r>
              <a:rPr lang="en-US" sz="2400" dirty="0" err="1"/>
              <a:t>R</a:t>
            </a:r>
            <a:r>
              <a:rPr lang="en-US" sz="2400" dirty="0"/>
              <a:t> should be compared to</a:t>
            </a:r>
          </a:p>
        </p:txBody>
      </p:sp>
    </p:spTree>
    <p:extLst>
      <p:ext uri="{BB962C8B-B14F-4D97-AF65-F5344CB8AC3E}">
        <p14:creationId xmlns:p14="http://schemas.microsoft.com/office/powerpoint/2010/main" val="51598297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17749"/>
            <a:ext cx="8266346" cy="1144347"/>
          </a:xfrm>
        </p:spPr>
        <p:txBody>
          <a:bodyPr/>
          <a:lstStyle/>
          <a:p>
            <a:r>
              <a:rPr lang="en-US" dirty="0"/>
              <a:t>5. Project Selection with Resource Constraints</a:t>
            </a:r>
            <a:endParaRPr lang="en-US" sz="2800" noProof="0" dirty="0"/>
          </a:p>
        </p:txBody>
      </p:sp>
      <p:sp>
        <p:nvSpPr>
          <p:cNvPr id="4" name="Content Placeholder 3">
            <a:extLst>
              <a:ext uri="{FF2B5EF4-FFF2-40B4-BE49-F238E27FC236}">
                <a16:creationId xmlns:a16="http://schemas.microsoft.com/office/drawing/2014/main" id="{0DD52A53-AA06-30A3-80A8-F6004494B0FE}"/>
              </a:ext>
            </a:extLst>
          </p:cNvPr>
          <p:cNvSpPr>
            <a:spLocks noGrp="1"/>
          </p:cNvSpPr>
          <p:nvPr>
            <p:ph sz="quarter" idx="13"/>
          </p:nvPr>
        </p:nvSpPr>
        <p:spPr>
          <a:xfrm>
            <a:off x="445855" y="1668850"/>
            <a:ext cx="8257718" cy="1221291"/>
          </a:xfrm>
        </p:spPr>
        <p:txBody>
          <a:bodyPr wrap="square" lIns="0" tIns="18000" rIns="0" bIns="18000" anchor="ctr">
            <a:spAutoFit/>
          </a:bodyPr>
          <a:lstStyle/>
          <a:p>
            <a:pPr marL="342900" indent="-342900">
              <a:spcBef>
                <a:spcPts val="600"/>
              </a:spcBef>
            </a:pPr>
            <a:r>
              <a:rPr lang="en-US" sz="2400" dirty="0"/>
              <a:t>Evaluation of Projects with Different Resource Constraints</a:t>
            </a:r>
          </a:p>
          <a:p>
            <a:pPr marL="829818" lvl="1" indent="-342900"/>
            <a:r>
              <a:rPr lang="en-US" sz="2400" dirty="0"/>
              <a:t>Consider three possible projects with a $100 million budget constraint:</a:t>
            </a:r>
          </a:p>
        </p:txBody>
      </p:sp>
      <p:sp>
        <p:nvSpPr>
          <p:cNvPr id="5" name="Content Placeholder 4">
            <a:extLst>
              <a:ext uri="{FF2B5EF4-FFF2-40B4-BE49-F238E27FC236}">
                <a16:creationId xmlns:a16="http://schemas.microsoft.com/office/drawing/2014/main" id="{B030C7B8-0389-DAFE-D0DE-7BB944A22220}"/>
              </a:ext>
            </a:extLst>
          </p:cNvPr>
          <p:cNvSpPr>
            <a:spLocks noGrp="1"/>
          </p:cNvSpPr>
          <p:nvPr>
            <p:ph sz="quarter" idx="14"/>
          </p:nvPr>
        </p:nvSpPr>
        <p:spPr>
          <a:xfrm>
            <a:off x="612859" y="3429000"/>
            <a:ext cx="8280400" cy="313350"/>
          </a:xfrm>
        </p:spPr>
        <p:txBody>
          <a:bodyPr wrap="square" lIns="0" tIns="18000" rIns="0" bIns="18000" anchor="ctr">
            <a:spAutoFit/>
          </a:bodyPr>
          <a:lstStyle/>
          <a:p>
            <a:pPr marL="0" indent="0">
              <a:buNone/>
            </a:pPr>
            <a:r>
              <a:rPr lang="en-US" sz="1800" b="1" dirty="0"/>
              <a:t>Table 9 : </a:t>
            </a:r>
            <a:r>
              <a:rPr lang="en-US" sz="1800" dirty="0"/>
              <a:t>Possible Projects for a $100 Million Budget</a:t>
            </a:r>
          </a:p>
        </p:txBody>
      </p:sp>
      <p:graphicFrame>
        <p:nvGraphicFramePr>
          <p:cNvPr id="18" name="Table 11">
            <a:extLst>
              <a:ext uri="{FF2B5EF4-FFF2-40B4-BE49-F238E27FC236}">
                <a16:creationId xmlns:a16="http://schemas.microsoft.com/office/drawing/2014/main" id="{D4059FBF-D47B-446C-80B1-986AE7A7CCB7}"/>
              </a:ext>
              <a:ext uri="{C183D7F6-B498-43B3-948B-1728B52AA6E4}">
                <adec:decorative xmlns:adec="http://schemas.microsoft.com/office/drawing/2017/decorative" val="1"/>
              </a:ext>
            </a:extLst>
          </p:cNvPr>
          <p:cNvGraphicFramePr>
            <a:graphicFrameLocks noGrp="1"/>
          </p:cNvGraphicFramePr>
          <p:nvPr>
            <p:extLst>
              <p:ext uri="{D42A27DB-BD31-4B8C-83A1-F6EECF244321}">
                <p14:modId xmlns:p14="http://schemas.microsoft.com/office/powerpoint/2010/main" val="1972604301"/>
              </p:ext>
            </p:extLst>
          </p:nvPr>
        </p:nvGraphicFramePr>
        <p:xfrm>
          <a:off x="612859" y="4040282"/>
          <a:ext cx="7834322" cy="2194560"/>
        </p:xfrm>
        <a:graphic>
          <a:graphicData uri="http://schemas.openxmlformats.org/drawingml/2006/table">
            <a:tbl>
              <a:tblPr firstRow="1" bandRow="1">
                <a:tableStyleId>{40F9630F-82C1-40B7-BC3A-925EFCFF5E92}</a:tableStyleId>
              </a:tblPr>
              <a:tblGrid>
                <a:gridCol w="1920549">
                  <a:extLst>
                    <a:ext uri="{9D8B030D-6E8A-4147-A177-3AD203B41FA5}">
                      <a16:colId xmlns:a16="http://schemas.microsoft.com/office/drawing/2014/main" val="467200679"/>
                    </a:ext>
                  </a:extLst>
                </a:gridCol>
                <a:gridCol w="1916044">
                  <a:extLst>
                    <a:ext uri="{9D8B030D-6E8A-4147-A177-3AD203B41FA5}">
                      <a16:colId xmlns:a16="http://schemas.microsoft.com/office/drawing/2014/main" val="3156988431"/>
                    </a:ext>
                  </a:extLst>
                </a:gridCol>
                <a:gridCol w="1993253">
                  <a:extLst>
                    <a:ext uri="{9D8B030D-6E8A-4147-A177-3AD203B41FA5}">
                      <a16:colId xmlns:a16="http://schemas.microsoft.com/office/drawing/2014/main" val="2535743945"/>
                    </a:ext>
                  </a:extLst>
                </a:gridCol>
                <a:gridCol w="2004476">
                  <a:extLst>
                    <a:ext uri="{9D8B030D-6E8A-4147-A177-3AD203B41FA5}">
                      <a16:colId xmlns:a16="http://schemas.microsoft.com/office/drawing/2014/main" val="2120472885"/>
                    </a:ext>
                  </a:extLst>
                </a:gridCol>
              </a:tblGrid>
              <a:tr h="319951">
                <a:tc>
                  <a:txBody>
                    <a:bodyPr/>
                    <a:lstStyle/>
                    <a:p>
                      <a:pPr algn="ctr"/>
                      <a:r>
                        <a:rPr lang="en-US" sz="2000" noProof="0">
                          <a:solidFill>
                            <a:schemeClr val="bg1"/>
                          </a:solidFill>
                          <a:latin typeface="Arial" panose="020B0604020202020204" pitchFamily="34" charset="0"/>
                          <a:cs typeface="Arial" panose="020B0604020202020204" pitchFamily="34" charset="0"/>
                        </a:rPr>
                        <a:t>Project</a:t>
                      </a:r>
                    </a:p>
                  </a:txBody>
                  <a:tcPr marL="159364" marR="159364" marT="45428" marB="4542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2000" b="1" spc="-200" baseline="0" noProof="0">
                          <a:solidFill>
                            <a:schemeClr val="bg1"/>
                          </a:solidFill>
                          <a:latin typeface="Arial" panose="020B0604020202020204" pitchFamily="34" charset="0"/>
                          <a:cs typeface="Arial" panose="020B0604020202020204" pitchFamily="34" charset="0"/>
                        </a:rPr>
                        <a:t>N P V (</a:t>
                      </a:r>
                      <a:r>
                        <a:rPr lang="en-US" sz="2000" b="1" spc="0" baseline="0" noProof="0">
                          <a:solidFill>
                            <a:schemeClr val="bg1"/>
                          </a:solidFill>
                          <a:latin typeface="Arial" panose="020B0604020202020204" pitchFamily="34" charset="0"/>
                          <a:cs typeface="Arial" panose="020B0604020202020204" pitchFamily="34" charset="0"/>
                        </a:rPr>
                        <a:t>$ millions)</a:t>
                      </a:r>
                    </a:p>
                  </a:txBody>
                  <a:tcPr marL="160389" marR="1603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2000" b="1" spc="0" baseline="0" noProof="0">
                          <a:solidFill>
                            <a:schemeClr val="bg1"/>
                          </a:solidFill>
                          <a:latin typeface="Arial" panose="020B0604020202020204" pitchFamily="34" charset="0"/>
                          <a:cs typeface="Arial" panose="020B0604020202020204" pitchFamily="34" charset="0"/>
                        </a:rPr>
                        <a:t>Initial Investment ($ millions)</a:t>
                      </a:r>
                    </a:p>
                  </a:txBody>
                  <a:tcPr marL="160389" marR="1603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spc="0" baseline="0" noProof="0">
                          <a:solidFill>
                            <a:schemeClr val="bg1"/>
                          </a:solidFill>
                          <a:latin typeface="Arial" panose="020B0604020202020204" pitchFamily="34" charset="0"/>
                          <a:cs typeface="Arial" panose="020B0604020202020204" pitchFamily="34" charset="0"/>
                        </a:rPr>
                        <a:t>Profitability Index </a:t>
                      </a:r>
                      <a:r>
                        <a:rPr lang="en-US" sz="2000" b="1" spc="-200" baseline="0" noProof="0">
                          <a:solidFill>
                            <a:schemeClr val="bg1"/>
                          </a:solidFill>
                          <a:latin typeface="Arial" panose="020B0604020202020204" pitchFamily="34" charset="0"/>
                          <a:cs typeface="Arial" panose="020B0604020202020204" pitchFamily="34" charset="0"/>
                        </a:rPr>
                        <a:t>N P </a:t>
                      </a:r>
                      <a:r>
                        <a:rPr lang="en-US" sz="2000" b="1" spc="0" baseline="0" noProof="0">
                          <a:solidFill>
                            <a:schemeClr val="bg1"/>
                          </a:solidFill>
                          <a:latin typeface="Arial" panose="020B0604020202020204" pitchFamily="34" charset="0"/>
                          <a:cs typeface="Arial" panose="020B0604020202020204" pitchFamily="34" charset="0"/>
                        </a:rPr>
                        <a:t>V/ Investment</a:t>
                      </a:r>
                    </a:p>
                  </a:txBody>
                  <a:tcPr marL="160389" marR="1603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extLst>
                  <a:ext uri="{0D108BD9-81ED-4DB2-BD59-A6C34878D82A}">
                    <a16:rowId xmlns:a16="http://schemas.microsoft.com/office/drawing/2014/main" val="400099166"/>
                  </a:ext>
                </a:extLst>
              </a:tr>
              <a:tr h="386499">
                <a:tc>
                  <a:txBody>
                    <a:bodyPr/>
                    <a:lstStyle/>
                    <a:p>
                      <a:pPr algn="ctr"/>
                      <a:r>
                        <a:rPr lang="en-US" sz="100" b="1" noProof="0" dirty="0">
                          <a:latin typeface="Arial" panose="020B0604020202020204" pitchFamily="34" charset="0"/>
                          <a:cs typeface="Arial" panose="020B0604020202020204" pitchFamily="34" charset="0"/>
                        </a:rPr>
                        <a:t>One.</a:t>
                      </a:r>
                    </a:p>
                  </a:txBody>
                  <a:tcPr marL="159364" marR="159364" marT="45428" marB="4542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2000" noProof="0">
                          <a:latin typeface="Arial" panose="020B0604020202020204" pitchFamily="34" charset="0"/>
                          <a:cs typeface="Arial" panose="020B0604020202020204" pitchFamily="34" charset="0"/>
                        </a:rPr>
                        <a:t>110</a:t>
                      </a:r>
                    </a:p>
                  </a:txBody>
                  <a:tcPr marL="160389" marR="1603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2000" noProof="0">
                          <a:solidFill>
                            <a:schemeClr val="tx1"/>
                          </a:solidFill>
                          <a:latin typeface="Arial" panose="020B0604020202020204" pitchFamily="34" charset="0"/>
                          <a:cs typeface="Arial" panose="020B0604020202020204" pitchFamily="34" charset="0"/>
                        </a:rPr>
                        <a:t>100</a:t>
                      </a:r>
                    </a:p>
                  </a:txBody>
                  <a:tcPr marL="160389" marR="1603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2000" baseline="0" noProof="0">
                          <a:latin typeface="Arial" panose="020B0604020202020204" pitchFamily="34" charset="0"/>
                          <a:cs typeface="Arial" panose="020B0604020202020204" pitchFamily="34" charset="0"/>
                        </a:rPr>
                        <a:t>1.1</a:t>
                      </a:r>
                    </a:p>
                  </a:txBody>
                  <a:tcPr marL="160389" marR="1603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436264602"/>
                  </a:ext>
                </a:extLst>
              </a:tr>
              <a:tr h="33779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 b="1" noProof="0" dirty="0">
                          <a:latin typeface="Arial" panose="020B0604020202020204" pitchFamily="34" charset="0"/>
                          <a:cs typeface="Arial" panose="020B0604020202020204" pitchFamily="34" charset="0"/>
                        </a:rPr>
                        <a:t>Two.</a:t>
                      </a:r>
                    </a:p>
                  </a:txBody>
                  <a:tcPr marL="159364" marR="159364" marT="45428" marB="4542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2000" noProof="0">
                          <a:solidFill>
                            <a:schemeClr val="tx1"/>
                          </a:solidFill>
                          <a:latin typeface="Arial" panose="020B0604020202020204" pitchFamily="34" charset="0"/>
                          <a:cs typeface="Arial" panose="020B0604020202020204" pitchFamily="34" charset="0"/>
                        </a:rPr>
                        <a:t>70</a:t>
                      </a:r>
                    </a:p>
                  </a:txBody>
                  <a:tcPr marL="160389" marR="1603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2000" b="0" noProof="0">
                          <a:latin typeface="Arial" panose="020B0604020202020204" pitchFamily="34" charset="0"/>
                          <a:cs typeface="Arial" panose="020B0604020202020204" pitchFamily="34" charset="0"/>
                        </a:rPr>
                        <a:t>50</a:t>
                      </a:r>
                    </a:p>
                  </a:txBody>
                  <a:tcPr marL="160389" marR="1603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2000" baseline="0" noProof="0">
                          <a:latin typeface="Arial" panose="020B0604020202020204" pitchFamily="34" charset="0"/>
                          <a:cs typeface="Arial" panose="020B0604020202020204" pitchFamily="34" charset="0"/>
                        </a:rPr>
                        <a:t>1.4</a:t>
                      </a:r>
                    </a:p>
                  </a:txBody>
                  <a:tcPr marL="160389" marR="1603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371393853"/>
                  </a:ext>
                </a:extLst>
              </a:tr>
              <a:tr h="33779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 b="1" noProof="0" dirty="0">
                          <a:latin typeface="Arial" panose="020B0604020202020204" pitchFamily="34" charset="0"/>
                          <a:cs typeface="Arial" panose="020B0604020202020204" pitchFamily="34" charset="0"/>
                        </a:rPr>
                        <a:t>Three.</a:t>
                      </a:r>
                    </a:p>
                  </a:txBody>
                  <a:tcPr marL="159364" marR="159364" marT="45428" marB="4542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2000" noProof="0" dirty="0">
                          <a:solidFill>
                            <a:schemeClr val="tx1"/>
                          </a:solidFill>
                          <a:latin typeface="Arial" panose="020B0604020202020204" pitchFamily="34" charset="0"/>
                          <a:cs typeface="Arial" panose="020B0604020202020204" pitchFamily="34" charset="0"/>
                        </a:rPr>
                        <a:t>60</a:t>
                      </a:r>
                    </a:p>
                  </a:txBody>
                  <a:tcPr marL="160389" marR="1603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2000" b="0" noProof="0">
                          <a:latin typeface="Arial" panose="020B0604020202020204" pitchFamily="34" charset="0"/>
                          <a:cs typeface="Arial" panose="020B0604020202020204" pitchFamily="34" charset="0"/>
                        </a:rPr>
                        <a:t>50</a:t>
                      </a:r>
                    </a:p>
                  </a:txBody>
                  <a:tcPr marL="160389" marR="1603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2000" baseline="0" noProof="0" dirty="0">
                          <a:latin typeface="Arial" panose="020B0604020202020204" pitchFamily="34" charset="0"/>
                          <a:cs typeface="Arial" panose="020B0604020202020204" pitchFamily="34" charset="0"/>
                        </a:rPr>
                        <a:t>1.2</a:t>
                      </a:r>
                    </a:p>
                  </a:txBody>
                  <a:tcPr marL="160389" marR="1603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71870355"/>
                  </a:ext>
                </a:extLst>
              </a:tr>
            </a:tbl>
          </a:graphicData>
        </a:graphic>
      </p:graphicFrame>
      <p:graphicFrame>
        <p:nvGraphicFramePr>
          <p:cNvPr id="14" name="Object 1">
            <a:extLst>
              <a:ext uri="{FF2B5EF4-FFF2-40B4-BE49-F238E27FC236}">
                <a16:creationId xmlns:a16="http://schemas.microsoft.com/office/drawing/2014/main" id="{EEBA01B5-C62E-4DCF-8C4B-89A8E065813A}"/>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152444121"/>
              </p:ext>
            </p:extLst>
          </p:nvPr>
        </p:nvGraphicFramePr>
        <p:xfrm>
          <a:off x="1505409" y="5122945"/>
          <a:ext cx="122936" cy="267001"/>
        </p:xfrm>
        <a:graphic>
          <a:graphicData uri="http://schemas.openxmlformats.org/presentationml/2006/ole">
            <mc:AlternateContent xmlns:mc="http://schemas.openxmlformats.org/markup-compatibility/2006">
              <mc:Choice xmlns:v="urn:schemas-microsoft-com:vml" Requires="v">
                <p:oleObj name="Equation" r:id="rId2" imgW="75960" imgH="164880" progId="Equation.DSMT4">
                  <p:embed/>
                </p:oleObj>
              </mc:Choice>
              <mc:Fallback>
                <p:oleObj name="Equation" r:id="rId2" imgW="75960" imgH="164880" progId="Equation.DSMT4">
                  <p:embed/>
                  <p:pic>
                    <p:nvPicPr>
                      <p:cNvPr id="12" name="Object 1">
                        <a:extLst>
                          <a:ext uri="{FF2B5EF4-FFF2-40B4-BE49-F238E27FC236}">
                            <a16:creationId xmlns:a16="http://schemas.microsoft.com/office/drawing/2014/main" id="{CF694EC3-B6CF-4376-98B8-445CF45A2B2D}"/>
                          </a:ext>
                        </a:extLst>
                      </p:cNvPr>
                      <p:cNvPicPr>
                        <a:picLocks noChangeAspect="1" noChangeArrowheads="1"/>
                      </p:cNvPicPr>
                      <p:nvPr/>
                    </p:nvPicPr>
                    <p:blipFill>
                      <a:blip r:embed="rId3"/>
                      <a:srcRect/>
                      <a:stretch>
                        <a:fillRect/>
                      </a:stretch>
                    </p:blipFill>
                    <p:spPr bwMode="auto">
                      <a:xfrm>
                        <a:off x="1505409" y="5122945"/>
                        <a:ext cx="122936" cy="267001"/>
                      </a:xfrm>
                      <a:prstGeom prst="rect">
                        <a:avLst/>
                      </a:prstGeom>
                      <a:solidFill>
                        <a:srgbClr val="D4EAE4"/>
                      </a:solidFill>
                    </p:spPr>
                  </p:pic>
                </p:oleObj>
              </mc:Fallback>
            </mc:AlternateContent>
          </a:graphicData>
        </a:graphic>
      </p:graphicFrame>
      <p:graphicFrame>
        <p:nvGraphicFramePr>
          <p:cNvPr id="15" name="Object 1">
            <a:extLst>
              <a:ext uri="{FF2B5EF4-FFF2-40B4-BE49-F238E27FC236}">
                <a16:creationId xmlns:a16="http://schemas.microsoft.com/office/drawing/2014/main" id="{0A89111B-10A7-4FB5-882B-5858953E8169}"/>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271787469"/>
              </p:ext>
            </p:extLst>
          </p:nvPr>
        </p:nvGraphicFramePr>
        <p:xfrm>
          <a:off x="1467336" y="5479481"/>
          <a:ext cx="202844" cy="293702"/>
        </p:xfrm>
        <a:graphic>
          <a:graphicData uri="http://schemas.openxmlformats.org/presentationml/2006/ole">
            <mc:AlternateContent xmlns:mc="http://schemas.openxmlformats.org/markup-compatibility/2006">
              <mc:Choice xmlns:v="urn:schemas-microsoft-com:vml" Requires="v">
                <p:oleObj name="Equation" r:id="rId4" imgW="114120" imgH="164880" progId="Equation.DSMT4">
                  <p:embed/>
                </p:oleObj>
              </mc:Choice>
              <mc:Fallback>
                <p:oleObj name="Equation" r:id="rId4" imgW="114120" imgH="164880" progId="Equation.DSMT4">
                  <p:embed/>
                  <p:pic>
                    <p:nvPicPr>
                      <p:cNvPr id="14" name="Object 1">
                        <a:extLst>
                          <a:ext uri="{FF2B5EF4-FFF2-40B4-BE49-F238E27FC236}">
                            <a16:creationId xmlns:a16="http://schemas.microsoft.com/office/drawing/2014/main" id="{EEBA01B5-C62E-4DCF-8C4B-89A8E065813A}"/>
                          </a:ext>
                        </a:extLst>
                      </p:cNvPr>
                      <p:cNvPicPr>
                        <a:picLocks noChangeAspect="1" noChangeArrowheads="1"/>
                      </p:cNvPicPr>
                      <p:nvPr/>
                    </p:nvPicPr>
                    <p:blipFill>
                      <a:blip r:embed="rId5"/>
                      <a:srcRect/>
                      <a:stretch>
                        <a:fillRect/>
                      </a:stretch>
                    </p:blipFill>
                    <p:spPr bwMode="auto">
                      <a:xfrm>
                        <a:off x="1467336" y="5479481"/>
                        <a:ext cx="202844" cy="293702"/>
                      </a:xfrm>
                      <a:prstGeom prst="rect">
                        <a:avLst/>
                      </a:prstGeom>
                      <a:solidFill>
                        <a:srgbClr val="D4EAE4"/>
                      </a:solidFill>
                    </p:spPr>
                  </p:pic>
                </p:oleObj>
              </mc:Fallback>
            </mc:AlternateContent>
          </a:graphicData>
        </a:graphic>
      </p:graphicFrame>
      <p:graphicFrame>
        <p:nvGraphicFramePr>
          <p:cNvPr id="16" name="Object 1">
            <a:extLst>
              <a:ext uri="{FF2B5EF4-FFF2-40B4-BE49-F238E27FC236}">
                <a16:creationId xmlns:a16="http://schemas.microsoft.com/office/drawing/2014/main" id="{FBF3B6C9-1D10-4311-8B18-13A3BF36CFFA}"/>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738901047"/>
              </p:ext>
            </p:extLst>
          </p:nvPr>
        </p:nvGraphicFramePr>
        <p:xfrm>
          <a:off x="1432233" y="5925576"/>
          <a:ext cx="271463" cy="293688"/>
        </p:xfrm>
        <a:graphic>
          <a:graphicData uri="http://schemas.openxmlformats.org/presentationml/2006/ole">
            <mc:AlternateContent xmlns:mc="http://schemas.openxmlformats.org/markup-compatibility/2006">
              <mc:Choice xmlns:v="urn:schemas-microsoft-com:vml" Requires="v">
                <p:oleObj name="Equation" r:id="rId6" imgW="152280" imgH="164880" progId="Equation.DSMT4">
                  <p:embed/>
                </p:oleObj>
              </mc:Choice>
              <mc:Fallback>
                <p:oleObj name="Equation" r:id="rId6" imgW="152280" imgH="164880" progId="Equation.DSMT4">
                  <p:embed/>
                  <p:pic>
                    <p:nvPicPr>
                      <p:cNvPr id="15" name="Object 1">
                        <a:extLst>
                          <a:ext uri="{FF2B5EF4-FFF2-40B4-BE49-F238E27FC236}">
                            <a16:creationId xmlns:a16="http://schemas.microsoft.com/office/drawing/2014/main" id="{0A89111B-10A7-4FB5-882B-5858953E8169}"/>
                          </a:ext>
                        </a:extLst>
                      </p:cNvPr>
                      <p:cNvPicPr>
                        <a:picLocks noChangeAspect="1" noChangeArrowheads="1"/>
                      </p:cNvPicPr>
                      <p:nvPr/>
                    </p:nvPicPr>
                    <p:blipFill>
                      <a:blip r:embed="rId7"/>
                      <a:srcRect/>
                      <a:stretch>
                        <a:fillRect/>
                      </a:stretch>
                    </p:blipFill>
                    <p:spPr bwMode="auto">
                      <a:xfrm>
                        <a:off x="1432233" y="5925576"/>
                        <a:ext cx="271463" cy="293688"/>
                      </a:xfrm>
                      <a:prstGeom prst="rect">
                        <a:avLst/>
                      </a:prstGeom>
                      <a:solidFill>
                        <a:srgbClr val="D4EAE4"/>
                      </a:solidFill>
                    </p:spPr>
                  </p:pic>
                </p:oleObj>
              </mc:Fallback>
            </mc:AlternateContent>
          </a:graphicData>
        </a:graphic>
      </p:graphicFrame>
    </p:spTree>
    <p:extLst>
      <p:ext uri="{BB962C8B-B14F-4D97-AF65-F5344CB8AC3E}">
        <p14:creationId xmlns:p14="http://schemas.microsoft.com/office/powerpoint/2010/main" val="41176770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21371"/>
            <a:ext cx="8266346" cy="590349"/>
          </a:xfrm>
        </p:spPr>
        <p:txBody>
          <a:bodyPr/>
          <a:lstStyle/>
          <a:p>
            <a:r>
              <a:rPr lang="en-US" dirty="0"/>
              <a:t>Profitability Index</a:t>
            </a:r>
            <a:endParaRPr lang="en-US" sz="2800" noProof="0" dirty="0"/>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37228" y="1521193"/>
            <a:ext cx="8266346" cy="775015"/>
          </a:xfrm>
        </p:spPr>
        <p:txBody>
          <a:bodyPr wrap="square" lIns="0" tIns="18000" rIns="0" bIns="18000" anchor="ctr">
            <a:spAutoFit/>
          </a:bodyPr>
          <a:lstStyle/>
          <a:p>
            <a:pPr marL="342900" indent="-342900"/>
            <a:r>
              <a:rPr lang="en-US" altLang="en-US" sz="2400" dirty="0"/>
              <a:t>The </a:t>
            </a:r>
            <a:r>
              <a:rPr lang="en-US" altLang="en-US" sz="2400" b="1" dirty="0"/>
              <a:t>profitability index </a:t>
            </a:r>
            <a:r>
              <a:rPr lang="en-US" altLang="en-US" sz="2400" dirty="0"/>
              <a:t>can be used to identify the optimal combination of projects to undertake</a:t>
            </a:r>
          </a:p>
        </p:txBody>
      </p:sp>
      <p:graphicFrame>
        <p:nvGraphicFramePr>
          <p:cNvPr id="10" name="Object 1" descr="Profitability index equals start fraction value created over resource consumed end fraction equals start fraction N P V over resource consumed end fraction.">
            <a:extLst>
              <a:ext uri="{FF2B5EF4-FFF2-40B4-BE49-F238E27FC236}">
                <a16:creationId xmlns:a16="http://schemas.microsoft.com/office/drawing/2014/main" id="{A168D6A3-5371-46B2-813D-EB3D5ACBAD4F}"/>
              </a:ext>
            </a:extLst>
          </p:cNvPr>
          <p:cNvGraphicFramePr>
            <a:graphicFrameLocks noChangeAspect="1"/>
          </p:cNvGraphicFramePr>
          <p:nvPr>
            <p:extLst>
              <p:ext uri="{D42A27DB-BD31-4B8C-83A1-F6EECF244321}">
                <p14:modId xmlns:p14="http://schemas.microsoft.com/office/powerpoint/2010/main" val="3043116810"/>
              </p:ext>
            </p:extLst>
          </p:nvPr>
        </p:nvGraphicFramePr>
        <p:xfrm>
          <a:off x="804270" y="2536676"/>
          <a:ext cx="7439603" cy="682625"/>
        </p:xfrm>
        <a:graphic>
          <a:graphicData uri="http://schemas.openxmlformats.org/presentationml/2006/ole">
            <mc:AlternateContent xmlns:mc="http://schemas.openxmlformats.org/markup-compatibility/2006">
              <mc:Choice xmlns:v="urn:schemas-microsoft-com:vml" Requires="v">
                <p:oleObj name="Equation" r:id="rId2" imgW="4495680" imgH="393480" progId="Equation.DSMT4">
                  <p:embed/>
                </p:oleObj>
              </mc:Choice>
              <mc:Fallback>
                <p:oleObj name="Equation" r:id="rId2" imgW="4495680" imgH="393480" progId="Equation.DSMT4">
                  <p:embed/>
                  <p:pic>
                    <p:nvPicPr>
                      <p:cNvPr id="4" name="Object 1" descr="Profitability Index = start fraction Value Created over Resource Consumed end fraction = start fraction N P V over Resource Consumed end fraction."/>
                      <p:cNvPicPr>
                        <a:picLocks noChangeAspect="1" noChangeArrowheads="1"/>
                      </p:cNvPicPr>
                      <p:nvPr/>
                    </p:nvPicPr>
                    <p:blipFill>
                      <a:blip r:embed="rId3"/>
                      <a:srcRect/>
                      <a:stretch>
                        <a:fillRect/>
                      </a:stretch>
                    </p:blipFill>
                    <p:spPr bwMode="auto">
                      <a:xfrm>
                        <a:off x="804270" y="2536676"/>
                        <a:ext cx="7439603" cy="682625"/>
                      </a:xfrm>
                      <a:prstGeom prst="rect">
                        <a:avLst/>
                      </a:prstGeom>
                      <a:noFill/>
                      <a:ln>
                        <a:noFill/>
                      </a:ln>
                    </p:spPr>
                  </p:pic>
                </p:oleObj>
              </mc:Fallback>
            </mc:AlternateContent>
          </a:graphicData>
        </a:graphic>
      </p:graphicFrame>
      <p:sp>
        <p:nvSpPr>
          <p:cNvPr id="4" name="Content Placeholder 3">
            <a:extLst>
              <a:ext uri="{FF2B5EF4-FFF2-40B4-BE49-F238E27FC236}">
                <a16:creationId xmlns:a16="http://schemas.microsoft.com/office/drawing/2014/main" id="{0DD52A53-AA06-30A3-80A8-F6004494B0FE}"/>
              </a:ext>
            </a:extLst>
          </p:cNvPr>
          <p:cNvSpPr>
            <a:spLocks noGrp="1"/>
          </p:cNvSpPr>
          <p:nvPr>
            <p:ph sz="quarter" idx="13"/>
          </p:nvPr>
        </p:nvSpPr>
        <p:spPr>
          <a:xfrm>
            <a:off x="431800" y="3495402"/>
            <a:ext cx="8280400" cy="405683"/>
          </a:xfrm>
        </p:spPr>
        <p:txBody>
          <a:bodyPr wrap="square" lIns="0" tIns="18000" rIns="0" bIns="18000" anchor="ctr">
            <a:spAutoFit/>
          </a:bodyPr>
          <a:lstStyle/>
          <a:p>
            <a:pPr marL="829818" lvl="1" indent="-342900"/>
            <a:r>
              <a:rPr lang="en-US" altLang="en-US" sz="2400" dirty="0"/>
              <a:t>From Table 9, we can see it is better to take projects </a:t>
            </a:r>
            <a:endParaRPr lang="en-US" sz="2400" noProof="0" dirty="0"/>
          </a:p>
        </p:txBody>
      </p:sp>
      <p:graphicFrame>
        <p:nvGraphicFramePr>
          <p:cNvPr id="27" name="Object 26" descr="Two.">
            <a:extLst>
              <a:ext uri="{FF2B5EF4-FFF2-40B4-BE49-F238E27FC236}">
                <a16:creationId xmlns:a16="http://schemas.microsoft.com/office/drawing/2014/main" id="{AEE63702-DAE9-4140-AF5A-1907E2129047}"/>
              </a:ext>
            </a:extLst>
          </p:cNvPr>
          <p:cNvGraphicFramePr>
            <a:graphicFrameLocks noChangeAspect="1"/>
          </p:cNvGraphicFramePr>
          <p:nvPr>
            <p:extLst>
              <p:ext uri="{D42A27DB-BD31-4B8C-83A1-F6EECF244321}">
                <p14:modId xmlns:p14="http://schemas.microsoft.com/office/powerpoint/2010/main" val="1383862707"/>
              </p:ext>
            </p:extLst>
          </p:nvPr>
        </p:nvGraphicFramePr>
        <p:xfrm>
          <a:off x="1257169" y="4040020"/>
          <a:ext cx="221774" cy="319564"/>
        </p:xfrm>
        <a:graphic>
          <a:graphicData uri="http://schemas.openxmlformats.org/presentationml/2006/ole">
            <mc:AlternateContent xmlns:mc="http://schemas.openxmlformats.org/markup-compatibility/2006">
              <mc:Choice xmlns:v="urn:schemas-microsoft-com:vml" Requires="v">
                <p:oleObj name="Equation" r:id="rId4" imgW="114120" imgH="164880" progId="Equation.DSMT4">
                  <p:embed/>
                </p:oleObj>
              </mc:Choice>
              <mc:Fallback>
                <p:oleObj name="Equation" r:id="rId4" imgW="114120" imgH="164880" progId="Equation.DSMT4">
                  <p:embed/>
                  <p:pic>
                    <p:nvPicPr>
                      <p:cNvPr id="27" name="Object 26">
                        <a:extLst>
                          <a:ext uri="{FF2B5EF4-FFF2-40B4-BE49-F238E27FC236}">
                            <a16:creationId xmlns:a16="http://schemas.microsoft.com/office/drawing/2014/main" id="{AEE63702-DAE9-4140-AF5A-1907E2129047}"/>
                          </a:ext>
                        </a:extLst>
                      </p:cNvPr>
                      <p:cNvPicPr/>
                      <p:nvPr/>
                    </p:nvPicPr>
                    <p:blipFill>
                      <a:blip r:embed="rId5"/>
                      <a:stretch>
                        <a:fillRect/>
                      </a:stretch>
                    </p:blipFill>
                    <p:spPr>
                      <a:xfrm>
                        <a:off x="1257169" y="4040020"/>
                        <a:ext cx="221774" cy="319564"/>
                      </a:xfrm>
                      <a:prstGeom prst="rect">
                        <a:avLst/>
                      </a:prstGeom>
                    </p:spPr>
                  </p:pic>
                </p:oleObj>
              </mc:Fallback>
            </mc:AlternateContent>
          </a:graphicData>
        </a:graphic>
      </p:graphicFrame>
      <p:sp>
        <p:nvSpPr>
          <p:cNvPr id="5" name="Content Placeholder 4">
            <a:extLst>
              <a:ext uri="{FF2B5EF4-FFF2-40B4-BE49-F238E27FC236}">
                <a16:creationId xmlns:a16="http://schemas.microsoft.com/office/drawing/2014/main" id="{B030C7B8-0389-DAFE-D0DE-7BB944A22220}"/>
              </a:ext>
            </a:extLst>
          </p:cNvPr>
          <p:cNvSpPr>
            <a:spLocks noGrp="1"/>
          </p:cNvSpPr>
          <p:nvPr>
            <p:ph sz="quarter" idx="14"/>
          </p:nvPr>
        </p:nvSpPr>
        <p:spPr>
          <a:xfrm>
            <a:off x="1636346" y="4036307"/>
            <a:ext cx="512967" cy="304795"/>
          </a:xfrm>
        </p:spPr>
        <p:txBody>
          <a:bodyPr wrap="square" lIns="0" tIns="18000" rIns="0" bIns="18000" anchor="ctr">
            <a:spAutoFit/>
          </a:bodyPr>
          <a:lstStyle/>
          <a:p>
            <a:pPr marL="0" lvl="1" indent="0">
              <a:buNone/>
            </a:pPr>
            <a:r>
              <a:rPr lang="en-US" altLang="en-US" sz="2400" noProof="0" dirty="0"/>
              <a:t>and</a:t>
            </a:r>
            <a:endParaRPr lang="en-US" sz="2400" noProof="0" dirty="0"/>
          </a:p>
        </p:txBody>
      </p:sp>
      <p:graphicFrame>
        <p:nvGraphicFramePr>
          <p:cNvPr id="11" name="Object 10" descr="Three.">
            <a:extLst>
              <a:ext uri="{FF2B5EF4-FFF2-40B4-BE49-F238E27FC236}">
                <a16:creationId xmlns:a16="http://schemas.microsoft.com/office/drawing/2014/main" id="{43F98DC2-8BEF-44AF-B005-2C657343FEB9}"/>
              </a:ext>
            </a:extLst>
          </p:cNvPr>
          <p:cNvGraphicFramePr>
            <a:graphicFrameLocks noChangeAspect="1"/>
          </p:cNvGraphicFramePr>
          <p:nvPr>
            <p:extLst>
              <p:ext uri="{D42A27DB-BD31-4B8C-83A1-F6EECF244321}">
                <p14:modId xmlns:p14="http://schemas.microsoft.com/office/powerpoint/2010/main" val="1803762008"/>
              </p:ext>
            </p:extLst>
          </p:nvPr>
        </p:nvGraphicFramePr>
        <p:xfrm>
          <a:off x="2317456" y="4042093"/>
          <a:ext cx="296863" cy="319087"/>
        </p:xfrm>
        <a:graphic>
          <a:graphicData uri="http://schemas.openxmlformats.org/presentationml/2006/ole">
            <mc:AlternateContent xmlns:mc="http://schemas.openxmlformats.org/markup-compatibility/2006">
              <mc:Choice xmlns:v="urn:schemas-microsoft-com:vml" Requires="v">
                <p:oleObj name="Equation" r:id="rId6" imgW="152280" imgH="164880" progId="Equation.DSMT4">
                  <p:embed/>
                </p:oleObj>
              </mc:Choice>
              <mc:Fallback>
                <p:oleObj name="Equation" r:id="rId6" imgW="152280" imgH="164880" progId="Equation.DSMT4">
                  <p:embed/>
                  <p:pic>
                    <p:nvPicPr>
                      <p:cNvPr id="27" name="Object 26">
                        <a:extLst>
                          <a:ext uri="{FF2B5EF4-FFF2-40B4-BE49-F238E27FC236}">
                            <a16:creationId xmlns:a16="http://schemas.microsoft.com/office/drawing/2014/main" id="{AEE63702-DAE9-4140-AF5A-1907E2129047}"/>
                          </a:ext>
                        </a:extLst>
                      </p:cNvPr>
                      <p:cNvPicPr/>
                      <p:nvPr/>
                    </p:nvPicPr>
                    <p:blipFill>
                      <a:blip r:embed="rId7"/>
                      <a:stretch>
                        <a:fillRect/>
                      </a:stretch>
                    </p:blipFill>
                    <p:spPr>
                      <a:xfrm>
                        <a:off x="2317456" y="4042093"/>
                        <a:ext cx="296863" cy="319087"/>
                      </a:xfrm>
                      <a:prstGeom prst="rect">
                        <a:avLst/>
                      </a:prstGeom>
                    </p:spPr>
                  </p:pic>
                </p:oleObj>
              </mc:Fallback>
            </mc:AlternateContent>
          </a:graphicData>
        </a:graphic>
      </p:graphicFrame>
      <p:sp>
        <p:nvSpPr>
          <p:cNvPr id="6" name="Content Placeholder 5">
            <a:extLst>
              <a:ext uri="{FF2B5EF4-FFF2-40B4-BE49-F238E27FC236}">
                <a16:creationId xmlns:a16="http://schemas.microsoft.com/office/drawing/2014/main" id="{C1C0ACDD-A35B-25D3-4C63-54D32CBC1EA0}"/>
              </a:ext>
            </a:extLst>
          </p:cNvPr>
          <p:cNvSpPr>
            <a:spLocks noGrp="1"/>
          </p:cNvSpPr>
          <p:nvPr>
            <p:ph sz="quarter" idx="15"/>
          </p:nvPr>
        </p:nvSpPr>
        <p:spPr>
          <a:xfrm>
            <a:off x="2816388" y="4032685"/>
            <a:ext cx="3546705" cy="335275"/>
          </a:xfrm>
        </p:spPr>
        <p:txBody>
          <a:bodyPr wrap="square" lIns="0" tIns="18000" rIns="0" bIns="18000" anchor="ctr">
            <a:spAutoFit/>
          </a:bodyPr>
          <a:lstStyle/>
          <a:p>
            <a:pPr marL="0" lvl="1" indent="0">
              <a:buNone/>
            </a:pPr>
            <a:r>
              <a:rPr lang="en-US" altLang="en-US" sz="2400" dirty="0"/>
              <a:t>together and forgo project </a:t>
            </a:r>
            <a:endParaRPr lang="en-US" sz="2400" noProof="0" dirty="0"/>
          </a:p>
        </p:txBody>
      </p:sp>
      <p:graphicFrame>
        <p:nvGraphicFramePr>
          <p:cNvPr id="12" name="Object 11" descr="One.">
            <a:extLst>
              <a:ext uri="{FF2B5EF4-FFF2-40B4-BE49-F238E27FC236}">
                <a16:creationId xmlns:a16="http://schemas.microsoft.com/office/drawing/2014/main" id="{C668A7DA-B091-4AC1-8B3B-1360F6150440}"/>
              </a:ext>
            </a:extLst>
          </p:cNvPr>
          <p:cNvGraphicFramePr>
            <a:graphicFrameLocks noChangeAspect="1"/>
          </p:cNvGraphicFramePr>
          <p:nvPr>
            <p:extLst>
              <p:ext uri="{D42A27DB-BD31-4B8C-83A1-F6EECF244321}">
                <p14:modId xmlns:p14="http://schemas.microsoft.com/office/powerpoint/2010/main" val="3628069560"/>
              </p:ext>
            </p:extLst>
          </p:nvPr>
        </p:nvGraphicFramePr>
        <p:xfrm>
          <a:off x="6481451" y="4053695"/>
          <a:ext cx="149225" cy="319088"/>
        </p:xfrm>
        <a:graphic>
          <a:graphicData uri="http://schemas.openxmlformats.org/presentationml/2006/ole">
            <mc:AlternateContent xmlns:mc="http://schemas.openxmlformats.org/markup-compatibility/2006">
              <mc:Choice xmlns:v="urn:schemas-microsoft-com:vml" Requires="v">
                <p:oleObj name="Equation" r:id="rId8" imgW="75960" imgH="164880" progId="Equation.DSMT4">
                  <p:embed/>
                </p:oleObj>
              </mc:Choice>
              <mc:Fallback>
                <p:oleObj name="Equation" r:id="rId8" imgW="75960" imgH="164880" progId="Equation.DSMT4">
                  <p:embed/>
                  <p:pic>
                    <p:nvPicPr>
                      <p:cNvPr id="11" name="Object 10">
                        <a:extLst>
                          <a:ext uri="{FF2B5EF4-FFF2-40B4-BE49-F238E27FC236}">
                            <a16:creationId xmlns:a16="http://schemas.microsoft.com/office/drawing/2014/main" id="{43F98DC2-8BEF-44AF-B005-2C657343FEB9}"/>
                          </a:ext>
                        </a:extLst>
                      </p:cNvPr>
                      <p:cNvPicPr/>
                      <p:nvPr/>
                    </p:nvPicPr>
                    <p:blipFill>
                      <a:blip r:embed="rId9"/>
                      <a:stretch>
                        <a:fillRect/>
                      </a:stretch>
                    </p:blipFill>
                    <p:spPr>
                      <a:xfrm>
                        <a:off x="6481451" y="4053695"/>
                        <a:ext cx="149225" cy="319088"/>
                      </a:xfrm>
                      <a:prstGeom prst="rect">
                        <a:avLst/>
                      </a:prstGeom>
                    </p:spPr>
                  </p:pic>
                </p:oleObj>
              </mc:Fallback>
            </mc:AlternateContent>
          </a:graphicData>
        </a:graphic>
      </p:graphicFrame>
    </p:spTree>
    <p:extLst>
      <p:ext uri="{BB962C8B-B14F-4D97-AF65-F5344CB8AC3E}">
        <p14:creationId xmlns:p14="http://schemas.microsoft.com/office/powerpoint/2010/main" val="266777110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122895"/>
            <a:ext cx="8266346" cy="590349"/>
          </a:xfrm>
        </p:spPr>
        <p:txBody>
          <a:bodyPr/>
          <a:lstStyle/>
          <a:p>
            <a:r>
              <a:rPr lang="en-US" dirty="0" err="1"/>
              <a:t>NetIt</a:t>
            </a:r>
            <a:r>
              <a:rPr lang="en-US" dirty="0"/>
              <a:t> Example </a:t>
            </a:r>
            <a:r>
              <a:rPr lang="en-US" sz="2800" dirty="0"/>
              <a:t>(1 of 3)</a:t>
            </a:r>
            <a:endParaRPr lang="en-US" sz="2800" noProof="0" dirty="0"/>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37228" y="929747"/>
            <a:ext cx="8266346" cy="284864"/>
          </a:xfrm>
        </p:spPr>
        <p:txBody>
          <a:bodyPr wrap="square" lIns="0" tIns="18000" rIns="0" bIns="18000" anchor="ctr">
            <a:spAutoFit/>
          </a:bodyPr>
          <a:lstStyle/>
          <a:p>
            <a:pPr marL="0" indent="0">
              <a:buNone/>
            </a:pPr>
            <a:r>
              <a:rPr lang="en-US" altLang="en-US" sz="1800" b="1" dirty="0"/>
              <a:t>Profitability Index with a Human Resource Constraint</a:t>
            </a:r>
          </a:p>
        </p:txBody>
      </p:sp>
      <p:sp>
        <p:nvSpPr>
          <p:cNvPr id="4" name="Content Placeholder 3">
            <a:extLst>
              <a:ext uri="{FF2B5EF4-FFF2-40B4-BE49-F238E27FC236}">
                <a16:creationId xmlns:a16="http://schemas.microsoft.com/office/drawing/2014/main" id="{0DD52A53-AA06-30A3-80A8-F6004494B0FE}"/>
              </a:ext>
            </a:extLst>
          </p:cNvPr>
          <p:cNvSpPr>
            <a:spLocks noGrp="1"/>
          </p:cNvSpPr>
          <p:nvPr>
            <p:ph sz="quarter" idx="13"/>
          </p:nvPr>
        </p:nvSpPr>
        <p:spPr>
          <a:xfrm>
            <a:off x="431800" y="1351906"/>
            <a:ext cx="8280400" cy="1775289"/>
          </a:xfrm>
        </p:spPr>
        <p:txBody>
          <a:bodyPr wrap="square" lIns="0" tIns="18000" rIns="0" bIns="18000" anchor="ctr">
            <a:spAutoFit/>
          </a:bodyPr>
          <a:lstStyle/>
          <a:p>
            <a:pPr marL="0" indent="0">
              <a:spcBef>
                <a:spcPts val="600"/>
              </a:spcBef>
              <a:buNone/>
            </a:pPr>
            <a:r>
              <a:rPr lang="en-US" altLang="en-US" sz="1800" b="1" dirty="0"/>
              <a:t>Problem</a:t>
            </a:r>
          </a:p>
          <a:p>
            <a:pPr marL="0" indent="0">
              <a:spcBef>
                <a:spcPts val="600"/>
              </a:spcBef>
              <a:buNone/>
            </a:pPr>
            <a:r>
              <a:rPr lang="en-US" altLang="en-US" sz="1800" dirty="0"/>
              <a:t>Your division at </a:t>
            </a:r>
            <a:r>
              <a:rPr lang="en-US" altLang="en-US" sz="1800" dirty="0" err="1"/>
              <a:t>NetIt</a:t>
            </a:r>
            <a:r>
              <a:rPr lang="en-US" altLang="en-US" sz="1800" dirty="0"/>
              <a:t>, a larger networking company, has put together a project proposal to develop a new home networking router. The excepted </a:t>
            </a:r>
            <a:r>
              <a:rPr lang="en-US" altLang="en-US" sz="1800" spc="-200" dirty="0"/>
              <a:t>N P </a:t>
            </a:r>
            <a:r>
              <a:rPr lang="en-US" altLang="en-US" sz="1800" dirty="0"/>
              <a:t>V of the project is $17.7 million, and the project will require 50 software engineers. </a:t>
            </a:r>
            <a:r>
              <a:rPr lang="en-US" altLang="en-US" sz="1800" dirty="0" err="1"/>
              <a:t>NetIt</a:t>
            </a:r>
            <a:r>
              <a:rPr lang="en-US" altLang="en-US" sz="1800" dirty="0"/>
              <a:t> has a total of 190 engineers available, and the router project must compete with the following other projects for these engineers:</a:t>
            </a:r>
          </a:p>
        </p:txBody>
      </p:sp>
      <p:graphicFrame>
        <p:nvGraphicFramePr>
          <p:cNvPr id="13" name="Table 11">
            <a:extLst>
              <a:ext uri="{FF2B5EF4-FFF2-40B4-BE49-F238E27FC236}">
                <a16:creationId xmlns:a16="http://schemas.microsoft.com/office/drawing/2014/main" id="{3F2C0A0C-7993-4FE5-ACFD-69C83C673B6A}"/>
              </a:ext>
            </a:extLst>
          </p:cNvPr>
          <p:cNvGraphicFramePr>
            <a:graphicFrameLocks noGrp="1"/>
          </p:cNvGraphicFramePr>
          <p:nvPr>
            <p:extLst>
              <p:ext uri="{D42A27DB-BD31-4B8C-83A1-F6EECF244321}">
                <p14:modId xmlns:p14="http://schemas.microsoft.com/office/powerpoint/2010/main" val="68936375"/>
              </p:ext>
            </p:extLst>
          </p:nvPr>
        </p:nvGraphicFramePr>
        <p:xfrm>
          <a:off x="656685" y="3264490"/>
          <a:ext cx="7759524" cy="2941398"/>
        </p:xfrm>
        <a:graphic>
          <a:graphicData uri="http://schemas.openxmlformats.org/drawingml/2006/table">
            <a:tbl>
              <a:tblPr firstRow="1" bandRow="1">
                <a:tableStyleId>{40F9630F-82C1-40B7-BC3A-925EFCFF5E92}</a:tableStyleId>
              </a:tblPr>
              <a:tblGrid>
                <a:gridCol w="2556250">
                  <a:extLst>
                    <a:ext uri="{9D8B030D-6E8A-4147-A177-3AD203B41FA5}">
                      <a16:colId xmlns:a16="http://schemas.microsoft.com/office/drawing/2014/main" val="467200679"/>
                    </a:ext>
                  </a:extLst>
                </a:gridCol>
                <a:gridCol w="2550254">
                  <a:extLst>
                    <a:ext uri="{9D8B030D-6E8A-4147-A177-3AD203B41FA5}">
                      <a16:colId xmlns:a16="http://schemas.microsoft.com/office/drawing/2014/main" val="3156988431"/>
                    </a:ext>
                  </a:extLst>
                </a:gridCol>
                <a:gridCol w="2653020">
                  <a:extLst>
                    <a:ext uri="{9D8B030D-6E8A-4147-A177-3AD203B41FA5}">
                      <a16:colId xmlns:a16="http://schemas.microsoft.com/office/drawing/2014/main" val="2535743945"/>
                    </a:ext>
                  </a:extLst>
                </a:gridCol>
              </a:tblGrid>
              <a:tr h="326822">
                <a:tc>
                  <a:txBody>
                    <a:bodyPr/>
                    <a:lstStyle/>
                    <a:p>
                      <a:pPr algn="ctr"/>
                      <a:r>
                        <a:rPr lang="en-US" sz="1200" b="1" dirty="0">
                          <a:solidFill>
                            <a:schemeClr val="bg1"/>
                          </a:solidFill>
                        </a:rPr>
                        <a:t>Project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1200" b="1" spc="-180" baseline="0" dirty="0">
                          <a:solidFill>
                            <a:schemeClr val="bg1"/>
                          </a:solidFill>
                        </a:rPr>
                        <a:t>N P </a:t>
                      </a:r>
                      <a:r>
                        <a:rPr lang="en-US" sz="1200" b="1" dirty="0">
                          <a:solidFill>
                            <a:schemeClr val="bg1"/>
                          </a:solidFill>
                        </a:rPr>
                        <a:t>V ($ millions)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1200" b="1" dirty="0">
                          <a:solidFill>
                            <a:schemeClr val="bg1"/>
                          </a:solidFill>
                        </a:rPr>
                        <a:t>Engineering Headcount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extLst>
                  <a:ext uri="{0D108BD9-81ED-4DB2-BD59-A6C34878D82A}">
                    <a16:rowId xmlns:a16="http://schemas.microsoft.com/office/drawing/2014/main" val="400099166"/>
                  </a:ext>
                </a:extLst>
              </a:tr>
              <a:tr h="326822">
                <a:tc>
                  <a:txBody>
                    <a:bodyPr/>
                    <a:lstStyle/>
                    <a:p>
                      <a:r>
                        <a:rPr lang="en-US" sz="1200" dirty="0">
                          <a:solidFill>
                            <a:schemeClr val="tx1"/>
                          </a:solidFill>
                        </a:rPr>
                        <a:t>Router</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200" dirty="0">
                          <a:solidFill>
                            <a:schemeClr val="tx1"/>
                          </a:solidFill>
                        </a:rPr>
                        <a:t>17.7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200" dirty="0">
                          <a:solidFill>
                            <a:schemeClr val="tx1"/>
                          </a:solidFill>
                        </a:rPr>
                        <a:t>50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436264602"/>
                  </a:ext>
                </a:extLst>
              </a:tr>
              <a:tr h="326822">
                <a:tc>
                  <a:txBody>
                    <a:bodyPr/>
                    <a:lstStyle/>
                    <a:p>
                      <a:r>
                        <a:rPr lang="en-US" sz="1200" dirty="0">
                          <a:solidFill>
                            <a:schemeClr val="tx1"/>
                          </a:solidFill>
                        </a:rPr>
                        <a:t>Project A</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200" dirty="0">
                          <a:solidFill>
                            <a:schemeClr val="tx1"/>
                          </a:solidFill>
                        </a:rPr>
                        <a:t>22.7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200" dirty="0">
                          <a:solidFill>
                            <a:schemeClr val="tx1"/>
                          </a:solidFill>
                        </a:rPr>
                        <a:t>47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371393853"/>
                  </a:ext>
                </a:extLst>
              </a:tr>
              <a:tr h="326822">
                <a:tc>
                  <a:txBody>
                    <a:bodyPr/>
                    <a:lstStyle/>
                    <a:p>
                      <a:r>
                        <a:rPr lang="en-US" sz="1200" dirty="0">
                          <a:solidFill>
                            <a:schemeClr val="tx1"/>
                          </a:solidFill>
                        </a:rPr>
                        <a:t>Project</a:t>
                      </a:r>
                      <a:r>
                        <a:rPr lang="en-US" sz="1200" baseline="0" dirty="0">
                          <a:solidFill>
                            <a:schemeClr val="tx1"/>
                          </a:solidFill>
                        </a:rPr>
                        <a:t> B</a:t>
                      </a:r>
                      <a:endParaRPr lang="en-US" sz="12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200" dirty="0">
                          <a:solidFill>
                            <a:schemeClr val="tx1"/>
                          </a:solidFill>
                        </a:rPr>
                        <a:t>8.1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200" dirty="0">
                          <a:solidFill>
                            <a:schemeClr val="tx1"/>
                          </a:solidFill>
                        </a:rPr>
                        <a:t>44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71870355"/>
                  </a:ext>
                </a:extLst>
              </a:tr>
              <a:tr h="326822">
                <a:tc>
                  <a:txBody>
                    <a:bodyPr/>
                    <a:lstStyle/>
                    <a:p>
                      <a:r>
                        <a:rPr lang="en-US" sz="1200" dirty="0">
                          <a:solidFill>
                            <a:schemeClr val="tx1"/>
                          </a:solidFill>
                        </a:rPr>
                        <a:t>Project C</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dirty="0">
                          <a:solidFill>
                            <a:schemeClr val="tx1"/>
                          </a:solidFill>
                        </a:rPr>
                        <a:t>14.0.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200" dirty="0">
                          <a:solidFill>
                            <a:schemeClr val="tx1"/>
                          </a:solidFill>
                        </a:rPr>
                        <a:t>40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607269673"/>
                  </a:ext>
                </a:extLst>
              </a:tr>
              <a:tr h="326822">
                <a:tc>
                  <a:txBody>
                    <a:bodyPr/>
                    <a:lstStyle/>
                    <a:p>
                      <a:r>
                        <a:rPr lang="en-US" sz="1200" dirty="0">
                          <a:solidFill>
                            <a:schemeClr val="tx1"/>
                          </a:solidFill>
                        </a:rPr>
                        <a:t>Project 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200" dirty="0">
                          <a:solidFill>
                            <a:schemeClr val="tx1"/>
                          </a:solidFill>
                        </a:rPr>
                        <a:t>11.5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200" dirty="0">
                          <a:solidFill>
                            <a:schemeClr val="tx1"/>
                          </a:solidFill>
                        </a:rPr>
                        <a:t>61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113216140"/>
                  </a:ext>
                </a:extLst>
              </a:tr>
              <a:tr h="326822">
                <a:tc>
                  <a:txBody>
                    <a:bodyPr/>
                    <a:lstStyle/>
                    <a:p>
                      <a:r>
                        <a:rPr lang="en-US" sz="1200" dirty="0">
                          <a:solidFill>
                            <a:schemeClr val="tx1"/>
                          </a:solidFill>
                        </a:rPr>
                        <a:t>Project E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200" dirty="0">
                          <a:solidFill>
                            <a:schemeClr val="tx1"/>
                          </a:solidFill>
                        </a:rPr>
                        <a:t>20.6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200" dirty="0">
                          <a:solidFill>
                            <a:schemeClr val="tx1"/>
                          </a:solidFill>
                        </a:rPr>
                        <a:t>58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4082867880"/>
                  </a:ext>
                </a:extLst>
              </a:tr>
              <a:tr h="326822">
                <a:tc>
                  <a:txBody>
                    <a:bodyPr/>
                    <a:lstStyle/>
                    <a:p>
                      <a:r>
                        <a:rPr lang="en-US" sz="1200" dirty="0">
                          <a:solidFill>
                            <a:schemeClr val="tx1"/>
                          </a:solidFill>
                        </a:rPr>
                        <a:t>Project F</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200" dirty="0">
                          <a:solidFill>
                            <a:schemeClr val="tx1"/>
                          </a:solidFill>
                        </a:rPr>
                        <a:t>12.9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200" dirty="0">
                          <a:solidFill>
                            <a:schemeClr val="tx1"/>
                          </a:solidFill>
                        </a:rPr>
                        <a:t>32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2133582144"/>
                  </a:ext>
                </a:extLst>
              </a:tr>
              <a:tr h="326822">
                <a:tc>
                  <a:txBody>
                    <a:bodyPr/>
                    <a:lstStyle/>
                    <a:p>
                      <a:r>
                        <a:rPr lang="en-US" sz="1200" dirty="0">
                          <a:solidFill>
                            <a:schemeClr val="tx1"/>
                          </a:solidFill>
                        </a:rPr>
                        <a:t>Total</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200" dirty="0">
                          <a:solidFill>
                            <a:schemeClr val="tx1"/>
                          </a:solidFill>
                        </a:rPr>
                        <a:t>107.5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200" dirty="0">
                          <a:solidFill>
                            <a:schemeClr val="tx1"/>
                          </a:solidFill>
                        </a:rPr>
                        <a:t>332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406029316"/>
                  </a:ext>
                </a:extLst>
              </a:tr>
            </a:tbl>
          </a:graphicData>
        </a:graphic>
      </p:graphicFrame>
      <p:graphicFrame>
        <p:nvGraphicFramePr>
          <p:cNvPr id="14" name="Object 13">
            <a:extLst>
              <a:ext uri="{FF2B5EF4-FFF2-40B4-BE49-F238E27FC236}">
                <a16:creationId xmlns:a16="http://schemas.microsoft.com/office/drawing/2014/main" id="{93886FEA-1713-4A07-9136-52303873A3C8}"/>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432036026"/>
              </p:ext>
            </p:extLst>
          </p:nvPr>
        </p:nvGraphicFramePr>
        <p:xfrm>
          <a:off x="4329325" y="4600296"/>
          <a:ext cx="331558" cy="176776"/>
        </p:xfrm>
        <a:graphic>
          <a:graphicData uri="http://schemas.openxmlformats.org/presentationml/2006/ole">
            <mc:AlternateContent xmlns:mc="http://schemas.openxmlformats.org/markup-compatibility/2006">
              <mc:Choice xmlns:v="urn:schemas-microsoft-com:vml" Requires="v">
                <p:oleObj name="Equation" r:id="rId2" imgW="330120" imgH="177480" progId="Equation.DSMT4">
                  <p:embed/>
                </p:oleObj>
              </mc:Choice>
              <mc:Fallback>
                <p:oleObj name="Equation" r:id="rId2" imgW="330120" imgH="177480" progId="Equation.DSMT4">
                  <p:embed/>
                  <p:pic>
                    <p:nvPicPr>
                      <p:cNvPr id="12" name="Object 11">
                        <a:extLst>
                          <a:ext uri="{FF2B5EF4-FFF2-40B4-BE49-F238E27FC236}">
                            <a16:creationId xmlns:a16="http://schemas.microsoft.com/office/drawing/2014/main" id="{C668A7DA-B091-4AC1-8B3B-1360F6150440}"/>
                          </a:ext>
                        </a:extLst>
                      </p:cNvPr>
                      <p:cNvPicPr/>
                      <p:nvPr/>
                    </p:nvPicPr>
                    <p:blipFill>
                      <a:blip r:embed="rId3"/>
                      <a:stretch>
                        <a:fillRect/>
                      </a:stretch>
                    </p:blipFill>
                    <p:spPr>
                      <a:xfrm>
                        <a:off x="4329325" y="4600296"/>
                        <a:ext cx="331558" cy="176776"/>
                      </a:xfrm>
                      <a:prstGeom prst="rect">
                        <a:avLst/>
                      </a:prstGeom>
                      <a:solidFill>
                        <a:srgbClr val="D4EAE4"/>
                      </a:solidFill>
                    </p:spPr>
                  </p:pic>
                </p:oleObj>
              </mc:Fallback>
            </mc:AlternateContent>
          </a:graphicData>
        </a:graphic>
      </p:graphicFrame>
      <p:sp>
        <p:nvSpPr>
          <p:cNvPr id="6" name="Content Placeholder 5">
            <a:extLst>
              <a:ext uri="{FF2B5EF4-FFF2-40B4-BE49-F238E27FC236}">
                <a16:creationId xmlns:a16="http://schemas.microsoft.com/office/drawing/2014/main" id="{C1C0ACDD-A35B-25D3-4C63-54D32CBC1EA0}"/>
              </a:ext>
            </a:extLst>
          </p:cNvPr>
          <p:cNvSpPr>
            <a:spLocks noGrp="1"/>
          </p:cNvSpPr>
          <p:nvPr>
            <p:ph sz="quarter" idx="15"/>
          </p:nvPr>
        </p:nvSpPr>
        <p:spPr>
          <a:xfrm>
            <a:off x="445854" y="6387471"/>
            <a:ext cx="8257720" cy="301124"/>
          </a:xfrm>
        </p:spPr>
        <p:txBody>
          <a:bodyPr wrap="square" lIns="0" tIns="18000" rIns="0" bIns="18000" anchor="ctr">
            <a:spAutoFit/>
          </a:bodyPr>
          <a:lstStyle/>
          <a:p>
            <a:pPr marL="0" indent="0">
              <a:buNone/>
            </a:pPr>
            <a:r>
              <a:rPr lang="en-US" altLang="en-US" sz="1800" dirty="0"/>
              <a:t>How should </a:t>
            </a:r>
            <a:r>
              <a:rPr lang="en-US" altLang="en-US" sz="1800" dirty="0" err="1"/>
              <a:t>NetIt</a:t>
            </a:r>
            <a:r>
              <a:rPr lang="en-US" altLang="en-US" sz="1800" dirty="0"/>
              <a:t> prioritize these projects?</a:t>
            </a:r>
          </a:p>
        </p:txBody>
      </p:sp>
    </p:spTree>
    <p:extLst>
      <p:ext uri="{BB962C8B-B14F-4D97-AF65-F5344CB8AC3E}">
        <p14:creationId xmlns:p14="http://schemas.microsoft.com/office/powerpoint/2010/main" val="410133814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21371"/>
            <a:ext cx="8266346" cy="590349"/>
          </a:xfrm>
        </p:spPr>
        <p:txBody>
          <a:bodyPr/>
          <a:lstStyle/>
          <a:p>
            <a:r>
              <a:rPr lang="en-US" dirty="0" err="1"/>
              <a:t>NetIt</a:t>
            </a:r>
            <a:r>
              <a:rPr lang="en-US" dirty="0"/>
              <a:t> Example </a:t>
            </a:r>
            <a:r>
              <a:rPr lang="en-US" sz="2800" dirty="0"/>
              <a:t>(2 of 3)</a:t>
            </a:r>
            <a:endParaRPr lang="en-US" sz="2800" noProof="0" dirty="0"/>
          </a:p>
        </p:txBody>
      </p:sp>
      <p:sp>
        <p:nvSpPr>
          <p:cNvPr id="4" name="Content Placeholder 3">
            <a:extLst>
              <a:ext uri="{FF2B5EF4-FFF2-40B4-BE49-F238E27FC236}">
                <a16:creationId xmlns:a16="http://schemas.microsoft.com/office/drawing/2014/main" id="{0DD52A53-AA06-30A3-80A8-F6004494B0FE}"/>
              </a:ext>
            </a:extLst>
          </p:cNvPr>
          <p:cNvSpPr>
            <a:spLocks noGrp="1"/>
          </p:cNvSpPr>
          <p:nvPr>
            <p:ph sz="quarter" idx="13"/>
          </p:nvPr>
        </p:nvSpPr>
        <p:spPr>
          <a:xfrm>
            <a:off x="431800" y="1181997"/>
            <a:ext cx="8280400" cy="1652179"/>
          </a:xfrm>
        </p:spPr>
        <p:txBody>
          <a:bodyPr wrap="square" lIns="0" tIns="18000" rIns="0" bIns="18000" anchor="ctr">
            <a:spAutoFit/>
          </a:bodyPr>
          <a:lstStyle/>
          <a:p>
            <a:pPr marL="0" indent="0">
              <a:spcBef>
                <a:spcPts val="600"/>
              </a:spcBef>
              <a:buNone/>
            </a:pPr>
            <a:r>
              <a:rPr lang="en-US" altLang="en-US" sz="2000" b="1" dirty="0"/>
              <a:t>Solution</a:t>
            </a:r>
          </a:p>
          <a:p>
            <a:pPr marL="0" indent="0">
              <a:spcBef>
                <a:spcPts val="600"/>
              </a:spcBef>
              <a:buNone/>
            </a:pPr>
            <a:r>
              <a:rPr lang="en-US" altLang="en-US" sz="2000" dirty="0"/>
              <a:t>The goal is to maximize the total </a:t>
            </a:r>
            <a:r>
              <a:rPr lang="en-US" altLang="en-US" sz="2000" spc="-300" dirty="0"/>
              <a:t>N P </a:t>
            </a:r>
            <a:r>
              <a:rPr lang="en-US" altLang="en-US" sz="2000" dirty="0"/>
              <a:t>V we can create with 190 engineers (at most). We compute the profitability index for each project using Engineering Headcount in the denominator, and then sort projects based on the index:</a:t>
            </a:r>
          </a:p>
        </p:txBody>
      </p:sp>
      <p:graphicFrame>
        <p:nvGraphicFramePr>
          <p:cNvPr id="13" name="Table 11">
            <a:extLst>
              <a:ext uri="{FF2B5EF4-FFF2-40B4-BE49-F238E27FC236}">
                <a16:creationId xmlns:a16="http://schemas.microsoft.com/office/drawing/2014/main" id="{3F2C0A0C-7993-4FE5-ACFD-69C83C673B6A}"/>
              </a:ext>
              <a:ext uri="{C183D7F6-B498-43B3-948B-1728B52AA6E4}">
                <adec:decorative xmlns:adec="http://schemas.microsoft.com/office/drawing/2017/decorative" val="1"/>
              </a:ext>
            </a:extLst>
          </p:cNvPr>
          <p:cNvGraphicFramePr>
            <a:graphicFrameLocks noGrp="1"/>
          </p:cNvGraphicFramePr>
          <p:nvPr>
            <p:extLst>
              <p:ext uri="{D42A27DB-BD31-4B8C-83A1-F6EECF244321}">
                <p14:modId xmlns:p14="http://schemas.microsoft.com/office/powerpoint/2010/main" val="425108488"/>
              </p:ext>
            </p:extLst>
          </p:nvPr>
        </p:nvGraphicFramePr>
        <p:xfrm>
          <a:off x="656685" y="3533825"/>
          <a:ext cx="7759523" cy="2685433"/>
        </p:xfrm>
        <a:graphic>
          <a:graphicData uri="http://schemas.openxmlformats.org/drawingml/2006/table">
            <a:tbl>
              <a:tblPr firstRow="1" bandRow="1">
                <a:tableStyleId>{40F9630F-82C1-40B7-BC3A-925EFCFF5E92}</a:tableStyleId>
              </a:tblPr>
              <a:tblGrid>
                <a:gridCol w="1379505">
                  <a:extLst>
                    <a:ext uri="{9D8B030D-6E8A-4147-A177-3AD203B41FA5}">
                      <a16:colId xmlns:a16="http://schemas.microsoft.com/office/drawing/2014/main" val="467200679"/>
                    </a:ext>
                  </a:extLst>
                </a:gridCol>
                <a:gridCol w="1244338">
                  <a:extLst>
                    <a:ext uri="{9D8B030D-6E8A-4147-A177-3AD203B41FA5}">
                      <a16:colId xmlns:a16="http://schemas.microsoft.com/office/drawing/2014/main" val="3156988431"/>
                    </a:ext>
                  </a:extLst>
                </a:gridCol>
                <a:gridCol w="1687398">
                  <a:extLst>
                    <a:ext uri="{9D8B030D-6E8A-4147-A177-3AD203B41FA5}">
                      <a16:colId xmlns:a16="http://schemas.microsoft.com/office/drawing/2014/main" val="2535743945"/>
                    </a:ext>
                  </a:extLst>
                </a:gridCol>
                <a:gridCol w="1706251">
                  <a:extLst>
                    <a:ext uri="{9D8B030D-6E8A-4147-A177-3AD203B41FA5}">
                      <a16:colId xmlns:a16="http://schemas.microsoft.com/office/drawing/2014/main" val="3466852293"/>
                    </a:ext>
                  </a:extLst>
                </a:gridCol>
                <a:gridCol w="1742031">
                  <a:extLst>
                    <a:ext uri="{9D8B030D-6E8A-4147-A177-3AD203B41FA5}">
                      <a16:colId xmlns:a16="http://schemas.microsoft.com/office/drawing/2014/main" val="1689296944"/>
                    </a:ext>
                  </a:extLst>
                </a:gridCol>
              </a:tblGrid>
              <a:tr h="335455">
                <a:tc>
                  <a:txBody>
                    <a:bodyPr/>
                    <a:lstStyle/>
                    <a:p>
                      <a:pPr algn="ctr"/>
                      <a:r>
                        <a:rPr lang="en-US" sz="1400" b="1" dirty="0">
                          <a:solidFill>
                            <a:schemeClr val="bg1"/>
                          </a:solidFill>
                        </a:rPr>
                        <a:t>Project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1400" b="1" spc="-160" baseline="0" dirty="0">
                          <a:solidFill>
                            <a:schemeClr val="bg1"/>
                          </a:solidFill>
                        </a:rPr>
                        <a:t>N P </a:t>
                      </a:r>
                      <a:r>
                        <a:rPr lang="en-US" sz="1400" b="1" dirty="0">
                          <a:solidFill>
                            <a:schemeClr val="bg1"/>
                          </a:solidFill>
                        </a:rPr>
                        <a:t>V ($ millions)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1400" b="1" dirty="0">
                          <a:solidFill>
                            <a:schemeClr val="bg1"/>
                          </a:solidFill>
                        </a:rPr>
                        <a:t>Engineering Headcount (E</a:t>
                      </a:r>
                      <a:r>
                        <a:rPr lang="en-US" sz="1400" b="1" spc="-160" baseline="0" dirty="0">
                          <a:solidFill>
                            <a:schemeClr val="bg1"/>
                          </a:solidFill>
                        </a:rPr>
                        <a:t> H </a:t>
                      </a:r>
                      <a:r>
                        <a:rPr lang="en-US" sz="1400" b="1" dirty="0">
                          <a:solidFill>
                            <a:schemeClr val="bg1"/>
                          </a:solidFill>
                        </a:rPr>
                        <a:t>C)</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1400" b="1" dirty="0">
                          <a:solidFill>
                            <a:schemeClr val="bg1"/>
                          </a:solidFill>
                        </a:rPr>
                        <a:t>Profitability Index (</a:t>
                      </a:r>
                      <a:r>
                        <a:rPr lang="en-US" sz="1400" b="1" spc="-160" baseline="0" dirty="0">
                          <a:solidFill>
                            <a:schemeClr val="bg1"/>
                          </a:solidFill>
                        </a:rPr>
                        <a:t>N P </a:t>
                      </a:r>
                      <a:r>
                        <a:rPr lang="en-US" sz="1400" b="1" dirty="0">
                          <a:solidFill>
                            <a:schemeClr val="bg1"/>
                          </a:solidFill>
                        </a:rPr>
                        <a:t>V</a:t>
                      </a:r>
                      <a:r>
                        <a:rPr lang="en-US" sz="1400" b="1" baseline="0" dirty="0">
                          <a:solidFill>
                            <a:schemeClr val="bg1"/>
                          </a:solidFill>
                        </a:rPr>
                        <a:t> per </a:t>
                      </a:r>
                      <a:r>
                        <a:rPr lang="en-US" sz="1400" b="1" spc="-160" baseline="0" dirty="0">
                          <a:solidFill>
                            <a:schemeClr val="bg1"/>
                          </a:solidFill>
                        </a:rPr>
                        <a:t>E H </a:t>
                      </a:r>
                      <a:r>
                        <a:rPr lang="en-US" sz="1400" b="1" dirty="0">
                          <a:solidFill>
                            <a:schemeClr val="bg1"/>
                          </a:solidFill>
                        </a:rPr>
                        <a:t>C</a:t>
                      </a:r>
                      <a:r>
                        <a:rPr lang="en-US" sz="1400" b="1" baseline="0" dirty="0">
                          <a:solidFill>
                            <a:schemeClr val="bg1"/>
                          </a:solidFill>
                        </a:rPr>
                        <a:t>)</a:t>
                      </a:r>
                      <a:endParaRPr lang="en-US" sz="1400" b="1" dirty="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1400" b="1" dirty="0">
                          <a:solidFill>
                            <a:schemeClr val="bg1"/>
                          </a:solidFill>
                        </a:rPr>
                        <a:t>Cumulative </a:t>
                      </a:r>
                      <a:r>
                        <a:rPr lang="en-US" sz="1400" b="1" spc="-160" baseline="0" dirty="0">
                          <a:solidFill>
                            <a:schemeClr val="bg1"/>
                          </a:solidFill>
                        </a:rPr>
                        <a:t>E H </a:t>
                      </a:r>
                      <a:r>
                        <a:rPr lang="en-US" sz="1400" b="1" dirty="0">
                          <a:solidFill>
                            <a:schemeClr val="bg1"/>
                          </a:solidFill>
                        </a:rPr>
                        <a:t>C Required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extLst>
                  <a:ext uri="{0D108BD9-81ED-4DB2-BD59-A6C34878D82A}">
                    <a16:rowId xmlns:a16="http://schemas.microsoft.com/office/drawing/2014/main" val="400099166"/>
                  </a:ext>
                </a:extLst>
              </a:tr>
              <a:tr h="221100">
                <a:tc>
                  <a:txBody>
                    <a:bodyPr/>
                    <a:lstStyle/>
                    <a:p>
                      <a:r>
                        <a:rPr lang="en-US" sz="1400" dirty="0">
                          <a:solidFill>
                            <a:schemeClr val="tx1"/>
                          </a:solidFill>
                        </a:rPr>
                        <a:t>Project A</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400" dirty="0">
                          <a:solidFill>
                            <a:schemeClr val="tx1"/>
                          </a:solidFill>
                        </a:rPr>
                        <a:t>22.7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400" dirty="0">
                          <a:solidFill>
                            <a:schemeClr val="tx1"/>
                          </a:solidFill>
                        </a:rPr>
                        <a:t>47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dirty="0">
                          <a:solidFill>
                            <a:schemeClr val="tx1"/>
                          </a:solidFill>
                        </a:rPr>
                        <a:t>0.483.</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400" dirty="0">
                          <a:solidFill>
                            <a:schemeClr val="tx1"/>
                          </a:solidFill>
                        </a:rPr>
                        <a:t>47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436264602"/>
                  </a:ext>
                </a:extLst>
              </a:tr>
              <a:tr h="221100">
                <a:tc>
                  <a:txBody>
                    <a:bodyPr/>
                    <a:lstStyle/>
                    <a:p>
                      <a:r>
                        <a:rPr lang="en-US" sz="1400" dirty="0">
                          <a:solidFill>
                            <a:schemeClr val="tx1"/>
                          </a:solidFill>
                        </a:rPr>
                        <a:t>Project F</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400" dirty="0">
                          <a:solidFill>
                            <a:schemeClr val="tx1"/>
                          </a:solidFill>
                        </a:rPr>
                        <a:t>12.9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400" dirty="0">
                          <a:solidFill>
                            <a:schemeClr val="tx1"/>
                          </a:solidFill>
                        </a:rPr>
                        <a:t>32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dirty="0">
                          <a:solidFill>
                            <a:schemeClr val="tx1"/>
                          </a:solidFill>
                        </a:rPr>
                        <a:t>0.403.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400" dirty="0">
                          <a:solidFill>
                            <a:schemeClr val="tx1"/>
                          </a:solidFill>
                        </a:rPr>
                        <a:t>79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371393853"/>
                  </a:ext>
                </a:extLst>
              </a:tr>
              <a:tr h="338473">
                <a:tc>
                  <a:txBody>
                    <a:bodyPr/>
                    <a:lstStyle/>
                    <a:p>
                      <a:r>
                        <a:rPr lang="en-US" sz="1400" dirty="0">
                          <a:solidFill>
                            <a:schemeClr val="tx1"/>
                          </a:solidFill>
                        </a:rPr>
                        <a:t>Project 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400" dirty="0">
                          <a:solidFill>
                            <a:schemeClr val="tx1"/>
                          </a:solidFill>
                        </a:rPr>
                        <a:t>20.6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400" dirty="0">
                          <a:solidFill>
                            <a:schemeClr val="tx1"/>
                          </a:solidFill>
                        </a:rPr>
                        <a:t>58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dirty="0">
                          <a:solidFill>
                            <a:schemeClr val="tx1"/>
                          </a:solidFill>
                        </a:rPr>
                        <a:t>0.355.</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400" dirty="0">
                          <a:solidFill>
                            <a:schemeClr val="tx1"/>
                          </a:solidFill>
                        </a:rPr>
                        <a:t>137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71870355"/>
                  </a:ext>
                </a:extLst>
              </a:tr>
              <a:tr h="221100">
                <a:tc>
                  <a:txBody>
                    <a:bodyPr/>
                    <a:lstStyle/>
                    <a:p>
                      <a:r>
                        <a:rPr lang="en-US" sz="1400" dirty="0">
                          <a:solidFill>
                            <a:schemeClr val="tx1"/>
                          </a:solidFill>
                        </a:rPr>
                        <a:t>Router</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400" dirty="0">
                          <a:solidFill>
                            <a:schemeClr val="tx1"/>
                          </a:solidFill>
                        </a:rPr>
                        <a:t>17.7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400" dirty="0">
                          <a:solidFill>
                            <a:schemeClr val="tx1"/>
                          </a:solidFill>
                        </a:rPr>
                        <a:t>50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dirty="0">
                          <a:solidFill>
                            <a:schemeClr val="tx1"/>
                          </a:solidFill>
                        </a:rPr>
                        <a:t>0.354.</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400" dirty="0">
                          <a:solidFill>
                            <a:schemeClr val="tx1"/>
                          </a:solidFill>
                        </a:rPr>
                        <a:t>187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607269673"/>
                  </a:ext>
                </a:extLst>
              </a:tr>
              <a:tr h="221100">
                <a:tc>
                  <a:txBody>
                    <a:bodyPr/>
                    <a:lstStyle/>
                    <a:p>
                      <a:r>
                        <a:rPr lang="en-US" sz="1400" dirty="0">
                          <a:solidFill>
                            <a:schemeClr val="tx1"/>
                          </a:solidFill>
                        </a:rPr>
                        <a:t>Project C</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dirty="0">
                          <a:solidFill>
                            <a:schemeClr val="tx1"/>
                          </a:solidFill>
                        </a:rPr>
                        <a:t>14.0.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400" dirty="0">
                          <a:solidFill>
                            <a:schemeClr val="tx1"/>
                          </a:solidFill>
                        </a:rPr>
                        <a:t>40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dirty="0">
                          <a:solidFill>
                            <a:schemeClr val="tx1"/>
                          </a:solidFill>
                        </a:rPr>
                        <a:t>0.350.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 dirty="0">
                          <a:solidFill>
                            <a:schemeClr val="tx1"/>
                          </a:solidFill>
                        </a:rPr>
                        <a:t>Blank</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113216140"/>
                  </a:ext>
                </a:extLst>
              </a:tr>
              <a:tr h="221100">
                <a:tc>
                  <a:txBody>
                    <a:bodyPr/>
                    <a:lstStyle/>
                    <a:p>
                      <a:r>
                        <a:rPr lang="en-US" sz="1400" dirty="0">
                          <a:solidFill>
                            <a:schemeClr val="tx1"/>
                          </a:solidFill>
                        </a:rPr>
                        <a:t>Project 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400" dirty="0">
                          <a:solidFill>
                            <a:schemeClr val="tx1"/>
                          </a:solidFill>
                        </a:rPr>
                        <a:t>11.5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400" dirty="0">
                          <a:solidFill>
                            <a:schemeClr val="tx1"/>
                          </a:solidFill>
                        </a:rPr>
                        <a:t>61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dirty="0">
                          <a:solidFill>
                            <a:schemeClr val="tx1"/>
                          </a:solidFill>
                        </a:rPr>
                        <a:t>0.189.</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 dirty="0">
                          <a:solidFill>
                            <a:schemeClr val="tx1"/>
                          </a:solidFill>
                        </a:rPr>
                        <a:t>Blank</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4082867880"/>
                  </a:ext>
                </a:extLst>
              </a:tr>
              <a:tr h="221100">
                <a:tc>
                  <a:txBody>
                    <a:bodyPr/>
                    <a:lstStyle/>
                    <a:p>
                      <a:r>
                        <a:rPr lang="en-US" sz="1400" dirty="0">
                          <a:solidFill>
                            <a:schemeClr val="tx1"/>
                          </a:solidFill>
                        </a:rPr>
                        <a:t>Project B</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400" dirty="0">
                          <a:solidFill>
                            <a:schemeClr val="tx1"/>
                          </a:solidFill>
                        </a:rPr>
                        <a:t>8.1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400" dirty="0">
                          <a:solidFill>
                            <a:schemeClr val="tx1"/>
                          </a:solidFill>
                        </a:rPr>
                        <a:t>44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dirty="0">
                          <a:solidFill>
                            <a:schemeClr val="tx1"/>
                          </a:solidFill>
                        </a:rPr>
                        <a:t>0.184.</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 dirty="0">
                          <a:solidFill>
                            <a:schemeClr val="tx1"/>
                          </a:solidFill>
                        </a:rPr>
                        <a:t>Blank</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2133582144"/>
                  </a:ext>
                </a:extLst>
              </a:tr>
            </a:tbl>
          </a:graphicData>
        </a:graphic>
      </p:graphicFrame>
      <p:graphicFrame>
        <p:nvGraphicFramePr>
          <p:cNvPr id="21" name="Object 20">
            <a:extLst>
              <a:ext uri="{FF2B5EF4-FFF2-40B4-BE49-F238E27FC236}">
                <a16:creationId xmlns:a16="http://schemas.microsoft.com/office/drawing/2014/main" id="{8CADB8E4-24C5-4429-A7A3-67A280A045F9}"/>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4260583488"/>
              </p:ext>
            </p:extLst>
          </p:nvPr>
        </p:nvGraphicFramePr>
        <p:xfrm>
          <a:off x="2489886" y="5324942"/>
          <a:ext cx="371475" cy="196850"/>
        </p:xfrm>
        <a:graphic>
          <a:graphicData uri="http://schemas.openxmlformats.org/presentationml/2006/ole">
            <mc:AlternateContent xmlns:mc="http://schemas.openxmlformats.org/markup-compatibility/2006">
              <mc:Choice xmlns:v="urn:schemas-microsoft-com:vml" Requires="v">
                <p:oleObj name="Equation" r:id="rId2" imgW="330120" imgH="177480" progId="Equation.DSMT4">
                  <p:embed/>
                </p:oleObj>
              </mc:Choice>
              <mc:Fallback>
                <p:oleObj name="Equation" r:id="rId2" imgW="330120" imgH="177480" progId="Equation.DSMT4">
                  <p:embed/>
                  <p:pic>
                    <p:nvPicPr>
                      <p:cNvPr id="20" name="Object 19">
                        <a:extLst>
                          <a:ext uri="{FF2B5EF4-FFF2-40B4-BE49-F238E27FC236}">
                            <a16:creationId xmlns:a16="http://schemas.microsoft.com/office/drawing/2014/main" id="{92435882-10EF-4DF1-B375-37B7F5A95E33}"/>
                          </a:ext>
                        </a:extLst>
                      </p:cNvPr>
                      <p:cNvPicPr/>
                      <p:nvPr/>
                    </p:nvPicPr>
                    <p:blipFill>
                      <a:blip r:embed="rId3"/>
                      <a:stretch>
                        <a:fillRect/>
                      </a:stretch>
                    </p:blipFill>
                    <p:spPr>
                      <a:xfrm>
                        <a:off x="2489886" y="5324942"/>
                        <a:ext cx="371475" cy="196850"/>
                      </a:xfrm>
                      <a:prstGeom prst="rect">
                        <a:avLst/>
                      </a:prstGeom>
                      <a:solidFill>
                        <a:srgbClr val="D4EAE4"/>
                      </a:solidFill>
                    </p:spPr>
                  </p:pic>
                </p:oleObj>
              </mc:Fallback>
            </mc:AlternateContent>
          </a:graphicData>
        </a:graphic>
      </p:graphicFrame>
      <p:graphicFrame>
        <p:nvGraphicFramePr>
          <p:cNvPr id="12" name="Object 11">
            <a:extLst>
              <a:ext uri="{FF2B5EF4-FFF2-40B4-BE49-F238E27FC236}">
                <a16:creationId xmlns:a16="http://schemas.microsoft.com/office/drawing/2014/main" id="{B56DDD2E-CA74-4524-81F9-F29E67BF98A3}"/>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157026501"/>
              </p:ext>
            </p:extLst>
          </p:nvPr>
        </p:nvGraphicFramePr>
        <p:xfrm>
          <a:off x="5568986" y="4109789"/>
          <a:ext cx="492972" cy="199707"/>
        </p:xfrm>
        <a:graphic>
          <a:graphicData uri="http://schemas.openxmlformats.org/presentationml/2006/ole">
            <mc:AlternateContent xmlns:mc="http://schemas.openxmlformats.org/markup-compatibility/2006">
              <mc:Choice xmlns:v="urn:schemas-microsoft-com:vml" Requires="v">
                <p:oleObj name="Equation" r:id="rId4" imgW="431640" imgH="177480" progId="Equation.DSMT4">
                  <p:embed/>
                </p:oleObj>
              </mc:Choice>
              <mc:Fallback>
                <p:oleObj name="Equation" r:id="rId4" imgW="431640" imgH="177480" progId="Equation.DSMT4">
                  <p:embed/>
                  <p:pic>
                    <p:nvPicPr>
                      <p:cNvPr id="14" name="Object 13">
                        <a:extLst>
                          <a:ext uri="{FF2B5EF4-FFF2-40B4-BE49-F238E27FC236}">
                            <a16:creationId xmlns:a16="http://schemas.microsoft.com/office/drawing/2014/main" id="{93886FEA-1713-4A07-9136-52303873A3C8}"/>
                          </a:ext>
                        </a:extLst>
                      </p:cNvPr>
                      <p:cNvPicPr/>
                      <p:nvPr/>
                    </p:nvPicPr>
                    <p:blipFill>
                      <a:blip r:embed="rId5"/>
                      <a:stretch>
                        <a:fillRect/>
                      </a:stretch>
                    </p:blipFill>
                    <p:spPr>
                      <a:xfrm>
                        <a:off x="5568986" y="4109789"/>
                        <a:ext cx="492972" cy="199707"/>
                      </a:xfrm>
                      <a:prstGeom prst="rect">
                        <a:avLst/>
                      </a:prstGeom>
                    </p:spPr>
                  </p:pic>
                </p:oleObj>
              </mc:Fallback>
            </mc:AlternateContent>
          </a:graphicData>
        </a:graphic>
      </p:graphicFrame>
      <p:graphicFrame>
        <p:nvGraphicFramePr>
          <p:cNvPr id="15" name="Object 14">
            <a:extLst>
              <a:ext uri="{FF2B5EF4-FFF2-40B4-BE49-F238E27FC236}">
                <a16:creationId xmlns:a16="http://schemas.microsoft.com/office/drawing/2014/main" id="{0202D6FE-1DBB-4ACC-A075-361D6E89E6DF}"/>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823104757"/>
              </p:ext>
            </p:extLst>
          </p:nvPr>
        </p:nvGraphicFramePr>
        <p:xfrm>
          <a:off x="5573575" y="4412149"/>
          <a:ext cx="505784" cy="204898"/>
        </p:xfrm>
        <a:graphic>
          <a:graphicData uri="http://schemas.openxmlformats.org/presentationml/2006/ole">
            <mc:AlternateContent xmlns:mc="http://schemas.openxmlformats.org/markup-compatibility/2006">
              <mc:Choice xmlns:v="urn:schemas-microsoft-com:vml" Requires="v">
                <p:oleObj name="Equation" r:id="rId6" imgW="431640" imgH="177480" progId="Equation.DSMT4">
                  <p:embed/>
                </p:oleObj>
              </mc:Choice>
              <mc:Fallback>
                <p:oleObj name="Equation" r:id="rId6" imgW="431640" imgH="177480" progId="Equation.DSMT4">
                  <p:embed/>
                  <p:pic>
                    <p:nvPicPr>
                      <p:cNvPr id="12" name="Object 11">
                        <a:extLst>
                          <a:ext uri="{FF2B5EF4-FFF2-40B4-BE49-F238E27FC236}">
                            <a16:creationId xmlns:a16="http://schemas.microsoft.com/office/drawing/2014/main" id="{B56DDD2E-CA74-4524-81F9-F29E67BF98A3}"/>
                          </a:ext>
                        </a:extLst>
                      </p:cNvPr>
                      <p:cNvPicPr/>
                      <p:nvPr/>
                    </p:nvPicPr>
                    <p:blipFill>
                      <a:blip r:embed="rId7"/>
                      <a:stretch>
                        <a:fillRect/>
                      </a:stretch>
                    </p:blipFill>
                    <p:spPr>
                      <a:xfrm>
                        <a:off x="5573575" y="4412149"/>
                        <a:ext cx="505784" cy="204898"/>
                      </a:xfrm>
                      <a:prstGeom prst="rect">
                        <a:avLst/>
                      </a:prstGeom>
                      <a:solidFill>
                        <a:srgbClr val="D4EAE4"/>
                      </a:solidFill>
                    </p:spPr>
                  </p:pic>
                </p:oleObj>
              </mc:Fallback>
            </mc:AlternateContent>
          </a:graphicData>
        </a:graphic>
      </p:graphicFrame>
      <p:graphicFrame>
        <p:nvGraphicFramePr>
          <p:cNvPr id="16" name="Object 15">
            <a:extLst>
              <a:ext uri="{FF2B5EF4-FFF2-40B4-BE49-F238E27FC236}">
                <a16:creationId xmlns:a16="http://schemas.microsoft.com/office/drawing/2014/main" id="{BE4B62CD-02D1-4DBF-A18B-F0F8B1B7A88D}"/>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700811588"/>
              </p:ext>
            </p:extLst>
          </p:nvPr>
        </p:nvGraphicFramePr>
        <p:xfrm>
          <a:off x="5573575" y="4696107"/>
          <a:ext cx="505784" cy="204898"/>
        </p:xfrm>
        <a:graphic>
          <a:graphicData uri="http://schemas.openxmlformats.org/presentationml/2006/ole">
            <mc:AlternateContent xmlns:mc="http://schemas.openxmlformats.org/markup-compatibility/2006">
              <mc:Choice xmlns:v="urn:schemas-microsoft-com:vml" Requires="v">
                <p:oleObj name="Equation" r:id="rId8" imgW="431640" imgH="177480" progId="Equation.DSMT4">
                  <p:embed/>
                </p:oleObj>
              </mc:Choice>
              <mc:Fallback>
                <p:oleObj name="Equation" r:id="rId8" imgW="431640" imgH="177480" progId="Equation.DSMT4">
                  <p:embed/>
                  <p:pic>
                    <p:nvPicPr>
                      <p:cNvPr id="15" name="Object 14">
                        <a:extLst>
                          <a:ext uri="{FF2B5EF4-FFF2-40B4-BE49-F238E27FC236}">
                            <a16:creationId xmlns:a16="http://schemas.microsoft.com/office/drawing/2014/main" id="{0202D6FE-1DBB-4ACC-A075-361D6E89E6DF}"/>
                          </a:ext>
                        </a:extLst>
                      </p:cNvPr>
                      <p:cNvPicPr/>
                      <p:nvPr/>
                    </p:nvPicPr>
                    <p:blipFill>
                      <a:blip r:embed="rId9"/>
                      <a:stretch>
                        <a:fillRect/>
                      </a:stretch>
                    </p:blipFill>
                    <p:spPr>
                      <a:xfrm>
                        <a:off x="5573575" y="4696107"/>
                        <a:ext cx="505784" cy="204898"/>
                      </a:xfrm>
                      <a:prstGeom prst="rect">
                        <a:avLst/>
                      </a:prstGeom>
                      <a:solidFill>
                        <a:srgbClr val="D4EAE4"/>
                      </a:solidFill>
                    </p:spPr>
                  </p:pic>
                </p:oleObj>
              </mc:Fallback>
            </mc:AlternateContent>
          </a:graphicData>
        </a:graphic>
      </p:graphicFrame>
      <p:graphicFrame>
        <p:nvGraphicFramePr>
          <p:cNvPr id="17" name="Object 16">
            <a:extLst>
              <a:ext uri="{FF2B5EF4-FFF2-40B4-BE49-F238E27FC236}">
                <a16:creationId xmlns:a16="http://schemas.microsoft.com/office/drawing/2014/main" id="{B4FE8E18-7389-401A-96CE-8FC0B72B0ED0}"/>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590922721"/>
              </p:ext>
            </p:extLst>
          </p:nvPr>
        </p:nvGraphicFramePr>
        <p:xfrm>
          <a:off x="5592870" y="4995474"/>
          <a:ext cx="486049" cy="196902"/>
        </p:xfrm>
        <a:graphic>
          <a:graphicData uri="http://schemas.openxmlformats.org/presentationml/2006/ole">
            <mc:AlternateContent xmlns:mc="http://schemas.openxmlformats.org/markup-compatibility/2006">
              <mc:Choice xmlns:v="urn:schemas-microsoft-com:vml" Requires="v">
                <p:oleObj name="Equation" r:id="rId10" imgW="431640" imgH="177480" progId="Equation.DSMT4">
                  <p:embed/>
                </p:oleObj>
              </mc:Choice>
              <mc:Fallback>
                <p:oleObj name="Equation" r:id="rId10" imgW="431640" imgH="177480" progId="Equation.DSMT4">
                  <p:embed/>
                  <p:pic>
                    <p:nvPicPr>
                      <p:cNvPr id="16" name="Object 15">
                        <a:extLst>
                          <a:ext uri="{FF2B5EF4-FFF2-40B4-BE49-F238E27FC236}">
                            <a16:creationId xmlns:a16="http://schemas.microsoft.com/office/drawing/2014/main" id="{BE4B62CD-02D1-4DBF-A18B-F0F8B1B7A88D}"/>
                          </a:ext>
                        </a:extLst>
                      </p:cNvPr>
                      <p:cNvPicPr/>
                      <p:nvPr/>
                    </p:nvPicPr>
                    <p:blipFill>
                      <a:blip r:embed="rId11"/>
                      <a:stretch>
                        <a:fillRect/>
                      </a:stretch>
                    </p:blipFill>
                    <p:spPr>
                      <a:xfrm>
                        <a:off x="5592870" y="4995474"/>
                        <a:ext cx="486049" cy="196902"/>
                      </a:xfrm>
                      <a:prstGeom prst="rect">
                        <a:avLst/>
                      </a:prstGeom>
                      <a:solidFill>
                        <a:srgbClr val="D4EAE4"/>
                      </a:solidFill>
                    </p:spPr>
                  </p:pic>
                </p:oleObj>
              </mc:Fallback>
            </mc:AlternateContent>
          </a:graphicData>
        </a:graphic>
      </p:graphicFrame>
      <p:graphicFrame>
        <p:nvGraphicFramePr>
          <p:cNvPr id="18" name="Object 17">
            <a:extLst>
              <a:ext uri="{FF2B5EF4-FFF2-40B4-BE49-F238E27FC236}">
                <a16:creationId xmlns:a16="http://schemas.microsoft.com/office/drawing/2014/main" id="{728E9FF5-7964-4B6E-AE88-D2304F315B26}"/>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4014371228"/>
              </p:ext>
            </p:extLst>
          </p:nvPr>
        </p:nvGraphicFramePr>
        <p:xfrm>
          <a:off x="5603865" y="5308129"/>
          <a:ext cx="486049" cy="196902"/>
        </p:xfrm>
        <a:graphic>
          <a:graphicData uri="http://schemas.openxmlformats.org/presentationml/2006/ole">
            <mc:AlternateContent xmlns:mc="http://schemas.openxmlformats.org/markup-compatibility/2006">
              <mc:Choice xmlns:v="urn:schemas-microsoft-com:vml" Requires="v">
                <p:oleObj name="Equation" r:id="rId12" imgW="431640" imgH="177480" progId="Equation.DSMT4">
                  <p:embed/>
                </p:oleObj>
              </mc:Choice>
              <mc:Fallback>
                <p:oleObj name="Equation" r:id="rId12" imgW="431640" imgH="177480" progId="Equation.DSMT4">
                  <p:embed/>
                  <p:pic>
                    <p:nvPicPr>
                      <p:cNvPr id="17" name="Object 16">
                        <a:extLst>
                          <a:ext uri="{FF2B5EF4-FFF2-40B4-BE49-F238E27FC236}">
                            <a16:creationId xmlns:a16="http://schemas.microsoft.com/office/drawing/2014/main" id="{B4FE8E18-7389-401A-96CE-8FC0B72B0ED0}"/>
                          </a:ext>
                        </a:extLst>
                      </p:cNvPr>
                      <p:cNvPicPr/>
                      <p:nvPr/>
                    </p:nvPicPr>
                    <p:blipFill>
                      <a:blip r:embed="rId13"/>
                      <a:stretch>
                        <a:fillRect/>
                      </a:stretch>
                    </p:blipFill>
                    <p:spPr>
                      <a:xfrm>
                        <a:off x="5603865" y="5308129"/>
                        <a:ext cx="486049" cy="196902"/>
                      </a:xfrm>
                      <a:prstGeom prst="rect">
                        <a:avLst/>
                      </a:prstGeom>
                      <a:solidFill>
                        <a:srgbClr val="D4EAE4"/>
                      </a:solidFill>
                    </p:spPr>
                  </p:pic>
                </p:oleObj>
              </mc:Fallback>
            </mc:AlternateContent>
          </a:graphicData>
        </a:graphic>
      </p:graphicFrame>
      <p:graphicFrame>
        <p:nvGraphicFramePr>
          <p:cNvPr id="19" name="Object 18">
            <a:extLst>
              <a:ext uri="{FF2B5EF4-FFF2-40B4-BE49-F238E27FC236}">
                <a16:creationId xmlns:a16="http://schemas.microsoft.com/office/drawing/2014/main" id="{B6698735-CE07-40CB-BDE9-B561E91A15A1}"/>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43123925"/>
              </p:ext>
            </p:extLst>
          </p:nvPr>
        </p:nvGraphicFramePr>
        <p:xfrm>
          <a:off x="5586154" y="5635133"/>
          <a:ext cx="486049" cy="196902"/>
        </p:xfrm>
        <a:graphic>
          <a:graphicData uri="http://schemas.openxmlformats.org/presentationml/2006/ole">
            <mc:AlternateContent xmlns:mc="http://schemas.openxmlformats.org/markup-compatibility/2006">
              <mc:Choice xmlns:v="urn:schemas-microsoft-com:vml" Requires="v">
                <p:oleObj name="Equation" r:id="rId14" imgW="431640" imgH="177480" progId="Equation.DSMT4">
                  <p:embed/>
                </p:oleObj>
              </mc:Choice>
              <mc:Fallback>
                <p:oleObj name="Equation" r:id="rId14" imgW="431640" imgH="177480" progId="Equation.DSMT4">
                  <p:embed/>
                  <p:pic>
                    <p:nvPicPr>
                      <p:cNvPr id="18" name="Object 17">
                        <a:extLst>
                          <a:ext uri="{FF2B5EF4-FFF2-40B4-BE49-F238E27FC236}">
                            <a16:creationId xmlns:a16="http://schemas.microsoft.com/office/drawing/2014/main" id="{728E9FF5-7964-4B6E-AE88-D2304F315B26}"/>
                          </a:ext>
                        </a:extLst>
                      </p:cNvPr>
                      <p:cNvPicPr/>
                      <p:nvPr/>
                    </p:nvPicPr>
                    <p:blipFill>
                      <a:blip r:embed="rId15"/>
                      <a:stretch>
                        <a:fillRect/>
                      </a:stretch>
                    </p:blipFill>
                    <p:spPr>
                      <a:xfrm>
                        <a:off x="5586154" y="5635133"/>
                        <a:ext cx="486049" cy="196902"/>
                      </a:xfrm>
                      <a:prstGeom prst="rect">
                        <a:avLst/>
                      </a:prstGeom>
                      <a:solidFill>
                        <a:srgbClr val="D4EAE4"/>
                      </a:solidFill>
                    </p:spPr>
                  </p:pic>
                </p:oleObj>
              </mc:Fallback>
            </mc:AlternateContent>
          </a:graphicData>
        </a:graphic>
      </p:graphicFrame>
      <p:graphicFrame>
        <p:nvGraphicFramePr>
          <p:cNvPr id="20" name="Object 19">
            <a:extLst>
              <a:ext uri="{FF2B5EF4-FFF2-40B4-BE49-F238E27FC236}">
                <a16:creationId xmlns:a16="http://schemas.microsoft.com/office/drawing/2014/main" id="{92435882-10EF-4DF1-B375-37B7F5A95E33}"/>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004210022"/>
              </p:ext>
            </p:extLst>
          </p:nvPr>
        </p:nvGraphicFramePr>
        <p:xfrm>
          <a:off x="5593310" y="5937655"/>
          <a:ext cx="486049" cy="196902"/>
        </p:xfrm>
        <a:graphic>
          <a:graphicData uri="http://schemas.openxmlformats.org/presentationml/2006/ole">
            <mc:AlternateContent xmlns:mc="http://schemas.openxmlformats.org/markup-compatibility/2006">
              <mc:Choice xmlns:v="urn:schemas-microsoft-com:vml" Requires="v">
                <p:oleObj name="Equation" r:id="rId16" imgW="431640" imgH="177480" progId="Equation.DSMT4">
                  <p:embed/>
                </p:oleObj>
              </mc:Choice>
              <mc:Fallback>
                <p:oleObj name="Equation" r:id="rId16" imgW="431640" imgH="177480" progId="Equation.DSMT4">
                  <p:embed/>
                  <p:pic>
                    <p:nvPicPr>
                      <p:cNvPr id="19" name="Object 18">
                        <a:extLst>
                          <a:ext uri="{FF2B5EF4-FFF2-40B4-BE49-F238E27FC236}">
                            <a16:creationId xmlns:a16="http://schemas.microsoft.com/office/drawing/2014/main" id="{B6698735-CE07-40CB-BDE9-B561E91A15A1}"/>
                          </a:ext>
                        </a:extLst>
                      </p:cNvPr>
                      <p:cNvPicPr/>
                      <p:nvPr/>
                    </p:nvPicPr>
                    <p:blipFill>
                      <a:blip r:embed="rId17"/>
                      <a:stretch>
                        <a:fillRect/>
                      </a:stretch>
                    </p:blipFill>
                    <p:spPr>
                      <a:xfrm>
                        <a:off x="5593310" y="5937655"/>
                        <a:ext cx="486049" cy="196902"/>
                      </a:xfrm>
                      <a:prstGeom prst="rect">
                        <a:avLst/>
                      </a:prstGeom>
                      <a:solidFill>
                        <a:srgbClr val="D4EAE4"/>
                      </a:solidFill>
                    </p:spPr>
                  </p:pic>
                </p:oleObj>
              </mc:Fallback>
            </mc:AlternateContent>
          </a:graphicData>
        </a:graphic>
      </p:graphicFrame>
    </p:spTree>
    <p:extLst>
      <p:ext uri="{BB962C8B-B14F-4D97-AF65-F5344CB8AC3E}">
        <p14:creationId xmlns:p14="http://schemas.microsoft.com/office/powerpoint/2010/main" val="190888340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21371"/>
            <a:ext cx="8266346" cy="590349"/>
          </a:xfrm>
        </p:spPr>
        <p:txBody>
          <a:bodyPr/>
          <a:lstStyle/>
          <a:p>
            <a:r>
              <a:rPr lang="en-US" dirty="0" err="1"/>
              <a:t>NetIt</a:t>
            </a:r>
            <a:r>
              <a:rPr lang="en-US" dirty="0"/>
              <a:t> Example </a:t>
            </a:r>
            <a:r>
              <a:rPr lang="en-US" sz="2800" dirty="0"/>
              <a:t>(3 of 3)</a:t>
            </a:r>
            <a:endParaRPr lang="en-US" sz="2800" noProof="0" dirty="0"/>
          </a:p>
        </p:txBody>
      </p:sp>
      <p:sp>
        <p:nvSpPr>
          <p:cNvPr id="4" name="Content Placeholder 3">
            <a:extLst>
              <a:ext uri="{FF2B5EF4-FFF2-40B4-BE49-F238E27FC236}">
                <a16:creationId xmlns:a16="http://schemas.microsoft.com/office/drawing/2014/main" id="{0DD52A53-AA06-30A3-80A8-F6004494B0FE}"/>
              </a:ext>
            </a:extLst>
          </p:cNvPr>
          <p:cNvSpPr>
            <a:spLocks noGrp="1"/>
          </p:cNvSpPr>
          <p:nvPr>
            <p:ph sz="quarter" idx="13"/>
          </p:nvPr>
        </p:nvSpPr>
        <p:spPr>
          <a:xfrm>
            <a:off x="431800" y="1724781"/>
            <a:ext cx="8416778" cy="3729670"/>
          </a:xfrm>
        </p:spPr>
        <p:txBody>
          <a:bodyPr wrap="square" lIns="0" tIns="18000" rIns="0" bIns="18000" anchor="ctr">
            <a:spAutoFit/>
          </a:bodyPr>
          <a:lstStyle/>
          <a:p>
            <a:pPr marL="0" indent="0">
              <a:spcBef>
                <a:spcPts val="600"/>
              </a:spcBef>
              <a:buNone/>
            </a:pPr>
            <a:r>
              <a:rPr lang="en-US" altLang="en-US" sz="2400" dirty="0"/>
              <a:t>We now assign the resource to the projects in descending order according to the profitability index. The final column shows the cumulative use of the resource as each project is taken on until the resource is used up. To maximize </a:t>
            </a:r>
            <a:r>
              <a:rPr lang="en-US" altLang="en-US" sz="2400" spc="-300" dirty="0"/>
              <a:t>N P </a:t>
            </a:r>
            <a:r>
              <a:rPr lang="en-US" altLang="en-US" sz="2400" dirty="0"/>
              <a:t>V within the constraint of 190 engineers. </a:t>
            </a:r>
            <a:r>
              <a:rPr lang="en-US" altLang="en-US" sz="2400" dirty="0" err="1"/>
              <a:t>NetIt</a:t>
            </a:r>
            <a:r>
              <a:rPr lang="en-US" altLang="en-US" sz="2400" dirty="0"/>
              <a:t> should choose the first four projects on the list. There is no other combination of projects that will create more value without using more engineers than we have. Note, however, that the resource constraint forces </a:t>
            </a:r>
            <a:r>
              <a:rPr lang="en-US" altLang="en-US" sz="2400" dirty="0" err="1"/>
              <a:t>NetIt</a:t>
            </a:r>
            <a:r>
              <a:rPr lang="en-US" altLang="en-US" sz="2400" dirty="0"/>
              <a:t> to forgo three otherwise valuable projects (C, D, and B) with a total </a:t>
            </a:r>
            <a:r>
              <a:rPr lang="en-US" altLang="en-US" sz="2400" spc="-300" dirty="0"/>
              <a:t>N P </a:t>
            </a:r>
            <a:r>
              <a:rPr lang="en-US" altLang="en-US" sz="2400" dirty="0"/>
              <a:t>V of $3.36 million.</a:t>
            </a:r>
          </a:p>
        </p:txBody>
      </p:sp>
    </p:spTree>
    <p:extLst>
      <p:ext uri="{BB962C8B-B14F-4D97-AF65-F5344CB8AC3E}">
        <p14:creationId xmlns:p14="http://schemas.microsoft.com/office/powerpoint/2010/main" val="246207446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17750"/>
            <a:ext cx="8266346" cy="1144347"/>
          </a:xfrm>
        </p:spPr>
        <p:txBody>
          <a:bodyPr/>
          <a:lstStyle/>
          <a:p>
            <a:r>
              <a:rPr lang="en-US" dirty="0"/>
              <a:t>Shortcomings of the Profitability Index </a:t>
            </a:r>
            <a:r>
              <a:rPr lang="en-US" sz="2800" dirty="0"/>
              <a:t>(1 of 2)</a:t>
            </a:r>
            <a:endParaRPr lang="en-US" sz="2800" noProof="0" dirty="0"/>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37228" y="1860344"/>
            <a:ext cx="8266346" cy="1467513"/>
          </a:xfrm>
        </p:spPr>
        <p:txBody>
          <a:bodyPr wrap="square" lIns="0" tIns="18000" rIns="0" bIns="18000" anchor="ctr">
            <a:spAutoFit/>
          </a:bodyPr>
          <a:lstStyle/>
          <a:p>
            <a:pPr marL="342900" indent="-342900">
              <a:spcBef>
                <a:spcPts val="600"/>
              </a:spcBef>
            </a:pPr>
            <a:r>
              <a:rPr lang="en-US" altLang="en-US" sz="2200" dirty="0"/>
              <a:t>In some situations, the profitability Index does not give an accurate answer</a:t>
            </a:r>
          </a:p>
          <a:p>
            <a:pPr marL="829818" lvl="1" indent="-342900"/>
            <a:r>
              <a:rPr lang="en-US" altLang="en-US" sz="2200" dirty="0"/>
              <a:t>Suppose in that </a:t>
            </a:r>
            <a:r>
              <a:rPr lang="en-US" altLang="en-US" sz="2200" dirty="0" err="1"/>
              <a:t>NetIt</a:t>
            </a:r>
            <a:r>
              <a:rPr lang="en-US" altLang="en-US" sz="2200" dirty="0"/>
              <a:t> has an additional small project with a </a:t>
            </a:r>
            <a:r>
              <a:rPr lang="en-US" altLang="en-US" sz="2200" spc="-300" dirty="0"/>
              <a:t>N P </a:t>
            </a:r>
            <a:r>
              <a:rPr lang="en-US" altLang="en-US" sz="2200" dirty="0"/>
              <a:t>V of only $120,000 that requires three engineers</a:t>
            </a:r>
          </a:p>
        </p:txBody>
      </p:sp>
      <p:sp>
        <p:nvSpPr>
          <p:cNvPr id="4" name="Content Placeholder 3">
            <a:extLst>
              <a:ext uri="{FF2B5EF4-FFF2-40B4-BE49-F238E27FC236}">
                <a16:creationId xmlns:a16="http://schemas.microsoft.com/office/drawing/2014/main" id="{0DD52A53-AA06-30A3-80A8-F6004494B0FE}"/>
              </a:ext>
            </a:extLst>
          </p:cNvPr>
          <p:cNvSpPr>
            <a:spLocks noGrp="1"/>
          </p:cNvSpPr>
          <p:nvPr>
            <p:ph sz="quarter" idx="13"/>
          </p:nvPr>
        </p:nvSpPr>
        <p:spPr>
          <a:xfrm>
            <a:off x="431801" y="3663115"/>
            <a:ext cx="5271416" cy="309840"/>
          </a:xfrm>
        </p:spPr>
        <p:txBody>
          <a:bodyPr wrap="square" lIns="0" tIns="18000" rIns="0" bIns="18000" anchor="ctr">
            <a:spAutoFit/>
          </a:bodyPr>
          <a:lstStyle/>
          <a:p>
            <a:pPr marL="829818" lvl="1" indent="-342900"/>
            <a:r>
              <a:rPr lang="en-US" altLang="en-US" sz="2200" dirty="0"/>
              <a:t>The profitability index in this case is</a:t>
            </a:r>
          </a:p>
        </p:txBody>
      </p:sp>
      <p:graphicFrame>
        <p:nvGraphicFramePr>
          <p:cNvPr id="13" name="Object 12" descr="0.12 over 3 equals 0.04 comma.">
            <a:extLst>
              <a:ext uri="{FF2B5EF4-FFF2-40B4-BE49-F238E27FC236}">
                <a16:creationId xmlns:a16="http://schemas.microsoft.com/office/drawing/2014/main" id="{6A7A8FCE-1AB2-4C60-A79C-79A67793F0BF}"/>
              </a:ext>
            </a:extLst>
          </p:cNvPr>
          <p:cNvGraphicFramePr>
            <a:graphicFrameLocks noChangeAspect="1"/>
          </p:cNvGraphicFramePr>
          <p:nvPr>
            <p:extLst>
              <p:ext uri="{D42A27DB-BD31-4B8C-83A1-F6EECF244321}">
                <p14:modId xmlns:p14="http://schemas.microsoft.com/office/powerpoint/2010/main" val="3092557742"/>
              </p:ext>
            </p:extLst>
          </p:nvPr>
        </p:nvGraphicFramePr>
        <p:xfrm>
          <a:off x="5956867" y="3596961"/>
          <a:ext cx="1310409" cy="616239"/>
        </p:xfrm>
        <a:graphic>
          <a:graphicData uri="http://schemas.openxmlformats.org/presentationml/2006/ole">
            <mc:AlternateContent xmlns:mc="http://schemas.openxmlformats.org/markup-compatibility/2006">
              <mc:Choice xmlns:v="urn:schemas-microsoft-com:vml" Requires="v">
                <p:oleObj name="Equation" r:id="rId2" imgW="838080" imgH="393480" progId="Equation.DSMT4">
                  <p:embed/>
                </p:oleObj>
              </mc:Choice>
              <mc:Fallback>
                <p:oleObj name="Equation" r:id="rId2" imgW="838080" imgH="393480" progId="Equation.DSMT4">
                  <p:embed/>
                  <p:pic>
                    <p:nvPicPr>
                      <p:cNvPr id="6" name="Object 5" descr="Start fraction 0.12 over 3 end fraction = 0.04."/>
                      <p:cNvPicPr/>
                      <p:nvPr/>
                    </p:nvPicPr>
                    <p:blipFill>
                      <a:blip r:embed="rId3"/>
                      <a:stretch>
                        <a:fillRect/>
                      </a:stretch>
                    </p:blipFill>
                    <p:spPr>
                      <a:xfrm>
                        <a:off x="5956867" y="3596961"/>
                        <a:ext cx="1310409" cy="616239"/>
                      </a:xfrm>
                      <a:prstGeom prst="rect">
                        <a:avLst/>
                      </a:prstGeom>
                    </p:spPr>
                  </p:pic>
                </p:oleObj>
              </mc:Fallback>
            </mc:AlternateContent>
          </a:graphicData>
        </a:graphic>
      </p:graphicFrame>
      <p:sp>
        <p:nvSpPr>
          <p:cNvPr id="5" name="Content Placeholder 4">
            <a:extLst>
              <a:ext uri="{FF2B5EF4-FFF2-40B4-BE49-F238E27FC236}">
                <a16:creationId xmlns:a16="http://schemas.microsoft.com/office/drawing/2014/main" id="{B030C7B8-0389-DAFE-D0DE-7BB944A22220}"/>
              </a:ext>
            </a:extLst>
          </p:cNvPr>
          <p:cNvSpPr>
            <a:spLocks noGrp="1"/>
          </p:cNvSpPr>
          <p:nvPr>
            <p:ph sz="quarter" idx="14"/>
          </p:nvPr>
        </p:nvSpPr>
        <p:spPr>
          <a:xfrm>
            <a:off x="1310326" y="4213200"/>
            <a:ext cx="7401874" cy="360277"/>
          </a:xfrm>
        </p:spPr>
        <p:txBody>
          <a:bodyPr wrap="square" lIns="0" tIns="18000" rIns="0" bIns="18000" anchor="ctr">
            <a:spAutoFit/>
          </a:bodyPr>
          <a:lstStyle/>
          <a:p>
            <a:pPr marL="0" lvl="1" indent="0">
              <a:buNone/>
            </a:pPr>
            <a:r>
              <a:rPr lang="en-US" altLang="en-US" sz="2200" dirty="0"/>
              <a:t>so this project would appear at the bottom of the ranking</a:t>
            </a:r>
          </a:p>
        </p:txBody>
      </p:sp>
      <p:sp>
        <p:nvSpPr>
          <p:cNvPr id="6" name="Content Placeholder 5">
            <a:extLst>
              <a:ext uri="{FF2B5EF4-FFF2-40B4-BE49-F238E27FC236}">
                <a16:creationId xmlns:a16="http://schemas.microsoft.com/office/drawing/2014/main" id="{C1C0ACDD-A35B-25D3-4C63-54D32CBC1EA0}"/>
              </a:ext>
            </a:extLst>
          </p:cNvPr>
          <p:cNvSpPr>
            <a:spLocks noGrp="1"/>
          </p:cNvSpPr>
          <p:nvPr>
            <p:ph sz="quarter" idx="15"/>
          </p:nvPr>
        </p:nvSpPr>
        <p:spPr>
          <a:xfrm>
            <a:off x="445854" y="4732029"/>
            <a:ext cx="8266346" cy="1438597"/>
          </a:xfrm>
        </p:spPr>
        <p:txBody>
          <a:bodyPr wrap="square" lIns="0" tIns="18000" rIns="0" bIns="18000" anchor="ctr">
            <a:spAutoFit/>
          </a:bodyPr>
          <a:lstStyle/>
          <a:p>
            <a:pPr marL="829818" lvl="1" indent="-342900"/>
            <a:r>
              <a:rPr lang="en-US" altLang="en-US" sz="2200" dirty="0"/>
              <a:t>However, three of the 190 employees are not being used after the first four projects are selected</a:t>
            </a:r>
          </a:p>
          <a:p>
            <a:pPr marL="829818" lvl="1" indent="-342900"/>
            <a:r>
              <a:rPr lang="en-US" altLang="en-US" sz="2200" dirty="0"/>
              <a:t>As a result, it would make sense to take on this project even though it would be ranked last</a:t>
            </a:r>
          </a:p>
        </p:txBody>
      </p:sp>
    </p:spTree>
    <p:extLst>
      <p:ext uri="{BB962C8B-B14F-4D97-AF65-F5344CB8AC3E}">
        <p14:creationId xmlns:p14="http://schemas.microsoft.com/office/powerpoint/2010/main" val="321395026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17750"/>
            <a:ext cx="8266346" cy="1144347"/>
          </a:xfrm>
        </p:spPr>
        <p:txBody>
          <a:bodyPr/>
          <a:lstStyle/>
          <a:p>
            <a:r>
              <a:rPr lang="en-US" dirty="0"/>
              <a:t>Shortcomings of the Profitability Index </a:t>
            </a:r>
            <a:r>
              <a:rPr lang="en-US" sz="2800" dirty="0"/>
              <a:t>(2 of 2)</a:t>
            </a:r>
            <a:endParaRPr lang="en-US" sz="2800" noProof="0" dirty="0"/>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37228" y="1678693"/>
            <a:ext cx="8266346" cy="775015"/>
          </a:xfrm>
        </p:spPr>
        <p:txBody>
          <a:bodyPr wrap="square" lIns="0" tIns="18000" rIns="0" bIns="18000" anchor="ctr">
            <a:spAutoFit/>
          </a:bodyPr>
          <a:lstStyle/>
          <a:p>
            <a:pPr marL="342900" indent="-342900">
              <a:spcBef>
                <a:spcPts val="600"/>
              </a:spcBef>
            </a:pPr>
            <a:r>
              <a:rPr lang="en-US" altLang="en-US" sz="2400" dirty="0"/>
              <a:t>With multiple resource constraints, the profitability index can break down completely</a:t>
            </a:r>
          </a:p>
        </p:txBody>
      </p:sp>
    </p:spTree>
    <p:extLst>
      <p:ext uri="{BB962C8B-B14F-4D97-AF65-F5344CB8AC3E}">
        <p14:creationId xmlns:p14="http://schemas.microsoft.com/office/powerpoint/2010/main" val="424490174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21370"/>
            <a:ext cx="8266346" cy="590349"/>
          </a:xfrm>
        </p:spPr>
        <p:txBody>
          <a:bodyPr/>
          <a:lstStyle/>
          <a:p>
            <a:r>
              <a:rPr lang="en-US" dirty="0"/>
              <a:t>Chapter Quiz</a:t>
            </a:r>
            <a:endParaRPr lang="en-US" sz="2800" noProof="0" dirty="0"/>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37228" y="1120448"/>
            <a:ext cx="8266346" cy="4776111"/>
          </a:xfrm>
        </p:spPr>
        <p:txBody>
          <a:bodyPr wrap="square" lIns="0" tIns="18000" rIns="0" bIns="18000" anchor="ctr">
            <a:spAutoFit/>
          </a:bodyPr>
          <a:lstStyle/>
          <a:p>
            <a:pPr marL="457200" indent="-457200">
              <a:spcBef>
                <a:spcPts val="600"/>
              </a:spcBef>
              <a:buFont typeface="+mj-lt"/>
              <a:buAutoNum type="arabicPeriod"/>
            </a:pPr>
            <a:r>
              <a:rPr lang="en-US" altLang="en-US" sz="2400" dirty="0"/>
              <a:t>Explain the </a:t>
            </a:r>
            <a:r>
              <a:rPr lang="en-US" altLang="en-US" sz="2400" spc="-300" dirty="0"/>
              <a:t>N P </a:t>
            </a:r>
            <a:r>
              <a:rPr lang="en-US" altLang="en-US" sz="2400" dirty="0"/>
              <a:t>V rule for stand-alone projects.</a:t>
            </a:r>
          </a:p>
          <a:p>
            <a:pPr marL="457200" indent="-457200">
              <a:spcBef>
                <a:spcPts val="600"/>
              </a:spcBef>
              <a:buFont typeface="+mj-lt"/>
              <a:buAutoNum type="arabicPeriod"/>
            </a:pPr>
            <a:r>
              <a:rPr lang="en-US" altLang="en-US" sz="2400" dirty="0"/>
              <a:t>If the </a:t>
            </a:r>
            <a:r>
              <a:rPr lang="en-US" altLang="en-US" sz="2400" spc="-300" dirty="0"/>
              <a:t>I R </a:t>
            </a:r>
            <a:r>
              <a:rPr lang="en-US" altLang="en-US" sz="2400" dirty="0" err="1"/>
              <a:t>R</a:t>
            </a:r>
            <a:r>
              <a:rPr lang="en-US" altLang="en-US" sz="2400" dirty="0"/>
              <a:t> rule and the </a:t>
            </a:r>
            <a:r>
              <a:rPr lang="en-US" altLang="en-US" sz="2400" spc="-300" dirty="0"/>
              <a:t>N P </a:t>
            </a:r>
            <a:r>
              <a:rPr lang="en-US" altLang="en-US" sz="2400" dirty="0"/>
              <a:t>V rule lead to different decisions for a stand-alone project, which should you follow? Why?</a:t>
            </a:r>
          </a:p>
          <a:p>
            <a:pPr marL="457200" indent="-457200">
              <a:spcBef>
                <a:spcPts val="600"/>
              </a:spcBef>
              <a:buFont typeface="+mj-lt"/>
              <a:buAutoNum type="arabicPeriod"/>
            </a:pPr>
            <a:r>
              <a:rPr lang="en-US" altLang="en-US" sz="2400" dirty="0"/>
              <a:t>For mutually exclusive projects, explain why picking one project over another because it has a larger </a:t>
            </a:r>
            <a:r>
              <a:rPr lang="en-US" altLang="en-US" sz="2400" spc="-300" dirty="0"/>
              <a:t>I R </a:t>
            </a:r>
            <a:r>
              <a:rPr lang="en-US" altLang="en-US" sz="2400" dirty="0" err="1"/>
              <a:t>R</a:t>
            </a:r>
            <a:r>
              <a:rPr lang="en-US" altLang="en-US" sz="2400" dirty="0"/>
              <a:t> can lead to mistakes.</a:t>
            </a:r>
          </a:p>
          <a:p>
            <a:pPr marL="457200" indent="-457200">
              <a:spcBef>
                <a:spcPts val="600"/>
              </a:spcBef>
              <a:buFont typeface="+mj-lt"/>
              <a:buAutoNum type="arabicPeriod"/>
            </a:pPr>
            <a:r>
              <a:rPr lang="en-US" altLang="en-US" sz="2400" dirty="0"/>
              <a:t>Explain why ranking projects according to their </a:t>
            </a:r>
            <a:r>
              <a:rPr lang="en-US" altLang="en-US" sz="2400" spc="-300" dirty="0"/>
              <a:t>N P </a:t>
            </a:r>
            <a:r>
              <a:rPr lang="en-US" altLang="en-US" sz="2400" dirty="0"/>
              <a:t>V might not be optimal when you evaluate projects with different resource requirements.</a:t>
            </a:r>
          </a:p>
          <a:p>
            <a:pPr marL="457200" indent="-457200">
              <a:spcBef>
                <a:spcPts val="600"/>
              </a:spcBef>
              <a:buFont typeface="+mj-lt"/>
              <a:buAutoNum type="arabicPeriod"/>
            </a:pPr>
            <a:r>
              <a:rPr lang="en-US" altLang="en-US" sz="2400" dirty="0"/>
              <a:t>How can the profitability index be used to identify attractive projects when there are resource constraints?</a:t>
            </a:r>
          </a:p>
        </p:txBody>
      </p:sp>
    </p:spTree>
    <p:extLst>
      <p:ext uri="{BB962C8B-B14F-4D97-AF65-F5344CB8AC3E}">
        <p14:creationId xmlns:p14="http://schemas.microsoft.com/office/powerpoint/2010/main" val="4201393192"/>
      </p:ext>
    </p:extLst>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4182</TotalTime>
  <Words>4200</Words>
  <Application>Microsoft Macintosh PowerPoint</Application>
  <PresentationFormat>Affichage à l'écran (4:3)</PresentationFormat>
  <Paragraphs>488</Paragraphs>
  <Slides>49</Slides>
  <Notes>11</Notes>
  <HiddenSlides>0</HiddenSlides>
  <MMClips>0</MMClips>
  <ScaleCrop>false</ScaleCrop>
  <HeadingPairs>
    <vt:vector size="8" baseType="variant">
      <vt:variant>
        <vt:lpstr>Polices utilisées</vt:lpstr>
      </vt:variant>
      <vt:variant>
        <vt:i4>2</vt:i4>
      </vt:variant>
      <vt:variant>
        <vt:lpstr>Thème</vt:lpstr>
      </vt:variant>
      <vt:variant>
        <vt:i4>2</vt:i4>
      </vt:variant>
      <vt:variant>
        <vt:lpstr>Serveurs OLE incorporés</vt:lpstr>
      </vt:variant>
      <vt:variant>
        <vt:i4>1</vt:i4>
      </vt:variant>
      <vt:variant>
        <vt:lpstr>Titres des diapositives</vt:lpstr>
      </vt:variant>
      <vt:variant>
        <vt:i4>49</vt:i4>
      </vt:variant>
    </vt:vector>
  </HeadingPairs>
  <TitlesOfParts>
    <vt:vector size="54" baseType="lpstr">
      <vt:lpstr>Times New Roman</vt:lpstr>
      <vt:lpstr>Arial</vt:lpstr>
      <vt:lpstr>USHE</vt:lpstr>
      <vt:lpstr>USHE_slide options</vt:lpstr>
      <vt:lpstr>Equation</vt:lpstr>
      <vt:lpstr>Capital Budgeting</vt:lpstr>
      <vt:lpstr>Outline</vt:lpstr>
      <vt:lpstr>Learning Objectives (1 of 2)</vt:lpstr>
      <vt:lpstr>Learning Objectives (2 of 2)</vt:lpstr>
      <vt:lpstr>1 N P V and Stand-Alone Projects</vt:lpstr>
      <vt:lpstr>Applying the N P V Rule</vt:lpstr>
      <vt:lpstr>Figure 1 : NPV of Fredrick’s Fertilizer Project</vt:lpstr>
      <vt:lpstr>Alternative Rules Versus the N P V Rule</vt:lpstr>
      <vt:lpstr>2. The Internal Rate of Return Rule (1 of 2)</vt:lpstr>
      <vt:lpstr>2. The Internal Rate of Return Rule (1 of 2)</vt:lpstr>
      <vt:lpstr>Applying the IRR rule</vt:lpstr>
      <vt:lpstr>Pitfall 1: Delayed Investments (1 of 3)</vt:lpstr>
      <vt:lpstr>Pitfall 1: Delayed Investments (2 of 3)</vt:lpstr>
      <vt:lpstr>Pitfall 1: Delayed Investments (3 of 3)</vt:lpstr>
      <vt:lpstr>Figure 2 : NPV of Star’s $1 Million Book Deal</vt:lpstr>
      <vt:lpstr>Pitfall 2: Multiple I R R s (1 of 4)</vt:lpstr>
      <vt:lpstr>Pitfall 2: Multiple I R R s (2 of 4)</vt:lpstr>
      <vt:lpstr>Pitfall 2: Multiple I R R s (3 of 4)</vt:lpstr>
      <vt:lpstr>Figure 3 : NPV of Star’s Book Deal with Royalties</vt:lpstr>
      <vt:lpstr>Pitfall 2: Multiple I R R s (4 of 4)</vt:lpstr>
      <vt:lpstr>Pitfall 3: Nonexistent I R R</vt:lpstr>
      <vt:lpstr>Figure 4 : N P V of Star’s Final Offer </vt:lpstr>
      <vt:lpstr>Common Mistake</vt:lpstr>
      <vt:lpstr>3. The Payback Rule (1 of 2)</vt:lpstr>
      <vt:lpstr>Frederick’s Example (1 of 2)</vt:lpstr>
      <vt:lpstr>Frederick’s Example (2 of 2)</vt:lpstr>
      <vt:lpstr>The Payback Rule (2 of 2)</vt:lpstr>
      <vt:lpstr>4 Choosing between Projects</vt:lpstr>
      <vt:lpstr>Mutually exclusive projects (1 of 2)</vt:lpstr>
      <vt:lpstr>Mutually exclusive projects (2 of 2)</vt:lpstr>
      <vt:lpstr>I R R Rule and Mutually Exclusive Investments (1 of 4)</vt:lpstr>
      <vt:lpstr>I R R Rule and Mutually Exclusive Investments (2 of 4)</vt:lpstr>
      <vt:lpstr>I R R Rule and Mutually Exclusive Investments (3 of 4)</vt:lpstr>
      <vt:lpstr>I R R Rule and Mutually Exclusive Investments (4 of 4)</vt:lpstr>
      <vt:lpstr>The Incremental I R R Rule (1 of 2)</vt:lpstr>
      <vt:lpstr>Overhaul Example (1 of 4)</vt:lpstr>
      <vt:lpstr>Overhaul Example (2 of 4)</vt:lpstr>
      <vt:lpstr>Overhaul Example (3 of 4)</vt:lpstr>
      <vt:lpstr>Overhaul Example (4 of 4)</vt:lpstr>
      <vt:lpstr>Figure 5 : Comparison of Minor and Major Overhauls</vt:lpstr>
      <vt:lpstr>The Incremental I R R Rule (2 of 2)</vt:lpstr>
      <vt:lpstr>5. Project Selection with Resource Constraints</vt:lpstr>
      <vt:lpstr>Profitability Index</vt:lpstr>
      <vt:lpstr>NetIt Example (1 of 3)</vt:lpstr>
      <vt:lpstr>NetIt Example (2 of 3)</vt:lpstr>
      <vt:lpstr>NetIt Example (3 of 3)</vt:lpstr>
      <vt:lpstr>Shortcomings of the Profitability Index (1 of 2)</vt:lpstr>
      <vt:lpstr>Shortcomings of the Profitability Index (2 of 2)</vt:lpstr>
      <vt:lpstr>Chapter Quiz</vt:lpstr>
    </vt:vector>
  </TitlesOfParts>
  <Manager/>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Corporate Finance, Sixth Edition, chapter 7TI</dc:title>
  <dc:subject>Business</dc:subject>
  <dc:creator>Berk and DeMarzo</dc:creator>
  <cp:keywords>Corporate Finance</cp:keywords>
  <dc:description>Additional information may be found in the Notes Pane of each slide by pressing F6._x000d_
Alt text for images/ math equations within table cells have been placed behind the object intentionally to provide a better screen reader user experience.</dc:description>
  <cp:lastModifiedBy>S�bastien DEREEPER</cp:lastModifiedBy>
  <cp:revision>640</cp:revision>
  <dcterms:modified xsi:type="dcterms:W3CDTF">2026-09-29T05:26:45Z</dcterms:modified>
</cp:coreProperties>
</file>