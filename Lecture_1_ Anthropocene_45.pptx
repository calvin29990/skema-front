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mp4" ContentType="video/mp4"/>
  <Default Extension="png" ContentType="image/pn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charts/chart1.xml" ContentType="application/vnd.openxmlformats-officedocument.drawingml.chart+xml"/>
  <Override PartName="/ppt/charts/chart2.xml" ContentType="application/vnd.openxmlformats-officedocument.drawingml.chart+xml"/>
  <Override PartName="/ppt/drawings/drawing1.xml" ContentType="application/vnd.openxmlformats-officedocument.drawingml.chartshapes+xml"/>
  <Override PartName="/ppt/charts/chart3.xml" ContentType="application/vnd.openxmlformats-officedocument.drawingml.chart+xml"/>
  <Override PartName="/ppt/charts/chart4.xml" ContentType="application/vnd.openxmlformats-officedocument.drawingml.chart+xml"/>
  <Override PartName="/ppt/notesSlides/notesSlide4.xml" ContentType="application/vnd.openxmlformats-officedocument.presentationml.notesSlide+xml"/>
  <Override PartName="/ppt/charts/chart5.xml" ContentType="application/vnd.openxmlformats-officedocument.drawingml.chart+xml"/>
  <Override PartName="/ppt/drawings/drawing2.xml" ContentType="application/vnd.openxmlformats-officedocument.drawingml.chartshapes+xml"/>
  <Override PartName="/ppt/notesSlides/notesSlide5.xml" ContentType="application/vnd.openxmlformats-officedocument.presentationml.notesSlide+xml"/>
  <Override PartName="/ppt/charts/chart6.xml" ContentType="application/vnd.openxmlformats-officedocument.drawingml.chart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microsoft.com/office/2020/02/relationships/classificationlabels" Target="docMetadata/LabelInfo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notesMasterIdLst>
    <p:notesMasterId r:id="rId23"/>
  </p:notesMasterIdLst>
  <p:sldIdLst>
    <p:sldId id="483" r:id="rId2"/>
    <p:sldId id="471" r:id="rId3"/>
    <p:sldId id="482" r:id="rId4"/>
    <p:sldId id="3872" r:id="rId5"/>
    <p:sldId id="3864" r:id="rId6"/>
    <p:sldId id="3865" r:id="rId7"/>
    <p:sldId id="490" r:id="rId8"/>
    <p:sldId id="3866" r:id="rId9"/>
    <p:sldId id="260" r:id="rId10"/>
    <p:sldId id="3871" r:id="rId11"/>
    <p:sldId id="3868" r:id="rId12"/>
    <p:sldId id="264" r:id="rId13"/>
    <p:sldId id="284" r:id="rId14"/>
    <p:sldId id="300" r:id="rId15"/>
    <p:sldId id="3851" r:id="rId16"/>
    <p:sldId id="494" r:id="rId17"/>
    <p:sldId id="3875" r:id="rId18"/>
    <p:sldId id="3873" r:id="rId19"/>
    <p:sldId id="495" r:id="rId20"/>
    <p:sldId id="3874" r:id="rId21"/>
    <p:sldId id="3869" r:id="rId22"/>
  </p:sldIdLst>
  <p:sldSz cx="12192000" cy="6858000"/>
  <p:notesSz cx="6858000" cy="9144000"/>
  <p:defaultTextStyle>
    <a:defPPr>
      <a:defRPr lang="fr-F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11BE8D37-99B2-6F43-AB1A-B620EAC47373}" v="18" dt="2026-06-01T12:55:14.172"/>
    <p1510:client id="{49B254CE-BA39-B46C-F873-1E6AF5742B29}" v="190" dt="2026-06-02T18:11:37.988"/>
    <p1510:client id="{56E6663A-E683-6952-2EEF-7D134F9CC493}" v="13" dt="2026-06-02T17:16:53.865"/>
    <p1510:client id="{9E9BE355-13B3-1FEE-43EC-0C9A3B7BABFF}" v="33" dt="2026-06-01T12:44:01.674"/>
    <p1510:client id="{C66D57E8-44DD-DCA5-3895-51E5066B4ED4}" v="98" dt="2026-06-02T17:13:18.517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5" autoAdjust="0"/>
    <p:restoredTop sz="94660"/>
  </p:normalViewPr>
  <p:slideViewPr>
    <p:cSldViewPr snapToGrid="0">
      <p:cViewPr varScale="1">
        <p:scale>
          <a:sx n="63" d="100"/>
          <a:sy n="63" d="100"/>
        </p:scale>
        <p:origin x="804" y="5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theme" Target="theme/theme1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microsoft.com/office/2015/10/relationships/revisionInfo" Target="revisionInfo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notesMaster" Target="notesMasters/notesMaster1.xml"/><Relationship Id="rId28" Type="http://schemas.microsoft.com/office/2016/11/relationships/changesInfo" Target="changesInfos/changesInfo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tableStyles" Target="tableStyle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Dhafer Dhafer" userId="42ad58b5a0b79fe0" providerId="Windows Live" clId="Web-{56E6663A-E683-6952-2EEF-7D134F9CC493}"/>
    <pc:docChg chg="modSld">
      <pc:chgData name="Dhafer Dhafer" userId="42ad58b5a0b79fe0" providerId="Windows Live" clId="Web-{56E6663A-E683-6952-2EEF-7D134F9CC493}" dt="2026-06-02T17:16:53.865" v="11" actId="1076"/>
      <pc:docMkLst>
        <pc:docMk/>
      </pc:docMkLst>
      <pc:sldChg chg="delSp modSp">
        <pc:chgData name="Dhafer Dhafer" userId="42ad58b5a0b79fe0" providerId="Windows Live" clId="Web-{56E6663A-E683-6952-2EEF-7D134F9CC493}" dt="2026-06-02T17:16:53.865" v="11" actId="1076"/>
        <pc:sldMkLst>
          <pc:docMk/>
          <pc:sldMk cId="0" sldId="284"/>
        </pc:sldMkLst>
        <pc:spChg chg="del">
          <ac:chgData name="Dhafer Dhafer" userId="42ad58b5a0b79fe0" providerId="Windows Live" clId="Web-{56E6663A-E683-6952-2EEF-7D134F9CC493}" dt="2026-06-02T17:14:12.167" v="0"/>
          <ac:spMkLst>
            <pc:docMk/>
            <pc:sldMk cId="0" sldId="284"/>
            <ac:spMk id="9" creationId="{00000000-0000-0000-0000-000000000000}"/>
          </ac:spMkLst>
        </pc:spChg>
        <pc:spChg chg="mod">
          <ac:chgData name="Dhafer Dhafer" userId="42ad58b5a0b79fe0" providerId="Windows Live" clId="Web-{56E6663A-E683-6952-2EEF-7D134F9CC493}" dt="2026-06-02T17:16:53.865" v="11" actId="1076"/>
          <ac:spMkLst>
            <pc:docMk/>
            <pc:sldMk cId="0" sldId="284"/>
            <ac:spMk id="10" creationId="{00000000-0000-0000-0000-000000000000}"/>
          </ac:spMkLst>
        </pc:spChg>
      </pc:sldChg>
    </pc:docChg>
  </pc:docChgLst>
  <pc:docChgLst>
    <pc:chgData name="Dhafer Dhafer" userId="42ad58b5a0b79fe0" providerId="Windows Live" clId="Web-{C66D57E8-44DD-DCA5-3895-51E5066B4ED4}"/>
    <pc:docChg chg="addSld delSld modSld">
      <pc:chgData name="Dhafer Dhafer" userId="42ad58b5a0b79fe0" providerId="Windows Live" clId="Web-{C66D57E8-44DD-DCA5-3895-51E5066B4ED4}" dt="2026-06-02T17:13:18.517" v="126" actId="1076"/>
      <pc:docMkLst>
        <pc:docMk/>
      </pc:docMkLst>
      <pc:sldChg chg="modSp">
        <pc:chgData name="Dhafer Dhafer" userId="42ad58b5a0b79fe0" providerId="Windows Live" clId="Web-{C66D57E8-44DD-DCA5-3895-51E5066B4ED4}" dt="2026-06-02T17:13:18.517" v="126" actId="1076"/>
        <pc:sldMkLst>
          <pc:docMk/>
          <pc:sldMk cId="0" sldId="284"/>
        </pc:sldMkLst>
        <pc:spChg chg="mod">
          <ac:chgData name="Dhafer Dhafer" userId="42ad58b5a0b79fe0" providerId="Windows Live" clId="Web-{C66D57E8-44DD-DCA5-3895-51E5066B4ED4}" dt="2026-06-02T17:13:18.517" v="126" actId="1076"/>
          <ac:spMkLst>
            <pc:docMk/>
            <pc:sldMk cId="0" sldId="284"/>
            <ac:spMk id="9" creationId="{00000000-0000-0000-0000-000000000000}"/>
          </ac:spMkLst>
        </pc:spChg>
      </pc:sldChg>
      <pc:sldChg chg="modSp">
        <pc:chgData name="Dhafer Dhafer" userId="42ad58b5a0b79fe0" providerId="Windows Live" clId="Web-{C66D57E8-44DD-DCA5-3895-51E5066B4ED4}" dt="2026-06-02T14:15:22.024" v="6" actId="20577"/>
        <pc:sldMkLst>
          <pc:docMk/>
          <pc:sldMk cId="948405104" sldId="471"/>
        </pc:sldMkLst>
        <pc:spChg chg="mod">
          <ac:chgData name="Dhafer Dhafer" userId="42ad58b5a0b79fe0" providerId="Windows Live" clId="Web-{C66D57E8-44DD-DCA5-3895-51E5066B4ED4}" dt="2026-06-02T14:15:22.024" v="6" actId="20577"/>
          <ac:spMkLst>
            <pc:docMk/>
            <pc:sldMk cId="948405104" sldId="471"/>
            <ac:spMk id="2" creationId="{D5306716-2012-7410-7B22-1795E700A259}"/>
          </ac:spMkLst>
        </pc:spChg>
      </pc:sldChg>
      <pc:sldChg chg="modSp">
        <pc:chgData name="Dhafer Dhafer" userId="42ad58b5a0b79fe0" providerId="Windows Live" clId="Web-{C66D57E8-44DD-DCA5-3895-51E5066B4ED4}" dt="2026-06-02T14:19:23.696" v="15" actId="20577"/>
        <pc:sldMkLst>
          <pc:docMk/>
          <pc:sldMk cId="1896691119" sldId="482"/>
        </pc:sldMkLst>
        <pc:spChg chg="mod">
          <ac:chgData name="Dhafer Dhafer" userId="42ad58b5a0b79fe0" providerId="Windows Live" clId="Web-{C66D57E8-44DD-DCA5-3895-51E5066B4ED4}" dt="2026-06-02T14:19:23.696" v="15" actId="20577"/>
          <ac:spMkLst>
            <pc:docMk/>
            <pc:sldMk cId="1896691119" sldId="482"/>
            <ac:spMk id="3" creationId="{9D163B1E-A5CB-4F4E-A76A-31A2A877E98C}"/>
          </ac:spMkLst>
        </pc:spChg>
      </pc:sldChg>
      <pc:sldChg chg="modSp modNotes">
        <pc:chgData name="Dhafer Dhafer" userId="42ad58b5a0b79fe0" providerId="Windows Live" clId="Web-{C66D57E8-44DD-DCA5-3895-51E5066B4ED4}" dt="2026-06-02T14:35:56.096" v="86"/>
        <pc:sldMkLst>
          <pc:docMk/>
          <pc:sldMk cId="4013599610" sldId="3864"/>
        </pc:sldMkLst>
        <pc:spChg chg="mod">
          <ac:chgData name="Dhafer Dhafer" userId="42ad58b5a0b79fe0" providerId="Windows Live" clId="Web-{C66D57E8-44DD-DCA5-3895-51E5066B4ED4}" dt="2026-06-02T14:34:52.670" v="80" actId="1076"/>
          <ac:spMkLst>
            <pc:docMk/>
            <pc:sldMk cId="4013599610" sldId="3864"/>
            <ac:spMk id="3" creationId="{3D6276F5-0137-EF94-4D11-B0B518BB862D}"/>
          </ac:spMkLst>
        </pc:spChg>
        <pc:spChg chg="mod">
          <ac:chgData name="Dhafer Dhafer" userId="42ad58b5a0b79fe0" providerId="Windows Live" clId="Web-{C66D57E8-44DD-DCA5-3895-51E5066B4ED4}" dt="2026-06-02T14:34:28.543" v="79" actId="1076"/>
          <ac:spMkLst>
            <pc:docMk/>
            <pc:sldMk cId="4013599610" sldId="3864"/>
            <ac:spMk id="4" creationId="{60A48DAF-C23E-3CEE-A34E-FB72499C2686}"/>
          </ac:spMkLst>
        </pc:spChg>
        <pc:spChg chg="mod">
          <ac:chgData name="Dhafer Dhafer" userId="42ad58b5a0b79fe0" providerId="Windows Live" clId="Web-{C66D57E8-44DD-DCA5-3895-51E5066B4ED4}" dt="2026-06-02T14:34:21.449" v="78" actId="1076"/>
          <ac:spMkLst>
            <pc:docMk/>
            <pc:sldMk cId="4013599610" sldId="3864"/>
            <ac:spMk id="6" creationId="{3531A78B-4F17-C5B9-8B4F-C45B714D9801}"/>
          </ac:spMkLst>
        </pc:spChg>
      </pc:sldChg>
      <pc:sldChg chg="modSp">
        <pc:chgData name="Dhafer Dhafer" userId="42ad58b5a0b79fe0" providerId="Windows Live" clId="Web-{C66D57E8-44DD-DCA5-3895-51E5066B4ED4}" dt="2026-06-02T14:37:46.072" v="102" actId="20577"/>
        <pc:sldMkLst>
          <pc:docMk/>
          <pc:sldMk cId="1819375899" sldId="3865"/>
        </pc:sldMkLst>
        <pc:spChg chg="mod">
          <ac:chgData name="Dhafer Dhafer" userId="42ad58b5a0b79fe0" providerId="Windows Live" clId="Web-{C66D57E8-44DD-DCA5-3895-51E5066B4ED4}" dt="2026-06-02T14:37:46.072" v="102" actId="20577"/>
          <ac:spMkLst>
            <pc:docMk/>
            <pc:sldMk cId="1819375899" sldId="3865"/>
            <ac:spMk id="3" creationId="{C4A362AB-A42E-E2CA-17E6-DF604D147495}"/>
          </ac:spMkLst>
        </pc:spChg>
      </pc:sldChg>
      <pc:sldChg chg="modNotes">
        <pc:chgData name="Dhafer Dhafer" userId="42ad58b5a0b79fe0" providerId="Windows Live" clId="Web-{C66D57E8-44DD-DCA5-3895-51E5066B4ED4}" dt="2026-06-02T14:39:42.782" v="112"/>
        <pc:sldMkLst>
          <pc:docMk/>
          <pc:sldMk cId="0" sldId="3866"/>
        </pc:sldMkLst>
      </pc:sldChg>
      <pc:sldChg chg="modSp modNotes">
        <pc:chgData name="Dhafer Dhafer" userId="42ad58b5a0b79fe0" providerId="Windows Live" clId="Web-{C66D57E8-44DD-DCA5-3895-51E5066B4ED4}" dt="2026-06-02T14:32:01.564" v="74"/>
        <pc:sldMkLst>
          <pc:docMk/>
          <pc:sldMk cId="4027879156" sldId="3872"/>
        </pc:sldMkLst>
        <pc:spChg chg="mod">
          <ac:chgData name="Dhafer Dhafer" userId="42ad58b5a0b79fe0" providerId="Windows Live" clId="Web-{C66D57E8-44DD-DCA5-3895-51E5066B4ED4}" dt="2026-06-02T14:19:56.573" v="16" actId="20577"/>
          <ac:spMkLst>
            <pc:docMk/>
            <pc:sldMk cId="4027879156" sldId="3872"/>
            <ac:spMk id="2" creationId="{800C06DF-57B4-0DAB-02DD-6A86E4FE14A6}"/>
          </ac:spMkLst>
        </pc:spChg>
        <pc:spChg chg="mod">
          <ac:chgData name="Dhafer Dhafer" userId="42ad58b5a0b79fe0" providerId="Windows Live" clId="Web-{C66D57E8-44DD-DCA5-3895-51E5066B4ED4}" dt="2026-06-02T14:30:40.824" v="60" actId="20577"/>
          <ac:spMkLst>
            <pc:docMk/>
            <pc:sldMk cId="4027879156" sldId="3872"/>
            <ac:spMk id="3" creationId="{FD7DE568-197C-D304-62D1-D7F648DE8F7A}"/>
          </ac:spMkLst>
        </pc:spChg>
      </pc:sldChg>
      <pc:sldChg chg="addSp modSp new del mod setBg">
        <pc:chgData name="Dhafer Dhafer" userId="42ad58b5a0b79fe0" providerId="Windows Live" clId="Web-{C66D57E8-44DD-DCA5-3895-51E5066B4ED4}" dt="2026-06-02T17:04:24.550" v="119"/>
        <pc:sldMkLst>
          <pc:docMk/>
          <pc:sldMk cId="1043835468" sldId="3873"/>
        </pc:sldMkLst>
        <pc:spChg chg="add">
          <ac:chgData name="Dhafer Dhafer" userId="42ad58b5a0b79fe0" providerId="Windows Live" clId="Web-{C66D57E8-44DD-DCA5-3895-51E5066B4ED4}" dt="2026-06-02T16:55:52.373" v="116"/>
          <ac:spMkLst>
            <pc:docMk/>
            <pc:sldMk cId="1043835468" sldId="3873"/>
            <ac:spMk id="7" creationId="{A4EC0E09-17C4-44EA-9B84-0D22583C65C5}"/>
          </ac:spMkLst>
        </pc:spChg>
        <pc:picChg chg="add mod">
          <ac:chgData name="Dhafer Dhafer" userId="42ad58b5a0b79fe0" providerId="Windows Live" clId="Web-{C66D57E8-44DD-DCA5-3895-51E5066B4ED4}" dt="2026-06-02T16:56:05.186" v="118" actId="14100"/>
          <ac:picMkLst>
            <pc:docMk/>
            <pc:sldMk cId="1043835468" sldId="3873"/>
            <ac:picMk id="2" creationId="{A9079A58-145B-21F0-AAEF-39DA9FB9B0D0}"/>
          </ac:picMkLst>
        </pc:picChg>
      </pc:sldChg>
    </pc:docChg>
  </pc:docChgLst>
  <pc:docChgLst>
    <pc:chgData name="Dhafer Dhafer" userId="42ad58b5a0b79fe0" providerId="Windows Live" clId="Web-{49B254CE-BA39-B46C-F873-1E6AF5742B29}"/>
    <pc:docChg chg="addSld delSld modSld">
      <pc:chgData name="Dhafer Dhafer" userId="42ad58b5a0b79fe0" providerId="Windows Live" clId="Web-{49B254CE-BA39-B46C-F873-1E6AF5742B29}" dt="2026-06-02T18:10:51.986" v="139" actId="20577"/>
      <pc:docMkLst>
        <pc:docMk/>
      </pc:docMkLst>
      <pc:sldChg chg="del">
        <pc:chgData name="Dhafer Dhafer" userId="42ad58b5a0b79fe0" providerId="Windows Live" clId="Web-{49B254CE-BA39-B46C-F873-1E6AF5742B29}" dt="2026-06-02T17:29:34.448" v="38"/>
        <pc:sldMkLst>
          <pc:docMk/>
          <pc:sldMk cId="0" sldId="262"/>
        </pc:sldMkLst>
      </pc:sldChg>
      <pc:sldChg chg="addSp delSp modSp modNotes">
        <pc:chgData name="Dhafer Dhafer" userId="42ad58b5a0b79fe0" providerId="Windows Live" clId="Web-{49B254CE-BA39-B46C-F873-1E6AF5742B29}" dt="2026-06-02T17:20:33.185" v="31" actId="14100"/>
        <pc:sldMkLst>
          <pc:docMk/>
          <pc:sldMk cId="0" sldId="284"/>
        </pc:sldMkLst>
        <pc:spChg chg="del">
          <ac:chgData name="Dhafer Dhafer" userId="42ad58b5a0b79fe0" providerId="Windows Live" clId="Web-{49B254CE-BA39-B46C-F873-1E6AF5742B29}" dt="2026-06-02T17:19:23.620" v="8"/>
          <ac:spMkLst>
            <pc:docMk/>
            <pc:sldMk cId="0" sldId="284"/>
            <ac:spMk id="2" creationId="{00000000-0000-0000-0000-000000000000}"/>
          </ac:spMkLst>
        </pc:spChg>
        <pc:spChg chg="del">
          <ac:chgData name="Dhafer Dhafer" userId="42ad58b5a0b79fe0" providerId="Windows Live" clId="Web-{49B254CE-BA39-B46C-F873-1E6AF5742B29}" dt="2026-06-02T17:19:20.729" v="7"/>
          <ac:spMkLst>
            <pc:docMk/>
            <pc:sldMk cId="0" sldId="284"/>
            <ac:spMk id="3" creationId="{00000000-0000-0000-0000-000000000000}"/>
          </ac:spMkLst>
        </pc:spChg>
        <pc:spChg chg="del mod">
          <ac:chgData name="Dhafer Dhafer" userId="42ad58b5a0b79fe0" providerId="Windows Live" clId="Web-{49B254CE-BA39-B46C-F873-1E6AF5742B29}" dt="2026-06-02T17:20:26.622" v="30"/>
          <ac:spMkLst>
            <pc:docMk/>
            <pc:sldMk cId="0" sldId="284"/>
            <ac:spMk id="5" creationId="{00000000-0000-0000-0000-000000000000}"/>
          </ac:spMkLst>
        </pc:spChg>
        <pc:spChg chg="add mod">
          <ac:chgData name="Dhafer Dhafer" userId="42ad58b5a0b79fe0" providerId="Windows Live" clId="Web-{49B254CE-BA39-B46C-F873-1E6AF5742B29}" dt="2026-06-02T17:20:04.730" v="28"/>
          <ac:spMkLst>
            <pc:docMk/>
            <pc:sldMk cId="0" sldId="284"/>
            <ac:spMk id="6" creationId="{308B4528-232C-5A17-4A2E-72C52804E853}"/>
          </ac:spMkLst>
        </pc:spChg>
        <pc:spChg chg="del mod">
          <ac:chgData name="Dhafer Dhafer" userId="42ad58b5a0b79fe0" providerId="Windows Live" clId="Web-{49B254CE-BA39-B46C-F873-1E6AF5742B29}" dt="2026-06-02T17:18:58.509" v="2"/>
          <ac:spMkLst>
            <pc:docMk/>
            <pc:sldMk cId="0" sldId="284"/>
            <ac:spMk id="10" creationId="{00000000-0000-0000-0000-000000000000}"/>
          </ac:spMkLst>
        </pc:spChg>
        <pc:graphicFrameChg chg="mod">
          <ac:chgData name="Dhafer Dhafer" userId="42ad58b5a0b79fe0" providerId="Windows Live" clId="Web-{49B254CE-BA39-B46C-F873-1E6AF5742B29}" dt="2026-06-02T17:20:33.185" v="31" actId="14100"/>
          <ac:graphicFrameMkLst>
            <pc:docMk/>
            <pc:sldMk cId="0" sldId="284"/>
            <ac:graphicFrameMk id="4" creationId="{00000000-0000-0000-0000-000000000000}"/>
          </ac:graphicFrameMkLst>
        </pc:graphicFrameChg>
      </pc:sldChg>
      <pc:sldChg chg="modSp modNotes">
        <pc:chgData name="Dhafer Dhafer" userId="42ad58b5a0b79fe0" providerId="Windows Live" clId="Web-{49B254CE-BA39-B46C-F873-1E6AF5742B29}" dt="2026-06-02T17:29:13.400" v="37"/>
        <pc:sldMkLst>
          <pc:docMk/>
          <pc:sldMk cId="0" sldId="300"/>
        </pc:sldMkLst>
        <pc:spChg chg="mod">
          <ac:chgData name="Dhafer Dhafer" userId="42ad58b5a0b79fe0" providerId="Windows Live" clId="Web-{49B254CE-BA39-B46C-F873-1E6AF5742B29}" dt="2026-06-02T17:22:33.360" v="32" actId="20577"/>
          <ac:spMkLst>
            <pc:docMk/>
            <pc:sldMk cId="0" sldId="300"/>
            <ac:spMk id="6" creationId="{00000000-0000-0000-0000-000000000000}"/>
          </ac:spMkLst>
        </pc:spChg>
      </pc:sldChg>
      <pc:sldChg chg="modSp">
        <pc:chgData name="Dhafer Dhafer" userId="42ad58b5a0b79fe0" providerId="Windows Live" clId="Web-{49B254CE-BA39-B46C-F873-1E6AF5742B29}" dt="2026-06-02T17:30:26.621" v="44" actId="20577"/>
        <pc:sldMkLst>
          <pc:docMk/>
          <pc:sldMk cId="2309088529" sldId="3851"/>
        </pc:sldMkLst>
        <pc:spChg chg="mod">
          <ac:chgData name="Dhafer Dhafer" userId="42ad58b5a0b79fe0" providerId="Windows Live" clId="Web-{49B254CE-BA39-B46C-F873-1E6AF5742B29}" dt="2026-06-02T17:30:09.573" v="39" actId="20577"/>
          <ac:spMkLst>
            <pc:docMk/>
            <pc:sldMk cId="2309088529" sldId="3851"/>
            <ac:spMk id="2" creationId="{8EB25DDF-396C-9532-6B29-9575C067DE9E}"/>
          </ac:spMkLst>
        </pc:spChg>
        <pc:spChg chg="mod">
          <ac:chgData name="Dhafer Dhafer" userId="42ad58b5a0b79fe0" providerId="Windows Live" clId="Web-{49B254CE-BA39-B46C-F873-1E6AF5742B29}" dt="2026-06-02T17:30:26.621" v="44" actId="20577"/>
          <ac:spMkLst>
            <pc:docMk/>
            <pc:sldMk cId="2309088529" sldId="3851"/>
            <ac:spMk id="3" creationId="{BAC668DF-9057-7AE8-08EA-C168F9F9022D}"/>
          </ac:spMkLst>
        </pc:spChg>
      </pc:sldChg>
      <pc:sldChg chg="addSp delSp modSp new modNotes">
        <pc:chgData name="Dhafer Dhafer" userId="42ad58b5a0b79fe0" providerId="Windows Live" clId="Web-{49B254CE-BA39-B46C-F873-1E6AF5742B29}" dt="2026-06-02T17:54:06.141" v="93"/>
        <pc:sldMkLst>
          <pc:docMk/>
          <pc:sldMk cId="406025964" sldId="3873"/>
        </pc:sldMkLst>
        <pc:spChg chg="del">
          <ac:chgData name="Dhafer Dhafer" userId="42ad58b5a0b79fe0" providerId="Windows Live" clId="Web-{49B254CE-BA39-B46C-F873-1E6AF5742B29}" dt="2026-06-02T17:40:10.425" v="46"/>
          <ac:spMkLst>
            <pc:docMk/>
            <pc:sldMk cId="406025964" sldId="3873"/>
            <ac:spMk id="2" creationId="{CCFD5AA3-AC0B-8D2A-8CE5-96CEB422C3E3}"/>
          </ac:spMkLst>
        </pc:spChg>
        <pc:spChg chg="del">
          <ac:chgData name="Dhafer Dhafer" userId="42ad58b5a0b79fe0" providerId="Windows Live" clId="Web-{49B254CE-BA39-B46C-F873-1E6AF5742B29}" dt="2026-06-02T17:40:20.832" v="47"/>
          <ac:spMkLst>
            <pc:docMk/>
            <pc:sldMk cId="406025964" sldId="3873"/>
            <ac:spMk id="3" creationId="{96FEA95E-FBDF-EB25-F51A-032146F9254F}"/>
          </ac:spMkLst>
        </pc:spChg>
        <pc:spChg chg="add mod">
          <ac:chgData name="Dhafer Dhafer" userId="42ad58b5a0b79fe0" providerId="Windows Live" clId="Web-{49B254CE-BA39-B46C-F873-1E6AF5742B29}" dt="2026-06-02T17:49:17.220" v="88" actId="20577"/>
          <ac:spMkLst>
            <pc:docMk/>
            <pc:sldMk cId="406025964" sldId="3873"/>
            <ac:spMk id="4" creationId="{1338524C-678B-A538-7894-F06F09F96E1F}"/>
          </ac:spMkLst>
        </pc:spChg>
        <pc:spChg chg="add del mod">
          <ac:chgData name="Dhafer Dhafer" userId="42ad58b5a0b79fe0" providerId="Windows Live" clId="Web-{49B254CE-BA39-B46C-F873-1E6AF5742B29}" dt="2026-06-02T17:53:06.295" v="91"/>
          <ac:spMkLst>
            <pc:docMk/>
            <pc:sldMk cId="406025964" sldId="3873"/>
            <ac:spMk id="5" creationId="{EE499CC3-8463-4493-F278-9A68B7172535}"/>
          </ac:spMkLst>
        </pc:spChg>
      </pc:sldChg>
      <pc:sldChg chg="addSp modSp new modNotes">
        <pc:chgData name="Dhafer Dhafer" userId="42ad58b5a0b79fe0" providerId="Windows Live" clId="Web-{49B254CE-BA39-B46C-F873-1E6AF5742B29}" dt="2026-06-02T18:06:19.800" v="119" actId="20577"/>
        <pc:sldMkLst>
          <pc:docMk/>
          <pc:sldMk cId="2456378224" sldId="3874"/>
        </pc:sldMkLst>
        <pc:spChg chg="add mod">
          <ac:chgData name="Dhafer Dhafer" userId="42ad58b5a0b79fe0" providerId="Windows Live" clId="Web-{49B254CE-BA39-B46C-F873-1E6AF5742B29}" dt="2026-06-02T18:06:19.800" v="119" actId="20577"/>
          <ac:spMkLst>
            <pc:docMk/>
            <pc:sldMk cId="2456378224" sldId="3874"/>
            <ac:spMk id="2" creationId="{2C6BC5C9-6983-1F2D-6EA2-56E3FBB2BFD5}"/>
          </ac:spMkLst>
        </pc:spChg>
      </pc:sldChg>
      <pc:sldChg chg="addSp modSp new">
        <pc:chgData name="Dhafer Dhafer" userId="42ad58b5a0b79fe0" providerId="Windows Live" clId="Web-{49B254CE-BA39-B46C-F873-1E6AF5742B29}" dt="2026-06-02T18:10:51.986" v="139" actId="20577"/>
        <pc:sldMkLst>
          <pc:docMk/>
          <pc:sldMk cId="4224150104" sldId="3875"/>
        </pc:sldMkLst>
        <pc:spChg chg="add mod">
          <ac:chgData name="Dhafer Dhafer" userId="42ad58b5a0b79fe0" providerId="Windows Live" clId="Web-{49B254CE-BA39-B46C-F873-1E6AF5742B29}" dt="2026-06-02T18:10:51.986" v="139" actId="20577"/>
          <ac:spMkLst>
            <pc:docMk/>
            <pc:sldMk cId="4224150104" sldId="3875"/>
            <ac:spMk id="2" creationId="{A4A172D0-C48B-E0E7-2973-706E49DE8676}"/>
          </ac:spMkLst>
        </pc:spChg>
      </pc:sldChg>
    </pc:docChg>
  </pc:docChgLst>
</pc:chgInfo>
</file>

<file path=ppt/charts/_rels/chart1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.xlsx"/></Relationships>
</file>

<file path=ppt/charts/_rels/chart2.xml.rels><?xml version="1.0" encoding="UTF-8" standalone="yes"?>
<Relationships xmlns="http://schemas.openxmlformats.org/package/2006/relationships"><Relationship Id="rId2" Type="http://schemas.openxmlformats.org/officeDocument/2006/relationships/chartUserShapes" Target="../drawings/drawing1.xml"/><Relationship Id="rId1" Type="http://schemas.openxmlformats.org/officeDocument/2006/relationships/package" Target="../embeddings/Microsoft_Excel_Worksheet1.xlsx"/></Relationships>
</file>

<file path=ppt/charts/_rels/chart3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_rels/chart4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3.xlsx"/></Relationships>
</file>

<file path=ppt/charts/_rels/chart5.xml.rels><?xml version="1.0" encoding="UTF-8" standalone="yes"?>
<Relationships xmlns="http://schemas.openxmlformats.org/package/2006/relationships"><Relationship Id="rId2" Type="http://schemas.openxmlformats.org/officeDocument/2006/relationships/chartUserShapes" Target="../drawings/drawing2.xml"/><Relationship Id="rId1" Type="http://schemas.openxmlformats.org/officeDocument/2006/relationships/package" Target="../embeddings/Microsoft_Excel_Worksheet4.xlsx"/></Relationships>
</file>

<file path=ppt/charts/_rels/chart6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6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fr-FR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>
        <c:manualLayout>
          <c:layoutTarget val="inner"/>
          <c:xMode val="edge"/>
          <c:yMode val="edge"/>
          <c:x val="3.7519128748695313E-2"/>
          <c:y val="4.1482580670471017E-2"/>
          <c:w val="0.93346567444678408"/>
          <c:h val="0.89632653061224488"/>
        </c:manualLayout>
      </c:layout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2024 update</c:v>
                </c:pt>
              </c:strCache>
            </c:strRef>
          </c:tx>
          <c:spPr>
            <a:ln w="38100">
              <a:solidFill>
                <a:srgbClr val="2875DD"/>
              </a:solidFill>
            </a:ln>
          </c:spPr>
          <c:marker>
            <c:symbol val="circle"/>
            <c:size val="5"/>
            <c:spPr>
              <a:solidFill>
                <a:srgbClr val="2875DD"/>
              </a:solidFill>
              <a:ln w="38100">
                <a:solidFill>
                  <a:srgbClr val="2875DD"/>
                </a:solidFill>
              </a:ln>
            </c:spPr>
          </c:marker>
          <c:dLbls>
            <c:spPr>
              <a:noFill/>
              <a:ln>
                <a:noFill/>
              </a:ln>
              <a:effectLst/>
            </c:spPr>
            <c:txPr>
              <a:bodyPr wrap="square" lIns="38100" tIns="19050" rIns="38100" bIns="19050" anchor="ctr">
                <a:spAutoFit/>
              </a:bodyPr>
              <a:lstStyle/>
              <a:p>
                <a:pPr>
                  <a:defRPr sz="1400" b="1"/>
                </a:pPr>
                <a:endParaRPr lang="fr-FR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</c:ext>
            </c:extLst>
          </c:dLbls>
          <c:cat>
            <c:strRef>
              <c:f>Sheet1!$A$2:$A$31</c:f>
              <c:strCache>
                <c:ptCount val="30"/>
                <c:pt idx="0">
                  <c:v>1750</c:v>
                </c:pt>
                <c:pt idx="1">
                  <c:v>1760</c:v>
                </c:pt>
                <c:pt idx="2">
                  <c:v>1770</c:v>
                </c:pt>
                <c:pt idx="3">
                  <c:v>1780</c:v>
                </c:pt>
                <c:pt idx="4">
                  <c:v>1790</c:v>
                </c:pt>
                <c:pt idx="5">
                  <c:v>1800</c:v>
                </c:pt>
                <c:pt idx="6">
                  <c:v>1810</c:v>
                </c:pt>
                <c:pt idx="7">
                  <c:v>1820</c:v>
                </c:pt>
                <c:pt idx="8">
                  <c:v>1830</c:v>
                </c:pt>
                <c:pt idx="9">
                  <c:v>1840</c:v>
                </c:pt>
                <c:pt idx="10">
                  <c:v>1850</c:v>
                </c:pt>
                <c:pt idx="11">
                  <c:v>1860</c:v>
                </c:pt>
                <c:pt idx="12">
                  <c:v>1870</c:v>
                </c:pt>
                <c:pt idx="13">
                  <c:v>1880</c:v>
                </c:pt>
                <c:pt idx="14">
                  <c:v>1890</c:v>
                </c:pt>
                <c:pt idx="15">
                  <c:v>1900</c:v>
                </c:pt>
                <c:pt idx="16">
                  <c:v>1910</c:v>
                </c:pt>
                <c:pt idx="17">
                  <c:v>1920</c:v>
                </c:pt>
                <c:pt idx="18">
                  <c:v>1930</c:v>
                </c:pt>
                <c:pt idx="19">
                  <c:v>1940</c:v>
                </c:pt>
                <c:pt idx="20">
                  <c:v>1950</c:v>
                </c:pt>
                <c:pt idx="21">
                  <c:v>1960</c:v>
                </c:pt>
                <c:pt idx="22">
                  <c:v>1970</c:v>
                </c:pt>
                <c:pt idx="23">
                  <c:v>1980</c:v>
                </c:pt>
                <c:pt idx="24">
                  <c:v>1990</c:v>
                </c:pt>
                <c:pt idx="25">
                  <c:v>2000</c:v>
                </c:pt>
                <c:pt idx="26">
                  <c:v>2010</c:v>
                </c:pt>
                <c:pt idx="27">
                  <c:v>2020</c:v>
                </c:pt>
                <c:pt idx="28">
                  <c:v>2023</c:v>
                </c:pt>
                <c:pt idx="29">
                  <c:v>2025</c:v>
                </c:pt>
              </c:strCache>
            </c:strRef>
          </c:cat>
          <c:val>
            <c:numRef>
              <c:f>Sheet1!$B$2:$B$31</c:f>
              <c:numCache>
                <c:formatCode>General</c:formatCode>
                <c:ptCount val="30"/>
                <c:pt idx="0">
                  <c:v>0.01</c:v>
                </c:pt>
                <c:pt idx="1">
                  <c:v>0.01</c:v>
                </c:pt>
                <c:pt idx="2">
                  <c:v>0.01</c:v>
                </c:pt>
                <c:pt idx="3">
                  <c:v>0.02</c:v>
                </c:pt>
                <c:pt idx="4">
                  <c:v>0.02</c:v>
                </c:pt>
                <c:pt idx="5">
                  <c:v>0.03</c:v>
                </c:pt>
                <c:pt idx="6">
                  <c:v>0.04</c:v>
                </c:pt>
                <c:pt idx="7">
                  <c:v>0.05</c:v>
                </c:pt>
                <c:pt idx="8">
                  <c:v>0.09</c:v>
                </c:pt>
                <c:pt idx="9">
                  <c:v>0.12</c:v>
                </c:pt>
                <c:pt idx="10">
                  <c:v>0.2</c:v>
                </c:pt>
                <c:pt idx="11">
                  <c:v>0.33</c:v>
                </c:pt>
                <c:pt idx="12">
                  <c:v>0.54</c:v>
                </c:pt>
                <c:pt idx="13">
                  <c:v>0.86</c:v>
                </c:pt>
                <c:pt idx="14">
                  <c:v>1.31</c:v>
                </c:pt>
                <c:pt idx="15">
                  <c:v>1.96</c:v>
                </c:pt>
                <c:pt idx="16">
                  <c:v>3.04</c:v>
                </c:pt>
                <c:pt idx="17">
                  <c:v>3.54</c:v>
                </c:pt>
                <c:pt idx="18">
                  <c:v>3.96</c:v>
                </c:pt>
                <c:pt idx="19">
                  <c:v>4.88</c:v>
                </c:pt>
                <c:pt idx="20">
                  <c:v>5.93</c:v>
                </c:pt>
                <c:pt idx="21">
                  <c:v>9.39</c:v>
                </c:pt>
                <c:pt idx="22">
                  <c:v>14.9</c:v>
                </c:pt>
                <c:pt idx="23">
                  <c:v>19.489999999999998</c:v>
                </c:pt>
                <c:pt idx="24">
                  <c:v>22.73</c:v>
                </c:pt>
                <c:pt idx="25">
                  <c:v>25.51</c:v>
                </c:pt>
                <c:pt idx="26">
                  <c:v>33.36</c:v>
                </c:pt>
                <c:pt idx="27">
                  <c:v>35.130000000000003</c:v>
                </c:pt>
                <c:pt idx="28">
                  <c:v>37.79</c:v>
                </c:pt>
                <c:pt idx="29">
                  <c:v>38.1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0-2465-46A1-9EFB-A105CF0EEDAE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marker val="1"/>
        <c:smooth val="0"/>
        <c:axId val="67451136"/>
        <c:axId val="66437120"/>
      </c:lineChart>
      <c:catAx>
        <c:axId val="67451136"/>
        <c:scaling>
          <c:orientation val="minMax"/>
        </c:scaling>
        <c:delete val="0"/>
        <c:axPos val="b"/>
        <c:numFmt formatCode="General" sourceLinked="0"/>
        <c:majorTickMark val="none"/>
        <c:minorTickMark val="none"/>
        <c:tickLblPos val="low"/>
        <c:spPr>
          <a:ln w="25400">
            <a:solidFill>
              <a:srgbClr val="000000"/>
            </a:solidFill>
          </a:ln>
        </c:spPr>
        <c:txPr>
          <a:bodyPr/>
          <a:lstStyle/>
          <a:p>
            <a:pPr>
              <a:defRPr sz="1200" b="1" smtId="4294967295">
                <a:solidFill>
                  <a:srgbClr val="0F283E"/>
                </a:solidFill>
                <a:latin typeface="Open Sans Light"/>
              </a:defRPr>
            </a:pPr>
            <a:endParaRPr lang="fr-FR"/>
          </a:p>
        </c:txPr>
        <c:crossAx val="66437120"/>
        <c:crosses val="autoZero"/>
        <c:auto val="0"/>
        <c:lblAlgn val="ctr"/>
        <c:lblOffset val="100"/>
        <c:noMultiLvlLbl val="0"/>
      </c:catAx>
      <c:valAx>
        <c:axId val="66437120"/>
        <c:scaling>
          <c:orientation val="minMax"/>
          <c:min val="0"/>
        </c:scaling>
        <c:delete val="0"/>
        <c:axPos val="l"/>
        <c:majorGridlines>
          <c:spPr>
            <a:ln w="9525">
              <a:solidFill>
                <a:srgbClr val="2F2F2F"/>
              </a:solidFill>
              <a:prstDash val="dot"/>
            </a:ln>
          </c:spPr>
        </c:majorGridlines>
        <c:title>
          <c:tx>
            <c:rich>
              <a:bodyPr/>
              <a:lstStyle/>
              <a:p>
                <a:pPr>
                  <a:defRPr/>
                </a:pPr>
                <a:r>
                  <a:rPr lang="fr-FR" sz="1000" b="0">
                    <a:solidFill>
                      <a:srgbClr val="0F283E"/>
                    </a:solidFill>
                    <a:latin typeface="Open Sans Light"/>
                  </a:rPr>
                  <a:t>Emissions in GtCO₂</a:t>
                </a:r>
              </a:p>
            </c:rich>
          </c:tx>
          <c:overlay val="0"/>
        </c:title>
        <c:numFmt formatCode="#,##0" sourceLinked="0"/>
        <c:majorTickMark val="none"/>
        <c:minorTickMark val="none"/>
        <c:tickLblPos val="low"/>
        <c:spPr>
          <a:ln>
            <a:noFill/>
          </a:ln>
        </c:spPr>
        <c:txPr>
          <a:bodyPr/>
          <a:lstStyle/>
          <a:p>
            <a:pPr>
              <a:defRPr sz="1000" b="0" smtId="4294967295">
                <a:solidFill>
                  <a:srgbClr val="0F283E"/>
                </a:solidFill>
                <a:latin typeface="Open Sans Light"/>
              </a:defRPr>
            </a:pPr>
            <a:endParaRPr lang="fr-FR"/>
          </a:p>
        </c:txPr>
        <c:crossAx val="67451136"/>
        <c:crosses val="autoZero"/>
        <c:crossBetween val="between"/>
      </c:valAx>
    </c:plotArea>
    <c:plotVisOnly val="1"/>
    <c:dispBlanksAs val="gap"/>
    <c:showDLblsOverMax val="1"/>
  </c:chart>
  <c:txPr>
    <a:bodyPr/>
    <a:lstStyle/>
    <a:p>
      <a:pPr>
        <a:defRPr sz="1800" smtId="4294967295"/>
      </a:pPr>
      <a:endParaRPr lang="fr-FR"/>
    </a:p>
  </c:tx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fr-FR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>
        <c:manualLayout>
          <c:layoutTarget val="inner"/>
          <c:xMode val="edge"/>
          <c:yMode val="edge"/>
          <c:x val="3.4914595187688115E-2"/>
          <c:y val="3.1469769826939033E-2"/>
          <c:w val="0.95408661279337315"/>
          <c:h val="0.85309225680047229"/>
        </c:manualLayout>
      </c:layout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Column1</c:v>
                </c:pt>
              </c:strCache>
            </c:strRef>
          </c:tx>
          <c:spPr>
            <a:ln>
              <a:solidFill>
                <a:srgbClr val="2875DD"/>
              </a:solidFill>
            </a:ln>
          </c:spPr>
          <c:marker>
            <c:symbol val="circle"/>
            <c:size val="5"/>
            <c:spPr>
              <a:solidFill>
                <a:srgbClr val="2875DD"/>
              </a:solidFill>
              <a:ln>
                <a:solidFill>
                  <a:srgbClr val="2875DD"/>
                </a:solidFill>
              </a:ln>
            </c:spPr>
          </c:marker>
          <c:dLbls>
            <c:dLbl>
              <c:idx val="0"/>
              <c:layout>
                <c:manualLayout>
                  <c:x val="-2.5459315962974405E-2"/>
                  <c:y val="3.4875286524605212E-2"/>
                </c:manualLayout>
              </c:layout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1-EE26-49DD-833F-B6B24650394C}"/>
                </c:ext>
              </c:extLst>
            </c:dLbl>
            <c:dLbl>
              <c:idx val="84"/>
              <c:layout>
                <c:manualLayout>
                  <c:x val="-1.5369005064045451E-2"/>
                  <c:y val="-3.4039961013645224E-2"/>
                </c:manualLayout>
              </c:layout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0-EE26-49DD-833F-B6B24650394C}"/>
                </c:ext>
              </c:extLst>
            </c:dLbl>
            <c:spPr>
              <a:noFill/>
              <a:ln>
                <a:noFill/>
              </a:ln>
              <a:effectLst/>
            </c:spPr>
            <c:showLegendKey val="0"/>
            <c:showVal val="0"/>
            <c:showCatName val="0"/>
            <c:showSerName val="0"/>
            <c:showPercent val="0"/>
            <c:showBubbleSize val="0"/>
            <c:extLst>
              <c:ext xmlns:c15="http://schemas.microsoft.com/office/drawing/2012/chart" uri="{CE6537A1-D6FC-4f65-9D91-7224C49458BB}">
                <c15:showLeaderLines val="1"/>
              </c:ext>
            </c:extLst>
          </c:dLbls>
          <c:cat>
            <c:strRef>
              <c:f>Sheet1!$A$2:$A$86</c:f>
              <c:strCache>
                <c:ptCount val="85"/>
                <c:pt idx="0">
                  <c:v>1940</c:v>
                </c:pt>
                <c:pt idx="1">
                  <c:v>1941</c:v>
                </c:pt>
                <c:pt idx="2">
                  <c:v>1942</c:v>
                </c:pt>
                <c:pt idx="3">
                  <c:v>1943</c:v>
                </c:pt>
                <c:pt idx="4">
                  <c:v>1944</c:v>
                </c:pt>
                <c:pt idx="5">
                  <c:v>1945</c:v>
                </c:pt>
                <c:pt idx="6">
                  <c:v>1946</c:v>
                </c:pt>
                <c:pt idx="7">
                  <c:v>1947</c:v>
                </c:pt>
                <c:pt idx="8">
                  <c:v>1948</c:v>
                </c:pt>
                <c:pt idx="9">
                  <c:v>1949</c:v>
                </c:pt>
                <c:pt idx="10">
                  <c:v>1950</c:v>
                </c:pt>
                <c:pt idx="11">
                  <c:v>1951</c:v>
                </c:pt>
                <c:pt idx="12">
                  <c:v>1952</c:v>
                </c:pt>
                <c:pt idx="13">
                  <c:v>1953</c:v>
                </c:pt>
                <c:pt idx="14">
                  <c:v>1954</c:v>
                </c:pt>
                <c:pt idx="15">
                  <c:v>1955</c:v>
                </c:pt>
                <c:pt idx="16">
                  <c:v>1956</c:v>
                </c:pt>
                <c:pt idx="17">
                  <c:v>1957</c:v>
                </c:pt>
                <c:pt idx="18">
                  <c:v>1958</c:v>
                </c:pt>
                <c:pt idx="19">
                  <c:v>1959</c:v>
                </c:pt>
                <c:pt idx="20">
                  <c:v>1960</c:v>
                </c:pt>
                <c:pt idx="21">
                  <c:v>1961</c:v>
                </c:pt>
                <c:pt idx="22">
                  <c:v>1962</c:v>
                </c:pt>
                <c:pt idx="23">
                  <c:v>1963</c:v>
                </c:pt>
                <c:pt idx="24">
                  <c:v>1964</c:v>
                </c:pt>
                <c:pt idx="25">
                  <c:v>1965</c:v>
                </c:pt>
                <c:pt idx="26">
                  <c:v>1966</c:v>
                </c:pt>
                <c:pt idx="27">
                  <c:v>1967</c:v>
                </c:pt>
                <c:pt idx="28">
                  <c:v>1968</c:v>
                </c:pt>
                <c:pt idx="29">
                  <c:v>1969</c:v>
                </c:pt>
                <c:pt idx="30">
                  <c:v>1970</c:v>
                </c:pt>
                <c:pt idx="31">
                  <c:v>1971</c:v>
                </c:pt>
                <c:pt idx="32">
                  <c:v>1972</c:v>
                </c:pt>
                <c:pt idx="33">
                  <c:v>1973</c:v>
                </c:pt>
                <c:pt idx="34">
                  <c:v>1974</c:v>
                </c:pt>
                <c:pt idx="35">
                  <c:v>1975</c:v>
                </c:pt>
                <c:pt idx="36">
                  <c:v>1976</c:v>
                </c:pt>
                <c:pt idx="37">
                  <c:v>1977</c:v>
                </c:pt>
                <c:pt idx="38">
                  <c:v>1978</c:v>
                </c:pt>
                <c:pt idx="39">
                  <c:v>1979</c:v>
                </c:pt>
                <c:pt idx="40">
                  <c:v>1980</c:v>
                </c:pt>
                <c:pt idx="41">
                  <c:v>1981</c:v>
                </c:pt>
                <c:pt idx="42">
                  <c:v>1982</c:v>
                </c:pt>
                <c:pt idx="43">
                  <c:v>1983</c:v>
                </c:pt>
                <c:pt idx="44">
                  <c:v>1984</c:v>
                </c:pt>
                <c:pt idx="45">
                  <c:v>1985</c:v>
                </c:pt>
                <c:pt idx="46">
                  <c:v>1986</c:v>
                </c:pt>
                <c:pt idx="47">
                  <c:v>1987</c:v>
                </c:pt>
                <c:pt idx="48">
                  <c:v>1988</c:v>
                </c:pt>
                <c:pt idx="49">
                  <c:v>1989</c:v>
                </c:pt>
                <c:pt idx="50">
                  <c:v>1990</c:v>
                </c:pt>
                <c:pt idx="51">
                  <c:v>1991</c:v>
                </c:pt>
                <c:pt idx="52">
                  <c:v>1992</c:v>
                </c:pt>
                <c:pt idx="53">
                  <c:v>1993</c:v>
                </c:pt>
                <c:pt idx="54">
                  <c:v>1994</c:v>
                </c:pt>
                <c:pt idx="55">
                  <c:v>1995</c:v>
                </c:pt>
                <c:pt idx="56">
                  <c:v>1996</c:v>
                </c:pt>
                <c:pt idx="57">
                  <c:v>1997</c:v>
                </c:pt>
                <c:pt idx="58">
                  <c:v>1998</c:v>
                </c:pt>
                <c:pt idx="59">
                  <c:v>1999</c:v>
                </c:pt>
                <c:pt idx="60">
                  <c:v>2000</c:v>
                </c:pt>
                <c:pt idx="61">
                  <c:v>2001</c:v>
                </c:pt>
                <c:pt idx="62">
                  <c:v>2002</c:v>
                </c:pt>
                <c:pt idx="63">
                  <c:v>2003</c:v>
                </c:pt>
                <c:pt idx="64">
                  <c:v>2004</c:v>
                </c:pt>
                <c:pt idx="65">
                  <c:v>2005</c:v>
                </c:pt>
                <c:pt idx="66">
                  <c:v>2006</c:v>
                </c:pt>
                <c:pt idx="67">
                  <c:v>2007</c:v>
                </c:pt>
                <c:pt idx="68">
                  <c:v>2008</c:v>
                </c:pt>
                <c:pt idx="69">
                  <c:v>2009</c:v>
                </c:pt>
                <c:pt idx="70">
                  <c:v>2010</c:v>
                </c:pt>
                <c:pt idx="71">
                  <c:v>2011</c:v>
                </c:pt>
                <c:pt idx="72">
                  <c:v>2012</c:v>
                </c:pt>
                <c:pt idx="73">
                  <c:v>2013</c:v>
                </c:pt>
                <c:pt idx="74">
                  <c:v>2014</c:v>
                </c:pt>
                <c:pt idx="75">
                  <c:v>2015</c:v>
                </c:pt>
                <c:pt idx="76">
                  <c:v>2016</c:v>
                </c:pt>
                <c:pt idx="77">
                  <c:v>2017</c:v>
                </c:pt>
                <c:pt idx="78">
                  <c:v>2018</c:v>
                </c:pt>
                <c:pt idx="79">
                  <c:v>2019</c:v>
                </c:pt>
                <c:pt idx="80">
                  <c:v>2020</c:v>
                </c:pt>
                <c:pt idx="81">
                  <c:v>2021</c:v>
                </c:pt>
                <c:pt idx="82">
                  <c:v>2022</c:v>
                </c:pt>
                <c:pt idx="83">
                  <c:v>2023</c:v>
                </c:pt>
                <c:pt idx="84">
                  <c:v>2024*</c:v>
                </c:pt>
              </c:strCache>
            </c:strRef>
          </c:cat>
          <c:val>
            <c:numRef>
              <c:f>Sheet1!$B$2:$B$86</c:f>
              <c:numCache>
                <c:formatCode>General</c:formatCode>
                <c:ptCount val="85"/>
                <c:pt idx="0">
                  <c:v>4.8600000000000003</c:v>
                </c:pt>
                <c:pt idx="1">
                  <c:v>4.97</c:v>
                </c:pt>
                <c:pt idx="2">
                  <c:v>4.96</c:v>
                </c:pt>
                <c:pt idx="3">
                  <c:v>5.04</c:v>
                </c:pt>
                <c:pt idx="4">
                  <c:v>5.12</c:v>
                </c:pt>
                <c:pt idx="5">
                  <c:v>4.26</c:v>
                </c:pt>
                <c:pt idx="6">
                  <c:v>4.6500000000000004</c:v>
                </c:pt>
                <c:pt idx="7">
                  <c:v>5.15</c:v>
                </c:pt>
                <c:pt idx="8">
                  <c:v>5.42</c:v>
                </c:pt>
                <c:pt idx="9">
                  <c:v>5.18</c:v>
                </c:pt>
                <c:pt idx="10">
                  <c:v>5.93</c:v>
                </c:pt>
                <c:pt idx="11">
                  <c:v>6.38</c:v>
                </c:pt>
                <c:pt idx="12">
                  <c:v>6.47</c:v>
                </c:pt>
                <c:pt idx="13">
                  <c:v>6.65</c:v>
                </c:pt>
                <c:pt idx="14">
                  <c:v>6.79</c:v>
                </c:pt>
                <c:pt idx="15">
                  <c:v>7.44</c:v>
                </c:pt>
                <c:pt idx="16">
                  <c:v>7.93</c:v>
                </c:pt>
                <c:pt idx="17">
                  <c:v>8.19</c:v>
                </c:pt>
                <c:pt idx="18">
                  <c:v>8.42</c:v>
                </c:pt>
                <c:pt idx="19">
                  <c:v>8.85</c:v>
                </c:pt>
                <c:pt idx="20">
                  <c:v>9.39</c:v>
                </c:pt>
                <c:pt idx="21">
                  <c:v>9.41</c:v>
                </c:pt>
                <c:pt idx="22">
                  <c:v>9.75</c:v>
                </c:pt>
                <c:pt idx="23">
                  <c:v>10.27</c:v>
                </c:pt>
                <c:pt idx="24">
                  <c:v>10.82</c:v>
                </c:pt>
                <c:pt idx="25">
                  <c:v>11.31</c:v>
                </c:pt>
                <c:pt idx="26">
                  <c:v>11.86</c:v>
                </c:pt>
                <c:pt idx="27">
                  <c:v>12.24</c:v>
                </c:pt>
                <c:pt idx="28">
                  <c:v>12.9</c:v>
                </c:pt>
                <c:pt idx="29">
                  <c:v>13.76</c:v>
                </c:pt>
                <c:pt idx="30">
                  <c:v>14.9</c:v>
                </c:pt>
                <c:pt idx="31">
                  <c:v>15.5</c:v>
                </c:pt>
                <c:pt idx="32">
                  <c:v>16.22</c:v>
                </c:pt>
                <c:pt idx="33">
                  <c:v>17.079999999999998</c:v>
                </c:pt>
                <c:pt idx="34">
                  <c:v>17.010000000000002</c:v>
                </c:pt>
                <c:pt idx="35">
                  <c:v>17.05</c:v>
                </c:pt>
                <c:pt idx="36">
                  <c:v>17.989999999999998</c:v>
                </c:pt>
                <c:pt idx="37">
                  <c:v>18.489999999999998</c:v>
                </c:pt>
                <c:pt idx="38">
                  <c:v>19.059999999999999</c:v>
                </c:pt>
                <c:pt idx="39">
                  <c:v>19.600000000000001</c:v>
                </c:pt>
                <c:pt idx="40">
                  <c:v>19.48</c:v>
                </c:pt>
                <c:pt idx="41">
                  <c:v>19.02</c:v>
                </c:pt>
                <c:pt idx="42">
                  <c:v>18.87</c:v>
                </c:pt>
                <c:pt idx="43">
                  <c:v>18.989999999999998</c:v>
                </c:pt>
                <c:pt idx="44">
                  <c:v>19.64</c:v>
                </c:pt>
                <c:pt idx="45">
                  <c:v>20.309999999999999</c:v>
                </c:pt>
                <c:pt idx="46">
                  <c:v>20.61</c:v>
                </c:pt>
                <c:pt idx="47">
                  <c:v>21.25</c:v>
                </c:pt>
                <c:pt idx="48">
                  <c:v>22.08</c:v>
                </c:pt>
                <c:pt idx="49">
                  <c:v>22.38</c:v>
                </c:pt>
                <c:pt idx="50">
                  <c:v>22.52</c:v>
                </c:pt>
                <c:pt idx="51">
                  <c:v>22.97</c:v>
                </c:pt>
                <c:pt idx="52">
                  <c:v>22.31</c:v>
                </c:pt>
                <c:pt idx="53">
                  <c:v>22.52</c:v>
                </c:pt>
                <c:pt idx="54">
                  <c:v>22.74</c:v>
                </c:pt>
                <c:pt idx="55">
                  <c:v>23.27</c:v>
                </c:pt>
                <c:pt idx="56">
                  <c:v>23.99</c:v>
                </c:pt>
                <c:pt idx="57">
                  <c:v>24.12</c:v>
                </c:pt>
                <c:pt idx="58">
                  <c:v>24.02</c:v>
                </c:pt>
                <c:pt idx="59">
                  <c:v>24.56</c:v>
                </c:pt>
                <c:pt idx="60">
                  <c:v>25.2</c:v>
                </c:pt>
                <c:pt idx="61">
                  <c:v>25.39</c:v>
                </c:pt>
                <c:pt idx="62">
                  <c:v>25.95</c:v>
                </c:pt>
                <c:pt idx="63">
                  <c:v>27.31</c:v>
                </c:pt>
                <c:pt idx="64">
                  <c:v>28.25</c:v>
                </c:pt>
                <c:pt idx="65">
                  <c:v>29.21</c:v>
                </c:pt>
                <c:pt idx="66">
                  <c:v>30.18</c:v>
                </c:pt>
                <c:pt idx="67">
                  <c:v>31.06</c:v>
                </c:pt>
                <c:pt idx="68">
                  <c:v>31.58</c:v>
                </c:pt>
                <c:pt idx="69">
                  <c:v>31.02</c:v>
                </c:pt>
                <c:pt idx="70">
                  <c:v>32.81</c:v>
                </c:pt>
                <c:pt idx="71">
                  <c:v>33.909999999999997</c:v>
                </c:pt>
                <c:pt idx="72">
                  <c:v>34.380000000000003</c:v>
                </c:pt>
                <c:pt idx="73">
                  <c:v>34.65</c:v>
                </c:pt>
                <c:pt idx="74">
                  <c:v>34.770000000000003</c:v>
                </c:pt>
                <c:pt idx="75">
                  <c:v>34.72</c:v>
                </c:pt>
                <c:pt idx="76">
                  <c:v>34.729999999999997</c:v>
                </c:pt>
                <c:pt idx="77">
                  <c:v>35.29</c:v>
                </c:pt>
                <c:pt idx="78">
                  <c:v>36</c:v>
                </c:pt>
                <c:pt idx="79">
                  <c:v>36.369999999999997</c:v>
                </c:pt>
                <c:pt idx="80">
                  <c:v>34.369999999999997</c:v>
                </c:pt>
                <c:pt idx="81">
                  <c:v>36.200000000000003</c:v>
                </c:pt>
                <c:pt idx="82">
                  <c:v>36.5</c:v>
                </c:pt>
                <c:pt idx="83">
                  <c:v>37.01</c:v>
                </c:pt>
                <c:pt idx="84">
                  <c:v>37.409999999999997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55-D41D-4714-A52D-AC8EC919696C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marker val="1"/>
        <c:smooth val="0"/>
        <c:axId val="67451136"/>
        <c:axId val="66437120"/>
      </c:lineChart>
      <c:catAx>
        <c:axId val="67451136"/>
        <c:scaling>
          <c:orientation val="minMax"/>
        </c:scaling>
        <c:delete val="0"/>
        <c:axPos val="b"/>
        <c:numFmt formatCode="General" sourceLinked="0"/>
        <c:majorTickMark val="none"/>
        <c:minorTickMark val="none"/>
        <c:tickLblPos val="low"/>
        <c:spPr>
          <a:ln w="25400">
            <a:solidFill>
              <a:srgbClr val="000000"/>
            </a:solidFill>
          </a:ln>
        </c:spPr>
        <c:txPr>
          <a:bodyPr/>
          <a:lstStyle/>
          <a:p>
            <a:pPr>
              <a:defRPr sz="1000" b="1" smtId="4294967295">
                <a:solidFill>
                  <a:schemeClr val="tx1"/>
                </a:solidFill>
                <a:latin typeface="Open Sans Light"/>
              </a:defRPr>
            </a:pPr>
            <a:endParaRPr lang="fr-FR"/>
          </a:p>
        </c:txPr>
        <c:crossAx val="66437120"/>
        <c:crosses val="autoZero"/>
        <c:auto val="0"/>
        <c:lblAlgn val="ctr"/>
        <c:lblOffset val="100"/>
        <c:noMultiLvlLbl val="0"/>
      </c:catAx>
      <c:valAx>
        <c:axId val="66437120"/>
        <c:scaling>
          <c:orientation val="minMax"/>
          <c:min val="0"/>
        </c:scaling>
        <c:delete val="0"/>
        <c:axPos val="l"/>
        <c:majorGridlines>
          <c:spPr>
            <a:ln w="9525">
              <a:solidFill>
                <a:srgbClr val="2F2F2F"/>
              </a:solidFill>
              <a:prstDash val="dot"/>
            </a:ln>
          </c:spPr>
        </c:majorGridlines>
        <c:title>
          <c:tx>
            <c:rich>
              <a:bodyPr/>
              <a:lstStyle/>
              <a:p>
                <a:pPr>
                  <a:defRPr/>
                </a:pPr>
                <a:r>
                  <a:rPr lang="fr-FR" sz="1000" b="0">
                    <a:solidFill>
                      <a:srgbClr val="0F283E"/>
                    </a:solidFill>
                    <a:latin typeface="Open Sans Light"/>
                  </a:rPr>
                  <a:t>Emissions in billion metric tons</a:t>
                </a:r>
              </a:p>
            </c:rich>
          </c:tx>
          <c:overlay val="0"/>
        </c:title>
        <c:numFmt formatCode="#,##0" sourceLinked="0"/>
        <c:majorTickMark val="none"/>
        <c:minorTickMark val="none"/>
        <c:tickLblPos val="low"/>
        <c:spPr>
          <a:ln>
            <a:noFill/>
          </a:ln>
        </c:spPr>
        <c:txPr>
          <a:bodyPr/>
          <a:lstStyle/>
          <a:p>
            <a:pPr>
              <a:defRPr sz="1000" b="0" smtId="4294967295">
                <a:solidFill>
                  <a:srgbClr val="0F283E"/>
                </a:solidFill>
                <a:latin typeface="Open Sans Light"/>
              </a:defRPr>
            </a:pPr>
            <a:endParaRPr lang="fr-FR"/>
          </a:p>
        </c:txPr>
        <c:crossAx val="67451136"/>
        <c:crosses val="autoZero"/>
        <c:crossBetween val="between"/>
      </c:valAx>
    </c:plotArea>
    <c:plotVisOnly val="1"/>
    <c:dispBlanksAs val="gap"/>
    <c:showDLblsOverMax val="1"/>
  </c:chart>
  <c:txPr>
    <a:bodyPr/>
    <a:lstStyle/>
    <a:p>
      <a:pPr>
        <a:defRPr sz="1800" smtId="4294967295"/>
      </a:pPr>
      <a:endParaRPr lang="fr-FR"/>
    </a:p>
  </c:txPr>
  <c:externalData r:id="rId1">
    <c:autoUpdate val="0"/>
  </c:externalData>
  <c:userShapes r:id="rId2"/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fr-FR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Column1</c:v>
                </c:pt>
              </c:strCache>
            </c:strRef>
          </c:tx>
          <c:spPr>
            <a:solidFill>
              <a:srgbClr val="2875DD"/>
            </a:solidFill>
            <a:ln>
              <a:solidFill>
                <a:srgbClr val="2875DD"/>
              </a:solidFill>
            </a:ln>
          </c:spPr>
          <c:invertIfNegative val="0"/>
          <c:dLbls>
            <c:dLbl>
              <c:idx val="0"/>
              <c:numFmt formatCode="#,##0.00" sourceLinked="0"/>
              <c:spPr/>
              <c:txPr>
                <a:bodyPr/>
                <a:lstStyle/>
                <a:p>
                  <a:pPr>
                    <a:defRPr/>
                  </a:pPr>
                  <a:endParaRPr lang="fr-FR"/>
                </a:p>
              </c:txPr>
              <c:dLblPos val="outEnd"/>
              <c:showLegendKey val="0"/>
              <c:showVal val="1"/>
              <c:showCatName val="0"/>
              <c:showSerName val="0"/>
              <c:showPercent val="0"/>
              <c:showBubbleSize val="0"/>
              <c:extLst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0-52BD-44B6-BDED-3976965D6700}"/>
                </c:ext>
              </c:extLst>
            </c:dLbl>
            <c:dLbl>
              <c:idx val="1"/>
              <c:numFmt formatCode="#,##0.00" sourceLinked="0"/>
              <c:spPr/>
              <c:txPr>
                <a:bodyPr/>
                <a:lstStyle/>
                <a:p>
                  <a:pPr>
                    <a:defRPr/>
                  </a:pPr>
                  <a:endParaRPr lang="fr-FR"/>
                </a:p>
              </c:txPr>
              <c:dLblPos val="outEnd"/>
              <c:showLegendKey val="0"/>
              <c:showVal val="1"/>
              <c:showCatName val="0"/>
              <c:showSerName val="0"/>
              <c:showPercent val="0"/>
              <c:showBubbleSize val="0"/>
              <c:extLst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1-52BD-44B6-BDED-3976965D6700}"/>
                </c:ext>
              </c:extLst>
            </c:dLbl>
            <c:dLbl>
              <c:idx val="2"/>
              <c:numFmt formatCode="#,##0.00" sourceLinked="0"/>
              <c:spPr/>
              <c:txPr>
                <a:bodyPr/>
                <a:lstStyle/>
                <a:p>
                  <a:pPr>
                    <a:defRPr/>
                  </a:pPr>
                  <a:endParaRPr lang="fr-FR"/>
                </a:p>
              </c:txPr>
              <c:dLblPos val="outEnd"/>
              <c:showLegendKey val="0"/>
              <c:showVal val="1"/>
              <c:showCatName val="0"/>
              <c:showSerName val="0"/>
              <c:showPercent val="0"/>
              <c:showBubbleSize val="0"/>
              <c:extLst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2-52BD-44B6-BDED-3976965D6700}"/>
                </c:ext>
              </c:extLst>
            </c:dLbl>
            <c:dLbl>
              <c:idx val="3"/>
              <c:numFmt formatCode="#,##0.00" sourceLinked="0"/>
              <c:spPr/>
              <c:txPr>
                <a:bodyPr/>
                <a:lstStyle/>
                <a:p>
                  <a:pPr>
                    <a:defRPr/>
                  </a:pPr>
                  <a:endParaRPr lang="fr-FR"/>
                </a:p>
              </c:txPr>
              <c:dLblPos val="outEnd"/>
              <c:showLegendKey val="0"/>
              <c:showVal val="1"/>
              <c:showCatName val="0"/>
              <c:showSerName val="0"/>
              <c:showPercent val="0"/>
              <c:showBubbleSize val="0"/>
              <c:extLst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3-52BD-44B6-BDED-3976965D6700}"/>
                </c:ext>
              </c:extLst>
            </c:dLbl>
            <c:dLbl>
              <c:idx val="4"/>
              <c:numFmt formatCode="#,##0.00" sourceLinked="0"/>
              <c:spPr/>
              <c:txPr>
                <a:bodyPr/>
                <a:lstStyle/>
                <a:p>
                  <a:pPr>
                    <a:defRPr/>
                  </a:pPr>
                  <a:endParaRPr lang="fr-FR"/>
                </a:p>
              </c:txPr>
              <c:dLblPos val="outEnd"/>
              <c:showLegendKey val="0"/>
              <c:showVal val="1"/>
              <c:showCatName val="0"/>
              <c:showSerName val="0"/>
              <c:showPercent val="0"/>
              <c:showBubbleSize val="0"/>
              <c:extLst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4-52BD-44B6-BDED-3976965D6700}"/>
                </c:ext>
              </c:extLst>
            </c:dLbl>
            <c:dLbl>
              <c:idx val="5"/>
              <c:numFmt formatCode="#,##0" sourceLinked="0"/>
              <c:spPr/>
              <c:txPr>
                <a:bodyPr/>
                <a:lstStyle/>
                <a:p>
                  <a:pPr>
                    <a:defRPr/>
                  </a:pPr>
                  <a:endParaRPr lang="fr-FR"/>
                </a:p>
              </c:txPr>
              <c:dLblPos val="outEnd"/>
              <c:showLegendKey val="0"/>
              <c:showVal val="1"/>
              <c:showCatName val="0"/>
              <c:showSerName val="0"/>
              <c:showPercent val="0"/>
              <c:showBubbleSize val="0"/>
              <c:extLst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5-52BD-44B6-BDED-3976965D6700}"/>
                </c:ext>
              </c:extLst>
            </c:dLbl>
            <c:dLbl>
              <c:idx val="6"/>
              <c:numFmt formatCode="#,##0.00" sourceLinked="0"/>
              <c:spPr/>
              <c:txPr>
                <a:bodyPr/>
                <a:lstStyle/>
                <a:p>
                  <a:pPr>
                    <a:defRPr/>
                  </a:pPr>
                  <a:endParaRPr lang="fr-FR"/>
                </a:p>
              </c:txPr>
              <c:dLblPos val="outEnd"/>
              <c:showLegendKey val="0"/>
              <c:showVal val="1"/>
              <c:showCatName val="0"/>
              <c:showSerName val="0"/>
              <c:showPercent val="0"/>
              <c:showBubbleSize val="0"/>
              <c:extLst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6-52BD-44B6-BDED-3976965D6700}"/>
                </c:ext>
              </c:extLst>
            </c:dLbl>
            <c:dLbl>
              <c:idx val="7"/>
              <c:numFmt formatCode="#,##0.00" sourceLinked="0"/>
              <c:spPr/>
              <c:txPr>
                <a:bodyPr/>
                <a:lstStyle/>
                <a:p>
                  <a:pPr>
                    <a:defRPr/>
                  </a:pPr>
                  <a:endParaRPr lang="fr-FR"/>
                </a:p>
              </c:txPr>
              <c:dLblPos val="outEnd"/>
              <c:showLegendKey val="0"/>
              <c:showVal val="1"/>
              <c:showCatName val="0"/>
              <c:showSerName val="0"/>
              <c:showPercent val="0"/>
              <c:showBubbleSize val="0"/>
              <c:extLst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7-52BD-44B6-BDED-3976965D6700}"/>
                </c:ext>
              </c:extLst>
            </c:dLbl>
            <c:dLbl>
              <c:idx val="8"/>
              <c:numFmt formatCode="#,##0.00" sourceLinked="0"/>
              <c:spPr/>
              <c:txPr>
                <a:bodyPr/>
                <a:lstStyle/>
                <a:p>
                  <a:pPr>
                    <a:defRPr/>
                  </a:pPr>
                  <a:endParaRPr lang="fr-FR"/>
                </a:p>
              </c:txPr>
              <c:dLblPos val="outEnd"/>
              <c:showLegendKey val="0"/>
              <c:showVal val="1"/>
              <c:showCatName val="0"/>
              <c:showSerName val="0"/>
              <c:showPercent val="0"/>
              <c:showBubbleSize val="0"/>
              <c:extLst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8-52BD-44B6-BDED-3976965D6700}"/>
                </c:ext>
              </c:extLst>
            </c:dLbl>
            <c:dLbl>
              <c:idx val="9"/>
              <c:numFmt formatCode="#,##0.00" sourceLinked="0"/>
              <c:spPr/>
              <c:txPr>
                <a:bodyPr/>
                <a:lstStyle/>
                <a:p>
                  <a:pPr>
                    <a:defRPr/>
                  </a:pPr>
                  <a:endParaRPr lang="fr-FR"/>
                </a:p>
              </c:txPr>
              <c:dLblPos val="outEnd"/>
              <c:showLegendKey val="0"/>
              <c:showVal val="1"/>
              <c:showCatName val="0"/>
              <c:showSerName val="0"/>
              <c:showPercent val="0"/>
              <c:showBubbleSize val="0"/>
              <c:extLst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9-52BD-44B6-BDED-3976965D6700}"/>
                </c:ext>
              </c:extLst>
            </c:dLbl>
            <c:dLbl>
              <c:idx val="10"/>
              <c:numFmt formatCode="#,##0.00" sourceLinked="0"/>
              <c:spPr/>
              <c:txPr>
                <a:bodyPr/>
                <a:lstStyle/>
                <a:p>
                  <a:pPr>
                    <a:defRPr/>
                  </a:pPr>
                  <a:endParaRPr lang="fr-FR"/>
                </a:p>
              </c:txPr>
              <c:dLblPos val="outEnd"/>
              <c:showLegendKey val="0"/>
              <c:showVal val="1"/>
              <c:showCatName val="0"/>
              <c:showSerName val="0"/>
              <c:showPercent val="0"/>
              <c:showBubbleSize val="0"/>
              <c:extLst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A-52BD-44B6-BDED-3976965D6700}"/>
                </c:ext>
              </c:extLst>
            </c:dLbl>
            <c:spPr>
              <a:noFill/>
              <a:ln>
                <a:noFill/>
              </a:ln>
              <a:effectLst/>
            </c:sp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Sheet1!$A$2:$A$12</c:f>
              <c:strCache>
                <c:ptCount val="11"/>
                <c:pt idx="0">
                  <c:v>1910s</c:v>
                </c:pt>
                <c:pt idx="1">
                  <c:v>1920s</c:v>
                </c:pt>
                <c:pt idx="2">
                  <c:v>1930s</c:v>
                </c:pt>
                <c:pt idx="3">
                  <c:v>1940s</c:v>
                </c:pt>
                <c:pt idx="4">
                  <c:v>1950s</c:v>
                </c:pt>
                <c:pt idx="5">
                  <c:v>1960s</c:v>
                </c:pt>
                <c:pt idx="6">
                  <c:v>1970s</c:v>
                </c:pt>
                <c:pt idx="7">
                  <c:v>1980s</c:v>
                </c:pt>
                <c:pt idx="8">
                  <c:v>1990s</c:v>
                </c:pt>
                <c:pt idx="9">
                  <c:v>2000s</c:v>
                </c:pt>
                <c:pt idx="10">
                  <c:v>2010s*</c:v>
                </c:pt>
              </c:strCache>
            </c:strRef>
          </c:cat>
          <c:val>
            <c:numRef>
              <c:f>Sheet1!$B$2:$B$12</c:f>
              <c:numCache>
                <c:formatCode>General</c:formatCode>
                <c:ptCount val="11"/>
                <c:pt idx="0">
                  <c:v>-0.38</c:v>
                </c:pt>
                <c:pt idx="1">
                  <c:v>-0.25</c:v>
                </c:pt>
                <c:pt idx="2">
                  <c:v>-7.0000000000000007E-2</c:v>
                </c:pt>
                <c:pt idx="3">
                  <c:v>0.04</c:v>
                </c:pt>
                <c:pt idx="4">
                  <c:v>-0.06</c:v>
                </c:pt>
                <c:pt idx="5">
                  <c:v>0</c:v>
                </c:pt>
                <c:pt idx="6">
                  <c:v>0.06</c:v>
                </c:pt>
                <c:pt idx="7">
                  <c:v>0.35</c:v>
                </c:pt>
                <c:pt idx="8">
                  <c:v>0.59</c:v>
                </c:pt>
                <c:pt idx="9">
                  <c:v>0.94</c:v>
                </c:pt>
                <c:pt idx="10">
                  <c:v>1.21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B-52BD-44B6-BDED-3976965D6700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80"/>
        <c:overlap val="-30"/>
        <c:axId val="67451136"/>
        <c:axId val="66437120"/>
      </c:barChart>
      <c:catAx>
        <c:axId val="67451136"/>
        <c:scaling>
          <c:orientation val="minMax"/>
        </c:scaling>
        <c:delete val="0"/>
        <c:axPos val="b"/>
        <c:numFmt formatCode="General" sourceLinked="0"/>
        <c:majorTickMark val="none"/>
        <c:minorTickMark val="none"/>
        <c:tickLblPos val="low"/>
        <c:spPr>
          <a:ln w="25400">
            <a:solidFill>
              <a:srgbClr val="000000"/>
            </a:solidFill>
          </a:ln>
        </c:spPr>
        <c:crossAx val="66437120"/>
        <c:crosses val="autoZero"/>
        <c:auto val="0"/>
        <c:lblAlgn val="ctr"/>
        <c:lblOffset val="100"/>
        <c:noMultiLvlLbl val="0"/>
      </c:catAx>
      <c:valAx>
        <c:axId val="66437120"/>
        <c:scaling>
          <c:orientation val="minMax"/>
        </c:scaling>
        <c:delete val="0"/>
        <c:axPos val="l"/>
        <c:majorGridlines>
          <c:spPr>
            <a:ln w="9525">
              <a:solidFill>
                <a:srgbClr val="2F2F2F"/>
              </a:solidFill>
              <a:prstDash val="dot"/>
            </a:ln>
          </c:spPr>
        </c:majorGridlines>
        <c:title>
          <c:tx>
            <c:rich>
              <a:bodyPr/>
              <a:lstStyle/>
              <a:p>
                <a:pPr>
                  <a:defRPr/>
                </a:pPr>
                <a:r>
                  <a:rPr lang="fr-FR"/>
                  <a:t>Temperature change in degrees Celsius</a:t>
                </a:r>
              </a:p>
            </c:rich>
          </c:tx>
          <c:overlay val="0"/>
        </c:title>
        <c:numFmt formatCode="#,##0.0" sourceLinked="0"/>
        <c:majorTickMark val="none"/>
        <c:minorTickMark val="none"/>
        <c:tickLblPos val="low"/>
        <c:spPr>
          <a:ln>
            <a:noFill/>
          </a:ln>
        </c:spPr>
        <c:crossAx val="67451136"/>
        <c:crosses val="autoZero"/>
        <c:crossBetween val="between"/>
      </c:valAx>
    </c:plotArea>
    <c:plotVisOnly val="1"/>
    <c:dispBlanksAs val="gap"/>
    <c:showDLblsOverMax val="1"/>
  </c:chart>
  <c:txPr>
    <a:bodyPr/>
    <a:lstStyle/>
    <a:p>
      <a:pPr>
        <a:defRPr sz="1200" b="1" smtId="4294967295"/>
      </a:pPr>
      <a:endParaRPr lang="fr-FR"/>
    </a:p>
  </c:txPr>
  <c:externalData r:id="rId1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fr-FR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barChart>
        <c:barDir val="bar"/>
        <c:grouping val="stack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Asia Pacific</c:v>
                </c:pt>
              </c:strCache>
            </c:strRef>
          </c:tx>
          <c:spPr>
            <a:solidFill>
              <a:srgbClr val="2875DD"/>
            </a:solidFill>
            <a:ln>
              <a:solidFill>
                <a:srgbClr val="2875DD"/>
              </a:solidFill>
            </a:ln>
          </c:spPr>
          <c:invertIfNegative val="0"/>
          <c:cat>
            <c:numRef>
              <c:f>Sheet1!$A$2:$A$14</c:f>
              <c:numCache>
                <c:formatCode>General</c:formatCode>
                <c:ptCount val="13"/>
                <c:pt idx="0">
                  <c:v>1965</c:v>
                </c:pt>
                <c:pt idx="1">
                  <c:v>1970</c:v>
                </c:pt>
                <c:pt idx="2">
                  <c:v>1975</c:v>
                </c:pt>
                <c:pt idx="3">
                  <c:v>1980</c:v>
                </c:pt>
                <c:pt idx="4">
                  <c:v>1985</c:v>
                </c:pt>
                <c:pt idx="5">
                  <c:v>1990</c:v>
                </c:pt>
                <c:pt idx="6">
                  <c:v>1995</c:v>
                </c:pt>
                <c:pt idx="7">
                  <c:v>2000</c:v>
                </c:pt>
                <c:pt idx="8">
                  <c:v>2005</c:v>
                </c:pt>
                <c:pt idx="9">
                  <c:v>2015</c:v>
                </c:pt>
                <c:pt idx="10">
                  <c:v>2019</c:v>
                </c:pt>
                <c:pt idx="11">
                  <c:v>2020</c:v>
                </c:pt>
                <c:pt idx="12">
                  <c:v>2023</c:v>
                </c:pt>
              </c:numCache>
            </c:numRef>
          </c:cat>
          <c:val>
            <c:numRef>
              <c:f>Sheet1!$B$2:$B$14</c:f>
              <c:numCache>
                <c:formatCode>General</c:formatCode>
                <c:ptCount val="13"/>
                <c:pt idx="0">
                  <c:v>1435.3</c:v>
                </c:pt>
                <c:pt idx="1">
                  <c:v>2253.1</c:v>
                </c:pt>
                <c:pt idx="2">
                  <c:v>2972.5</c:v>
                </c:pt>
                <c:pt idx="3">
                  <c:v>3569.6</c:v>
                </c:pt>
                <c:pt idx="4">
                  <c:v>4163.5</c:v>
                </c:pt>
                <c:pt idx="5">
                  <c:v>5333.8</c:v>
                </c:pt>
                <c:pt idx="6">
                  <c:v>6743.6</c:v>
                </c:pt>
                <c:pt idx="7">
                  <c:v>7684.8</c:v>
                </c:pt>
                <c:pt idx="8">
                  <c:v>11179.1</c:v>
                </c:pt>
                <c:pt idx="9">
                  <c:v>15826.7</c:v>
                </c:pt>
                <c:pt idx="10">
                  <c:v>17229.099999999999</c:v>
                </c:pt>
                <c:pt idx="11">
                  <c:v>16959.400000000001</c:v>
                </c:pt>
                <c:pt idx="12">
                  <c:v>18853.5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D-8B07-4D54-91BA-3B8385D2D14E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North America</c:v>
                </c:pt>
              </c:strCache>
            </c:strRef>
          </c:tx>
          <c:spPr>
            <a:solidFill>
              <a:srgbClr val="0F283E"/>
            </a:solidFill>
            <a:ln>
              <a:solidFill>
                <a:srgbClr val="0F283E"/>
              </a:solidFill>
            </a:ln>
          </c:spPr>
          <c:invertIfNegative val="0"/>
          <c:cat>
            <c:numRef>
              <c:f>Sheet1!$A$2:$A$14</c:f>
              <c:numCache>
                <c:formatCode>General</c:formatCode>
                <c:ptCount val="13"/>
                <c:pt idx="0">
                  <c:v>1965</c:v>
                </c:pt>
                <c:pt idx="1">
                  <c:v>1970</c:v>
                </c:pt>
                <c:pt idx="2">
                  <c:v>1975</c:v>
                </c:pt>
                <c:pt idx="3">
                  <c:v>1980</c:v>
                </c:pt>
                <c:pt idx="4">
                  <c:v>1985</c:v>
                </c:pt>
                <c:pt idx="5">
                  <c:v>1990</c:v>
                </c:pt>
                <c:pt idx="6">
                  <c:v>1995</c:v>
                </c:pt>
                <c:pt idx="7">
                  <c:v>2000</c:v>
                </c:pt>
                <c:pt idx="8">
                  <c:v>2005</c:v>
                </c:pt>
                <c:pt idx="9">
                  <c:v>2015</c:v>
                </c:pt>
                <c:pt idx="10">
                  <c:v>2019</c:v>
                </c:pt>
                <c:pt idx="11">
                  <c:v>2020</c:v>
                </c:pt>
                <c:pt idx="12">
                  <c:v>2023</c:v>
                </c:pt>
              </c:numCache>
            </c:numRef>
          </c:cat>
          <c:val>
            <c:numRef>
              <c:f>Sheet1!$C$2:$C$14</c:f>
              <c:numCache>
                <c:formatCode>General</c:formatCode>
                <c:ptCount val="13"/>
                <c:pt idx="0">
                  <c:v>3774.4</c:v>
                </c:pt>
                <c:pt idx="1">
                  <c:v>4700.6000000000004</c:v>
                </c:pt>
                <c:pt idx="2">
                  <c:v>4916</c:v>
                </c:pt>
                <c:pt idx="3">
                  <c:v>5381.1</c:v>
                </c:pt>
                <c:pt idx="4">
                  <c:v>5213.3999999999996</c:v>
                </c:pt>
                <c:pt idx="5">
                  <c:v>5696.8</c:v>
                </c:pt>
                <c:pt idx="6">
                  <c:v>6004.2</c:v>
                </c:pt>
                <c:pt idx="7">
                  <c:v>6644.3</c:v>
                </c:pt>
                <c:pt idx="8">
                  <c:v>6884.5</c:v>
                </c:pt>
                <c:pt idx="9">
                  <c:v>6178.1</c:v>
                </c:pt>
                <c:pt idx="10">
                  <c:v>6025.8</c:v>
                </c:pt>
                <c:pt idx="11">
                  <c:v>5382.4</c:v>
                </c:pt>
                <c:pt idx="12">
                  <c:v>5649.1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1B-8B07-4D54-91BA-3B8385D2D14E}"/>
            </c:ext>
          </c:extLst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Europe</c:v>
                </c:pt>
              </c:strCache>
            </c:strRef>
          </c:tx>
          <c:spPr>
            <a:solidFill>
              <a:srgbClr val="BABABA"/>
            </a:solidFill>
            <a:ln>
              <a:solidFill>
                <a:srgbClr val="BABABA"/>
              </a:solidFill>
            </a:ln>
          </c:spPr>
          <c:invertIfNegative val="0"/>
          <c:cat>
            <c:numRef>
              <c:f>Sheet1!$A$2:$A$14</c:f>
              <c:numCache>
                <c:formatCode>General</c:formatCode>
                <c:ptCount val="13"/>
                <c:pt idx="0">
                  <c:v>1965</c:v>
                </c:pt>
                <c:pt idx="1">
                  <c:v>1970</c:v>
                </c:pt>
                <c:pt idx="2">
                  <c:v>1975</c:v>
                </c:pt>
                <c:pt idx="3">
                  <c:v>1980</c:v>
                </c:pt>
                <c:pt idx="4">
                  <c:v>1985</c:v>
                </c:pt>
                <c:pt idx="5">
                  <c:v>1990</c:v>
                </c:pt>
                <c:pt idx="6">
                  <c:v>1995</c:v>
                </c:pt>
                <c:pt idx="7">
                  <c:v>2000</c:v>
                </c:pt>
                <c:pt idx="8">
                  <c:v>2005</c:v>
                </c:pt>
                <c:pt idx="9">
                  <c:v>2015</c:v>
                </c:pt>
                <c:pt idx="10">
                  <c:v>2019</c:v>
                </c:pt>
                <c:pt idx="11">
                  <c:v>2020</c:v>
                </c:pt>
                <c:pt idx="12">
                  <c:v>2023</c:v>
                </c:pt>
              </c:numCache>
            </c:numRef>
          </c:cat>
          <c:val>
            <c:numRef>
              <c:f>Sheet1!$D$2:$D$14</c:f>
              <c:numCache>
                <c:formatCode>General</c:formatCode>
                <c:ptCount val="13"/>
                <c:pt idx="0">
                  <c:v>3440.5</c:v>
                </c:pt>
                <c:pt idx="1">
                  <c:v>4236.2</c:v>
                </c:pt>
                <c:pt idx="2">
                  <c:v>4449.3999999999996</c:v>
                </c:pt>
                <c:pt idx="3">
                  <c:v>4808.1000000000004</c:v>
                </c:pt>
                <c:pt idx="4">
                  <c:v>5401</c:v>
                </c:pt>
                <c:pt idx="5">
                  <c:v>5452.6</c:v>
                </c:pt>
                <c:pt idx="6">
                  <c:v>4819.3999999999996</c:v>
                </c:pt>
                <c:pt idx="7">
                  <c:v>4801.3999999999996</c:v>
                </c:pt>
                <c:pt idx="8">
                  <c:v>4985.6000000000004</c:v>
                </c:pt>
                <c:pt idx="9">
                  <c:v>4210</c:v>
                </c:pt>
                <c:pt idx="10">
                  <c:v>4081.5</c:v>
                </c:pt>
                <c:pt idx="11">
                  <c:v>3625</c:v>
                </c:pt>
                <c:pt idx="12">
                  <c:v>3546.8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29-8B07-4D54-91BA-3B8385D2D14E}"/>
            </c:ext>
          </c:extLst>
        </c:ser>
        <c:ser>
          <c:idx val="3"/>
          <c:order val="3"/>
          <c:tx>
            <c:strRef>
              <c:f>Sheet1!$E$1</c:f>
              <c:strCache>
                <c:ptCount val="1"/>
                <c:pt idx="0">
                  <c:v>Middle East</c:v>
                </c:pt>
              </c:strCache>
            </c:strRef>
          </c:tx>
          <c:spPr>
            <a:solidFill>
              <a:srgbClr val="A60B0B"/>
            </a:solidFill>
            <a:ln>
              <a:solidFill>
                <a:srgbClr val="A60B0B"/>
              </a:solidFill>
            </a:ln>
          </c:spPr>
          <c:invertIfNegative val="0"/>
          <c:cat>
            <c:numRef>
              <c:f>Sheet1!$A$2:$A$14</c:f>
              <c:numCache>
                <c:formatCode>General</c:formatCode>
                <c:ptCount val="13"/>
                <c:pt idx="0">
                  <c:v>1965</c:v>
                </c:pt>
                <c:pt idx="1">
                  <c:v>1970</c:v>
                </c:pt>
                <c:pt idx="2">
                  <c:v>1975</c:v>
                </c:pt>
                <c:pt idx="3">
                  <c:v>1980</c:v>
                </c:pt>
                <c:pt idx="4">
                  <c:v>1985</c:v>
                </c:pt>
                <c:pt idx="5">
                  <c:v>1990</c:v>
                </c:pt>
                <c:pt idx="6">
                  <c:v>1995</c:v>
                </c:pt>
                <c:pt idx="7">
                  <c:v>2000</c:v>
                </c:pt>
                <c:pt idx="8">
                  <c:v>2005</c:v>
                </c:pt>
                <c:pt idx="9">
                  <c:v>2015</c:v>
                </c:pt>
                <c:pt idx="10">
                  <c:v>2019</c:v>
                </c:pt>
                <c:pt idx="11">
                  <c:v>2020</c:v>
                </c:pt>
                <c:pt idx="12">
                  <c:v>2023</c:v>
                </c:pt>
              </c:numCache>
            </c:numRef>
          </c:cat>
          <c:val>
            <c:numRef>
              <c:f>Sheet1!$E$2:$E$14</c:f>
              <c:numCache>
                <c:formatCode>General</c:formatCode>
                <c:ptCount val="13"/>
                <c:pt idx="0">
                  <c:v>132</c:v>
                </c:pt>
                <c:pt idx="1">
                  <c:v>169.8</c:v>
                </c:pt>
                <c:pt idx="2">
                  <c:v>224.4</c:v>
                </c:pt>
                <c:pt idx="3">
                  <c:v>340.6</c:v>
                </c:pt>
                <c:pt idx="4">
                  <c:v>532.9</c:v>
                </c:pt>
                <c:pt idx="5">
                  <c:v>673</c:v>
                </c:pt>
                <c:pt idx="6">
                  <c:v>897</c:v>
                </c:pt>
                <c:pt idx="7">
                  <c:v>1048.5999999999999</c:v>
                </c:pt>
                <c:pt idx="8">
                  <c:v>1341</c:v>
                </c:pt>
                <c:pt idx="9">
                  <c:v>2006</c:v>
                </c:pt>
                <c:pt idx="10">
                  <c:v>2098.1999999999998</c:v>
                </c:pt>
                <c:pt idx="11">
                  <c:v>2041.7</c:v>
                </c:pt>
                <c:pt idx="12">
                  <c:v>2258.3000000000002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37-8B07-4D54-91BA-3B8385D2D14E}"/>
            </c:ext>
          </c:extLst>
        </c:ser>
        <c:ser>
          <c:idx val="4"/>
          <c:order val="4"/>
          <c:tx>
            <c:strRef>
              <c:f>Sheet1!$F$1</c:f>
              <c:strCache>
                <c:ptCount val="1"/>
                <c:pt idx="0">
                  <c:v>Commonwealth of Independent States</c:v>
                </c:pt>
              </c:strCache>
            </c:strRef>
          </c:tx>
          <c:spPr>
            <a:solidFill>
              <a:srgbClr val="87BC24"/>
            </a:solidFill>
            <a:ln>
              <a:solidFill>
                <a:srgbClr val="87BC24"/>
              </a:solidFill>
            </a:ln>
          </c:spPr>
          <c:invertIfNegative val="0"/>
          <c:cat>
            <c:numRef>
              <c:f>Sheet1!$A$2:$A$14</c:f>
              <c:numCache>
                <c:formatCode>General</c:formatCode>
                <c:ptCount val="13"/>
                <c:pt idx="0">
                  <c:v>1965</c:v>
                </c:pt>
                <c:pt idx="1">
                  <c:v>1970</c:v>
                </c:pt>
                <c:pt idx="2">
                  <c:v>1975</c:v>
                </c:pt>
                <c:pt idx="3">
                  <c:v>1980</c:v>
                </c:pt>
                <c:pt idx="4">
                  <c:v>1985</c:v>
                </c:pt>
                <c:pt idx="5">
                  <c:v>1990</c:v>
                </c:pt>
                <c:pt idx="6">
                  <c:v>1995</c:v>
                </c:pt>
                <c:pt idx="7">
                  <c:v>2000</c:v>
                </c:pt>
                <c:pt idx="8">
                  <c:v>2005</c:v>
                </c:pt>
                <c:pt idx="9">
                  <c:v>2015</c:v>
                </c:pt>
                <c:pt idx="10">
                  <c:v>2019</c:v>
                </c:pt>
                <c:pt idx="11">
                  <c:v>2020</c:v>
                </c:pt>
                <c:pt idx="12">
                  <c:v>2023</c:v>
                </c:pt>
              </c:numCache>
            </c:numRef>
          </c:cat>
          <c:val>
            <c:numRef>
              <c:f>Sheet1!$F$2:$F$14</c:f>
              <c:numCache>
                <c:formatCode>General</c:formatCode>
                <c:ptCount val="13"/>
                <c:pt idx="0">
                  <c:v>1907.3</c:v>
                </c:pt>
                <c:pt idx="1">
                  <c:v>2320.9</c:v>
                </c:pt>
                <c:pt idx="2">
                  <c:v>2872.3</c:v>
                </c:pt>
                <c:pt idx="3">
                  <c:v>3237.4</c:v>
                </c:pt>
                <c:pt idx="4">
                  <c:v>2751.7</c:v>
                </c:pt>
                <c:pt idx="5">
                  <c:v>2848.6</c:v>
                </c:pt>
                <c:pt idx="6">
                  <c:v>2023.2</c:v>
                </c:pt>
                <c:pt idx="7">
                  <c:v>1802</c:v>
                </c:pt>
                <c:pt idx="8">
                  <c:v>1871.3</c:v>
                </c:pt>
                <c:pt idx="9">
                  <c:v>1989.8</c:v>
                </c:pt>
                <c:pt idx="10">
                  <c:v>2084</c:v>
                </c:pt>
                <c:pt idx="11">
                  <c:v>1987.2</c:v>
                </c:pt>
                <c:pt idx="12">
                  <c:v>2178.8000000000002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45-8B07-4D54-91BA-3B8385D2D14E}"/>
            </c:ext>
          </c:extLst>
        </c:ser>
        <c:ser>
          <c:idx val="5"/>
          <c:order val="5"/>
          <c:tx>
            <c:strRef>
              <c:f>Sheet1!$G$1</c:f>
              <c:strCache>
                <c:ptCount val="1"/>
                <c:pt idx="0">
                  <c:v>Africa</c:v>
                </c:pt>
              </c:strCache>
            </c:strRef>
          </c:tx>
          <c:spPr>
            <a:solidFill>
              <a:srgbClr val="EBB523"/>
            </a:solidFill>
            <a:ln>
              <a:solidFill>
                <a:srgbClr val="EBB523"/>
              </a:solidFill>
            </a:ln>
          </c:spPr>
          <c:invertIfNegative val="0"/>
          <c:cat>
            <c:numRef>
              <c:f>Sheet1!$A$2:$A$14</c:f>
              <c:numCache>
                <c:formatCode>General</c:formatCode>
                <c:ptCount val="13"/>
                <c:pt idx="0">
                  <c:v>1965</c:v>
                </c:pt>
                <c:pt idx="1">
                  <c:v>1970</c:v>
                </c:pt>
                <c:pt idx="2">
                  <c:v>1975</c:v>
                </c:pt>
                <c:pt idx="3">
                  <c:v>1980</c:v>
                </c:pt>
                <c:pt idx="4">
                  <c:v>1985</c:v>
                </c:pt>
                <c:pt idx="5">
                  <c:v>1990</c:v>
                </c:pt>
                <c:pt idx="6">
                  <c:v>1995</c:v>
                </c:pt>
                <c:pt idx="7">
                  <c:v>2000</c:v>
                </c:pt>
                <c:pt idx="8">
                  <c:v>2005</c:v>
                </c:pt>
                <c:pt idx="9">
                  <c:v>2015</c:v>
                </c:pt>
                <c:pt idx="10">
                  <c:v>2019</c:v>
                </c:pt>
                <c:pt idx="11">
                  <c:v>2020</c:v>
                </c:pt>
                <c:pt idx="12">
                  <c:v>2023</c:v>
                </c:pt>
              </c:numCache>
            </c:numRef>
          </c:cat>
          <c:val>
            <c:numRef>
              <c:f>Sheet1!$G$2:$G$14</c:f>
              <c:numCache>
                <c:formatCode>General</c:formatCode>
                <c:ptCount val="13"/>
                <c:pt idx="0">
                  <c:v>198.3</c:v>
                </c:pt>
                <c:pt idx="1">
                  <c:v>233.9</c:v>
                </c:pt>
                <c:pt idx="2">
                  <c:v>313.39999999999998</c:v>
                </c:pt>
                <c:pt idx="3">
                  <c:v>427.3</c:v>
                </c:pt>
                <c:pt idx="4">
                  <c:v>581.29999999999995</c:v>
                </c:pt>
                <c:pt idx="5">
                  <c:v>658.4</c:v>
                </c:pt>
                <c:pt idx="6">
                  <c:v>718.3</c:v>
                </c:pt>
                <c:pt idx="7">
                  <c:v>792.8</c:v>
                </c:pt>
                <c:pt idx="8">
                  <c:v>935.5</c:v>
                </c:pt>
                <c:pt idx="9">
                  <c:v>1208.5</c:v>
                </c:pt>
                <c:pt idx="10">
                  <c:v>1314.8</c:v>
                </c:pt>
                <c:pt idx="11">
                  <c:v>1231.4000000000001</c:v>
                </c:pt>
                <c:pt idx="12">
                  <c:v>1335.1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53-8B07-4D54-91BA-3B8385D2D14E}"/>
            </c:ext>
          </c:extLst>
        </c:ser>
        <c:ser>
          <c:idx val="6"/>
          <c:order val="6"/>
          <c:tx>
            <c:strRef>
              <c:f>Sheet1!$H$1</c:f>
              <c:strCache>
                <c:ptCount val="1"/>
                <c:pt idx="0">
                  <c:v>South &amp; Central America</c:v>
                </c:pt>
              </c:strCache>
            </c:strRef>
          </c:tx>
          <c:spPr>
            <a:solidFill>
              <a:srgbClr val="5D2B76"/>
            </a:solidFill>
            <a:ln>
              <a:solidFill>
                <a:srgbClr val="5D2B76"/>
              </a:solidFill>
            </a:ln>
          </c:spPr>
          <c:invertIfNegative val="0"/>
          <c:cat>
            <c:numRef>
              <c:f>Sheet1!$A$2:$A$14</c:f>
              <c:numCache>
                <c:formatCode>General</c:formatCode>
                <c:ptCount val="13"/>
                <c:pt idx="0">
                  <c:v>1965</c:v>
                </c:pt>
                <c:pt idx="1">
                  <c:v>1970</c:v>
                </c:pt>
                <c:pt idx="2">
                  <c:v>1975</c:v>
                </c:pt>
                <c:pt idx="3">
                  <c:v>1980</c:v>
                </c:pt>
                <c:pt idx="4">
                  <c:v>1985</c:v>
                </c:pt>
                <c:pt idx="5">
                  <c:v>1990</c:v>
                </c:pt>
                <c:pt idx="6">
                  <c:v>1995</c:v>
                </c:pt>
                <c:pt idx="7">
                  <c:v>2000</c:v>
                </c:pt>
                <c:pt idx="8">
                  <c:v>2005</c:v>
                </c:pt>
                <c:pt idx="9">
                  <c:v>2015</c:v>
                </c:pt>
                <c:pt idx="10">
                  <c:v>2019</c:v>
                </c:pt>
                <c:pt idx="11">
                  <c:v>2020</c:v>
                </c:pt>
                <c:pt idx="12">
                  <c:v>2023</c:v>
                </c:pt>
              </c:numCache>
            </c:numRef>
          </c:cat>
          <c:val>
            <c:numRef>
              <c:f>Sheet1!$H$2:$H$14</c:f>
              <c:numCache>
                <c:formatCode>General</c:formatCode>
                <c:ptCount val="13"/>
                <c:pt idx="0">
                  <c:v>308.60000000000002</c:v>
                </c:pt>
                <c:pt idx="1">
                  <c:v>395.5</c:v>
                </c:pt>
                <c:pt idx="2">
                  <c:v>500.1</c:v>
                </c:pt>
                <c:pt idx="3">
                  <c:v>609.1</c:v>
                </c:pt>
                <c:pt idx="4">
                  <c:v>593.5</c:v>
                </c:pt>
                <c:pt idx="5">
                  <c:v>662.6</c:v>
                </c:pt>
                <c:pt idx="6">
                  <c:v>797.5</c:v>
                </c:pt>
                <c:pt idx="7">
                  <c:v>925</c:v>
                </c:pt>
                <c:pt idx="8">
                  <c:v>1022.4</c:v>
                </c:pt>
                <c:pt idx="9">
                  <c:v>1357.9</c:v>
                </c:pt>
                <c:pt idx="10">
                  <c:v>1257.3</c:v>
                </c:pt>
                <c:pt idx="11">
                  <c:v>1114.8</c:v>
                </c:pt>
                <c:pt idx="12">
                  <c:v>1308.0999999999999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61-8B07-4D54-91BA-3B8385D2D14E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80"/>
        <c:overlap val="100"/>
        <c:axId val="67451136"/>
        <c:axId val="66437120"/>
      </c:barChart>
      <c:catAx>
        <c:axId val="67451136"/>
        <c:scaling>
          <c:orientation val="maxMin"/>
        </c:scaling>
        <c:delete val="0"/>
        <c:axPos val="l"/>
        <c:numFmt formatCode="General" sourceLinked="0"/>
        <c:majorTickMark val="none"/>
        <c:minorTickMark val="none"/>
        <c:tickLblPos val="low"/>
        <c:spPr>
          <a:ln w="9525">
            <a:solidFill>
              <a:srgbClr val="2F2F2F"/>
            </a:solidFill>
          </a:ln>
        </c:spPr>
        <c:txPr>
          <a:bodyPr/>
          <a:lstStyle/>
          <a:p>
            <a:pPr>
              <a:defRPr sz="1000" b="1" smtId="4294967295">
                <a:solidFill>
                  <a:schemeClr val="tx1"/>
                </a:solidFill>
                <a:latin typeface="Open Sans Light"/>
              </a:defRPr>
            </a:pPr>
            <a:endParaRPr lang="fr-FR"/>
          </a:p>
        </c:txPr>
        <c:crossAx val="66437120"/>
        <c:crosses val="autoZero"/>
        <c:auto val="0"/>
        <c:lblAlgn val="ctr"/>
        <c:lblOffset val="100"/>
        <c:noMultiLvlLbl val="0"/>
      </c:catAx>
      <c:valAx>
        <c:axId val="66437120"/>
        <c:scaling>
          <c:orientation val="minMax"/>
          <c:min val="0"/>
        </c:scaling>
        <c:delete val="0"/>
        <c:axPos val="t"/>
        <c:majorGridlines>
          <c:spPr>
            <a:ln w="9525">
              <a:solidFill>
                <a:srgbClr val="2F2F2F"/>
              </a:solidFill>
              <a:prstDash val="dot"/>
            </a:ln>
          </c:spPr>
        </c:majorGridlines>
        <c:numFmt formatCode="#,##0" sourceLinked="0"/>
        <c:majorTickMark val="none"/>
        <c:minorTickMark val="none"/>
        <c:tickLblPos val="nextTo"/>
        <c:spPr>
          <a:ln>
            <a:noFill/>
          </a:ln>
        </c:spPr>
        <c:txPr>
          <a:bodyPr/>
          <a:lstStyle/>
          <a:p>
            <a:pPr>
              <a:defRPr sz="1000" b="1" smtId="4294967295">
                <a:solidFill>
                  <a:schemeClr val="tx1"/>
                </a:solidFill>
                <a:latin typeface="Open Sans Light"/>
              </a:defRPr>
            </a:pPr>
            <a:endParaRPr lang="fr-FR"/>
          </a:p>
        </c:txPr>
        <c:crossAx val="67451136"/>
        <c:crosses val="autoZero"/>
        <c:crossBetween val="between"/>
      </c:valAx>
    </c:plotArea>
    <c:legend>
      <c:legendPos val="t"/>
      <c:overlay val="0"/>
      <c:txPr>
        <a:bodyPr/>
        <a:lstStyle/>
        <a:p>
          <a:pPr>
            <a:defRPr sz="1050" b="1" smtId="4294967295">
              <a:solidFill>
                <a:schemeClr val="tx1"/>
              </a:solidFill>
              <a:latin typeface="Open Sans Light"/>
            </a:defRPr>
          </a:pPr>
          <a:endParaRPr lang="fr-FR"/>
        </a:p>
      </c:txPr>
    </c:legend>
    <c:plotVisOnly val="1"/>
    <c:dispBlanksAs val="gap"/>
    <c:showDLblsOverMax val="1"/>
  </c:chart>
  <c:txPr>
    <a:bodyPr/>
    <a:lstStyle/>
    <a:p>
      <a:pPr>
        <a:defRPr sz="1800" smtId="4294967295"/>
      </a:pPr>
      <a:endParaRPr lang="fr-FR"/>
    </a:p>
  </c:txPr>
  <c:externalData r:id="rId1">
    <c:autoUpdate val="0"/>
  </c:externalData>
</c:chartSpace>
</file>

<file path=ppt/charts/chart5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fr-FR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Share</c:v>
                </c:pt>
              </c:strCache>
            </c:strRef>
          </c:tx>
          <c:spPr>
            <a:solidFill>
              <a:srgbClr val="2875DD"/>
            </a:solidFill>
            <a:ln>
              <a:solidFill>
                <a:srgbClr val="2875DD"/>
              </a:solidFill>
            </a:ln>
          </c:spPr>
          <c:invertIfNegative val="0"/>
          <c:dLbls>
            <c:dLbl>
              <c:idx val="0"/>
              <c:numFmt formatCode="#,##0.0%" sourceLinked="0"/>
              <c:spPr/>
              <c:txPr>
                <a:bodyPr/>
                <a:lstStyle/>
                <a:p>
                  <a:pPr>
                    <a:defRPr sz="900" b="0" smtId="4294967295">
                      <a:solidFill>
                        <a:srgbClr val="0F2741"/>
                      </a:solidFill>
                      <a:latin typeface="Open Sans"/>
                    </a:defRPr>
                  </a:pPr>
                  <a:endParaRPr lang="fr-FR"/>
                </a:p>
              </c:txPr>
              <c:dLblPos val="outEnd"/>
              <c:showLegendKey val="0"/>
              <c:showVal val="1"/>
              <c:showCatName val="0"/>
              <c:showSerName val="0"/>
              <c:showPercent val="0"/>
              <c:showBubbleSize val="0"/>
              <c:extLst xmlns:a14="http://schemas.microsoft.com/office/drawing/2010/main" xmlns:wp="http://schemas.openxmlformats.org/drawingml/2006/wordprocessingDrawing" xmlns:w="http://schemas.openxmlformats.org/wordprocessingml/2006/main" xmlns:m="http://schemas.openxmlformats.org/officeDocument/2006/math"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0-6BA2-49C1-98A7-98E6DBB3922C}"/>
                </c:ext>
              </c:extLst>
            </c:dLbl>
            <c:dLbl>
              <c:idx val="1"/>
              <c:numFmt formatCode="#,##0.0%" sourceLinked="0"/>
              <c:spPr/>
              <c:txPr>
                <a:bodyPr/>
                <a:lstStyle/>
                <a:p>
                  <a:pPr>
                    <a:defRPr sz="900" b="0" smtId="4294967295">
                      <a:solidFill>
                        <a:srgbClr val="0F2741"/>
                      </a:solidFill>
                      <a:latin typeface="Open Sans"/>
                    </a:defRPr>
                  </a:pPr>
                  <a:endParaRPr lang="fr-FR"/>
                </a:p>
              </c:txPr>
              <c:dLblPos val="outEnd"/>
              <c:showLegendKey val="0"/>
              <c:showVal val="1"/>
              <c:showCatName val="0"/>
              <c:showSerName val="0"/>
              <c:showPercent val="0"/>
              <c:showBubbleSize val="0"/>
              <c:extLst xmlns:a14="http://schemas.microsoft.com/office/drawing/2010/main" xmlns:wp="http://schemas.openxmlformats.org/drawingml/2006/wordprocessingDrawing" xmlns:w="http://schemas.openxmlformats.org/wordprocessingml/2006/main" xmlns:m="http://schemas.openxmlformats.org/officeDocument/2006/math"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1-6BA2-49C1-98A7-98E6DBB3922C}"/>
                </c:ext>
              </c:extLst>
            </c:dLbl>
            <c:dLbl>
              <c:idx val="2"/>
              <c:numFmt formatCode="#,##0.0%" sourceLinked="0"/>
              <c:spPr/>
              <c:txPr>
                <a:bodyPr/>
                <a:lstStyle/>
                <a:p>
                  <a:pPr>
                    <a:defRPr sz="900" b="0" smtId="4294967295">
                      <a:solidFill>
                        <a:srgbClr val="0F2741"/>
                      </a:solidFill>
                      <a:latin typeface="Open Sans"/>
                    </a:defRPr>
                  </a:pPr>
                  <a:endParaRPr lang="fr-FR"/>
                </a:p>
              </c:txPr>
              <c:dLblPos val="outEnd"/>
              <c:showLegendKey val="0"/>
              <c:showVal val="1"/>
              <c:showCatName val="0"/>
              <c:showSerName val="0"/>
              <c:showPercent val="0"/>
              <c:showBubbleSize val="0"/>
              <c:extLst xmlns:a14="http://schemas.microsoft.com/office/drawing/2010/main" xmlns:wp="http://schemas.openxmlformats.org/drawingml/2006/wordprocessingDrawing" xmlns:w="http://schemas.openxmlformats.org/wordprocessingml/2006/main" xmlns:m="http://schemas.openxmlformats.org/officeDocument/2006/math"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2-6BA2-49C1-98A7-98E6DBB3922C}"/>
                </c:ext>
              </c:extLst>
            </c:dLbl>
            <c:dLbl>
              <c:idx val="3"/>
              <c:numFmt formatCode="#,##0.0%" sourceLinked="0"/>
              <c:spPr/>
              <c:txPr>
                <a:bodyPr/>
                <a:lstStyle/>
                <a:p>
                  <a:pPr>
                    <a:defRPr sz="900" b="0" smtId="4294967295">
                      <a:solidFill>
                        <a:srgbClr val="0F2741"/>
                      </a:solidFill>
                      <a:latin typeface="Open Sans"/>
                    </a:defRPr>
                  </a:pPr>
                  <a:endParaRPr lang="fr-FR"/>
                </a:p>
              </c:txPr>
              <c:dLblPos val="outEnd"/>
              <c:showLegendKey val="0"/>
              <c:showVal val="1"/>
              <c:showCatName val="0"/>
              <c:showSerName val="0"/>
              <c:showPercent val="0"/>
              <c:showBubbleSize val="0"/>
              <c:extLst xmlns:a14="http://schemas.microsoft.com/office/drawing/2010/main" xmlns:wp="http://schemas.openxmlformats.org/drawingml/2006/wordprocessingDrawing" xmlns:w="http://schemas.openxmlformats.org/wordprocessingml/2006/main" xmlns:m="http://schemas.openxmlformats.org/officeDocument/2006/math"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3-6BA2-49C1-98A7-98E6DBB3922C}"/>
                </c:ext>
              </c:extLst>
            </c:dLbl>
            <c:dLbl>
              <c:idx val="4"/>
              <c:numFmt formatCode="#,##0.0%" sourceLinked="0"/>
              <c:spPr/>
              <c:txPr>
                <a:bodyPr/>
                <a:lstStyle/>
                <a:p>
                  <a:pPr>
                    <a:defRPr sz="900" b="0" smtId="4294967295">
                      <a:solidFill>
                        <a:srgbClr val="0F2741"/>
                      </a:solidFill>
                      <a:latin typeface="Open Sans"/>
                    </a:defRPr>
                  </a:pPr>
                  <a:endParaRPr lang="fr-FR"/>
                </a:p>
              </c:txPr>
              <c:dLblPos val="outEnd"/>
              <c:showLegendKey val="0"/>
              <c:showVal val="1"/>
              <c:showCatName val="0"/>
              <c:showSerName val="0"/>
              <c:showPercent val="0"/>
              <c:showBubbleSize val="0"/>
              <c:extLst xmlns:a14="http://schemas.microsoft.com/office/drawing/2010/main" xmlns:wp="http://schemas.openxmlformats.org/drawingml/2006/wordprocessingDrawing" xmlns:w="http://schemas.openxmlformats.org/wordprocessingml/2006/main" xmlns:m="http://schemas.openxmlformats.org/officeDocument/2006/math"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4-6BA2-49C1-98A7-98E6DBB3922C}"/>
                </c:ext>
              </c:extLst>
            </c:dLbl>
            <c:dLbl>
              <c:idx val="5"/>
              <c:numFmt formatCode="#,##0%" sourceLinked="0"/>
              <c:spPr/>
              <c:txPr>
                <a:bodyPr/>
                <a:lstStyle/>
                <a:p>
                  <a:pPr>
                    <a:defRPr sz="900" b="0" smtId="4294967295">
                      <a:solidFill>
                        <a:srgbClr val="0F2741"/>
                      </a:solidFill>
                      <a:latin typeface="Open Sans"/>
                    </a:defRPr>
                  </a:pPr>
                  <a:endParaRPr lang="fr-FR"/>
                </a:p>
              </c:txPr>
              <c:dLblPos val="outEnd"/>
              <c:showLegendKey val="0"/>
              <c:showVal val="1"/>
              <c:showCatName val="0"/>
              <c:showSerName val="0"/>
              <c:showPercent val="0"/>
              <c:showBubbleSize val="0"/>
              <c:extLst xmlns:a14="http://schemas.microsoft.com/office/drawing/2010/main" xmlns:wp="http://schemas.openxmlformats.org/drawingml/2006/wordprocessingDrawing" xmlns:w="http://schemas.openxmlformats.org/wordprocessingml/2006/main" xmlns:m="http://schemas.openxmlformats.org/officeDocument/2006/math"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5-6BA2-49C1-98A7-98E6DBB3922C}"/>
                </c:ext>
              </c:extLst>
            </c:dLbl>
            <c:dLbl>
              <c:idx val="6"/>
              <c:numFmt formatCode="#,##0.0%" sourceLinked="0"/>
              <c:spPr/>
              <c:txPr>
                <a:bodyPr/>
                <a:lstStyle/>
                <a:p>
                  <a:pPr>
                    <a:defRPr sz="900" b="0" smtId="4294967295">
                      <a:solidFill>
                        <a:srgbClr val="0F2741"/>
                      </a:solidFill>
                      <a:latin typeface="Open Sans"/>
                    </a:defRPr>
                  </a:pPr>
                  <a:endParaRPr lang="fr-FR"/>
                </a:p>
              </c:txPr>
              <c:dLblPos val="outEnd"/>
              <c:showLegendKey val="0"/>
              <c:showVal val="1"/>
              <c:showCatName val="0"/>
              <c:showSerName val="0"/>
              <c:showPercent val="0"/>
              <c:showBubbleSize val="0"/>
              <c:extLst xmlns:a14="http://schemas.microsoft.com/office/drawing/2010/main" xmlns:wp="http://schemas.openxmlformats.org/drawingml/2006/wordprocessingDrawing" xmlns:w="http://schemas.openxmlformats.org/wordprocessingml/2006/main" xmlns:m="http://schemas.openxmlformats.org/officeDocument/2006/math"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6-6BA2-49C1-98A7-98E6DBB3922C}"/>
                </c:ext>
              </c:extLst>
            </c:dLbl>
            <c:dLbl>
              <c:idx val="7"/>
              <c:numFmt formatCode="#,##0.0%" sourceLinked="0"/>
              <c:spPr/>
              <c:txPr>
                <a:bodyPr/>
                <a:lstStyle/>
                <a:p>
                  <a:pPr>
                    <a:defRPr sz="900" b="0" smtId="4294967295">
                      <a:solidFill>
                        <a:srgbClr val="0F2741"/>
                      </a:solidFill>
                      <a:latin typeface="Open Sans"/>
                    </a:defRPr>
                  </a:pPr>
                  <a:endParaRPr lang="fr-FR"/>
                </a:p>
              </c:txPr>
              <c:dLblPos val="outEnd"/>
              <c:showLegendKey val="0"/>
              <c:showVal val="1"/>
              <c:showCatName val="0"/>
              <c:showSerName val="0"/>
              <c:showPercent val="0"/>
              <c:showBubbleSize val="0"/>
              <c:extLst xmlns:a14="http://schemas.microsoft.com/office/drawing/2010/main" xmlns:wp="http://schemas.openxmlformats.org/drawingml/2006/wordprocessingDrawing" xmlns:w="http://schemas.openxmlformats.org/wordprocessingml/2006/main" xmlns:m="http://schemas.openxmlformats.org/officeDocument/2006/math"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7-6BA2-49C1-98A7-98E6DBB3922C}"/>
                </c:ext>
              </c:extLst>
            </c:dLbl>
            <c:dLbl>
              <c:idx val="8"/>
              <c:numFmt formatCode="#,##0.0%" sourceLinked="0"/>
              <c:spPr/>
              <c:txPr>
                <a:bodyPr/>
                <a:lstStyle/>
                <a:p>
                  <a:pPr>
                    <a:defRPr sz="900" b="0" smtId="4294967295">
                      <a:solidFill>
                        <a:srgbClr val="0F2741"/>
                      </a:solidFill>
                      <a:latin typeface="Open Sans"/>
                    </a:defRPr>
                  </a:pPr>
                  <a:endParaRPr lang="fr-FR"/>
                </a:p>
              </c:txPr>
              <c:dLblPos val="outEnd"/>
              <c:showLegendKey val="0"/>
              <c:showVal val="1"/>
              <c:showCatName val="0"/>
              <c:showSerName val="0"/>
              <c:showPercent val="0"/>
              <c:showBubbleSize val="0"/>
              <c:extLst xmlns:a14="http://schemas.microsoft.com/office/drawing/2010/main" xmlns:wp="http://schemas.openxmlformats.org/drawingml/2006/wordprocessingDrawing" xmlns:w="http://schemas.openxmlformats.org/wordprocessingml/2006/main" xmlns:m="http://schemas.openxmlformats.org/officeDocument/2006/math"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8-6BA2-49C1-98A7-98E6DBB3922C}"/>
                </c:ext>
              </c:extLst>
            </c:dLbl>
            <c:dLbl>
              <c:idx val="9"/>
              <c:numFmt formatCode="#,##0.0%" sourceLinked="0"/>
              <c:spPr/>
              <c:txPr>
                <a:bodyPr/>
                <a:lstStyle/>
                <a:p>
                  <a:pPr>
                    <a:defRPr sz="900" b="0" smtId="4294967295">
                      <a:solidFill>
                        <a:srgbClr val="0F2741"/>
                      </a:solidFill>
                      <a:latin typeface="Open Sans"/>
                    </a:defRPr>
                  </a:pPr>
                  <a:endParaRPr lang="fr-FR"/>
                </a:p>
              </c:txPr>
              <c:dLblPos val="outEnd"/>
              <c:showLegendKey val="0"/>
              <c:showVal val="1"/>
              <c:showCatName val="0"/>
              <c:showSerName val="0"/>
              <c:showPercent val="0"/>
              <c:showBubbleSize val="0"/>
              <c:extLst xmlns:a14="http://schemas.microsoft.com/office/drawing/2010/main" xmlns:wp="http://schemas.openxmlformats.org/drawingml/2006/wordprocessingDrawing" xmlns:w="http://schemas.openxmlformats.org/wordprocessingml/2006/main" xmlns:m="http://schemas.openxmlformats.org/officeDocument/2006/math"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9-6BA2-49C1-98A7-98E6DBB3922C}"/>
                </c:ext>
              </c:extLst>
            </c:dLbl>
            <c:dLbl>
              <c:idx val="10"/>
              <c:numFmt formatCode="#,##0.0%" sourceLinked="0"/>
              <c:spPr/>
              <c:txPr>
                <a:bodyPr/>
                <a:lstStyle/>
                <a:p>
                  <a:pPr>
                    <a:defRPr sz="900" b="0" smtId="4294967295">
                      <a:solidFill>
                        <a:srgbClr val="0F2741"/>
                      </a:solidFill>
                      <a:latin typeface="Open Sans"/>
                    </a:defRPr>
                  </a:pPr>
                  <a:endParaRPr lang="fr-FR"/>
                </a:p>
              </c:txPr>
              <c:dLblPos val="outEnd"/>
              <c:showLegendKey val="0"/>
              <c:showVal val="1"/>
              <c:showCatName val="0"/>
              <c:showSerName val="0"/>
              <c:showPercent val="0"/>
              <c:showBubbleSize val="0"/>
              <c:extLst xmlns:a14="http://schemas.microsoft.com/office/drawing/2010/main" xmlns:wp="http://schemas.openxmlformats.org/drawingml/2006/wordprocessingDrawing" xmlns:w="http://schemas.openxmlformats.org/wordprocessingml/2006/main" xmlns:m="http://schemas.openxmlformats.org/officeDocument/2006/math"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A-6BA2-49C1-98A7-98E6DBB3922C}"/>
                </c:ext>
              </c:extLst>
            </c:dLbl>
            <c:dLbl>
              <c:idx val="11"/>
              <c:numFmt formatCode="#,##0.0%" sourceLinked="0"/>
              <c:spPr/>
              <c:txPr>
                <a:bodyPr/>
                <a:lstStyle/>
                <a:p>
                  <a:pPr>
                    <a:defRPr sz="900" b="0" smtId="4294967295">
                      <a:solidFill>
                        <a:srgbClr val="0F2741"/>
                      </a:solidFill>
                      <a:latin typeface="Open Sans"/>
                    </a:defRPr>
                  </a:pPr>
                  <a:endParaRPr lang="fr-FR"/>
                </a:p>
              </c:txPr>
              <c:dLblPos val="outEnd"/>
              <c:showLegendKey val="0"/>
              <c:showVal val="1"/>
              <c:showCatName val="0"/>
              <c:showSerName val="0"/>
              <c:showPercent val="0"/>
              <c:showBubbleSize val="0"/>
              <c:extLst xmlns:a14="http://schemas.microsoft.com/office/drawing/2010/main" xmlns:wp="http://schemas.openxmlformats.org/drawingml/2006/wordprocessingDrawing" xmlns:w="http://schemas.openxmlformats.org/wordprocessingml/2006/main" xmlns:m="http://schemas.openxmlformats.org/officeDocument/2006/math"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B-6BA2-49C1-98A7-98E6DBB3922C}"/>
                </c:ext>
              </c:extLst>
            </c:dLbl>
            <c:dLbl>
              <c:idx val="12"/>
              <c:numFmt formatCode="#,##0.0%" sourceLinked="0"/>
              <c:spPr/>
              <c:txPr>
                <a:bodyPr/>
                <a:lstStyle/>
                <a:p>
                  <a:pPr>
                    <a:defRPr sz="900" b="0" smtId="4294967295">
                      <a:solidFill>
                        <a:srgbClr val="0F2741"/>
                      </a:solidFill>
                      <a:latin typeface="Open Sans"/>
                    </a:defRPr>
                  </a:pPr>
                  <a:endParaRPr lang="fr-FR"/>
                </a:p>
              </c:txPr>
              <c:dLblPos val="outEnd"/>
              <c:showLegendKey val="0"/>
              <c:showVal val="1"/>
              <c:showCatName val="0"/>
              <c:showSerName val="0"/>
              <c:showPercent val="0"/>
              <c:showBubbleSize val="0"/>
              <c:extLst xmlns:a14="http://schemas.microsoft.com/office/drawing/2010/main" xmlns:wp="http://schemas.openxmlformats.org/drawingml/2006/wordprocessingDrawing" xmlns:w="http://schemas.openxmlformats.org/wordprocessingml/2006/main" xmlns:m="http://schemas.openxmlformats.org/officeDocument/2006/math"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C-6BA2-49C1-98A7-98E6DBB3922C}"/>
                </c:ext>
              </c:extLst>
            </c:dLbl>
            <c:dLbl>
              <c:idx val="13"/>
              <c:numFmt formatCode="#,##0.0%" sourceLinked="0"/>
              <c:spPr/>
              <c:txPr>
                <a:bodyPr/>
                <a:lstStyle/>
                <a:p>
                  <a:pPr>
                    <a:defRPr sz="900" b="0" smtId="4294967295">
                      <a:solidFill>
                        <a:srgbClr val="0F2741"/>
                      </a:solidFill>
                      <a:latin typeface="Open Sans"/>
                    </a:defRPr>
                  </a:pPr>
                  <a:endParaRPr lang="fr-FR"/>
                </a:p>
              </c:txPr>
              <c:dLblPos val="outEnd"/>
              <c:showLegendKey val="0"/>
              <c:showVal val="1"/>
              <c:showCatName val="0"/>
              <c:showSerName val="0"/>
              <c:showPercent val="0"/>
              <c:showBubbleSize val="0"/>
              <c:extLst xmlns:a14="http://schemas.microsoft.com/office/drawing/2010/main" xmlns:wp="http://schemas.openxmlformats.org/drawingml/2006/wordprocessingDrawing" xmlns:w="http://schemas.openxmlformats.org/wordprocessingml/2006/main" xmlns:m="http://schemas.openxmlformats.org/officeDocument/2006/math"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D-6BA2-49C1-98A7-98E6DBB3922C}"/>
                </c:ext>
              </c:extLst>
            </c:dLbl>
            <c:dLbl>
              <c:idx val="14"/>
              <c:numFmt formatCode="#,##0.0%" sourceLinked="0"/>
              <c:spPr/>
              <c:txPr>
                <a:bodyPr/>
                <a:lstStyle/>
                <a:p>
                  <a:pPr>
                    <a:defRPr sz="900" b="0" smtId="4294967295">
                      <a:solidFill>
                        <a:srgbClr val="0F2741"/>
                      </a:solidFill>
                      <a:latin typeface="Open Sans"/>
                    </a:defRPr>
                  </a:pPr>
                  <a:endParaRPr lang="fr-FR"/>
                </a:p>
              </c:txPr>
              <c:dLblPos val="outEnd"/>
              <c:showLegendKey val="0"/>
              <c:showVal val="1"/>
              <c:showCatName val="0"/>
              <c:showSerName val="0"/>
              <c:showPercent val="0"/>
              <c:showBubbleSize val="0"/>
              <c:extLst xmlns:a14="http://schemas.microsoft.com/office/drawing/2010/main" xmlns:wp="http://schemas.openxmlformats.org/drawingml/2006/wordprocessingDrawing" xmlns:w="http://schemas.openxmlformats.org/wordprocessingml/2006/main" xmlns:m="http://schemas.openxmlformats.org/officeDocument/2006/math"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E-6BA2-49C1-98A7-98E6DBB3922C}"/>
                </c:ext>
              </c:extLst>
            </c:dLbl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900" b="0" smtId="4294967295">
                    <a:solidFill>
                      <a:srgbClr val="0F2741"/>
                    </a:solidFill>
                    <a:latin typeface="Open Sans"/>
                  </a:defRPr>
                </a:pPr>
                <a:endParaRPr lang="fr-FR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 xmlns:a14="http://schemas.microsoft.com/office/drawing/2010/main" xmlns:wp="http://schemas.openxmlformats.org/drawingml/2006/wordprocessingDrawing" xmlns:w="http://schemas.openxmlformats.org/wordprocessingml/2006/main" xmlns:m="http://schemas.openxmlformats.org/officeDocument/2006/math"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Sheet1!$A$2:$A$16</c:f>
              <c:strCache>
                <c:ptCount val="15"/>
                <c:pt idx="0">
                  <c:v>China</c:v>
                </c:pt>
                <c:pt idx="1">
                  <c:v>United States</c:v>
                </c:pt>
                <c:pt idx="2">
                  <c:v>India</c:v>
                </c:pt>
                <c:pt idx="3">
                  <c:v>Russia</c:v>
                </c:pt>
                <c:pt idx="4">
                  <c:v>Japan</c:v>
                </c:pt>
                <c:pt idx="5">
                  <c:v>Iran</c:v>
                </c:pt>
                <c:pt idx="6">
                  <c:v>Germany</c:v>
                </c:pt>
                <c:pt idx="7">
                  <c:v>Saudi Arabia</c:v>
                </c:pt>
                <c:pt idx="8">
                  <c:v>Indonesia</c:v>
                </c:pt>
                <c:pt idx="9">
                  <c:v>South Korea</c:v>
                </c:pt>
                <c:pt idx="10">
                  <c:v>Canada</c:v>
                </c:pt>
                <c:pt idx="11">
                  <c:v>Brazil</c:v>
                </c:pt>
                <c:pt idx="12">
                  <c:v>Turkey</c:v>
                </c:pt>
                <c:pt idx="13">
                  <c:v>South Africa</c:v>
                </c:pt>
                <c:pt idx="14">
                  <c:v>Mexico</c:v>
                </c:pt>
              </c:strCache>
            </c:strRef>
          </c:cat>
          <c:val>
            <c:numRef>
              <c:f>Sheet1!$B$2:$B$16</c:f>
              <c:numCache>
                <c:formatCode>General</c:formatCode>
                <c:ptCount val="15"/>
                <c:pt idx="0">
                  <c:v>0.309</c:v>
                </c:pt>
                <c:pt idx="1">
                  <c:v>0.13500000000000001</c:v>
                </c:pt>
                <c:pt idx="2">
                  <c:v>7.2999999999999995E-2</c:v>
                </c:pt>
                <c:pt idx="3">
                  <c:v>4.7E-2</c:v>
                </c:pt>
                <c:pt idx="4">
                  <c:v>2.9000000000000001E-2</c:v>
                </c:pt>
                <c:pt idx="5">
                  <c:v>0.02</c:v>
                </c:pt>
                <c:pt idx="6">
                  <c:v>1.7999999999999999E-2</c:v>
                </c:pt>
                <c:pt idx="7">
                  <c:v>1.7999999999999999E-2</c:v>
                </c:pt>
                <c:pt idx="8">
                  <c:v>1.7000000000000001E-2</c:v>
                </c:pt>
                <c:pt idx="9">
                  <c:v>1.7000000000000001E-2</c:v>
                </c:pt>
                <c:pt idx="10">
                  <c:v>1.4999999999999999E-2</c:v>
                </c:pt>
                <c:pt idx="11">
                  <c:v>1.2999999999999999E-2</c:v>
                </c:pt>
                <c:pt idx="12">
                  <c:v>1.2E-2</c:v>
                </c:pt>
                <c:pt idx="13">
                  <c:v>1.2E-2</c:v>
                </c:pt>
                <c:pt idx="14">
                  <c:v>1.0999999999999999E-2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F-6BA2-49C1-98A7-98E6DBB3922C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80"/>
        <c:overlap val="-30"/>
        <c:axId val="67451136"/>
        <c:axId val="66437120"/>
      </c:barChart>
      <c:catAx>
        <c:axId val="67451136"/>
        <c:scaling>
          <c:orientation val="maxMin"/>
        </c:scaling>
        <c:delete val="0"/>
        <c:axPos val="l"/>
        <c:numFmt formatCode="General" sourceLinked="0"/>
        <c:majorTickMark val="none"/>
        <c:minorTickMark val="none"/>
        <c:tickLblPos val="low"/>
        <c:spPr>
          <a:ln w="9525">
            <a:solidFill>
              <a:srgbClr val="2F2F2F"/>
            </a:solidFill>
          </a:ln>
        </c:spPr>
        <c:txPr>
          <a:bodyPr/>
          <a:lstStyle/>
          <a:p>
            <a:pPr>
              <a:defRPr sz="1100" b="0" smtId="4294967295">
                <a:solidFill>
                  <a:srgbClr val="0F2741"/>
                </a:solidFill>
                <a:latin typeface="Open Sans"/>
              </a:defRPr>
            </a:pPr>
            <a:endParaRPr lang="fr-FR"/>
          </a:p>
        </c:txPr>
        <c:crossAx val="66437120"/>
        <c:crosses val="autoZero"/>
        <c:auto val="0"/>
        <c:lblAlgn val="ctr"/>
        <c:lblOffset val="100"/>
        <c:noMultiLvlLbl val="0"/>
      </c:catAx>
      <c:valAx>
        <c:axId val="66437120"/>
        <c:scaling>
          <c:orientation val="minMax"/>
          <c:min val="0"/>
        </c:scaling>
        <c:delete val="0"/>
        <c:axPos val="t"/>
        <c:majorGridlines>
          <c:spPr>
            <a:ln w="9525">
              <a:solidFill>
                <a:srgbClr val="2F2F2F"/>
              </a:solidFill>
              <a:prstDash val="dot"/>
            </a:ln>
          </c:spPr>
        </c:majorGridlines>
        <c:numFmt formatCode="#,##0%" sourceLinked="0"/>
        <c:majorTickMark val="none"/>
        <c:minorTickMark val="none"/>
        <c:tickLblPos val="nextTo"/>
        <c:spPr>
          <a:ln>
            <a:noFill/>
          </a:ln>
        </c:spPr>
        <c:txPr>
          <a:bodyPr/>
          <a:lstStyle/>
          <a:p>
            <a:pPr>
              <a:defRPr sz="1100" b="0" smtId="4294967295">
                <a:solidFill>
                  <a:srgbClr val="0F2741"/>
                </a:solidFill>
                <a:latin typeface="Open Sans"/>
              </a:defRPr>
            </a:pPr>
            <a:endParaRPr lang="fr-FR"/>
          </a:p>
        </c:txPr>
        <c:crossAx val="67451136"/>
        <c:crosses val="autoZero"/>
        <c:crossBetween val="between"/>
      </c:valAx>
    </c:plotArea>
    <c:plotVisOnly val="1"/>
    <c:dispBlanksAs val="gap"/>
    <c:showDLblsOverMax val="1"/>
  </c:chart>
  <c:txPr>
    <a:bodyPr/>
    <a:lstStyle/>
    <a:p>
      <a:pPr>
        <a:defRPr sz="1800" smtId="4294967295"/>
      </a:pPr>
      <a:endParaRPr lang="fr-FR"/>
    </a:p>
  </c:txPr>
  <c:externalData r:id="rId1">
    <c:autoUpdate val="0"/>
  </c:externalData>
  <c:userShapes r:id="rId2"/>
</c:chartSpace>
</file>

<file path=ppt/charts/chart6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fr-FR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Column1</c:v>
                </c:pt>
              </c:strCache>
            </c:strRef>
          </c:tx>
          <c:spPr>
            <a:solidFill>
              <a:srgbClr val="2875DD"/>
            </a:solidFill>
            <a:ln>
              <a:solidFill>
                <a:srgbClr val="2875DD"/>
              </a:solidFill>
            </a:ln>
          </c:spPr>
          <c:invertIfNegative val="0"/>
          <c:dLbls>
            <c:dLbl>
              <c:idx val="0"/>
              <c:numFmt formatCode="#,##0" sourceLinked="0"/>
              <c:spPr/>
              <c:txPr>
                <a:bodyPr/>
                <a:lstStyle/>
                <a:p>
                  <a:pPr>
                    <a:defRPr sz="1400" b="1" smtId="4294967295">
                      <a:solidFill>
                        <a:srgbClr val="0F2741"/>
                      </a:solidFill>
                      <a:latin typeface="Open Sans"/>
                    </a:defRPr>
                  </a:pPr>
                  <a:endParaRPr lang="fr-FR"/>
                </a:p>
              </c:txPr>
              <c:dLblPos val="outEnd"/>
              <c:showLegendKey val="0"/>
              <c:showVal val="1"/>
              <c:showCatName val="0"/>
              <c:showSerName val="0"/>
              <c:showPercent val="0"/>
              <c:showBubbleSize val="0"/>
              <c:extLst xmlns:a14="http://schemas.microsoft.com/office/drawing/2010/main" xmlns:wp="http://schemas.openxmlformats.org/drawingml/2006/wordprocessingDrawing" xmlns:w="http://schemas.openxmlformats.org/wordprocessingml/2006/main" xmlns:m="http://schemas.openxmlformats.org/officeDocument/2006/math"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0-6A8B-422D-94BE-1D31DE28CB4A}"/>
                </c:ext>
              </c:extLst>
            </c:dLbl>
            <c:dLbl>
              <c:idx val="1"/>
              <c:numFmt formatCode="#,##0" sourceLinked="0"/>
              <c:spPr/>
              <c:txPr>
                <a:bodyPr/>
                <a:lstStyle/>
                <a:p>
                  <a:pPr>
                    <a:defRPr sz="1400" b="1" smtId="4294967295">
                      <a:solidFill>
                        <a:srgbClr val="0F2741"/>
                      </a:solidFill>
                      <a:latin typeface="Open Sans"/>
                    </a:defRPr>
                  </a:pPr>
                  <a:endParaRPr lang="fr-FR"/>
                </a:p>
              </c:txPr>
              <c:dLblPos val="outEnd"/>
              <c:showLegendKey val="0"/>
              <c:showVal val="1"/>
              <c:showCatName val="0"/>
              <c:showSerName val="0"/>
              <c:showPercent val="0"/>
              <c:showBubbleSize val="0"/>
              <c:extLst xmlns:a14="http://schemas.microsoft.com/office/drawing/2010/main" xmlns:wp="http://schemas.openxmlformats.org/drawingml/2006/wordprocessingDrawing" xmlns:w="http://schemas.openxmlformats.org/wordprocessingml/2006/main" xmlns:m="http://schemas.openxmlformats.org/officeDocument/2006/math"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1-6A8B-422D-94BE-1D31DE28CB4A}"/>
                </c:ext>
              </c:extLst>
            </c:dLbl>
            <c:dLbl>
              <c:idx val="2"/>
              <c:numFmt formatCode="#,##0" sourceLinked="0"/>
              <c:spPr/>
              <c:txPr>
                <a:bodyPr/>
                <a:lstStyle/>
                <a:p>
                  <a:pPr>
                    <a:defRPr sz="1400" b="1" smtId="4294967295">
                      <a:solidFill>
                        <a:srgbClr val="0F2741"/>
                      </a:solidFill>
                      <a:latin typeface="Open Sans"/>
                    </a:defRPr>
                  </a:pPr>
                  <a:endParaRPr lang="fr-FR"/>
                </a:p>
              </c:txPr>
              <c:dLblPos val="outEnd"/>
              <c:showLegendKey val="0"/>
              <c:showVal val="1"/>
              <c:showCatName val="0"/>
              <c:showSerName val="0"/>
              <c:showPercent val="0"/>
              <c:showBubbleSize val="0"/>
              <c:extLst xmlns:a14="http://schemas.microsoft.com/office/drawing/2010/main" xmlns:wp="http://schemas.openxmlformats.org/drawingml/2006/wordprocessingDrawing" xmlns:w="http://schemas.openxmlformats.org/wordprocessingml/2006/main" xmlns:m="http://schemas.openxmlformats.org/officeDocument/2006/math"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2-6A8B-422D-94BE-1D31DE28CB4A}"/>
                </c:ext>
              </c:extLst>
            </c:dLbl>
            <c:dLbl>
              <c:idx val="3"/>
              <c:numFmt formatCode="#,##0" sourceLinked="0"/>
              <c:spPr/>
              <c:txPr>
                <a:bodyPr/>
                <a:lstStyle/>
                <a:p>
                  <a:pPr>
                    <a:defRPr sz="1400" b="1" smtId="4294967295">
                      <a:solidFill>
                        <a:srgbClr val="0F2741"/>
                      </a:solidFill>
                      <a:latin typeface="Open Sans"/>
                    </a:defRPr>
                  </a:pPr>
                  <a:endParaRPr lang="fr-FR"/>
                </a:p>
              </c:txPr>
              <c:dLblPos val="outEnd"/>
              <c:showLegendKey val="0"/>
              <c:showVal val="1"/>
              <c:showCatName val="0"/>
              <c:showSerName val="0"/>
              <c:showPercent val="0"/>
              <c:showBubbleSize val="0"/>
              <c:extLst xmlns:a14="http://schemas.microsoft.com/office/drawing/2010/main" xmlns:wp="http://schemas.openxmlformats.org/drawingml/2006/wordprocessingDrawing" xmlns:w="http://schemas.openxmlformats.org/wordprocessingml/2006/main" xmlns:m="http://schemas.openxmlformats.org/officeDocument/2006/math"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3-6A8B-422D-94BE-1D31DE28CB4A}"/>
                </c:ext>
              </c:extLst>
            </c:dLbl>
            <c:dLbl>
              <c:idx val="4"/>
              <c:numFmt formatCode="#,##0" sourceLinked="0"/>
              <c:spPr/>
              <c:txPr>
                <a:bodyPr/>
                <a:lstStyle/>
                <a:p>
                  <a:pPr>
                    <a:defRPr sz="1400" b="1" smtId="4294967295">
                      <a:solidFill>
                        <a:srgbClr val="0F2741"/>
                      </a:solidFill>
                      <a:latin typeface="Open Sans"/>
                    </a:defRPr>
                  </a:pPr>
                  <a:endParaRPr lang="fr-FR"/>
                </a:p>
              </c:txPr>
              <c:dLblPos val="outEnd"/>
              <c:showLegendKey val="0"/>
              <c:showVal val="1"/>
              <c:showCatName val="0"/>
              <c:showSerName val="0"/>
              <c:showPercent val="0"/>
              <c:showBubbleSize val="0"/>
              <c:extLst xmlns:a14="http://schemas.microsoft.com/office/drawing/2010/main" xmlns:wp="http://schemas.openxmlformats.org/drawingml/2006/wordprocessingDrawing" xmlns:w="http://schemas.openxmlformats.org/wordprocessingml/2006/main" xmlns:m="http://schemas.openxmlformats.org/officeDocument/2006/math"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4-6A8B-422D-94BE-1D31DE28CB4A}"/>
                </c:ext>
              </c:extLst>
            </c:dLbl>
            <c:dLbl>
              <c:idx val="5"/>
              <c:numFmt formatCode="#,##0" sourceLinked="0"/>
              <c:spPr/>
              <c:txPr>
                <a:bodyPr/>
                <a:lstStyle/>
                <a:p>
                  <a:pPr>
                    <a:defRPr sz="1400" b="1" smtId="4294967295">
                      <a:solidFill>
                        <a:srgbClr val="0F2741"/>
                      </a:solidFill>
                      <a:latin typeface="Open Sans"/>
                    </a:defRPr>
                  </a:pPr>
                  <a:endParaRPr lang="fr-FR"/>
                </a:p>
              </c:txPr>
              <c:dLblPos val="outEnd"/>
              <c:showLegendKey val="0"/>
              <c:showVal val="1"/>
              <c:showCatName val="0"/>
              <c:showSerName val="0"/>
              <c:showPercent val="0"/>
              <c:showBubbleSize val="0"/>
              <c:extLst xmlns:a14="http://schemas.microsoft.com/office/drawing/2010/main" xmlns:wp="http://schemas.openxmlformats.org/drawingml/2006/wordprocessingDrawing" xmlns:w="http://schemas.openxmlformats.org/wordprocessingml/2006/main" xmlns:m="http://schemas.openxmlformats.org/officeDocument/2006/math"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5-6A8B-422D-94BE-1D31DE28CB4A}"/>
                </c:ext>
              </c:extLst>
            </c:dLbl>
            <c:dLbl>
              <c:idx val="6"/>
              <c:numFmt formatCode="#,##0" sourceLinked="0"/>
              <c:spPr/>
              <c:txPr>
                <a:bodyPr/>
                <a:lstStyle/>
                <a:p>
                  <a:pPr>
                    <a:defRPr sz="1400" b="1" smtId="4294967295">
                      <a:solidFill>
                        <a:srgbClr val="0F2741"/>
                      </a:solidFill>
                      <a:latin typeface="Open Sans"/>
                    </a:defRPr>
                  </a:pPr>
                  <a:endParaRPr lang="fr-FR"/>
                </a:p>
              </c:txPr>
              <c:dLblPos val="outEnd"/>
              <c:showLegendKey val="0"/>
              <c:showVal val="1"/>
              <c:showCatName val="0"/>
              <c:showSerName val="0"/>
              <c:showPercent val="0"/>
              <c:showBubbleSize val="0"/>
              <c:extLst xmlns:a14="http://schemas.microsoft.com/office/drawing/2010/main" xmlns:wp="http://schemas.openxmlformats.org/drawingml/2006/wordprocessingDrawing" xmlns:w="http://schemas.openxmlformats.org/wordprocessingml/2006/main" xmlns:m="http://schemas.openxmlformats.org/officeDocument/2006/math"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6-6A8B-422D-94BE-1D31DE28CB4A}"/>
                </c:ext>
              </c:extLst>
            </c:dLbl>
            <c:dLbl>
              <c:idx val="7"/>
              <c:numFmt formatCode="#,##0" sourceLinked="0"/>
              <c:spPr/>
              <c:txPr>
                <a:bodyPr/>
                <a:lstStyle/>
                <a:p>
                  <a:pPr>
                    <a:defRPr sz="1400" b="1" smtId="4294967295">
                      <a:solidFill>
                        <a:srgbClr val="0F2741"/>
                      </a:solidFill>
                      <a:latin typeface="Open Sans"/>
                    </a:defRPr>
                  </a:pPr>
                  <a:endParaRPr lang="fr-FR"/>
                </a:p>
              </c:txPr>
              <c:dLblPos val="outEnd"/>
              <c:showLegendKey val="0"/>
              <c:showVal val="1"/>
              <c:showCatName val="0"/>
              <c:showSerName val="0"/>
              <c:showPercent val="0"/>
              <c:showBubbleSize val="0"/>
              <c:extLst xmlns:a14="http://schemas.microsoft.com/office/drawing/2010/main" xmlns:wp="http://schemas.openxmlformats.org/drawingml/2006/wordprocessingDrawing" xmlns:w="http://schemas.openxmlformats.org/wordprocessingml/2006/main" xmlns:m="http://schemas.openxmlformats.org/officeDocument/2006/math"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7-6A8B-422D-94BE-1D31DE28CB4A}"/>
                </c:ext>
              </c:extLst>
            </c:dLbl>
            <c:dLbl>
              <c:idx val="8"/>
              <c:numFmt formatCode="#,##0" sourceLinked="0"/>
              <c:spPr/>
              <c:txPr>
                <a:bodyPr/>
                <a:lstStyle/>
                <a:p>
                  <a:pPr>
                    <a:defRPr sz="1400" b="1" smtId="4294967295">
                      <a:solidFill>
                        <a:srgbClr val="0F2741"/>
                      </a:solidFill>
                      <a:latin typeface="Open Sans"/>
                    </a:defRPr>
                  </a:pPr>
                  <a:endParaRPr lang="fr-FR"/>
                </a:p>
              </c:txPr>
              <c:dLblPos val="outEnd"/>
              <c:showLegendKey val="0"/>
              <c:showVal val="1"/>
              <c:showCatName val="0"/>
              <c:showSerName val="0"/>
              <c:showPercent val="0"/>
              <c:showBubbleSize val="0"/>
              <c:extLst xmlns:a14="http://schemas.microsoft.com/office/drawing/2010/main" xmlns:wp="http://schemas.openxmlformats.org/drawingml/2006/wordprocessingDrawing" xmlns:w="http://schemas.openxmlformats.org/wordprocessingml/2006/main" xmlns:m="http://schemas.openxmlformats.org/officeDocument/2006/math"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8-6A8B-422D-94BE-1D31DE28CB4A}"/>
                </c:ext>
              </c:extLst>
            </c:dLbl>
            <c:dLbl>
              <c:idx val="9"/>
              <c:numFmt formatCode="#,##0" sourceLinked="0"/>
              <c:spPr/>
              <c:txPr>
                <a:bodyPr/>
                <a:lstStyle/>
                <a:p>
                  <a:pPr>
                    <a:defRPr sz="1400" b="1" smtId="4294967295">
                      <a:solidFill>
                        <a:srgbClr val="0F2741"/>
                      </a:solidFill>
                      <a:latin typeface="Open Sans"/>
                    </a:defRPr>
                  </a:pPr>
                  <a:endParaRPr lang="fr-FR"/>
                </a:p>
              </c:txPr>
              <c:dLblPos val="outEnd"/>
              <c:showLegendKey val="0"/>
              <c:showVal val="1"/>
              <c:showCatName val="0"/>
              <c:showSerName val="0"/>
              <c:showPercent val="0"/>
              <c:showBubbleSize val="0"/>
              <c:extLst xmlns:a14="http://schemas.microsoft.com/office/drawing/2010/main" xmlns:wp="http://schemas.openxmlformats.org/drawingml/2006/wordprocessingDrawing" xmlns:w="http://schemas.openxmlformats.org/wordprocessingml/2006/main" xmlns:m="http://schemas.openxmlformats.org/officeDocument/2006/math"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9-6A8B-422D-94BE-1D31DE28CB4A}"/>
                </c:ext>
              </c:extLst>
            </c:dLbl>
            <c:dLbl>
              <c:idx val="10"/>
              <c:numFmt formatCode="#,##0" sourceLinked="0"/>
              <c:spPr/>
              <c:txPr>
                <a:bodyPr/>
                <a:lstStyle/>
                <a:p>
                  <a:pPr>
                    <a:defRPr sz="1400" b="1" smtId="4294967295">
                      <a:solidFill>
                        <a:srgbClr val="0F2741"/>
                      </a:solidFill>
                      <a:latin typeface="Open Sans"/>
                    </a:defRPr>
                  </a:pPr>
                  <a:endParaRPr lang="fr-FR"/>
                </a:p>
              </c:txPr>
              <c:dLblPos val="outEnd"/>
              <c:showLegendKey val="0"/>
              <c:showVal val="1"/>
              <c:showCatName val="0"/>
              <c:showSerName val="0"/>
              <c:showPercent val="0"/>
              <c:showBubbleSize val="0"/>
              <c:extLst xmlns:a14="http://schemas.microsoft.com/office/drawing/2010/main" xmlns:wp="http://schemas.openxmlformats.org/drawingml/2006/wordprocessingDrawing" xmlns:w="http://schemas.openxmlformats.org/wordprocessingml/2006/main" xmlns:m="http://schemas.openxmlformats.org/officeDocument/2006/math"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A-6A8B-422D-94BE-1D31DE28CB4A}"/>
                </c:ext>
              </c:extLst>
            </c:dLbl>
            <c:dLbl>
              <c:idx val="11"/>
              <c:numFmt formatCode="#,##0" sourceLinked="0"/>
              <c:spPr/>
              <c:txPr>
                <a:bodyPr/>
                <a:lstStyle/>
                <a:p>
                  <a:pPr>
                    <a:defRPr sz="1400" b="1" smtId="4294967295">
                      <a:solidFill>
                        <a:srgbClr val="0F2741"/>
                      </a:solidFill>
                      <a:latin typeface="Open Sans"/>
                    </a:defRPr>
                  </a:pPr>
                  <a:endParaRPr lang="fr-FR"/>
                </a:p>
              </c:txPr>
              <c:dLblPos val="outEnd"/>
              <c:showLegendKey val="0"/>
              <c:showVal val="1"/>
              <c:showCatName val="0"/>
              <c:showSerName val="0"/>
              <c:showPercent val="0"/>
              <c:showBubbleSize val="0"/>
              <c:extLst xmlns:a14="http://schemas.microsoft.com/office/drawing/2010/main" xmlns:wp="http://schemas.openxmlformats.org/drawingml/2006/wordprocessingDrawing" xmlns:w="http://schemas.openxmlformats.org/wordprocessingml/2006/main" xmlns:m="http://schemas.openxmlformats.org/officeDocument/2006/math"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B-6A8B-422D-94BE-1D31DE28CB4A}"/>
                </c:ext>
              </c:extLst>
            </c:dLbl>
            <c:dLbl>
              <c:idx val="12"/>
              <c:numFmt formatCode="#,##0" sourceLinked="0"/>
              <c:spPr/>
              <c:txPr>
                <a:bodyPr/>
                <a:lstStyle/>
                <a:p>
                  <a:pPr>
                    <a:defRPr sz="1400" b="1" smtId="4294967295">
                      <a:solidFill>
                        <a:srgbClr val="0F2741"/>
                      </a:solidFill>
                      <a:latin typeface="Open Sans"/>
                    </a:defRPr>
                  </a:pPr>
                  <a:endParaRPr lang="fr-FR"/>
                </a:p>
              </c:txPr>
              <c:dLblPos val="outEnd"/>
              <c:showLegendKey val="0"/>
              <c:showVal val="1"/>
              <c:showCatName val="0"/>
              <c:showSerName val="0"/>
              <c:showPercent val="0"/>
              <c:showBubbleSize val="0"/>
              <c:extLst xmlns:a14="http://schemas.microsoft.com/office/drawing/2010/main" xmlns:wp="http://schemas.openxmlformats.org/drawingml/2006/wordprocessingDrawing" xmlns:w="http://schemas.openxmlformats.org/wordprocessingml/2006/main" xmlns:m="http://schemas.openxmlformats.org/officeDocument/2006/math"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C-6A8B-422D-94BE-1D31DE28CB4A}"/>
                </c:ext>
              </c:extLst>
            </c:dLbl>
            <c:dLbl>
              <c:idx val="13"/>
              <c:numFmt formatCode="#,##0" sourceLinked="0"/>
              <c:spPr/>
              <c:txPr>
                <a:bodyPr/>
                <a:lstStyle/>
                <a:p>
                  <a:pPr>
                    <a:defRPr sz="1400" b="1" smtId="4294967295">
                      <a:solidFill>
                        <a:srgbClr val="0F2741"/>
                      </a:solidFill>
                      <a:latin typeface="Open Sans"/>
                    </a:defRPr>
                  </a:pPr>
                  <a:endParaRPr lang="fr-FR"/>
                </a:p>
              </c:txPr>
              <c:dLblPos val="outEnd"/>
              <c:showLegendKey val="0"/>
              <c:showVal val="1"/>
              <c:showCatName val="0"/>
              <c:showSerName val="0"/>
              <c:showPercent val="0"/>
              <c:showBubbleSize val="0"/>
              <c:extLst xmlns:a14="http://schemas.microsoft.com/office/drawing/2010/main" xmlns:wp="http://schemas.openxmlformats.org/drawingml/2006/wordprocessingDrawing" xmlns:w="http://schemas.openxmlformats.org/wordprocessingml/2006/main" xmlns:m="http://schemas.openxmlformats.org/officeDocument/2006/math"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D-6A8B-422D-94BE-1D31DE28CB4A}"/>
                </c:ext>
              </c:extLst>
            </c:dLbl>
            <c:dLbl>
              <c:idx val="14"/>
              <c:numFmt formatCode="#,##0" sourceLinked="0"/>
              <c:spPr/>
              <c:txPr>
                <a:bodyPr/>
                <a:lstStyle/>
                <a:p>
                  <a:pPr>
                    <a:defRPr sz="1400" b="1" smtId="4294967295">
                      <a:solidFill>
                        <a:srgbClr val="0F2741"/>
                      </a:solidFill>
                      <a:latin typeface="Open Sans"/>
                    </a:defRPr>
                  </a:pPr>
                  <a:endParaRPr lang="fr-FR"/>
                </a:p>
              </c:txPr>
              <c:dLblPos val="outEnd"/>
              <c:showLegendKey val="0"/>
              <c:showVal val="1"/>
              <c:showCatName val="0"/>
              <c:showSerName val="0"/>
              <c:showPercent val="0"/>
              <c:showBubbleSize val="0"/>
              <c:extLst xmlns:a14="http://schemas.microsoft.com/office/drawing/2010/main" xmlns:wp="http://schemas.openxmlformats.org/drawingml/2006/wordprocessingDrawing" xmlns:w="http://schemas.openxmlformats.org/wordprocessingml/2006/main" xmlns:m="http://schemas.openxmlformats.org/officeDocument/2006/math"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E-6A8B-422D-94BE-1D31DE28CB4A}"/>
                </c:ext>
              </c:extLst>
            </c:dLbl>
            <c:dLbl>
              <c:idx val="15"/>
              <c:numFmt formatCode="#,##0" sourceLinked="0"/>
              <c:spPr/>
              <c:txPr>
                <a:bodyPr/>
                <a:lstStyle/>
                <a:p>
                  <a:pPr>
                    <a:defRPr sz="1400" b="1" smtId="4294967295">
                      <a:solidFill>
                        <a:srgbClr val="0F2741"/>
                      </a:solidFill>
                      <a:latin typeface="Open Sans"/>
                    </a:defRPr>
                  </a:pPr>
                  <a:endParaRPr lang="fr-FR"/>
                </a:p>
              </c:txPr>
              <c:dLblPos val="outEnd"/>
              <c:showLegendKey val="0"/>
              <c:showVal val="1"/>
              <c:showCatName val="0"/>
              <c:showSerName val="0"/>
              <c:showPercent val="0"/>
              <c:showBubbleSize val="0"/>
              <c:extLst xmlns:a14="http://schemas.microsoft.com/office/drawing/2010/main" xmlns:wp="http://schemas.openxmlformats.org/drawingml/2006/wordprocessingDrawing" xmlns:w="http://schemas.openxmlformats.org/wordprocessingml/2006/main" xmlns:m="http://schemas.openxmlformats.org/officeDocument/2006/math"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F-6A8B-422D-94BE-1D31DE28CB4A}"/>
                </c:ext>
              </c:extLst>
            </c:dLbl>
            <c:dLbl>
              <c:idx val="16"/>
              <c:numFmt formatCode="#,##0" sourceLinked="0"/>
              <c:spPr/>
              <c:txPr>
                <a:bodyPr/>
                <a:lstStyle/>
                <a:p>
                  <a:pPr>
                    <a:defRPr sz="1400" b="1" smtId="4294967295">
                      <a:solidFill>
                        <a:srgbClr val="0F2741"/>
                      </a:solidFill>
                      <a:latin typeface="Open Sans"/>
                    </a:defRPr>
                  </a:pPr>
                  <a:endParaRPr lang="fr-FR"/>
                </a:p>
              </c:txPr>
              <c:dLblPos val="outEnd"/>
              <c:showLegendKey val="0"/>
              <c:showVal val="1"/>
              <c:showCatName val="0"/>
              <c:showSerName val="0"/>
              <c:showPercent val="0"/>
              <c:showBubbleSize val="0"/>
              <c:extLst xmlns:a14="http://schemas.microsoft.com/office/drawing/2010/main" xmlns:wp="http://schemas.openxmlformats.org/drawingml/2006/wordprocessingDrawing" xmlns:w="http://schemas.openxmlformats.org/wordprocessingml/2006/main" xmlns:m="http://schemas.openxmlformats.org/officeDocument/2006/math"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10-6A8B-422D-94BE-1D31DE28CB4A}"/>
                </c:ext>
              </c:extLst>
            </c:dLbl>
            <c:dLbl>
              <c:idx val="17"/>
              <c:numFmt formatCode="#,##0" sourceLinked="0"/>
              <c:spPr/>
              <c:txPr>
                <a:bodyPr/>
                <a:lstStyle/>
                <a:p>
                  <a:pPr>
                    <a:defRPr sz="1400" b="1" smtId="4294967295">
                      <a:solidFill>
                        <a:srgbClr val="0F2741"/>
                      </a:solidFill>
                      <a:latin typeface="Open Sans"/>
                    </a:defRPr>
                  </a:pPr>
                  <a:endParaRPr lang="fr-FR"/>
                </a:p>
              </c:txPr>
              <c:dLblPos val="outEnd"/>
              <c:showLegendKey val="0"/>
              <c:showVal val="1"/>
              <c:showCatName val="0"/>
              <c:showSerName val="0"/>
              <c:showPercent val="0"/>
              <c:showBubbleSize val="0"/>
              <c:extLst xmlns:a14="http://schemas.microsoft.com/office/drawing/2010/main" xmlns:wp="http://schemas.openxmlformats.org/drawingml/2006/wordprocessingDrawing" xmlns:w="http://schemas.openxmlformats.org/wordprocessingml/2006/main" xmlns:m="http://schemas.openxmlformats.org/officeDocument/2006/math"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11-6A8B-422D-94BE-1D31DE28CB4A}"/>
                </c:ext>
              </c:extLst>
            </c:dLbl>
            <c:dLbl>
              <c:idx val="18"/>
              <c:numFmt formatCode="#,##0" sourceLinked="0"/>
              <c:spPr/>
              <c:txPr>
                <a:bodyPr/>
                <a:lstStyle/>
                <a:p>
                  <a:pPr>
                    <a:defRPr sz="1400" b="1" smtId="4294967295">
                      <a:solidFill>
                        <a:srgbClr val="0F2741"/>
                      </a:solidFill>
                      <a:latin typeface="Open Sans"/>
                    </a:defRPr>
                  </a:pPr>
                  <a:endParaRPr lang="fr-FR"/>
                </a:p>
              </c:txPr>
              <c:dLblPos val="outEnd"/>
              <c:showLegendKey val="0"/>
              <c:showVal val="1"/>
              <c:showCatName val="0"/>
              <c:showSerName val="0"/>
              <c:showPercent val="0"/>
              <c:showBubbleSize val="0"/>
              <c:extLst xmlns:a14="http://schemas.microsoft.com/office/drawing/2010/main" xmlns:wp="http://schemas.openxmlformats.org/drawingml/2006/wordprocessingDrawing" xmlns:w="http://schemas.openxmlformats.org/wordprocessingml/2006/main" xmlns:m="http://schemas.openxmlformats.org/officeDocument/2006/math"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12-6A8B-422D-94BE-1D31DE28CB4A}"/>
                </c:ext>
              </c:extLst>
            </c:dLbl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400" b="1" smtId="4294967295">
                    <a:solidFill>
                      <a:srgbClr val="0F2741"/>
                    </a:solidFill>
                    <a:latin typeface="Open Sans"/>
                  </a:defRPr>
                </a:pPr>
                <a:endParaRPr lang="fr-FR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 xmlns:a14="http://schemas.microsoft.com/office/drawing/2010/main" xmlns:wp="http://schemas.openxmlformats.org/drawingml/2006/wordprocessingDrawing" xmlns:w="http://schemas.openxmlformats.org/wordprocessingml/2006/main" xmlns:m="http://schemas.openxmlformats.org/officeDocument/2006/math"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Sheet1!$A$2:$A$21</c:f>
              <c:strCache>
                <c:ptCount val="20"/>
                <c:pt idx="0">
                  <c:v>2004</c:v>
                </c:pt>
                <c:pt idx="1">
                  <c:v>2005</c:v>
                </c:pt>
                <c:pt idx="2">
                  <c:v>2006</c:v>
                </c:pt>
                <c:pt idx="3">
                  <c:v>2007</c:v>
                </c:pt>
                <c:pt idx="4">
                  <c:v>2008</c:v>
                </c:pt>
                <c:pt idx="5">
                  <c:v>2009</c:v>
                </c:pt>
                <c:pt idx="6">
                  <c:v>2010</c:v>
                </c:pt>
                <c:pt idx="7">
                  <c:v>2011</c:v>
                </c:pt>
                <c:pt idx="8">
                  <c:v>2012</c:v>
                </c:pt>
                <c:pt idx="9">
                  <c:v>2013</c:v>
                </c:pt>
                <c:pt idx="10">
                  <c:v>2014</c:v>
                </c:pt>
                <c:pt idx="11">
                  <c:v>2015</c:v>
                </c:pt>
                <c:pt idx="12">
                  <c:v>2016</c:v>
                </c:pt>
                <c:pt idx="13">
                  <c:v>2017</c:v>
                </c:pt>
                <c:pt idx="14">
                  <c:v>2018</c:v>
                </c:pt>
                <c:pt idx="15">
                  <c:v>2019</c:v>
                </c:pt>
                <c:pt idx="16">
                  <c:v>2020</c:v>
                </c:pt>
                <c:pt idx="17">
                  <c:v>2021</c:v>
                </c:pt>
                <c:pt idx="18">
                  <c:v>2022</c:v>
                </c:pt>
                <c:pt idx="19">
                  <c:v>2023</c:v>
                </c:pt>
              </c:strCache>
            </c:strRef>
          </c:cat>
          <c:val>
            <c:numRef>
              <c:f>Sheet1!$B$2:$B$21</c:f>
              <c:numCache>
                <c:formatCode>General</c:formatCode>
                <c:ptCount val="20"/>
                <c:pt idx="0">
                  <c:v>32</c:v>
                </c:pt>
                <c:pt idx="1">
                  <c:v>50</c:v>
                </c:pt>
                <c:pt idx="2">
                  <c:v>79</c:v>
                </c:pt>
                <c:pt idx="3">
                  <c:v>120</c:v>
                </c:pt>
                <c:pt idx="4">
                  <c:v>155</c:v>
                </c:pt>
                <c:pt idx="5">
                  <c:v>152</c:v>
                </c:pt>
                <c:pt idx="6">
                  <c:v>213</c:v>
                </c:pt>
                <c:pt idx="7">
                  <c:v>266</c:v>
                </c:pt>
                <c:pt idx="8">
                  <c:v>241</c:v>
                </c:pt>
                <c:pt idx="9">
                  <c:v>211</c:v>
                </c:pt>
                <c:pt idx="10">
                  <c:v>262</c:v>
                </c:pt>
                <c:pt idx="11">
                  <c:v>301</c:v>
                </c:pt>
                <c:pt idx="12">
                  <c:v>285</c:v>
                </c:pt>
                <c:pt idx="13">
                  <c:v>315</c:v>
                </c:pt>
                <c:pt idx="14">
                  <c:v>285</c:v>
                </c:pt>
                <c:pt idx="15">
                  <c:v>319</c:v>
                </c:pt>
                <c:pt idx="16">
                  <c:v>363</c:v>
                </c:pt>
                <c:pt idx="17">
                  <c:v>423</c:v>
                </c:pt>
                <c:pt idx="18">
                  <c:v>571</c:v>
                </c:pt>
                <c:pt idx="19">
                  <c:v>619.1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13-6A8B-422D-94BE-1D31DE28CB4A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80"/>
        <c:overlap val="-30"/>
        <c:axId val="67451136"/>
        <c:axId val="66437120"/>
      </c:barChart>
      <c:catAx>
        <c:axId val="67451136"/>
        <c:scaling>
          <c:orientation val="minMax"/>
        </c:scaling>
        <c:delete val="0"/>
        <c:axPos val="b"/>
        <c:numFmt formatCode="General" sourceLinked="0"/>
        <c:majorTickMark val="none"/>
        <c:minorTickMark val="none"/>
        <c:tickLblPos val="low"/>
        <c:spPr>
          <a:ln w="25400">
            <a:solidFill>
              <a:srgbClr val="000000"/>
            </a:solidFill>
          </a:ln>
        </c:spPr>
        <c:txPr>
          <a:bodyPr/>
          <a:lstStyle/>
          <a:p>
            <a:pPr>
              <a:defRPr sz="1100" b="0" smtId="4294967295">
                <a:solidFill>
                  <a:srgbClr val="0F2741"/>
                </a:solidFill>
                <a:latin typeface="Open Sans"/>
              </a:defRPr>
            </a:pPr>
            <a:endParaRPr lang="fr-FR"/>
          </a:p>
        </c:txPr>
        <c:crossAx val="66437120"/>
        <c:crosses val="autoZero"/>
        <c:auto val="0"/>
        <c:lblAlgn val="ctr"/>
        <c:lblOffset val="100"/>
        <c:noMultiLvlLbl val="0"/>
      </c:catAx>
      <c:valAx>
        <c:axId val="66437120"/>
        <c:scaling>
          <c:orientation val="minMax"/>
          <c:min val="0"/>
        </c:scaling>
        <c:delete val="0"/>
        <c:axPos val="l"/>
        <c:majorGridlines>
          <c:spPr>
            <a:ln w="9525">
              <a:solidFill>
                <a:srgbClr val="2F2F2F"/>
              </a:solidFill>
              <a:prstDash val="dot"/>
            </a:ln>
          </c:spPr>
        </c:majorGridlines>
        <c:title>
          <c:tx>
            <c:rich>
              <a:bodyPr/>
              <a:lstStyle/>
              <a:p>
                <a:pPr>
                  <a:defRPr/>
                </a:pPr>
                <a:r>
                  <a:rPr lang="en-US" sz="1100" b="0">
                    <a:solidFill>
                      <a:srgbClr val="0F2741"/>
                    </a:solidFill>
                    <a:latin typeface="Open Sans"/>
                  </a:rPr>
                  <a:t>Investment in billion U.S. dollars</a:t>
                </a:r>
              </a:p>
            </c:rich>
          </c:tx>
          <c:overlay val="0"/>
        </c:title>
        <c:numFmt formatCode="#,##0" sourceLinked="0"/>
        <c:majorTickMark val="none"/>
        <c:minorTickMark val="none"/>
        <c:tickLblPos val="low"/>
        <c:spPr>
          <a:ln>
            <a:noFill/>
          </a:ln>
        </c:spPr>
        <c:txPr>
          <a:bodyPr/>
          <a:lstStyle/>
          <a:p>
            <a:pPr>
              <a:defRPr sz="1100" b="0" smtId="4294967295">
                <a:solidFill>
                  <a:srgbClr val="0F2741"/>
                </a:solidFill>
                <a:latin typeface="Open Sans"/>
              </a:defRPr>
            </a:pPr>
            <a:endParaRPr lang="fr-FR"/>
          </a:p>
        </c:txPr>
        <c:crossAx val="67451136"/>
        <c:crosses val="autoZero"/>
        <c:crossBetween val="between"/>
      </c:valAx>
    </c:plotArea>
    <c:plotVisOnly val="1"/>
    <c:dispBlanksAs val="gap"/>
    <c:showDLblsOverMax val="1"/>
  </c:chart>
  <c:txPr>
    <a:bodyPr/>
    <a:lstStyle/>
    <a:p>
      <a:pPr>
        <a:defRPr sz="1800" smtId="4294967295"/>
      </a:pPr>
      <a:endParaRPr lang="fr-FR"/>
    </a:p>
  </c:txPr>
  <c:externalData r:id="rId1">
    <c:autoUpdate val="0"/>
  </c:externalData>
</c:chartSpace>
</file>

<file path=ppt/drawings/_rels/drawing1.xml.rels><?xml version="1.0" encoding="UTF-8" standalone="yes"?>
<Relationships xmlns="http://schemas.openxmlformats.org/package/2006/relationships"><Relationship Id="rId1" Type="http://schemas.openxmlformats.org/officeDocument/2006/relationships/image" Target="../media/image5.png"/></Relationships>
</file>

<file path=ppt/drawings/drawing1.xml><?xml version="1.0" encoding="utf-8"?>
<c:userShapes xmlns:c="http://schemas.openxmlformats.org/drawingml/2006/chart">
  <cdr:relSizeAnchor xmlns:cdr="http://schemas.openxmlformats.org/drawingml/2006/chartDrawing">
    <cdr:from>
      <cdr:x>0.0811</cdr:x>
      <cdr:y>0.16642</cdr:y>
    </cdr:from>
    <cdr:to>
      <cdr:x>0.5664</cdr:x>
      <cdr:y>0.26328</cdr:y>
    </cdr:to>
    <cdr:pic>
      <cdr:nvPicPr>
        <cdr:cNvPr id="2" name="chart">
          <a:extLst xmlns:a="http://schemas.openxmlformats.org/drawingml/2006/main">
            <a:ext uri="{FF2B5EF4-FFF2-40B4-BE49-F238E27FC236}">
              <a16:creationId xmlns:a16="http://schemas.microsoft.com/office/drawing/2014/main" id="{6AD26C2B-E43F-86AC-0722-A609D824A834}"/>
            </a:ext>
          </a:extLst>
        </cdr:cNvPr>
        <cdr:cNvPicPr>
          <a:picLocks xmlns:a="http://schemas.openxmlformats.org/drawingml/2006/main" noChangeAspect="1"/>
        </cdr:cNvPicPr>
      </cdr:nvPicPr>
      <cdr:blipFill>
        <a:blip xmlns:a="http://schemas.openxmlformats.org/drawingml/2006/main" xmlns:r="http://schemas.openxmlformats.org/officeDocument/2006/relationships" r:embed="rId1"/>
        <a:stretch xmlns:a="http://schemas.openxmlformats.org/drawingml/2006/main">
          <a:fillRect/>
        </a:stretch>
      </cdr:blipFill>
      <cdr:spPr>
        <a:xfrm xmlns:a="http://schemas.openxmlformats.org/drawingml/2006/main">
          <a:off x="970961" y="848412"/>
          <a:ext cx="5809992" cy="493819"/>
        </a:xfrm>
        <a:prstGeom xmlns:a="http://schemas.openxmlformats.org/drawingml/2006/main" prst="rect">
          <a:avLst/>
        </a:prstGeom>
      </cdr:spPr>
    </cdr:pic>
  </cdr:relSizeAnchor>
</c:userShapes>
</file>

<file path=ppt/drawings/drawing2.xml><?xml version="1.0" encoding="utf-8"?>
<c:userShapes xmlns:c="http://schemas.openxmlformats.org/drawingml/2006/chart">
  <cdr:relSizeAnchor xmlns:cdr="http://schemas.openxmlformats.org/drawingml/2006/chartDrawing">
    <cdr:from>
      <cdr:x>0.29918</cdr:x>
      <cdr:y>0.39011</cdr:y>
    </cdr:from>
    <cdr:to>
      <cdr:x>0.99885</cdr:x>
      <cdr:y>0.8362</cdr:y>
    </cdr:to>
    <cdr:sp macro="" textlink="">
      <cdr:nvSpPr>
        <cdr:cNvPr id="2" name="ZoneTexte 4">
          <a:extLst xmlns:a="http://schemas.openxmlformats.org/drawingml/2006/main">
            <a:ext uri="{FF2B5EF4-FFF2-40B4-BE49-F238E27FC236}">
              <a16:creationId xmlns:a16="http://schemas.microsoft.com/office/drawing/2014/main" id="{856BE00F-CC06-7F50-2A23-36B4AAB61276}"/>
            </a:ext>
          </a:extLst>
        </cdr:cNvPr>
        <cdr:cNvSpPr txBox="1"/>
      </cdr:nvSpPr>
      <cdr:spPr>
        <a:xfrm xmlns:a="http://schemas.openxmlformats.org/drawingml/2006/main">
          <a:off x="3295760" y="1534160"/>
          <a:ext cx="7707520" cy="1754326"/>
        </a:xfrm>
        <a:prstGeom xmlns:a="http://schemas.openxmlformats.org/drawingml/2006/main" prst="rect">
          <a:avLst/>
        </a:prstGeom>
        <a:noFill xmlns:a="http://schemas.openxmlformats.org/drawingml/2006/main"/>
      </cdr:spPr>
      <cdr:txBody>
        <a:bodyPr xmlns:a="http://schemas.openxmlformats.org/drawingml/2006/main" wrap="square" rtlCol="0">
          <a:spAutoFit/>
        </a:bodyPr>
        <a:lstStyle xmlns:a="http://schemas.openxmlformats.org/drawingml/2006/main">
          <a:defPPr>
            <a:defRPr lang="fr-FR"/>
          </a:defPPr>
          <a:lvl1pPr marL="0" algn="l" defTabSz="914400" rtl="0" eaLnBrk="1" latinLnBrk="0" hangingPunct="1">
            <a:defRPr sz="1800" kern="1200">
              <a:solidFill>
                <a:schemeClr val="tx1"/>
              </a:solidFill>
              <a:latin typeface="+mn-lt"/>
              <a:ea typeface="+mn-ea"/>
              <a:cs typeface="+mn-cs"/>
            </a:defRPr>
          </a:lvl1pPr>
          <a:lvl2pPr marL="457200" algn="l" defTabSz="914400" rtl="0" eaLnBrk="1" latinLnBrk="0" hangingPunct="1">
            <a:defRPr sz="1800" kern="1200">
              <a:solidFill>
                <a:schemeClr val="tx1"/>
              </a:solidFill>
              <a:latin typeface="+mn-lt"/>
              <a:ea typeface="+mn-ea"/>
              <a:cs typeface="+mn-cs"/>
            </a:defRPr>
          </a:lvl2pPr>
          <a:lvl3pPr marL="914400" algn="l" defTabSz="914400" rtl="0" eaLnBrk="1" latinLnBrk="0" hangingPunct="1">
            <a:defRPr sz="1800" kern="1200">
              <a:solidFill>
                <a:schemeClr val="tx1"/>
              </a:solidFill>
              <a:latin typeface="+mn-lt"/>
              <a:ea typeface="+mn-ea"/>
              <a:cs typeface="+mn-cs"/>
            </a:defRPr>
          </a:lvl3pPr>
          <a:lvl4pPr marL="1371600" algn="l" defTabSz="914400" rtl="0" eaLnBrk="1" latinLnBrk="0" hangingPunct="1">
            <a:defRPr sz="1800" kern="1200">
              <a:solidFill>
                <a:schemeClr val="tx1"/>
              </a:solidFill>
              <a:latin typeface="+mn-lt"/>
              <a:ea typeface="+mn-ea"/>
              <a:cs typeface="+mn-cs"/>
            </a:defRPr>
          </a:lvl4pPr>
          <a:lvl5pPr marL="1828800" algn="l" defTabSz="914400" rtl="0" eaLnBrk="1" latinLnBrk="0" hangingPunct="1">
            <a:defRPr sz="1800" kern="1200">
              <a:solidFill>
                <a:schemeClr val="tx1"/>
              </a:solidFill>
              <a:latin typeface="+mn-lt"/>
              <a:ea typeface="+mn-ea"/>
              <a:cs typeface="+mn-cs"/>
            </a:defRPr>
          </a:lvl5pPr>
          <a:lvl6pPr marL="2286000" algn="l" defTabSz="914400" rtl="0" eaLnBrk="1" latinLnBrk="0" hangingPunct="1">
            <a:defRPr sz="1800" kern="1200">
              <a:solidFill>
                <a:schemeClr val="tx1"/>
              </a:solidFill>
              <a:latin typeface="+mn-lt"/>
              <a:ea typeface="+mn-ea"/>
              <a:cs typeface="+mn-cs"/>
            </a:defRPr>
          </a:lvl6pPr>
          <a:lvl7pPr marL="2743200" algn="l" defTabSz="914400" rtl="0" eaLnBrk="1" latinLnBrk="0" hangingPunct="1">
            <a:defRPr sz="1800" kern="1200">
              <a:solidFill>
                <a:schemeClr val="tx1"/>
              </a:solidFill>
              <a:latin typeface="+mn-lt"/>
              <a:ea typeface="+mn-ea"/>
              <a:cs typeface="+mn-cs"/>
            </a:defRPr>
          </a:lvl7pPr>
          <a:lvl8pPr marL="3200400" algn="l" defTabSz="914400" rtl="0" eaLnBrk="1" latinLnBrk="0" hangingPunct="1">
            <a:defRPr sz="1800" kern="1200">
              <a:solidFill>
                <a:schemeClr val="tx1"/>
              </a:solidFill>
              <a:latin typeface="+mn-lt"/>
              <a:ea typeface="+mn-ea"/>
              <a:cs typeface="+mn-cs"/>
            </a:defRPr>
          </a:lvl8pPr>
          <a:lvl9pPr marL="3657600" algn="l" defTabSz="914400" rtl="0" eaLnBrk="1" latinLnBrk="0" hangingPunct="1">
            <a:defRPr sz="1800" kern="1200">
              <a:solidFill>
                <a:schemeClr val="tx1"/>
              </a:solidFill>
              <a:latin typeface="+mn-lt"/>
              <a:ea typeface="+mn-ea"/>
              <a:cs typeface="+mn-cs"/>
            </a:defRPr>
          </a:lvl9pPr>
        </a:lstStyle>
        <a:p xmlns:a="http://schemas.openxmlformats.org/drawingml/2006/main">
          <a:r>
            <a:rPr lang="en-US" b="1" dirty="0"/>
            <a:t>1/ Which country is responsible? Who is the victim ?</a:t>
          </a:r>
        </a:p>
        <a:p xmlns:a="http://schemas.openxmlformats.org/drawingml/2006/main">
          <a:endParaRPr lang="en-US" b="1" dirty="0"/>
        </a:p>
        <a:p xmlns:a="http://schemas.openxmlformats.org/drawingml/2006/main">
          <a:r>
            <a:rPr lang="en-US" b="1" dirty="0"/>
            <a:t>2/ Are we equal when it comes to CO2 emissions?</a:t>
          </a:r>
        </a:p>
        <a:p xmlns:a="http://schemas.openxmlformats.org/drawingml/2006/main">
          <a:endParaRPr lang="en-US" b="1" dirty="0"/>
        </a:p>
        <a:p xmlns:a="http://schemas.openxmlformats.org/drawingml/2006/main">
          <a:r>
            <a:rPr lang="en-US" b="1" dirty="0"/>
            <a:t>3/ How can the least developed countries manage the growth of their GDP without increasing their CO2 emissions? The difficult equation to solve!</a:t>
          </a:r>
          <a:endParaRPr lang="fr-FR" b="1" dirty="0"/>
        </a:p>
      </cdr:txBody>
    </cdr:sp>
  </cdr:relSizeAnchor>
</c:userShape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en-tête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fr-FR"/>
          </a:p>
        </p:txBody>
      </p:sp>
      <p:sp>
        <p:nvSpPr>
          <p:cNvPr id="3" name="Espace réservé de la date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76489A8F-865C-4401-A300-09B6D72397E3}" type="datetimeFigureOut">
              <a:t>02/06/2026</a:t>
            </a:fld>
            <a:endParaRPr lang="fr-FR"/>
          </a:p>
        </p:txBody>
      </p:sp>
      <p:sp>
        <p:nvSpPr>
          <p:cNvPr id="4" name="Espace réservé de l'image des diapositives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fr-FR"/>
          </a:p>
        </p:txBody>
      </p:sp>
      <p:sp>
        <p:nvSpPr>
          <p:cNvPr id="5" name="Espace réservé des notes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fr-FR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3505DCD2-5A27-485F-9EC4-D0DAB3AF76E6}" type="slidenum"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66593595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not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>
                <a:ea typeface="Calibri"/>
                <a:cs typeface="Calibri"/>
              </a:rPr>
              <a:t>The main weak points of classical finance</a:t>
            </a:r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505DCD2-5A27-485F-9EC4-D0DAB3AF76E6}" type="slidenum">
              <a:t>4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061828173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not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>
                <a:ea typeface="Calibri"/>
                <a:cs typeface="Calibri"/>
              </a:rPr>
              <a:t>DEBATE</a:t>
            </a:r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505DCD2-5A27-485F-9EC4-D0DAB3AF76E6}" type="slidenum">
              <a:t>5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732046574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not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>
                <a:ea typeface="Calibri"/>
                <a:cs typeface="Calibri"/>
              </a:rPr>
              <a:t>INTERPRETATION</a:t>
            </a:r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505DCD2-5A27-485F-9EC4-D0DAB3AF76E6}" type="slidenum">
              <a:t>8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4073353246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not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fr-FR" dirty="0" err="1">
                <a:solidFill>
                  <a:srgbClr val="2E3A3C"/>
                </a:solidFill>
              </a:rPr>
              <a:t>Climate</a:t>
            </a:r>
            <a:r>
              <a:rPr lang="fr-FR" dirty="0">
                <a:solidFill>
                  <a:srgbClr val="2E3A3C"/>
                </a:solidFill>
              </a:rPr>
              <a:t> injustice </a:t>
            </a:r>
            <a:r>
              <a:rPr lang="fr-FR" dirty="0" err="1">
                <a:solidFill>
                  <a:srgbClr val="2E3A3C"/>
                </a:solidFill>
              </a:rPr>
              <a:t>refers</a:t>
            </a:r>
            <a:r>
              <a:rPr lang="fr-FR" dirty="0">
                <a:solidFill>
                  <a:srgbClr val="2E3A3C"/>
                </a:solidFill>
              </a:rPr>
              <a:t> to the </a:t>
            </a:r>
            <a:r>
              <a:rPr lang="fr-FR" dirty="0" err="1">
                <a:solidFill>
                  <a:srgbClr val="2E3A3C"/>
                </a:solidFill>
              </a:rPr>
              <a:t>paradox</a:t>
            </a:r>
            <a:r>
              <a:rPr lang="fr-FR" dirty="0">
                <a:solidFill>
                  <a:srgbClr val="2E3A3C"/>
                </a:solidFill>
              </a:rPr>
              <a:t> </a:t>
            </a:r>
            <a:r>
              <a:rPr lang="fr-FR" dirty="0" err="1">
                <a:solidFill>
                  <a:srgbClr val="2E3A3C"/>
                </a:solidFill>
              </a:rPr>
              <a:t>whereby</a:t>
            </a:r>
            <a:r>
              <a:rPr lang="fr-FR" dirty="0">
                <a:solidFill>
                  <a:srgbClr val="2E3A3C"/>
                </a:solidFill>
              </a:rPr>
              <a:t> the countries least </a:t>
            </a:r>
            <a:r>
              <a:rPr lang="fr-FR" dirty="0" err="1">
                <a:solidFill>
                  <a:srgbClr val="2E3A3C"/>
                </a:solidFill>
              </a:rPr>
              <a:t>responsible</a:t>
            </a:r>
            <a:r>
              <a:rPr lang="fr-FR" dirty="0">
                <a:solidFill>
                  <a:srgbClr val="2E3A3C"/>
                </a:solidFill>
              </a:rPr>
              <a:t> for global </a:t>
            </a:r>
            <a:r>
              <a:rPr lang="fr-FR" dirty="0" err="1">
                <a:solidFill>
                  <a:srgbClr val="2E3A3C"/>
                </a:solidFill>
              </a:rPr>
              <a:t>warming</a:t>
            </a:r>
            <a:r>
              <a:rPr lang="fr-FR" dirty="0">
                <a:solidFill>
                  <a:srgbClr val="2E3A3C"/>
                </a:solidFill>
              </a:rPr>
              <a:t> are </a:t>
            </a:r>
            <a:r>
              <a:rPr lang="fr-FR" dirty="0" err="1">
                <a:solidFill>
                  <a:srgbClr val="2E3A3C"/>
                </a:solidFill>
              </a:rPr>
              <a:t>those</a:t>
            </a:r>
            <a:r>
              <a:rPr lang="fr-FR" dirty="0">
                <a:solidFill>
                  <a:srgbClr val="2E3A3C"/>
                </a:solidFill>
              </a:rPr>
              <a:t> </a:t>
            </a:r>
            <a:r>
              <a:rPr lang="fr-FR" dirty="0" err="1">
                <a:solidFill>
                  <a:srgbClr val="2E3A3C"/>
                </a:solidFill>
              </a:rPr>
              <a:t>that</a:t>
            </a:r>
            <a:r>
              <a:rPr lang="fr-FR" dirty="0">
                <a:solidFill>
                  <a:srgbClr val="2E3A3C"/>
                </a:solidFill>
              </a:rPr>
              <a:t> </a:t>
            </a:r>
            <a:r>
              <a:rPr lang="fr-FR" dirty="0" err="1">
                <a:solidFill>
                  <a:srgbClr val="2E3A3C"/>
                </a:solidFill>
              </a:rPr>
              <a:t>suffer</a:t>
            </a:r>
            <a:r>
              <a:rPr lang="fr-FR" dirty="0">
                <a:solidFill>
                  <a:srgbClr val="2E3A3C"/>
                </a:solidFill>
              </a:rPr>
              <a:t> the </a:t>
            </a:r>
            <a:r>
              <a:rPr lang="fr-FR" dirty="0" err="1">
                <a:solidFill>
                  <a:srgbClr val="2E3A3C"/>
                </a:solidFill>
              </a:rPr>
              <a:t>most</a:t>
            </a:r>
            <a:r>
              <a:rPr lang="fr-FR" dirty="0">
                <a:solidFill>
                  <a:srgbClr val="2E3A3C"/>
                </a:solidFill>
              </a:rPr>
              <a:t> </a:t>
            </a:r>
            <a:r>
              <a:rPr lang="fr-FR" dirty="0" err="1">
                <a:solidFill>
                  <a:srgbClr val="2E3A3C"/>
                </a:solidFill>
              </a:rPr>
              <a:t>devastating</a:t>
            </a:r>
            <a:r>
              <a:rPr lang="fr-FR" dirty="0">
                <a:solidFill>
                  <a:srgbClr val="2E3A3C"/>
                </a:solidFill>
              </a:rPr>
              <a:t> </a:t>
            </a:r>
            <a:r>
              <a:rPr lang="fr-FR" dirty="0" err="1">
                <a:solidFill>
                  <a:srgbClr val="2E3A3C"/>
                </a:solidFill>
              </a:rPr>
              <a:t>consequences</a:t>
            </a:r>
            <a:r>
              <a:rPr lang="fr-FR" dirty="0">
                <a:solidFill>
                  <a:srgbClr val="2E3A3C"/>
                </a:solidFill>
              </a:rPr>
              <a:t>. This </a:t>
            </a:r>
            <a:r>
              <a:rPr lang="fr-FR" dirty="0" err="1">
                <a:solidFill>
                  <a:srgbClr val="2E3A3C"/>
                </a:solidFill>
              </a:rPr>
              <a:t>inequality</a:t>
            </a:r>
            <a:r>
              <a:rPr lang="fr-FR" dirty="0">
                <a:solidFill>
                  <a:srgbClr val="2E3A3C"/>
                </a:solidFill>
              </a:rPr>
              <a:t> </a:t>
            </a:r>
            <a:r>
              <a:rPr lang="fr-FR" dirty="0" err="1">
                <a:solidFill>
                  <a:srgbClr val="2E3A3C"/>
                </a:solidFill>
              </a:rPr>
              <a:t>demonstrates</a:t>
            </a:r>
            <a:r>
              <a:rPr lang="fr-FR" dirty="0">
                <a:solidFill>
                  <a:srgbClr val="2E3A3C"/>
                </a:solidFill>
              </a:rPr>
              <a:t> </a:t>
            </a:r>
            <a:r>
              <a:rPr lang="fr-FR" dirty="0" err="1">
                <a:solidFill>
                  <a:srgbClr val="2E3A3C"/>
                </a:solidFill>
              </a:rPr>
              <a:t>that</a:t>
            </a:r>
            <a:r>
              <a:rPr lang="fr-FR" dirty="0">
                <a:solidFill>
                  <a:srgbClr val="2E3A3C"/>
                </a:solidFill>
              </a:rPr>
              <a:t> </a:t>
            </a:r>
            <a:r>
              <a:rPr lang="fr-FR" dirty="0" err="1">
                <a:solidFill>
                  <a:srgbClr val="2E3A3C"/>
                </a:solidFill>
              </a:rPr>
              <a:t>developed</a:t>
            </a:r>
            <a:r>
              <a:rPr lang="fr-FR" dirty="0">
                <a:solidFill>
                  <a:srgbClr val="2E3A3C"/>
                </a:solidFill>
              </a:rPr>
              <a:t> countries, </a:t>
            </a:r>
            <a:r>
              <a:rPr lang="fr-FR" dirty="0" err="1">
                <a:solidFill>
                  <a:srgbClr val="2E3A3C"/>
                </a:solidFill>
              </a:rPr>
              <a:t>which</a:t>
            </a:r>
            <a:r>
              <a:rPr lang="fr-FR" dirty="0">
                <a:solidFill>
                  <a:srgbClr val="2E3A3C"/>
                </a:solidFill>
              </a:rPr>
              <a:t> have </a:t>
            </a:r>
            <a:r>
              <a:rPr lang="fr-FR" dirty="0" err="1">
                <a:solidFill>
                  <a:srgbClr val="2E3A3C"/>
                </a:solidFill>
              </a:rPr>
              <a:t>historically</a:t>
            </a:r>
            <a:r>
              <a:rPr lang="fr-FR" dirty="0">
                <a:solidFill>
                  <a:srgbClr val="2E3A3C"/>
                </a:solidFill>
              </a:rPr>
              <a:t> </a:t>
            </a:r>
            <a:r>
              <a:rPr lang="fr-FR" dirty="0" err="1">
                <a:solidFill>
                  <a:srgbClr val="2E3A3C"/>
                </a:solidFill>
              </a:rPr>
              <a:t>emitted</a:t>
            </a:r>
            <a:r>
              <a:rPr lang="fr-FR" dirty="0">
                <a:solidFill>
                  <a:srgbClr val="2E3A3C"/>
                </a:solidFill>
              </a:rPr>
              <a:t> the </a:t>
            </a:r>
            <a:r>
              <a:rPr lang="fr-FR" dirty="0" err="1">
                <a:solidFill>
                  <a:srgbClr val="2E3A3C"/>
                </a:solidFill>
              </a:rPr>
              <a:t>majority</a:t>
            </a:r>
            <a:r>
              <a:rPr lang="fr-FR" dirty="0">
                <a:solidFill>
                  <a:srgbClr val="2E3A3C"/>
                </a:solidFill>
              </a:rPr>
              <a:t> of </a:t>
            </a:r>
            <a:r>
              <a:rPr lang="fr-FR" dirty="0" err="1">
                <a:solidFill>
                  <a:srgbClr val="2E3A3C"/>
                </a:solidFill>
              </a:rPr>
              <a:t>greenhouse</a:t>
            </a:r>
            <a:r>
              <a:rPr lang="fr-FR" dirty="0">
                <a:solidFill>
                  <a:srgbClr val="2E3A3C"/>
                </a:solidFill>
              </a:rPr>
              <a:t> </a:t>
            </a:r>
            <a:r>
              <a:rPr lang="fr-FR" dirty="0" err="1">
                <a:solidFill>
                  <a:srgbClr val="2E3A3C"/>
                </a:solidFill>
              </a:rPr>
              <a:t>gases</a:t>
            </a:r>
            <a:r>
              <a:rPr lang="fr-FR" dirty="0">
                <a:solidFill>
                  <a:srgbClr val="2E3A3C"/>
                </a:solidFill>
              </a:rPr>
              <a:t>, struggle to </a:t>
            </a:r>
            <a:r>
              <a:rPr lang="fr-FR" dirty="0" err="1">
                <a:solidFill>
                  <a:srgbClr val="2E3A3C"/>
                </a:solidFill>
              </a:rPr>
              <a:t>bear</a:t>
            </a:r>
            <a:r>
              <a:rPr lang="fr-FR" dirty="0">
                <a:solidFill>
                  <a:srgbClr val="2E3A3C"/>
                </a:solidFill>
              </a:rPr>
              <a:t> the </a:t>
            </a:r>
            <a:r>
              <a:rPr lang="fr-FR" dirty="0" err="1">
                <a:solidFill>
                  <a:srgbClr val="2E3A3C"/>
                </a:solidFill>
              </a:rPr>
              <a:t>financial</a:t>
            </a:r>
            <a:r>
              <a:rPr lang="fr-FR" dirty="0">
                <a:solidFill>
                  <a:srgbClr val="2E3A3C"/>
                </a:solidFill>
              </a:rPr>
              <a:t> </a:t>
            </a:r>
            <a:r>
              <a:rPr lang="fr-FR" dirty="0" err="1">
                <a:solidFill>
                  <a:srgbClr val="2E3A3C"/>
                </a:solidFill>
              </a:rPr>
              <a:t>burden</a:t>
            </a:r>
            <a:r>
              <a:rPr lang="fr-FR" dirty="0">
                <a:solidFill>
                  <a:srgbClr val="2E3A3C"/>
                </a:solidFill>
              </a:rPr>
              <a:t> </a:t>
            </a:r>
            <a:r>
              <a:rPr lang="fr-FR" dirty="0" err="1">
                <a:solidFill>
                  <a:srgbClr val="2E3A3C"/>
                </a:solidFill>
              </a:rPr>
              <a:t>necessary</a:t>
            </a:r>
            <a:r>
              <a:rPr lang="fr-FR" dirty="0">
                <a:solidFill>
                  <a:srgbClr val="2E3A3C"/>
                </a:solidFill>
              </a:rPr>
              <a:t> to </a:t>
            </a:r>
            <a:r>
              <a:rPr lang="fr-FR" dirty="0" err="1">
                <a:solidFill>
                  <a:srgbClr val="2E3A3C"/>
                </a:solidFill>
              </a:rPr>
              <a:t>protect</a:t>
            </a:r>
            <a:r>
              <a:rPr lang="fr-FR" dirty="0">
                <a:solidFill>
                  <a:srgbClr val="2E3A3C"/>
                </a:solidFill>
              </a:rPr>
              <a:t> the </a:t>
            </a:r>
            <a:r>
              <a:rPr lang="fr-FR" dirty="0" err="1">
                <a:solidFill>
                  <a:srgbClr val="2E3A3C"/>
                </a:solidFill>
              </a:rPr>
              <a:t>most</a:t>
            </a:r>
            <a:r>
              <a:rPr lang="fr-FR" dirty="0">
                <a:solidFill>
                  <a:srgbClr val="2E3A3C"/>
                </a:solidFill>
              </a:rPr>
              <a:t> </a:t>
            </a:r>
            <a:r>
              <a:rPr lang="fr-FR" dirty="0" err="1">
                <a:solidFill>
                  <a:srgbClr val="2E3A3C"/>
                </a:solidFill>
              </a:rPr>
              <a:t>vulnerable</a:t>
            </a:r>
            <a:r>
              <a:rPr lang="fr-FR" dirty="0">
                <a:solidFill>
                  <a:srgbClr val="2E3A3C"/>
                </a:solidFill>
              </a:rPr>
              <a:t> countries.</a:t>
            </a:r>
            <a:endParaRPr lang="fr-FR" dirty="0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505DCD2-5A27-485F-9EC4-D0DAB3AF76E6}" type="slidenum">
              <a:rPr lang="fr-FR"/>
              <a:t>13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40283897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not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This confirms that while investment in renewable energy is substantial at $600 billion, the vast majority of capital—$1,400 billion—is still directed toward non-renewable energy sources.</a:t>
            </a:r>
            <a:endParaRPr lang="fr-FR" dirty="0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505DCD2-5A27-485F-9EC4-D0DAB3AF76E6}" type="slidenum">
              <a:rPr lang="fr-FR"/>
              <a:t>15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364976080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not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b="1"/>
              <a:t>3. Debriefing and Critical Analysis (5 minutes)</a:t>
            </a:r>
            <a:endParaRPr lang="fr-FR"/>
          </a:p>
          <a:p>
            <a:pPr marL="285750" indent="-285750">
              <a:buFont typeface="Arial"/>
              <a:buChar char="•"/>
            </a:pPr>
            <a:r>
              <a:rPr lang="en-US"/>
              <a:t>Why is it so difficult to reach 1.8°C?</a:t>
            </a:r>
            <a:endParaRPr lang="fr-FR"/>
          </a:p>
          <a:p>
            <a:pPr marL="285750" indent="-285750">
              <a:buFont typeface="Arial"/>
              <a:buChar char="•"/>
            </a:pPr>
            <a:r>
              <a:rPr lang="en-US"/>
              <a:t>Which levers had the most "surprising" impacts (e.g., carbon price vs. energy efficiency)?</a:t>
            </a:r>
            <a:endParaRPr lang="fr-FR"/>
          </a:p>
          <a:p>
            <a:pPr marL="285750" indent="-285750">
              <a:buFont typeface="Arial"/>
              <a:buChar char="•"/>
            </a:pPr>
            <a:r>
              <a:rPr lang="en-US"/>
              <a:t>How did the students manage the conflict between economic growth and climate urgency?</a:t>
            </a:r>
            <a:endParaRPr lang="fr-FR"/>
          </a:p>
          <a:p>
            <a:r>
              <a:rPr lang="fr-FR" dirty="0"/>
              <a:t>Tips for the </a:t>
            </a:r>
            <a:r>
              <a:rPr lang="fr-FR" dirty="0" err="1"/>
              <a:t>Facilitator</a:t>
            </a:r>
            <a:r>
              <a:rPr lang="fr-FR" dirty="0"/>
              <a:t> (</a:t>
            </a:r>
            <a:r>
              <a:rPr lang="fr-FR" dirty="0" err="1"/>
              <a:t>Master's</a:t>
            </a:r>
            <a:r>
              <a:rPr lang="fr-FR" dirty="0"/>
              <a:t> Level)</a:t>
            </a:r>
            <a:endParaRPr lang="fr-FR" dirty="0">
              <a:ea typeface="Calibri"/>
              <a:cs typeface="Calibri"/>
            </a:endParaRPr>
          </a:p>
          <a:p>
            <a:pPr marL="285750" indent="-285750">
              <a:buFont typeface="Arial"/>
              <a:buChar char="•"/>
            </a:pPr>
            <a:r>
              <a:rPr lang="en-US" b="1"/>
              <a:t>Use Advanced Graphs:</a:t>
            </a:r>
            <a:r>
              <a:rPr lang="en-US"/>
              <a:t> Systematically display the "Global Temperature" curve and the "Energy Sources" curve to show the time lag between policies and results.</a:t>
            </a:r>
            <a:endParaRPr lang="fr-FR"/>
          </a:p>
          <a:p>
            <a:pPr marL="285750" indent="-285750">
              <a:buFont typeface="Arial"/>
              <a:buChar char="•"/>
            </a:pPr>
            <a:r>
              <a:rPr lang="en-US" b="1" dirty="0"/>
              <a:t>The "Silver Bullet" Trap:</a:t>
            </a:r>
            <a:r>
              <a:rPr lang="en-US" dirty="0"/>
              <a:t> If students try to pull every slider at once, remind them that in reality, subsidies are limited and capital is finite.</a:t>
            </a:r>
            <a:endParaRPr lang="fr-FR" dirty="0"/>
          </a:p>
          <a:p>
            <a:pPr marL="285750" indent="-285750">
              <a:buFont typeface="Arial"/>
              <a:buChar char="•"/>
            </a:pPr>
            <a:r>
              <a:rPr lang="en-US" b="1"/>
              <a:t>Focus on Costs:</a:t>
            </a:r>
            <a:r>
              <a:rPr lang="en-US"/>
              <a:t> Ask, </a:t>
            </a:r>
            <a:r>
              <a:rPr lang="en-US" i="1"/>
              <a:t>"Who pays for the transition?"</a:t>
            </a:r>
            <a:r>
              <a:rPr lang="en-US"/>
              <a:t> while manipulating sliders related to energy prices and taxes.</a:t>
            </a:r>
            <a:endParaRPr lang="fr-FR"/>
          </a:p>
          <a:p>
            <a:r>
              <a:rPr lang="fr-FR" dirty="0"/>
              <a:t>Why This Works for </a:t>
            </a:r>
            <a:r>
              <a:rPr lang="fr-FR" dirty="0" err="1"/>
              <a:t>Master's</a:t>
            </a:r>
            <a:r>
              <a:rPr lang="fr-FR" dirty="0"/>
              <a:t> </a:t>
            </a:r>
            <a:r>
              <a:rPr lang="fr-FR" dirty="0" err="1"/>
              <a:t>Students</a:t>
            </a:r>
            <a:endParaRPr lang="fr-FR" dirty="0" err="1">
              <a:ea typeface="Calibri"/>
              <a:cs typeface="Calibri"/>
            </a:endParaRPr>
          </a:p>
          <a:p>
            <a:r>
              <a:rPr lang="en-US"/>
              <a:t>It forces them to move past binary answers (e.g., "we must stop oil") and adopt a </a:t>
            </a:r>
            <a:r>
              <a:rPr lang="en-US" b="1"/>
              <a:t>risk management approach</a:t>
            </a:r>
            <a:r>
              <a:rPr lang="en-US"/>
              <a:t>. They quickly realize that the "climate" is a complex system where every action has a delayed reaction, which is the essence of their future professional practice in business or administration.</a:t>
            </a:r>
            <a:endParaRPr lang="fr-FR"/>
          </a:p>
          <a:p>
            <a:endParaRPr lang="en-US" dirty="0">
              <a:ea typeface="Calibri"/>
              <a:cs typeface="Calibri"/>
            </a:endParaRPr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505DCD2-5A27-485F-9EC4-D0DAB3AF76E6}" type="slidenum">
              <a:rPr lang="fr-FR"/>
              <a:t>17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4294714757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not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err="1"/>
              <a:t>Exercise</a:t>
            </a:r>
            <a:r>
              <a:rPr lang="en-US"/>
              <a:t> Title: "The Resource-</a:t>
            </a:r>
            <a:r>
              <a:rPr lang="en-US" err="1"/>
              <a:t>Constrained</a:t>
            </a:r>
            <a:r>
              <a:rPr lang="en-US"/>
              <a:t> Future: 2050 Strategic Planning"</a:t>
            </a:r>
            <a:endParaRPr lang="fr-FR"/>
          </a:p>
          <a:p>
            <a:r>
              <a:rPr lang="en-US" b="1" dirty="0"/>
              <a:t>Objective:</a:t>
            </a:r>
            <a:r>
              <a:rPr lang="en-US" dirty="0"/>
              <a:t> Adjust structural levers to achieve a sustainable energy and food balance by 2050 while maintaining a hypothetical "Quality of Life" index.</a:t>
            </a:r>
          </a:p>
          <a:p>
            <a:r>
              <a:rPr lang="en-US"/>
              <a:t>Structure (20 Minutes)</a:t>
            </a:r>
          </a:p>
          <a:p>
            <a:r>
              <a:rPr lang="en-US" b="1"/>
              <a:t>1. Briefing: The Challenge (3 minutes)</a:t>
            </a:r>
            <a:endParaRPr lang="en-US"/>
          </a:p>
          <a:p>
            <a:pPr marL="171450" indent="-171450">
              <a:buFont typeface="Arial"/>
              <a:buChar char="•"/>
            </a:pPr>
            <a:r>
              <a:rPr lang="en-US" b="1"/>
              <a:t>Context:</a:t>
            </a:r>
            <a:r>
              <a:rPr lang="en-US"/>
              <a:t> Students are advisors to a global transition committee. The world in 2050 faces a choice: population growth vs. resource limits.</a:t>
            </a:r>
          </a:p>
          <a:p>
            <a:pPr marL="171450" indent="-171450">
              <a:buFont typeface="Arial"/>
              <a:buChar char="•"/>
            </a:pPr>
            <a:r>
              <a:rPr lang="en-US" b="1" dirty="0"/>
              <a:t>The Task:</a:t>
            </a:r>
            <a:r>
              <a:rPr lang="en-US" dirty="0"/>
              <a:t> They must modify the structural drivers (Population, Diet, Energy Mix, and Industry) to reach a "sustainable" outcome in the dashboard before 2050.</a:t>
            </a:r>
          </a:p>
          <a:p>
            <a:r>
              <a:rPr lang="en-US" b="1"/>
              <a:t>2. Simulation &amp; Trade-off Workshop (12 minutes)</a:t>
            </a:r>
            <a:endParaRPr lang="en-US"/>
          </a:p>
          <a:p>
            <a:pPr marL="171450" indent="-171450">
              <a:buFont typeface="Arial"/>
              <a:buChar char="•"/>
            </a:pPr>
            <a:r>
              <a:rPr lang="en-US"/>
              <a:t>Divide the class into 3 "Ministry" groups:</a:t>
            </a:r>
          </a:p>
          <a:p>
            <a:pPr marL="628650" lvl="1" indent="-171450">
              <a:buFont typeface="Arial"/>
              <a:buChar char="•"/>
            </a:pPr>
            <a:r>
              <a:rPr lang="en-US" b="1"/>
              <a:t>Ministry of Agriculture:</a:t>
            </a:r>
            <a:r>
              <a:rPr lang="en-US"/>
              <a:t> Focus on levers for "Diet," "Crop Yields," and "Land Use." (How do we feed 9 billion people without further deforestation?)</a:t>
            </a:r>
          </a:p>
          <a:p>
            <a:pPr marL="628650" lvl="1" indent="-171450">
              <a:buFont typeface="Arial"/>
              <a:buChar char="•"/>
            </a:pPr>
            <a:r>
              <a:rPr lang="en-US" b="1" dirty="0"/>
              <a:t>Ministry of Energy &amp; Transport:</a:t>
            </a:r>
            <a:r>
              <a:rPr lang="en-US" dirty="0"/>
              <a:t> Focus on "Energy Supply," "Transport," and "Industry." (How do we electrify everything while maintaining grid stability?)</a:t>
            </a:r>
          </a:p>
          <a:p>
            <a:pPr marL="628650" lvl="1" indent="-171450">
              <a:buFont typeface="Arial"/>
              <a:buChar char="•"/>
            </a:pPr>
            <a:r>
              <a:rPr lang="en-US" b="1" dirty="0"/>
              <a:t>Ministry of Economy &amp; Infrastructure:</a:t>
            </a:r>
            <a:r>
              <a:rPr lang="en-US" dirty="0"/>
              <a:t> Focus on "Efficiency," "Building standards," and "Lifestyle." (Can we maintain comfort with less consumption?)</a:t>
            </a:r>
          </a:p>
          <a:p>
            <a:pPr marL="171450" indent="-171450">
              <a:buFont typeface="Arial"/>
              <a:buChar char="•"/>
            </a:pPr>
            <a:r>
              <a:rPr lang="en-US" b="1"/>
              <a:t>Process:</a:t>
            </a:r>
            <a:r>
              <a:rPr lang="en-US"/>
              <a:t> Each ministry has 4 minutes to propose a "package of measures" (e.g., increasing plant-based diets + doubling crop yields). You implement these in the Global Calculator and show the resulting energy gap or emissions.</a:t>
            </a:r>
          </a:p>
          <a:p>
            <a:r>
              <a:rPr lang="en-US" b="1"/>
              <a:t>3. Debriefing: The Reality Check (5 minutes)</a:t>
            </a:r>
            <a:endParaRPr lang="en-US"/>
          </a:p>
          <a:p>
            <a:pPr marL="171450" indent="-171450">
              <a:buFont typeface="Arial"/>
              <a:buChar char="•"/>
            </a:pPr>
            <a:r>
              <a:rPr lang="en-US"/>
              <a:t>Highlight the </a:t>
            </a:r>
            <a:r>
              <a:rPr lang="en-US" b="1"/>
              <a:t>"Impossible Trinities"</a:t>
            </a:r>
            <a:r>
              <a:rPr lang="en-US"/>
              <a:t> that appeared:</a:t>
            </a:r>
          </a:p>
          <a:p>
            <a:pPr marL="628650" lvl="1" indent="-171450">
              <a:buFont typeface="Arial"/>
              <a:buChar char="•"/>
            </a:pPr>
            <a:r>
              <a:rPr lang="en-US" i="1"/>
              <a:t>Example:</a:t>
            </a:r>
            <a:r>
              <a:rPr lang="en-US"/>
              <a:t> If they increased renewables (Energy Supply) but kept current diets (Land Use), did they run out of available land for energy production?</a:t>
            </a:r>
          </a:p>
          <a:p>
            <a:pPr marL="628650" lvl="1" indent="-171450">
              <a:buFont typeface="Arial"/>
              <a:buChar char="•"/>
            </a:pPr>
            <a:r>
              <a:rPr lang="en-US" i="1"/>
              <a:t>Example:</a:t>
            </a:r>
            <a:r>
              <a:rPr lang="en-US"/>
              <a:t> Did increased efficiency in industry offset the energy demand of a growing population?</a:t>
            </a:r>
          </a:p>
          <a:p>
            <a:endParaRPr lang="en-US" dirty="0">
              <a:ea typeface="Calibri"/>
              <a:cs typeface="Calibri"/>
            </a:endParaRPr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505DCD2-5A27-485F-9EC4-D0DAB3AF76E6}" type="slidenum">
              <a:rPr lang="fr-FR"/>
              <a:t>19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453948262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5E28808-26D1-4F4B-96F4-F3082078DD6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257008" y="1122365"/>
            <a:ext cx="8816633" cy="3571557"/>
          </a:xfrm>
        </p:spPr>
        <p:txBody>
          <a:bodyPr anchor="b">
            <a:normAutofit/>
          </a:bodyPr>
          <a:lstStyle>
            <a:lvl1pPr algn="l">
              <a:defRPr sz="5401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52E0C639-B0CD-4365-98A9-C1E5FF6CF45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257008" y="5521963"/>
            <a:ext cx="8816633" cy="944879"/>
          </a:xfrm>
        </p:spPr>
        <p:txBody>
          <a:bodyPr anchor="ctr">
            <a:normAutofit/>
          </a:bodyPr>
          <a:lstStyle>
            <a:lvl1pPr marL="0" indent="0" algn="l">
              <a:buNone/>
              <a:defRPr sz="2000"/>
            </a:lvl1pPr>
            <a:lvl2pPr marL="457217" indent="0" algn="ctr">
              <a:buNone/>
              <a:defRPr sz="2000"/>
            </a:lvl2pPr>
            <a:lvl3pPr marL="914433" indent="0" algn="ctr">
              <a:buNone/>
              <a:defRPr sz="1801"/>
            </a:lvl3pPr>
            <a:lvl4pPr marL="1371652" indent="0" algn="ctr">
              <a:buNone/>
              <a:defRPr sz="1600"/>
            </a:lvl4pPr>
            <a:lvl5pPr marL="1828869" indent="0" algn="ctr">
              <a:buNone/>
              <a:defRPr sz="1600"/>
            </a:lvl5pPr>
            <a:lvl6pPr marL="2286086" indent="0" algn="ctr">
              <a:buNone/>
              <a:defRPr sz="1600"/>
            </a:lvl6pPr>
            <a:lvl7pPr marL="2743302" indent="0" algn="ctr">
              <a:buNone/>
              <a:defRPr sz="1600"/>
            </a:lvl7pPr>
            <a:lvl8pPr marL="3200521" indent="0" algn="ctr">
              <a:buNone/>
              <a:defRPr sz="1600"/>
            </a:lvl8pPr>
            <a:lvl9pPr marL="3657738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6780C52-E6BB-4B27-B5D8-2D33B2497C5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6CCBF3A-D7FB-4B97-8FD5-6FFB20CB1E84}" type="datetimeFigureOut">
              <a:rPr lang="en-US" smtClean="0"/>
              <a:t>6/2/2026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F77C649-4A0C-4EF2-8FC1-2BCF0BF95D2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40E03F2-D0FE-49BB-8AEC-E99C4DB2D67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109D357-8067-4A1F-97B2-93C5160B78D9}" type="slidenum">
              <a:rPr lang="en-US" smtClean="0"/>
              <a:t>‹N°›</a:t>
            </a:fld>
            <a:endParaRPr lang="en-US"/>
          </a:p>
        </p:txBody>
      </p:sp>
      <p:cxnSp>
        <p:nvCxnSpPr>
          <p:cNvPr id="16" name="Straight Connector 15">
            <a:extLst>
              <a:ext uri="{FF2B5EF4-FFF2-40B4-BE49-F238E27FC236}">
                <a16:creationId xmlns:a16="http://schemas.microsoft.com/office/drawing/2014/main" id="{24A7CC8F-56A6-423D-B67A-8BA89D3EC911}"/>
              </a:ext>
            </a:extLst>
          </p:cNvPr>
          <p:cNvCxnSpPr>
            <a:cxnSpLocks/>
          </p:cNvCxnSpPr>
          <p:nvPr/>
        </p:nvCxnSpPr>
        <p:spPr>
          <a:xfrm flipH="1">
            <a:off x="4" y="5143500"/>
            <a:ext cx="12191996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82735312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7D05B5E-C545-4763-BA47-4C2C0FCA514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FA263F8-8E34-4910-BF7A-F1C5A99689D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56E74E5-D20D-4AB7-8D98-F336CE0ECCB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6CCBF3A-D7FB-4B97-8FD5-6FFB20CB1E84}" type="datetimeFigureOut">
              <a:rPr lang="en-US" smtClean="0"/>
              <a:t>6/2/2026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79D23AA-8F22-4B09-8FAA-CD16E5D66C5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4E8A028-A0C8-45E7-915E-B83FF59C9F1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109D357-8067-4A1F-97B2-93C5160B78D9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5215884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669F01F-198D-4AAD-B4FB-AD3B44981AD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5" y="838200"/>
            <a:ext cx="9438640" cy="4114800"/>
          </a:xfrm>
        </p:spPr>
        <p:txBody>
          <a:bodyPr anchor="t">
            <a:normAutofit/>
          </a:bodyPr>
          <a:lstStyle>
            <a:lvl1pPr>
              <a:defRPr sz="6601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20BCC2B-311B-4FB6-B3A5-26F68055AE3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5" y="5217160"/>
            <a:ext cx="9438640" cy="802640"/>
          </a:xfrm>
        </p:spPr>
        <p:txBody>
          <a:bodyPr anchor="b">
            <a:normAutofit/>
          </a:bodyPr>
          <a:lstStyle>
            <a:lvl1pPr marL="0" indent="0">
              <a:buNone/>
              <a:defRPr sz="2000">
                <a:solidFill>
                  <a:schemeClr val="tx1"/>
                </a:solidFill>
              </a:defRPr>
            </a:lvl1pPr>
            <a:lvl2pPr marL="457217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33" indent="0">
              <a:buNone/>
              <a:defRPr sz="1801">
                <a:solidFill>
                  <a:schemeClr val="tx1">
                    <a:tint val="75000"/>
                  </a:schemeClr>
                </a:solidFill>
              </a:defRPr>
            </a:lvl3pPr>
            <a:lvl4pPr marL="1371652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69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86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302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521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738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D9CB73D-2D6B-4FA6-89A4-DCC89F80E0F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6CCBF3A-D7FB-4B97-8FD5-6FFB20CB1E84}" type="datetimeFigureOut">
              <a:rPr lang="en-US" smtClean="0"/>
              <a:t>6/2/2026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6A0C188-FF43-44C1-A005-679168D5F05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1CD1188-DA27-47B2-8176-31193EEC4C2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109D357-8067-4A1F-97B2-93C5160B78D9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8297870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2CB5A25-7E99-42A8-8D6D-648EFE2038F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30501DC-62B7-42BD-A941-D34E92719C32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1" y="2011681"/>
            <a:ext cx="5181600" cy="416528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3765C5C1-4FD4-4958-99A0-BDADECA336B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1" y="2011681"/>
            <a:ext cx="5181600" cy="416528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BD1B234-5D54-44E5-B41D-B205AAF5030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6CCBF3A-D7FB-4B97-8FD5-6FFB20CB1E84}" type="datetimeFigureOut">
              <a:rPr lang="en-US" smtClean="0"/>
              <a:t>6/2/2026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E67BCDB-6B96-45D6-B5E9-823A96EBD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D239C5F-F16F-4AFD-98D1-FA3BB96AF2C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109D357-8067-4A1F-97B2-93C5160B78D9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085630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B544C1F-0040-4BBF-81A6-FD2E30637B0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9" y="379781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E2894A7-1DA1-44C1-8ED0-71627943069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91" y="1824035"/>
            <a:ext cx="4997132" cy="681040"/>
          </a:xfrm>
        </p:spPr>
        <p:txBody>
          <a:bodyPr anchor="b"/>
          <a:lstStyle>
            <a:lvl1pPr marL="0" indent="0">
              <a:buNone/>
              <a:defRPr sz="2400" b="1" i="0" cap="none" baseline="0"/>
            </a:lvl1pPr>
            <a:lvl2pPr marL="457217" indent="0">
              <a:buNone/>
              <a:defRPr sz="2000" b="1"/>
            </a:lvl2pPr>
            <a:lvl3pPr marL="914433" indent="0">
              <a:buNone/>
              <a:defRPr sz="1801" b="1"/>
            </a:lvl3pPr>
            <a:lvl4pPr marL="1371652" indent="0">
              <a:buNone/>
              <a:defRPr sz="1600" b="1"/>
            </a:lvl4pPr>
            <a:lvl5pPr marL="1828869" indent="0">
              <a:buNone/>
              <a:defRPr sz="1600" b="1"/>
            </a:lvl5pPr>
            <a:lvl6pPr marL="2286086" indent="0">
              <a:buNone/>
              <a:defRPr sz="1600" b="1"/>
            </a:lvl6pPr>
            <a:lvl7pPr marL="2743302" indent="0">
              <a:buNone/>
              <a:defRPr sz="1600" b="1"/>
            </a:lvl7pPr>
            <a:lvl8pPr marL="3200521" indent="0">
              <a:buNone/>
              <a:defRPr sz="1600" b="1"/>
            </a:lvl8pPr>
            <a:lvl9pPr marL="3657738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509AB945-31E2-4B60-9076-CBB8F859494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91" y="2505076"/>
            <a:ext cx="4997132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F771B3EA-2E84-4B8B-A104-81BD577424AD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355083" y="1824035"/>
            <a:ext cx="5000308" cy="681040"/>
          </a:xfrm>
        </p:spPr>
        <p:txBody>
          <a:bodyPr anchor="b"/>
          <a:lstStyle>
            <a:lvl1pPr marL="0" indent="0">
              <a:buNone/>
              <a:defRPr sz="2400" b="1" i="0" cap="none" baseline="0"/>
            </a:lvl1pPr>
            <a:lvl2pPr marL="457217" indent="0">
              <a:buNone/>
              <a:defRPr sz="2000" b="1"/>
            </a:lvl2pPr>
            <a:lvl3pPr marL="914433" indent="0">
              <a:buNone/>
              <a:defRPr sz="1801" b="1"/>
            </a:lvl3pPr>
            <a:lvl4pPr marL="1371652" indent="0">
              <a:buNone/>
              <a:defRPr sz="1600" b="1"/>
            </a:lvl4pPr>
            <a:lvl5pPr marL="1828869" indent="0">
              <a:buNone/>
              <a:defRPr sz="1600" b="1"/>
            </a:lvl5pPr>
            <a:lvl6pPr marL="2286086" indent="0">
              <a:buNone/>
              <a:defRPr sz="1600" b="1"/>
            </a:lvl6pPr>
            <a:lvl7pPr marL="2743302" indent="0">
              <a:buNone/>
              <a:defRPr sz="1600" b="1"/>
            </a:lvl7pPr>
            <a:lvl8pPr marL="3200521" indent="0">
              <a:buNone/>
              <a:defRPr sz="1600" b="1"/>
            </a:lvl8pPr>
            <a:lvl9pPr marL="3657738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38511AB8-302C-476E-B80A-AA739911E304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355083" y="2505076"/>
            <a:ext cx="500030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A8B47C29-FE34-4E6E-9921-78C54673AAD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6CCBF3A-D7FB-4B97-8FD5-6FFB20CB1E84}" type="datetimeFigureOut">
              <a:rPr lang="en-US" smtClean="0"/>
              <a:t>6/2/2026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3CF6B420-A9CE-4BB6-A653-5C3ABC7D677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B21DF8FE-1179-4798-B16D-AF1DFA266D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109D357-8067-4A1F-97B2-93C5160B78D9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1973580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4F66F1A-0A68-4048-808F-CD7A9F3B084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5" y="999595"/>
            <a:ext cx="10515600" cy="1573223"/>
          </a:xfrm>
        </p:spPr>
        <p:txBody>
          <a:bodyPr anchor="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28ACB3E6-5365-48F5-8D2A-0B002BA357E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6CCBF3A-D7FB-4B97-8FD5-6FFB20CB1E84}" type="datetimeFigureOut">
              <a:rPr lang="en-US" smtClean="0"/>
              <a:t>6/2/2026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FF7D8EE9-4D97-4B2F-8D38-41CB9EE7745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412C5952-0A27-4FAB-A3FD-12003787676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109D357-8067-4A1F-97B2-93C5160B78D9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0076248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03D08427-909D-4679-9192-BC99557A7D0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6CCBF3A-D7FB-4B97-8FD5-6FFB20CB1E84}" type="datetimeFigureOut">
              <a:rPr lang="en-US" smtClean="0"/>
              <a:t>6/2/2026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508E39A6-1E09-42B5-85B4-7E8B5AB2AE7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8938940-01DD-4C97-8649-E01C3B0EDF7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109D357-8067-4A1F-97B2-93C5160B78D9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2438491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9693B3D-D568-40B4-A73A-1C8EA9ABB09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691819" cy="17018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D586EB3-917A-43B7-85BB-D00B5D2F07E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514799" y="987425"/>
            <a:ext cx="5840588" cy="503237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A87AC029-3BC1-4637-A7F9-BC786DC26A3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95" y="2372360"/>
            <a:ext cx="3691817" cy="3496628"/>
          </a:xfrm>
        </p:spPr>
        <p:txBody>
          <a:bodyPr/>
          <a:lstStyle>
            <a:lvl1pPr marL="0" indent="0">
              <a:buNone/>
              <a:defRPr sz="1600"/>
            </a:lvl1pPr>
            <a:lvl2pPr marL="457217" indent="0">
              <a:buNone/>
              <a:defRPr sz="1401"/>
            </a:lvl2pPr>
            <a:lvl3pPr marL="914433" indent="0">
              <a:buNone/>
              <a:defRPr sz="1200"/>
            </a:lvl3pPr>
            <a:lvl4pPr marL="1371652" indent="0">
              <a:buNone/>
              <a:defRPr sz="1001"/>
            </a:lvl4pPr>
            <a:lvl5pPr marL="1828869" indent="0">
              <a:buNone/>
              <a:defRPr sz="1001"/>
            </a:lvl5pPr>
            <a:lvl6pPr marL="2286086" indent="0">
              <a:buNone/>
              <a:defRPr sz="1001"/>
            </a:lvl6pPr>
            <a:lvl7pPr marL="2743302" indent="0">
              <a:buNone/>
              <a:defRPr sz="1001"/>
            </a:lvl7pPr>
            <a:lvl8pPr marL="3200521" indent="0">
              <a:buNone/>
              <a:defRPr sz="1001"/>
            </a:lvl8pPr>
            <a:lvl9pPr marL="3657738" indent="0">
              <a:buNone/>
              <a:defRPr sz="100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190B948-89C5-4AC5-B7A0-17136F5C5A6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6CCBF3A-D7FB-4B97-8FD5-6FFB20CB1E84}" type="datetimeFigureOut">
              <a:rPr lang="en-US" smtClean="0"/>
              <a:t>6/2/2026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3A6C8C5-652F-46CB-BD26-E262B057FA1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7FB50CB-E91F-4B71-81F0-800F2B51A34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109D357-8067-4A1F-97B2-93C5160B78D9}" type="slidenum">
              <a:rPr lang="en-US" smtClean="0"/>
              <a:t>‹N°›</a:t>
            </a:fld>
            <a:endParaRPr lang="en-US"/>
          </a:p>
        </p:txBody>
      </p: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8B69B885-FDB8-4C62-A285-A0CDC49A6B0C}"/>
              </a:ext>
            </a:extLst>
          </p:cNvPr>
          <p:cNvCxnSpPr>
            <a:cxnSpLocks/>
          </p:cNvCxnSpPr>
          <p:nvPr/>
        </p:nvCxnSpPr>
        <p:spPr>
          <a:xfrm>
            <a:off x="5023202" y="0"/>
            <a:ext cx="0" cy="685800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75303042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E3F941E-6445-4840-81AE-104EF7A4F7E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91" y="457200"/>
            <a:ext cx="3696652" cy="17018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B3F8B866-E32B-4AE7-AEF3-6974AE3288F3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786126" y="838203"/>
            <a:ext cx="5603237" cy="5181599"/>
          </a:xfrm>
        </p:spPr>
        <p:txBody>
          <a:bodyPr/>
          <a:lstStyle>
            <a:lvl1pPr marL="0" indent="0">
              <a:buNone/>
              <a:defRPr sz="3200"/>
            </a:lvl1pPr>
            <a:lvl2pPr marL="457217" indent="0">
              <a:buNone/>
              <a:defRPr sz="2800"/>
            </a:lvl2pPr>
            <a:lvl3pPr marL="914433" indent="0">
              <a:buNone/>
              <a:defRPr sz="2400"/>
            </a:lvl3pPr>
            <a:lvl4pPr marL="1371652" indent="0">
              <a:buNone/>
              <a:defRPr sz="2000"/>
            </a:lvl4pPr>
            <a:lvl5pPr marL="1828869" indent="0">
              <a:buNone/>
              <a:defRPr sz="2000"/>
            </a:lvl5pPr>
            <a:lvl6pPr marL="2286086" indent="0">
              <a:buNone/>
              <a:defRPr sz="2000"/>
            </a:lvl6pPr>
            <a:lvl7pPr marL="2743302" indent="0">
              <a:buNone/>
              <a:defRPr sz="2000"/>
            </a:lvl7pPr>
            <a:lvl8pPr marL="3200521" indent="0">
              <a:buNone/>
              <a:defRPr sz="2000"/>
            </a:lvl8pPr>
            <a:lvl9pPr marL="3657738" indent="0">
              <a:buNone/>
              <a:defRPr sz="2000"/>
            </a:lvl9pPr>
          </a:lstStyle>
          <a:p>
            <a:r>
              <a:rPr lang="en-US"/>
              <a:t>Click icon to add picture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DE2ABB7A-E157-499A-B224-C2313181F56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91" y="2367281"/>
            <a:ext cx="3696652" cy="3501708"/>
          </a:xfrm>
        </p:spPr>
        <p:txBody>
          <a:bodyPr/>
          <a:lstStyle>
            <a:lvl1pPr marL="0" indent="0">
              <a:buNone/>
              <a:defRPr sz="1600"/>
            </a:lvl1pPr>
            <a:lvl2pPr marL="457217" indent="0">
              <a:buNone/>
              <a:defRPr sz="1401"/>
            </a:lvl2pPr>
            <a:lvl3pPr marL="914433" indent="0">
              <a:buNone/>
              <a:defRPr sz="1200"/>
            </a:lvl3pPr>
            <a:lvl4pPr marL="1371652" indent="0">
              <a:buNone/>
              <a:defRPr sz="1001"/>
            </a:lvl4pPr>
            <a:lvl5pPr marL="1828869" indent="0">
              <a:buNone/>
              <a:defRPr sz="1001"/>
            </a:lvl5pPr>
            <a:lvl6pPr marL="2286086" indent="0">
              <a:buNone/>
              <a:defRPr sz="1001"/>
            </a:lvl6pPr>
            <a:lvl7pPr marL="2743302" indent="0">
              <a:buNone/>
              <a:defRPr sz="1001"/>
            </a:lvl7pPr>
            <a:lvl8pPr marL="3200521" indent="0">
              <a:buNone/>
              <a:defRPr sz="1001"/>
            </a:lvl8pPr>
            <a:lvl9pPr marL="3657738" indent="0">
              <a:buNone/>
              <a:defRPr sz="100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DC77283-E2B8-405E-BB6E-9F121140E50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6CCBF3A-D7FB-4B97-8FD5-6FFB20CB1E84}" type="datetimeFigureOut">
              <a:rPr lang="en-US" smtClean="0"/>
              <a:t>6/2/2026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9F21F05-EB94-417F-B19B-96FF3D9ECA4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AB7C3C7-B6DB-4064-8E66-9FB770C888E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109D357-8067-4A1F-97B2-93C5160B78D9}" type="slidenum">
              <a:rPr lang="en-US" smtClean="0"/>
              <a:t>‹N°›</a:t>
            </a:fld>
            <a:endParaRPr lang="en-US"/>
          </a:p>
        </p:txBody>
      </p: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51E233FA-220A-423F-907E-5F81526A28A0}"/>
              </a:ext>
            </a:extLst>
          </p:cNvPr>
          <p:cNvCxnSpPr>
            <a:cxnSpLocks/>
          </p:cNvCxnSpPr>
          <p:nvPr/>
        </p:nvCxnSpPr>
        <p:spPr>
          <a:xfrm>
            <a:off x="5023202" y="0"/>
            <a:ext cx="0" cy="685800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96445705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5F56D52-667C-4E67-9038-A0BDFD8CCD0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3A3E72AC-0272-475A-BD25-2AB7AC1DEFA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4CFBFF2-9ECB-4CDD-87FA-9DD1F87BFDE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6CCBF3A-D7FB-4B97-8FD5-6FFB20CB1E84}" type="datetimeFigureOut">
              <a:rPr lang="en-US" smtClean="0"/>
              <a:t>6/2/2026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0AC12B3-DAF5-4BA7-A3A6-D0284716DB8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DF171AE-4A11-4035-A072-9AC4053FFA8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109D357-8067-4A1F-97B2-93C5160B78D9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3258770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73A52E95-2F50-48D3-B00E-4C259644E72E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9050174" y="838200"/>
            <a:ext cx="2303627" cy="5338763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32617C9B-4E02-49C8-B6DF-65ED3C99034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199" y="838200"/>
            <a:ext cx="7734300" cy="5338763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8ECA10C-AC31-4D80-B78F-08E48CDCB7F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6CCBF3A-D7FB-4B97-8FD5-6FFB20CB1E84}" type="datetimeFigureOut">
              <a:rPr lang="en-US" smtClean="0"/>
              <a:t>6/2/2026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9AAB5B7-F312-4BC9-A5D3-72E065D1B9F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FC2E489-5442-4698-B6E3-3421A97C283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109D357-8067-4A1F-97B2-93C5160B78D9}" type="slidenum">
              <a:rPr lang="en-US" smtClean="0"/>
              <a:t>‹N°›</a:t>
            </a:fld>
            <a:endParaRPr lang="en-US"/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41F3A7E1-F157-4338-B7F7-9C0A2D60B7FF}"/>
              </a:ext>
            </a:extLst>
          </p:cNvPr>
          <p:cNvCxnSpPr>
            <a:cxnSpLocks/>
          </p:cNvCxnSpPr>
          <p:nvPr/>
        </p:nvCxnSpPr>
        <p:spPr>
          <a:xfrm>
            <a:off x="8811337" y="0"/>
            <a:ext cx="0" cy="685800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589110515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V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4">
            <a:extLst>
              <a:ext uri="{FF2B5EF4-FFF2-40B4-BE49-F238E27FC236}">
                <a16:creationId xmlns:a16="http://schemas.microsoft.com/office/drawing/2014/main" id="{171A0F09-6146-30AB-0B75-9859A9D5669D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xfrm>
            <a:off x="9271000" y="6257925"/>
            <a:ext cx="2540000" cy="457200"/>
          </a:xfrm>
        </p:spPr>
        <p:txBody>
          <a:bodyPr/>
          <a:lstStyle>
            <a:lvl1pPr algn="r">
              <a:defRPr/>
            </a:lvl1pPr>
          </a:lstStyle>
          <a:p>
            <a:pPr>
              <a:defRPr/>
            </a:pPr>
            <a:endParaRPr lang="fr-FR"/>
          </a:p>
        </p:txBody>
      </p:sp>
      <p:sp>
        <p:nvSpPr>
          <p:cNvPr id="3" name="Rectangle 5">
            <a:extLst>
              <a:ext uri="{FF2B5EF4-FFF2-40B4-BE49-F238E27FC236}">
                <a16:creationId xmlns:a16="http://schemas.microsoft.com/office/drawing/2014/main" id="{D1381E7D-077E-549C-FD81-4B1C4E072B05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xfrm>
            <a:off x="711200" y="6257925"/>
            <a:ext cx="3860800" cy="457200"/>
          </a:xfr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fr-FR"/>
          </a:p>
        </p:txBody>
      </p:sp>
      <p:sp>
        <p:nvSpPr>
          <p:cNvPr id="4" name="Rectangle 6">
            <a:extLst>
              <a:ext uri="{FF2B5EF4-FFF2-40B4-BE49-F238E27FC236}">
                <a16:creationId xmlns:a16="http://schemas.microsoft.com/office/drawing/2014/main" id="{52178583-E400-23C5-3F97-EC8B5793315D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xfrm>
            <a:off x="412751" y="6257925"/>
            <a:ext cx="2540000" cy="457200"/>
          </a:xfrm>
        </p:spPr>
        <p:txBody>
          <a:bodyPr/>
          <a:lstStyle>
            <a:lvl1pPr algn="l">
              <a:defRPr/>
            </a:lvl1pPr>
          </a:lstStyle>
          <a:p>
            <a:fld id="{FAF67611-4AB2-4543-A64E-CD43D05EA03B}" type="slidenum">
              <a:rPr lang="fr-FR" altLang="fr-FR"/>
              <a:pPr/>
              <a:t>‹N°›</a:t>
            </a:fld>
            <a:endParaRPr lang="fr-FR" altLang="fr-FR"/>
          </a:p>
        </p:txBody>
      </p:sp>
    </p:spTree>
    <p:extLst>
      <p:ext uri="{BB962C8B-B14F-4D97-AF65-F5344CB8AC3E}">
        <p14:creationId xmlns:p14="http://schemas.microsoft.com/office/powerpoint/2010/main" val="398112963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tbl">
  <p:cSld name="Titre et tablea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609600" y="122238"/>
            <a:ext cx="10058400" cy="1295400"/>
          </a:xfrm>
        </p:spPr>
        <p:txBody>
          <a:bodyPr/>
          <a:lstStyle/>
          <a:p>
            <a:r>
              <a:rPr lang="fr-FR"/>
              <a:t>Cliquez pour modifier le style du titre</a:t>
            </a:r>
            <a:endParaRPr lang="en-US"/>
          </a:p>
        </p:txBody>
      </p:sp>
      <p:sp>
        <p:nvSpPr>
          <p:cNvPr id="3" name="Espace réservé du tableau 2"/>
          <p:cNvSpPr>
            <a:spLocks noGrp="1"/>
          </p:cNvSpPr>
          <p:nvPr>
            <p:ph type="tbl" idx="1"/>
          </p:nvPr>
        </p:nvSpPr>
        <p:spPr>
          <a:xfrm>
            <a:off x="609600" y="1719263"/>
            <a:ext cx="10972800" cy="4411662"/>
          </a:xfrm>
        </p:spPr>
        <p:txBody>
          <a:bodyPr/>
          <a:lstStyle/>
          <a:p>
            <a:pPr lvl="0"/>
            <a:endParaRPr lang="en-US" noProof="0"/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B7D1852E-6AB4-250C-AD16-7734DDD13B05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609600" y="6248400"/>
            <a:ext cx="2844800" cy="457200"/>
          </a:xfr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fr-CA"/>
              <a:t>Pierre Saint-Laurent</a:t>
            </a:r>
            <a:endParaRPr lang="en-US" altLang="en-US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FF2A3EC3-6FC3-EEDB-A035-AA9204AA205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fr-CA"/>
              <a:t>3-202-02 Gestion des risques</a:t>
            </a:r>
          </a:p>
          <a:p>
            <a:pPr>
              <a:defRPr/>
            </a:pPr>
            <a:endParaRPr lang="en-US" altLang="en-US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A3CE30A2-4375-AFE1-FD5A-A64A1A6118E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737600" y="6248400"/>
            <a:ext cx="2844800" cy="457200"/>
          </a:xfrm>
        </p:spPr>
        <p:txBody>
          <a:bodyPr/>
          <a:lstStyle>
            <a:lvl1pPr>
              <a:defRPr/>
            </a:lvl1pPr>
          </a:lstStyle>
          <a:p>
            <a:fld id="{118B8014-3DFF-4F97-8B8C-EFA6D81DE889}" type="slidenum">
              <a:rPr lang="en-US" altLang="en-US"/>
              <a:pPr/>
              <a:t>‹N°›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16465898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3D476A66-BE83-43F9-A28B-02DF7879AD5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5" y="584993"/>
            <a:ext cx="10515600" cy="1116811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9D76E94-F276-4F0F-8DD9-B1F8A3198AE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5" y="2061470"/>
            <a:ext cx="10515600" cy="4114801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4AD964E-3A2E-4DB9-B96A-EDE144A47BDC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 rot="5400000">
            <a:off x="10425981" y="4687098"/>
            <a:ext cx="270669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1">
                <a:solidFill>
                  <a:schemeClr val="tx1"/>
                </a:solidFill>
              </a:defRPr>
            </a:lvl1pPr>
          </a:lstStyle>
          <a:p>
            <a:fld id="{F6CCBF3A-D7FB-4B97-8FD5-6FFB20CB1E84}" type="datetimeFigureOut">
              <a:rPr lang="en-US" smtClean="0"/>
              <a:t>6/2/2026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DACB382-EE11-430D-941A-DB76EEB7F2D5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 rot="5400000">
            <a:off x="-1131161" y="1592960"/>
            <a:ext cx="297352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1">
                <a:solidFill>
                  <a:schemeClr val="tx1"/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3C562FE-ACD1-43F2-A3DE-5B11E10B7EA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512295" y="6356353"/>
            <a:ext cx="57462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001">
                <a:solidFill>
                  <a:schemeClr val="tx1"/>
                </a:solidFill>
              </a:defRPr>
            </a:lvl1pPr>
          </a:lstStyle>
          <a:p>
            <a:fld id="{3109D357-8067-4A1F-97B2-93C5160B78D9}" type="slidenum">
              <a:rPr lang="en-US" smtClean="0"/>
              <a:t>‹N°›</a:t>
            </a:fld>
            <a:endParaRPr lang="en-US"/>
          </a:p>
        </p:txBody>
      </p: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1EB34A3B-1FD5-48FF-9982-1E64C864C01D}"/>
              </a:ext>
            </a:extLst>
          </p:cNvPr>
          <p:cNvCxnSpPr>
            <a:cxnSpLocks/>
          </p:cNvCxnSpPr>
          <p:nvPr/>
        </p:nvCxnSpPr>
        <p:spPr>
          <a:xfrm flipH="1">
            <a:off x="4" y="1824111"/>
            <a:ext cx="12191996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15009241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</p:sldLayoutIdLst>
  <p:txStyles>
    <p:titleStyle>
      <a:lvl1pPr algn="l" defTabSz="914433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10" indent="-228610" algn="l" defTabSz="914433" rtl="0" eaLnBrk="1" latinLnBrk="0" hangingPunct="1">
        <a:lnSpc>
          <a:spcPct val="110000"/>
        </a:lnSpc>
        <a:spcBef>
          <a:spcPts val="1001"/>
        </a:spcBef>
        <a:buSzPct val="80000"/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1pPr>
      <a:lvl2pPr marL="502939" indent="-228610" algn="l" defTabSz="914433" rtl="0" eaLnBrk="1" latinLnBrk="0" hangingPunct="1">
        <a:lnSpc>
          <a:spcPct val="110000"/>
        </a:lnSpc>
        <a:spcBef>
          <a:spcPts val="500"/>
        </a:spcBef>
        <a:buSzPct val="80000"/>
        <a:buFont typeface="Goudy Old Style" panose="02020502050305020303" pitchFamily="18" charset="0"/>
        <a:buChar char="–"/>
        <a:defRPr sz="1801" i="1" kern="1200">
          <a:solidFill>
            <a:schemeClr val="tx1"/>
          </a:solidFill>
          <a:latin typeface="+mn-lt"/>
          <a:ea typeface="+mn-ea"/>
          <a:cs typeface="+mn-cs"/>
        </a:defRPr>
      </a:lvl2pPr>
      <a:lvl3pPr marL="822992" indent="-228610" algn="l" defTabSz="914433" rtl="0" eaLnBrk="1" latinLnBrk="0" hangingPunct="1">
        <a:lnSpc>
          <a:spcPct val="110000"/>
        </a:lnSpc>
        <a:spcBef>
          <a:spcPts val="500"/>
        </a:spcBef>
        <a:buSzPct val="80000"/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3pPr>
      <a:lvl4pPr marL="1097322" indent="-228610" algn="l" defTabSz="914433" rtl="0" eaLnBrk="1" latinLnBrk="0" hangingPunct="1">
        <a:lnSpc>
          <a:spcPct val="110000"/>
        </a:lnSpc>
        <a:spcBef>
          <a:spcPts val="500"/>
        </a:spcBef>
        <a:buSzPct val="80000"/>
        <a:buFont typeface="Goudy Old Style" panose="02020502050305020303" pitchFamily="18" charset="0"/>
        <a:buChar char="–"/>
        <a:defRPr sz="1401" i="1" kern="1200">
          <a:solidFill>
            <a:schemeClr val="tx1"/>
          </a:solidFill>
          <a:latin typeface="+mn-lt"/>
          <a:ea typeface="+mn-ea"/>
          <a:cs typeface="+mn-cs"/>
        </a:defRPr>
      </a:lvl4pPr>
      <a:lvl5pPr marL="1371652" indent="-228610" algn="l" defTabSz="914433" rtl="0" eaLnBrk="1" latinLnBrk="0" hangingPunct="1">
        <a:lnSpc>
          <a:spcPct val="110000"/>
        </a:lnSpc>
        <a:spcBef>
          <a:spcPts val="500"/>
        </a:spcBef>
        <a:buSzPct val="80000"/>
        <a:buFont typeface="Arial" panose="020B0604020202020204" pitchFamily="34" charset="0"/>
        <a:buChar char="•"/>
        <a:defRPr sz="1401" kern="1200">
          <a:solidFill>
            <a:schemeClr val="tx1"/>
          </a:solidFill>
          <a:latin typeface="+mn-lt"/>
          <a:ea typeface="+mn-ea"/>
          <a:cs typeface="+mn-cs"/>
        </a:defRPr>
      </a:lvl5pPr>
      <a:lvl6pPr marL="2514696" indent="-228610" algn="l" defTabSz="914433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1" kern="1200">
          <a:solidFill>
            <a:schemeClr val="tx1"/>
          </a:solidFill>
          <a:latin typeface="+mn-lt"/>
          <a:ea typeface="+mn-ea"/>
          <a:cs typeface="+mn-cs"/>
        </a:defRPr>
      </a:lvl6pPr>
      <a:lvl7pPr marL="2971912" indent="-228610" algn="l" defTabSz="914433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1" kern="1200">
          <a:solidFill>
            <a:schemeClr val="tx1"/>
          </a:solidFill>
          <a:latin typeface="+mn-lt"/>
          <a:ea typeface="+mn-ea"/>
          <a:cs typeface="+mn-cs"/>
        </a:defRPr>
      </a:lvl7pPr>
      <a:lvl8pPr marL="3429129" indent="-228610" algn="l" defTabSz="914433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1" kern="1200">
          <a:solidFill>
            <a:schemeClr val="tx1"/>
          </a:solidFill>
          <a:latin typeface="+mn-lt"/>
          <a:ea typeface="+mn-ea"/>
          <a:cs typeface="+mn-cs"/>
        </a:defRPr>
      </a:lvl8pPr>
      <a:lvl9pPr marL="3886346" indent="-228610" algn="l" defTabSz="914433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1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33" rtl="0" eaLnBrk="1" latinLnBrk="0" hangingPunct="1">
        <a:defRPr sz="1801" kern="1200">
          <a:solidFill>
            <a:schemeClr val="tx1"/>
          </a:solidFill>
          <a:latin typeface="+mn-lt"/>
          <a:ea typeface="+mn-ea"/>
          <a:cs typeface="+mn-cs"/>
        </a:defRPr>
      </a:lvl1pPr>
      <a:lvl2pPr marL="457217" algn="l" defTabSz="914433" rtl="0" eaLnBrk="1" latinLnBrk="0" hangingPunct="1">
        <a:defRPr sz="1801" kern="1200">
          <a:solidFill>
            <a:schemeClr val="tx1"/>
          </a:solidFill>
          <a:latin typeface="+mn-lt"/>
          <a:ea typeface="+mn-ea"/>
          <a:cs typeface="+mn-cs"/>
        </a:defRPr>
      </a:lvl2pPr>
      <a:lvl3pPr marL="914433" algn="l" defTabSz="914433" rtl="0" eaLnBrk="1" latinLnBrk="0" hangingPunct="1">
        <a:defRPr sz="1801" kern="1200">
          <a:solidFill>
            <a:schemeClr val="tx1"/>
          </a:solidFill>
          <a:latin typeface="+mn-lt"/>
          <a:ea typeface="+mn-ea"/>
          <a:cs typeface="+mn-cs"/>
        </a:defRPr>
      </a:lvl3pPr>
      <a:lvl4pPr marL="1371652" algn="l" defTabSz="914433" rtl="0" eaLnBrk="1" latinLnBrk="0" hangingPunct="1">
        <a:defRPr sz="1801" kern="1200">
          <a:solidFill>
            <a:schemeClr val="tx1"/>
          </a:solidFill>
          <a:latin typeface="+mn-lt"/>
          <a:ea typeface="+mn-ea"/>
          <a:cs typeface="+mn-cs"/>
        </a:defRPr>
      </a:lvl4pPr>
      <a:lvl5pPr marL="1828869" algn="l" defTabSz="914433" rtl="0" eaLnBrk="1" latinLnBrk="0" hangingPunct="1">
        <a:defRPr sz="1801" kern="1200">
          <a:solidFill>
            <a:schemeClr val="tx1"/>
          </a:solidFill>
          <a:latin typeface="+mn-lt"/>
          <a:ea typeface="+mn-ea"/>
          <a:cs typeface="+mn-cs"/>
        </a:defRPr>
      </a:lvl5pPr>
      <a:lvl6pPr marL="2286086" algn="l" defTabSz="914433" rtl="0" eaLnBrk="1" latinLnBrk="0" hangingPunct="1">
        <a:defRPr sz="1801" kern="1200">
          <a:solidFill>
            <a:schemeClr val="tx1"/>
          </a:solidFill>
          <a:latin typeface="+mn-lt"/>
          <a:ea typeface="+mn-ea"/>
          <a:cs typeface="+mn-cs"/>
        </a:defRPr>
      </a:lvl6pPr>
      <a:lvl7pPr marL="2743302" algn="l" defTabSz="914433" rtl="0" eaLnBrk="1" latinLnBrk="0" hangingPunct="1">
        <a:defRPr sz="1801" kern="1200">
          <a:solidFill>
            <a:schemeClr val="tx1"/>
          </a:solidFill>
          <a:latin typeface="+mn-lt"/>
          <a:ea typeface="+mn-ea"/>
          <a:cs typeface="+mn-cs"/>
        </a:defRPr>
      </a:lvl7pPr>
      <a:lvl8pPr marL="3200521" algn="l" defTabSz="914433" rtl="0" eaLnBrk="1" latinLnBrk="0" hangingPunct="1">
        <a:defRPr sz="1801" kern="1200">
          <a:solidFill>
            <a:schemeClr val="tx1"/>
          </a:solidFill>
          <a:latin typeface="+mn-lt"/>
          <a:ea typeface="+mn-ea"/>
          <a:cs typeface="+mn-cs"/>
        </a:defRPr>
      </a:lvl8pPr>
      <a:lvl9pPr marL="3657738" algn="l" defTabSz="914433" rtl="0" eaLnBrk="1" latinLnBrk="0" hangingPunct="1">
        <a:defRPr sz="1801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hyperlink" Target="https://app.wooclap.com/events/POJYOK/0" TargetMode="External"/><Relationship Id="rId1" Type="http://schemas.openxmlformats.org/officeDocument/2006/relationships/slideLayout" Target="../slideLayouts/slideLayout6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video" Target="../media/media1.mp4"/><Relationship Id="rId1" Type="http://schemas.microsoft.com/office/2007/relationships/media" Target="../media/media1.mp4"/><Relationship Id="rId4" Type="http://schemas.openxmlformats.org/officeDocument/2006/relationships/image" Target="../media/image2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emf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Relationship Id="rId5" Type="http://schemas.openxmlformats.org/officeDocument/2006/relationships/chart" Target="../charts/chart1.xml"/><Relationship Id="rId4" Type="http://schemas.openxmlformats.org/officeDocument/2006/relationships/image" Target="../media/image4.emf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chart" Target="../charts/chart2.xml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chart" Target="../charts/chart3.xml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emf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Relationship Id="rId5" Type="http://schemas.openxmlformats.org/officeDocument/2006/relationships/chart" Target="../charts/chart4.xml"/><Relationship Id="rId4" Type="http://schemas.openxmlformats.org/officeDocument/2006/relationships/hyperlink" Target="http://www.statista.com/statistics/205966/world-carbon-dioxide-emissions-by-region" TargetMode="Externa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emf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7.xml"/><Relationship Id="rId6" Type="http://schemas.openxmlformats.org/officeDocument/2006/relationships/chart" Target="../charts/chart5.xml"/><Relationship Id="rId5" Type="http://schemas.openxmlformats.org/officeDocument/2006/relationships/image" Target="../media/image4.emf"/><Relationship Id="rId4" Type="http://schemas.openxmlformats.org/officeDocument/2006/relationships/image" Target="../media/image9.emf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emf"/><Relationship Id="rId7" Type="http://schemas.openxmlformats.org/officeDocument/2006/relationships/chart" Target="../charts/chart6.xml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Relationship Id="rId6" Type="http://schemas.openxmlformats.org/officeDocument/2006/relationships/hyperlink" Target="http://www.statista.com/statistics/186807/worldwide-investment-in-sustainable-energy-since-2004" TargetMode="External"/><Relationship Id="rId5" Type="http://schemas.openxmlformats.org/officeDocument/2006/relationships/image" Target="../media/image4.emf"/><Relationship Id="rId4" Type="http://schemas.openxmlformats.org/officeDocument/2006/relationships/image" Target="../media/image9.emf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hyperlink" Target="https://en-roads.climateinteractive.org/scenario.html?v=23.2.1&amp;p39=64" TargetMode="External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hyperlink" Target="https://tool.globalcalculator.net/globcalc.html?levers=22rfoe2e13be1111c2c2c1n31hfjdcef222hp233f211111fn2211111111/dashboard/en" TargetMode="External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7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hyperlink" Target="https://app.wooclap.com/events/XKSDOU/0" TargetMode="External"/><Relationship Id="rId2" Type="http://schemas.openxmlformats.org/officeDocument/2006/relationships/hyperlink" Target="https://workspace.refinitiv.com/web/Apps/Corp/?s=LSEG.L&amp;st=RIC#/Apps/EnvtSocGov?view=dashboard" TargetMode="External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C4917E25-9CE9-EFD5-9DA1-810368DB814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 err="1"/>
              <a:t>Sustainable</a:t>
            </a:r>
            <a:r>
              <a:rPr lang="fr-FR" dirty="0"/>
              <a:t> finance &amp; Banking 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9BF8F81A-8676-1C4A-71BB-0A986EA0EFF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fr-FR" dirty="0"/>
              <a:t>Prof. Dhafer SAIDANE</a:t>
            </a:r>
          </a:p>
        </p:txBody>
      </p:sp>
    </p:spTree>
    <p:extLst>
      <p:ext uri="{BB962C8B-B14F-4D97-AF65-F5344CB8AC3E}">
        <p14:creationId xmlns:p14="http://schemas.microsoft.com/office/powerpoint/2010/main" val="371569613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D5306716-2012-7410-7B22-1795E700A25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65760" y="3761575"/>
            <a:ext cx="11826240" cy="2001847"/>
          </a:xfrm>
        </p:spPr>
        <p:txBody>
          <a:bodyPr>
            <a:normAutofit/>
          </a:bodyPr>
          <a:lstStyle/>
          <a:p>
            <a:pPr algn="ctr"/>
            <a:r>
              <a:rPr lang="en-US" sz="5300" dirty="0"/>
              <a:t> The Anthropocene</a:t>
            </a:r>
            <a:br>
              <a:rPr lang="en-US" sz="5300" dirty="0">
                <a:ea typeface="Calibri"/>
                <a:cs typeface="Calibri"/>
              </a:rPr>
            </a:br>
            <a:br>
              <a:rPr lang="en-US" dirty="0"/>
            </a:br>
            <a:r>
              <a:rPr lang="en-US" sz="3200"/>
              <a:t>Is Classical finance ready for the ecological transition?</a:t>
            </a:r>
            <a:endParaRPr lang="fr-FR">
              <a:ea typeface="Calibri" panose="020F0502020204030204"/>
              <a:cs typeface="Calibri" panose="020F0502020204030204"/>
            </a:endParaRPr>
          </a:p>
        </p:txBody>
      </p:sp>
      <p:sp>
        <p:nvSpPr>
          <p:cNvPr id="3" name="ZoneTexte 2">
            <a:extLst>
              <a:ext uri="{FF2B5EF4-FFF2-40B4-BE49-F238E27FC236}">
                <a16:creationId xmlns:a16="http://schemas.microsoft.com/office/drawing/2014/main" id="{3F311CF8-2408-5A1F-7EA0-2850CC5198EF}"/>
              </a:ext>
            </a:extLst>
          </p:cNvPr>
          <p:cNvSpPr txBox="1"/>
          <p:nvPr/>
        </p:nvSpPr>
        <p:spPr>
          <a:xfrm>
            <a:off x="4598996" y="1716346"/>
            <a:ext cx="2342508" cy="523220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2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TOPIC 1</a:t>
            </a:r>
            <a:endParaRPr lang="fr-FR">
              <a:ea typeface="+mn-ea"/>
              <a:cs typeface="+mn-cs"/>
            </a:endParaRPr>
          </a:p>
        </p:txBody>
      </p:sp>
      <p:sp>
        <p:nvSpPr>
          <p:cNvPr id="5" name="ZoneTexte 4">
            <a:extLst>
              <a:ext uri="{FF2B5EF4-FFF2-40B4-BE49-F238E27FC236}">
                <a16:creationId xmlns:a16="http://schemas.microsoft.com/office/drawing/2014/main" id="{2C42CE28-9BD3-6689-D685-0897BF2E686C}"/>
              </a:ext>
            </a:extLst>
          </p:cNvPr>
          <p:cNvSpPr txBox="1"/>
          <p:nvPr/>
        </p:nvSpPr>
        <p:spPr>
          <a:xfrm>
            <a:off x="3761948" y="929968"/>
            <a:ext cx="6097554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>
                <a:hlinkClick r:id="rId2"/>
              </a:rPr>
              <a:t>https://app.wooclap.com/events/POJYOK/0</a:t>
            </a:r>
            <a:r>
              <a:rPr lang="en-US" dirty="0"/>
              <a:t> </a:t>
            </a:r>
          </a:p>
        </p:txBody>
      </p:sp>
      <p:sp>
        <p:nvSpPr>
          <p:cNvPr id="6" name="ZoneTexte 5">
            <a:extLst>
              <a:ext uri="{FF2B5EF4-FFF2-40B4-BE49-F238E27FC236}">
                <a16:creationId xmlns:a16="http://schemas.microsoft.com/office/drawing/2014/main" id="{8BEF38D2-B988-3EA4-C446-FFE50127F1E8}"/>
              </a:ext>
            </a:extLst>
          </p:cNvPr>
          <p:cNvSpPr txBox="1"/>
          <p:nvPr/>
        </p:nvSpPr>
        <p:spPr>
          <a:xfrm>
            <a:off x="4068147" y="270588"/>
            <a:ext cx="3608079" cy="523220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 algn="ctr"/>
            <a:r>
              <a:rPr lang="fr-FR" sz="2800" dirty="0" err="1"/>
              <a:t>Icebreaker</a:t>
            </a:r>
            <a:endParaRPr lang="en-US" dirty="0">
              <a:ea typeface="Calibri" panose="020F0502020204030204"/>
              <a:cs typeface="Calibri" panose="020F0502020204030204"/>
            </a:endParaRPr>
          </a:p>
        </p:txBody>
      </p:sp>
    </p:spTree>
    <p:extLst>
      <p:ext uri="{BB962C8B-B14F-4D97-AF65-F5344CB8AC3E}">
        <p14:creationId xmlns:p14="http://schemas.microsoft.com/office/powerpoint/2010/main" val="94840510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76A57110-9674-7099-9C76-FD372F95121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What are we going to analyze?</a:t>
            </a:r>
            <a:endParaRPr lang="fr-FR" dirty="0"/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9D163B1E-A5CB-4F4E-A76A-31A2A877E98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65760" y="1960880"/>
            <a:ext cx="11226800" cy="4215391"/>
          </a:xfrm>
        </p:spPr>
        <p:txBody>
          <a:bodyPr vert="horz" lIns="91440" tIns="45720" rIns="91440" bIns="45720" rtlCol="0" anchor="t">
            <a:normAutofit/>
          </a:bodyPr>
          <a:lstStyle/>
          <a:p>
            <a:pPr marL="0" indent="0">
              <a:buNone/>
            </a:pPr>
            <a:r>
              <a:rPr lang="en-US" sz="2800" dirty="0"/>
              <a:t>Main skills/competencies targeted: </a:t>
            </a:r>
            <a:r>
              <a:rPr lang="en-US" sz="2800" b="1" dirty="0"/>
              <a:t>critical thinking</a:t>
            </a:r>
          </a:p>
          <a:p>
            <a:pPr marL="0" indent="0">
              <a:buNone/>
            </a:pPr>
            <a:endParaRPr lang="en-US" sz="2800" dirty="0"/>
          </a:p>
          <a:p>
            <a:r>
              <a:rPr lang="en-US" sz="2800" dirty="0"/>
              <a:t>Assess the impact of </a:t>
            </a:r>
            <a:r>
              <a:rPr lang="en-US" sz="2800" b="1" dirty="0"/>
              <a:t>Anthropocene</a:t>
            </a:r>
          </a:p>
          <a:p>
            <a:pPr marL="228600" indent="-228600"/>
            <a:r>
              <a:rPr lang="en-US" sz="2800" dirty="0"/>
              <a:t>Identify </a:t>
            </a:r>
            <a:r>
              <a:rPr lang="en-US" sz="2800" b="1" dirty="0"/>
              <a:t>the impact of </a:t>
            </a:r>
            <a:r>
              <a:rPr lang="en-US" sz="2800" dirty="0"/>
              <a:t>traditional finance on climate issues.</a:t>
            </a:r>
            <a:endParaRPr lang="en-US" sz="2800" dirty="0">
              <a:ea typeface="Calibri"/>
              <a:cs typeface="Calibri"/>
            </a:endParaRPr>
          </a:p>
          <a:p>
            <a:r>
              <a:rPr lang="en-US" sz="2800" dirty="0"/>
              <a:t>Analyze the </a:t>
            </a:r>
            <a:r>
              <a:rPr lang="en-US" sz="2800" b="1" dirty="0"/>
              <a:t>link between </a:t>
            </a:r>
            <a:r>
              <a:rPr lang="en-US" sz="2800" dirty="0"/>
              <a:t>ecology and finance.</a:t>
            </a:r>
          </a:p>
          <a:p>
            <a:r>
              <a:rPr lang="en-US" sz="2800" dirty="0"/>
              <a:t>Design the </a:t>
            </a:r>
            <a:r>
              <a:rPr lang="en-US" sz="2800" b="1" dirty="0"/>
              <a:t>7 deadly sins </a:t>
            </a:r>
            <a:r>
              <a:rPr lang="en-US" sz="2800" dirty="0"/>
              <a:t>of conventional finance,</a:t>
            </a:r>
            <a:endParaRPr lang="fr-FR" sz="2800" dirty="0"/>
          </a:p>
        </p:txBody>
      </p:sp>
    </p:spTree>
    <p:extLst>
      <p:ext uri="{BB962C8B-B14F-4D97-AF65-F5344CB8AC3E}">
        <p14:creationId xmlns:p14="http://schemas.microsoft.com/office/powerpoint/2010/main" val="189669111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800C06DF-57B4-0DAB-02DD-6A86E4FE14A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fr-FR">
                <a:ea typeface="Calibri"/>
                <a:cs typeface="Calibri"/>
              </a:rPr>
              <a:t>7 Deadly Sins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FD7DE568-197C-D304-62D1-D7F648DE8F7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vert="horz" lIns="91440" tIns="45720" rIns="91440" bIns="45720" rtlCol="0" anchor="t">
            <a:normAutofit/>
          </a:bodyPr>
          <a:lstStyle/>
          <a:p>
            <a:pPr marL="228600" indent="-228600"/>
            <a:r>
              <a:rPr lang="fr-FR" sz="2400" dirty="0">
                <a:ea typeface="Calibri"/>
                <a:cs typeface="Calibri"/>
              </a:rPr>
              <a:t>1. Excessive short-</a:t>
            </a:r>
            <a:r>
              <a:rPr lang="fr-FR" sz="2400" dirty="0" err="1">
                <a:ea typeface="Calibri"/>
                <a:cs typeface="Calibri"/>
              </a:rPr>
              <a:t>termism</a:t>
            </a:r>
            <a:r>
              <a:rPr lang="fr-FR" sz="2400" dirty="0">
                <a:ea typeface="Calibri"/>
                <a:cs typeface="Calibri"/>
              </a:rPr>
              <a:t> </a:t>
            </a:r>
            <a:endParaRPr lang="fr-FR" sz="2400">
              <a:ea typeface="Calibri"/>
              <a:cs typeface="Calibri"/>
            </a:endParaRPr>
          </a:p>
          <a:p>
            <a:pPr marL="228600" indent="-228600"/>
            <a:r>
              <a:rPr lang="fr-FR" sz="2400" dirty="0">
                <a:ea typeface="Calibri"/>
                <a:cs typeface="Calibri"/>
              </a:rPr>
              <a:t>2. Ignorance of </a:t>
            </a:r>
            <a:r>
              <a:rPr lang="fr-FR" sz="2400" dirty="0" err="1">
                <a:ea typeface="Calibri"/>
                <a:cs typeface="Calibri"/>
              </a:rPr>
              <a:t>negative</a:t>
            </a:r>
            <a:r>
              <a:rPr lang="fr-FR" sz="2400" dirty="0">
                <a:ea typeface="Calibri"/>
                <a:cs typeface="Calibri"/>
              </a:rPr>
              <a:t> </a:t>
            </a:r>
            <a:r>
              <a:rPr lang="fr-FR" sz="2400" dirty="0" err="1">
                <a:ea typeface="Calibri"/>
                <a:cs typeface="Calibri"/>
              </a:rPr>
              <a:t>externalities</a:t>
            </a:r>
            <a:r>
              <a:rPr lang="fr-FR" sz="2400" dirty="0">
                <a:ea typeface="Calibri"/>
                <a:cs typeface="Calibri"/>
              </a:rPr>
              <a:t> </a:t>
            </a:r>
          </a:p>
          <a:p>
            <a:pPr marL="228600" indent="-228600"/>
            <a:r>
              <a:rPr lang="fr-FR" sz="2400" dirty="0">
                <a:ea typeface="Calibri"/>
                <a:cs typeface="Calibri"/>
              </a:rPr>
              <a:t>3. Over-accumulation of money (</a:t>
            </a:r>
            <a:r>
              <a:rPr lang="fr-FR" sz="2400" dirty="0" err="1">
                <a:ea typeface="Calibri"/>
                <a:cs typeface="Calibri"/>
              </a:rPr>
              <a:t>Aristotle's</a:t>
            </a:r>
            <a:r>
              <a:rPr lang="fr-FR" sz="2400" dirty="0">
                <a:ea typeface="Calibri"/>
                <a:cs typeface="Calibri"/>
              </a:rPr>
              <a:t> </a:t>
            </a:r>
            <a:r>
              <a:rPr lang="fr-FR" sz="2400" dirty="0" err="1">
                <a:ea typeface="Calibri"/>
                <a:cs typeface="Calibri"/>
              </a:rPr>
              <a:t>Chrematistics</a:t>
            </a:r>
            <a:r>
              <a:rPr lang="fr-FR" sz="2400" dirty="0">
                <a:ea typeface="Calibri"/>
                <a:cs typeface="Calibri"/>
              </a:rPr>
              <a:t>) </a:t>
            </a:r>
          </a:p>
          <a:p>
            <a:pPr marL="228600" indent="-228600"/>
            <a:r>
              <a:rPr lang="fr-FR" sz="2400" dirty="0">
                <a:ea typeface="Calibri"/>
                <a:cs typeface="Calibri"/>
              </a:rPr>
              <a:t>4. </a:t>
            </a:r>
            <a:r>
              <a:rPr lang="fr-FR" sz="2400" dirty="0" err="1">
                <a:ea typeface="Calibri"/>
                <a:cs typeface="Calibri"/>
              </a:rPr>
              <a:t>Opacity</a:t>
            </a:r>
            <a:r>
              <a:rPr lang="fr-FR" sz="2400" dirty="0">
                <a:ea typeface="Calibri"/>
                <a:cs typeface="Calibri"/>
              </a:rPr>
              <a:t>/</a:t>
            </a:r>
            <a:r>
              <a:rPr lang="fr-FR" sz="2400" dirty="0" err="1">
                <a:ea typeface="Calibri"/>
                <a:cs typeface="Calibri"/>
              </a:rPr>
              <a:t>neutrality</a:t>
            </a:r>
            <a:r>
              <a:rPr lang="fr-FR" sz="2400" dirty="0">
                <a:ea typeface="Calibri"/>
                <a:cs typeface="Calibri"/>
              </a:rPr>
              <a:t> of </a:t>
            </a:r>
            <a:r>
              <a:rPr lang="fr-FR" sz="2400" dirty="0" err="1">
                <a:ea typeface="Calibri"/>
                <a:cs typeface="Calibri"/>
              </a:rPr>
              <a:t>climate</a:t>
            </a:r>
            <a:r>
              <a:rPr lang="fr-FR" sz="2400" dirty="0">
                <a:ea typeface="Calibri"/>
                <a:cs typeface="Calibri"/>
              </a:rPr>
              <a:t> </a:t>
            </a:r>
            <a:r>
              <a:rPr lang="fr-FR" sz="2400" dirty="0" err="1">
                <a:ea typeface="Calibri"/>
                <a:cs typeface="Calibri"/>
              </a:rPr>
              <a:t>risks</a:t>
            </a:r>
            <a:r>
              <a:rPr lang="fr-FR" sz="2400" dirty="0">
                <a:ea typeface="Calibri"/>
                <a:cs typeface="Calibri"/>
              </a:rPr>
              <a:t> </a:t>
            </a:r>
          </a:p>
          <a:p>
            <a:pPr marL="228600" indent="-228600"/>
            <a:r>
              <a:rPr lang="fr-FR" sz="2400" dirty="0">
                <a:ea typeface="Calibri"/>
                <a:cs typeface="Calibri"/>
              </a:rPr>
              <a:t>5. </a:t>
            </a:r>
            <a:r>
              <a:rPr lang="fr-FR" sz="2400" dirty="0" err="1">
                <a:ea typeface="Calibri"/>
                <a:cs typeface="Calibri"/>
              </a:rPr>
              <a:t>Complexity</a:t>
            </a:r>
            <a:r>
              <a:rPr lang="fr-FR" sz="2400" dirty="0">
                <a:ea typeface="Calibri"/>
                <a:cs typeface="Calibri"/>
              </a:rPr>
              <a:t> of finance and </a:t>
            </a:r>
            <a:r>
              <a:rPr lang="fr-FR" sz="2400" dirty="0" err="1">
                <a:ea typeface="Calibri"/>
                <a:cs typeface="Calibri"/>
              </a:rPr>
              <a:t>disconnection</a:t>
            </a:r>
            <a:r>
              <a:rPr lang="fr-FR" sz="2400" dirty="0">
                <a:ea typeface="Calibri"/>
                <a:cs typeface="Calibri"/>
              </a:rPr>
              <a:t> </a:t>
            </a:r>
            <a:r>
              <a:rPr lang="fr-FR" sz="2400" dirty="0" err="1">
                <a:ea typeface="Calibri"/>
                <a:cs typeface="Calibri"/>
              </a:rPr>
              <a:t>from</a:t>
            </a:r>
            <a:r>
              <a:rPr lang="fr-FR" sz="2400" dirty="0">
                <a:ea typeface="Calibri"/>
                <a:cs typeface="Calibri"/>
              </a:rPr>
              <a:t> the real </a:t>
            </a:r>
            <a:r>
              <a:rPr lang="fr-FR" sz="2400" dirty="0" err="1">
                <a:ea typeface="Calibri"/>
                <a:cs typeface="Calibri"/>
              </a:rPr>
              <a:t>economy</a:t>
            </a:r>
            <a:r>
              <a:rPr lang="fr-FR" sz="2400" dirty="0">
                <a:ea typeface="Calibri"/>
                <a:cs typeface="Calibri"/>
              </a:rPr>
              <a:t> </a:t>
            </a:r>
          </a:p>
          <a:p>
            <a:pPr marL="228600" indent="-228600"/>
            <a:r>
              <a:rPr lang="fr-FR" sz="2400" dirty="0">
                <a:ea typeface="Calibri"/>
                <a:cs typeface="Calibri"/>
              </a:rPr>
              <a:t>6. </a:t>
            </a:r>
            <a:r>
              <a:rPr lang="fr-FR" sz="2400" dirty="0" err="1">
                <a:ea typeface="Calibri"/>
                <a:cs typeface="Calibri"/>
              </a:rPr>
              <a:t>Conflicts</a:t>
            </a:r>
            <a:r>
              <a:rPr lang="fr-FR" sz="2400" dirty="0">
                <a:ea typeface="Calibri"/>
                <a:cs typeface="Calibri"/>
              </a:rPr>
              <a:t> of </a:t>
            </a:r>
            <a:r>
              <a:rPr lang="fr-FR" sz="2400" dirty="0" err="1">
                <a:ea typeface="Calibri"/>
                <a:cs typeface="Calibri"/>
              </a:rPr>
              <a:t>Interest</a:t>
            </a:r>
          </a:p>
          <a:p>
            <a:pPr marL="228600" indent="-228600"/>
            <a:r>
              <a:rPr lang="fr-FR" sz="2400" dirty="0">
                <a:ea typeface="Calibri"/>
                <a:cs typeface="Calibri"/>
              </a:rPr>
              <a:t>7. </a:t>
            </a:r>
            <a:r>
              <a:rPr lang="fr-FR" sz="2400" dirty="0" err="1">
                <a:ea typeface="Calibri"/>
                <a:cs typeface="Calibri"/>
              </a:rPr>
              <a:t>Systemic</a:t>
            </a:r>
            <a:r>
              <a:rPr lang="fr-FR" sz="2400" dirty="0">
                <a:ea typeface="Calibri"/>
                <a:cs typeface="Calibri"/>
              </a:rPr>
              <a:t> greenwashing </a:t>
            </a:r>
          </a:p>
        </p:txBody>
      </p:sp>
    </p:spTree>
    <p:extLst>
      <p:ext uri="{BB962C8B-B14F-4D97-AF65-F5344CB8AC3E}">
        <p14:creationId xmlns:p14="http://schemas.microsoft.com/office/powerpoint/2010/main" val="402787915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5CDAA9B2-2AA8-2ED3-E5C2-3934757CF57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5085" y="3950505"/>
            <a:ext cx="3955932" cy="2405849"/>
          </a:xfrm>
        </p:spPr>
        <p:txBody>
          <a:bodyPr vert="horz" lIns="91440" tIns="45721" rIns="91440" bIns="45721" rtlCol="0" anchor="t">
            <a:normAutofit/>
          </a:bodyPr>
          <a:lstStyle/>
          <a:p>
            <a:pPr algn="ctr"/>
            <a:r>
              <a:rPr lang="en-US" sz="3600" b="1" dirty="0">
                <a:solidFill>
                  <a:srgbClr val="00B050"/>
                </a:solidFill>
              </a:rPr>
              <a:t>Sustainable Finance</a:t>
            </a:r>
            <a:br>
              <a:rPr lang="en-US" sz="3600" b="1" dirty="0">
                <a:solidFill>
                  <a:srgbClr val="00B050"/>
                </a:solidFill>
              </a:rPr>
            </a:br>
            <a:endParaRPr lang="en-US" sz="3600" b="1" dirty="0">
              <a:solidFill>
                <a:srgbClr val="00B050"/>
              </a:solidFill>
            </a:endParaRPr>
          </a:p>
        </p:txBody>
      </p:sp>
      <p:sp>
        <p:nvSpPr>
          <p:cNvPr id="52" name="Footer Placeholder 4">
            <a:extLst>
              <a:ext uri="{FF2B5EF4-FFF2-40B4-BE49-F238E27FC236}">
                <a16:creationId xmlns:a16="http://schemas.microsoft.com/office/drawing/2014/main" id="{E02C781C-2948-4514-8D64-7BA4B973288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 rot="16200000">
            <a:off x="-1132935" y="1428137"/>
            <a:ext cx="3230680" cy="350927"/>
          </a:xfrm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1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Prof. Dhafer SAIDANE</a:t>
            </a:r>
          </a:p>
        </p:txBody>
      </p:sp>
      <p:sp>
        <p:nvSpPr>
          <p:cNvPr id="3" name="Sous-titre 2">
            <a:extLst>
              <a:ext uri="{FF2B5EF4-FFF2-40B4-BE49-F238E27FC236}">
                <a16:creationId xmlns:a16="http://schemas.microsoft.com/office/drawing/2014/main" id="{3D6276F5-0137-EF94-4D11-B0B518BB862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909683" y="992425"/>
            <a:ext cx="8378515" cy="3870434"/>
          </a:xfrm>
        </p:spPr>
        <p:txBody>
          <a:bodyPr vert="horz" lIns="91440" tIns="45721" rIns="91440" bIns="45721" rtlCol="0" anchor="t">
            <a:normAutofit fontScale="70000" lnSpcReduction="20000"/>
          </a:bodyPr>
          <a:lstStyle/>
          <a:p>
            <a:pPr marL="0" indent="0">
              <a:buNone/>
            </a:pPr>
            <a:r>
              <a:rPr lang="en-US" sz="4100" i="1" dirty="0"/>
              <a:t>‘Only after the last tree has been cut down,</a:t>
            </a:r>
            <a:br>
              <a:rPr lang="en-US" sz="4100" i="1" dirty="0"/>
            </a:br>
            <a:r>
              <a:rPr lang="en-US" sz="4100" i="1" dirty="0"/>
              <a:t>Only after the last river has been poisoned,</a:t>
            </a:r>
            <a:br>
              <a:rPr lang="en-US" sz="4100" i="1" dirty="0"/>
            </a:br>
            <a:r>
              <a:rPr lang="en-US" sz="4100" i="1" dirty="0"/>
              <a:t>Only after the last fish has been caught.</a:t>
            </a:r>
            <a:br>
              <a:rPr lang="en-US" sz="4100" i="1" dirty="0"/>
            </a:br>
            <a:endParaRPr lang="en-US" sz="4100" i="1" dirty="0"/>
          </a:p>
          <a:p>
            <a:pPr marL="0" indent="0">
              <a:buNone/>
            </a:pPr>
            <a:r>
              <a:rPr lang="en-US" sz="4100" i="1" dirty="0">
                <a:solidFill>
                  <a:srgbClr val="FF0000"/>
                </a:solidFill>
              </a:rPr>
              <a:t>Only then you will discover “money cannot be eaten</a:t>
            </a:r>
            <a:r>
              <a:rPr lang="en-US" sz="4100" i="1" dirty="0"/>
              <a:t>.”</a:t>
            </a:r>
          </a:p>
          <a:p>
            <a:pPr marL="0" indent="0">
              <a:buNone/>
            </a:pPr>
            <a:br>
              <a:rPr lang="en-US" sz="2800" dirty="0"/>
            </a:br>
            <a:r>
              <a:rPr lang="en-US" sz="2800" dirty="0"/>
              <a:t>Proverb attributed to the </a:t>
            </a:r>
            <a:r>
              <a:rPr lang="en-US" sz="2800" b="1" dirty="0"/>
              <a:t>Cree</a:t>
            </a:r>
            <a:r>
              <a:rPr lang="en-US" sz="2800" dirty="0"/>
              <a:t>, a Native American tribe from what is now Canada:</a:t>
            </a:r>
          </a:p>
        </p:txBody>
      </p:sp>
      <p:sp>
        <p:nvSpPr>
          <p:cNvPr id="56" name="Slide Number Placeholder 19">
            <a:extLst>
              <a:ext uri="{FF2B5EF4-FFF2-40B4-BE49-F238E27FC236}">
                <a16:creationId xmlns:a16="http://schemas.microsoft.com/office/drawing/2014/main" id="{E3AF5CA9-9FC6-4278-A5FD-EF48769AE8C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512295" y="6356354"/>
            <a:ext cx="574620" cy="365125"/>
          </a:xfrm>
        </p:spPr>
        <p:txBody>
          <a:bodyPr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1"/>
              </a:spcAft>
              <a:buClrTx/>
              <a:buSzTx/>
              <a:buFontTx/>
              <a:buNone/>
              <a:tabLst/>
              <a:defRPr/>
            </a:pPr>
            <a:fld id="{3E131995-E962-4131-8504-6B962D7140A6}" type="slidenum">
              <a:rPr kumimoji="0" lang="en-US" sz="1001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601"/>
                </a:spcAft>
                <a:buClrTx/>
                <a:buSzTx/>
                <a:buFontTx/>
                <a:buNone/>
                <a:tabLst/>
                <a:defRPr/>
              </a:pPr>
              <a:t>5</a:t>
            </a:fld>
            <a:endParaRPr kumimoji="0" lang="en-US" sz="1001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6" name="ZoneTexte 5">
            <a:extLst>
              <a:ext uri="{FF2B5EF4-FFF2-40B4-BE49-F238E27FC236}">
                <a16:creationId xmlns:a16="http://schemas.microsoft.com/office/drawing/2014/main" id="{3531A78B-4F17-C5B9-8B4F-C45B714D9801}"/>
              </a:ext>
            </a:extLst>
          </p:cNvPr>
          <p:cNvSpPr txBox="1"/>
          <p:nvPr/>
        </p:nvSpPr>
        <p:spPr>
          <a:xfrm>
            <a:off x="5709153" y="6211074"/>
            <a:ext cx="6096000" cy="64658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801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aramond" panose="02020404030301010803" pitchFamily="18" charset="0"/>
                <a:ea typeface="+mn-ea"/>
                <a:cs typeface="+mn-cs"/>
              </a:rPr>
              <a:t>Marcel </a:t>
            </a:r>
            <a:r>
              <a:rPr kumimoji="0" lang="fr-FR" sz="1801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aramond" panose="02020404030301010803" pitchFamily="18" charset="0"/>
                <a:ea typeface="+mn-ea"/>
                <a:cs typeface="+mn-cs"/>
              </a:rPr>
              <a:t>Jeucken</a:t>
            </a:r>
            <a:r>
              <a:rPr kumimoji="0" lang="fr-FR" sz="1801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aramond" panose="02020404030301010803" pitchFamily="18" charset="0"/>
                <a:ea typeface="+mn-ea"/>
                <a:cs typeface="+mn-cs"/>
              </a:rPr>
              <a:t> (2001</a:t>
            </a:r>
            <a:r>
              <a:rPr kumimoji="0" lang="fr-FR" sz="1801" b="0" i="1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aramond" panose="02020404030301010803" pitchFamily="18" charset="0"/>
                <a:ea typeface="+mn-ea"/>
                <a:cs typeface="+mn-cs"/>
              </a:rPr>
              <a:t>) </a:t>
            </a:r>
            <a:r>
              <a:rPr kumimoji="0" lang="en-US" sz="1801" b="0" i="1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aramond" panose="02020404030301010803" pitchFamily="18" charset="0"/>
                <a:ea typeface="+mn-ea"/>
                <a:cs typeface="+mn-cs"/>
              </a:rPr>
              <a:t>Sustainable finance and banking : the financial sector and the future of the planet  </a:t>
            </a:r>
            <a:r>
              <a:rPr kumimoji="0" lang="en-US" sz="1801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aramond" panose="02020404030301010803" pitchFamily="18" charset="0"/>
                <a:ea typeface="+mn-ea"/>
                <a:cs typeface="+mn-cs"/>
              </a:rPr>
              <a:t>-Earthscan Publications Ltd</a:t>
            </a:r>
          </a:p>
        </p:txBody>
      </p:sp>
      <p:sp>
        <p:nvSpPr>
          <p:cNvPr id="7" name="ZoneTexte 6">
            <a:extLst>
              <a:ext uri="{FF2B5EF4-FFF2-40B4-BE49-F238E27FC236}">
                <a16:creationId xmlns:a16="http://schemas.microsoft.com/office/drawing/2014/main" id="{DC839BCC-6769-6037-ABDB-1916FBCD375D}"/>
              </a:ext>
            </a:extLst>
          </p:cNvPr>
          <p:cNvSpPr txBox="1"/>
          <p:nvPr/>
        </p:nvSpPr>
        <p:spPr>
          <a:xfrm>
            <a:off x="5059680" y="471805"/>
            <a:ext cx="6096000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800" b="1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Terrific Indian prophecy </a:t>
            </a:r>
            <a:endParaRPr kumimoji="0" lang="fr-FR" sz="2800" b="1" i="0" u="none" strike="noStrike" kern="1200" cap="none" spc="0" normalizeH="0" baseline="0" noProof="0" dirty="0">
              <a:ln>
                <a:noFill/>
              </a:ln>
              <a:solidFill>
                <a:srgbClr val="FF0000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pic>
        <p:nvPicPr>
          <p:cNvPr id="1026" name="Picture 2" descr="CrEE TRIBE by amiller19 on emaze">
            <a:extLst>
              <a:ext uri="{FF2B5EF4-FFF2-40B4-BE49-F238E27FC236}">
                <a16:creationId xmlns:a16="http://schemas.microsoft.com/office/drawing/2014/main" id="{10C84D0B-A65A-F79D-5262-2D7189C52EF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274912" y="195309"/>
            <a:ext cx="2504608" cy="332178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ZoneTexte 3">
            <a:extLst>
              <a:ext uri="{FF2B5EF4-FFF2-40B4-BE49-F238E27FC236}">
                <a16:creationId xmlns:a16="http://schemas.microsoft.com/office/drawing/2014/main" id="{60A48DAF-C23E-3CEE-A34E-FB72499C2686}"/>
              </a:ext>
            </a:extLst>
          </p:cNvPr>
          <p:cNvSpPr txBox="1"/>
          <p:nvPr/>
        </p:nvSpPr>
        <p:spPr>
          <a:xfrm>
            <a:off x="639866" y="4185534"/>
            <a:ext cx="10142194" cy="1938992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 algn="ctr"/>
            <a:r>
              <a:rPr lang="fr-FR" sz="2400" b="1" dirty="0">
                <a:solidFill>
                  <a:srgbClr val="FF0000"/>
                </a:solidFill>
              </a:rPr>
              <a:t>Is money a </a:t>
            </a:r>
            <a:r>
              <a:rPr lang="fr-FR" sz="2400" b="1" dirty="0" err="1">
                <a:solidFill>
                  <a:srgbClr val="FF0000"/>
                </a:solidFill>
              </a:rPr>
              <a:t>commodity</a:t>
            </a:r>
            <a:r>
              <a:rPr lang="fr-FR" sz="2400" b="1" dirty="0">
                <a:solidFill>
                  <a:srgbClr val="FF0000"/>
                </a:solidFill>
              </a:rPr>
              <a:t>?</a:t>
            </a:r>
          </a:p>
          <a:p>
            <a:r>
              <a:rPr lang="en-US" sz="2400" b="1" u="sng" dirty="0"/>
              <a:t>CHREMATISTICS in the Aristotelian sense</a:t>
            </a:r>
          </a:p>
          <a:p>
            <a:r>
              <a:rPr lang="en-US" sz="2400" b="1" dirty="0"/>
              <a:t>“</a:t>
            </a:r>
            <a:r>
              <a:rPr lang="en-US" sz="2400" b="1" dirty="0" err="1"/>
              <a:t>IIt's</a:t>
            </a:r>
            <a:r>
              <a:rPr lang="en-US" sz="2400" b="1" dirty="0"/>
              <a:t> about wanting more money without seeking to profit from it. The power of accumulating money as a commodity, not as a means of transaction.”</a:t>
            </a:r>
            <a:endParaRPr lang="en-US" sz="2400" b="1" dirty="0">
              <a:ea typeface="Calibri"/>
              <a:cs typeface="Calibri"/>
            </a:endParaRPr>
          </a:p>
          <a:p>
            <a:r>
              <a:rPr lang="en-US" sz="2400" b="1" dirty="0">
                <a:solidFill>
                  <a:srgbClr val="FF0000"/>
                </a:solidFill>
              </a:rPr>
              <a:t>Aristotle</a:t>
            </a:r>
            <a:endParaRPr lang="fr-FR" sz="2400" b="1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01359961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8550A5DA-4129-EAE7-FE00-803E81670E1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1920" y="524033"/>
            <a:ext cx="11612879" cy="1116811"/>
          </a:xfrm>
        </p:spPr>
        <p:txBody>
          <a:bodyPr>
            <a:normAutofit fontScale="90000"/>
          </a:bodyPr>
          <a:lstStyle/>
          <a:p>
            <a:pPr algn="ctr"/>
            <a:r>
              <a:rPr lang="en-US" b="1" dirty="0">
                <a:solidFill>
                  <a:srgbClr val="FF0000"/>
                </a:solidFill>
              </a:rPr>
              <a:t>Anthropocene</a:t>
            </a:r>
            <a:r>
              <a:rPr lang="en-US" dirty="0"/>
              <a:t>: the beginning of the countdown/BREAKDOWN</a:t>
            </a:r>
            <a:endParaRPr lang="fr-FR" dirty="0"/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C4A362AB-A42E-E2CA-17E6-DF604D14749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5" y="2467871"/>
            <a:ext cx="10515600" cy="3435090"/>
          </a:xfrm>
        </p:spPr>
        <p:txBody>
          <a:bodyPr vert="horz" lIns="91440" tIns="45720" rIns="91440" bIns="45720" rtlCol="0" anchor="t">
            <a:normAutofit fontScale="92500" lnSpcReduction="10000"/>
          </a:bodyPr>
          <a:lstStyle/>
          <a:p>
            <a:pPr marL="0" indent="0">
              <a:buNone/>
            </a:pPr>
            <a:r>
              <a:rPr lang="en-US" sz="3200"/>
              <a:t>The term Anthropocene means "The Age of Humans“ In Greek </a:t>
            </a:r>
            <a:endParaRPr lang="en-US" sz="3200" b="1">
              <a:ea typeface="Calibri" panose="020F0502020204030204"/>
              <a:cs typeface="Calibri" panose="020F0502020204030204"/>
            </a:endParaRPr>
          </a:p>
          <a:p>
            <a:pPr marL="457200" indent="-457200"/>
            <a:r>
              <a:rPr lang="en-US" sz="3200" i="1" err="1"/>
              <a:t>Antropos</a:t>
            </a:r>
            <a:r>
              <a:rPr lang="en-US" sz="3200" dirty="0"/>
              <a:t> </a:t>
            </a:r>
            <a:r>
              <a:rPr lang="en-US" sz="3200" b="1" dirty="0"/>
              <a:t>Human being </a:t>
            </a:r>
            <a:endParaRPr lang="en-US" sz="3200" b="1">
              <a:ea typeface="Calibri" panose="020F0502020204030204"/>
              <a:cs typeface="Calibri" panose="020F0502020204030204"/>
            </a:endParaRPr>
          </a:p>
          <a:p>
            <a:pPr marL="228600" indent="-228600"/>
            <a:r>
              <a:rPr lang="en-US" sz="3200" i="1"/>
              <a:t>   Kainos</a:t>
            </a:r>
            <a:r>
              <a:rPr lang="en-US" sz="3200" dirty="0"/>
              <a:t> </a:t>
            </a:r>
            <a:r>
              <a:rPr lang="en-US" sz="3200" b="1" dirty="0"/>
              <a:t>New era/age.</a:t>
            </a:r>
            <a:endParaRPr lang="en-US"/>
          </a:p>
          <a:p>
            <a:endParaRPr lang="en-US" sz="3200" b="1" dirty="0"/>
          </a:p>
          <a:p>
            <a:pPr marL="0" indent="0">
              <a:buNone/>
            </a:pPr>
            <a:r>
              <a:rPr lang="en-US" sz="3200" dirty="0"/>
              <a:t>It began when </a:t>
            </a:r>
            <a:r>
              <a:rPr lang="en-US" sz="3200" b="1" dirty="0"/>
              <a:t>humans’ influence on ecosystems </a:t>
            </a:r>
            <a:r>
              <a:rPr lang="en-US" sz="3200" dirty="0"/>
              <a:t>became significant on the scale of Earth's history.</a:t>
            </a:r>
            <a:endParaRPr lang="fr-FR" sz="3200" dirty="0">
              <a:ea typeface="Calibri" panose="020F0502020204030204"/>
              <a:cs typeface="Calibri" panose="020F0502020204030204"/>
            </a:endParaRPr>
          </a:p>
        </p:txBody>
      </p:sp>
    </p:spTree>
    <p:extLst>
      <p:ext uri="{BB962C8B-B14F-4D97-AF65-F5344CB8AC3E}">
        <p14:creationId xmlns:p14="http://schemas.microsoft.com/office/powerpoint/2010/main" val="181937589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7E12E1FC-2FD8-D0FB-1521-F40E260C7FB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62660" y="198913"/>
            <a:ext cx="10855965" cy="654527"/>
          </a:xfrm>
        </p:spPr>
        <p:txBody>
          <a:bodyPr>
            <a:noAutofit/>
          </a:bodyPr>
          <a:lstStyle/>
          <a:p>
            <a:r>
              <a:rPr lang="en-US" sz="3200" b="1" dirty="0"/>
              <a:t>Anthropocene: the beginning of the countdown /breakdown</a:t>
            </a:r>
            <a:endParaRPr lang="fr-FR" sz="3200" b="1" dirty="0"/>
          </a:p>
        </p:txBody>
      </p:sp>
      <p:pic>
        <p:nvPicPr>
          <p:cNvPr id="4" name="Climate Change in the Anthropocene">
            <a:hlinkClick r:id="" action="ppaction://media"/>
            <a:extLst>
              <a:ext uri="{FF2B5EF4-FFF2-40B4-BE49-F238E27FC236}">
                <a16:creationId xmlns:a16="http://schemas.microsoft.com/office/drawing/2014/main" id="{ACB4D2C7-8B12-D56E-F9F9-BAA62B7FCD09}"/>
              </a:ext>
            </a:extLst>
          </p:cNvPr>
          <p:cNvPicPr>
            <a:picLocks noGrp="1" noChangeAspect="1"/>
          </p:cNvPicPr>
          <p:nvPr>
            <p:ph idx="1"/>
            <a:vide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4"/>
          <a:stretch>
            <a:fillRect/>
          </a:stretch>
        </p:blipFill>
        <p:spPr>
          <a:xfrm>
            <a:off x="1140459" y="853440"/>
            <a:ext cx="9911081" cy="5574983"/>
          </a:xfrm>
        </p:spPr>
      </p:pic>
    </p:spTree>
    <p:extLst>
      <p:ext uri="{BB962C8B-B14F-4D97-AF65-F5344CB8AC3E}">
        <p14:creationId xmlns:p14="http://schemas.microsoft.com/office/powerpoint/2010/main" val="151407091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81757" fill="hold"/>
                                        <p:tgtEl>
                                          <p:spTgt spid="4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video>
              <p:cMediaNode vol="80000">
                <p:cTn id="7" fill="hold" display="0">
                  <p:stCondLst>
                    <p:cond delay="indefinite"/>
                  </p:stCondLst>
                </p:cTn>
                <p:tgtEl>
                  <p:spTgt spid="4"/>
                </p:tgtEl>
              </p:cMediaNode>
            </p:video>
            <p:seq concurrent="1" nextAc="seek">
              <p:cTn id="8" restart="whenNotActive" fill="hold" evtFilter="cancelBubble" nodeType="interactiveSeq">
                <p:stCondLst>
                  <p:cond evt="onClick" delay="0">
                    <p:tgtEl>
                      <p:spTgt spid="4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9" fill="hold">
                      <p:stCondLst>
                        <p:cond delay="0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togglePause">
                                      <p:cBhvr>
                                        <p:cTn id="12" dur="1" fill="hold"/>
                                        <p:tgtEl>
                                          <p:spTgt spid="4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4"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New shape"/>
          <p:cNvSpPr/>
          <p:nvPr/>
        </p:nvSpPr>
        <p:spPr>
          <a:xfrm>
            <a:off x="500400" y="6228000"/>
            <a:ext cx="50400" cy="234000"/>
          </a:xfrm>
          <a:prstGeom prst="rect">
            <a:avLst/>
          </a:prstGeom>
          <a:blipFill>
            <a:blip r:embed="rId3"/>
            <a:stretch>
              <a:fillRect/>
            </a:stretch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8" name="New shape"/>
          <p:cNvSpPr/>
          <p:nvPr/>
        </p:nvSpPr>
        <p:spPr>
          <a:xfrm>
            <a:off x="-7200" y="-7200"/>
            <a:ext cx="12211200" cy="54000"/>
          </a:xfrm>
          <a:prstGeom prst="rect">
            <a:avLst/>
          </a:prstGeom>
          <a:blipFill>
            <a:blip r:embed="rId4"/>
            <a:stretch>
              <a:fillRect/>
            </a:stretch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" name="New shape"/>
          <p:cNvSpPr/>
          <p:nvPr/>
        </p:nvSpPr>
        <p:spPr>
          <a:xfrm>
            <a:off x="885600" y="6220800"/>
            <a:ext cx="8035199" cy="2808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90000" tIns="46800" rIns="90000" bIns="46800" rtlCol="0" anchor="t">
            <a:norm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ct val="20000"/>
              </a:spcAft>
              <a:buClrTx/>
              <a:buSzTx/>
              <a:buFontTx/>
              <a:buNone/>
              <a:tabLst/>
              <a:defRPr/>
            </a:pPr>
            <a:endParaRPr kumimoji="0" sz="600" b="0" i="0" u="none" strike="noStrike" kern="1200" cap="none" spc="0" normalizeH="0" baseline="0" noProof="0">
              <a:ln>
                <a:noFill/>
              </a:ln>
              <a:solidFill>
                <a:srgbClr val="455F7C"/>
              </a:solidFill>
              <a:effectLst/>
              <a:uLnTx/>
              <a:uFillTx/>
              <a:latin typeface="Open Sans"/>
              <a:ea typeface="+mn-ea"/>
              <a:cs typeface="+mn-cs"/>
            </a:endParaRPr>
          </a:p>
        </p:txBody>
      </p:sp>
      <p:sp>
        <p:nvSpPr>
          <p:cNvPr id="6" name="New shape"/>
          <p:cNvSpPr/>
          <p:nvPr/>
        </p:nvSpPr>
        <p:spPr>
          <a:xfrm>
            <a:off x="496800" y="424800"/>
            <a:ext cx="11196000" cy="7848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90000" tIns="46800" rIns="90000" bIns="46800" rtlCol="0" anchor="b">
            <a:normAutofit fontScale="85000" lnSpcReduction="20000"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ct val="20000"/>
              </a:spcAft>
              <a:buClrTx/>
              <a:buSzTx/>
              <a:buFontTx/>
              <a:buNone/>
              <a:tabLst/>
              <a:defRPr/>
            </a:pPr>
            <a:r>
              <a:rPr kumimoji="0" sz="2800" b="1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Open Sans Light"/>
                <a:ea typeface="+mn-ea"/>
                <a:cs typeface="+mn-cs"/>
              </a:rPr>
              <a:t>Historical carbon dioxide emissions from fossil fuel from 1750 to 202</a:t>
            </a:r>
            <a:r>
              <a:rPr kumimoji="0" lang="fr-FR" sz="2800" b="1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Open Sans Light"/>
                <a:ea typeface="+mn-ea"/>
                <a:cs typeface="+mn-cs"/>
              </a:rPr>
              <a:t>5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ct val="20000"/>
              </a:spcAft>
              <a:buClrTx/>
              <a:buSzTx/>
              <a:buFontTx/>
              <a:buNone/>
              <a:tabLst/>
              <a:defRPr/>
            </a:pPr>
            <a:r>
              <a:rPr kumimoji="0" sz="2800" b="1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Open Sans Light"/>
                <a:ea typeface="+mn-ea"/>
                <a:cs typeface="+mn-cs"/>
              </a:rPr>
              <a:t>(in billion metric tons)</a:t>
            </a:r>
          </a:p>
        </p:txBody>
      </p:sp>
      <p:sp>
        <p:nvSpPr>
          <p:cNvPr id="5" name="Flèche : bas 4">
            <a:extLst>
              <a:ext uri="{FF2B5EF4-FFF2-40B4-BE49-F238E27FC236}">
                <a16:creationId xmlns:a16="http://schemas.microsoft.com/office/drawing/2014/main" id="{28F37430-54C8-94E8-92A6-E67A7B3081B8}"/>
              </a:ext>
            </a:extLst>
          </p:cNvPr>
          <p:cNvSpPr/>
          <p:nvPr/>
        </p:nvSpPr>
        <p:spPr>
          <a:xfrm>
            <a:off x="4907933" y="5451750"/>
            <a:ext cx="612343" cy="827314"/>
          </a:xfrm>
          <a:prstGeom prst="down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11" name="ZoneTexte 1">
            <a:extLst>
              <a:ext uri="{FF2B5EF4-FFF2-40B4-BE49-F238E27FC236}">
                <a16:creationId xmlns:a16="http://schemas.microsoft.com/office/drawing/2014/main" id="{4DEFB5C3-9C16-4C2B-9242-CA32C5060D11}"/>
              </a:ext>
            </a:extLst>
          </p:cNvPr>
          <p:cNvSpPr txBox="1"/>
          <p:nvPr/>
        </p:nvSpPr>
        <p:spPr>
          <a:xfrm>
            <a:off x="885600" y="5361546"/>
            <a:ext cx="4299876" cy="827345"/>
          </a:xfrm>
          <a:prstGeom prst="rect">
            <a:avLst/>
          </a:prstGeom>
        </p:spPr>
        <p:txBody>
          <a:bodyPr wrap="square" rtlCol="0"/>
          <a:lstStyle>
            <a:lvl1pPr marL="0" indent="0">
              <a:defRPr sz="1100"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latin typeface="+mn-lt"/>
                <a:ea typeface="+mn-ea"/>
                <a:cs typeface="+mn-cs"/>
              </a:defRPr>
            </a:lvl9pPr>
          </a:lstStyle>
          <a:p>
            <a:r>
              <a:rPr lang="fr-FR" sz="2400" dirty="0" err="1">
                <a:solidFill>
                  <a:srgbClr val="00B050"/>
                </a:solidFill>
              </a:rPr>
              <a:t>We</a:t>
            </a:r>
            <a:r>
              <a:rPr lang="fr-FR" sz="2400" dirty="0">
                <a:solidFill>
                  <a:srgbClr val="00B050"/>
                </a:solidFill>
              </a:rPr>
              <a:t> are </a:t>
            </a:r>
            <a:r>
              <a:rPr lang="fr-FR" sz="2400" dirty="0" err="1">
                <a:solidFill>
                  <a:srgbClr val="00B050"/>
                </a:solidFill>
              </a:rPr>
              <a:t>leaving</a:t>
            </a:r>
            <a:r>
              <a:rPr lang="fr-FR" sz="2400" dirty="0">
                <a:solidFill>
                  <a:srgbClr val="00B050"/>
                </a:solidFill>
              </a:rPr>
              <a:t> the </a:t>
            </a:r>
            <a:r>
              <a:rPr lang="fr-FR" sz="2400" b="1" dirty="0">
                <a:solidFill>
                  <a:srgbClr val="00B050"/>
                </a:solidFill>
              </a:rPr>
              <a:t>HOLOCENE</a:t>
            </a:r>
          </a:p>
        </p:txBody>
      </p:sp>
      <p:sp>
        <p:nvSpPr>
          <p:cNvPr id="13" name="ZoneTexte 12">
            <a:extLst>
              <a:ext uri="{FF2B5EF4-FFF2-40B4-BE49-F238E27FC236}">
                <a16:creationId xmlns:a16="http://schemas.microsoft.com/office/drawing/2014/main" id="{A2CB98FD-1C11-B828-A450-D1B8E8E182A3}"/>
              </a:ext>
            </a:extLst>
          </p:cNvPr>
          <p:cNvSpPr txBox="1"/>
          <p:nvPr/>
        </p:nvSpPr>
        <p:spPr>
          <a:xfrm>
            <a:off x="1144340" y="1406250"/>
            <a:ext cx="9900920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endParaRPr lang="en-US" b="1" dirty="0">
              <a:latin typeface="Google Sans"/>
            </a:endParaRPr>
          </a:p>
          <a:p>
            <a:pPr algn="ctr"/>
            <a:r>
              <a:rPr lang="en-US" b="1" i="0" dirty="0">
                <a:effectLst/>
                <a:latin typeface="Google Sans"/>
              </a:rPr>
              <a:t>We have now left the HOLOCENE (No human impact) and are in the transition to the ANTHROPOCENE (High human impact). </a:t>
            </a:r>
            <a:endParaRPr lang="fr-FR" b="1" dirty="0"/>
          </a:p>
        </p:txBody>
      </p:sp>
      <p:sp>
        <p:nvSpPr>
          <p:cNvPr id="7" name="ZoneTexte 1">
            <a:extLst>
              <a:ext uri="{FF2B5EF4-FFF2-40B4-BE49-F238E27FC236}">
                <a16:creationId xmlns:a16="http://schemas.microsoft.com/office/drawing/2014/main" id="{CB6225FD-6F73-2865-98FE-511B29CE6E2A}"/>
              </a:ext>
            </a:extLst>
          </p:cNvPr>
          <p:cNvSpPr txBox="1"/>
          <p:nvPr/>
        </p:nvSpPr>
        <p:spPr>
          <a:xfrm>
            <a:off x="3361601" y="3706887"/>
            <a:ext cx="4299876" cy="827345"/>
          </a:xfrm>
          <a:prstGeom prst="rect">
            <a:avLst/>
          </a:prstGeom>
        </p:spPr>
        <p:txBody>
          <a:bodyPr wrap="square" rtlCol="0"/>
          <a:lstStyle>
            <a:lvl1pPr marL="0" indent="0">
              <a:defRPr sz="1100"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latin typeface="+mn-lt"/>
                <a:ea typeface="+mn-ea"/>
                <a:cs typeface="+mn-cs"/>
              </a:defRPr>
            </a:lvl9pPr>
          </a:lstStyle>
          <a:p>
            <a:r>
              <a:rPr lang="fr-FR" sz="3200" dirty="0" err="1">
                <a:solidFill>
                  <a:srgbClr val="FF0000"/>
                </a:solidFill>
              </a:rPr>
              <a:t>Anthropocene</a:t>
            </a:r>
            <a:r>
              <a:rPr lang="fr-FR" sz="3200" dirty="0">
                <a:solidFill>
                  <a:srgbClr val="FF0000"/>
                </a:solidFill>
              </a:rPr>
              <a:t> </a:t>
            </a:r>
            <a:r>
              <a:rPr lang="fr-FR" sz="3200" dirty="0" err="1">
                <a:solidFill>
                  <a:srgbClr val="FF0000"/>
                </a:solidFill>
              </a:rPr>
              <a:t>starting</a:t>
            </a:r>
            <a:endParaRPr lang="fr-FR" sz="3200" dirty="0">
              <a:solidFill>
                <a:srgbClr val="FF0000"/>
              </a:solidFill>
            </a:endParaRPr>
          </a:p>
        </p:txBody>
      </p:sp>
      <p:sp>
        <p:nvSpPr>
          <p:cNvPr id="4" name="ZoneTexte 3">
            <a:extLst>
              <a:ext uri="{FF2B5EF4-FFF2-40B4-BE49-F238E27FC236}">
                <a16:creationId xmlns:a16="http://schemas.microsoft.com/office/drawing/2014/main" id="{7AF1064F-0410-3B2B-7289-F739C898763A}"/>
              </a:ext>
            </a:extLst>
          </p:cNvPr>
          <p:cNvSpPr txBox="1"/>
          <p:nvPr/>
        </p:nvSpPr>
        <p:spPr>
          <a:xfrm>
            <a:off x="2138855" y="6063868"/>
            <a:ext cx="1545996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fr-FR" b="1" dirty="0">
                <a:solidFill>
                  <a:srgbClr val="FF0000"/>
                </a:solidFill>
              </a:rPr>
              <a:t>Pre-</a:t>
            </a:r>
            <a:r>
              <a:rPr lang="fr-FR" b="1" dirty="0" err="1">
                <a:solidFill>
                  <a:srgbClr val="FF0000"/>
                </a:solidFill>
              </a:rPr>
              <a:t>industrial</a:t>
            </a:r>
            <a:endParaRPr lang="fr-FR" b="1" dirty="0">
              <a:solidFill>
                <a:srgbClr val="FF0000"/>
              </a:solidFill>
            </a:endParaRPr>
          </a:p>
        </p:txBody>
      </p:sp>
      <p:graphicFrame>
        <p:nvGraphicFramePr>
          <p:cNvPr id="12" name="ChartObject">
            <a:extLst>
              <a:ext uri="{FF2B5EF4-FFF2-40B4-BE49-F238E27FC236}">
                <a16:creationId xmlns:a16="http://schemas.microsoft.com/office/drawing/2014/main" id="{95280AE8-507F-B10C-7060-E362D3C00013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2820838990"/>
              </p:ext>
            </p:extLst>
          </p:nvPr>
        </p:nvGraphicFramePr>
        <p:xfrm>
          <a:off x="94356" y="1406250"/>
          <a:ext cx="11817945" cy="5556959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5"/>
          </a:graphicData>
        </a:graphic>
      </p:graphicFrame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ew shape"/>
          <p:cNvSpPr/>
          <p:nvPr/>
        </p:nvSpPr>
        <p:spPr>
          <a:xfrm>
            <a:off x="676800" y="336600"/>
            <a:ext cx="10836000" cy="5868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90000" tIns="46800" rIns="90000" bIns="46800" rtlCol="0" anchor="b">
            <a:normAutofit fontScale="60000" lnSpcReduction="20000"/>
          </a:bodyPr>
          <a:lstStyle/>
          <a:p>
            <a:pPr algn="l">
              <a:lnSpc>
                <a:spcPct val="100000"/>
              </a:lnSpc>
              <a:spcAft>
                <a:spcPct val="20000"/>
              </a:spcAft>
            </a:pPr>
            <a:r>
              <a:rPr sz="3200" dirty="0">
                <a:solidFill>
                  <a:srgbClr val="0A85E6"/>
                </a:solidFill>
                <a:latin typeface="Open Sans Light"/>
              </a:rPr>
              <a:t>Annual carbon dioxide (CO₂) emissions worldwide from 1940 to 2024 (in billion metric tons)</a:t>
            </a:r>
          </a:p>
        </p:txBody>
      </p:sp>
      <p:sp>
        <p:nvSpPr>
          <p:cNvPr id="3" name="New shape"/>
          <p:cNvSpPr/>
          <p:nvPr/>
        </p:nvSpPr>
        <p:spPr>
          <a:xfrm>
            <a:off x="676800" y="927900"/>
            <a:ext cx="10836000" cy="3276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90000" tIns="46800" rIns="90000" bIns="46800" rtlCol="0" anchor="t">
            <a:normAutofit lnSpcReduction="10000"/>
          </a:bodyPr>
          <a:lstStyle/>
          <a:p>
            <a:pPr algn="l">
              <a:lnSpc>
                <a:spcPct val="100000"/>
              </a:lnSpc>
              <a:spcAft>
                <a:spcPct val="20000"/>
              </a:spcAft>
            </a:pPr>
            <a:r>
              <a:rPr sz="1600" dirty="0">
                <a:solidFill>
                  <a:srgbClr val="919191"/>
                </a:solidFill>
                <a:latin typeface="Open Sans"/>
              </a:rPr>
              <a:t>Annual global emissions of carbon dioxide 1940-2024</a:t>
            </a:r>
          </a:p>
        </p:txBody>
      </p:sp>
      <p:graphicFrame>
        <p:nvGraphicFramePr>
          <p:cNvPr id="5" name="ChartObject"/>
          <p:cNvGraphicFramePr/>
          <p:nvPr>
            <p:extLst>
              <p:ext uri="{D42A27DB-BD31-4B8C-83A1-F6EECF244321}">
                <p14:modId xmlns:p14="http://schemas.microsoft.com/office/powerpoint/2010/main" val="1865579704"/>
              </p:ext>
            </p:extLst>
          </p:nvPr>
        </p:nvGraphicFramePr>
        <p:xfrm>
          <a:off x="75415" y="1255500"/>
          <a:ext cx="11972042" cy="5098166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New shape"/>
          <p:cNvSpPr/>
          <p:nvPr/>
        </p:nvSpPr>
        <p:spPr>
          <a:xfrm>
            <a:off x="676800" y="184825"/>
            <a:ext cx="10836000" cy="3276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90000" tIns="46800" rIns="90000" bIns="46800" rtlCol="0" anchor="t">
            <a:normAutofit fontScale="92500" lnSpcReduction="10000"/>
          </a:bodyPr>
          <a:lstStyle/>
          <a:p>
            <a:pPr algn="ctr">
              <a:lnSpc>
                <a:spcPct val="100000"/>
              </a:lnSpc>
              <a:spcAft>
                <a:spcPct val="20000"/>
              </a:spcAft>
            </a:pPr>
            <a:r>
              <a:rPr b="1" dirty="0">
                <a:solidFill>
                  <a:schemeClr val="tx1"/>
                </a:solidFill>
                <a:latin typeface="Open Sans"/>
              </a:rPr>
              <a:t>Global</a:t>
            </a:r>
            <a:r>
              <a:rPr lang="fr-FR" b="1" dirty="0">
                <a:solidFill>
                  <a:schemeClr val="tx1"/>
                </a:solidFill>
                <a:latin typeface="Open Sans"/>
              </a:rPr>
              <a:t> </a:t>
            </a:r>
            <a:r>
              <a:rPr lang="fr-FR" b="1" dirty="0" err="1">
                <a:solidFill>
                  <a:schemeClr val="tx1"/>
                </a:solidFill>
                <a:latin typeface="Open Sans"/>
              </a:rPr>
              <a:t>average</a:t>
            </a:r>
            <a:r>
              <a:rPr b="1" dirty="0">
                <a:solidFill>
                  <a:schemeClr val="tx1"/>
                </a:solidFill>
                <a:latin typeface="Open Sans"/>
              </a:rPr>
              <a:t> temperature </a:t>
            </a:r>
            <a:r>
              <a:rPr lang="fr-FR" b="1" dirty="0" err="1">
                <a:solidFill>
                  <a:schemeClr val="tx1"/>
                </a:solidFill>
                <a:latin typeface="Open Sans"/>
              </a:rPr>
              <a:t>increase</a:t>
            </a:r>
            <a:r>
              <a:rPr b="1" dirty="0">
                <a:solidFill>
                  <a:schemeClr val="tx1"/>
                </a:solidFill>
                <a:latin typeface="Open Sans"/>
              </a:rPr>
              <a:t> 1910-2019, by decade</a:t>
            </a:r>
          </a:p>
        </p:txBody>
      </p:sp>
      <p:graphicFrame>
        <p:nvGraphicFramePr>
          <p:cNvPr id="5" name="ChartObject"/>
          <p:cNvGraphicFramePr/>
          <p:nvPr>
            <p:extLst>
              <p:ext uri="{D42A27DB-BD31-4B8C-83A1-F6EECF244321}">
                <p14:modId xmlns:p14="http://schemas.microsoft.com/office/powerpoint/2010/main" val="2527145040"/>
              </p:ext>
            </p:extLst>
          </p:nvPr>
        </p:nvGraphicFramePr>
        <p:xfrm>
          <a:off x="676800" y="1451727"/>
          <a:ext cx="11191546" cy="5221447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sp>
        <p:nvSpPr>
          <p:cNvPr id="6" name="New shape"/>
          <p:cNvSpPr/>
          <p:nvPr/>
        </p:nvSpPr>
        <p:spPr>
          <a:xfrm>
            <a:off x="637200" y="6494400"/>
            <a:ext cx="457200" cy="2484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90000" tIns="46800" rIns="90000" bIns="46800" rtlCol="0" anchor="t"/>
          <a:lstStyle/>
          <a:p>
            <a:pPr algn="ctr">
              <a:spcAft>
                <a:spcPct val="20000"/>
              </a:spcAft>
            </a:pPr>
            <a:r>
              <a:rPr sz="1000">
                <a:solidFill>
                  <a:srgbClr val="FFFFFF"/>
                </a:solidFill>
                <a:latin typeface="Open Sans"/>
              </a:rPr>
              <a:t>4</a:t>
            </a:r>
          </a:p>
        </p:txBody>
      </p:sp>
      <p:sp>
        <p:nvSpPr>
          <p:cNvPr id="9" name="ZoneTexte 8">
            <a:extLst>
              <a:ext uri="{FF2B5EF4-FFF2-40B4-BE49-F238E27FC236}">
                <a16:creationId xmlns:a16="http://schemas.microsoft.com/office/drawing/2014/main" id="{231FD6F7-9D2B-A2E1-F933-E6B3ED5E98F0}"/>
              </a:ext>
            </a:extLst>
          </p:cNvPr>
          <p:cNvSpPr txBox="1"/>
          <p:nvPr/>
        </p:nvSpPr>
        <p:spPr>
          <a:xfrm>
            <a:off x="1970203" y="1262721"/>
            <a:ext cx="8380428" cy="175432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en-US" sz="1800" b="1" dirty="0">
                <a:latin typeface="Open Sans Light"/>
              </a:rPr>
              <a:t>Temperatures rise in the last 100 years around the world. </a:t>
            </a:r>
          </a:p>
          <a:p>
            <a:pPr algn="l"/>
            <a:endParaRPr lang="en-US" b="1" dirty="0">
              <a:latin typeface="Open Sans Light"/>
            </a:endParaRPr>
          </a:p>
          <a:p>
            <a:pPr marL="285750" indent="-285750" algn="l">
              <a:buFont typeface="Arial" panose="020B0604020202020204" pitchFamily="34" charset="0"/>
              <a:buChar char="•"/>
            </a:pPr>
            <a:r>
              <a:rPr lang="en-US" sz="1800" b="1" dirty="0">
                <a:latin typeface="Open Sans Light"/>
              </a:rPr>
              <a:t>In the 1910s, global average temperatures were 0.38 °lower than the average temperatures between 1910 and 2000. </a:t>
            </a:r>
          </a:p>
          <a:p>
            <a:pPr marL="285750" indent="-285750" algn="l">
              <a:buFont typeface="Arial" panose="020B0604020202020204" pitchFamily="34" charset="0"/>
              <a:buChar char="•"/>
            </a:pPr>
            <a:endParaRPr lang="en-US" sz="1800" b="1" dirty="0">
              <a:latin typeface="Open Sans Light"/>
            </a:endParaRPr>
          </a:p>
          <a:p>
            <a:pPr marL="285750" indent="-285750" algn="l">
              <a:buFont typeface="Arial" panose="020B0604020202020204" pitchFamily="34" charset="0"/>
              <a:buChar char="•"/>
            </a:pPr>
            <a:r>
              <a:rPr lang="en-US" sz="1800" b="1" dirty="0">
                <a:latin typeface="Open Sans Light"/>
              </a:rPr>
              <a:t>Today temperatures are 1.21° over the average. </a:t>
            </a:r>
            <a:endParaRPr lang="en-US" sz="1800" b="1" i="1" dirty="0">
              <a:latin typeface="Open Sans Light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 2">
            <a:extLst>
              <a:ext uri="{FF2B5EF4-FFF2-40B4-BE49-F238E27FC236}">
                <a16:creationId xmlns:a16="http://schemas.microsoft.com/office/drawing/2014/main" id="{461F1149-F77B-56B2-FC66-852F5518EAF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25800" y="0"/>
            <a:ext cx="9144000" cy="6858000"/>
          </a:xfrm>
          <a:prstGeom prst="rect">
            <a:avLst/>
          </a:prstGeom>
        </p:spPr>
      </p:pic>
      <p:sp>
        <p:nvSpPr>
          <p:cNvPr id="5" name="ZoneTexte 4">
            <a:extLst>
              <a:ext uri="{FF2B5EF4-FFF2-40B4-BE49-F238E27FC236}">
                <a16:creationId xmlns:a16="http://schemas.microsoft.com/office/drawing/2014/main" id="{865170C3-D6C6-A335-ADB5-FEC7EBF07ACC}"/>
              </a:ext>
            </a:extLst>
          </p:cNvPr>
          <p:cNvSpPr txBox="1"/>
          <p:nvPr/>
        </p:nvSpPr>
        <p:spPr>
          <a:xfrm>
            <a:off x="0" y="239236"/>
            <a:ext cx="2971800" cy="41549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en-US" sz="2400" dirty="0">
                <a:solidFill>
                  <a:srgbClr val="202124"/>
                </a:solidFill>
                <a:latin typeface="Google Sans"/>
              </a:rPr>
              <a:t>2015 </a:t>
            </a:r>
            <a:r>
              <a:rPr lang="en-US" sz="2400" b="0" i="0" dirty="0">
                <a:solidFill>
                  <a:srgbClr val="202124"/>
                </a:solidFill>
                <a:effectLst/>
                <a:latin typeface="Google Sans"/>
              </a:rPr>
              <a:t>Paris Agreement</a:t>
            </a:r>
            <a:endParaRPr lang="en-US" sz="2400" b="0" i="0" dirty="0">
              <a:solidFill>
                <a:srgbClr val="202124"/>
              </a:solidFill>
              <a:effectLst/>
              <a:latin typeface="arial" panose="020B0604020202020204" pitchFamily="34" charset="0"/>
            </a:endParaRPr>
          </a:p>
          <a:p>
            <a:pPr algn="l"/>
            <a:r>
              <a:rPr lang="en-US" sz="2400" b="0" i="0" dirty="0">
                <a:solidFill>
                  <a:srgbClr val="4D5156"/>
                </a:solidFill>
                <a:effectLst/>
                <a:latin typeface="Google Sans"/>
              </a:rPr>
              <a:t>Its goal is to hold “the </a:t>
            </a:r>
            <a:r>
              <a:rPr lang="en-US" sz="2400" b="1" i="0" dirty="0">
                <a:solidFill>
                  <a:srgbClr val="FF0000"/>
                </a:solidFill>
                <a:effectLst/>
                <a:latin typeface="Google Sans"/>
              </a:rPr>
              <a:t>increase in the global average temperature</a:t>
            </a:r>
            <a:r>
              <a:rPr lang="en-US" sz="2400" b="0" i="0" dirty="0">
                <a:solidFill>
                  <a:srgbClr val="4D5156"/>
                </a:solidFill>
                <a:effectLst/>
                <a:latin typeface="Google Sans"/>
              </a:rPr>
              <a:t> below 2°C above pre-industrial levels” and pursue efforts “to limit the temperature increase to </a:t>
            </a:r>
            <a:r>
              <a:rPr lang="en-US" sz="2400" b="0" i="0" dirty="0">
                <a:solidFill>
                  <a:srgbClr val="040C28"/>
                </a:solidFill>
                <a:effectLst/>
                <a:latin typeface="Google Sans"/>
              </a:rPr>
              <a:t>1.5°C above pre-industrial levels</a:t>
            </a:r>
            <a:r>
              <a:rPr lang="en-US" sz="2400" b="0" i="0" dirty="0">
                <a:solidFill>
                  <a:srgbClr val="4D5156"/>
                </a:solidFill>
                <a:effectLst/>
                <a:latin typeface="Google Sans"/>
              </a:rPr>
              <a:t>.”</a:t>
            </a:r>
            <a:endParaRPr lang="en-US" sz="2400" b="0" i="0" dirty="0">
              <a:solidFill>
                <a:srgbClr val="202124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6" name="ZoneTexte 5">
            <a:extLst>
              <a:ext uri="{FF2B5EF4-FFF2-40B4-BE49-F238E27FC236}">
                <a16:creationId xmlns:a16="http://schemas.microsoft.com/office/drawing/2014/main" id="{71F8EB53-88A8-5B59-440A-DE992FB883DC}"/>
              </a:ext>
            </a:extLst>
          </p:cNvPr>
          <p:cNvSpPr txBox="1"/>
          <p:nvPr/>
        </p:nvSpPr>
        <p:spPr>
          <a:xfrm>
            <a:off x="101600" y="4394220"/>
            <a:ext cx="3124200" cy="163121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2800" b="1" dirty="0">
                <a:solidFill>
                  <a:srgbClr val="FF0000"/>
                </a:solidFill>
              </a:rPr>
              <a:t>Global </a:t>
            </a:r>
            <a:r>
              <a:rPr lang="fr-FR" sz="2800" b="1" dirty="0" err="1">
                <a:solidFill>
                  <a:srgbClr val="FF0000"/>
                </a:solidFill>
              </a:rPr>
              <a:t>Temperature</a:t>
            </a:r>
            <a:r>
              <a:rPr lang="fr-FR" sz="2800" b="1" dirty="0">
                <a:solidFill>
                  <a:srgbClr val="FF0000"/>
                </a:solidFill>
              </a:rPr>
              <a:t> </a:t>
            </a:r>
            <a:r>
              <a:rPr lang="fr-FR" sz="2800" b="1" dirty="0" err="1">
                <a:solidFill>
                  <a:srgbClr val="FF0000"/>
                </a:solidFill>
              </a:rPr>
              <a:t>since</a:t>
            </a:r>
            <a:r>
              <a:rPr lang="fr-FR" sz="2800" b="1" dirty="0">
                <a:solidFill>
                  <a:srgbClr val="FF0000"/>
                </a:solidFill>
              </a:rPr>
              <a:t> </a:t>
            </a:r>
            <a:r>
              <a:rPr lang="fr-FR" sz="2800" b="1" dirty="0" err="1">
                <a:solidFill>
                  <a:srgbClr val="FF0000"/>
                </a:solidFill>
              </a:rPr>
              <a:t>preindustrial</a:t>
            </a:r>
            <a:r>
              <a:rPr lang="fr-FR" sz="2800" b="1" dirty="0">
                <a:solidFill>
                  <a:srgbClr val="FF0000"/>
                </a:solidFill>
              </a:rPr>
              <a:t> </a:t>
            </a:r>
            <a:r>
              <a:rPr lang="fr-FR" sz="4400" b="1" dirty="0">
                <a:solidFill>
                  <a:srgbClr val="FF0000"/>
                </a:solidFill>
              </a:rPr>
              <a:t>+1.1%</a:t>
            </a:r>
            <a:endParaRPr lang="en-US" sz="2800" b="1" dirty="0">
              <a:solidFill>
                <a:srgbClr val="FF0000"/>
              </a:solidFill>
            </a:endParaRPr>
          </a:p>
        </p:txBody>
      </p:sp>
      <p:sp>
        <p:nvSpPr>
          <p:cNvPr id="9" name="ZoneTexte 8">
            <a:extLst>
              <a:ext uri="{FF2B5EF4-FFF2-40B4-BE49-F238E27FC236}">
                <a16:creationId xmlns:a16="http://schemas.microsoft.com/office/drawing/2014/main" id="{423684C9-184E-E03F-4B16-B42E71F6CBF0}"/>
              </a:ext>
            </a:extLst>
          </p:cNvPr>
          <p:cNvSpPr txBox="1"/>
          <p:nvPr/>
        </p:nvSpPr>
        <p:spPr>
          <a:xfrm>
            <a:off x="0" y="6137335"/>
            <a:ext cx="353060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b="1" dirty="0">
                <a:solidFill>
                  <a:srgbClr val="0070C0"/>
                </a:solidFill>
              </a:rPr>
              <a:t>https://climate.nasa.gov/</a:t>
            </a:r>
          </a:p>
        </p:txBody>
      </p:sp>
    </p:spTree>
    <p:extLst>
      <p:ext uri="{BB962C8B-B14F-4D97-AF65-F5344CB8AC3E}">
        <p14:creationId xmlns:p14="http://schemas.microsoft.com/office/powerpoint/2010/main" val="2294875700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New shape"/>
          <p:cNvSpPr/>
          <p:nvPr/>
        </p:nvSpPr>
        <p:spPr>
          <a:xfrm>
            <a:off x="10868400" y="6465600"/>
            <a:ext cx="752400" cy="154800"/>
          </a:xfrm>
          <a:prstGeom prst="rect">
            <a:avLst/>
          </a:prstGeom>
          <a:blipFill>
            <a:blip r:embed="rId2"/>
            <a:stretch>
              <a:fillRect/>
            </a:stretch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New shape"/>
          <p:cNvSpPr/>
          <p:nvPr/>
        </p:nvSpPr>
        <p:spPr>
          <a:xfrm>
            <a:off x="763200" y="6465600"/>
            <a:ext cx="219600" cy="399600"/>
          </a:xfrm>
          <a:prstGeom prst="rect">
            <a:avLst/>
          </a:prstGeom>
          <a:blipFill>
            <a:blip r:embed="rId3"/>
            <a:stretch>
              <a:fillRect/>
            </a:stretch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" name="New shape"/>
          <p:cNvSpPr/>
          <p:nvPr/>
        </p:nvSpPr>
        <p:spPr>
          <a:xfrm>
            <a:off x="676800" y="630000"/>
            <a:ext cx="10836000" cy="5868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90000" tIns="46800" rIns="90000" bIns="46800" rtlCol="0" anchor="b">
            <a:normAutofit fontScale="57500" lnSpcReduction="20000"/>
          </a:bodyPr>
          <a:lstStyle/>
          <a:p>
            <a:pPr algn="l">
              <a:lnSpc>
                <a:spcPct val="100000"/>
              </a:lnSpc>
              <a:spcAft>
                <a:spcPct val="20000"/>
              </a:spcAft>
            </a:pPr>
            <a:r>
              <a:rPr sz="3200">
                <a:solidFill>
                  <a:srgbClr val="0A85E6"/>
                </a:solidFill>
                <a:latin typeface="Open Sans Light"/>
              </a:rPr>
              <a:t>Carbon dioxide emissions from energy worldwide from 1965 to 2023, by region (in million metric tons of carbon dioxide)</a:t>
            </a:r>
          </a:p>
        </p:txBody>
      </p:sp>
      <p:sp>
        <p:nvSpPr>
          <p:cNvPr id="3" name="New shape"/>
          <p:cNvSpPr/>
          <p:nvPr/>
        </p:nvSpPr>
        <p:spPr>
          <a:xfrm>
            <a:off x="676800" y="1231200"/>
            <a:ext cx="10836000" cy="3276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90000" tIns="46800" rIns="90000" bIns="46800" rtlCol="0" anchor="t">
            <a:normAutofit lnSpcReduction="10000"/>
          </a:bodyPr>
          <a:lstStyle/>
          <a:p>
            <a:pPr algn="l">
              <a:lnSpc>
                <a:spcPct val="100000"/>
              </a:lnSpc>
              <a:spcAft>
                <a:spcPct val="20000"/>
              </a:spcAft>
            </a:pPr>
            <a:r>
              <a:rPr sz="1600">
                <a:solidFill>
                  <a:srgbClr val="919191"/>
                </a:solidFill>
                <a:latin typeface="Open Sans"/>
              </a:rPr>
              <a:t>Global carbon dioxide emissions from energy 1965-2023, by region</a:t>
            </a:r>
          </a:p>
        </p:txBody>
      </p:sp>
      <p:sp>
        <p:nvSpPr>
          <p:cNvPr id="4" name="New shape"/>
          <p:cNvSpPr/>
          <p:nvPr/>
        </p:nvSpPr>
        <p:spPr>
          <a:xfrm>
            <a:off x="1044000" y="5986800"/>
            <a:ext cx="8280000" cy="7380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90000" tIns="46800" rIns="90000" bIns="46800" rtlCol="0" anchor="b">
            <a:normAutofit/>
          </a:bodyPr>
          <a:lstStyle/>
          <a:p>
            <a:pPr algn="l">
              <a:lnSpc>
                <a:spcPct val="100000"/>
              </a:lnSpc>
              <a:spcAft>
                <a:spcPct val="20000"/>
              </a:spcAft>
            </a:pPr>
            <a:r>
              <a:rPr sz="800" b="1" dirty="0">
                <a:solidFill>
                  <a:srgbClr val="555555"/>
                </a:solidFill>
                <a:latin typeface="Open Sans"/>
              </a:rPr>
              <a:t>Note(s):</a:t>
            </a:r>
            <a:r>
              <a:rPr sz="800" dirty="0">
                <a:solidFill>
                  <a:srgbClr val="555555"/>
                </a:solidFill>
                <a:latin typeface="Open Sans"/>
              </a:rPr>
              <a:t> Worldwide; 1965 to 2023</a:t>
            </a:r>
          </a:p>
          <a:p>
            <a:pPr algn="l"/>
            <a:r>
              <a:rPr sz="800" dirty="0">
                <a:solidFill>
                  <a:srgbClr val="555555"/>
                </a:solidFill>
                <a:latin typeface="Open Sans"/>
              </a:rPr>
              <a:t>Further information regarding this statistic can be found on </a:t>
            </a:r>
            <a:r>
              <a:rPr sz="800" dirty="0">
                <a:solidFill>
                  <a:srgbClr val="555555"/>
                </a:solidFill>
                <a:latin typeface="Open Sans"/>
                <a:hlinkClick r:id="" action="ppaction://noaction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page 8</a:t>
            </a:r>
            <a:r>
              <a:rPr sz="800" dirty="0">
                <a:solidFill>
                  <a:srgbClr val="555555"/>
                </a:solidFill>
                <a:latin typeface="Open Sans"/>
              </a:rPr>
              <a:t>.</a:t>
            </a:r>
          </a:p>
          <a:p>
            <a:pPr algn="l"/>
            <a:r>
              <a:rPr sz="800" b="1" dirty="0">
                <a:solidFill>
                  <a:srgbClr val="555555"/>
                </a:solidFill>
                <a:latin typeface="Open Sans"/>
              </a:rPr>
              <a:t>Source(s): </a:t>
            </a:r>
            <a:r>
              <a:rPr sz="800" dirty="0">
                <a:solidFill>
                  <a:srgbClr val="555555"/>
                </a:solidFill>
                <a:latin typeface="Open Sans"/>
              </a:rPr>
              <a:t>Energy Institute; KPMG; Kearney; </a:t>
            </a:r>
            <a:r>
              <a:rPr sz="800" dirty="0">
                <a:solidFill>
                  <a:srgbClr val="555555"/>
                </a:solidFill>
                <a:latin typeface="Open Sans"/>
                <a:hlinkClick r:id="rId4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ID 205966</a:t>
            </a:r>
          </a:p>
        </p:txBody>
      </p:sp>
      <p:graphicFrame>
        <p:nvGraphicFramePr>
          <p:cNvPr id="5" name="ChartObject"/>
          <p:cNvGraphicFramePr/>
          <p:nvPr>
            <p:extLst>
              <p:ext uri="{D42A27DB-BD31-4B8C-83A1-F6EECF244321}">
                <p14:modId xmlns:p14="http://schemas.microsoft.com/office/powerpoint/2010/main" val="1532258153"/>
              </p:ext>
            </p:extLst>
          </p:nvPr>
        </p:nvGraphicFramePr>
        <p:xfrm>
          <a:off x="676800" y="1558800"/>
          <a:ext cx="10742400" cy="44280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5"/>
          </a:graphicData>
        </a:graphic>
      </p:graphicFrame>
      <p:sp>
        <p:nvSpPr>
          <p:cNvPr id="6" name="New shape"/>
          <p:cNvSpPr/>
          <p:nvPr/>
        </p:nvSpPr>
        <p:spPr>
          <a:xfrm>
            <a:off x="5108200" y="1784800"/>
            <a:ext cx="1879600" cy="2032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90170" tIns="46990" rIns="90170" bIns="46990" rtlCol="0" anchor="t"/>
          <a:lstStyle/>
          <a:p>
            <a:pPr algn="ctr">
              <a:spcAft>
                <a:spcPct val="20000"/>
              </a:spcAft>
            </a:pPr>
            <a:r>
              <a:rPr sz="1000" dirty="0">
                <a:solidFill>
                  <a:srgbClr val="0F283E"/>
                </a:solidFill>
                <a:latin typeface="Open Sans Light"/>
              </a:rPr>
              <a:t>Emissions in </a:t>
            </a:r>
            <a:r>
              <a:rPr sz="1000" dirty="0" err="1">
                <a:solidFill>
                  <a:srgbClr val="0F283E"/>
                </a:solidFill>
                <a:latin typeface="Open Sans Light"/>
              </a:rPr>
              <a:t>MtCO</a:t>
            </a:r>
            <a:r>
              <a:rPr sz="1000" dirty="0">
                <a:solidFill>
                  <a:srgbClr val="0F283E"/>
                </a:solidFill>
                <a:latin typeface="Open Sans Light"/>
              </a:rPr>
              <a:t>₂</a:t>
            </a:r>
          </a:p>
        </p:txBody>
      </p:sp>
      <p:sp>
        <p:nvSpPr>
          <p:cNvPr id="7" name="New shape"/>
          <p:cNvSpPr/>
          <p:nvPr/>
        </p:nvSpPr>
        <p:spPr>
          <a:xfrm>
            <a:off x="637200" y="6494400"/>
            <a:ext cx="457200" cy="2484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90000" tIns="46800" rIns="90000" bIns="46800" rtlCol="0" anchor="t"/>
          <a:lstStyle/>
          <a:p>
            <a:pPr algn="ctr">
              <a:spcAft>
                <a:spcPct val="20000"/>
              </a:spcAft>
            </a:pPr>
            <a:r>
              <a:rPr sz="1000">
                <a:solidFill>
                  <a:srgbClr val="FFFFFF"/>
                </a:solidFill>
                <a:latin typeface="Open Sans"/>
              </a:rPr>
              <a:t>4</a:t>
            </a:r>
          </a:p>
        </p:txBody>
      </p:sp>
      <p:sp>
        <p:nvSpPr>
          <p:cNvPr id="10" name="ZoneTexte 9">
            <a:extLst>
              <a:ext uri="{FF2B5EF4-FFF2-40B4-BE49-F238E27FC236}">
                <a16:creationId xmlns:a16="http://schemas.microsoft.com/office/drawing/2014/main" id="{40B5D2BF-7913-81F6-FE1D-D52DF04DDB4B}"/>
              </a:ext>
            </a:extLst>
          </p:cNvPr>
          <p:cNvSpPr txBox="1"/>
          <p:nvPr/>
        </p:nvSpPr>
        <p:spPr>
          <a:xfrm>
            <a:off x="5881907" y="2955202"/>
            <a:ext cx="50800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b="1" dirty="0" err="1"/>
              <a:t>Who</a:t>
            </a:r>
            <a:r>
              <a:rPr lang="fr-FR" b="1" dirty="0"/>
              <a:t> </a:t>
            </a:r>
            <a:r>
              <a:rPr lang="fr-FR" b="1" dirty="0" err="1"/>
              <a:t>is</a:t>
            </a:r>
            <a:r>
              <a:rPr lang="fr-FR" b="1" dirty="0"/>
              <a:t> </a:t>
            </a:r>
            <a:r>
              <a:rPr lang="fr-FR" b="1" dirty="0" err="1"/>
              <a:t>responsible</a:t>
            </a:r>
            <a:r>
              <a:rPr lang="fr-FR" b="1" dirty="0"/>
              <a:t>? </a:t>
            </a:r>
            <a:r>
              <a:rPr lang="fr-FR" b="1" dirty="0" err="1"/>
              <a:t>Who</a:t>
            </a:r>
            <a:r>
              <a:rPr lang="fr-FR" b="1" dirty="0"/>
              <a:t> </a:t>
            </a:r>
            <a:r>
              <a:rPr lang="fr-FR" b="1" dirty="0" err="1"/>
              <a:t>is</a:t>
            </a:r>
            <a:r>
              <a:rPr lang="fr-FR" b="1" dirty="0"/>
              <a:t> the </a:t>
            </a:r>
            <a:r>
              <a:rPr lang="fr-FR" b="1" dirty="0" err="1"/>
              <a:t>victim</a:t>
            </a:r>
            <a:r>
              <a:rPr lang="fr-FR" b="1" dirty="0"/>
              <a:t>?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New shape"/>
          <p:cNvSpPr/>
          <p:nvPr/>
        </p:nvSpPr>
        <p:spPr>
          <a:xfrm>
            <a:off x="500400" y="6228000"/>
            <a:ext cx="50400" cy="234000"/>
          </a:xfrm>
          <a:prstGeom prst="rect">
            <a:avLst/>
          </a:prstGeom>
          <a:blipFill>
            <a:blip r:embed="rId3"/>
            <a:stretch>
              <a:fillRect/>
            </a:stretch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2" name="New shape"/>
          <p:cNvSpPr/>
          <p:nvPr/>
        </p:nvSpPr>
        <p:spPr>
          <a:xfrm>
            <a:off x="10447200" y="6228000"/>
            <a:ext cx="1170000" cy="237600"/>
          </a:xfrm>
          <a:prstGeom prst="rect">
            <a:avLst/>
          </a:prstGeom>
          <a:blipFill>
            <a:blip r:embed="rId4"/>
            <a:stretch>
              <a:fillRect/>
            </a:stretch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1" name="New shape"/>
          <p:cNvSpPr/>
          <p:nvPr/>
        </p:nvSpPr>
        <p:spPr>
          <a:xfrm>
            <a:off x="-7200" y="-7200"/>
            <a:ext cx="12211200" cy="54000"/>
          </a:xfrm>
          <a:prstGeom prst="rect">
            <a:avLst/>
          </a:prstGeom>
          <a:blipFill>
            <a:blip r:embed="rId5"/>
            <a:stretch>
              <a:fillRect/>
            </a:stretch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graphicFrame>
        <p:nvGraphicFramePr>
          <p:cNvPr id="4" name="ChartObject"/>
          <p:cNvGraphicFramePr/>
          <p:nvPr>
            <p:extLst>
              <p:ext uri="{D42A27DB-BD31-4B8C-83A1-F6EECF244321}">
                <p14:modId xmlns:p14="http://schemas.microsoft.com/office/powerpoint/2010/main" val="1932684692"/>
              </p:ext>
            </p:extLst>
          </p:nvPr>
        </p:nvGraphicFramePr>
        <p:xfrm>
          <a:off x="302989" y="1061501"/>
          <a:ext cx="11562340" cy="5312875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6"/>
          </a:graphicData>
        </a:graphic>
      </p:graphicFrame>
      <p:sp>
        <p:nvSpPr>
          <p:cNvPr id="7" name="New shape"/>
          <p:cNvSpPr/>
          <p:nvPr/>
        </p:nvSpPr>
        <p:spPr>
          <a:xfrm>
            <a:off x="4920050" y="1882800"/>
            <a:ext cx="2349500" cy="2159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90170" tIns="46990" rIns="90170" bIns="46990" rtlCol="0" anchor="t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ct val="20000"/>
              </a:spcAft>
              <a:buClrTx/>
              <a:buSzTx/>
              <a:buFontTx/>
              <a:buNone/>
              <a:tabLst/>
              <a:defRPr/>
            </a:pPr>
            <a:r>
              <a:rPr kumimoji="0" sz="1100" b="0" i="0" u="none" strike="noStrike" kern="1200" cap="none" spc="0" normalizeH="0" baseline="0" noProof="0">
                <a:ln>
                  <a:noFill/>
                </a:ln>
                <a:solidFill>
                  <a:srgbClr val="0F2741"/>
                </a:solidFill>
                <a:effectLst/>
                <a:uLnTx/>
                <a:uFillTx/>
                <a:latin typeface="Open Sans"/>
                <a:ea typeface="+mn-ea"/>
                <a:cs typeface="+mn-cs"/>
              </a:rPr>
              <a:t>Share of CO₂ emissions</a:t>
            </a:r>
          </a:p>
        </p:txBody>
      </p:sp>
      <p:sp>
        <p:nvSpPr>
          <p:cNvPr id="6" name="New shape">
            <a:extLst>
              <a:ext uri="{FF2B5EF4-FFF2-40B4-BE49-F238E27FC236}">
                <a16:creationId xmlns:a16="http://schemas.microsoft.com/office/drawing/2014/main" id="{308B4528-232C-5A17-4A2E-72C52804E853}"/>
              </a:ext>
            </a:extLst>
          </p:cNvPr>
          <p:cNvSpPr/>
          <p:nvPr/>
        </p:nvSpPr>
        <p:spPr>
          <a:xfrm>
            <a:off x="683706" y="483623"/>
            <a:ext cx="11196000" cy="3132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90000" tIns="46800" rIns="90000" bIns="46800" rtlCol="0" anchor="t">
            <a:noAutofit/>
          </a:bodyPr>
          <a:lstStyle>
            <a:defPPr>
              <a:defRPr lang="fr-FR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ct val="20000"/>
              </a:spcAft>
              <a:buClrTx/>
              <a:buSzTx/>
              <a:buFontTx/>
              <a:buNone/>
              <a:tabLst/>
              <a:defRPr/>
            </a:pPr>
            <a:r>
              <a:rPr kumimoji="0" sz="2000" b="1" i="0" u="none" strike="noStrike" kern="1200" cap="none" spc="0" normalizeH="0" baseline="0" noProof="0">
                <a:ln>
                  <a:noFill/>
                </a:ln>
                <a:solidFill>
                  <a:srgbClr val="455F7C"/>
                </a:solidFill>
                <a:effectLst/>
                <a:uLnTx/>
                <a:uFillTx/>
                <a:latin typeface="Open Sans"/>
                <a:ea typeface="+mn-ea"/>
                <a:cs typeface="+mn-cs"/>
              </a:rPr>
              <a:t>Largest global emitters of carbon dioxide 2021, by country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New shape"/>
          <p:cNvSpPr/>
          <p:nvPr/>
        </p:nvSpPr>
        <p:spPr>
          <a:xfrm>
            <a:off x="500400" y="6228000"/>
            <a:ext cx="50400" cy="234000"/>
          </a:xfrm>
          <a:prstGeom prst="rect">
            <a:avLst/>
          </a:prstGeom>
          <a:blipFill>
            <a:blip r:embed="rId3"/>
            <a:stretch>
              <a:fillRect/>
            </a:stretch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9" name="New shape"/>
          <p:cNvSpPr/>
          <p:nvPr/>
        </p:nvSpPr>
        <p:spPr>
          <a:xfrm>
            <a:off x="10447200" y="6228000"/>
            <a:ext cx="1170000" cy="237600"/>
          </a:xfrm>
          <a:prstGeom prst="rect">
            <a:avLst/>
          </a:prstGeom>
          <a:blipFill>
            <a:blip r:embed="rId4"/>
            <a:stretch>
              <a:fillRect/>
            </a:stretch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8" name="New shape"/>
          <p:cNvSpPr/>
          <p:nvPr/>
        </p:nvSpPr>
        <p:spPr>
          <a:xfrm>
            <a:off x="-7200" y="-7200"/>
            <a:ext cx="12211200" cy="54000"/>
          </a:xfrm>
          <a:prstGeom prst="rect">
            <a:avLst/>
          </a:prstGeom>
          <a:blipFill>
            <a:blip r:embed="rId5"/>
            <a:stretch>
              <a:fillRect/>
            </a:stretch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" name="New shape"/>
          <p:cNvSpPr/>
          <p:nvPr/>
        </p:nvSpPr>
        <p:spPr>
          <a:xfrm>
            <a:off x="586800" y="6224400"/>
            <a:ext cx="9576000" cy="527538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90000" tIns="46800" rIns="90000" bIns="46800" rtlCol="0" anchor="t">
            <a:norm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600" b="1" i="0" u="none" strike="noStrike" kern="1200" cap="none" spc="0" normalizeH="0" baseline="0" noProof="0">
                <a:ln>
                  <a:noFill/>
                </a:ln>
                <a:solidFill>
                  <a:srgbClr val="0F2741"/>
                </a:solidFill>
                <a:effectLst/>
                <a:uLnTx/>
                <a:uFillTx/>
                <a:latin typeface="Open Sans"/>
                <a:ea typeface="+mn-ea"/>
                <a:cs typeface="+mn-cs"/>
              </a:rPr>
              <a:t>Description: </a:t>
            </a:r>
            <a:r>
              <a:rPr kumimoji="0" sz="600" b="0" i="0" u="none" strike="noStrike" kern="1200" cap="none" spc="0" normalizeH="0" baseline="0" noProof="0">
                <a:ln>
                  <a:noFill/>
                </a:ln>
                <a:solidFill>
                  <a:srgbClr val="0F2741"/>
                </a:solidFill>
                <a:effectLst/>
                <a:uLnTx/>
                <a:uFillTx/>
                <a:latin typeface="Open Sans"/>
                <a:ea typeface="+mn-ea"/>
                <a:cs typeface="+mn-cs"/>
              </a:rPr>
              <a:t>In 2022, the total new investment in renewable energy amounted to approximately 495 billion U.S. dollars worldwide. This was a 17 percent increase from the previous year. </a:t>
            </a:r>
            <a:r>
              <a:rPr kumimoji="0" sz="600" b="0" i="0" u="none" strike="noStrike" kern="1200" cap="none" spc="0" normalizeH="0" baseline="0" noProof="0">
                <a:ln>
                  <a:noFill/>
                </a:ln>
                <a:solidFill>
                  <a:srgbClr val="0F2741"/>
                </a:solidFill>
                <a:effectLst/>
                <a:uLnTx/>
                <a:uFillTx/>
                <a:latin typeface="Open Sans"/>
                <a:ea typeface="+mn-ea"/>
                <a:cs typeface="+mn-cs"/>
                <a:hlinkClick r:id="rId6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Read more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600" b="1" i="0" u="none" strike="noStrike" kern="1200" cap="none" spc="0" normalizeH="0" baseline="0" noProof="0">
                <a:ln>
                  <a:noFill/>
                </a:ln>
                <a:solidFill>
                  <a:srgbClr val="0F2741"/>
                </a:solidFill>
                <a:effectLst/>
                <a:uLnTx/>
                <a:uFillTx/>
                <a:latin typeface="Open Sans"/>
                <a:ea typeface="+mn-ea"/>
                <a:cs typeface="+mn-cs"/>
              </a:rPr>
              <a:t>Note(s): </a:t>
            </a:r>
            <a:r>
              <a:rPr kumimoji="0" sz="600" b="0" i="0" u="none" strike="noStrike" kern="1200" cap="none" spc="0" normalizeH="0" baseline="0" noProof="0">
                <a:ln>
                  <a:noFill/>
                </a:ln>
                <a:solidFill>
                  <a:srgbClr val="0F2741"/>
                </a:solidFill>
                <a:effectLst/>
                <a:uLnTx/>
                <a:uFillTx/>
                <a:latin typeface="Open Sans"/>
                <a:ea typeface="+mn-ea"/>
                <a:cs typeface="+mn-cs"/>
              </a:rPr>
              <a:t>Worldwide; 2004 to 2022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600" b="1" i="0" u="none" strike="noStrike" kern="1200" cap="none" spc="0" normalizeH="0" baseline="0" noProof="0">
                <a:ln>
                  <a:noFill/>
                </a:ln>
                <a:solidFill>
                  <a:srgbClr val="0F2741"/>
                </a:solidFill>
                <a:effectLst/>
                <a:uLnTx/>
                <a:uFillTx/>
                <a:latin typeface="Open Sans"/>
                <a:ea typeface="+mn-ea"/>
                <a:cs typeface="+mn-cs"/>
              </a:rPr>
              <a:t>Source(s): </a:t>
            </a:r>
            <a:r>
              <a:rPr kumimoji="0" sz="600" b="0" i="0" u="none" strike="noStrike" kern="1200" cap="none" spc="0" normalizeH="0" baseline="0" noProof="0">
                <a:ln>
                  <a:noFill/>
                </a:ln>
                <a:solidFill>
                  <a:srgbClr val="0F2741"/>
                </a:solidFill>
                <a:effectLst/>
                <a:uLnTx/>
                <a:uFillTx/>
                <a:latin typeface="Open Sans"/>
                <a:ea typeface="+mn-ea"/>
                <a:cs typeface="+mn-cs"/>
              </a:rPr>
              <a:t>BloombergNEF </a:t>
            </a:r>
          </a:p>
        </p:txBody>
      </p:sp>
      <p:sp>
        <p:nvSpPr>
          <p:cNvPr id="3" name="New shape"/>
          <p:cNvSpPr/>
          <p:nvPr/>
        </p:nvSpPr>
        <p:spPr>
          <a:xfrm>
            <a:off x="885600" y="6220800"/>
            <a:ext cx="8035199" cy="2808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90000" tIns="46800" rIns="90000" bIns="46800" rtlCol="0" anchor="t">
            <a:norm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ct val="20000"/>
              </a:spcAft>
              <a:buClrTx/>
              <a:buSzTx/>
              <a:buFontTx/>
              <a:buNone/>
              <a:tabLst/>
              <a:defRPr/>
            </a:pPr>
            <a:endParaRPr kumimoji="0" sz="600" b="0" i="0" u="none" strike="noStrike" kern="1200" cap="none" spc="0" normalizeH="0" baseline="0" noProof="0">
              <a:ln>
                <a:noFill/>
              </a:ln>
              <a:solidFill>
                <a:srgbClr val="455F7C"/>
              </a:solidFill>
              <a:effectLst/>
              <a:uLnTx/>
              <a:uFillTx/>
              <a:latin typeface="Open Sans"/>
              <a:ea typeface="+mn-ea"/>
              <a:cs typeface="+mn-cs"/>
            </a:endParaRPr>
          </a:p>
        </p:txBody>
      </p:sp>
      <p:graphicFrame>
        <p:nvGraphicFramePr>
          <p:cNvPr id="4" name="ChartObject"/>
          <p:cNvGraphicFramePr/>
          <p:nvPr>
            <p:extLst>
              <p:ext uri="{D42A27DB-BD31-4B8C-83A1-F6EECF244321}">
                <p14:modId xmlns:p14="http://schemas.microsoft.com/office/powerpoint/2010/main" val="3580280466"/>
              </p:ext>
            </p:extLst>
          </p:nvPr>
        </p:nvGraphicFramePr>
        <p:xfrm>
          <a:off x="525600" y="1819125"/>
          <a:ext cx="11016000" cy="414855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7"/>
          </a:graphicData>
        </a:graphic>
      </p:graphicFrame>
      <p:sp>
        <p:nvSpPr>
          <p:cNvPr id="6" name="New shape"/>
          <p:cNvSpPr/>
          <p:nvPr/>
        </p:nvSpPr>
        <p:spPr>
          <a:xfrm>
            <a:off x="496800" y="424800"/>
            <a:ext cx="11196000" cy="7848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90000" tIns="46800" rIns="90000" bIns="46800" rtlCol="0" anchor="b">
            <a:normAutofit lnSpcReduction="10000"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ct val="20000"/>
              </a:spcAft>
              <a:buClrTx/>
              <a:buSzTx/>
              <a:buFontTx/>
              <a:buNone/>
              <a:tabLst/>
              <a:defRPr/>
            </a:pPr>
            <a:r>
              <a:rPr kumimoji="0" sz="2500" b="0" i="0" u="none" strike="noStrike" kern="1200" cap="none" spc="0" normalizeH="0" baseline="0" noProof="0">
                <a:ln>
                  <a:noFill/>
                </a:ln>
                <a:solidFill>
                  <a:srgbClr val="0F2741"/>
                </a:solidFill>
                <a:effectLst/>
                <a:uLnTx/>
                <a:uFillTx/>
                <a:latin typeface="Open Sans Light"/>
                <a:ea typeface="+mn-ea"/>
                <a:cs typeface="+mn-cs"/>
              </a:rPr>
              <a:t>New investment in renewable energy worldwide from 2004 to </a:t>
            </a:r>
            <a:r>
              <a:rPr lang="fr-FR" sz="2500">
                <a:solidFill>
                  <a:srgbClr val="0F2741"/>
                </a:solidFill>
                <a:latin typeface="Open Sans Light"/>
              </a:rPr>
              <a:t>2023</a:t>
            </a:r>
            <a:r>
              <a:rPr kumimoji="0" sz="2500" b="0" i="0" u="none" strike="noStrike" kern="1200" cap="none" spc="0" normalizeH="0" baseline="0" noProof="0">
                <a:ln>
                  <a:noFill/>
                </a:ln>
                <a:solidFill>
                  <a:srgbClr val="0F2741"/>
                </a:solidFill>
                <a:effectLst/>
                <a:uLnTx/>
                <a:uFillTx/>
                <a:latin typeface="Open Sans Light"/>
                <a:ea typeface="+mn-ea"/>
                <a:cs typeface="+mn-cs"/>
              </a:rPr>
              <a:t> (in billion </a:t>
            </a:r>
            <a:r>
              <a:rPr kumimoji="0" sz="2500" b="0" i="0" u="none" strike="noStrike" kern="1200" cap="none" spc="0" normalizeH="0" baseline="0" noProof="0" dirty="0">
                <a:ln>
                  <a:noFill/>
                </a:ln>
                <a:solidFill>
                  <a:srgbClr val="0F2741"/>
                </a:solidFill>
                <a:effectLst/>
                <a:uLnTx/>
                <a:uFillTx/>
                <a:latin typeface="Open Sans Light"/>
                <a:ea typeface="+mn-ea"/>
                <a:cs typeface="+mn-cs"/>
              </a:rPr>
              <a:t>U.S. dollars)</a:t>
            </a:r>
          </a:p>
        </p:txBody>
      </p:sp>
      <p:sp>
        <p:nvSpPr>
          <p:cNvPr id="7" name="New shape"/>
          <p:cNvSpPr/>
          <p:nvPr/>
        </p:nvSpPr>
        <p:spPr>
          <a:xfrm>
            <a:off x="496800" y="1260000"/>
            <a:ext cx="11196000" cy="3132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90000" tIns="46800" rIns="90000" bIns="46800" rtlCol="0" anchor="t">
            <a:norm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ct val="20000"/>
              </a:spcAft>
              <a:buClrTx/>
              <a:buSzTx/>
              <a:buFontTx/>
              <a:buNone/>
              <a:tabLst/>
              <a:defRPr/>
            </a:pPr>
            <a:r>
              <a:rPr kumimoji="0" sz="1100" b="0" i="0" u="none" strike="noStrike" kern="1200" cap="none" spc="0" normalizeH="0" baseline="0" noProof="0" dirty="0">
                <a:ln>
                  <a:noFill/>
                </a:ln>
                <a:solidFill>
                  <a:srgbClr val="455F7C"/>
                </a:solidFill>
                <a:effectLst/>
                <a:uLnTx/>
                <a:uFillTx/>
                <a:latin typeface="Open Sans"/>
                <a:ea typeface="+mn-ea"/>
                <a:cs typeface="+mn-cs"/>
              </a:rPr>
              <a:t>Worldwide investment in renewable energy 2004-2022</a:t>
            </a:r>
          </a:p>
        </p:txBody>
      </p:sp>
      <p:sp>
        <p:nvSpPr>
          <p:cNvPr id="11" name="ZoneTexte 10">
            <a:extLst>
              <a:ext uri="{FF2B5EF4-FFF2-40B4-BE49-F238E27FC236}">
                <a16:creationId xmlns:a16="http://schemas.microsoft.com/office/drawing/2014/main" id="{330AD212-25FA-BA2C-6587-37FD2D1B3E84}"/>
              </a:ext>
            </a:extLst>
          </p:cNvPr>
          <p:cNvSpPr txBox="1"/>
          <p:nvPr/>
        </p:nvSpPr>
        <p:spPr>
          <a:xfrm>
            <a:off x="1923068" y="1980865"/>
            <a:ext cx="8163612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8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Reminder</a:t>
            </a:r>
            <a:r>
              <a:rPr kumimoji="0" lang="fr-FR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: </a:t>
            </a:r>
            <a:r>
              <a:rPr kumimoji="0" lang="fr-FR" sz="1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Global Energy Investment </a:t>
            </a:r>
            <a:r>
              <a:rPr kumimoji="0" lang="fr-FR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in 2023  </a:t>
            </a:r>
            <a:r>
              <a:rPr kumimoji="0" lang="fr-FR" sz="18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is</a:t>
            </a:r>
            <a:r>
              <a:rPr kumimoji="0" lang="fr-FR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 $</a:t>
            </a:r>
            <a:r>
              <a:rPr lang="fr-FR" dirty="0">
                <a:solidFill>
                  <a:prstClr val="black"/>
                </a:solidFill>
                <a:latin typeface="Calibri" panose="020F0502020204030204"/>
              </a:rPr>
              <a:t>20</a:t>
            </a:r>
            <a:r>
              <a:rPr kumimoji="0" lang="fr-FR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00 bi. 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fr-FR" dirty="0">
              <a:solidFill>
                <a:prstClr val="black"/>
              </a:solidFill>
              <a:latin typeface="Calibri" panose="020F0502020204030204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fr-FR" b="1" dirty="0">
                <a:solidFill>
                  <a:prstClr val="black"/>
                </a:solidFill>
                <a:latin typeface="Calibri" panose="020F0502020204030204"/>
              </a:rPr>
              <a:t>R</a:t>
            </a:r>
            <a:r>
              <a:rPr kumimoji="0" lang="fr-FR" sz="1800" b="1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enewable</a:t>
            </a:r>
            <a:r>
              <a:rPr kumimoji="0" lang="fr-FR" sz="1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 </a:t>
            </a:r>
            <a:r>
              <a:rPr kumimoji="0" lang="fr-FR" sz="1800" b="1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energy</a:t>
            </a:r>
            <a:r>
              <a:rPr kumimoji="0" lang="fr-FR" sz="1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 </a:t>
            </a:r>
            <a:r>
              <a:rPr kumimoji="0" lang="fr-FR" sz="18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investment</a:t>
            </a:r>
            <a:r>
              <a:rPr kumimoji="0" lang="fr-FR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 </a:t>
            </a:r>
            <a:r>
              <a:rPr kumimoji="0" lang="fr-FR" sz="18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represents</a:t>
            </a:r>
            <a:r>
              <a:rPr kumimoji="0" lang="fr-FR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 </a:t>
            </a:r>
            <a:r>
              <a:rPr kumimoji="0" lang="fr-FR" sz="18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only</a:t>
            </a:r>
            <a:r>
              <a:rPr kumimoji="0" lang="fr-FR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 </a:t>
            </a:r>
            <a:r>
              <a:rPr lang="fr-FR" dirty="0">
                <a:solidFill>
                  <a:prstClr val="black"/>
                </a:solidFill>
                <a:latin typeface="Calibri" panose="020F0502020204030204"/>
              </a:rPr>
              <a:t>30</a:t>
            </a:r>
            <a:r>
              <a:rPr kumimoji="0" lang="fr-FR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% of Total Energy Investment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ZoneTexte 1">
            <a:extLst>
              <a:ext uri="{FF2B5EF4-FFF2-40B4-BE49-F238E27FC236}">
                <a16:creationId xmlns:a16="http://schemas.microsoft.com/office/drawing/2014/main" id="{8EB25DDF-396C-9532-6B29-9575C067DE9E}"/>
              </a:ext>
            </a:extLst>
          </p:cNvPr>
          <p:cNvSpPr txBox="1"/>
          <p:nvPr/>
        </p:nvSpPr>
        <p:spPr>
          <a:xfrm>
            <a:off x="3390900" y="695960"/>
            <a:ext cx="5100320" cy="584775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3200" b="1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WORKGROUP </a:t>
            </a:r>
            <a:r>
              <a:rPr lang="fr-FR" sz="3200" b="1">
                <a:solidFill>
                  <a:prstClr val="black"/>
                </a:solidFill>
                <a:latin typeface="Calibri" panose="020F0502020204030204"/>
              </a:rPr>
              <a:t>EXPERIENCES</a:t>
            </a:r>
            <a:endParaRPr kumimoji="0" lang="fr-FR" sz="32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" name="ZoneTexte 2">
            <a:extLst>
              <a:ext uri="{FF2B5EF4-FFF2-40B4-BE49-F238E27FC236}">
                <a16:creationId xmlns:a16="http://schemas.microsoft.com/office/drawing/2014/main" id="{BAC668DF-9057-7AE8-08EA-C168F9F9022D}"/>
              </a:ext>
            </a:extLst>
          </p:cNvPr>
          <p:cNvSpPr txBox="1"/>
          <p:nvPr/>
        </p:nvSpPr>
        <p:spPr>
          <a:xfrm>
            <a:off x="1117600" y="1869440"/>
            <a:ext cx="8625840" cy="1200329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2400">
                <a:solidFill>
                  <a:prstClr val="black"/>
                </a:solidFill>
                <a:latin typeface="Calibri" panose="020F0502020204030204"/>
              </a:rPr>
              <a:t>Experience</a:t>
            </a:r>
            <a:r>
              <a:rPr kumimoji="0" lang="en-US" sz="24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 1: using exemplary behavior to reduce global warming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2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>
              <a:defRPr/>
            </a:pPr>
            <a:r>
              <a:rPr lang="en-US" sz="2400">
                <a:solidFill>
                  <a:prstClr val="black"/>
                </a:solidFill>
                <a:latin typeface="Calibri" panose="020F0502020204030204"/>
              </a:rPr>
              <a:t>Experience 2</a:t>
            </a:r>
            <a:r>
              <a:rPr kumimoji="0" lang="en-US" sz="24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: Using Bad Behavior to Increase GW</a:t>
            </a:r>
            <a:endParaRPr kumimoji="0" lang="fr-FR" sz="24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5" name="ZoneTexte 4">
            <a:extLst>
              <a:ext uri="{FF2B5EF4-FFF2-40B4-BE49-F238E27FC236}">
                <a16:creationId xmlns:a16="http://schemas.microsoft.com/office/drawing/2014/main" id="{AB9C06FA-11B2-63CF-AC3B-8A674DDCDD4C}"/>
              </a:ext>
            </a:extLst>
          </p:cNvPr>
          <p:cNvSpPr txBox="1"/>
          <p:nvPr/>
        </p:nvSpPr>
        <p:spPr>
          <a:xfrm>
            <a:off x="1676400" y="3771037"/>
            <a:ext cx="6096000" cy="1477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Lucida Grande"/>
                <a:ea typeface="+mn-ea"/>
                <a:cs typeface="+mn-cs"/>
              </a:rPr>
              <a:t>Two tools for applications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Lucida Grande"/>
              <a:ea typeface="+mn-ea"/>
              <a:cs typeface="+mn-cs"/>
            </a:endParaRPr>
          </a:p>
          <a:p>
            <a:pPr marL="285750" marR="0" lvl="0" indent="-2857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1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Lucida Grande"/>
                <a:ea typeface="+mn-ea"/>
                <a:cs typeface="+mn-cs"/>
              </a:rPr>
              <a:t>EN-ROADS </a:t>
            </a:r>
          </a:p>
          <a:p>
            <a:pPr marL="285750" marR="0" lvl="0" indent="-2857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endParaRPr kumimoji="0" lang="en-US" sz="18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Lucida Grande"/>
              <a:ea typeface="+mn-ea"/>
              <a:cs typeface="+mn-cs"/>
            </a:endParaRPr>
          </a:p>
          <a:p>
            <a:pPr marL="285750" marR="0" lvl="0" indent="-2857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1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Lucida Grande"/>
                <a:ea typeface="+mn-ea"/>
                <a:cs typeface="+mn-cs"/>
              </a:rPr>
              <a:t>THE GLOBAL CALCULATOR</a:t>
            </a:r>
            <a:endParaRPr kumimoji="0" lang="fr-FR" sz="18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309088529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F525D399-5E3D-8639-931E-4726567CD70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fr-FR" dirty="0"/>
              <a:t>EN-ROADS: a « </a:t>
            </a:r>
            <a:r>
              <a:rPr lang="fr-FR" dirty="0" err="1"/>
              <a:t>magic</a:t>
            </a:r>
            <a:r>
              <a:rPr lang="fr-FR" dirty="0"/>
              <a:t> » </a:t>
            </a:r>
            <a:r>
              <a:rPr lang="fr-FR" dirty="0" err="1"/>
              <a:t>climate</a:t>
            </a:r>
            <a:r>
              <a:rPr lang="fr-FR" dirty="0"/>
              <a:t> simulator!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85D8D5A4-3862-44B9-796D-23913A470B9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4" y="2061470"/>
            <a:ext cx="11079475" cy="4603490"/>
          </a:xfrm>
        </p:spPr>
        <p:txBody>
          <a:bodyPr>
            <a:normAutofit fontScale="92500" lnSpcReduction="10000"/>
          </a:bodyPr>
          <a:lstStyle/>
          <a:p>
            <a:pPr marL="0" indent="0" algn="ctr">
              <a:buNone/>
            </a:pPr>
            <a:r>
              <a:rPr lang="en-US" sz="2400" b="1" dirty="0"/>
              <a:t>En-ROADS</a:t>
            </a:r>
            <a:r>
              <a:rPr lang="en-US" sz="2400" dirty="0"/>
              <a:t> is a global climate simulator</a:t>
            </a:r>
          </a:p>
          <a:p>
            <a:r>
              <a:rPr lang="en-US" sz="2400" dirty="0"/>
              <a:t>Allows users to explore the impact of dozens of policies, such a:</a:t>
            </a:r>
          </a:p>
          <a:p>
            <a:pPr>
              <a:buFontTx/>
              <a:buChar char="-"/>
            </a:pPr>
            <a:r>
              <a:rPr lang="en-US" sz="2400" dirty="0">
                <a:solidFill>
                  <a:srgbClr val="00B050"/>
                </a:solidFill>
              </a:rPr>
              <a:t>transportation electrification, </a:t>
            </a:r>
          </a:p>
          <a:p>
            <a:pPr>
              <a:buFontTx/>
              <a:buChar char="-"/>
            </a:pPr>
            <a:r>
              <a:rPr lang="en-US" sz="2400" dirty="0">
                <a:solidFill>
                  <a:srgbClr val="00B050"/>
                </a:solidFill>
              </a:rPr>
              <a:t>carbon pricing, </a:t>
            </a:r>
          </a:p>
          <a:p>
            <a:pPr>
              <a:buFontTx/>
              <a:buChar char="-"/>
            </a:pPr>
            <a:r>
              <a:rPr lang="en-US" sz="2400" dirty="0">
                <a:solidFill>
                  <a:srgbClr val="00B050"/>
                </a:solidFill>
              </a:rPr>
              <a:t>agricultural practices</a:t>
            </a:r>
          </a:p>
          <a:p>
            <a:r>
              <a:rPr lang="en-US" sz="2400" dirty="0"/>
              <a:t>Affects hundreds of factors such as </a:t>
            </a:r>
          </a:p>
          <a:p>
            <a:pPr>
              <a:buFontTx/>
              <a:buChar char="-"/>
            </a:pPr>
            <a:r>
              <a:rPr lang="en-US" sz="2400" dirty="0">
                <a:solidFill>
                  <a:srgbClr val="00B050"/>
                </a:solidFill>
              </a:rPr>
              <a:t>energy prices, </a:t>
            </a:r>
          </a:p>
          <a:p>
            <a:pPr>
              <a:buFontTx/>
              <a:buChar char="-"/>
            </a:pPr>
            <a:r>
              <a:rPr lang="en-US" sz="2400" dirty="0">
                <a:solidFill>
                  <a:srgbClr val="00B050"/>
                </a:solidFill>
              </a:rPr>
              <a:t>temperature, </a:t>
            </a:r>
          </a:p>
          <a:p>
            <a:pPr>
              <a:buFontTx/>
              <a:buChar char="-"/>
            </a:pPr>
            <a:r>
              <a:rPr lang="en-US" sz="2400" dirty="0">
                <a:solidFill>
                  <a:srgbClr val="00B050"/>
                </a:solidFill>
              </a:rPr>
              <a:t>air quality </a:t>
            </a:r>
          </a:p>
          <a:p>
            <a:pPr>
              <a:buFontTx/>
              <a:buChar char="-"/>
            </a:pPr>
            <a:r>
              <a:rPr lang="en-US" sz="2400" dirty="0">
                <a:solidFill>
                  <a:srgbClr val="00B050"/>
                </a:solidFill>
              </a:rPr>
              <a:t>sea level rise.</a:t>
            </a:r>
            <a:endParaRPr lang="fr-FR" sz="2400" dirty="0">
              <a:solidFill>
                <a:srgbClr val="00B050"/>
              </a:solidFill>
            </a:endParaRPr>
          </a:p>
        </p:txBody>
      </p:sp>
      <p:sp>
        <p:nvSpPr>
          <p:cNvPr id="5" name="ZoneTexte 4">
            <a:extLst>
              <a:ext uri="{FF2B5EF4-FFF2-40B4-BE49-F238E27FC236}">
                <a16:creationId xmlns:a16="http://schemas.microsoft.com/office/drawing/2014/main" id="{A781872F-F6FC-BEEC-D96C-14F272029B33}"/>
              </a:ext>
            </a:extLst>
          </p:cNvPr>
          <p:cNvSpPr txBox="1"/>
          <p:nvPr/>
        </p:nvSpPr>
        <p:spPr>
          <a:xfrm>
            <a:off x="3566160" y="5137835"/>
            <a:ext cx="8046720" cy="10156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20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ENJOY YOUR SIMULATIONS !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fr-FR" sz="20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2000" b="1" i="0" u="none" strike="noStrike" kern="1200" cap="none" spc="0" normalizeH="0" baseline="0" noProof="0" dirty="0">
                <a:ln>
                  <a:noFill/>
                </a:ln>
                <a:solidFill>
                  <a:srgbClr val="0070C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  <a:hlinkClick r:id="rId2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https://en-roads.climateinteractive.org/scenario.html?v=23.2.1&amp;p39=64</a:t>
            </a:r>
            <a:r>
              <a:rPr kumimoji="0" lang="fr-FR" sz="2000" b="1" i="0" u="none" strike="noStrike" kern="1200" cap="none" spc="0" normalizeH="0" baseline="0" noProof="0" dirty="0">
                <a:ln>
                  <a:noFill/>
                </a:ln>
                <a:solidFill>
                  <a:srgbClr val="0070C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2930754858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ZoneTexte 1">
            <a:extLst>
              <a:ext uri="{FF2B5EF4-FFF2-40B4-BE49-F238E27FC236}">
                <a16:creationId xmlns:a16="http://schemas.microsoft.com/office/drawing/2014/main" id="{A4A172D0-C48B-E0E7-2973-706E49DE8676}"/>
              </a:ext>
            </a:extLst>
          </p:cNvPr>
          <p:cNvSpPr txBox="1"/>
          <p:nvPr/>
        </p:nvSpPr>
        <p:spPr>
          <a:xfrm>
            <a:off x="83344" y="333375"/>
            <a:ext cx="12013405" cy="6278642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ctr"/>
            <a:r>
              <a:rPr lang="en-US" sz="2400" b="1" dirty="0" err="1"/>
              <a:t>Exercice</a:t>
            </a:r>
            <a:r>
              <a:rPr lang="en-US" sz="2400" b="1" dirty="0"/>
              <a:t> structure (30 Minutes)</a:t>
            </a:r>
            <a:endParaRPr lang="fr-FR" sz="2000" dirty="0">
              <a:ea typeface="Calibri" panose="020F0502020204030204"/>
              <a:cs typeface="Calibri" panose="020F0502020204030204"/>
            </a:endParaRPr>
          </a:p>
          <a:p>
            <a:r>
              <a:rPr lang="en-US" b="1"/>
              <a:t>1. Briefing: The Challenge (3 minutes)</a:t>
            </a:r>
          </a:p>
          <a:p>
            <a:pPr marL="228600" indent="-228600">
              <a:buFont typeface=""/>
              <a:buChar char="•"/>
            </a:pPr>
            <a:r>
              <a:rPr lang="en-US" b="1"/>
              <a:t>Context:</a:t>
            </a:r>
            <a:r>
              <a:rPr lang="en-US"/>
              <a:t> Students are advisors to a global transition committee. The world in 2050 faces a choice: population growth vs. resource limits.</a:t>
            </a:r>
          </a:p>
          <a:p>
            <a:pPr marL="228600" indent="-228600">
              <a:buFont typeface=""/>
              <a:buChar char="•"/>
            </a:pPr>
            <a:r>
              <a:rPr lang="en-US" b="1" dirty="0"/>
              <a:t>The Task:</a:t>
            </a:r>
            <a:r>
              <a:rPr lang="en-US" dirty="0"/>
              <a:t> They must modify the structural drivers (Population, Diet, Energy Mix, and Industry) to reach a "sustainable" outcome in the dashboard before 2050.</a:t>
            </a:r>
          </a:p>
          <a:p>
            <a:r>
              <a:rPr lang="en-US" b="1"/>
              <a:t>2. Simulation &amp; Trade-off Workshop (12 minutes)</a:t>
            </a:r>
          </a:p>
          <a:p>
            <a:pPr marL="228600" indent="-228600">
              <a:buFont typeface=""/>
              <a:buChar char="•"/>
            </a:pPr>
            <a:r>
              <a:rPr lang="en-US"/>
              <a:t>Divide the class into 3 "Ministry" groups:</a:t>
            </a:r>
          </a:p>
          <a:p>
            <a:pPr marL="228600" lvl="1" indent="-228600">
              <a:buFont typeface=""/>
              <a:buChar char="•"/>
            </a:pPr>
            <a:r>
              <a:rPr lang="en-US" b="1"/>
              <a:t>Ministry of Agriculture:</a:t>
            </a:r>
            <a:r>
              <a:rPr lang="en-US"/>
              <a:t> Focus on levers for "Diet," "Crop Yields," and "Land Use." (How do we feed 9 billion people without further deforestation?)</a:t>
            </a:r>
          </a:p>
          <a:p>
            <a:pPr marL="228600" lvl="1" indent="-228600">
              <a:buFont typeface=""/>
              <a:buChar char="•"/>
            </a:pPr>
            <a:r>
              <a:rPr lang="en-US" b="1" dirty="0"/>
              <a:t>Ministry of Energy &amp; Transport:</a:t>
            </a:r>
            <a:r>
              <a:rPr lang="en-US" dirty="0"/>
              <a:t> Focus on "Energy Supply," "Transport," and "Industry." (How do we electrify everything while maintaining grid stability?)</a:t>
            </a:r>
          </a:p>
          <a:p>
            <a:pPr marL="228600" lvl="1" indent="-228600">
              <a:buFont typeface=""/>
              <a:buChar char="•"/>
            </a:pPr>
            <a:r>
              <a:rPr lang="en-US" b="1" dirty="0"/>
              <a:t>Ministry of Economy &amp; Infrastructure:</a:t>
            </a:r>
            <a:r>
              <a:rPr lang="en-US" dirty="0"/>
              <a:t> Focus on "Efficiency," "Building standards," and "Lifestyle." (Can we maintain comfort with less consumption?)</a:t>
            </a:r>
          </a:p>
          <a:p>
            <a:pPr marL="228600" indent="-228600">
              <a:buFont typeface=""/>
              <a:buChar char="•"/>
            </a:pPr>
            <a:r>
              <a:rPr lang="en-US" b="1"/>
              <a:t>Process:</a:t>
            </a:r>
            <a:r>
              <a:rPr lang="en-US"/>
              <a:t> Each ministry has 4 minutes to propose a "package of measures" (e.g., increasing plant-based diets + doubling crop yields). You implement these in the Global Calculator and show the resulting energy gap or emissions.</a:t>
            </a:r>
          </a:p>
          <a:p>
            <a:r>
              <a:rPr lang="en-US" b="1"/>
              <a:t>3. Debriefing: The Reality Check (10 minutes)</a:t>
            </a:r>
          </a:p>
          <a:p>
            <a:pPr marL="228600" indent="-228600">
              <a:buFont typeface=""/>
              <a:buChar char="•"/>
            </a:pPr>
            <a:r>
              <a:rPr lang="en-US"/>
              <a:t>Highlight the </a:t>
            </a:r>
            <a:r>
              <a:rPr lang="en-US" b="1"/>
              <a:t>"Impossible Trinities"</a:t>
            </a:r>
            <a:r>
              <a:rPr lang="en-US"/>
              <a:t> that appeared:</a:t>
            </a:r>
          </a:p>
          <a:p>
            <a:pPr marL="228600" lvl="1" indent="-228600">
              <a:buFont typeface=""/>
              <a:buChar char="•"/>
            </a:pPr>
            <a:r>
              <a:rPr lang="en-US" i="1"/>
              <a:t>Example:</a:t>
            </a:r>
            <a:r>
              <a:rPr lang="en-US"/>
              <a:t> If they increased renewables (Energy Supply) but kept current diets (Land Use), did they run out of available land for energy production?</a:t>
            </a:r>
          </a:p>
          <a:p>
            <a:pPr marL="228600" lvl="1" indent="-228600">
              <a:buFont typeface=""/>
              <a:buChar char="•"/>
            </a:pPr>
            <a:r>
              <a:rPr lang="en-US" i="1"/>
              <a:t>Example:</a:t>
            </a:r>
            <a:r>
              <a:rPr lang="en-US"/>
              <a:t> Did increased efficiency in industry offset the energy demand of a growing population?</a:t>
            </a:r>
          </a:p>
          <a:p>
            <a:pPr algn="ctr"/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4224150104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ZoneTexte 3">
            <a:extLst>
              <a:ext uri="{FF2B5EF4-FFF2-40B4-BE49-F238E27FC236}">
                <a16:creationId xmlns:a16="http://schemas.microsoft.com/office/drawing/2014/main" id="{1338524C-678B-A538-7894-F06F09F96E1F}"/>
              </a:ext>
            </a:extLst>
          </p:cNvPr>
          <p:cNvSpPr txBox="1"/>
          <p:nvPr/>
        </p:nvSpPr>
        <p:spPr>
          <a:xfrm>
            <a:off x="173183" y="150091"/>
            <a:ext cx="11845635" cy="6894195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ctr"/>
            <a:r>
              <a:rPr lang="en-US" sz="1700" b="1"/>
              <a:t>Your mission: The 2050 Neutrality Summit</a:t>
            </a:r>
            <a:endParaRPr lang="fr-FR"/>
          </a:p>
          <a:p>
            <a:r>
              <a:rPr lang="en-US" sz="1700" b="1"/>
              <a:t>Objective:</a:t>
            </a:r>
            <a:r>
              <a:rPr lang="en-US" sz="1700"/>
              <a:t> To design a policy pathway that limits global warming to 2.0°C or below by 2100, while navigating the complex trade-offs between economic performance, social equity, and technological capability.</a:t>
            </a:r>
          </a:p>
          <a:p>
            <a:r>
              <a:rPr lang="en-US" sz="1700" b="1"/>
              <a:t>1. Stakeholder Roles – 5 min</a:t>
            </a:r>
          </a:p>
          <a:p>
            <a:r>
              <a:rPr lang="en-US" sz="1700" dirty="0"/>
              <a:t>Split in 4 groups. Each group represents a core pillar of society with specific mandates. You must argue for your priorities while seeking consensus with other groups.</a:t>
            </a:r>
            <a:endParaRPr lang="en-US" sz="1700" dirty="0">
              <a:ea typeface="Calibri"/>
              <a:cs typeface="Calibri"/>
            </a:endParaRPr>
          </a:p>
          <a:p>
            <a:pPr marL="228600" indent="-228600">
              <a:buFont typeface=""/>
              <a:buChar char="•"/>
            </a:pPr>
            <a:r>
              <a:rPr lang="en-US" sz="1700" b="1" dirty="0"/>
              <a:t>Economic &amp; Industrial Group:</a:t>
            </a:r>
            <a:r>
              <a:rPr lang="en-US" sz="1700" dirty="0"/>
              <a:t> Your focus is to maintain GDP growth, protect industrial competitiveness, and minimize energy price shocks.</a:t>
            </a:r>
          </a:p>
          <a:p>
            <a:pPr marL="228600" indent="-228600">
              <a:buFont typeface=""/>
              <a:buChar char="•"/>
            </a:pPr>
            <a:r>
              <a:rPr lang="en-US" sz="1700" b="1"/>
              <a:t>Climate Justice Group:</a:t>
            </a:r>
            <a:r>
              <a:rPr lang="en-US" sz="1700"/>
              <a:t> Your focus is on the Global South, poverty alleviation, and ensuring the costs of transition do not fall on vulnerable populations.</a:t>
            </a:r>
          </a:p>
          <a:p>
            <a:pPr marL="228600" indent="-228600">
              <a:buFont typeface=""/>
              <a:buChar char="•"/>
            </a:pPr>
            <a:r>
              <a:rPr lang="en-US" sz="1700" b="1"/>
              <a:t>Energy &amp; Technology Group:</a:t>
            </a:r>
            <a:r>
              <a:rPr lang="en-US" sz="1700"/>
              <a:t> Your focus is on rapid innovation, grid resilience, and the scalability of new energy infrastructure.</a:t>
            </a:r>
          </a:p>
          <a:p>
            <a:pPr marL="228600" indent="-228600">
              <a:buFont typeface=""/>
              <a:buChar char="•"/>
            </a:pPr>
            <a:r>
              <a:rPr lang="en-US" sz="1700" b="1"/>
              <a:t>Scientific Group:</a:t>
            </a:r>
            <a:r>
              <a:rPr lang="en-US" sz="1700"/>
              <a:t> Your focus is the absolute carbon budget. You are the "reality check" that evaluates the physical outcome of the proposed policies.</a:t>
            </a:r>
          </a:p>
          <a:p>
            <a:r>
              <a:rPr lang="en-US" sz="1700" b="1"/>
              <a:t>2. The Negotiation Process – 20 min</a:t>
            </a:r>
          </a:p>
          <a:p>
            <a:pPr marL="228600" indent="-228600">
              <a:buFont typeface=""/>
              <a:buChar char="•"/>
            </a:pPr>
            <a:r>
              <a:rPr lang="en-US" sz="1700" b="1"/>
              <a:t>Proposals:</a:t>
            </a:r>
            <a:r>
              <a:rPr lang="en-US" sz="1700"/>
              <a:t> Each group will have 5 minutes to present their two preferred policy "levers" from the En-ROADS model.</a:t>
            </a:r>
          </a:p>
          <a:p>
            <a:pPr marL="228600" indent="-228600">
              <a:buFont typeface=""/>
              <a:buChar char="•"/>
            </a:pPr>
            <a:r>
              <a:rPr lang="en-US" sz="1700" b="1"/>
              <a:t>Justification:</a:t>
            </a:r>
            <a:r>
              <a:rPr lang="en-US" sz="1700"/>
              <a:t> You must justify your choice based on your specific stakeholder mandate.</a:t>
            </a:r>
          </a:p>
          <a:p>
            <a:pPr marL="228600" indent="-228600">
              <a:buFont typeface=""/>
              <a:buChar char="•"/>
            </a:pPr>
            <a:r>
              <a:rPr lang="en-US" sz="1700" b="1" dirty="0"/>
              <a:t>Systemic Trade-offs:</a:t>
            </a:r>
            <a:r>
              <a:rPr lang="en-US" sz="1700" dirty="0"/>
              <a:t> Be prepared for the facilitator to highlight the "side effects" of your choices—such as the impact of carbon taxes on economic growth or the transition time required for infrastructure changes.</a:t>
            </a:r>
          </a:p>
          <a:p>
            <a:r>
              <a:rPr lang="en-US" sz="1700" b="1"/>
              <a:t>3. Key Reflection Questions</a:t>
            </a:r>
          </a:p>
          <a:p>
            <a:r>
              <a:rPr lang="en-US" sz="1700"/>
              <a:t>As you negotiate, keep these questions in mind:</a:t>
            </a:r>
          </a:p>
          <a:p>
            <a:pPr marL="228600" indent="-228600">
              <a:buFont typeface=""/>
              <a:buChar char="•"/>
            </a:pPr>
            <a:r>
              <a:rPr lang="en-US" sz="1700"/>
              <a:t>How do we balance short-term economic stability with long-term climate targets?</a:t>
            </a:r>
          </a:p>
          <a:p>
            <a:pPr marL="228600" indent="-228600">
              <a:buFont typeface=""/>
              <a:buChar char="•"/>
            </a:pPr>
            <a:r>
              <a:rPr lang="en-US" sz="1700"/>
              <a:t>Which levers provide the most impact on temperature reduction with the least social friction?</a:t>
            </a:r>
          </a:p>
          <a:p>
            <a:pPr marL="228600" indent="-228600">
              <a:buFont typeface=""/>
              <a:buChar char="•"/>
            </a:pPr>
            <a:r>
              <a:rPr lang="en-US" sz="1700" dirty="0"/>
              <a:t>What happens when our technological assumptions (e.g., carbon capture, renewables) do not scale as quickly as anticipated?</a:t>
            </a:r>
          </a:p>
          <a:p>
            <a:pPr lvl="1">
              <a:buFont typeface=""/>
              <a:buNone/>
            </a:pPr>
            <a:r>
              <a:rPr lang="en-US" sz="1700" b="1"/>
              <a:t>Note:</a:t>
            </a:r>
            <a:r>
              <a:rPr lang="en-US" sz="1700"/>
              <a:t> The climate is a complex system. Every action you take in the simulator will have a delayed, compounding effect. Focus on long-term systemic change rather than immediate fixes.</a:t>
            </a:r>
          </a:p>
          <a:p>
            <a:pPr algn="ctr"/>
            <a:endParaRPr lang="fr-FR" sz="1700"/>
          </a:p>
        </p:txBody>
      </p:sp>
    </p:spTree>
    <p:extLst>
      <p:ext uri="{BB962C8B-B14F-4D97-AF65-F5344CB8AC3E}">
        <p14:creationId xmlns:p14="http://schemas.microsoft.com/office/powerpoint/2010/main" val="406025964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438A1321-7FA8-40A1-CCE9-D71960E762F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68096" y="838200"/>
            <a:ext cx="3021583" cy="5181600"/>
          </a:xfrm>
        </p:spPr>
        <p:txBody>
          <a:bodyPr vert="horz" lIns="91440" tIns="45720" rIns="91440" bIns="45720" rtlCol="0" anchor="t">
            <a:normAutofit/>
          </a:bodyPr>
          <a:lstStyle/>
          <a:p>
            <a:pPr defTabSz="914400"/>
            <a:br>
              <a:rPr lang="en-US" sz="3100" dirty="0"/>
            </a:br>
            <a:r>
              <a:rPr lang="en-US" sz="3100" dirty="0"/>
              <a:t>The Global Calculator DASHBOARD</a:t>
            </a:r>
          </a:p>
        </p:txBody>
      </p:sp>
      <p:sp>
        <p:nvSpPr>
          <p:cNvPr id="4" name="ZoneTexte 3">
            <a:extLst>
              <a:ext uri="{FF2B5EF4-FFF2-40B4-BE49-F238E27FC236}">
                <a16:creationId xmlns:a16="http://schemas.microsoft.com/office/drawing/2014/main" id="{E187104C-0EE4-0314-E421-4E41D7542D1E}"/>
              </a:ext>
            </a:extLst>
          </p:cNvPr>
          <p:cNvSpPr txBox="1"/>
          <p:nvPr/>
        </p:nvSpPr>
        <p:spPr>
          <a:xfrm>
            <a:off x="254000" y="4201160"/>
            <a:ext cx="11694160" cy="1600199"/>
          </a:xfrm>
        </p:spPr>
        <p:txBody>
          <a:bodyPr vert="horz" lIns="91440" tIns="45720" rIns="91440" bIns="45720" rtlCol="0" anchor="t">
            <a:normAutofit/>
          </a:bodyPr>
          <a:lstStyle/>
          <a:p>
            <a:pPr marL="0" marR="0" lvl="0" indent="-228600" algn="l" defTabSz="914400" rtl="0" eaLnBrk="1" fontAlgn="auto" latinLnBrk="0" hangingPunct="1">
              <a:lnSpc>
                <a:spcPct val="110000"/>
              </a:lnSpc>
              <a:spcBef>
                <a:spcPts val="0"/>
              </a:spcBef>
              <a:spcAft>
                <a:spcPts val="600"/>
              </a:spcAft>
              <a:buClrTx/>
              <a:buSzPct val="80000"/>
              <a:buFontTx/>
              <a:buNone/>
              <a:tabLst/>
              <a:defRPr/>
            </a:pPr>
            <a:r>
              <a:rPr kumimoji="0" lang="fr-FR" sz="2000" b="1" i="0" u="none" strike="noStrike" kern="1200" cap="none" spc="0" normalizeH="0" baseline="0" noProof="0" dirty="0">
                <a:ln>
                  <a:noFill/>
                </a:ln>
                <a:solidFill>
                  <a:srgbClr val="0070C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ENJOY YOUR SIMULATIONS !</a:t>
            </a:r>
          </a:p>
          <a:p>
            <a:pPr marL="0" marR="0" lvl="0" indent="-228600" algn="l" defTabSz="914400" rtl="0" eaLnBrk="1" fontAlgn="auto" latinLnBrk="0" hangingPunct="1">
              <a:lnSpc>
                <a:spcPct val="110000"/>
              </a:lnSpc>
              <a:spcBef>
                <a:spcPts val="0"/>
              </a:spcBef>
              <a:spcAft>
                <a:spcPts val="600"/>
              </a:spcAft>
              <a:buClrTx/>
              <a:buSzPct val="80000"/>
              <a:buFontTx/>
              <a:buNone/>
              <a:tabLst/>
              <a:defRPr/>
            </a:pP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0070C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  <a:hlinkClick r:id="rId2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https://tool.globalcalculator.net/globcalc.html?levers=22rfoe2e13be1111c2c2c1n31hfjdcef222hp233f211111fn2211111111/dashboard/en</a:t>
            </a: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0070C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 </a:t>
            </a:r>
          </a:p>
        </p:txBody>
      </p:sp>
      <p:sp>
        <p:nvSpPr>
          <p:cNvPr id="13" name="Slide Number Placeholder 20">
            <a:extLst>
              <a:ext uri="{FF2B5EF4-FFF2-40B4-BE49-F238E27FC236}">
                <a16:creationId xmlns:a16="http://schemas.microsoft.com/office/drawing/2014/main" id="{D17D7EA4-02EF-4F44-AC63-465DB894E15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512296" y="6356350"/>
            <a:ext cx="574620" cy="365125"/>
          </a:xfrm>
        </p:spPr>
        <p:txBody>
          <a:bodyPr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Tx/>
              <a:buNone/>
              <a:tabLst/>
              <a:defRPr/>
            </a:pPr>
            <a:fld id="{3E131995-E962-4131-8504-6B962D7140A6}" type="slidenum">
              <a:rPr kumimoji="0" lang="en-US" sz="1001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600"/>
                </a:spcAft>
                <a:buClrTx/>
                <a:buSzTx/>
                <a:buFontTx/>
                <a:buNone/>
                <a:tabLst/>
                <a:defRPr/>
              </a:pPr>
              <a:t>19</a:t>
            </a:fld>
            <a:endParaRPr kumimoji="0" lang="en-US" sz="1001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5" name="ZoneTexte 4">
            <a:extLst>
              <a:ext uri="{FF2B5EF4-FFF2-40B4-BE49-F238E27FC236}">
                <a16:creationId xmlns:a16="http://schemas.microsoft.com/office/drawing/2014/main" id="{025428BF-D075-951C-24CF-DA51FD798DAB}"/>
              </a:ext>
            </a:extLst>
          </p:cNvPr>
          <p:cNvSpPr txBox="1"/>
          <p:nvPr/>
        </p:nvSpPr>
        <p:spPr>
          <a:xfrm>
            <a:off x="3309307" y="1326831"/>
            <a:ext cx="8114597" cy="23083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The Global Calculator is a model of the world's energy, land and food systems to 2050. 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It allows you to explore the world's options for tackling climate change and see how they all add up. 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With the Calculator, you can find out whether everyone can have a good lifestyle while also tackling climate change.</a:t>
            </a:r>
            <a:endParaRPr kumimoji="0" lang="fr-FR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4124511862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ZoneTexte 1">
            <a:extLst>
              <a:ext uri="{FF2B5EF4-FFF2-40B4-BE49-F238E27FC236}">
                <a16:creationId xmlns:a16="http://schemas.microsoft.com/office/drawing/2014/main" id="{2C6BC5C9-6983-1F2D-6EA2-56E3FBB2BFD5}"/>
              </a:ext>
            </a:extLst>
          </p:cNvPr>
          <p:cNvSpPr txBox="1"/>
          <p:nvPr/>
        </p:nvSpPr>
        <p:spPr>
          <a:xfrm>
            <a:off x="0" y="381001"/>
            <a:ext cx="12191999" cy="6475878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ctr"/>
            <a:r>
              <a:rPr lang="en-US" sz="2400" b="1"/>
              <a:t>Mission: 2050 Strategic Planning Brief</a:t>
            </a:r>
            <a:endParaRPr lang="fr-FR" sz="2400"/>
          </a:p>
          <a:p>
            <a:r>
              <a:rPr lang="en-US" sz="2000" b="1" dirty="0"/>
              <a:t>Goal:</a:t>
            </a:r>
            <a:r>
              <a:rPr lang="en-US" sz="2000" dirty="0"/>
              <a:t> Propose a viable structural path for the world to 2050.</a:t>
            </a:r>
          </a:p>
          <a:p>
            <a:r>
              <a:rPr lang="en-US" sz="2000" b="1"/>
              <a:t>1. Stakeholder Mandates: Divide the class into 3 "Ministry" groups</a:t>
            </a:r>
          </a:p>
          <a:p>
            <a:pPr marL="228600" indent="-228600">
              <a:buFont typeface=""/>
              <a:buChar char="•"/>
            </a:pPr>
            <a:r>
              <a:rPr lang="en-US" sz="2000" b="1"/>
              <a:t>Ministry of Agriculture:</a:t>
            </a:r>
            <a:r>
              <a:rPr lang="en-US" sz="2000"/>
              <a:t> Your mandate is to ensure food security for a growing population. You must navigate the trade-off between land for nature, land for food, and land for bioenergy.</a:t>
            </a:r>
          </a:p>
          <a:p>
            <a:pPr marL="228600" indent="-228600">
              <a:buFont typeface=""/>
              <a:buChar char="•"/>
            </a:pPr>
            <a:r>
              <a:rPr lang="en-US" sz="2000" b="1" dirty="0"/>
              <a:t>Ministry of Energy &amp; Transport:</a:t>
            </a:r>
            <a:r>
              <a:rPr lang="en-US" sz="2000" dirty="0"/>
              <a:t> You must replace fossil-fuel dependence with a reliable, scalable low-carbon mix. You are responsible for the physical feasibility of the energy transition.</a:t>
            </a:r>
          </a:p>
          <a:p>
            <a:pPr marL="228600" indent="-228600">
              <a:buFont typeface=""/>
              <a:buChar char="•"/>
            </a:pPr>
            <a:r>
              <a:rPr lang="en-US" sz="2000" b="1" dirty="0"/>
              <a:t>Ministry of Economy &amp; Infrastructure:</a:t>
            </a:r>
            <a:r>
              <a:rPr lang="en-US" sz="2000" dirty="0"/>
              <a:t> You are responsible for efficiency. Your goal is to decouple human wellbeing from resource consumption through better technology and urban design.</a:t>
            </a:r>
          </a:p>
          <a:p>
            <a:r>
              <a:rPr lang="en-US" sz="2000" b="1"/>
              <a:t>2. The Negotiation Process</a:t>
            </a:r>
          </a:p>
          <a:p>
            <a:pPr marL="228600" indent="-228600">
              <a:buFont typeface=""/>
              <a:buChar char="•"/>
            </a:pPr>
            <a:r>
              <a:rPr lang="en-US" sz="2000" b="1"/>
              <a:t>Constraint:</a:t>
            </a:r>
            <a:r>
              <a:rPr lang="en-US" sz="2000"/>
              <a:t> You cannot touch every lever. You must negotiate with the other two Ministries to ensure that your combined changes do not exceed global resource limits (the "dashboard" indicators).</a:t>
            </a:r>
          </a:p>
          <a:p>
            <a:pPr marL="228600" indent="-228600">
              <a:buFont typeface=""/>
              <a:buChar char="•"/>
            </a:pPr>
            <a:r>
              <a:rPr lang="en-US" sz="2000" b="1" dirty="0"/>
              <a:t>Systemic Trade-off:</a:t>
            </a:r>
            <a:r>
              <a:rPr lang="en-US" sz="2000" dirty="0"/>
              <a:t> Identify one "bottleneck"—a resource (like land or electricity) that becomes scarce when you push your sector's goals too far.</a:t>
            </a:r>
          </a:p>
          <a:p>
            <a:r>
              <a:rPr lang="en-US" sz="2000" b="1"/>
              <a:t>3. Critical Thinking Questions</a:t>
            </a:r>
          </a:p>
          <a:p>
            <a:pPr marL="228600" indent="-228600">
              <a:buFont typeface=""/>
              <a:buChar char="•"/>
            </a:pPr>
            <a:r>
              <a:rPr lang="en-US" sz="2000"/>
              <a:t>Which structural change (Diet, Energy, or Efficiency) had the most profound impact on the 2050 energy balance?</a:t>
            </a:r>
          </a:p>
          <a:p>
            <a:pPr marL="228600" indent="-228600">
              <a:buFont typeface=""/>
              <a:buChar char="•"/>
            </a:pPr>
            <a:r>
              <a:rPr lang="en-US" sz="2000"/>
              <a:t>How does the population growth assumption limit the feasibility of the other levers?</a:t>
            </a:r>
          </a:p>
          <a:p>
            <a:pPr marL="228600" indent="-228600">
              <a:buFont typeface=""/>
              <a:buChar char="•"/>
            </a:pPr>
            <a:r>
              <a:rPr lang="en-US" sz="2000" dirty="0"/>
              <a:t>Is it physically possible to maintain current "lifestyle" standards if the global population continues to consume at present rates?</a:t>
            </a:r>
          </a:p>
          <a:p>
            <a:pPr algn="ctr"/>
            <a:endParaRPr lang="fr-FR" sz="2000"/>
          </a:p>
        </p:txBody>
      </p:sp>
    </p:spTree>
    <p:extLst>
      <p:ext uri="{BB962C8B-B14F-4D97-AF65-F5344CB8AC3E}">
        <p14:creationId xmlns:p14="http://schemas.microsoft.com/office/powerpoint/2010/main" val="2456378224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ZoneTexte 2">
            <a:extLst>
              <a:ext uri="{FF2B5EF4-FFF2-40B4-BE49-F238E27FC236}">
                <a16:creationId xmlns:a16="http://schemas.microsoft.com/office/drawing/2014/main" id="{6C2735F7-85A8-BA5C-C908-D8AC5C8037A5}"/>
              </a:ext>
            </a:extLst>
          </p:cNvPr>
          <p:cNvSpPr txBox="1"/>
          <p:nvPr/>
        </p:nvSpPr>
        <p:spPr>
          <a:xfrm>
            <a:off x="1090800" y="3613384"/>
            <a:ext cx="10644997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dirty="0">
                <a:solidFill>
                  <a:srgbClr val="0070C0"/>
                </a:solidFill>
                <a:hlinkClick r:id="rId2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https://workspace.refinitiv.com/web/Apps/Corp/?s=LSEG.L&amp;st=RIC#/Apps/EnvtSocGov?view=dashboard</a:t>
            </a:r>
            <a:r>
              <a:rPr lang="en-US" dirty="0">
                <a:solidFill>
                  <a:srgbClr val="0070C0"/>
                </a:solidFill>
              </a:rPr>
              <a:t> </a:t>
            </a:r>
          </a:p>
        </p:txBody>
      </p:sp>
      <p:sp>
        <p:nvSpPr>
          <p:cNvPr id="7" name="ZoneTexte 6">
            <a:extLst>
              <a:ext uri="{FF2B5EF4-FFF2-40B4-BE49-F238E27FC236}">
                <a16:creationId xmlns:a16="http://schemas.microsoft.com/office/drawing/2014/main" id="{7170C2F8-5AB1-82C0-C2D3-84FB2FEDB2BE}"/>
              </a:ext>
            </a:extLst>
          </p:cNvPr>
          <p:cNvSpPr txBox="1"/>
          <p:nvPr/>
        </p:nvSpPr>
        <p:spPr>
          <a:xfrm>
            <a:off x="2468431" y="1596460"/>
            <a:ext cx="6094562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2400" b="1" dirty="0"/>
              <a:t>ESG GLOBAL SCORE</a:t>
            </a:r>
          </a:p>
          <a:p>
            <a:pPr algn="ctr"/>
            <a:r>
              <a:rPr lang="en-US" sz="2400" b="1" dirty="0" err="1"/>
              <a:t>Exercice</a:t>
            </a:r>
            <a:endParaRPr lang="en-US" sz="2400" b="1" dirty="0"/>
          </a:p>
        </p:txBody>
      </p:sp>
      <p:sp>
        <p:nvSpPr>
          <p:cNvPr id="9" name="ZoneTexte 8">
            <a:extLst>
              <a:ext uri="{FF2B5EF4-FFF2-40B4-BE49-F238E27FC236}">
                <a16:creationId xmlns:a16="http://schemas.microsoft.com/office/drawing/2014/main" id="{838DC0F5-FD62-6885-0BCF-D62E02DAD478}"/>
              </a:ext>
            </a:extLst>
          </p:cNvPr>
          <p:cNvSpPr txBox="1"/>
          <p:nvPr/>
        </p:nvSpPr>
        <p:spPr>
          <a:xfrm>
            <a:off x="1254703" y="2766526"/>
            <a:ext cx="10317192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/>
              <a:t>Let’s search for the ESG (Environment-Social-Governance) Score by country in Refinitiv ESG Database</a:t>
            </a:r>
          </a:p>
        </p:txBody>
      </p:sp>
      <p:sp>
        <p:nvSpPr>
          <p:cNvPr id="6" name="ZoneTexte 5">
            <a:extLst>
              <a:ext uri="{FF2B5EF4-FFF2-40B4-BE49-F238E27FC236}">
                <a16:creationId xmlns:a16="http://schemas.microsoft.com/office/drawing/2014/main" id="{8E64D83A-015C-318E-E6A1-6268B4EE3868}"/>
              </a:ext>
            </a:extLst>
          </p:cNvPr>
          <p:cNvSpPr txBox="1"/>
          <p:nvPr/>
        </p:nvSpPr>
        <p:spPr>
          <a:xfrm>
            <a:off x="3757905" y="5175771"/>
            <a:ext cx="6097554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>
                <a:solidFill>
                  <a:srgbClr val="0070C0"/>
                </a:solidFill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https://app.wooclap.com/events/XKSDOU/0</a:t>
            </a:r>
            <a:r>
              <a:rPr lang="en-US" dirty="0">
                <a:solidFill>
                  <a:srgbClr val="0070C0"/>
                </a:solidFill>
              </a:rPr>
              <a:t> </a:t>
            </a:r>
          </a:p>
        </p:txBody>
      </p:sp>
      <p:sp>
        <p:nvSpPr>
          <p:cNvPr id="8" name="ZoneTexte 7">
            <a:extLst>
              <a:ext uri="{FF2B5EF4-FFF2-40B4-BE49-F238E27FC236}">
                <a16:creationId xmlns:a16="http://schemas.microsoft.com/office/drawing/2014/main" id="{F7AFCA71-268C-85D8-E59F-9F52F16E9372}"/>
              </a:ext>
            </a:extLst>
          </p:cNvPr>
          <p:cNvSpPr txBox="1"/>
          <p:nvPr/>
        </p:nvSpPr>
        <p:spPr>
          <a:xfrm>
            <a:off x="4654421" y="4743540"/>
            <a:ext cx="430141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dirty="0"/>
              <a:t>WOOCLAP on </a:t>
            </a:r>
            <a:r>
              <a:rPr lang="fr-FR" dirty="0" err="1"/>
              <a:t>Anthropocene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304792"/>
      </p:ext>
    </p:extLst>
  </p:cSld>
  <p:clrMapOvr>
    <a:masterClrMapping/>
  </p:clrMapOvr>
</p:sld>
</file>

<file path=ppt/theme/theme1.xml><?xml version="1.0" encoding="utf-8"?>
<a:theme xmlns:a="http://schemas.openxmlformats.org/drawingml/2006/main" name="ArchwayVTI">
  <a:themeElements>
    <a:clrScheme name="Custom 1">
      <a:dk1>
        <a:sysClr val="windowText" lastClr="000000"/>
      </a:dk1>
      <a:lt1>
        <a:sysClr val="window" lastClr="FFFFFF"/>
      </a:lt1>
      <a:dk2>
        <a:srgbClr val="2E3A3C"/>
      </a:dk2>
      <a:lt2>
        <a:srgbClr val="EDE9E7"/>
      </a:lt2>
      <a:accent1>
        <a:srgbClr val="898470"/>
      </a:accent1>
      <a:accent2>
        <a:srgbClr val="7A8773"/>
      </a:accent2>
      <a:accent3>
        <a:srgbClr val="8C845E"/>
      </a:accent3>
      <a:accent4>
        <a:srgbClr val="9F7E56"/>
      </a:accent4>
      <a:accent5>
        <a:srgbClr val="9B7E69"/>
      </a:accent5>
      <a:accent6>
        <a:srgbClr val="AA7862"/>
      </a:accent6>
      <a:hlink>
        <a:srgbClr val="7A8773"/>
      </a:hlink>
      <a:folHlink>
        <a:srgbClr val="9F7E56"/>
      </a:folHlink>
    </a:clrScheme>
    <a:fontScheme name="Calibri">
      <a:majorFont>
        <a:latin typeface="Calibri" panose="020F050202020403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ArchwayVTI" id="{309F1D27-9968-4F93-BA7C-3666A757FD2E}" vid="{76D8E8FD-8787-4E56-A14A-C28BF58ABEEE}"/>
    </a:ext>
  </a:extLst>
</a:theme>
</file>

<file path=ppt/theme/theme2.xml><?xml version="1.0" encoding="utf-8"?>
<a:theme xmlns:a="http://schemas.openxmlformats.org/drawingml/2006/main" name="Thèm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Metadata/LabelInfo.xml><?xml version="1.0" encoding="utf-8"?>
<clbl:labelList xmlns:clbl="http://schemas.microsoft.com/office/2020/mipLabelMetadata">
  <clbl:label id="{9860db96-b53f-4bd7-8137-e09357cab268}" enabled="1" method="Standard" siteId="{b78d03e6-f6a2-4cff-83be-847d1a6453f9}" removed="0"/>
</clbl:labelList>
</file>

<file path=docProps/app.xml><?xml version="1.0" encoding="utf-8"?>
<Properties xmlns="http://schemas.openxmlformats.org/officeDocument/2006/extended-properties" xmlns:vt="http://schemas.openxmlformats.org/officeDocument/2006/docPropsVTypes">
  <TotalTime>789</TotalTime>
  <Words>1260</Words>
  <Application>Microsoft Office PowerPoint</Application>
  <PresentationFormat>Grand écran</PresentationFormat>
  <Paragraphs>212</Paragraphs>
  <Slides>21</Slides>
  <Notes>7</Notes>
  <HiddenSlides>0</HiddenSlides>
  <MMClips>1</MMClips>
  <ScaleCrop>false</ScaleCrop>
  <HeadingPairs>
    <vt:vector size="4" baseType="variant">
      <vt:variant>
        <vt:lpstr>Thème</vt:lpstr>
      </vt:variant>
      <vt:variant>
        <vt:i4>1</vt:i4>
      </vt:variant>
      <vt:variant>
        <vt:lpstr>Titres des diapositives</vt:lpstr>
      </vt:variant>
      <vt:variant>
        <vt:i4>21</vt:i4>
      </vt:variant>
    </vt:vector>
  </HeadingPairs>
  <TitlesOfParts>
    <vt:vector size="22" baseType="lpstr">
      <vt:lpstr>ArchwayVTI</vt:lpstr>
      <vt:lpstr>Sustainable finance &amp; Banking </vt:lpstr>
      <vt:lpstr> The Anthropocene  Is Classical finance ready for the ecological transition?</vt:lpstr>
      <vt:lpstr>What are we going to analyze?</vt:lpstr>
      <vt:lpstr>7 Deadly Sins</vt:lpstr>
      <vt:lpstr>Sustainable Finance </vt:lpstr>
      <vt:lpstr>Anthropocene: the beginning of the countdown/BREAKDOWN</vt:lpstr>
      <vt:lpstr>Anthropocene: the beginning of the countdown /breakdown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EN-ROADS: a « magic » climate simulator!</vt:lpstr>
      <vt:lpstr>Présentation PowerPoint</vt:lpstr>
      <vt:lpstr>Présentation PowerPoint</vt:lpstr>
      <vt:lpstr> The Global Calculator DASHBOARD</vt:lpstr>
      <vt:lpstr>Présentation PowerPoint</vt:lpstr>
      <vt:lpstr>Présentation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Présentation PowerPoint</dc:title>
  <dc:creator>SAIDANE Dhafer</dc:creator>
  <cp:lastModifiedBy>SAIDANE Dhafer</cp:lastModifiedBy>
  <cp:revision>177</cp:revision>
  <dcterms:created xsi:type="dcterms:W3CDTF">2023-08-30T16:55:07Z</dcterms:created>
  <dcterms:modified xsi:type="dcterms:W3CDTF">2026-06-02T18:11:38Z</dcterms:modified>
</cp:coreProperties>
</file>