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343" r:id="rId2"/>
    <p:sldId id="34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37" r:id="rId13"/>
    <p:sldId id="266" r:id="rId14"/>
    <p:sldId id="338" r:id="rId15"/>
    <p:sldId id="339" r:id="rId16"/>
    <p:sldId id="267" r:id="rId17"/>
    <p:sldId id="268" r:id="rId18"/>
    <p:sldId id="269" r:id="rId19"/>
    <p:sldId id="270" r:id="rId20"/>
    <p:sldId id="34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4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8" r:id="rId72"/>
    <p:sldId id="320" r:id="rId73"/>
    <p:sldId id="321" r:id="rId74"/>
    <p:sldId id="322" r:id="rId75"/>
    <p:sldId id="323" r:id="rId76"/>
    <p:sldId id="324" r:id="rId77"/>
    <p:sldId id="325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B5C28-C56E-422E-AE65-2464202B4B6F}" type="datetimeFigureOut">
              <a:rPr lang="fr-FR" smtClean="0"/>
              <a:t>08/09/2026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1A5CF-5948-4BA0-A7D4-C5A3B2474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415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F3C7BE-A12E-BB49-8222-98FD05669A8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2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834" y="6201067"/>
            <a:ext cx="1991212" cy="38594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202984D-AA9C-4D4A-99B8-1F28A8AF29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023" y="738234"/>
            <a:ext cx="4648200" cy="21971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58FA644-DA71-4392-9516-05E74B0E4C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26846" y="3052804"/>
            <a:ext cx="4788554" cy="12954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E2CCCBC-02B6-4E29-9CFA-C45BBB0E77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5899" y="4581128"/>
            <a:ext cx="4050449" cy="1295400"/>
          </a:xfrm>
        </p:spPr>
        <p:txBody>
          <a:bodyPr/>
          <a:lstStyle>
            <a:lvl1pPr marL="0" indent="0" algn="ctr">
              <a:buNone/>
              <a:defRPr lang="fr-FR" sz="1350" kern="0" dirty="0" smtClean="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fr-FR" dirty="0"/>
              <a:t>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79054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02254-E0CA-4AB5-A250-FF02D2A5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42863" indent="-42863"/>
            <a:r>
              <a:rPr lang="fr-FR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ACCOUNTING PREREQUISITES</a:t>
            </a:r>
            <a:br>
              <a:rPr lang="fr-FR" b="1" dirty="0">
                <a:solidFill>
                  <a:schemeClr val="tx2">
                    <a:lumMod val="75000"/>
                  </a:schemeClr>
                </a:solidFill>
                <a:latin typeface="Aptos"/>
              </a:rPr>
            </a:br>
            <a:br>
              <a:rPr lang="en-US" altLang="fr-FR" dirty="0"/>
            </a:br>
            <a:endParaRPr lang="en-US" alt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3F4A47-0EB7-4A3D-B1D2-6A9058CD9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5899" y="3826217"/>
            <a:ext cx="4050449" cy="1295400"/>
          </a:xfrm>
        </p:spPr>
        <p:txBody>
          <a:bodyPr>
            <a:normAutofit lnSpcReduction="10000"/>
          </a:bodyPr>
          <a:lstStyle/>
          <a:p>
            <a:pPr algn="l"/>
            <a:r>
              <a:rPr lang="fr-FR" sz="1800" b="1" dirty="0" err="1"/>
              <a:t>MSc</a:t>
            </a:r>
            <a:r>
              <a:rPr lang="fr-FR" sz="1800" b="1" dirty="0"/>
              <a:t> </a:t>
            </a:r>
            <a:r>
              <a:rPr lang="fr-FR" sz="1800" b="1" dirty="0" err="1"/>
              <a:t>Corporate</a:t>
            </a:r>
            <a:r>
              <a:rPr lang="fr-FR" sz="1800" b="1" dirty="0"/>
              <a:t> Financial Management</a:t>
            </a:r>
          </a:p>
          <a:p>
            <a:pPr marL="42863" indent="-42863"/>
            <a:r>
              <a:rPr lang="en-US" altLang="fr-FR" sz="1800" b="1" dirty="0"/>
              <a:t>Fall 2026</a:t>
            </a:r>
          </a:p>
          <a:p>
            <a:pPr marL="42863" indent="-42863"/>
            <a:endParaRPr lang="en-US" altLang="fr-FR" sz="1800" b="1" dirty="0"/>
          </a:p>
          <a:p>
            <a:pPr marL="42863" indent="-42863"/>
            <a:r>
              <a:rPr lang="en-US" altLang="fr-FR" sz="1800" b="1" dirty="0"/>
              <a:t>Jamil </a:t>
            </a:r>
            <a:r>
              <a:rPr lang="en-US" altLang="fr-FR" sz="1800" b="1" dirty="0" err="1"/>
              <a:t>Chaftar</a:t>
            </a:r>
            <a:endParaRPr lang="en-US" altLang="fr-FR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770" y="1041412"/>
            <a:ext cx="822960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BE232D"/>
                </a:solidFill>
                <a:latin typeface="Aptos"/>
              </a:rPr>
              <a:t>COURSE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5770" y="1241631"/>
            <a:ext cx="8229600" cy="4039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25" b="1">
                <a:solidFill>
                  <a:srgbClr val="142236"/>
                </a:solidFill>
                <a:latin typeface="Aptos"/>
              </a:rPr>
              <a:t>What you should be able to do after 6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770" y="1680210"/>
            <a:ext cx="685800" cy="34290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851660" cy="2537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685800" y="2221573"/>
            <a:ext cx="30861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E232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2730152"/>
            <a:ext cx="1508760" cy="3347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75" b="1">
                <a:solidFill>
                  <a:srgbClr val="142236"/>
                </a:solidFill>
                <a:latin typeface="Aptos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90" y="3438533"/>
            <a:ext cx="1508760" cy="39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75">
                <a:solidFill>
                  <a:srgbClr val="69737D"/>
                </a:solidFill>
                <a:latin typeface="Aptos"/>
              </a:rPr>
              <a:t>Balance Sheet • Income Statement • Cash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0329" y="2057400"/>
            <a:ext cx="1851660" cy="2537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777490" y="2221573"/>
            <a:ext cx="30861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E232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1779" y="2730152"/>
            <a:ext cx="1508760" cy="3347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75" b="1">
                <a:solidFill>
                  <a:srgbClr val="142236"/>
                </a:solidFill>
                <a:latin typeface="Aptos"/>
              </a:rPr>
              <a:t>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1779" y="3438533"/>
            <a:ext cx="1508760" cy="39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75">
                <a:solidFill>
                  <a:srgbClr val="69737D"/>
                </a:solidFill>
                <a:latin typeface="Aptos"/>
              </a:rPr>
              <a:t>Transactions • Debit / Credit • Double 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2019" y="2057400"/>
            <a:ext cx="1851660" cy="2537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869180" y="2221573"/>
            <a:ext cx="30861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E232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469" y="2730152"/>
            <a:ext cx="1508760" cy="3347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75" b="1">
                <a:solidFill>
                  <a:srgbClr val="142236"/>
                </a:solidFill>
                <a:latin typeface="Aptos"/>
              </a:rPr>
              <a:t>Recognize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3469" y="3438533"/>
            <a:ext cx="1508760" cy="39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75">
                <a:solidFill>
                  <a:srgbClr val="69737D"/>
                </a:solidFill>
                <a:latin typeface="Aptos"/>
              </a:rPr>
              <a:t>Revenue • Expenses • Accruals • Deferrals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23710" y="2057400"/>
            <a:ext cx="1851660" cy="2537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6960869" y="2221573"/>
            <a:ext cx="30861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E232D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730152"/>
            <a:ext cx="1508760" cy="3347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75" b="1">
                <a:solidFill>
                  <a:srgbClr val="142236"/>
                </a:solidFill>
                <a:latin typeface="Aptos"/>
              </a:rPr>
              <a:t>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438533"/>
            <a:ext cx="1508760" cy="39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75">
                <a:solidFill>
                  <a:srgbClr val="69737D"/>
                </a:solidFill>
                <a:latin typeface="Aptos"/>
              </a:rPr>
              <a:t>Business model • Liquidity • Risk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13474"/>
            <a:ext cx="80238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42236"/>
                </a:solidFill>
                <a:latin typeface="Aptos"/>
              </a:rPr>
              <a:t>Accounting is the language. Financial judgement is the destination.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70" y="5730109"/>
            <a:ext cx="3771900" cy="184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">
                <a:solidFill>
                  <a:srgbClr val="69737D"/>
                </a:solidFill>
                <a:latin typeface="Aptos"/>
              </a:rPr>
              <a:t>ACCOUNTING PREREQUISITES  •  MSc CFM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5716393"/>
            <a:ext cx="308610" cy="184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00">
                <a:solidFill>
                  <a:srgbClr val="6973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Course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ACCOUNTING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Understand the role of accounting information in business and financial decisions.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Read the three primary financial statements: Balance Sheet, Income Statement and Cash Flow Statement.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Understand how transactions affect assets, liabilities, equity, revenue, expenses and cash.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Apply the basic mechanics of accounts, debits, credits and double-entry accounting.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Understand accrual accounting: revenue recognition, matching principle, deferrals and accruals.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Build the foundation required for Financial Analysis, Corporate Finance and Credit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What is accounting?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ACCOUNTING AND 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200" b="1">
                <a:solidFill>
                  <a:srgbClr val="BE232D"/>
                </a:solidFill>
                <a:latin typeface="Aptos"/>
              </a:rPr>
              <a:t>Accounting is not an exact science.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240280"/>
            <a:ext cx="7223760" cy="146304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6675120" cy="777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It is a method, a discipline and a language used to record, classify and communicate economic events.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7498079" cy="50292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Every year, major investment, lending and business decisions are made using accounting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Who uses accounting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ACCOUNTING AND 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223113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2E5E91"/>
                </a:solidFill>
                <a:latin typeface="Aptos"/>
              </a:rPr>
              <a:t>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37944"/>
            <a:ext cx="22311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Return and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76856"/>
            <a:ext cx="2231136" cy="100583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Should I buy, hold or sell?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527048"/>
            <a:ext cx="223113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CREDITORS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837944"/>
            <a:ext cx="22311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Repayment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76856"/>
            <a:ext cx="2231136" cy="100583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Will the company be able to pay me back?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1527048"/>
            <a:ext cx="223113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327D55"/>
                </a:solidFill>
                <a:latin typeface="Aptos"/>
              </a:rPr>
              <a:t>MANAGERS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837944"/>
            <a:ext cx="2231136" cy="384048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Performance and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276856"/>
            <a:ext cx="2231136" cy="100583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How is the business doing? Where should resources go?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Financial accounting mainly serves external users, especially investors and creditors.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BE232D"/>
                </a:solidFill>
                <a:latin typeface="Aptos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Basic 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74066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>
                <a:solidFill>
                  <a:srgbClr val="CDD7E1"/>
                </a:solidFill>
                <a:latin typeface="Aptos"/>
              </a:rPr>
              <a:t>Start with the statements before entering the accounting machinery.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financial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02336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Three primary financial statements: Balance Sheet, Income Statement, Statement of Cash Flows.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Notes to the accounts.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Management report.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Independent auditors'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17320"/>
            <a:ext cx="3108960" cy="33832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0" y="1783080"/>
            <a:ext cx="256032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Financial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468880"/>
            <a:ext cx="2560320" cy="11887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are the core,
but not the whole
financial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three primary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223113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2E5E91"/>
                </a:solidFill>
                <a:latin typeface="Aptos"/>
              </a:rPr>
              <a:t>AT A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37944"/>
            <a:ext cx="22311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Balance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76856"/>
            <a:ext cx="2231136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Where the company stands: resources, obligations and equity.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527048"/>
            <a:ext cx="223113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OVER A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837944"/>
            <a:ext cx="22311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Income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76856"/>
            <a:ext cx="2231136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Revenue and expenses; profit or loss for the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1527048"/>
            <a:ext cx="223113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327D55"/>
                </a:solidFill>
                <a:latin typeface="Aptos"/>
              </a:rPr>
              <a:t>OVER A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837944"/>
            <a:ext cx="2231136" cy="38404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Cash Flow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276856"/>
            <a:ext cx="2231136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How cash changed: operating, investing and financing cash 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Balance Sheet = snapshot. Income Statement and Cash Flow Statement = movie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 starting point: the Balance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7955279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3000" b="1">
                <a:solidFill>
                  <a:srgbClr val="192A41"/>
                </a:solidFill>
                <a:latin typeface="Aptos"/>
              </a:rPr>
              <a:t>ASSETS  =  LIABILITIES  +  EQUITY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965960" cy="32004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965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0">
                <a:solidFill>
                  <a:srgbClr val="697078"/>
                </a:solidFill>
                <a:latin typeface="Aptos"/>
              </a:rPr>
              <a:t>Economic resources controlled by the company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74320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2926080"/>
            <a:ext cx="1965960" cy="32004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Liabilities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29000"/>
            <a:ext cx="1965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0">
                <a:solidFill>
                  <a:srgbClr val="697078"/>
                </a:solidFill>
                <a:latin typeface="Aptos"/>
              </a:rPr>
              <a:t>Obligations towards third parties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74320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EBF6F0"/>
          </a:solidFill>
          <a:ln>
            <a:solidFill>
              <a:srgbClr val="EB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926080"/>
            <a:ext cx="1965960" cy="32004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327D55"/>
                </a:solidFill>
                <a:latin typeface="Aptos"/>
              </a:rPr>
              <a:t>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29000"/>
            <a:ext cx="1965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0">
                <a:solidFill>
                  <a:srgbClr val="697078"/>
                </a:solidFill>
                <a:latin typeface="Aptos"/>
              </a:rPr>
              <a:t>Residual claim of shareholders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498079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Economic resources controlled by the business.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Expected to provide future economic benefits.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Examples: cash, receivables, inventory, equipment, buildings, patents.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1560" y="3703320"/>
          <a:ext cx="7040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Asset type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Current assets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Cash, receivables, inventory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Non-current tangible assets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Land, buildings, equipment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Intangible assets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Patent, brand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Financial assets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Long-term investments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Liabilities and equity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572768"/>
            <a:ext cx="323697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LIABILITIES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83664"/>
            <a:ext cx="323697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Creditors'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22576"/>
            <a:ext cx="3236976" cy="1965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Loans, suppliers, taxes payable, wages payable, provisions.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46304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65192" y="1572768"/>
            <a:ext cx="323697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327D55"/>
                </a:solidFill>
                <a:latin typeface="Aptos"/>
              </a:rPr>
              <a:t>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883664"/>
            <a:ext cx="323697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Owners' residual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322576"/>
            <a:ext cx="3236976" cy="1965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Capital contributed by shareholders plus profits retained in the company.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75438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In liquidation, creditors are paid before shareholders.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Liabilities: main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1381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Liability type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Typical accounts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What it represents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Trade liabilities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Accounts Payable / Suppliers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Amounts owed to suppliers for goods or services received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Financial debt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Bank Loans / Notes Payable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Borrowed funds to be repaid, usually with interest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Tax &amp; social liabilities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Taxes Payable / Social Security Payable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Amounts due to public authorities and social bodies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Employee liabilities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Wages / Salaries Payable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Compensation earned by employees but not yet paid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Other liabilities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Accrued Expenses / Other Payables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Other obligations arising from past events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97880"/>
            <a:ext cx="7772400" cy="41148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A liability is a present obligation resulting from a past event and expected to require an outflow of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Income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680960" cy="594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700" b="1">
                <a:solidFill>
                  <a:srgbClr val="192A41"/>
                </a:solidFill>
                <a:latin typeface="Aptos"/>
              </a:rPr>
              <a:t>NET INCOME = REVENUES – EXPENSES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2651760"/>
          <a:ext cx="7223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Revenues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Value earned from goods sold or services rendered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Expenses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Resources consumed to generate revenue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Net income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Profit generated during the period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94960"/>
            <a:ext cx="76809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A revenue or expense can be linked to cash in the past, present or future.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INCOME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Revenues: where performance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8046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Revenue category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Economic meaning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Sales of goods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Product sales / merchandise sales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Revenue generated by selling goods to customers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Services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Consulting / maintenance / fees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Revenue generated by performing services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Other operating revenue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Rental / commissions / ancillary income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Other revenue linked to operating activities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Financial revenue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Interest income / investment income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1E1E"/>
                          </a:solidFill>
                          <a:latin typeface="Aptos"/>
                        </a:rPr>
                        <a:t>Income generated by financial assets or investments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2356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500" b="1">
                <a:solidFill>
                  <a:srgbClr val="327D55"/>
                </a:solidFill>
                <a:latin typeface="Aptos"/>
              </a:rPr>
              <a:t>Revenue is recognized when it is earned — cash may be received before, at the same time, or after recognition.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INCOME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Expenses: where resources are consumed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8138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Expense category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Economic meaning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Purchases / cost of goods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Raw materials / merchandise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Inputs consumed or sold in the operating cycle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External expenses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Rent / utilities / professional services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Services and resources purchased from third parties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Personnel expenses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Wages / salaries / social charges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Cost of employees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Depreciation &amp; impairment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Depreciation / write-downs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Allocation or reduction in carrying value of assets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Financial expenses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Interest expense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Cost of financing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Taxes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Income tax expense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E1E1E"/>
                          </a:solidFill>
                          <a:latin typeface="Aptos"/>
                        </a:rPr>
                        <a:t>Tax linked to taxable profit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7772400" cy="36576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Expenses reduce net income, but an expense does not necessarily mean cash was paid during the same period.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Statement of Cash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08760"/>
          <a:ext cx="74980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Cash flow category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Operating activities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Cash effects of revenue and expense transactions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Investing activities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Purchase and sale of long-term assets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Financing activities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Transactions with shareholders and lenders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800600"/>
            <a:ext cx="7498079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Cash deserves its own statement because cash is vital for survival.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James Jones' Lawn Care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PROGRESSIVE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498079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A simple business will be used throughout the course.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We will follow transactions one by one.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Each transaction affects the accounting equation and ultimately the financial statements.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7498079" cy="54864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2000" b="1">
                <a:solidFill>
                  <a:srgbClr val="BE232D"/>
                </a:solidFill>
                <a:latin typeface="Aptos"/>
              </a:rPr>
              <a:t>Do not worry: the same transactions will be revisited progressively.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Nine transactions we will follow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PROGRESSIVE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430867"/>
              </p:ext>
            </p:extLst>
          </p:nvPr>
        </p:nvGraphicFramePr>
        <p:xfrm>
          <a:off x="594360" y="1234440"/>
          <a:ext cx="79552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Transaction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Shareholders invest $8,000 cash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#2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buys a lawn mower for $2,500 cash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buys a $15,000 truck: $2,000 cash + $13,000 note payable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#4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buys $300 repair parts on account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sells half the repair parts for $150 on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#6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Customer pays $75 on receivables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pays $150 of accounts payable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#8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provides services for $750 cash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ptos"/>
                        </a:rPr>
                        <a:t>#9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050" b="0" dirty="0">
                          <a:solidFill>
                            <a:srgbClr val="1E1E1E"/>
                          </a:solidFill>
                          <a:latin typeface="Aptos"/>
                        </a:rPr>
                        <a:t>James</a:t>
                      </a:r>
                      <a:r>
                        <a:rPr sz="1050" b="0" dirty="0">
                          <a:solidFill>
                            <a:srgbClr val="1E1E1E"/>
                          </a:solidFill>
                          <a:latin typeface="Aptos"/>
                        </a:rPr>
                        <a:t> buys gasoline for $50 cash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effects on the accounting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PROGRESSIVE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8229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Assets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Liabilities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Equity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Cash 8,000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Capital stock 8,000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Equipment 2,500 / – Cash 2,500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Truck 15,000 / – Cash 2,000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Note payable 13,000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Parts 300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Accounts payable 300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Receivable 150 / – Parts 150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Cash 75 / – Receivable 75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– Cash 150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– Accounts payable 150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Cash 750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+ Revenue / retained earnings 750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– Cash 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E1E1E"/>
                          </a:solidFill>
                          <a:latin typeface="Aptos"/>
                        </a:rPr>
                        <a:t>– Expense / retained earnings 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8046720" cy="22860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000" b="1">
                <a:solidFill>
                  <a:srgbClr val="BE232D"/>
                </a:solidFill>
                <a:latin typeface="Aptos"/>
              </a:rPr>
              <a:t>At this stage, focus on economic effects, not yet debit and credit.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PROGRESSIVE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JJ's Lawn Care Service — Closing Balance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7955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ASSETS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LIABILITIES &amp; EQUITY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4,125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Notes Payable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13,000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Accounts Receivable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Accounts Payable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150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Tools &amp; Equipment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2,650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Capital Stock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8,000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Truck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15,000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Retained Earnings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700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TOTAL ASSETS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21,850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TOTAL LIABILITIES &amp; EQUITY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21,850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5780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The nine transactions now form a complete Balance Sheet: resources on the left, financing sources on the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77724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Net income of $700 flows into Retained Earnings.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From transactions to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BASIC FINANCIAL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800" b="1">
                <a:solidFill>
                  <a:srgbClr val="192A41"/>
                </a:solidFill>
                <a:latin typeface="Aptos"/>
              </a:rPr>
              <a:t>After the nine transactions: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5740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Statement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Key outcome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Income Statement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Revenue 750 – Expense 50 = Net income 700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Cash Flow Statement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Cash movements explain ending cash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Balance Sheet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Assets = Liabilities + Equity remains balanced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5780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ctr"/>
            <a:r>
              <a:rPr sz="1500" b="1">
                <a:solidFill>
                  <a:srgbClr val="192A41"/>
                </a:solidFill>
                <a:latin typeface="Aptos"/>
              </a:rPr>
              <a:t>The statements are connected: profit affects equity; cash flows explain cash; the Balance Sheet closes the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Time relationships among financial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1 – ARTICULATION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500" b="1">
                <a:solidFill>
                  <a:srgbClr val="2E5E91"/>
                </a:solidFill>
                <a:latin typeface="Aptos"/>
              </a:rPr>
              <a:t>Opening Balance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91640"/>
            <a:ext cx="2377440" cy="68580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500" b="1">
                <a:solidFill>
                  <a:srgbClr val="BE232D"/>
                </a:solidFill>
                <a:latin typeface="Aptos"/>
              </a:rPr>
              <a:t>Income Statement
and Cash Flow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500" b="1">
                <a:solidFill>
                  <a:srgbClr val="2E5E91"/>
                </a:solidFill>
                <a:latin typeface="Aptos"/>
              </a:rPr>
              <a:t>Closing Balance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46304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100" b="0">
                <a:solidFill>
                  <a:srgbClr val="697078"/>
                </a:solidFill>
                <a:latin typeface="Aptos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788920"/>
            <a:ext cx="164592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100" b="0">
                <a:solidFill>
                  <a:srgbClr val="697078"/>
                </a:solidFill>
                <a:latin typeface="Aptos"/>
              </a:rPr>
              <a:t>Period of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88920"/>
            <a:ext cx="146304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100" b="0">
                <a:solidFill>
                  <a:srgbClr val="697078"/>
                </a:solidFill>
                <a:latin typeface="Aptos"/>
              </a:rPr>
              <a:t>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3246120"/>
            <a:ext cx="6126480" cy="4572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3081528"/>
            <a:ext cx="457200" cy="36576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000" b="1">
                <a:solidFill>
                  <a:srgbClr val="BE232D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7498079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The Balance Sheet is a position. The Income Statement and Cash Flow Statement explain what happened during the period.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BE232D"/>
                </a:solidFill>
                <a:latin typeface="Aptos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Accounting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74066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>
                <a:solidFill>
                  <a:srgbClr val="CDD7E1"/>
                </a:solidFill>
                <a:latin typeface="Aptos"/>
              </a:rPr>
              <a:t>Capture economic events through accounts, journals, ledgers and double-entry accounting.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243750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1874519" cy="256032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100" b="1">
                <a:solidFill>
                  <a:srgbClr val="BE232D"/>
                </a:solidFill>
                <a:latin typeface="Aptos"/>
              </a:rPr>
              <a:t>1  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1874519" cy="347472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Which accounts are affected?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6576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243750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3822191"/>
            <a:ext cx="1874519" cy="256032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100" b="1">
                <a:solidFill>
                  <a:srgbClr val="BE232D"/>
                </a:solidFill>
                <a:latin typeface="Aptos"/>
              </a:rPr>
              <a:t>2 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87952"/>
            <a:ext cx="1874519" cy="347472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Debit and credit the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65760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243750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822191"/>
            <a:ext cx="1874519" cy="256032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100" b="1">
                <a:solidFill>
                  <a:srgbClr val="BE232D"/>
                </a:solidFill>
                <a:latin typeface="Aptos"/>
              </a:rPr>
              <a:t>3 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87952"/>
            <a:ext cx="1874519" cy="347472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Build reliable financial statements.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Why the Balance Sheet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6949440" cy="1828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658368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400" b="1">
                <a:solidFill>
                  <a:srgbClr val="2E5E91"/>
                </a:solidFill>
                <a:latin typeface="Aptos"/>
              </a:rPr>
              <a:t>Cash balance at month-end: $4,125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88920"/>
            <a:ext cx="6583680" cy="3200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But how was this amount formed?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160520"/>
            <a:ext cx="6492240" cy="100584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>
              <a:spcAft>
                <a:spcPts val="800"/>
              </a:spcAft>
              <a:defRPr sz="1400">
                <a:solidFill>
                  <a:srgbClr val="697078"/>
                </a:solidFill>
                <a:latin typeface="Aptos"/>
              </a:defRPr>
            </a:pPr>
            <a:r>
              <a:t>•  Receipts?</a:t>
            </a:r>
          </a:p>
          <a:p>
            <a:pPr>
              <a:spcAft>
                <a:spcPts val="800"/>
              </a:spcAft>
              <a:defRPr sz="1400">
                <a:solidFill>
                  <a:srgbClr val="697078"/>
                </a:solidFill>
                <a:latin typeface="Aptos"/>
              </a:defRPr>
            </a:pPr>
            <a:r>
              <a:t>•  Payments?</a:t>
            </a:r>
          </a:p>
          <a:p>
            <a:pPr>
              <a:spcAft>
                <a:spcPts val="800"/>
              </a:spcAft>
              <a:defRPr sz="1400">
                <a:solidFill>
                  <a:srgbClr val="697078"/>
                </a:solidFill>
                <a:latin typeface="Aptos"/>
              </a:defRPr>
            </a:pPr>
            <a:r>
              <a:t>•  Operating cash?</a:t>
            </a:r>
          </a:p>
          <a:p>
            <a:pPr>
              <a:spcAft>
                <a:spcPts val="800"/>
              </a:spcAft>
              <a:defRPr sz="1400">
                <a:solidFill>
                  <a:srgbClr val="697078"/>
                </a:solidFill>
                <a:latin typeface="Aptos"/>
              </a:defRPr>
            </a:pPr>
            <a:r>
              <a:t>•  Financing cash?</a:t>
            </a:r>
          </a:p>
          <a:p>
            <a:pPr>
              <a:spcAft>
                <a:spcPts val="800"/>
              </a:spcAft>
              <a:defRPr sz="1400">
                <a:solidFill>
                  <a:srgbClr val="697078"/>
                </a:solidFill>
                <a:latin typeface="Aptos"/>
              </a:defRPr>
            </a:pPr>
            <a:r>
              <a:t>•  Asset purchases?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Accounting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16052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Establish accountability for assets and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Keep track of routine business activities.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Obtain detailed information about a particular transaction.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Maintain evidence of business activities.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Evaluate performance within the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2880360" cy="352044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1664208"/>
            <a:ext cx="2423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5E91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148840"/>
            <a:ext cx="2331720" cy="73152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500" b="1">
                <a:solidFill>
                  <a:srgbClr val="192A41"/>
                </a:solidFill>
                <a:latin typeface="Aptos"/>
              </a:rPr>
              <a:t>Without detailed records, a Balance Sheet number is only a final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063240"/>
            <a:ext cx="23317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BE232D"/>
                </a:solidFill>
                <a:latin typeface="Aptos"/>
              </a:rPr>
              <a:t>Records let us trace: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3401568"/>
            <a:ext cx="2331720" cy="123444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300" b="1">
                <a:solidFill>
                  <a:srgbClr val="192A41"/>
                </a:solidFill>
                <a:latin typeface="Aptos"/>
              </a:rPr>
              <a:t>transaction
↓
account
↓
balance
↓
financial statement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ledger is a set of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03120" y="1325880"/>
          <a:ext cx="49377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Examples of accounts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Accounts Receivable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Tools &amp; Equipment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Truck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Notes Payable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Accounts Payable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Capital Stock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1E1E"/>
                          </a:solidFill>
                          <a:latin typeface="Aptos"/>
                        </a:rPr>
                        <a:t>Retained Earnings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74980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Each account records increases, decreases and a balance.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T-accounts: a simple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2194560" cy="3200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Account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874519"/>
            <a:ext cx="3291840" cy="4572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53712" y="1874519"/>
            <a:ext cx="45720" cy="246888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2377440"/>
            <a:ext cx="1463040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2E5E91"/>
                </a:solidFill>
                <a:latin typeface="Aptos"/>
              </a:rPr>
              <a:t>Debit
(left side)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1463040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BE232D"/>
                </a:solidFill>
                <a:latin typeface="Aptos"/>
              </a:rPr>
              <a:t>Credit
(right side)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7498079" cy="5486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Debit and credit are conventional labels. They do not mean good/bad or plus/minus by themselves.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Debit and credit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7315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Account type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Debit means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Credit means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Assets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Increase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Decrease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Liabilities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Decrease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Increase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Equity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Decrease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Increase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Decrease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Increase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Expenses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Increase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Decrease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Dividends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Increase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Decrease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BE232D"/>
                </a:solidFill>
                <a:latin typeface="Aptos"/>
              </a:rPr>
              <a:t>Start with the account type. Then decide whether it increases or decreases.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Double-entry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600" b="1">
                <a:solidFill>
                  <a:srgbClr val="192A41"/>
                </a:solidFill>
                <a:latin typeface="Aptos"/>
              </a:rPr>
              <a:t>Total debits must equal total credits.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60604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2788920"/>
            <a:ext cx="2103120" cy="32004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ctr"/>
            <a:r>
              <a:rPr sz="1700" b="1">
                <a:solidFill>
                  <a:srgbClr val="2E5E91"/>
                </a:solidFill>
                <a:latin typeface="Aptos"/>
              </a:rPr>
              <a:t>DEBITS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60604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560" y="2788920"/>
            <a:ext cx="2103120" cy="32004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ctr"/>
            <a:r>
              <a:rPr sz="1700" b="1">
                <a:solidFill>
                  <a:srgbClr val="BE232D"/>
                </a:solidFill>
                <a:latin typeface="Aptos"/>
              </a:rPr>
              <a:t>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62072"/>
            <a:ext cx="457200" cy="41148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2600" b="1">
                <a:solidFill>
                  <a:srgbClr val="BE232D"/>
                </a:solidFill>
                <a:latin typeface="Aptos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697078"/>
                </a:solidFill>
                <a:latin typeface="Aptos"/>
              </a:rPr>
              <a:t>Equality does not prove that the right accounts were 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Journal entries and posting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ACCOUNTING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Journal entry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Initial recording of the transaction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Posting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Copying the journal entry to the ledger accounts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Trial balance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List of account balances used to prepare statements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9204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Transaction → Journal → Ledger → Trial Balance → Financial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1: shareholders invest $8,000 cash in JJ's Lawn Care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Cash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Capital Stock increases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2 – REUSING THE PROGRESSIVE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Back to James Jones' Lawn Care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9436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We already used these transactions to understand the accounting equation and build the financial statements.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87168"/>
            <a:ext cx="29718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5E91"/>
                </a:solidFill>
                <a:latin typeface="Aptos"/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71800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What is the economic effect?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47872"/>
            <a:ext cx="29718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697078"/>
                </a:solidFill>
                <a:latin typeface="Aptos"/>
              </a:rPr>
              <a:t>Assets? Liabilities? Equity?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71800"/>
            <a:ext cx="548640" cy="50292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2800" b="1">
                <a:solidFill>
                  <a:srgbClr val="BE232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2402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2487168"/>
            <a:ext cx="29718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BE232D"/>
                </a:solidFill>
                <a:latin typeface="Aptos"/>
              </a:rPr>
              <a:t>CHAPTER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926080"/>
            <a:ext cx="29718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How is it recorded?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547872"/>
            <a:ext cx="29718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697078"/>
                </a:solidFill>
                <a:latin typeface="Aptos"/>
              </a:rPr>
              <a:t>Which account? Debit or credit?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700" b="1">
                <a:solidFill>
                  <a:srgbClr val="BE232D"/>
                </a:solidFill>
                <a:latin typeface="Aptos"/>
              </a:rPr>
              <a:t>We now replay exactly the same transactions — one by one — through the accounting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#1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1: shareholders invest $8,000 cash in JJ's Lawn Care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Cash 8,000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Capital Stock 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Assets increase; equity increases.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2: JJ's purchases a riding lawn mower for $2,500 cash.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Tools &amp; Equipment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Cash decreases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#2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2: JJ's purchases a riding lawn mower for $2,500 cash.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Tools &amp; Equipment 2,500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Cash 2,500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One asset increases; another asset decreases.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8: JJ's purchases a $15,000 truck, pays $2,000 cash and signs a $13,000 note.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Truck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Cash decreases; Notes Payable increases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#3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8: JJ's purchases a $15,000 truck, pays $2,000 cash and signs a $13,000 note.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Truck 15,000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Cash 2,000 • Cr Notes Payable 13,000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Assets and liabilities both increase.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11: JJ's purchases $300 repair parts on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Tools &amp; Equipment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Accounts Payable increases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#4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11: JJ's purchases $300 repair parts on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Tools &amp; Equipment 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Accounts Payable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Assets and liabilities both increase.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18: JJ's sells half the repair parts for $150 on account, equal to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Accounts Receivable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Tools &amp; Equipment decreases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#5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18: JJ's sells half the repair parts for $150 on account, equal to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Accounts Receivable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Tools &amp; Equipment 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One asset replaces another.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25: customer ABC Lawns pays $75 as partial settlement of receivable.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Cash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Accounts Receivable decreases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#6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25: customer ABC Lawns pays $75 as partial settlement of receivable.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Cash 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Accounts Receivable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One asset replaces another.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28: JJ's pays $150 cash of its accounts payable.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560320" cy="41148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600" b="1">
                <a:solidFill>
                  <a:srgbClr val="2E5E91"/>
                </a:solidFill>
                <a:latin typeface="Aptos"/>
              </a:rPr>
              <a:t>Accounts Payable decreases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2633472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BE232D"/>
                </a:solidFill>
                <a:latin typeface="Aptos"/>
              </a:rPr>
              <a:t>Cash decreases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Which account is debited? Which account is credited?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#7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28: JJ's pays $150 cash of its accounts payable.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Accounts Payable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Cash 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Assets and liabilities both decrease.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Balance Sheet after the first seven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2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Assets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$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Liabilities &amp; Equity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$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3,425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Notes payable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13,000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Accounts receivable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Accounts payable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150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Tools &amp; equipment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2,650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Capital stock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8,000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Truck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15,000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21,150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21,150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349240"/>
            <a:ext cx="7589520" cy="45720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500" b="1">
                <a:solidFill>
                  <a:srgbClr val="BE232D"/>
                </a:solidFill>
                <a:latin typeface="Aptos"/>
              </a:rPr>
              <a:t>No retained earnings yet because we have not recorded revenue or expense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BE232D"/>
                </a:solidFill>
                <a:latin typeface="Aptos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Revenues, Expenses and Net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74066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>
                <a:solidFill>
                  <a:srgbClr val="CDD7E1"/>
                </a:solidFill>
                <a:latin typeface="Aptos"/>
              </a:rPr>
              <a:t>Move from asset/liability mechanics to profitability and accrual accounting.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Revenue and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MEASURING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64207"/>
            <a:ext cx="323697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327D55"/>
                </a:solidFill>
                <a:latin typeface="Aptos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75104"/>
            <a:ext cx="323697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Increases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14015"/>
            <a:ext cx="3236976" cy="160019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Price earned for goods sold or services rendered during a period.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1664207"/>
            <a:ext cx="3236976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975104"/>
            <a:ext cx="323697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1">
                <a:solidFill>
                  <a:srgbClr val="192A41"/>
                </a:solidFill>
                <a:latin typeface="Aptos"/>
              </a:rPr>
              <a:t>Decreases equity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414015"/>
            <a:ext cx="3236976" cy="160019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>
                <a:solidFill>
                  <a:srgbClr val="697078"/>
                </a:solidFill>
                <a:latin typeface="Aptos"/>
              </a:rPr>
              <a:t>Cost of goods or services used up to generate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400" b="1">
                <a:solidFill>
                  <a:srgbClr val="192A41"/>
                </a:solidFill>
                <a:latin typeface="Aptos"/>
              </a:rPr>
              <a:t>Net income = revenues – 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What is net income?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MEASURING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73736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Outcome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E1E1E"/>
                          </a:solidFill>
                          <a:latin typeface="Aptos"/>
                        </a:rPr>
                        <a:t>Revenues &gt; Expenses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E1E1E"/>
                          </a:solidFill>
                          <a:latin typeface="Aptos"/>
                        </a:rPr>
                        <a:t>Net income / profit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E1E1E"/>
                          </a:solidFill>
                          <a:latin typeface="Aptos"/>
                        </a:rPr>
                        <a:t>Revenues &lt; Expenses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E1E1E"/>
                          </a:solidFill>
                          <a:latin typeface="Aptos"/>
                        </a:rPr>
                        <a:t>Net loss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572000"/>
            <a:ext cx="7589520" cy="59436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Profit belongs to shareholders and increases equity, unless distributed later as dividends.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Retained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MEASURING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772400" cy="59436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2400" b="1">
                <a:solidFill>
                  <a:srgbClr val="192A41"/>
                </a:solidFill>
                <a:latin typeface="Aptos"/>
              </a:rPr>
              <a:t>Retained Earnings = accumulated net income – dividends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694944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Profits increase shareholders' equity.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Losses decrease shareholders' equity.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Dividends distribute part of equity back to shareholders.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Dividends are not expenses.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time-period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ACCRUAL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589520" cy="54864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 algn="ctr"/>
            <a:r>
              <a:rPr sz="2000" b="1">
                <a:solidFill>
                  <a:srgbClr val="192A41"/>
                </a:solidFill>
                <a:latin typeface="Aptos"/>
              </a:rPr>
              <a:t>Net income is calculated for short accounting periods: months, quarters or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7589520" cy="54864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/>
            <a:r>
              <a:rPr sz="2200" b="1">
                <a:solidFill>
                  <a:srgbClr val="BE232D"/>
                </a:solidFill>
                <a:latin typeface="Aptos"/>
              </a:rPr>
              <a:t>The question is not only “what happened?” but “in which period did it happen?”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This is the starting point of accrual accounting.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realization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ACCRUAL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Revenue is recognized when goods are sold or services are rendered.</a:t>
            </a:r>
          </a:p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The date of the contract does not necessarily matter.</a:t>
            </a:r>
          </a:p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The date of cash receipt does not necessarily matter.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51960"/>
            <a:ext cx="7040880" cy="960120"/>
          </a:xfrm>
          <a:prstGeom prst="roundRect">
            <a:avLst>
              <a:gd name="adj" fmla="val 8000"/>
            </a:avLst>
          </a:prstGeom>
          <a:solidFill>
            <a:srgbClr val="EBF6F0"/>
          </a:solidFill>
          <a:ln>
            <a:solidFill>
              <a:srgbClr val="EB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4498848"/>
            <a:ext cx="66751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327D55"/>
                </a:solidFill>
                <a:latin typeface="Aptos"/>
              </a:rPr>
              <a:t>Revenue follows performance, not necessarily cash.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Revenue recognition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ACCRUAL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71600"/>
          <a:ext cx="7589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Event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Nov 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Customer asks for lawn services; price agreed at $500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Dec 20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Customer pays $500 in advance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Jan 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JJ's performs the service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8912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>
                <a:solidFill>
                  <a:srgbClr val="BE232D"/>
                </a:solidFill>
                <a:latin typeface="Aptos"/>
              </a:rPr>
              <a:t>When should the $500 revenue be recorded?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758952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Answer: January, when the service is rendered.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matching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ACCRUAL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Expenses are recorded in the period in which they are used to generate revenue.</a:t>
            </a:r>
          </a:p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For a given period, revenue must be matched with the expenses incurred to produce it.</a:t>
            </a:r>
          </a:p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Cash payment timing can be different from expense recognition.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200" b="1">
                <a:solidFill>
                  <a:srgbClr val="BE232D"/>
                </a:solidFill>
                <a:latin typeface="Aptos"/>
              </a:rPr>
              <a:t>This is why profit and cash can differ significantly.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Matching principle example: prepaid 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ACCRUAL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On June 1, the company pays $12,000 for one year of office rent.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1488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Rent expense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September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$1,000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Last quarter of 2007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$3,000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Full year 2007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$7,000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Full year 2008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$5,000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48640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Cash paid on day one: $12,000. Expense recognized progressively.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Accrual basis vs cash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3 – ACCRUAL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08760"/>
          <a:ext cx="7498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Accrual basis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Cash basis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When earned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When cash is received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Expense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When incurred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When cash is paid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Main purpose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Measure profitability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1E1E"/>
                          </a:solidFill>
                          <a:latin typeface="Aptos"/>
                        </a:rPr>
                        <a:t>Measure cash movements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7492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ctr"/>
            <a:r>
              <a:rPr sz="1500" b="1">
                <a:solidFill>
                  <a:srgbClr val="192A41"/>
                </a:solidFill>
                <a:latin typeface="Aptos"/>
              </a:rPr>
              <a:t>Financial statements are prepared using accrual logic; cash flow statements reconcile the cash perspective.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3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29: JJ's provides lawn care services for $750 cash.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>
                <a:solidFill>
                  <a:srgbClr val="BE232D"/>
                </a:solidFill>
                <a:latin typeface="Aptos"/>
              </a:rPr>
              <a:t>Which account increases? Which side is debit or credit?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#8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29: JJ's provides lawn care services for $750 cash.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Cash 750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Sales Revenue 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Revenue increases equity; cash also increases.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3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May 31: JJ's purchases gasoline for $50 cash.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>
                <a:solidFill>
                  <a:srgbClr val="BE232D"/>
                </a:solidFill>
                <a:latin typeface="Aptos"/>
              </a:rPr>
              <a:t>Which account increases? Which side is debit or credit?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Transaction #9 – journal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31: JJ's purchases gasoline for $50 cash.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2E5E91"/>
                </a:solidFill>
                <a:latin typeface="Aptos"/>
              </a:rPr>
              <a:t>DEBIT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Gasoline Expense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1546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BE232D"/>
                </a:solidFill>
                <a:latin typeface="Aptos"/>
              </a:rPr>
              <a:t>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1546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Cr Cash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Expense decreases equity; cash also decreases.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Trial balance, Income Statement and Balance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3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417320"/>
          <a:ext cx="3474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Income Statement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$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Sales revenue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750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Gasoline expense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(50)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Net income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700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1417320"/>
          <a:ext cx="36118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Balance Sheet impact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$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Cash ending balance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4,125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Retained earnings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700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Total assets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21,850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Liabilities + equity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21,850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57800"/>
            <a:ext cx="749807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The trial balance proves equality of debits and credits — but nothing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Dividends: distribution, not expense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 dirty="0">
                <a:solidFill>
                  <a:srgbClr val="BE232D"/>
                </a:solidFill>
                <a:latin typeface="Aptos"/>
              </a:rPr>
              <a:t>CHAPTER 3 – </a:t>
            </a:r>
            <a:r>
              <a:rPr lang="fr-FR" sz="800" b="1" dirty="0">
                <a:solidFill>
                  <a:srgbClr val="BE232D"/>
                </a:solidFill>
                <a:latin typeface="Aptos"/>
              </a:rPr>
              <a:t>James</a:t>
            </a:r>
            <a:r>
              <a:rPr sz="800" b="1" dirty="0">
                <a:solidFill>
                  <a:srgbClr val="BE232D"/>
                </a:solidFill>
                <a:latin typeface="Aptos"/>
              </a:rPr>
              <a:t> JONES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31: JJ's Lawn Care pays a $200 cash dividend to shareholders.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423160"/>
            <a:ext cx="713232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67665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BE232D"/>
                </a:solidFill>
                <a:latin typeface="Aptos"/>
              </a:rPr>
              <a:t>Dr Dividends 200     •     Cr Cash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7589520" cy="59436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The dividend reduces cash and equity, but it is not an expense and does not reduce net income.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BE232D"/>
                </a:solidFill>
                <a:latin typeface="Aptos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Accruals and Deferrals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74066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>
                <a:solidFill>
                  <a:srgbClr val="CDD7E1"/>
                </a:solidFill>
                <a:latin typeface="Aptos"/>
              </a:rPr>
              <a:t>Adjust accounts at period-end so financial statements reflect the right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Why do accountants adjust?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ACCRUALS AND DEFERRALS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At period-end, accounts must be updated before preparing financial statements.</a:t>
            </a:r>
          </a:p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Adjustments ensure revenues and expenses are recorded in the proper period.</a:t>
            </a:r>
          </a:p>
          <a:p>
            <a:pPr>
              <a:spcAft>
                <a:spcPts val="800"/>
              </a:spcAft>
              <a:defRPr sz="1700">
                <a:solidFill>
                  <a:srgbClr val="192A41"/>
                </a:solidFill>
                <a:latin typeface="Aptos"/>
              </a:defRPr>
            </a:pPr>
            <a:r>
              <a:t>•  Timing gaps often exist between economic activity and cash payment/receipt.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Every adjusting entry involves an Income Statement account and a Balance Sheet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Four basic types of adjusting entries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ACCRUALS AND DEFERRALS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81381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Timing pattern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Convert assets to expenses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Cash paid before expense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Prepaid insurance, depreciation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Accrue unpaid expenses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Expense before cash payment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Wages payable, interest payable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Convert liabilities to revenue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Cash received before revenue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Advance customer payments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Accrue uncollected revenue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Revenue before cash receipt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Unbilled services, interest earned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7589520" cy="3200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Think timing first; the journal entry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Converting assets to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9436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Cash was paid in advance. An asset was recorded first. Over time, part of the asset is consumed.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1460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24688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Prepaid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52928"/>
            <a:ext cx="457200" cy="36576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2200" b="1">
                <a:solidFill>
                  <a:srgbClr val="BE232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51460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80" y="2834640"/>
            <a:ext cx="24688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Adjustment: Expense ↑ and Asset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Example: prepaid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08760"/>
          <a:ext cx="7498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Journal entry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Jan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Dr Unexpired Insurance 2,400 / Cr Cash 2,400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Jan 31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Dr Insurance Expense 200 / Cr Unexpired Insurance 200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572000"/>
            <a:ext cx="7589520" cy="5486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The January Income Statement shows $200 expense; the Balance Sheet still carries $2,200 asset.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Depreciation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9436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Depreciation is the systematic allocation of the cost of a depreciable asset over its useful life.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2316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Asset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Useful life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Monthly depreciation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Lawn mower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$2,500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50 months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$50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Truck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$15,000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60 months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$250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5780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Depreciation is an expense without a new cash payment at month-end.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Accumulated depreciation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7315200" cy="155448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38528"/>
            <a:ext cx="694944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Dr Depreciation Expense     •     Cr Accumulated Depreciation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73152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Depreciation expense appears in the Income Statement.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Accumulated depreciation is a contra-asset on the Balance Sheet.</a:t>
            </a:r>
          </a:p>
          <a:p>
            <a:pPr>
              <a:spcAft>
                <a:spcPts val="800"/>
              </a:spcAft>
              <a:defRPr sz="1500">
                <a:solidFill>
                  <a:srgbClr val="192A41"/>
                </a:solidFill>
                <a:latin typeface="Aptos"/>
              </a:defRPr>
            </a:pPr>
            <a:r>
              <a:t>•  Net book value = gross cost – accumulated depreciation.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Converting liabilities to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9436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Cash was received in advance. A liability was recorded first. Revenue is recognized as performance occurs.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1460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246888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Unearned revenue
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52928"/>
            <a:ext cx="457200" cy="36576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2200" b="1">
                <a:solidFill>
                  <a:srgbClr val="BE232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51460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EBF6F0"/>
          </a:solidFill>
          <a:ln>
            <a:solidFill>
              <a:srgbClr val="EB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80" y="2834640"/>
            <a:ext cx="24688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327D55"/>
                </a:solidFill>
                <a:latin typeface="Aptos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Adjustment: Liability ↓ and Revenue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Example: rental revenue received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On January 1, Webb Co. receives $6,000 in advance for a one-year rental contract.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43200"/>
            <a:ext cx="6858000" cy="54864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542032"/>
            <a:ext cx="457200" cy="457200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9144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192A41"/>
                </a:solidFill>
                <a:latin typeface="Aptos"/>
              </a:rPr>
              <a:t>JAN. 1</a:t>
            </a:r>
          </a:p>
        </p:txBody>
      </p:sp>
      <p:sp>
        <p:nvSpPr>
          <p:cNvPr id="9" name="Oval 8"/>
          <p:cNvSpPr/>
          <p:nvPr/>
        </p:nvSpPr>
        <p:spPr>
          <a:xfrm>
            <a:off x="7543800" y="2542032"/>
            <a:ext cx="457200" cy="457200"/>
          </a:xfrm>
          <a:prstGeom prst="ellipse">
            <a:avLst/>
          </a:prstGeom>
          <a:solidFill>
            <a:srgbClr val="BE232D"/>
          </a:solidFill>
          <a:ln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3154680"/>
            <a:ext cx="9144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192A41"/>
                </a:solidFill>
                <a:latin typeface="Aptos"/>
              </a:rPr>
              <a:t>DEC.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65960"/>
            <a:ext cx="53949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2E5E91"/>
                </a:solidFill>
                <a:latin typeface="Aptos"/>
              </a:rPr>
              <a:t>$6,000 rental contract coverage for 12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88620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EBF6F0"/>
          </a:solidFill>
          <a:ln>
            <a:solidFill>
              <a:srgbClr val="EB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4178808"/>
            <a:ext cx="466344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100" b="1">
                <a:solidFill>
                  <a:srgbClr val="327D55"/>
                </a:solidFill>
                <a:latin typeface="Aptos"/>
              </a:rPr>
              <a:t>$500 monthly rental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At receipt: the $6,000 is a liability. Each month, $500 becomes earned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Example: advance rental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08760"/>
          <a:ext cx="75895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Journal entry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Jan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Dr Cash 6,000 / Cr Unearned Rental Revenue 6,000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Jan 31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Dr Unearned Rental Revenue 500 / Cr Rental Revenue 500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6344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BE232D"/>
                </a:solidFill>
                <a:latin typeface="Aptos"/>
              </a:rPr>
              <a:t>Cash received is not automatically revenue. Until earned, it is an obligation.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Accruing unpaid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The expense belongs to the current period, but cash will be paid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731520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6858000" cy="41148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2200" b="1">
                <a:solidFill>
                  <a:srgbClr val="BE232D"/>
                </a:solidFill>
                <a:latin typeface="Aptos"/>
              </a:rPr>
              <a:t>Dr Expense     •     Cr 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Examples: wages, salaries, interest, property taxes.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Example: wages payable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May 31: Webb Co. owes employees $3,000. Payday is June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7315200" cy="132588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694944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>
                <a:solidFill>
                  <a:srgbClr val="BE232D"/>
                </a:solidFill>
                <a:latin typeface="Aptos"/>
              </a:rPr>
              <a:t>Dr Wages Expense 3,000     •     Cr Wages Payable 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The expense appears in May's Income Statement; the liability appears in May's Balance 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Accruing uncollected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ADJUSTING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The revenue belongs to the current period, but cash will be collected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7315200" cy="1325880"/>
          </a:xfrm>
          <a:prstGeom prst="roundRect">
            <a:avLst>
              <a:gd name="adj" fmla="val 8000"/>
            </a:avLst>
          </a:prstGeom>
          <a:solidFill>
            <a:srgbClr val="EBF6F0"/>
          </a:solidFill>
          <a:ln>
            <a:solidFill>
              <a:srgbClr val="EB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6858000" cy="41148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2200" b="1">
                <a:solidFill>
                  <a:srgbClr val="327D55"/>
                </a:solidFill>
                <a:latin typeface="Aptos"/>
              </a:rPr>
              <a:t>Dr Receivable     •     Cr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7589520" cy="41148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700" b="1">
                <a:solidFill>
                  <a:srgbClr val="192A41"/>
                </a:solidFill>
                <a:latin typeface="Aptos"/>
              </a:rPr>
              <a:t>Examples: interest earned but not yet received; work completed but not yet billed.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The adjusting logic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CHAPTER 4 – ACCRUALS AND DEFERRALS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795527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If yes, likely adjustment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Did cash move before the economic event?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Deferral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Did the economic event occur before cash?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Accrual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Was an asset consumed?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Expense ↑ / Asset 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Was a liability earned through performance?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Revenue ↑ / Liability ↓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Was revenue earned but not collected?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Receivable ↑ / Revenue ↑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Was expense incurred but not paid?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Expense ↑ / Liability ↑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What this prerequisite has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You can identify the three statements and their different time perspectives.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You understand the accounting equation and how transactions affect it.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You understand the logic of accounts, journal entries, debits and credits.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You understand why accrual accounting separates profit from cash timing.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You understand why period-end adjustments are needed before publishing statements.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7589520" cy="45720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Next step: use these statements to analyse performance, financing, risk and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6547104"/>
            <a:ext cx="36576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r"/>
            <a:r>
              <a:rPr sz="700">
                <a:solidFill>
                  <a:srgbClr val="697078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41"/>
          </a:solidFill>
          <a:ln>
            <a:solidFill>
              <a:srgbClr val="19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Going a little further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Accounts Receivable: value depends on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900" b="1">
                <a:solidFill>
                  <a:srgbClr val="192A41"/>
                </a:solidFill>
                <a:latin typeface="Aptos"/>
              </a:rPr>
              <a:t>A receivable is an asset — but not every receivable will necessarily be collected in full.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2697480" cy="32004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ctr"/>
            <a:r>
              <a:rPr sz="1700" b="1">
                <a:solidFill>
                  <a:srgbClr val="2E5E91"/>
                </a:solidFill>
                <a:latin typeface="Aptos"/>
              </a:rPr>
              <a:t>Gross receivables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0">
                <a:solidFill>
                  <a:srgbClr val="697078"/>
                </a:solidFill>
                <a:latin typeface="Aptos"/>
              </a:rPr>
              <a:t>Amounts billed to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743200"/>
            <a:ext cx="457200" cy="411480"/>
          </a:xfrm>
          <a:prstGeom prst="rect">
            <a:avLst/>
          </a:prstGeom>
          <a:noFill/>
        </p:spPr>
        <p:txBody>
          <a:bodyPr wrap="square" anchor="ctr">
            <a:normAutofit fontScale="92500" lnSpcReduction="10000"/>
          </a:bodyPr>
          <a:lstStyle/>
          <a:p>
            <a:pPr algn="ctr"/>
            <a:r>
              <a:rPr sz="2500" b="1">
                <a:solidFill>
                  <a:srgbClr val="BE232D"/>
                </a:solidFill>
                <a:latin typeface="Aptos"/>
              </a:rPr>
              <a:t>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24028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2514600"/>
            <a:ext cx="2697480" cy="32004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BE232D"/>
                </a:solidFill>
                <a:latin typeface="Aptos"/>
              </a:rPr>
              <a:t>Allowance / impairment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063240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0">
                <a:solidFill>
                  <a:srgbClr val="697078"/>
                </a:solidFill>
                <a:latin typeface="Aptos"/>
              </a:rPr>
              <a:t>Expected uncollectible amounts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85000" lnSpcReduction="10000"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Analyst question: how much of the reported receivable balance is really collectible?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Receivables: speed of collection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17320"/>
          <a:ext cx="7589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it tells you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Accounts Receivable Turnover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How many times receivables are converted into cash during the year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Average Collection Period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Approximate number of days customers take to pay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1560" y="4343400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AF5E8"/>
          </a:solidFill>
          <a:ln>
            <a:solidFill>
              <a:srgbClr val="FA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4553712"/>
            <a:ext cx="6583680" cy="50292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700" b="1">
                <a:solidFill>
                  <a:srgbClr val="B9872D"/>
                </a:solidFill>
                <a:latin typeface="Aptos"/>
              </a:rPr>
              <a:t>More days outstanding → more cash tied up → potentially more credit and liquidity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From accounting to financial statement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Compare amounts across periods: dollar and percentage changes.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Use trend analysis to identify direction over several periods.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Use common-size statements to compare structure across companies or periods.</a:t>
            </a:r>
          </a:p>
          <a:p>
            <a:pPr>
              <a:spcAft>
                <a:spcPts val="800"/>
              </a:spcAft>
              <a:defRPr sz="1600">
                <a:solidFill>
                  <a:srgbClr val="192A41"/>
                </a:solidFill>
                <a:latin typeface="Aptos"/>
              </a:defRPr>
            </a:pPr>
            <a:r>
              <a:t>•  Use ratios to connect different financial statement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ctr"/>
            <a:r>
              <a:rPr sz="2000" b="1">
                <a:solidFill>
                  <a:srgbClr val="BE232D"/>
                </a:solidFill>
                <a:latin typeface="Aptos"/>
              </a:rPr>
              <a:t>Accounting produces the information. Analysis asks what the information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Common-size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Statement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Common-size basis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Example interpretation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Income Statement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Each item as % of Revenue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How much of sales is absorbed by wages, purchases or interest?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Balance Sheet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Each item as % of Total Assets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E1E1E"/>
                          </a:solidFill>
                          <a:latin typeface="Aptos"/>
                        </a:rPr>
                        <a:t>How asset-intensive, inventory-heavy or debt-funded is the company?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892040"/>
            <a:ext cx="75895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192A41"/>
                </a:solidFill>
                <a:latin typeface="Aptos"/>
              </a:rPr>
              <a:t>Useful because absolute size disappears: structure becomes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Profitability does not guarantee liquidity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EBF6F0"/>
          </a:solidFill>
          <a:ln>
            <a:solidFill>
              <a:srgbClr val="EB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327D55"/>
                </a:solidFill>
                <a:latin typeface="Aptos"/>
              </a:rPr>
              <a:t>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82880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0">
                <a:solidFill>
                  <a:srgbClr val="192A41"/>
                </a:solidFill>
                <a:latin typeface="Aptos"/>
              </a:rPr>
              <a:t>Is the business profitable?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2E5E91"/>
                </a:solidFill>
                <a:latin typeface="Aptos"/>
              </a:rPr>
              <a:t>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182880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0">
                <a:solidFill>
                  <a:srgbClr val="192A41"/>
                </a:solidFill>
                <a:latin typeface="Aptos"/>
              </a:rPr>
              <a:t>Can near-term obligations be paid?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0876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FAEEEF"/>
          </a:solidFill>
          <a:ln>
            <a:solidFill>
              <a:srgbClr val="F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BE232D"/>
                </a:solidFill>
                <a:latin typeface="Aptos"/>
              </a:rPr>
              <a:t>SOLVENCY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182880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0">
                <a:solidFill>
                  <a:srgbClr val="192A41"/>
                </a:solidFill>
                <a:latin typeface="Aptos"/>
              </a:rPr>
              <a:t>Is the financial structure sustainable?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100" b="1">
                <a:solidFill>
                  <a:srgbClr val="BE232D"/>
                </a:solidFill>
                <a:latin typeface="Aptos"/>
              </a:rPr>
              <a:t>A company can report profit and still face cash pressure.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Two first liquidity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8046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Formula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Working Capital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Current Assets – Current Liabilities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Absolute short-term liquidity cushion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Current Ratio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Current Assets / Current Liabilities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Relative coverage of short-term obligations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Quick Ratio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Quick Assets / Current Liabilities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E1E1E"/>
                          </a:solidFill>
                          <a:latin typeface="Aptos"/>
                        </a:rPr>
                        <a:t>Stricter liquidity view excluding inventory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166360"/>
            <a:ext cx="7589520" cy="50292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sz="1600" b="1">
                <a:solidFill>
                  <a:srgbClr val="192A41"/>
                </a:solidFill>
                <a:latin typeface="Aptos"/>
              </a:rPr>
              <a:t>Ratios are indicators, not conclusions: industry, seasonality and asset quality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09728"/>
            <a:ext cx="8046720" cy="201168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800" b="1">
                <a:solidFill>
                  <a:srgbClr val="BE232D"/>
                </a:solidFill>
                <a:latin typeface="Aptos"/>
              </a:rPr>
              <a:t>OPTIONAL • CHAPTER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300" b="1">
                <a:solidFill>
                  <a:srgbClr val="192A41"/>
                </a:solidFill>
                <a:latin typeface="Aptos"/>
              </a:rPr>
              <a:t>Debt and interest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731520" cy="36576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Simple formula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45720" marR="45720" marT="18288" marB="18288" anchor="ctr">
                    <a:solidFill>
                      <a:srgbClr val="19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Debt Ratio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Total Liabilities / Total Assets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How much of the asset base is financed by creditors?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Interest Coverage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EBIT / Interest Expense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1E1E"/>
                          </a:solidFill>
                          <a:latin typeface="Aptos"/>
                        </a:rPr>
                        <a:t>How comfortably can operating profit cover interest?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17720"/>
            <a:ext cx="7589520" cy="54864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BE232D"/>
                </a:solidFill>
                <a:latin typeface="Aptos"/>
              </a:rPr>
              <a:t>Higher leverage can increase financial risk; weak coverage can signal debt-service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758952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697078"/>
                </a:solidFill>
                <a:latin typeface="Aptos"/>
              </a:rPr>
              <a:t>Stop here in Accounting — deeper ratio analysis belongs to Corporate Finance.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Accounting Prerequisites – MSc CFM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860db96-b53f-4bd7-8137-e09357cab268}" enabled="1" method="Standard" siteId="{b78d03e6-f6a2-4cff-83be-847d1a6453f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4976</Words>
  <Application>Microsoft Office PowerPoint</Application>
  <PresentationFormat>Affichage à l'écran (4:3)</PresentationFormat>
  <Paragraphs>1004</Paragraphs>
  <Slides>85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85</vt:i4>
      </vt:variant>
    </vt:vector>
  </HeadingPairs>
  <TitlesOfParts>
    <vt:vector size="89" baseType="lpstr">
      <vt:lpstr>Aptos</vt:lpstr>
      <vt:lpstr>Arial</vt:lpstr>
      <vt:lpstr>Calibri</vt:lpstr>
      <vt:lpstr>Office Theme</vt:lpstr>
      <vt:lpstr>ACCOUNTING PREREQUISITES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Accounting Prerequisites 2026 V2</dc:title>
  <dc:subject>Modernized deck close to original, no embedded exercises</dc:subject>
  <dc:creator>Prepared with ChatGPT</dc:creator>
  <cp:keywords/>
  <dc:description>generated using python-pptx</dc:description>
  <cp:lastModifiedBy>KAMMOUN Mohamed Ali</cp:lastModifiedBy>
  <cp:revision>4</cp:revision>
  <dcterms:created xsi:type="dcterms:W3CDTF">2013-01-27T09:14:16Z</dcterms:created>
  <dcterms:modified xsi:type="dcterms:W3CDTF">2026-09-08T05:41:44Z</dcterms:modified>
  <cp:category/>
</cp:coreProperties>
</file>