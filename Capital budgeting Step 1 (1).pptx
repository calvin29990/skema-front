
<file path=[Content_Types].xml><?xml version="1.0" encoding="utf-8"?>
<Types xmlns="http://schemas.openxmlformats.org/package/2006/content-types">
  <Default Extension="bin" ContentType="application/vnd.openxmlformats-officedocument.oleObject"/>
  <Default Extension="jp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13.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3" r:id="rId1"/>
    <p:sldMasterId id="2147483659" r:id="rId2"/>
  </p:sldMasterIdLst>
  <p:notesMasterIdLst>
    <p:notesMasterId r:id="rId74"/>
  </p:notesMasterIdLst>
  <p:handoutMasterIdLst>
    <p:handoutMasterId r:id="rId75"/>
  </p:handoutMasterIdLst>
  <p:sldIdLst>
    <p:sldId id="680" r:id="rId3"/>
    <p:sldId id="425" r:id="rId4"/>
    <p:sldId id="426" r:id="rId5"/>
    <p:sldId id="596" r:id="rId6"/>
    <p:sldId id="599" r:id="rId7"/>
    <p:sldId id="597" r:id="rId8"/>
    <p:sldId id="598" r:id="rId9"/>
    <p:sldId id="600" r:id="rId10"/>
    <p:sldId id="601" r:id="rId11"/>
    <p:sldId id="431" r:id="rId12"/>
    <p:sldId id="513" r:id="rId13"/>
    <p:sldId id="602" r:id="rId14"/>
    <p:sldId id="607" r:id="rId15"/>
    <p:sldId id="608" r:id="rId16"/>
    <p:sldId id="609" r:id="rId17"/>
    <p:sldId id="611" r:id="rId18"/>
    <p:sldId id="612" r:id="rId19"/>
    <p:sldId id="613" r:id="rId20"/>
    <p:sldId id="614" r:id="rId21"/>
    <p:sldId id="615" r:id="rId22"/>
    <p:sldId id="616" r:id="rId23"/>
    <p:sldId id="617" r:id="rId24"/>
    <p:sldId id="516" r:id="rId25"/>
    <p:sldId id="619" r:id="rId26"/>
    <p:sldId id="620" r:id="rId27"/>
    <p:sldId id="621" r:id="rId28"/>
    <p:sldId id="520" r:id="rId29"/>
    <p:sldId id="625" r:id="rId30"/>
    <p:sldId id="521" r:id="rId31"/>
    <p:sldId id="627" r:id="rId32"/>
    <p:sldId id="626" r:id="rId33"/>
    <p:sldId id="631" r:id="rId34"/>
    <p:sldId id="532" r:id="rId35"/>
    <p:sldId id="632" r:id="rId36"/>
    <p:sldId id="533" r:id="rId37"/>
    <p:sldId id="633" r:id="rId38"/>
    <p:sldId id="634" r:id="rId39"/>
    <p:sldId id="635" r:id="rId40"/>
    <p:sldId id="636" r:id="rId41"/>
    <p:sldId id="637" r:id="rId42"/>
    <p:sldId id="542" r:id="rId43"/>
    <p:sldId id="545" r:id="rId44"/>
    <p:sldId id="638" r:id="rId45"/>
    <p:sldId id="639" r:id="rId46"/>
    <p:sldId id="642" r:id="rId47"/>
    <p:sldId id="643" r:id="rId48"/>
    <p:sldId id="644" r:id="rId49"/>
    <p:sldId id="645" r:id="rId50"/>
    <p:sldId id="649" r:id="rId51"/>
    <p:sldId id="650" r:id="rId52"/>
    <p:sldId id="651" r:id="rId53"/>
    <p:sldId id="652" r:id="rId54"/>
    <p:sldId id="656" r:id="rId55"/>
    <p:sldId id="657" r:id="rId56"/>
    <p:sldId id="658" r:id="rId57"/>
    <p:sldId id="659" r:id="rId58"/>
    <p:sldId id="660" r:id="rId59"/>
    <p:sldId id="661" r:id="rId60"/>
    <p:sldId id="662" r:id="rId61"/>
    <p:sldId id="663" r:id="rId62"/>
    <p:sldId id="664" r:id="rId63"/>
    <p:sldId id="665" r:id="rId64"/>
    <p:sldId id="666" r:id="rId65"/>
    <p:sldId id="671" r:id="rId66"/>
    <p:sldId id="672" r:id="rId67"/>
    <p:sldId id="673" r:id="rId68"/>
    <p:sldId id="675" r:id="rId69"/>
    <p:sldId id="676" r:id="rId70"/>
    <p:sldId id="681" r:id="rId71"/>
    <p:sldId id="678" r:id="rId72"/>
    <p:sldId id="679" r:id="rId73"/>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2" pos="272" userDrawn="1">
          <p15:clr>
            <a:srgbClr val="A4A3A4"/>
          </p15:clr>
        </p15:guide>
        <p15:guide id="3" orient="horz" pos="436" userDrawn="1">
          <p15:clr>
            <a:srgbClr val="A4A3A4"/>
          </p15:clr>
        </p15:guide>
        <p15:guide id="4" pos="5488" userDrawn="1">
          <p15:clr>
            <a:srgbClr val="A4A3A4"/>
          </p15:clr>
        </p15:guide>
        <p15:guide id="5" orient="horz" pos="845" userDrawn="1">
          <p15:clr>
            <a:srgbClr val="A4A3A4"/>
          </p15:clr>
        </p15:guide>
        <p15:guide id="7" orient="horz" pos="2160" userDrawn="1">
          <p15:clr>
            <a:srgbClr val="A4A3A4"/>
          </p15:clr>
        </p15:guide>
        <p15:guide id="8" orient="horz" pos="1275" userDrawn="1">
          <p15:clr>
            <a:srgbClr val="A4A3A4"/>
          </p15:clr>
        </p15:guide>
        <p15:guide id="9" orient="horz" pos="402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Author" initials="A" lastIdx="0" clrIdx="7"/>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AE4"/>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321" autoAdjust="0"/>
    <p:restoredTop sz="96213" autoAdjust="0"/>
  </p:normalViewPr>
  <p:slideViewPr>
    <p:cSldViewPr snapToGrid="0" snapToObjects="1">
      <p:cViewPr varScale="1">
        <p:scale>
          <a:sx n="120" d="100"/>
          <a:sy n="120" d="100"/>
        </p:scale>
        <p:origin x="1808" y="176"/>
      </p:cViewPr>
      <p:guideLst>
        <p:guide pos="272"/>
        <p:guide orient="horz" pos="436"/>
        <p:guide pos="5488"/>
        <p:guide orient="horz" pos="845"/>
        <p:guide orient="horz" pos="2160"/>
        <p:guide orient="horz" pos="1275"/>
        <p:guide orient="horz" pos="4020"/>
      </p:guideLst>
    </p:cSldViewPr>
  </p:slideViewPr>
  <p:outlineViewPr>
    <p:cViewPr>
      <p:scale>
        <a:sx n="33" d="100"/>
        <a:sy n="33" d="100"/>
      </p:scale>
      <p:origin x="0" y="-43632"/>
    </p:cViewPr>
  </p:outlineViewPr>
  <p:notesTextViewPr>
    <p:cViewPr>
      <p:scale>
        <a:sx n="150" d="100"/>
        <a:sy n="150" d="100"/>
      </p:scale>
      <p:origin x="0" y="0"/>
    </p:cViewPr>
  </p:notesTextViewPr>
  <p:sorterViewPr>
    <p:cViewPr>
      <p:scale>
        <a:sx n="100" d="100"/>
        <a:sy n="100" d="100"/>
      </p:scale>
      <p:origin x="0" y="0"/>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notesMaster" Target="notesMasters/notesMaster1.xml"/><Relationship Id="rId79"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commentAuthors" Target="commentAuthors.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9/28/26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‹N°›</a:t>
            </a:fld>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dirty="0"/>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‹N°›</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this PowerPoint presentation contains mathematical equations, you may need to check that your computer has the following installed:</a:t>
            </a:r>
          </a:p>
          <a:p>
            <a:r>
              <a:rPr lang="en-US" dirty="0"/>
              <a:t>1) Math Type Plugin</a:t>
            </a:r>
          </a:p>
          <a:p>
            <a:r>
              <a:rPr lang="en-US" dirty="0"/>
              <a:t>2) Math Player (free versions available)</a:t>
            </a:r>
          </a:p>
          <a:p>
            <a:r>
              <a:rPr lang="en-US" dirty="0"/>
              <a:t>3) NVDA Reader (free versions available)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54199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Arial" panose="020B0604020202020204" pitchFamily="34" charset="0"/>
                <a:cs typeface="Arial" panose="020B0604020202020204" pitchFamily="34" charset="0"/>
              </a:rPr>
              <a:t>Long Description:</a:t>
            </a:r>
          </a:p>
          <a:p>
            <a:r>
              <a:rPr lang="en-US" sz="1200" b="0" i="0" u="none" strike="noStrike" dirty="0">
                <a:solidFill>
                  <a:srgbClr val="000000"/>
                </a:solidFill>
                <a:effectLst/>
                <a:latin typeface="Arial" panose="020B0604020202020204" pitchFamily="34" charset="0"/>
                <a:cs typeface="Arial" panose="020B0604020202020204" pitchFamily="34" charset="0"/>
              </a:rPr>
              <a:t>The table shows the following: Incremental Earnings: Forecast, thousand dollars: 1, Sales, Year 0, blank; Year 1, 23,500; Year 2, 23,500; Year 3, 23,500; Year 4, 23,500; Year 5, blank; 2, Cost of Goods Sold: Year 0, blank; Year 1, left parenthesis 9,500 right parenthesis; Year 2, left parenthesis 9,500 right parenthesis; Year 3, left parenthesis 9,500 right parenthesis; Year 4, left parenthesis 9,500 right parenthesis; Year 5, blank; 3, Gross Profit: Year 0, blank; Year 1, 14,000; Year 2, 14,000; Year 3, 14,000; Year 4, 14,000; Year 5, blank; 4, Selling: General, and Administrative: Year 0, blank; Year 1, left parenthesis 3,000 right parenthesis; Year 2, left parenthesis 3,000 right parenthesis; Year 3, left parenthesis 3,000 right parenthesis; Year 4, left parenthesis 3,000 right parenthesis; Year 5, blank; 5, Research and Development: Year 0, left parenthesis 15,000 right parenthesis; Year 1, blank; Year 2, blank; Year 3, blank; Year 4, blank; Year 5, blank; 6, Depreciation: Year 0, blank; Year 1, left parenthesis 1,500 right parenthesis; Year 2, left parenthesis 1,500 right parenthesis; Year 3, left parenthesis 1,500 right parenthesis; Year 4, left parenthesis 1,500 right parenthesis; Year 5, left parenthesis 1,500 right parenthesis; 7, EBIT: Year 0, left parenthesis 15,000 right parenthesis; Year 1, 9,500; Year 2, 9,500; Year 3, 9,500; Year 4, 9,500; Year 5, left parenthesis 1,500 right parenthesis; 8, Income Tax at 20 percent: Year 0, 3,000; Year 1, left parenthesis 1,900 right parenthesis; Year 2, left parenthesis 1,900 right parenthesis; Year 3, left parenthesis 1,900 right parenthesis; Year 4, left parenthesis 1,900 right parenthesis; Year 5, 300; 9, Unlevered Net Income: Year 0, left parenthesis 12,000 right parenthesis; Year 1, 7,600; Year 2, 7,600; Year 3, 7,600; Year 4, 7,600; Year 5, left parenthesis 1,200 right parenthesis; Free Cash Flow, thousand dollars, 10, Plus, Depreciation, Year 0, blank; Year 1, left parenthesis 1,500 right parenthesis; Year 2, left parenthesis 1,500 right parenthesis; Year 3, left parenthesis 1,500 right parenthesis; Year 4, left parenthesis 1,500 right parenthesis; Year 5, left parenthesis 1,500 right parenthesis; 11, Less, Capital Expenditures, Year 0, left parenthesis 7,500 right parenthesis; Year 1, blank; Year 2, blank; Year 3, blank; Year 4, blank; Year 5, blank; 12, Research and Development: Year 0, blank; Year 1, left parenthesis 2,100 right parenthesis; Year 2, blank; Year 3, blank; Year 4, blank; Year 5, 2,100; 13, Research and Development, Year 0, left parenthesis 19,500 right parenthesis; Year 1, 7,000; Year 2, 9,100; Year 3, 9,100; Year 4, 9,100; Year 5, 2,400.</a:t>
            </a:r>
            <a:endParaRPr lang="en-US"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619999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dirty="0">
                <a:latin typeface="Arial" panose="020B0604020202020204" pitchFamily="34" charset="0"/>
                <a:cs typeface="Arial" panose="020B0604020202020204" pitchFamily="34" charset="0"/>
              </a:rPr>
              <a:t>Long Description:</a:t>
            </a:r>
          </a:p>
          <a:p>
            <a:r>
              <a:rPr lang="en-IN" sz="1200" b="0" i="0" u="none" strike="noStrike" dirty="0">
                <a:solidFill>
                  <a:srgbClr val="000000"/>
                </a:solidFill>
                <a:effectLst/>
                <a:latin typeface="Arial" panose="020B0604020202020204" pitchFamily="34" charset="0"/>
                <a:cs typeface="Arial" panose="020B0604020202020204" pitchFamily="34" charset="0"/>
              </a:rPr>
              <a:t>Free cash flow equals left parenthesis revenues minus costs minus depreciation right parenthesis times left parenthesis 1 minus tau subscript c baseline right parenthesis plus depreciation minus </a:t>
            </a:r>
            <a:r>
              <a:rPr lang="en-IN" sz="1200" b="0" i="0" u="none" strike="noStrike" dirty="0" err="1">
                <a:solidFill>
                  <a:srgbClr val="000000"/>
                </a:solidFill>
                <a:effectLst/>
                <a:latin typeface="Arial" panose="020B0604020202020204" pitchFamily="34" charset="0"/>
                <a:cs typeface="Arial" panose="020B0604020202020204" pitchFamily="34" charset="0"/>
              </a:rPr>
              <a:t>CapEx</a:t>
            </a:r>
            <a:r>
              <a:rPr lang="en-IN" sz="1200" b="0" i="0" u="none" strike="noStrike" dirty="0">
                <a:solidFill>
                  <a:srgbClr val="000000"/>
                </a:solidFill>
                <a:effectLst/>
                <a:latin typeface="Arial" panose="020B0604020202020204" pitchFamily="34" charset="0"/>
                <a:cs typeface="Arial" panose="020B0604020202020204" pitchFamily="34" charset="0"/>
              </a:rPr>
              <a:t> minus delta N W C. Left parenthesis revenues minus cost minus depreciation right parenthesis times left parenthesis 1 minus tau subscript c baseline right parenthesis is </a:t>
            </a:r>
            <a:r>
              <a:rPr lang="en-IN" sz="1200" b="0" i="0" u="none" strike="noStrike" dirty="0" err="1">
                <a:solidFill>
                  <a:srgbClr val="000000"/>
                </a:solidFill>
                <a:effectLst/>
                <a:latin typeface="Arial" panose="020B0604020202020204" pitchFamily="34" charset="0"/>
                <a:cs typeface="Arial" panose="020B0604020202020204" pitchFamily="34" charset="0"/>
              </a:rPr>
              <a:t>labeled</a:t>
            </a:r>
            <a:r>
              <a:rPr lang="en-IN" sz="1200" b="0" i="0" u="none" strike="noStrike" dirty="0">
                <a:solidFill>
                  <a:srgbClr val="000000"/>
                </a:solidFill>
                <a:effectLst/>
                <a:latin typeface="Arial" panose="020B0604020202020204" pitchFamily="34" charset="0"/>
                <a:cs typeface="Arial" panose="020B0604020202020204" pitchFamily="34" charset="0"/>
              </a:rPr>
              <a:t> with curly brace as unlevered net income.</a:t>
            </a:r>
            <a:r>
              <a:rPr lang="en-IN" sz="1200" dirty="0">
                <a:latin typeface="Arial" panose="020B0604020202020204" pitchFamily="34" charset="0"/>
                <a:cs typeface="Arial" panose="020B0604020202020204" pitchFamily="34" charset="0"/>
              </a:rPr>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5066536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dirty="0">
                <a:latin typeface="Arial" panose="020B0604020202020204" pitchFamily="34" charset="0"/>
                <a:cs typeface="Arial" panose="020B0604020202020204" pitchFamily="34" charset="0"/>
              </a:rPr>
              <a:t>Long description 1:</a:t>
            </a:r>
          </a:p>
          <a:p>
            <a:r>
              <a:rPr lang="en-IN" sz="1200" b="0" i="0" u="none" strike="noStrike" dirty="0">
                <a:solidFill>
                  <a:srgbClr val="000000"/>
                </a:solidFill>
                <a:effectLst/>
                <a:latin typeface="Arial" panose="020B0604020202020204" pitchFamily="34" charset="0"/>
                <a:cs typeface="Arial" panose="020B0604020202020204" pitchFamily="34" charset="0"/>
              </a:rPr>
              <a:t>P V left parenthesis F C F subscript t baseline right parenthesis equals start fraction F C F subscript t baseline over left parenthesis 1 plus r right parenthesis superscript t baseline end fraction equals F C F subscript t baseline times start fraction 1 over left parenthesis 1 plus r right parenthesis superscript t baseline end fraction. Brace, t equals year discount factor includes left parenthesis 1 plus r right parenthesis superscript t baseline.</a:t>
            </a:r>
            <a:r>
              <a:rPr lang="en-IN" sz="1200" dirty="0">
                <a:latin typeface="Arial" panose="020B0604020202020204" pitchFamily="34" charset="0"/>
                <a:cs typeface="Arial" panose="020B0604020202020204" pitchFamily="34" charset="0"/>
              </a:rPr>
              <a:t>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IN" sz="1200" dirty="0">
              <a:latin typeface="Arial" panose="020B0604020202020204" pitchFamily="34" charset="0"/>
              <a:cs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IN" sz="1200" dirty="0">
                <a:latin typeface="Arial" panose="020B0604020202020204" pitchFamily="34" charset="0"/>
                <a:cs typeface="Arial" panose="020B0604020202020204" pitchFamily="34" charset="0"/>
              </a:rPr>
              <a:t>Long description 2:</a:t>
            </a:r>
          </a:p>
          <a:p>
            <a:pPr marL="0" marR="0" lvl="0" indent="0" algn="l" defTabSz="457200" rtl="0" eaLnBrk="1" fontAlgn="auto" latinLnBrk="0" hangingPunct="1">
              <a:lnSpc>
                <a:spcPct val="100000"/>
              </a:lnSpc>
              <a:spcBef>
                <a:spcPts val="0"/>
              </a:spcBef>
              <a:spcAft>
                <a:spcPts val="0"/>
              </a:spcAft>
              <a:buClrTx/>
              <a:buSzTx/>
              <a:buFontTx/>
              <a:buNone/>
              <a:tabLst/>
              <a:defRPr/>
            </a:pPr>
            <a:r>
              <a:rPr lang="en-IN" sz="1200" b="0" i="0" u="none" strike="noStrike" dirty="0">
                <a:solidFill>
                  <a:srgbClr val="000000"/>
                </a:solidFill>
                <a:effectLst/>
                <a:latin typeface="Arial" panose="020B0604020202020204" pitchFamily="34" charset="0"/>
                <a:cs typeface="Arial" panose="020B0604020202020204" pitchFamily="34" charset="0"/>
              </a:rPr>
              <a:t>N P V equals negative 19500 plus start fraction 7000 over 1.12 end fraction plus start fraction 9100 over 1.12 superscript 2 baseline end fraction plus start fraction 9100 over 1.12 superscript 3 baseline end fraction plus start fraction 9100 over 1.12 superscript 4 baseline end fraction plus start fraction 2400 over 1.12 superscript 5 baseline end fraction.</a:t>
            </a:r>
            <a:r>
              <a:rPr lang="en-IN" sz="1200" dirty="0">
                <a:latin typeface="Arial" panose="020B0604020202020204" pitchFamily="34" charset="0"/>
                <a:cs typeface="Arial" panose="020B0604020202020204" pitchFamily="34" charset="0"/>
              </a:rPr>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5811171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dirty="0">
                <a:latin typeface="Arial" panose="020B0604020202020204" pitchFamily="34" charset="0"/>
                <a:cs typeface="Arial" panose="020B0604020202020204" pitchFamily="34" charset="0"/>
              </a:rPr>
              <a:t>Long Description:</a:t>
            </a:r>
          </a:p>
          <a:p>
            <a:r>
              <a:rPr lang="en-US" sz="1200" b="0" i="0" u="none" strike="noStrike" dirty="0">
                <a:solidFill>
                  <a:srgbClr val="000000"/>
                </a:solidFill>
                <a:effectLst/>
                <a:latin typeface="Arial" panose="020B0604020202020204" pitchFamily="34" charset="0"/>
                <a:cs typeface="Arial" panose="020B0604020202020204" pitchFamily="34" charset="0"/>
              </a:rPr>
              <a:t>The details of the outsource assembly for the years 0, 1, 2, 3, 4, and 5 are as follows: EBIT, blank, left parenthesis 11,000 right parenthesis, left parenthesis 11,000 right parenthesis, left parenthesis 11,000 right parenthesis, left parenthesis 11,000 right parenthesis, and blank; income tax at 20 percent, blank, 2,200, 2,200, 2,200, 2,200, and blank; unlevered net income, blank, left parenthesis 8,800 right parenthesis, left parenthesis 8,800 right parenthesis, left parenthesis 8,800 right parenthesis, left parenthesis 8,800 right parenthesis, and blank; less: increases in NWC, blank, 1,650, blank, blank, blank, and left parenthesis 1,650 right parenthesis; free cash flow, blank, left parenthesis 7,150 right parenthesis, left parenthesis 8,800 right parenthesis, left parenthesis 8,800 right parenthesis, left parenthesis 8,800 right parenthesis, and left parenthesis 1,650 right parenthesis; NPV at 12 percent, left parenthesis 26,192 right parenthesis. The details of the in-house assembly for the years 0, 1, 2, 3, 4, and 5 are as follows: EBIT, left parenthesis 5,000 right parenthesis, left parenthesis 9,500 right parenthesis, left parenthesis 9,500 right parenthesis, left parenthesis 9,500 right parenthesis, left parenthesis 9,500 right parenthesis, and blank; Income Tax at 20 percent, 1,000, 1,900, 1,900, 1,900, 1,900, and blank; Unlevered Net Income, left parenthesis 4,000 right parenthesis, left parenthesis 7,600 right parenthesis, left parenthesis 7,600 right parenthesis, left parenthesis 7,600 right parenthesis, left parenthesis 7,600 right parenthesis, and blank; Less: Increases in NWC, blank, 633, blank, blank, blank, and left parenthesis 633 right parenthesis; Free Cash Flow, left parenthesis 4,000 right parenthesis, left parenthesis 6,967 right parenthesis, left parenthesis 7,600 right parenthesis, left parenthesis 7,600 right parenthesis, left parenthesis 7,600 right parenthesis, and left parenthesis 633 right parenthesis; NPV at 12 percent, left parenthesis 26,878 right parenthesis, blank, blank, blank, blank, blank.</a:t>
            </a:r>
            <a:r>
              <a:rPr lang="en-US" sz="1200" dirty="0">
                <a:latin typeface="Arial" panose="020B0604020202020204" pitchFamily="34" charset="0"/>
                <a:cs typeface="Arial" panose="020B0604020202020204" pitchFamily="34" charset="0"/>
              </a:rPr>
              <a:t> </a:t>
            </a:r>
            <a:endParaRPr lang="en-IN"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9155455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dirty="0">
                <a:latin typeface="Arial" panose="020B0604020202020204" pitchFamily="34" charset="0"/>
                <a:cs typeface="Arial" panose="020B0604020202020204" pitchFamily="34" charset="0"/>
              </a:rPr>
              <a:t>Long Description:</a:t>
            </a:r>
          </a:p>
          <a:p>
            <a:r>
              <a:rPr lang="en-US" sz="1200" b="0" i="0" u="none" strike="noStrike" dirty="0">
                <a:solidFill>
                  <a:srgbClr val="000000"/>
                </a:solidFill>
                <a:effectLst/>
                <a:latin typeface="Arial" panose="020B0604020202020204" pitchFamily="34" charset="0"/>
                <a:cs typeface="Arial" panose="020B0604020202020204" pitchFamily="34" charset="0"/>
              </a:rPr>
              <a:t>The table shows the following data: MACRS Depreciation in thousand dollars; Lab Equipment Cost: Year 0, left parenthesis 7,500 right parenthesis; Year 1, blank; Year 2, blank; Year 3, blank; Year 4, blank; Year 5, blank; MACRS Depreciation Rate: Year 0, 20.00 percent; Year 1, 32.00 percent; Year 2, 19.20 percent; Year 3, 11.52 percent; Year 4, 11.52 percent; Year 5, 5.76 percent; Depreciation Expense: Year 0, left parenthesis 1,500 right parenthesis; Year 1, left parenthesis 2,400 right parenthesis; Year 2, left parenthesis 1,440 right parenthesis; Year 3, left parenthesis 864 right parenthesis; Year 4, left parenthesis 864 right parenthesis; Year 5, left parenthesis 432 right parenthesis.</a:t>
            </a:r>
            <a:r>
              <a:rPr lang="en-US" sz="1200" dirty="0">
                <a:latin typeface="Arial" panose="020B0604020202020204" pitchFamily="34" charset="0"/>
                <a:cs typeface="Arial" panose="020B0604020202020204" pitchFamily="34" charset="0"/>
              </a:rPr>
              <a:t> </a:t>
            </a:r>
            <a:endParaRPr lang="en-IN"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6967025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dirty="0">
                <a:latin typeface="Arial" panose="020B0604020202020204" pitchFamily="34" charset="0"/>
                <a:cs typeface="Arial" panose="020B0604020202020204" pitchFamily="34" charset="0"/>
              </a:rPr>
              <a:t>Long Description:</a:t>
            </a:r>
          </a:p>
          <a:p>
            <a:r>
              <a:rPr lang="en-US" sz="1200" b="0" i="0" u="none" strike="noStrike" dirty="0">
                <a:solidFill>
                  <a:srgbClr val="000000"/>
                </a:solidFill>
                <a:effectLst/>
                <a:latin typeface="Arial" panose="020B0604020202020204" pitchFamily="34" charset="0"/>
                <a:cs typeface="Arial" panose="020B0604020202020204" pitchFamily="34" charset="0"/>
              </a:rPr>
              <a:t>The number line ranges from 0 to 6 in unit increments. The data are as follows: 0, negative 10.5 dollars; 1, negative 5.5 dollars; 2, 0.8 dollars; 3, 1.2 dollars; 4, 1.3 dollars; 5, 1.3 dollars times 1.05; and 6, 1.3 dollars times 1.05 squared.</a:t>
            </a:r>
            <a:r>
              <a:rPr lang="en-US" sz="1200" dirty="0">
                <a:latin typeface="Arial" panose="020B0604020202020204" pitchFamily="34" charset="0"/>
                <a:cs typeface="Arial" panose="020B0604020202020204" pitchFamily="34" charset="0"/>
              </a:rPr>
              <a:t> </a:t>
            </a:r>
            <a:endParaRPr lang="en-IN"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0408241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dirty="0">
                <a:latin typeface="Arial" panose="020B0604020202020204" pitchFamily="34" charset="0"/>
                <a:cs typeface="Arial" panose="020B0604020202020204" pitchFamily="34" charset="0"/>
              </a:rPr>
              <a:t>Long description:</a:t>
            </a:r>
          </a:p>
          <a:p>
            <a:r>
              <a:rPr lang="en-IN" sz="1200" b="0" i="0" u="none" strike="noStrike" dirty="0">
                <a:solidFill>
                  <a:srgbClr val="000000"/>
                </a:solidFill>
                <a:effectLst/>
                <a:latin typeface="Arial" panose="020B0604020202020204" pitchFamily="34" charset="0"/>
                <a:cs typeface="Arial" panose="020B0604020202020204" pitchFamily="34" charset="0"/>
              </a:rPr>
              <a:t>N P V equals negative 10500 minus start fraction 5500 over 1.10 end fraction plus start fraction 800 over 1.10 superscript 2 baseline end fraction plus start fraction 1200 over 1.10 superscript 3 baseline end fraction plus start fraction 28600 over 1.10 superscript 4 baseline end fraction equals 5597 dollars.</a:t>
            </a:r>
            <a:r>
              <a:rPr lang="en-IN" sz="1200" dirty="0">
                <a:latin typeface="Arial" panose="020B0604020202020204" pitchFamily="34" charset="0"/>
                <a:cs typeface="Arial" panose="020B0604020202020204" pitchFamily="34" charset="0"/>
              </a:rPr>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946114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dirty="0">
                <a:latin typeface="Arial" panose="020B0604020202020204" pitchFamily="34" charset="0"/>
                <a:cs typeface="Arial" panose="020B0604020202020204" pitchFamily="34" charset="0"/>
              </a:rPr>
              <a:t>Long Description:</a:t>
            </a:r>
          </a:p>
          <a:p>
            <a:r>
              <a:rPr lang="en-US" sz="1200" b="0" i="0" u="none" strike="noStrike" dirty="0">
                <a:solidFill>
                  <a:srgbClr val="000000"/>
                </a:solidFill>
                <a:effectLst/>
                <a:latin typeface="Arial" panose="020B0604020202020204" pitchFamily="34" charset="0"/>
                <a:cs typeface="Arial" panose="020B0604020202020204" pitchFamily="34" charset="0"/>
              </a:rPr>
              <a:t>The horizontal axis represents project NPV in million ranging from negative 4 dollars to 18 dollars in increments of 2. The data are as follows: cost of capital: best-case, 10 percent; worst-case, 15 percent; breakeven point, 12 percent; total, 27.9 percent; cannibalization: best-case, 10 percent; worst-case, 40 percent; breakeven point, 25 percent; total, 105 percent; net working capital in million dollars, best-case, 1.6; worst-case, 3 percent; breakeven point, 2.1 percent; total, 25.5; cost of goods in dollars per unit, best-case, 100; worst-case, 120; breakeven point, 110; total, 142; sale price in dollars per unit, best-case, 280; worst-case, 240; breakeven point, 260; total, 228; units sold in thousands per year, best-case, 130; worst-case, 70; breakeven point, 100; total, 77.1. </a:t>
            </a:r>
            <a:endParaRPr lang="en-IN"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2745278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dirty="0">
                <a:latin typeface="Arial" panose="020B0604020202020204" pitchFamily="34" charset="0"/>
                <a:cs typeface="Arial" panose="020B0604020202020204" pitchFamily="34" charset="0"/>
              </a:rPr>
              <a:t>Long description:</a:t>
            </a:r>
          </a:p>
          <a:p>
            <a:r>
              <a:rPr lang="en-IN" sz="1200" b="0" i="0" u="none" strike="noStrike" dirty="0">
                <a:solidFill>
                  <a:srgbClr val="000000"/>
                </a:solidFill>
                <a:effectLst/>
                <a:latin typeface="Arial" panose="020B0604020202020204" pitchFamily="34" charset="0"/>
                <a:cs typeface="Arial" panose="020B0604020202020204" pitchFamily="34" charset="0"/>
              </a:rPr>
              <a:t>P V equals start fraction negative 0.8 over 1.12 end fraction plus start fraction negative 0.8 over 1.12 superscript 2 baseline end fraction plus start fraction negative 0.8 over 1.12 superscript 3 baseline end fraction plus start fraction negative 0.8 over 1.12 superscript 4 baseline end fraction equals negative 2.4 million dollars.</a:t>
            </a:r>
            <a:r>
              <a:rPr lang="en-IN" sz="1200" dirty="0">
                <a:latin typeface="Arial" panose="020B0604020202020204" pitchFamily="34" charset="0"/>
                <a:cs typeface="Arial" panose="020B0604020202020204" pitchFamily="34" charset="0"/>
              </a:rPr>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6270508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dirty="0">
                <a:latin typeface="Arial" panose="020B0604020202020204" pitchFamily="34" charset="0"/>
                <a:cs typeface="Arial" panose="020B0604020202020204" pitchFamily="34" charset="0"/>
              </a:rPr>
              <a:t>Long Description:</a:t>
            </a:r>
          </a:p>
          <a:p>
            <a:r>
              <a:rPr lang="en-US" sz="1200" b="0" i="0" u="none" strike="noStrike" dirty="0">
                <a:solidFill>
                  <a:srgbClr val="000000"/>
                </a:solidFill>
                <a:effectLst/>
                <a:latin typeface="Arial" panose="020B0604020202020204" pitchFamily="34" charset="0"/>
                <a:cs typeface="Arial" panose="020B0604020202020204" pitchFamily="34" charset="0"/>
              </a:rPr>
              <a:t>The horizontal axis shows the annual units sold in thousands per year ranging from 70 to 150 and the vertical axis shows the price per unit from 200 dollars to 320 dollars in increments of 20. The data points forming a curve are as follows: 70, 320 dollars; 80, 295 dollars; 90, 275 dollars; 100, 260 dollars; 110, 248 dollars; 120, 237 dollars; 130, 228 dollars; 140, 220 dollars; and 150, 212 dollars. The curve represents NPV equals 7.6 million dollars.</a:t>
            </a:r>
            <a:r>
              <a:rPr lang="en-US" sz="1200" dirty="0">
                <a:latin typeface="Arial" panose="020B0604020202020204" pitchFamily="34" charset="0"/>
                <a:cs typeface="Arial" panose="020B0604020202020204" pitchFamily="34" charset="0"/>
              </a:rPr>
              <a:t> </a:t>
            </a:r>
            <a:endParaRPr lang="en-IN"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9231520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D2EF5-DF5F-8FEE-14E6-433D0921B8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639450-AE98-91DD-EEBC-57EF249B1E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4EBB13-6CD2-EDA2-0A01-620A3F0EB107}"/>
              </a:ext>
            </a:extLst>
          </p:cNvPr>
          <p:cNvSpPr>
            <a:spLocks noGrp="1"/>
          </p:cNvSpPr>
          <p:nvPr>
            <p:ph type="body" idx="1"/>
          </p:nvPr>
        </p:nvSpPr>
        <p:spPr/>
        <p:txBody>
          <a:bodyPr/>
          <a:lstStyle/>
          <a:p>
            <a:r>
              <a:rPr lang="en-US" dirty="0"/>
              <a:t>If this PowerPoint presentation contains mathematical equations, you may need to check that your computer has the following installed:</a:t>
            </a:r>
          </a:p>
          <a:p>
            <a:r>
              <a:rPr lang="en-US" dirty="0"/>
              <a:t>1</a:t>
            </a:r>
            <a:r>
              <a:rPr lang="en-US"/>
              <a:t>) Math Type </a:t>
            </a:r>
            <a:r>
              <a:rPr lang="en-US" dirty="0"/>
              <a:t>Plugin</a:t>
            </a:r>
          </a:p>
          <a:p>
            <a:r>
              <a:rPr lang="en-US" dirty="0"/>
              <a:t>2) Math Player (free versions available)</a:t>
            </a:r>
          </a:p>
          <a:p>
            <a:r>
              <a:rPr lang="en-US" dirty="0"/>
              <a:t>3) NVDA Reader (free versions available)</a:t>
            </a:r>
          </a:p>
        </p:txBody>
      </p:sp>
      <p:sp>
        <p:nvSpPr>
          <p:cNvPr id="4" name="Slide Number Placeholder 3">
            <a:extLst>
              <a:ext uri="{FF2B5EF4-FFF2-40B4-BE49-F238E27FC236}">
                <a16:creationId xmlns:a16="http://schemas.microsoft.com/office/drawing/2014/main" id="{7AF8F292-4FE9-5436-99B7-E063834F8CB7}"/>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5213332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noProof="0" dirty="0">
                <a:solidFill>
                  <a:srgbClr val="000000"/>
                </a:solidFill>
                <a:effectLst/>
                <a:latin typeface="Arial" panose="020B0604020202020204" pitchFamily="34" charset="0"/>
                <a:cs typeface="Arial" panose="020B0604020202020204" pitchFamily="34" charset="0"/>
              </a:rPr>
              <a:t>Long Description:</a:t>
            </a:r>
          </a:p>
          <a:p>
            <a:r>
              <a:rPr lang="en-US" sz="1200" b="0" i="0" u="none" strike="noStrike" noProof="0" dirty="0">
                <a:solidFill>
                  <a:srgbClr val="000000"/>
                </a:solidFill>
                <a:effectLst/>
                <a:latin typeface="Arial" panose="020B0604020202020204" pitchFamily="34" charset="0"/>
                <a:cs typeface="Arial" panose="020B0604020202020204" pitchFamily="34" charset="0"/>
              </a:rPr>
              <a:t>The columns are year and depreciation rate for recovery period shows 3 years, 5 years, 7 years, 10 years, 15 years, and 20 years. The row-wise data is as follows: year, 0; 3 years, 33.33; 5 years, 20.00; 7 years, 14.29; 10 years, 10.00; 15 years, 5.00; 20 years, 3.750; year, 1; 3 years, 44.45; 5 years, 32.00; 7 years, 24.49; 10 years, 18.00; 15 years, 9.50; 20 years, 7.219; year, 2; 3 years, 14.81; 5 years, 19.20; 7 years, 17.49; 10 years, 14.40; 15 years, 8.55; 20 years, 6.677; year, 3; 3 years, 7.41; 5 years, 11.52; 7 years, 12.49; 10 years, 11.52; 15 years, 7.70; 20 years, 6.177; year, 4; 3 years, blank; 5 years, 11.52; 7 years, 8.93; 10 years, 9.22; 15 years, 6.93; 20 years, 5.713; year, 5; 3 years, blank; 5 years, 5.76; 7 years, 8.92; 10 years, 7.37; 15 years, 6.23; 20 years, 5.285; year, 6; 3 years, blank; 5 years, blank; 7 years, 8.93; 10 years, 6.55; 15 years, 5.90; 20 years, 4.888; year, 7; 3 years, blank; 5 years, blank; 7 years, 4.46; 10 years, 6.55; 15 years, 5.90; 20 years, 4.522; year, 8; 3 years, blank; 5 years, blank; 7 years, blank; 10 years, 6.56; 15 years, 5.91; 20 years, 4.462; year, 9; 3 years, blank; 5 years, blank; 7 years, blank; 10 years, 6.55; 15 years, 5.90; 20 years, 4.461; year, 10; 3 years, blank; 5 years, blank; 7 years, blank; 10 years, 3.28; 15 years, 5.91; 20 years, 4.462.</a:t>
            </a:r>
            <a:r>
              <a:rPr lang="en-US" sz="1200" noProof="0" dirty="0">
                <a:latin typeface="Arial" panose="020B0604020202020204" pitchFamily="34" charset="0"/>
                <a:cs typeface="Arial" panose="020B0604020202020204" pitchFamily="34" charset="0"/>
              </a:rPr>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9701806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noProof="0" dirty="0">
                <a:solidFill>
                  <a:srgbClr val="000000"/>
                </a:solidFill>
                <a:effectLst/>
                <a:latin typeface="Arial" panose="020B0604020202020204" pitchFamily="34" charset="0"/>
                <a:cs typeface="Arial" panose="020B0604020202020204" pitchFamily="34" charset="0"/>
              </a:rPr>
              <a:t>Long Description:</a:t>
            </a:r>
          </a:p>
          <a:p>
            <a:r>
              <a:rPr lang="en-US" sz="1200" b="0" i="0" u="none" strike="noStrike" noProof="0" dirty="0">
                <a:solidFill>
                  <a:srgbClr val="000000"/>
                </a:solidFill>
                <a:effectLst/>
                <a:latin typeface="Arial" panose="020B0604020202020204" pitchFamily="34" charset="0"/>
                <a:cs typeface="Arial" panose="020B0604020202020204" pitchFamily="34" charset="0"/>
              </a:rPr>
              <a:t>The columns are year and depreciation rate for recovery period shows 3 years, 5 years, 7 years, 10 years, 15 years, and 20 years. The row-wise data is as follows: year, 11; 3 years, blank; 5 years, blank; 7 years, blank; 10 years, blank; 15 years, 5.90; 20 years, 4.461; year, 12; 3 years, blank; 5 years, blank; 7 years, blank; 10 years, blank; 15 years, 5.91; 20 years, 4.462; year, 13; 3 years, blank; 5 years, blank; 7 years, blank; 10 years, blank; 15 years, 5.90; 20 years, 4.461; year, 14; 3 years, blank; 5 years, blank; 7 years, blank; 10 years, blank; 15 years, 5.91; 20 years, 4.462; year, 15; 3 years, blank; 5 years, blank; 7 years, blank; 10 years, blank; 15 years, 2.95; 20 years, 4.461; year, 16; 3 years, 5 years, 7 years, 10 years, 15 years, blank; 20 years, 4.462; year, 17; 3 years, 5 years, 7 years, 10 years, 15 years, blank; 20 years, 4.461; year, 18; 3 years, 5 years, 7 years, 10 years, 15 years, blank; 20 years, 4.462; year, 19; 3 years, 5 years, 7 years, 10 years, 15 years, blank; 20 years, 4.461; year, 20; 3 years, 5 years, 7 years, 10 years, 15 years, blank; 20 years, 2.231.</a:t>
            </a:r>
            <a:r>
              <a:rPr lang="en-US" sz="1200" noProof="0" dirty="0">
                <a:latin typeface="Arial" panose="020B0604020202020204" pitchFamily="34" charset="0"/>
                <a:cs typeface="Arial" panose="020B0604020202020204" pitchFamily="34" charset="0"/>
              </a:rPr>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025329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‹N°›</a:t>
            </a:fld>
            <a:endParaRPr lang="en-US" sz="900" dirty="0"/>
          </a:p>
        </p:txBody>
      </p:sp>
      <p:sp>
        <p:nvSpPr>
          <p:cNvPr id="2" name="Shape 14">
            <a:extLst>
              <a:ext uri="{FF2B5EF4-FFF2-40B4-BE49-F238E27FC236}">
                <a16:creationId xmlns:a16="http://schemas.microsoft.com/office/drawing/2014/main" id="{9C6E448A-EBF3-43EF-C0B0-02970E74AEAE}"/>
              </a:ext>
            </a:extLst>
          </p:cNvPr>
          <p:cNvSpPr txBox="1">
            <a:spLocks/>
          </p:cNvSpPr>
          <p:nvPr userDrawn="1"/>
        </p:nvSpPr>
        <p:spPr>
          <a:xfrm>
            <a:off x="8086382" y="6444361"/>
            <a:ext cx="876310" cy="222697"/>
          </a:xfrm>
          <a:prstGeom prst="rect">
            <a:avLst/>
          </a:prstGeom>
          <a:noFill/>
          <a:ln>
            <a:noFill/>
          </a:ln>
        </p:spPr>
        <p:txBody>
          <a:bodyPr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2000" b="0" i="0" u="none" strike="noStrike" cap="none">
                <a:solidFill>
                  <a:schemeClr val="tx1"/>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buSzPct val="25000"/>
              <a:defRPr/>
            </a:pPr>
            <a:fld id="{00000000-1234-1234-1234-123412341234}" type="slidenum">
              <a:rPr lang="en-US" smtClean="0"/>
              <a:pPr algn="r">
                <a:buSzPct val="25000"/>
                <a:defRPr/>
              </a:pPr>
              <a:t>‹N°›</a:t>
            </a:fld>
            <a:endParaRPr lang="en-US" dirty="0"/>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‹N°›</a:t>
            </a:fld>
            <a:endParaRPr kumimoji="0" lang="en-US" sz="9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2" name="Shape 14">
            <a:extLst>
              <a:ext uri="{FF2B5EF4-FFF2-40B4-BE49-F238E27FC236}">
                <a16:creationId xmlns:a16="http://schemas.microsoft.com/office/drawing/2014/main" id="{CDFE0DE8-5634-8C79-0EA2-E994317968DB}"/>
              </a:ext>
            </a:extLst>
          </p:cNvPr>
          <p:cNvSpPr txBox="1">
            <a:spLocks/>
          </p:cNvSpPr>
          <p:nvPr userDrawn="1"/>
        </p:nvSpPr>
        <p:spPr>
          <a:xfrm>
            <a:off x="8086382" y="6433851"/>
            <a:ext cx="876310" cy="222697"/>
          </a:xfrm>
          <a:prstGeom prst="rect">
            <a:avLst/>
          </a:prstGeom>
          <a:noFill/>
          <a:ln>
            <a:noFill/>
          </a:ln>
        </p:spPr>
        <p:txBody>
          <a:bodyPr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2000" b="0" i="0" u="none" strike="noStrike" cap="none">
                <a:solidFill>
                  <a:schemeClr val="tx1"/>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buSzPct val="25000"/>
              <a:defRPr/>
            </a:pPr>
            <a:fld id="{00000000-1234-1234-1234-123412341234}" type="slidenum">
              <a:rPr lang="en-US" smtClean="0"/>
              <a:pPr algn="r">
                <a:buSzPct val="25000"/>
                <a:defRPr/>
              </a:pPr>
              <a:t>‹N°›</a:t>
            </a:fld>
            <a:endParaRPr lang="en-US" dirty="0"/>
          </a:p>
        </p:txBody>
      </p:sp>
    </p:spTree>
    <p:extLst>
      <p:ext uri="{BB962C8B-B14F-4D97-AF65-F5344CB8AC3E}">
        <p14:creationId xmlns:p14="http://schemas.microsoft.com/office/powerpoint/2010/main" val="42159409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2_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‹N°›</a:t>
            </a:fld>
            <a:endParaRPr lang="en-US" sz="900" dirty="0"/>
          </a:p>
        </p:txBody>
      </p:sp>
      <p:sp>
        <p:nvSpPr>
          <p:cNvPr id="2" name="Shape 14">
            <a:extLst>
              <a:ext uri="{FF2B5EF4-FFF2-40B4-BE49-F238E27FC236}">
                <a16:creationId xmlns:a16="http://schemas.microsoft.com/office/drawing/2014/main" id="{E714B342-B984-6217-58A5-4511DF080863}"/>
              </a:ext>
            </a:extLst>
          </p:cNvPr>
          <p:cNvSpPr txBox="1">
            <a:spLocks/>
          </p:cNvSpPr>
          <p:nvPr userDrawn="1"/>
        </p:nvSpPr>
        <p:spPr>
          <a:xfrm>
            <a:off x="8086382" y="6433851"/>
            <a:ext cx="876310" cy="222697"/>
          </a:xfrm>
          <a:prstGeom prst="rect">
            <a:avLst/>
          </a:prstGeom>
          <a:noFill/>
          <a:ln>
            <a:noFill/>
          </a:ln>
        </p:spPr>
        <p:txBody>
          <a:bodyPr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2000" b="0" i="0" u="none" strike="noStrike" cap="none">
                <a:solidFill>
                  <a:schemeClr val="tx1"/>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buSzPct val="25000"/>
              <a:defRPr/>
            </a:pPr>
            <a:fld id="{00000000-1234-1234-1234-123412341234}" type="slidenum">
              <a:rPr lang="en-US" smtClean="0"/>
              <a:pPr algn="r">
                <a:buSzPct val="25000"/>
                <a:defRPr/>
              </a:pPr>
              <a:t>‹N°›</a:t>
            </a:fld>
            <a:endParaRPr lang="en-US" dirty="0"/>
          </a:p>
        </p:txBody>
      </p:sp>
    </p:spTree>
    <p:extLst>
      <p:ext uri="{BB962C8B-B14F-4D97-AF65-F5344CB8AC3E}">
        <p14:creationId xmlns:p14="http://schemas.microsoft.com/office/powerpoint/2010/main" val="277369198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32583-235A-F751-E1A0-22340F52DA5B}"/>
              </a:ext>
            </a:extLst>
          </p:cNvPr>
          <p:cNvSpPr>
            <a:spLocks noGrp="1"/>
          </p:cNvSpPr>
          <p:nvPr>
            <p:ph type="title"/>
          </p:nvPr>
        </p:nvSpPr>
        <p:spPr>
          <a:xfrm>
            <a:off x="457200" y="391922"/>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DE946B8D-69D3-F67C-54D4-69E12CEBEFAB}"/>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7CFF72C7-E3FC-EE33-8DFC-71709F451346}"/>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‹N°›</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980EA191-22D4-E86D-9E1B-E682EC5FFB87}"/>
              </a:ext>
            </a:extLst>
          </p:cNvPr>
          <p:cNvSpPr>
            <a:spLocks noGrp="1"/>
          </p:cNvSpPr>
          <p:nvPr>
            <p:ph sz="quarter" idx="12"/>
          </p:nvPr>
        </p:nvSpPr>
        <p:spPr>
          <a:xfrm>
            <a:off x="457200" y="1128713"/>
            <a:ext cx="4114800" cy="374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02FF8749-5E2C-C5EC-07A2-82A184A69105}"/>
              </a:ext>
            </a:extLst>
          </p:cNvPr>
          <p:cNvSpPr>
            <a:spLocks noGrp="1"/>
          </p:cNvSpPr>
          <p:nvPr>
            <p:ph sz="quarter" idx="13"/>
          </p:nvPr>
        </p:nvSpPr>
        <p:spPr>
          <a:xfrm>
            <a:off x="457200" y="1608165"/>
            <a:ext cx="4114800" cy="374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5F39784D-F00D-2F87-FE7C-5D6A7003EA61}"/>
              </a:ext>
            </a:extLst>
          </p:cNvPr>
          <p:cNvSpPr>
            <a:spLocks noGrp="1"/>
          </p:cNvSpPr>
          <p:nvPr>
            <p:ph sz="quarter" idx="14"/>
          </p:nvPr>
        </p:nvSpPr>
        <p:spPr>
          <a:xfrm>
            <a:off x="457200" y="2105187"/>
            <a:ext cx="4114800" cy="374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37FD5A9B-F30A-F9FE-F0FB-551D875EA878}"/>
              </a:ext>
            </a:extLst>
          </p:cNvPr>
          <p:cNvSpPr>
            <a:spLocks noGrp="1"/>
          </p:cNvSpPr>
          <p:nvPr>
            <p:ph sz="quarter" idx="15"/>
          </p:nvPr>
        </p:nvSpPr>
        <p:spPr>
          <a:xfrm>
            <a:off x="457200" y="2593367"/>
            <a:ext cx="4114800" cy="374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3D570F16-0FB9-8033-D49A-B21D5EAAE3A6}"/>
              </a:ext>
            </a:extLst>
          </p:cNvPr>
          <p:cNvSpPr>
            <a:spLocks noGrp="1"/>
          </p:cNvSpPr>
          <p:nvPr>
            <p:ph sz="quarter" idx="16"/>
          </p:nvPr>
        </p:nvSpPr>
        <p:spPr>
          <a:xfrm>
            <a:off x="457200" y="3089403"/>
            <a:ext cx="4114800" cy="3630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92100C21-4082-CFE4-CF31-313ECAF0FAEC}"/>
              </a:ext>
            </a:extLst>
          </p:cNvPr>
          <p:cNvSpPr>
            <a:spLocks noGrp="1"/>
          </p:cNvSpPr>
          <p:nvPr>
            <p:ph sz="quarter" idx="17"/>
          </p:nvPr>
        </p:nvSpPr>
        <p:spPr>
          <a:xfrm>
            <a:off x="457200" y="3547825"/>
            <a:ext cx="4114800" cy="363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C08D2A52-88A7-C982-5611-B9B749149E07}"/>
              </a:ext>
            </a:extLst>
          </p:cNvPr>
          <p:cNvSpPr>
            <a:spLocks noGrp="1"/>
          </p:cNvSpPr>
          <p:nvPr>
            <p:ph sz="quarter" idx="18"/>
          </p:nvPr>
        </p:nvSpPr>
        <p:spPr>
          <a:xfrm>
            <a:off x="457200" y="4025424"/>
            <a:ext cx="4114800" cy="3635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47BB806B-DC10-6241-CF76-B7F73B1DA0D0}"/>
              </a:ext>
            </a:extLst>
          </p:cNvPr>
          <p:cNvSpPr>
            <a:spLocks noGrp="1"/>
          </p:cNvSpPr>
          <p:nvPr>
            <p:ph sz="quarter" idx="19"/>
          </p:nvPr>
        </p:nvSpPr>
        <p:spPr>
          <a:xfrm>
            <a:off x="457200" y="4512284"/>
            <a:ext cx="4114800" cy="363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4D975668-C112-6258-3ABF-18621F9F14E0}"/>
              </a:ext>
            </a:extLst>
          </p:cNvPr>
          <p:cNvSpPr>
            <a:spLocks noGrp="1"/>
          </p:cNvSpPr>
          <p:nvPr>
            <p:ph sz="quarter" idx="20"/>
          </p:nvPr>
        </p:nvSpPr>
        <p:spPr>
          <a:xfrm>
            <a:off x="457200" y="4999038"/>
            <a:ext cx="4114800" cy="363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76E060E6-6ED1-8915-956E-0F517E970AFE}"/>
              </a:ext>
            </a:extLst>
          </p:cNvPr>
          <p:cNvSpPr>
            <a:spLocks noGrp="1"/>
          </p:cNvSpPr>
          <p:nvPr>
            <p:ph sz="quarter" idx="21"/>
          </p:nvPr>
        </p:nvSpPr>
        <p:spPr>
          <a:xfrm>
            <a:off x="457200" y="5486400"/>
            <a:ext cx="4114800" cy="3635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709CE1C0-2756-5A79-79FA-820DAF2BBE0F}"/>
              </a:ext>
            </a:extLst>
          </p:cNvPr>
          <p:cNvSpPr>
            <a:spLocks noGrp="1"/>
          </p:cNvSpPr>
          <p:nvPr>
            <p:ph sz="quarter" idx="22"/>
          </p:nvPr>
        </p:nvSpPr>
        <p:spPr>
          <a:xfrm>
            <a:off x="457200" y="5965217"/>
            <a:ext cx="4114800" cy="363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759F8E62-A50E-4D96-F629-9CCE09A34988}"/>
              </a:ext>
            </a:extLst>
          </p:cNvPr>
          <p:cNvSpPr>
            <a:spLocks noGrp="1"/>
          </p:cNvSpPr>
          <p:nvPr>
            <p:ph sz="quarter" idx="23"/>
          </p:nvPr>
        </p:nvSpPr>
        <p:spPr>
          <a:xfrm>
            <a:off x="4854575" y="1128713"/>
            <a:ext cx="3832225" cy="374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5C755B44-BFDE-4900-5131-8BF154C7F7BE}"/>
              </a:ext>
            </a:extLst>
          </p:cNvPr>
          <p:cNvSpPr>
            <a:spLocks noGrp="1"/>
          </p:cNvSpPr>
          <p:nvPr>
            <p:ph sz="quarter" idx="24"/>
          </p:nvPr>
        </p:nvSpPr>
        <p:spPr>
          <a:xfrm>
            <a:off x="4854575" y="1633796"/>
            <a:ext cx="3832225" cy="3646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9156BDEE-5497-09AD-373B-6A3C917DB056}"/>
              </a:ext>
            </a:extLst>
          </p:cNvPr>
          <p:cNvSpPr>
            <a:spLocks noGrp="1"/>
          </p:cNvSpPr>
          <p:nvPr>
            <p:ph sz="quarter" idx="25"/>
          </p:nvPr>
        </p:nvSpPr>
        <p:spPr>
          <a:xfrm>
            <a:off x="4854575" y="2123983"/>
            <a:ext cx="3832225" cy="3672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BC2F1532-2F8D-53B2-AE5A-DDDCC36EA7DB}"/>
              </a:ext>
            </a:extLst>
          </p:cNvPr>
          <p:cNvSpPr>
            <a:spLocks noGrp="1"/>
          </p:cNvSpPr>
          <p:nvPr>
            <p:ph sz="quarter" idx="26"/>
          </p:nvPr>
        </p:nvSpPr>
        <p:spPr>
          <a:xfrm>
            <a:off x="4854575" y="2616200"/>
            <a:ext cx="3832225" cy="352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0D0E76CD-FF1E-8052-73C4-F70E6A89FCD8}"/>
              </a:ext>
            </a:extLst>
          </p:cNvPr>
          <p:cNvSpPr>
            <a:spLocks noGrp="1"/>
          </p:cNvSpPr>
          <p:nvPr>
            <p:ph sz="quarter" idx="27"/>
          </p:nvPr>
        </p:nvSpPr>
        <p:spPr>
          <a:xfrm>
            <a:off x="4854575" y="3089275"/>
            <a:ext cx="3832225" cy="3635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2A96D52B-34E2-ED71-EE09-2815EB18F646}"/>
              </a:ext>
            </a:extLst>
          </p:cNvPr>
          <p:cNvSpPr>
            <a:spLocks noGrp="1"/>
          </p:cNvSpPr>
          <p:nvPr>
            <p:ph sz="quarter" idx="28"/>
          </p:nvPr>
        </p:nvSpPr>
        <p:spPr>
          <a:xfrm>
            <a:off x="4854575" y="3571772"/>
            <a:ext cx="3832225" cy="3415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4DF2A458-95C6-C2F5-E379-F2225D575D78}"/>
              </a:ext>
            </a:extLst>
          </p:cNvPr>
          <p:cNvSpPr>
            <a:spLocks noGrp="1"/>
          </p:cNvSpPr>
          <p:nvPr>
            <p:ph sz="quarter" idx="29"/>
          </p:nvPr>
        </p:nvSpPr>
        <p:spPr>
          <a:xfrm>
            <a:off x="4854575" y="4032250"/>
            <a:ext cx="3832225" cy="3635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2" name="Content Placeholder 41">
            <a:extLst>
              <a:ext uri="{FF2B5EF4-FFF2-40B4-BE49-F238E27FC236}">
                <a16:creationId xmlns:a16="http://schemas.microsoft.com/office/drawing/2014/main" id="{2BF9EE99-5E98-407D-122B-1CA821074B1B}"/>
              </a:ext>
            </a:extLst>
          </p:cNvPr>
          <p:cNvSpPr>
            <a:spLocks noGrp="1"/>
          </p:cNvSpPr>
          <p:nvPr>
            <p:ph sz="quarter" idx="30"/>
          </p:nvPr>
        </p:nvSpPr>
        <p:spPr>
          <a:xfrm>
            <a:off x="4854575" y="4511675"/>
            <a:ext cx="3832225" cy="3635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4" name="Content Placeholder 43">
            <a:extLst>
              <a:ext uri="{FF2B5EF4-FFF2-40B4-BE49-F238E27FC236}">
                <a16:creationId xmlns:a16="http://schemas.microsoft.com/office/drawing/2014/main" id="{9D6C01BF-865C-825E-C404-4554AE6B3AFF}"/>
              </a:ext>
            </a:extLst>
          </p:cNvPr>
          <p:cNvSpPr>
            <a:spLocks noGrp="1"/>
          </p:cNvSpPr>
          <p:nvPr>
            <p:ph sz="quarter" idx="31"/>
          </p:nvPr>
        </p:nvSpPr>
        <p:spPr>
          <a:xfrm>
            <a:off x="4854575" y="4999038"/>
            <a:ext cx="3832225" cy="363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6" name="Content Placeholder 45">
            <a:extLst>
              <a:ext uri="{FF2B5EF4-FFF2-40B4-BE49-F238E27FC236}">
                <a16:creationId xmlns:a16="http://schemas.microsoft.com/office/drawing/2014/main" id="{E536DCFE-59E2-9F57-8BF8-BFE27FB40934}"/>
              </a:ext>
            </a:extLst>
          </p:cNvPr>
          <p:cNvSpPr>
            <a:spLocks noGrp="1"/>
          </p:cNvSpPr>
          <p:nvPr>
            <p:ph sz="quarter" idx="32"/>
          </p:nvPr>
        </p:nvSpPr>
        <p:spPr>
          <a:xfrm>
            <a:off x="4854575" y="5486400"/>
            <a:ext cx="3832225" cy="3635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8" name="Content Placeholder 47">
            <a:extLst>
              <a:ext uri="{FF2B5EF4-FFF2-40B4-BE49-F238E27FC236}">
                <a16:creationId xmlns:a16="http://schemas.microsoft.com/office/drawing/2014/main" id="{30C27756-687A-98CB-7277-9F68F90686E3}"/>
              </a:ext>
            </a:extLst>
          </p:cNvPr>
          <p:cNvSpPr>
            <a:spLocks noGrp="1"/>
          </p:cNvSpPr>
          <p:nvPr>
            <p:ph sz="quarter" idx="33"/>
          </p:nvPr>
        </p:nvSpPr>
        <p:spPr>
          <a:xfrm>
            <a:off x="4854575" y="5973763"/>
            <a:ext cx="3832225" cy="363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5049420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p>
            <a:pPr lvl="0"/>
            <a:r>
              <a:rPr lang="en-US" dirty="0"/>
              <a:t>Edit Master text styles</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p>
            <a:pPr lvl="0"/>
            <a:r>
              <a:rPr lang="en-US" dirty="0"/>
              <a:t>Edit Master text styles</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‹N°›</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399197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694830" y="1552575"/>
            <a:ext cx="3991970"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‹N°›</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‹N°›</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‹N°›</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32583-235A-F751-E1A0-22340F52DA5B}"/>
              </a:ext>
            </a:extLst>
          </p:cNvPr>
          <p:cNvSpPr>
            <a:spLocks noGrp="1"/>
          </p:cNvSpPr>
          <p:nvPr>
            <p:ph type="title"/>
          </p:nvPr>
        </p:nvSpPr>
        <p:spPr>
          <a:xfrm>
            <a:off x="457200" y="391922"/>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DE946B8D-69D3-F67C-54D4-69E12CEBEFAB}"/>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7CFF72C7-E3FC-EE33-8DFC-71709F451346}"/>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‹N°›</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980EA191-22D4-E86D-9E1B-E682EC5FFB87}"/>
              </a:ext>
            </a:extLst>
          </p:cNvPr>
          <p:cNvSpPr>
            <a:spLocks noGrp="1"/>
          </p:cNvSpPr>
          <p:nvPr>
            <p:ph sz="quarter" idx="12"/>
          </p:nvPr>
        </p:nvSpPr>
        <p:spPr>
          <a:xfrm>
            <a:off x="457200" y="1128713"/>
            <a:ext cx="4114800" cy="374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02FF8749-5E2C-C5EC-07A2-82A184A69105}"/>
              </a:ext>
            </a:extLst>
          </p:cNvPr>
          <p:cNvSpPr>
            <a:spLocks noGrp="1"/>
          </p:cNvSpPr>
          <p:nvPr>
            <p:ph sz="quarter" idx="13"/>
          </p:nvPr>
        </p:nvSpPr>
        <p:spPr>
          <a:xfrm>
            <a:off x="457200" y="1608165"/>
            <a:ext cx="4114800" cy="374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5F39784D-F00D-2F87-FE7C-5D6A7003EA61}"/>
              </a:ext>
            </a:extLst>
          </p:cNvPr>
          <p:cNvSpPr>
            <a:spLocks noGrp="1"/>
          </p:cNvSpPr>
          <p:nvPr>
            <p:ph sz="quarter" idx="14"/>
          </p:nvPr>
        </p:nvSpPr>
        <p:spPr>
          <a:xfrm>
            <a:off x="457200" y="2105187"/>
            <a:ext cx="4114800" cy="374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37FD5A9B-F30A-F9FE-F0FB-551D875EA878}"/>
              </a:ext>
            </a:extLst>
          </p:cNvPr>
          <p:cNvSpPr>
            <a:spLocks noGrp="1"/>
          </p:cNvSpPr>
          <p:nvPr>
            <p:ph sz="quarter" idx="15"/>
          </p:nvPr>
        </p:nvSpPr>
        <p:spPr>
          <a:xfrm>
            <a:off x="457200" y="2593367"/>
            <a:ext cx="4114800" cy="374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3D570F16-0FB9-8033-D49A-B21D5EAAE3A6}"/>
              </a:ext>
            </a:extLst>
          </p:cNvPr>
          <p:cNvSpPr>
            <a:spLocks noGrp="1"/>
          </p:cNvSpPr>
          <p:nvPr>
            <p:ph sz="quarter" idx="16"/>
          </p:nvPr>
        </p:nvSpPr>
        <p:spPr>
          <a:xfrm>
            <a:off x="457200" y="3089403"/>
            <a:ext cx="4114800" cy="3630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92100C21-4082-CFE4-CF31-313ECAF0FAEC}"/>
              </a:ext>
            </a:extLst>
          </p:cNvPr>
          <p:cNvSpPr>
            <a:spLocks noGrp="1"/>
          </p:cNvSpPr>
          <p:nvPr>
            <p:ph sz="quarter" idx="17"/>
          </p:nvPr>
        </p:nvSpPr>
        <p:spPr>
          <a:xfrm>
            <a:off x="457200" y="3547825"/>
            <a:ext cx="4114800" cy="363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C08D2A52-88A7-C982-5611-B9B749149E07}"/>
              </a:ext>
            </a:extLst>
          </p:cNvPr>
          <p:cNvSpPr>
            <a:spLocks noGrp="1"/>
          </p:cNvSpPr>
          <p:nvPr>
            <p:ph sz="quarter" idx="18"/>
          </p:nvPr>
        </p:nvSpPr>
        <p:spPr>
          <a:xfrm>
            <a:off x="457200" y="4025424"/>
            <a:ext cx="4114800" cy="3635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47BB806B-DC10-6241-CF76-B7F73B1DA0D0}"/>
              </a:ext>
            </a:extLst>
          </p:cNvPr>
          <p:cNvSpPr>
            <a:spLocks noGrp="1"/>
          </p:cNvSpPr>
          <p:nvPr>
            <p:ph sz="quarter" idx="19"/>
          </p:nvPr>
        </p:nvSpPr>
        <p:spPr>
          <a:xfrm>
            <a:off x="457200" y="4512284"/>
            <a:ext cx="4114800" cy="363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4D975668-C112-6258-3ABF-18621F9F14E0}"/>
              </a:ext>
            </a:extLst>
          </p:cNvPr>
          <p:cNvSpPr>
            <a:spLocks noGrp="1"/>
          </p:cNvSpPr>
          <p:nvPr>
            <p:ph sz="quarter" idx="20"/>
          </p:nvPr>
        </p:nvSpPr>
        <p:spPr>
          <a:xfrm>
            <a:off x="457200" y="4999038"/>
            <a:ext cx="4114800" cy="363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76E060E6-6ED1-8915-956E-0F517E970AFE}"/>
              </a:ext>
            </a:extLst>
          </p:cNvPr>
          <p:cNvSpPr>
            <a:spLocks noGrp="1"/>
          </p:cNvSpPr>
          <p:nvPr>
            <p:ph sz="quarter" idx="21"/>
          </p:nvPr>
        </p:nvSpPr>
        <p:spPr>
          <a:xfrm>
            <a:off x="457200" y="5486400"/>
            <a:ext cx="4114800" cy="3635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709CE1C0-2756-5A79-79FA-820DAF2BBE0F}"/>
              </a:ext>
            </a:extLst>
          </p:cNvPr>
          <p:cNvSpPr>
            <a:spLocks noGrp="1"/>
          </p:cNvSpPr>
          <p:nvPr>
            <p:ph sz="quarter" idx="22"/>
          </p:nvPr>
        </p:nvSpPr>
        <p:spPr>
          <a:xfrm>
            <a:off x="457200" y="5965217"/>
            <a:ext cx="4114800" cy="363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759F8E62-A50E-4D96-F629-9CCE09A34988}"/>
              </a:ext>
            </a:extLst>
          </p:cNvPr>
          <p:cNvSpPr>
            <a:spLocks noGrp="1"/>
          </p:cNvSpPr>
          <p:nvPr>
            <p:ph sz="quarter" idx="23"/>
          </p:nvPr>
        </p:nvSpPr>
        <p:spPr>
          <a:xfrm>
            <a:off x="4854575" y="1128713"/>
            <a:ext cx="3832225" cy="374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5C755B44-BFDE-4900-5131-8BF154C7F7BE}"/>
              </a:ext>
            </a:extLst>
          </p:cNvPr>
          <p:cNvSpPr>
            <a:spLocks noGrp="1"/>
          </p:cNvSpPr>
          <p:nvPr>
            <p:ph sz="quarter" idx="24"/>
          </p:nvPr>
        </p:nvSpPr>
        <p:spPr>
          <a:xfrm>
            <a:off x="4854575" y="1633796"/>
            <a:ext cx="3832225" cy="3646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9156BDEE-5497-09AD-373B-6A3C917DB056}"/>
              </a:ext>
            </a:extLst>
          </p:cNvPr>
          <p:cNvSpPr>
            <a:spLocks noGrp="1"/>
          </p:cNvSpPr>
          <p:nvPr>
            <p:ph sz="quarter" idx="25"/>
          </p:nvPr>
        </p:nvSpPr>
        <p:spPr>
          <a:xfrm>
            <a:off x="4854575" y="2123983"/>
            <a:ext cx="3832225" cy="3672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BC2F1532-2F8D-53B2-AE5A-DDDCC36EA7DB}"/>
              </a:ext>
            </a:extLst>
          </p:cNvPr>
          <p:cNvSpPr>
            <a:spLocks noGrp="1"/>
          </p:cNvSpPr>
          <p:nvPr>
            <p:ph sz="quarter" idx="26"/>
          </p:nvPr>
        </p:nvSpPr>
        <p:spPr>
          <a:xfrm>
            <a:off x="4854575" y="2616200"/>
            <a:ext cx="3832225" cy="352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0D0E76CD-FF1E-8052-73C4-F70E6A89FCD8}"/>
              </a:ext>
            </a:extLst>
          </p:cNvPr>
          <p:cNvSpPr>
            <a:spLocks noGrp="1"/>
          </p:cNvSpPr>
          <p:nvPr>
            <p:ph sz="quarter" idx="27"/>
          </p:nvPr>
        </p:nvSpPr>
        <p:spPr>
          <a:xfrm>
            <a:off x="4854575" y="3089275"/>
            <a:ext cx="3832225" cy="3635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2A96D52B-34E2-ED71-EE09-2815EB18F646}"/>
              </a:ext>
            </a:extLst>
          </p:cNvPr>
          <p:cNvSpPr>
            <a:spLocks noGrp="1"/>
          </p:cNvSpPr>
          <p:nvPr>
            <p:ph sz="quarter" idx="28"/>
          </p:nvPr>
        </p:nvSpPr>
        <p:spPr>
          <a:xfrm>
            <a:off x="4854575" y="3571772"/>
            <a:ext cx="3832225" cy="3415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4DF2A458-95C6-C2F5-E379-F2225D575D78}"/>
              </a:ext>
            </a:extLst>
          </p:cNvPr>
          <p:cNvSpPr>
            <a:spLocks noGrp="1"/>
          </p:cNvSpPr>
          <p:nvPr>
            <p:ph sz="quarter" idx="29"/>
          </p:nvPr>
        </p:nvSpPr>
        <p:spPr>
          <a:xfrm>
            <a:off x="4854575" y="4032250"/>
            <a:ext cx="3832225" cy="3635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2" name="Content Placeholder 41">
            <a:extLst>
              <a:ext uri="{FF2B5EF4-FFF2-40B4-BE49-F238E27FC236}">
                <a16:creationId xmlns:a16="http://schemas.microsoft.com/office/drawing/2014/main" id="{2BF9EE99-5E98-407D-122B-1CA821074B1B}"/>
              </a:ext>
            </a:extLst>
          </p:cNvPr>
          <p:cNvSpPr>
            <a:spLocks noGrp="1"/>
          </p:cNvSpPr>
          <p:nvPr>
            <p:ph sz="quarter" idx="30"/>
          </p:nvPr>
        </p:nvSpPr>
        <p:spPr>
          <a:xfrm>
            <a:off x="4854575" y="4511675"/>
            <a:ext cx="3832225" cy="3635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4" name="Content Placeholder 43">
            <a:extLst>
              <a:ext uri="{FF2B5EF4-FFF2-40B4-BE49-F238E27FC236}">
                <a16:creationId xmlns:a16="http://schemas.microsoft.com/office/drawing/2014/main" id="{9D6C01BF-865C-825E-C404-4554AE6B3AFF}"/>
              </a:ext>
            </a:extLst>
          </p:cNvPr>
          <p:cNvSpPr>
            <a:spLocks noGrp="1"/>
          </p:cNvSpPr>
          <p:nvPr>
            <p:ph sz="quarter" idx="31"/>
          </p:nvPr>
        </p:nvSpPr>
        <p:spPr>
          <a:xfrm>
            <a:off x="4854575" y="4999038"/>
            <a:ext cx="3832225" cy="363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6" name="Content Placeholder 45">
            <a:extLst>
              <a:ext uri="{FF2B5EF4-FFF2-40B4-BE49-F238E27FC236}">
                <a16:creationId xmlns:a16="http://schemas.microsoft.com/office/drawing/2014/main" id="{E536DCFE-59E2-9F57-8BF8-BFE27FB40934}"/>
              </a:ext>
            </a:extLst>
          </p:cNvPr>
          <p:cNvSpPr>
            <a:spLocks noGrp="1"/>
          </p:cNvSpPr>
          <p:nvPr>
            <p:ph sz="quarter" idx="32"/>
          </p:nvPr>
        </p:nvSpPr>
        <p:spPr>
          <a:xfrm>
            <a:off x="4854575" y="5486400"/>
            <a:ext cx="3832225" cy="3635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8" name="Content Placeholder 47">
            <a:extLst>
              <a:ext uri="{FF2B5EF4-FFF2-40B4-BE49-F238E27FC236}">
                <a16:creationId xmlns:a16="http://schemas.microsoft.com/office/drawing/2014/main" id="{30C27756-687A-98CB-7277-9F68F90686E3}"/>
              </a:ext>
            </a:extLst>
          </p:cNvPr>
          <p:cNvSpPr>
            <a:spLocks noGrp="1"/>
          </p:cNvSpPr>
          <p:nvPr>
            <p:ph sz="quarter" idx="33"/>
          </p:nvPr>
        </p:nvSpPr>
        <p:spPr>
          <a:xfrm>
            <a:off x="4854575" y="5973763"/>
            <a:ext cx="3832225" cy="363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95646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28600"/>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12888"/>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050971"/>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‹N°›</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481138"/>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hasCustomPrompt="1"/>
          </p:nvPr>
        </p:nvSpPr>
        <p:spPr>
          <a:xfrm>
            <a:off x="5048250" y="1481138"/>
            <a:ext cx="3638550" cy="3754437"/>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343525"/>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‹N°›</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‹N°›</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‹N°›</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‹N°›</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‹N°›</a:t>
            </a:fld>
            <a:endParaRPr lang="en-US" sz="900" dirty="0"/>
          </a:p>
        </p:txBody>
      </p:sp>
      <p:sp>
        <p:nvSpPr>
          <p:cNvPr id="2" name="Shape 14">
            <a:extLst>
              <a:ext uri="{FF2B5EF4-FFF2-40B4-BE49-F238E27FC236}">
                <a16:creationId xmlns:a16="http://schemas.microsoft.com/office/drawing/2014/main" id="{E714B342-B984-6217-58A5-4511DF080863}"/>
              </a:ext>
            </a:extLst>
          </p:cNvPr>
          <p:cNvSpPr txBox="1">
            <a:spLocks/>
          </p:cNvSpPr>
          <p:nvPr userDrawn="1"/>
        </p:nvSpPr>
        <p:spPr>
          <a:xfrm>
            <a:off x="8086382" y="6433851"/>
            <a:ext cx="876310" cy="222697"/>
          </a:xfrm>
          <a:prstGeom prst="rect">
            <a:avLst/>
          </a:prstGeom>
          <a:noFill/>
          <a:ln>
            <a:noFill/>
          </a:ln>
        </p:spPr>
        <p:txBody>
          <a:bodyPr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2000" b="0" i="0" u="none" strike="noStrike" cap="none">
                <a:solidFill>
                  <a:schemeClr val="tx1"/>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buSzPct val="25000"/>
              <a:defRPr/>
            </a:pPr>
            <a:fld id="{00000000-1234-1234-1234-123412341234}" type="slidenum">
              <a:rPr lang="en-US" smtClean="0"/>
              <a:pPr algn="r">
                <a:buSzPct val="25000"/>
                <a:defRPr/>
              </a:pPr>
              <a:t>‹N°›</a:t>
            </a:fld>
            <a:endParaRPr lang="en-US" dirty="0"/>
          </a:p>
        </p:txBody>
      </p:sp>
    </p:spTree>
    <p:extLst>
      <p:ext uri="{BB962C8B-B14F-4D97-AF65-F5344CB8AC3E}">
        <p14:creationId xmlns:p14="http://schemas.microsoft.com/office/powerpoint/2010/main" val="197501098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theme" Target="../theme/theme2.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‹N°›</a:t>
            </a:fld>
            <a:endParaRPr lang="en-US" sz="900" dirty="0"/>
          </a:p>
        </p:txBody>
      </p:sp>
      <p:sp>
        <p:nvSpPr>
          <p:cNvPr id="2" name="Shape 14">
            <a:extLst>
              <a:ext uri="{FF2B5EF4-FFF2-40B4-BE49-F238E27FC236}">
                <a16:creationId xmlns:a16="http://schemas.microsoft.com/office/drawing/2014/main" id="{7C58A4CE-49A6-A86B-5B42-2CDC0E3FA441}"/>
              </a:ext>
            </a:extLst>
          </p:cNvPr>
          <p:cNvSpPr txBox="1">
            <a:spLocks/>
          </p:cNvSpPr>
          <p:nvPr userDrawn="1"/>
        </p:nvSpPr>
        <p:spPr>
          <a:xfrm>
            <a:off x="8086382" y="6444361"/>
            <a:ext cx="876310" cy="222697"/>
          </a:xfrm>
          <a:prstGeom prst="rect">
            <a:avLst/>
          </a:prstGeom>
          <a:noFill/>
          <a:ln>
            <a:noFill/>
          </a:ln>
        </p:spPr>
        <p:txBody>
          <a:bodyPr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2000" b="0" i="0" u="none" strike="noStrike" cap="none">
                <a:solidFill>
                  <a:schemeClr val="tx1"/>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buSzPct val="25000"/>
              <a:defRPr/>
            </a:pPr>
            <a:fld id="{00000000-1234-1234-1234-123412341234}" type="slidenum">
              <a:rPr lang="en-US" smtClean="0"/>
              <a:pPr algn="r">
                <a:buSzPct val="25000"/>
                <a:defRPr/>
              </a:pPr>
              <a:t>‹N°›</a:t>
            </a:fld>
            <a:endParaRPr lang="en-US"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64" r:id="rId2"/>
    <p:sldLayoutId id="2147483683"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‹N°›</a:t>
            </a:fld>
            <a:endParaRPr lang="en-US" sz="900" b="0" i="0" u="none" strike="noStrike" cap="none">
              <a:solidFill>
                <a:schemeClr val="lt1"/>
              </a:solidFill>
              <a:latin typeface="Arial"/>
              <a:ea typeface="Arial"/>
              <a:cs typeface="Arial"/>
              <a:sym typeface="Arial"/>
            </a:endParaRPr>
          </a:p>
        </p:txBody>
      </p:sp>
      <p:sp>
        <p:nvSpPr>
          <p:cNvPr id="2" name="Shape 14">
            <a:extLst>
              <a:ext uri="{FF2B5EF4-FFF2-40B4-BE49-F238E27FC236}">
                <a16:creationId xmlns:a16="http://schemas.microsoft.com/office/drawing/2014/main" id="{03035D41-2858-9CD2-4ECF-EDA939CAB882}"/>
              </a:ext>
            </a:extLst>
          </p:cNvPr>
          <p:cNvSpPr txBox="1">
            <a:spLocks/>
          </p:cNvSpPr>
          <p:nvPr userDrawn="1"/>
        </p:nvSpPr>
        <p:spPr>
          <a:xfrm>
            <a:off x="8086382" y="6433851"/>
            <a:ext cx="876310" cy="222697"/>
          </a:xfrm>
          <a:prstGeom prst="rect">
            <a:avLst/>
          </a:prstGeom>
          <a:noFill/>
          <a:ln>
            <a:noFill/>
          </a:ln>
        </p:spPr>
        <p:txBody>
          <a:bodyPr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2000" b="0" i="0" u="none" strike="noStrike" cap="none">
                <a:solidFill>
                  <a:schemeClr val="tx1"/>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buSzPct val="25000"/>
              <a:defRPr/>
            </a:pPr>
            <a:fld id="{00000000-1234-1234-1234-123412341234}" type="slidenum">
              <a:rPr lang="en-US" smtClean="0"/>
              <a:pPr algn="r">
                <a:buSzPct val="25000"/>
                <a:defRPr/>
              </a:pPr>
              <a:t>‹N°›</a:t>
            </a:fld>
            <a:endParaRPr lang="en-US" dirty="0"/>
          </a:p>
        </p:txBody>
      </p:sp>
    </p:spTree>
  </p:cSld>
  <p:clrMap bg1="lt1" tx1="dk1" bg2="dk2" tx2="lt2" accent1="accent1" accent2="accent2" accent3="accent3" accent4="accent4" accent5="accent5" accent6="accent6" hlink="hlink" folHlink="folHlink"/>
  <p:sldLayoutIdLst>
    <p:sldLayoutId id="2147483681" r:id="rId1"/>
    <p:sldLayoutId id="2147483676" r:id="rId2"/>
    <p:sldLayoutId id="2147483677" r:id="rId3"/>
    <p:sldLayoutId id="2147483678" r:id="rId4"/>
    <p:sldLayoutId id="2147483679" r:id="rId5"/>
    <p:sldLayoutId id="2147483680" r:id="rId6"/>
    <p:sldLayoutId id="2147483671" r:id="rId7"/>
    <p:sldLayoutId id="2147483673" r:id="rId8"/>
    <p:sldLayoutId id="2147483670" r:id="rId9"/>
    <p:sldLayoutId id="2147483669" r:id="rId10"/>
    <p:sldLayoutId id="2147483655" r:id="rId11"/>
    <p:sldLayoutId id="2147483684"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Sebastien.Dereeper@skema.edu" TargetMode="External"/><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2.bin"/><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3.bin"/><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4.bin"/><Relationship Id="rId1" Type="http://schemas.openxmlformats.org/officeDocument/2006/relationships/slideLayout" Target="../slideLayouts/slideLayout4.xml"/><Relationship Id="rId5" Type="http://schemas.openxmlformats.org/officeDocument/2006/relationships/image" Target="../media/image6.wmf"/><Relationship Id="rId4" Type="http://schemas.openxmlformats.org/officeDocument/2006/relationships/oleObject" Target="../embeddings/oleObject5.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6.bin"/><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tags" Target="../tags/tag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3.xml"/></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image" Target="../media/image8.wmf"/><Relationship Id="rId7" Type="http://schemas.openxmlformats.org/officeDocument/2006/relationships/image" Target="../media/image10.wmf"/><Relationship Id="rId2" Type="http://schemas.openxmlformats.org/officeDocument/2006/relationships/oleObject" Target="../embeddings/oleObject7.bin"/><Relationship Id="rId1" Type="http://schemas.openxmlformats.org/officeDocument/2006/relationships/slideLayout" Target="../slideLayouts/slideLayout9.xml"/><Relationship Id="rId6" Type="http://schemas.openxmlformats.org/officeDocument/2006/relationships/oleObject" Target="../embeddings/oleObject9.bin"/><Relationship Id="rId5" Type="http://schemas.openxmlformats.org/officeDocument/2006/relationships/image" Target="../media/image9.wmf"/><Relationship Id="rId4" Type="http://schemas.openxmlformats.org/officeDocument/2006/relationships/oleObject" Target="../embeddings/oleObject8.bin"/><Relationship Id="rId9" Type="http://schemas.openxmlformats.org/officeDocument/2006/relationships/image" Target="../media/image11.w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3" Type="http://schemas.openxmlformats.org/officeDocument/2006/relationships/image" Target="../media/image12.wmf"/><Relationship Id="rId7" Type="http://schemas.openxmlformats.org/officeDocument/2006/relationships/image" Target="../media/image14.wmf"/><Relationship Id="rId2" Type="http://schemas.openxmlformats.org/officeDocument/2006/relationships/oleObject" Target="../embeddings/oleObject11.bin"/><Relationship Id="rId1" Type="http://schemas.openxmlformats.org/officeDocument/2006/relationships/slideLayout" Target="../slideLayouts/slideLayout9.xml"/><Relationship Id="rId6" Type="http://schemas.openxmlformats.org/officeDocument/2006/relationships/oleObject" Target="../embeddings/oleObject13.bin"/><Relationship Id="rId5" Type="http://schemas.openxmlformats.org/officeDocument/2006/relationships/image" Target="../media/image13.wmf"/><Relationship Id="rId4" Type="http://schemas.openxmlformats.org/officeDocument/2006/relationships/oleObject" Target="../embeddings/oleObject12.bin"/></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tags" Target="../tags/tag4.xml"/></Relationships>
</file>

<file path=ppt/slides/_rels/slide3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oleObject" Target="../embeddings/oleObject14.bin"/><Relationship Id="rId7" Type="http://schemas.openxmlformats.org/officeDocument/2006/relationships/oleObject" Target="../embeddings/oleObject16.bin"/><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image" Target="../media/image17.wmf"/><Relationship Id="rId5" Type="http://schemas.openxmlformats.org/officeDocument/2006/relationships/oleObject" Target="../embeddings/oleObject15.bin"/><Relationship Id="rId4" Type="http://schemas.openxmlformats.org/officeDocument/2006/relationships/image" Target="../media/image16.wmf"/></Relationships>
</file>

<file path=ppt/slides/_rels/slide33.x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oleObject" Target="../embeddings/oleObject17.bin"/><Relationship Id="rId7" Type="http://schemas.openxmlformats.org/officeDocument/2006/relationships/oleObject" Target="../embeddings/oleObject19.bin"/><Relationship Id="rId2" Type="http://schemas.openxmlformats.org/officeDocument/2006/relationships/notesSlide" Target="../notesSlides/notesSlide4.xml"/><Relationship Id="rId1" Type="http://schemas.openxmlformats.org/officeDocument/2006/relationships/slideLayout" Target="../slideLayouts/slideLayout9.xml"/><Relationship Id="rId6" Type="http://schemas.openxmlformats.org/officeDocument/2006/relationships/image" Target="../media/image20.wmf"/><Relationship Id="rId5" Type="http://schemas.openxmlformats.org/officeDocument/2006/relationships/oleObject" Target="../embeddings/oleObject18.bin"/><Relationship Id="rId4" Type="http://schemas.openxmlformats.org/officeDocument/2006/relationships/image" Target="../media/image19.wmf"/></Relationships>
</file>

<file path=ppt/slides/_rels/slide34.xml.rels><?xml version="1.0" encoding="UTF-8" standalone="yes"?>
<Relationships xmlns="http://schemas.openxmlformats.org/package/2006/relationships"><Relationship Id="rId8" Type="http://schemas.openxmlformats.org/officeDocument/2006/relationships/image" Target="../media/image24.wmf"/><Relationship Id="rId13" Type="http://schemas.openxmlformats.org/officeDocument/2006/relationships/oleObject" Target="../embeddings/oleObject25.bin"/><Relationship Id="rId3" Type="http://schemas.openxmlformats.org/officeDocument/2006/relationships/oleObject" Target="../embeddings/oleObject20.bin"/><Relationship Id="rId7" Type="http://schemas.openxmlformats.org/officeDocument/2006/relationships/oleObject" Target="../embeddings/oleObject22.bin"/><Relationship Id="rId12" Type="http://schemas.openxmlformats.org/officeDocument/2006/relationships/image" Target="../media/image26.wmf"/><Relationship Id="rId2" Type="http://schemas.openxmlformats.org/officeDocument/2006/relationships/slideLayout" Target="../slideLayouts/slideLayout9.xml"/><Relationship Id="rId1" Type="http://schemas.openxmlformats.org/officeDocument/2006/relationships/tags" Target="../tags/tag5.xml"/><Relationship Id="rId6" Type="http://schemas.openxmlformats.org/officeDocument/2006/relationships/image" Target="../media/image23.wmf"/><Relationship Id="rId11" Type="http://schemas.openxmlformats.org/officeDocument/2006/relationships/oleObject" Target="../embeddings/oleObject24.bin"/><Relationship Id="rId5" Type="http://schemas.openxmlformats.org/officeDocument/2006/relationships/oleObject" Target="../embeddings/oleObject21.bin"/><Relationship Id="rId10" Type="http://schemas.openxmlformats.org/officeDocument/2006/relationships/image" Target="../media/image25.wmf"/><Relationship Id="rId4" Type="http://schemas.openxmlformats.org/officeDocument/2006/relationships/image" Target="../media/image22.wmf"/><Relationship Id="rId9" Type="http://schemas.openxmlformats.org/officeDocument/2006/relationships/oleObject" Target="../embeddings/oleObject23.bin"/><Relationship Id="rId14" Type="http://schemas.openxmlformats.org/officeDocument/2006/relationships/image" Target="../media/image27.w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29.bin"/><Relationship Id="rId3" Type="http://schemas.openxmlformats.org/officeDocument/2006/relationships/image" Target="../media/image28.wmf"/><Relationship Id="rId7" Type="http://schemas.openxmlformats.org/officeDocument/2006/relationships/image" Target="../media/image30.wmf"/><Relationship Id="rId2" Type="http://schemas.openxmlformats.org/officeDocument/2006/relationships/oleObject" Target="../embeddings/oleObject26.bin"/><Relationship Id="rId1" Type="http://schemas.openxmlformats.org/officeDocument/2006/relationships/slideLayout" Target="../slideLayouts/slideLayout9.xml"/><Relationship Id="rId6" Type="http://schemas.openxmlformats.org/officeDocument/2006/relationships/oleObject" Target="../embeddings/oleObject28.bin"/><Relationship Id="rId11" Type="http://schemas.openxmlformats.org/officeDocument/2006/relationships/image" Target="../media/image32.wmf"/><Relationship Id="rId5" Type="http://schemas.openxmlformats.org/officeDocument/2006/relationships/image" Target="../media/image29.wmf"/><Relationship Id="rId10" Type="http://schemas.openxmlformats.org/officeDocument/2006/relationships/oleObject" Target="../embeddings/oleObject30.bin"/><Relationship Id="rId4" Type="http://schemas.openxmlformats.org/officeDocument/2006/relationships/oleObject" Target="../embeddings/oleObject27.bin"/><Relationship Id="rId9" Type="http://schemas.openxmlformats.org/officeDocument/2006/relationships/image" Target="../media/image31.wmf"/></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34.bin"/><Relationship Id="rId3" Type="http://schemas.openxmlformats.org/officeDocument/2006/relationships/image" Target="../media/image33.wmf"/><Relationship Id="rId7" Type="http://schemas.openxmlformats.org/officeDocument/2006/relationships/image" Target="../media/image35.wmf"/><Relationship Id="rId2" Type="http://schemas.openxmlformats.org/officeDocument/2006/relationships/oleObject" Target="../embeddings/oleObject31.bin"/><Relationship Id="rId1" Type="http://schemas.openxmlformats.org/officeDocument/2006/relationships/slideLayout" Target="../slideLayouts/slideLayout9.xml"/><Relationship Id="rId6" Type="http://schemas.openxmlformats.org/officeDocument/2006/relationships/oleObject" Target="../embeddings/oleObject33.bin"/><Relationship Id="rId5" Type="http://schemas.openxmlformats.org/officeDocument/2006/relationships/image" Target="../media/image34.wmf"/><Relationship Id="rId4" Type="http://schemas.openxmlformats.org/officeDocument/2006/relationships/oleObject" Target="../embeddings/oleObject32.bin"/><Relationship Id="rId9" Type="http://schemas.openxmlformats.org/officeDocument/2006/relationships/image" Target="../media/image36.wmf"/></Relationships>
</file>

<file path=ppt/slides/_rels/slide39.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3" Type="http://schemas.openxmlformats.org/officeDocument/2006/relationships/image" Target="../media/image39.wmf"/><Relationship Id="rId7" Type="http://schemas.openxmlformats.org/officeDocument/2006/relationships/image" Target="../media/image41.wmf"/><Relationship Id="rId2" Type="http://schemas.openxmlformats.org/officeDocument/2006/relationships/oleObject" Target="../embeddings/oleObject35.bin"/><Relationship Id="rId1" Type="http://schemas.openxmlformats.org/officeDocument/2006/relationships/slideLayout" Target="../slideLayouts/slideLayout9.xml"/><Relationship Id="rId6" Type="http://schemas.openxmlformats.org/officeDocument/2006/relationships/oleObject" Target="../embeddings/oleObject37.bin"/><Relationship Id="rId5" Type="http://schemas.openxmlformats.org/officeDocument/2006/relationships/image" Target="../media/image40.wmf"/><Relationship Id="rId4" Type="http://schemas.openxmlformats.org/officeDocument/2006/relationships/oleObject" Target="../embeddings/oleObject36.bin"/></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3" Type="http://schemas.openxmlformats.org/officeDocument/2006/relationships/image" Target="../media/image42.wmf"/><Relationship Id="rId7" Type="http://schemas.openxmlformats.org/officeDocument/2006/relationships/image" Target="../media/image44.wmf"/><Relationship Id="rId2" Type="http://schemas.openxmlformats.org/officeDocument/2006/relationships/oleObject" Target="../embeddings/oleObject38.bin"/><Relationship Id="rId1" Type="http://schemas.openxmlformats.org/officeDocument/2006/relationships/slideLayout" Target="../slideLayouts/slideLayout9.xml"/><Relationship Id="rId6" Type="http://schemas.openxmlformats.org/officeDocument/2006/relationships/oleObject" Target="../embeddings/oleObject40.bin"/><Relationship Id="rId5" Type="http://schemas.openxmlformats.org/officeDocument/2006/relationships/image" Target="../media/image43.wmf"/><Relationship Id="rId4" Type="http://schemas.openxmlformats.org/officeDocument/2006/relationships/oleObject" Target="../embeddings/oleObject39.bin"/></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tags" Target="../tags/tag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3" Type="http://schemas.openxmlformats.org/officeDocument/2006/relationships/image" Target="../media/image46.wmf"/><Relationship Id="rId7" Type="http://schemas.openxmlformats.org/officeDocument/2006/relationships/image" Target="../media/image48.wmf"/><Relationship Id="rId2" Type="http://schemas.openxmlformats.org/officeDocument/2006/relationships/oleObject" Target="../embeddings/oleObject41.bin"/><Relationship Id="rId1" Type="http://schemas.openxmlformats.org/officeDocument/2006/relationships/slideLayout" Target="../slideLayouts/slideLayout9.xml"/><Relationship Id="rId6" Type="http://schemas.openxmlformats.org/officeDocument/2006/relationships/oleObject" Target="../embeddings/oleObject43.bin"/><Relationship Id="rId5" Type="http://schemas.openxmlformats.org/officeDocument/2006/relationships/image" Target="../media/image47.wmf"/><Relationship Id="rId4" Type="http://schemas.openxmlformats.org/officeDocument/2006/relationships/oleObject" Target="../embeddings/oleObject42.bin"/></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9.xml"/><Relationship Id="rId1" Type="http://schemas.openxmlformats.org/officeDocument/2006/relationships/tags" Target="../tags/tag7.xml"/><Relationship Id="rId5" Type="http://schemas.openxmlformats.org/officeDocument/2006/relationships/image" Target="../media/image49.wmf"/><Relationship Id="rId4" Type="http://schemas.openxmlformats.org/officeDocument/2006/relationships/oleObject" Target="../embeddings/oleObject44.bin"/></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9.xml"/><Relationship Id="rId1" Type="http://schemas.openxmlformats.org/officeDocument/2006/relationships/tags" Target="../tags/tag8.xml"/><Relationship Id="rId4" Type="http://schemas.openxmlformats.org/officeDocument/2006/relationships/image" Target="../media/image50.wmf"/></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tags" Target="../tags/tag9.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tags" Target="../tags/tag10.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tags" Target="../tags/tag1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tags" Target="../tags/tag12.xml"/></Relationships>
</file>

<file path=ppt/slides/_rels/slide61.xml.rels><?xml version="1.0" encoding="UTF-8" standalone="yes"?>
<Relationships xmlns="http://schemas.openxmlformats.org/package/2006/relationships"><Relationship Id="rId3" Type="http://schemas.openxmlformats.org/officeDocument/2006/relationships/image" Target="../media/image51.jp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8" Type="http://schemas.openxmlformats.org/officeDocument/2006/relationships/image" Target="../media/image54.wmf"/><Relationship Id="rId3" Type="http://schemas.openxmlformats.org/officeDocument/2006/relationships/oleObject" Target="../embeddings/oleObject46.bin"/><Relationship Id="rId7" Type="http://schemas.openxmlformats.org/officeDocument/2006/relationships/oleObject" Target="../embeddings/oleObject48.bin"/><Relationship Id="rId2" Type="http://schemas.openxmlformats.org/officeDocument/2006/relationships/notesSlide" Target="../notesSlides/notesSlide10.xml"/><Relationship Id="rId1" Type="http://schemas.openxmlformats.org/officeDocument/2006/relationships/slideLayout" Target="../slideLayouts/slideLayout9.xml"/><Relationship Id="rId6" Type="http://schemas.openxmlformats.org/officeDocument/2006/relationships/image" Target="../media/image53.wmf"/><Relationship Id="rId5" Type="http://schemas.openxmlformats.org/officeDocument/2006/relationships/oleObject" Target="../embeddings/oleObject47.bin"/><Relationship Id="rId4" Type="http://schemas.openxmlformats.org/officeDocument/2006/relationships/image" Target="../media/image52.wmf"/></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tags" Target="../tags/tag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6.xml.rels><?xml version="1.0" encoding="UTF-8" standalone="yes"?>
<Relationships xmlns="http://schemas.openxmlformats.org/package/2006/relationships"><Relationship Id="rId3" Type="http://schemas.openxmlformats.org/officeDocument/2006/relationships/image" Target="../media/image55.jp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9.xml.rels><?xml version="1.0" encoding="UTF-8" standalone="yes"?>
<Relationships xmlns="http://schemas.openxmlformats.org/package/2006/relationships"><Relationship Id="rId3" Type="http://schemas.openxmlformats.org/officeDocument/2006/relationships/hyperlink" Target="mailto:Sebastien.Dereeper@skema.edu" TargetMode="External"/><Relationship Id="rId2" Type="http://schemas.openxmlformats.org/officeDocument/2006/relationships/notesSlide" Target="../notesSlides/notesSlide12.xml"/><Relationship Id="rId1" Type="http://schemas.openxmlformats.org/officeDocument/2006/relationships/slideLayout" Target="../slideLayouts/slideLayout15.xml"/><Relationship Id="rId4" Type="http://schemas.openxmlformats.org/officeDocument/2006/relationships/image" Target="../media/image1.jpg"/></Relationships>
</file>

<file path=ppt/slides/_rels/slide70.xml.rels><?xml version="1.0" encoding="UTF-8" standalone="yes"?>
<Relationships xmlns="http://schemas.openxmlformats.org/package/2006/relationships"><Relationship Id="rId3" Type="http://schemas.openxmlformats.org/officeDocument/2006/relationships/image" Target="../media/image56.jp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71.xml.rels><?xml version="1.0" encoding="UTF-8" standalone="yes"?>
<Relationships xmlns="http://schemas.openxmlformats.org/package/2006/relationships"><Relationship Id="rId3" Type="http://schemas.openxmlformats.org/officeDocument/2006/relationships/image" Target="../media/image57.jp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448593" y="386495"/>
            <a:ext cx="8263966" cy="528794"/>
          </a:xfrm>
        </p:spPr>
        <p:txBody>
          <a:bodyPr wrap="square" lIns="0" tIns="18000" rIns="0" bIns="18000" anchor="ctr">
            <a:spAutoFit/>
          </a:bodyPr>
          <a:lstStyle/>
          <a:p>
            <a:r>
              <a:rPr lang="en-US" sz="3200" dirty="0"/>
              <a:t>Capital Budgeting</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448952" y="1742355"/>
            <a:ext cx="8263607" cy="4991554"/>
          </a:xfrm>
        </p:spPr>
        <p:txBody>
          <a:bodyPr wrap="square" lIns="0" tIns="18000" rIns="0" bIns="18000" anchor="ctr">
            <a:spAutoFit/>
          </a:bodyPr>
          <a:lstStyle/>
          <a:p>
            <a:pPr>
              <a:spcAft>
                <a:spcPts val="300"/>
              </a:spcAft>
            </a:pPr>
            <a:r>
              <a:rPr lang="en-US" sz="2800" dirty="0" err="1">
                <a:solidFill>
                  <a:schemeClr val="tx1"/>
                </a:solidFill>
              </a:rPr>
              <a:t>Msc</a:t>
            </a:r>
            <a:r>
              <a:rPr lang="en-US" sz="2800" dirty="0">
                <a:solidFill>
                  <a:schemeClr val="tx1"/>
                </a:solidFill>
              </a:rPr>
              <a:t> Corporate Financial Management</a:t>
            </a:r>
          </a:p>
          <a:p>
            <a:pPr>
              <a:spcAft>
                <a:spcPts val="300"/>
              </a:spcAft>
            </a:pPr>
            <a:r>
              <a:rPr lang="en-US" sz="2800" dirty="0">
                <a:solidFill>
                  <a:schemeClr val="tx1"/>
                </a:solidFill>
              </a:rPr>
              <a:t>Lille Campus - 18 hours</a:t>
            </a:r>
          </a:p>
          <a:p>
            <a:pPr>
              <a:spcAft>
                <a:spcPts val="300"/>
              </a:spcAft>
            </a:pPr>
            <a:r>
              <a:rPr lang="en-US" sz="2800" dirty="0">
                <a:solidFill>
                  <a:schemeClr val="tx1"/>
                </a:solidFill>
              </a:rPr>
              <a:t>Skema Business School </a:t>
            </a:r>
          </a:p>
          <a:p>
            <a:pPr>
              <a:spcAft>
                <a:spcPts val="300"/>
              </a:spcAft>
            </a:pPr>
            <a:endParaRPr lang="fr-FR" dirty="0">
              <a:solidFill>
                <a:schemeClr val="tx1"/>
              </a:solidFill>
            </a:endParaRPr>
          </a:p>
          <a:p>
            <a:pPr>
              <a:spcAft>
                <a:spcPts val="300"/>
              </a:spcAft>
            </a:pPr>
            <a:r>
              <a:rPr lang="fr-FR" sz="2400" dirty="0" err="1">
                <a:solidFill>
                  <a:schemeClr val="tx1"/>
                </a:solidFill>
              </a:rPr>
              <a:t>Step</a:t>
            </a:r>
            <a:r>
              <a:rPr lang="fr-FR" sz="2400" dirty="0">
                <a:solidFill>
                  <a:schemeClr val="tx1"/>
                </a:solidFill>
              </a:rPr>
              <a:t> 1 :  </a:t>
            </a:r>
            <a:r>
              <a:rPr lang="fr-FR" sz="2400" dirty="0" err="1">
                <a:solidFill>
                  <a:schemeClr val="tx1"/>
                </a:solidFill>
              </a:rPr>
              <a:t>Calculate</a:t>
            </a:r>
            <a:r>
              <a:rPr lang="fr-FR" sz="2400" dirty="0">
                <a:solidFill>
                  <a:schemeClr val="tx1"/>
                </a:solidFill>
              </a:rPr>
              <a:t> Cash Flows </a:t>
            </a:r>
          </a:p>
          <a:p>
            <a:pPr>
              <a:spcAft>
                <a:spcPts val="300"/>
              </a:spcAft>
            </a:pPr>
            <a:r>
              <a:rPr lang="fr-FR" sz="2400" dirty="0">
                <a:solidFill>
                  <a:schemeClr val="tx1"/>
                </a:solidFill>
              </a:rPr>
              <a:t>Fundamentals of Capital </a:t>
            </a:r>
            <a:r>
              <a:rPr lang="fr-FR" sz="2400" dirty="0" err="1">
                <a:solidFill>
                  <a:schemeClr val="tx1"/>
                </a:solidFill>
              </a:rPr>
              <a:t>Budgeting</a:t>
            </a:r>
            <a:endParaRPr lang="fr-FR" sz="2400" dirty="0">
              <a:solidFill>
                <a:schemeClr val="tx1"/>
              </a:solidFill>
            </a:endParaRPr>
          </a:p>
          <a:p>
            <a:pPr>
              <a:spcAft>
                <a:spcPts val="300"/>
              </a:spcAft>
            </a:pPr>
            <a:endParaRPr lang="en-US" dirty="0">
              <a:solidFill>
                <a:schemeClr val="tx1"/>
              </a:solidFill>
            </a:endParaRPr>
          </a:p>
          <a:p>
            <a:pPr>
              <a:spcAft>
                <a:spcPts val="300"/>
              </a:spcAft>
            </a:pPr>
            <a:r>
              <a:rPr lang="en-US" dirty="0">
                <a:solidFill>
                  <a:schemeClr val="tx1"/>
                </a:solidFill>
              </a:rPr>
              <a:t>Pr. Sébastien DEREEPER</a:t>
            </a:r>
          </a:p>
          <a:p>
            <a:pPr>
              <a:spcAft>
                <a:spcPts val="300"/>
              </a:spcAft>
            </a:pPr>
            <a:r>
              <a:rPr lang="en-US" dirty="0">
                <a:hlinkClick r:id="rId3">
                  <a:extLst>
                    <a:ext uri="{A12FA001-AC4F-418D-AE19-62706E023703}">
                      <ahyp:hlinkClr xmlns:ahyp="http://schemas.microsoft.com/office/drawing/2018/hyperlinkcolor" val="tx"/>
                    </a:ext>
                  </a:extLst>
                </a:hlinkClick>
              </a:rPr>
              <a:t>Sebastien.Dereeper@skema.edu</a:t>
            </a:r>
            <a:endParaRPr lang="fr-FR" dirty="0"/>
          </a:p>
          <a:p>
            <a:pPr>
              <a:spcAft>
                <a:spcPts val="300"/>
              </a:spcAft>
            </a:pPr>
            <a:endParaRPr lang="fr-FR" dirty="0">
              <a:solidFill>
                <a:schemeClr val="tx2">
                  <a:lumMod val="60000"/>
                  <a:lumOff val="40000"/>
                </a:schemeClr>
              </a:solidFill>
            </a:endParaRPr>
          </a:p>
          <a:p>
            <a:pPr>
              <a:spcAft>
                <a:spcPts val="300"/>
              </a:spcAft>
            </a:pPr>
            <a:r>
              <a:rPr lang="fr-FR" dirty="0">
                <a:solidFill>
                  <a:schemeClr val="tx1"/>
                </a:solidFill>
              </a:rPr>
              <a:t>Course Based on : </a:t>
            </a:r>
          </a:p>
          <a:p>
            <a:pPr>
              <a:spcAft>
                <a:spcPts val="300"/>
              </a:spcAft>
            </a:pPr>
            <a:r>
              <a:rPr lang="fr-FR" dirty="0">
                <a:solidFill>
                  <a:schemeClr val="tx1"/>
                </a:solidFill>
              </a:rPr>
              <a:t>J. Berk &amp; P. De Marzo - </a:t>
            </a:r>
            <a:r>
              <a:rPr lang="fr-FR" dirty="0" err="1">
                <a:solidFill>
                  <a:schemeClr val="tx1"/>
                </a:solidFill>
              </a:rPr>
              <a:t>Corporate</a:t>
            </a:r>
            <a:r>
              <a:rPr lang="fr-FR" dirty="0">
                <a:solidFill>
                  <a:schemeClr val="tx1"/>
                </a:solidFill>
              </a:rPr>
              <a:t> Finance - Pearson, 2024</a:t>
            </a:r>
          </a:p>
          <a:p>
            <a:pPr>
              <a:spcAft>
                <a:spcPts val="300"/>
              </a:spcAft>
            </a:pPr>
            <a:endParaRPr lang="en-US" dirty="0">
              <a:solidFill>
                <a:schemeClr val="tx1"/>
              </a:solidFill>
            </a:endParaRPr>
          </a:p>
        </p:txBody>
      </p:sp>
      <p:pic>
        <p:nvPicPr>
          <p:cNvPr id="14" name="Image 13">
            <a:extLst>
              <a:ext uri="{FF2B5EF4-FFF2-40B4-BE49-F238E27FC236}">
                <a16:creationId xmlns:a16="http://schemas.microsoft.com/office/drawing/2014/main" id="{4F20EAC4-619E-132A-A2CB-EE292EB4745E}"/>
              </a:ext>
            </a:extLst>
          </p:cNvPr>
          <p:cNvPicPr>
            <a:picLocks noChangeAspect="1"/>
          </p:cNvPicPr>
          <p:nvPr/>
        </p:nvPicPr>
        <p:blipFill>
          <a:blip r:embed="rId4"/>
          <a:stretch>
            <a:fillRect/>
          </a:stretch>
        </p:blipFill>
        <p:spPr>
          <a:xfrm>
            <a:off x="6543453" y="180830"/>
            <a:ext cx="1815265" cy="1213736"/>
          </a:xfrm>
          <a:prstGeom prst="rect">
            <a:avLst/>
          </a:prstGeom>
        </p:spPr>
      </p:pic>
    </p:spTree>
    <p:extLst>
      <p:ext uri="{BB962C8B-B14F-4D97-AF65-F5344CB8AC3E}">
        <p14:creationId xmlns:p14="http://schemas.microsoft.com/office/powerpoint/2010/main" val="2749729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7974"/>
            <a:ext cx="8266346" cy="590349"/>
          </a:xfrm>
        </p:spPr>
        <p:txBody>
          <a:bodyPr/>
          <a:lstStyle/>
          <a:p>
            <a:r>
              <a:rPr lang="en-US" dirty="0"/>
              <a:t>Outline</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1134914"/>
            <a:ext cx="8266346" cy="5460913"/>
          </a:xfrm>
        </p:spPr>
        <p:txBody>
          <a:bodyPr wrap="square" lIns="0" tIns="18000" rIns="0" bIns="18000" anchor="ctr">
            <a:spAutoFit/>
          </a:bodyPr>
          <a:lstStyle/>
          <a:p>
            <a:pPr marL="539750" indent="-539750">
              <a:buNone/>
            </a:pPr>
            <a:r>
              <a:rPr lang="en-US" altLang="en-US" sz="2400" b="1" dirty="0">
                <a:solidFill>
                  <a:srgbClr val="007FA3"/>
                </a:solidFill>
              </a:rPr>
              <a:t>1.</a:t>
            </a:r>
            <a:r>
              <a:rPr lang="en-US" altLang="en-US" sz="2400" dirty="0">
                <a:solidFill>
                  <a:schemeClr val="tx1"/>
                </a:solidFill>
              </a:rPr>
              <a:t> Forecasting Earnings</a:t>
            </a:r>
          </a:p>
          <a:p>
            <a:pPr marL="539750" indent="-539750">
              <a:buNone/>
            </a:pPr>
            <a:r>
              <a:rPr lang="en-US" altLang="en-US" sz="2400" b="1" dirty="0">
                <a:solidFill>
                  <a:srgbClr val="007FA3"/>
                </a:solidFill>
              </a:rPr>
              <a:t>2.</a:t>
            </a:r>
            <a:r>
              <a:rPr lang="en-US" altLang="en-US" sz="2400" dirty="0">
                <a:solidFill>
                  <a:schemeClr val="tx1"/>
                </a:solidFill>
              </a:rPr>
              <a:t> Determining Free Cash Flow and </a:t>
            </a:r>
            <a:r>
              <a:rPr lang="en-US" altLang="en-US" sz="2400" spc="-300" dirty="0">
                <a:solidFill>
                  <a:schemeClr val="tx1"/>
                </a:solidFill>
              </a:rPr>
              <a:t>N P </a:t>
            </a:r>
            <a:r>
              <a:rPr lang="en-US" altLang="en-US" sz="2400" dirty="0">
                <a:solidFill>
                  <a:schemeClr val="tx1"/>
                </a:solidFill>
              </a:rPr>
              <a:t>V </a:t>
            </a:r>
          </a:p>
          <a:p>
            <a:pPr marL="539750" indent="-539750">
              <a:buNone/>
            </a:pPr>
            <a:r>
              <a:rPr lang="en-US" altLang="en-US" sz="2400" b="1" dirty="0">
                <a:solidFill>
                  <a:srgbClr val="007FA3"/>
                </a:solidFill>
              </a:rPr>
              <a:t>3.</a:t>
            </a:r>
            <a:r>
              <a:rPr lang="en-US" altLang="en-US" sz="2400" dirty="0">
                <a:solidFill>
                  <a:schemeClr val="tx1"/>
                </a:solidFill>
              </a:rPr>
              <a:t> Choosing Among Alternatives</a:t>
            </a:r>
          </a:p>
          <a:p>
            <a:pPr marL="539750" indent="-539750">
              <a:buNone/>
            </a:pPr>
            <a:r>
              <a:rPr lang="en-US" altLang="en-US" sz="2400" b="1" dirty="0">
                <a:solidFill>
                  <a:srgbClr val="007FA3"/>
                </a:solidFill>
              </a:rPr>
              <a:t>4.</a:t>
            </a:r>
            <a:r>
              <a:rPr lang="en-US" altLang="en-US" sz="2400" dirty="0">
                <a:solidFill>
                  <a:schemeClr val="tx1"/>
                </a:solidFill>
              </a:rPr>
              <a:t> Further Adjustments to Free Cash Flow</a:t>
            </a:r>
          </a:p>
          <a:p>
            <a:pPr marL="539750" indent="-539750">
              <a:buNone/>
            </a:pPr>
            <a:r>
              <a:rPr lang="en-US" altLang="en-US" sz="2400" b="1" dirty="0">
                <a:solidFill>
                  <a:srgbClr val="007FA3"/>
                </a:solidFill>
              </a:rPr>
              <a:t>5.</a:t>
            </a:r>
            <a:r>
              <a:rPr lang="en-US" altLang="en-US" sz="2400" dirty="0">
                <a:solidFill>
                  <a:schemeClr val="tx1"/>
                </a:solidFill>
              </a:rPr>
              <a:t> Analyzing the Project</a:t>
            </a:r>
          </a:p>
          <a:p>
            <a:pPr marL="539750" indent="-539750">
              <a:buNone/>
            </a:pPr>
            <a:endParaRPr lang="en-US" altLang="en-US" sz="2400" dirty="0">
              <a:solidFill>
                <a:schemeClr val="tx1"/>
              </a:solidFill>
            </a:endParaRPr>
          </a:p>
          <a:p>
            <a:pPr marL="539750" indent="-539750">
              <a:buNone/>
            </a:pPr>
            <a:r>
              <a:rPr lang="en-US" altLang="en-US" sz="2400" b="1" dirty="0">
                <a:solidFill>
                  <a:schemeClr val="tx1"/>
                </a:solidFill>
              </a:rPr>
              <a:t>Prerequisites</a:t>
            </a:r>
            <a:r>
              <a:rPr lang="en-US" altLang="en-US" sz="2400" dirty="0">
                <a:solidFill>
                  <a:schemeClr val="tx1"/>
                </a:solidFill>
              </a:rPr>
              <a:t> : 	- Financial Mathematics</a:t>
            </a:r>
          </a:p>
          <a:p>
            <a:pPr marL="539750" indent="-539750">
              <a:buNone/>
            </a:pPr>
            <a:r>
              <a:rPr lang="en-US" altLang="en-US" sz="2400" dirty="0">
                <a:solidFill>
                  <a:schemeClr val="tx1"/>
                </a:solidFill>
              </a:rPr>
              <a:t>				- Company Statements Knowledge</a:t>
            </a:r>
          </a:p>
          <a:p>
            <a:pPr marL="539750" indent="-539750">
              <a:buNone/>
            </a:pPr>
            <a:r>
              <a:rPr lang="en-US" altLang="en-US" sz="2400" dirty="0">
                <a:solidFill>
                  <a:schemeClr val="tx1"/>
                </a:solidFill>
              </a:rPr>
              <a:t>				- M1 Corporate Finance course</a:t>
            </a:r>
          </a:p>
          <a:p>
            <a:pPr marL="539750" indent="-539750">
              <a:buNone/>
            </a:pPr>
            <a:endParaRPr lang="en-US" altLang="en-US" sz="2400" dirty="0">
              <a:solidFill>
                <a:schemeClr val="tx1"/>
              </a:solidFill>
            </a:endParaRPr>
          </a:p>
        </p:txBody>
      </p:sp>
    </p:spTree>
    <p:extLst>
      <p:ext uri="{BB962C8B-B14F-4D97-AF65-F5344CB8AC3E}">
        <p14:creationId xmlns:p14="http://schemas.microsoft.com/office/powerpoint/2010/main" val="24118831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7974"/>
            <a:ext cx="8266346" cy="590349"/>
          </a:xfrm>
        </p:spPr>
        <p:txBody>
          <a:bodyPr/>
          <a:lstStyle/>
          <a:p>
            <a:r>
              <a:rPr lang="en-US" dirty="0"/>
              <a:t>Learning Objectives </a:t>
            </a:r>
            <a:r>
              <a:rPr lang="en-US" sz="2800" dirty="0"/>
              <a:t>(1 of 2)</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1408251"/>
            <a:ext cx="8266346" cy="2406231"/>
          </a:xfrm>
        </p:spPr>
        <p:txBody>
          <a:bodyPr wrap="square" lIns="0" tIns="18000" rIns="0" bIns="18000" anchor="ctr">
            <a:spAutoFit/>
          </a:bodyPr>
          <a:lstStyle/>
          <a:p>
            <a:pPr marL="342900" indent="-342900">
              <a:spcBef>
                <a:spcPts val="600"/>
              </a:spcBef>
            </a:pPr>
            <a:r>
              <a:rPr lang="en-US" altLang="en-US" sz="2400" dirty="0">
                <a:solidFill>
                  <a:schemeClr val="tx1"/>
                </a:solidFill>
              </a:rPr>
              <a:t>Given a set of facts, identify relevant cash flows for a capital budgeting problem.</a:t>
            </a:r>
          </a:p>
          <a:p>
            <a:pPr marL="342900" indent="-342900">
              <a:spcBef>
                <a:spcPts val="600"/>
              </a:spcBef>
            </a:pPr>
            <a:r>
              <a:rPr lang="en-US" altLang="en-US" sz="2400" dirty="0">
                <a:solidFill>
                  <a:schemeClr val="tx1"/>
                </a:solidFill>
              </a:rPr>
              <a:t>Explain why opportunity costs must be included in cash flows, while sunk costs and interest expense must not.</a:t>
            </a:r>
          </a:p>
          <a:p>
            <a:pPr marL="342900" indent="-342900">
              <a:spcBef>
                <a:spcPts val="600"/>
              </a:spcBef>
            </a:pPr>
            <a:r>
              <a:rPr lang="en-US" altLang="en-US" sz="2400" dirty="0">
                <a:solidFill>
                  <a:schemeClr val="tx1"/>
                </a:solidFill>
              </a:rPr>
              <a:t>Calculate taxes that must be paid, including tax loss carryforwards and carrybacks.</a:t>
            </a:r>
          </a:p>
        </p:txBody>
      </p:sp>
    </p:spTree>
    <p:extLst>
      <p:ext uri="{BB962C8B-B14F-4D97-AF65-F5344CB8AC3E}">
        <p14:creationId xmlns:p14="http://schemas.microsoft.com/office/powerpoint/2010/main" val="11403054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7974"/>
            <a:ext cx="8266346" cy="590349"/>
          </a:xfrm>
        </p:spPr>
        <p:txBody>
          <a:bodyPr/>
          <a:lstStyle/>
          <a:p>
            <a:r>
              <a:rPr lang="en-US" dirty="0"/>
              <a:t>Learning Objectives </a:t>
            </a:r>
            <a:r>
              <a:rPr lang="en-US" sz="2800" dirty="0"/>
              <a:t>(2 of 2)</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1230649"/>
            <a:ext cx="8266346" cy="2852507"/>
          </a:xfrm>
        </p:spPr>
        <p:txBody>
          <a:bodyPr wrap="square" lIns="0" tIns="18000" rIns="0" bIns="18000" anchor="ctr">
            <a:spAutoFit/>
          </a:bodyPr>
          <a:lstStyle/>
          <a:p>
            <a:pPr marL="342900" indent="-342900">
              <a:spcBef>
                <a:spcPts val="600"/>
              </a:spcBef>
            </a:pPr>
            <a:r>
              <a:rPr lang="en-US" altLang="en-US" sz="2400" dirty="0">
                <a:solidFill>
                  <a:schemeClr val="tx1"/>
                </a:solidFill>
              </a:rPr>
              <a:t>Calculate free cash flows for a given project.</a:t>
            </a:r>
          </a:p>
          <a:p>
            <a:pPr marL="342900" indent="-342900">
              <a:spcBef>
                <a:spcPts val="600"/>
              </a:spcBef>
            </a:pPr>
            <a:r>
              <a:rPr lang="en-US" altLang="en-US" sz="2400" dirty="0">
                <a:solidFill>
                  <a:schemeClr val="tx1"/>
                </a:solidFill>
              </a:rPr>
              <a:t>Illustrate the impact of depreciation expense on cash flows.</a:t>
            </a:r>
          </a:p>
          <a:p>
            <a:pPr marL="342900" indent="-342900">
              <a:spcBef>
                <a:spcPts val="600"/>
              </a:spcBef>
            </a:pPr>
            <a:r>
              <a:rPr lang="en-US" altLang="en-US" sz="2400" dirty="0">
                <a:solidFill>
                  <a:schemeClr val="tx1"/>
                </a:solidFill>
              </a:rPr>
              <a:t>Describe the appropriate selection of discount rate for a particular set of circumstances. </a:t>
            </a:r>
          </a:p>
          <a:p>
            <a:pPr marL="342900" indent="-342900">
              <a:spcBef>
                <a:spcPts val="600"/>
              </a:spcBef>
            </a:pPr>
            <a:r>
              <a:rPr lang="en-US" altLang="en-US" sz="2400" dirty="0">
                <a:solidFill>
                  <a:schemeClr val="tx1"/>
                </a:solidFill>
              </a:rPr>
              <a:t>Use breakeven analysis, sensitivity analysis, or scenario analysis to evaluate project risk.</a:t>
            </a:r>
          </a:p>
        </p:txBody>
      </p:sp>
    </p:spTree>
    <p:extLst>
      <p:ext uri="{BB962C8B-B14F-4D97-AF65-F5344CB8AC3E}">
        <p14:creationId xmlns:p14="http://schemas.microsoft.com/office/powerpoint/2010/main" val="42423852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7974"/>
            <a:ext cx="8266346" cy="590349"/>
          </a:xfrm>
        </p:spPr>
        <p:txBody>
          <a:bodyPr/>
          <a:lstStyle/>
          <a:p>
            <a:r>
              <a:rPr lang="en-US" dirty="0"/>
              <a:t>1. Forecasting Earnings</a:t>
            </a:r>
            <a:endParaRPr lang="en-US" sz="2800" dirty="0"/>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1307370"/>
            <a:ext cx="8266346" cy="3745059"/>
          </a:xfrm>
        </p:spPr>
        <p:txBody>
          <a:bodyPr wrap="square" lIns="0" tIns="18000" rIns="0" bIns="18000" anchor="ctr">
            <a:spAutoFit/>
          </a:bodyPr>
          <a:lstStyle/>
          <a:p>
            <a:pPr marL="342900" indent="-342900">
              <a:spcBef>
                <a:spcPts val="600"/>
              </a:spcBef>
            </a:pPr>
            <a:r>
              <a:rPr lang="en-US" altLang="en-US" sz="2400" dirty="0">
                <a:solidFill>
                  <a:schemeClr val="tx1"/>
                </a:solidFill>
              </a:rPr>
              <a:t>Capital Budget</a:t>
            </a:r>
          </a:p>
          <a:p>
            <a:pPr marL="829818" lvl="1" indent="-342900"/>
            <a:r>
              <a:rPr lang="en-US" altLang="en-US" sz="2400" dirty="0">
                <a:solidFill>
                  <a:schemeClr val="tx1"/>
                </a:solidFill>
              </a:rPr>
              <a:t>Lists the investments that a company plans to undertake</a:t>
            </a:r>
          </a:p>
          <a:p>
            <a:pPr marL="342900" indent="-342900">
              <a:spcBef>
                <a:spcPts val="600"/>
              </a:spcBef>
            </a:pPr>
            <a:r>
              <a:rPr lang="en-US" altLang="en-US" sz="2400" dirty="0">
                <a:solidFill>
                  <a:schemeClr val="tx1"/>
                </a:solidFill>
              </a:rPr>
              <a:t>Capital Budgeting</a:t>
            </a:r>
          </a:p>
          <a:p>
            <a:pPr marL="829818" lvl="1" indent="-342900"/>
            <a:r>
              <a:rPr lang="en-US" altLang="en-US" sz="2400" dirty="0">
                <a:solidFill>
                  <a:schemeClr val="tx1"/>
                </a:solidFill>
              </a:rPr>
              <a:t>Process used to analyze alternate investments and decide which ones to accept</a:t>
            </a:r>
          </a:p>
          <a:p>
            <a:pPr marL="342900" indent="-342900">
              <a:spcBef>
                <a:spcPts val="600"/>
              </a:spcBef>
            </a:pPr>
            <a:r>
              <a:rPr lang="en-US" altLang="en-US" sz="2400" dirty="0">
                <a:solidFill>
                  <a:schemeClr val="tx1"/>
                </a:solidFill>
              </a:rPr>
              <a:t>Incremental Earnings</a:t>
            </a:r>
          </a:p>
          <a:p>
            <a:pPr marL="829818" lvl="1" indent="-342900"/>
            <a:r>
              <a:rPr lang="en-US" altLang="en-US" sz="2400" dirty="0">
                <a:solidFill>
                  <a:schemeClr val="tx1"/>
                </a:solidFill>
              </a:rPr>
              <a:t>The amount by which the firm’s earnings are expected to change as a result of the investment decision</a:t>
            </a:r>
          </a:p>
        </p:txBody>
      </p:sp>
    </p:spTree>
    <p:extLst>
      <p:ext uri="{BB962C8B-B14F-4D97-AF65-F5344CB8AC3E}">
        <p14:creationId xmlns:p14="http://schemas.microsoft.com/office/powerpoint/2010/main" val="11826157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39948" y="271282"/>
            <a:ext cx="8272252" cy="1144347"/>
          </a:xfrm>
        </p:spPr>
        <p:txBody>
          <a:bodyPr wrap="square" lIns="0" tIns="18000" rIns="0" bIns="18000" anchor="ctr" anchorCtr="0">
            <a:spAutoFit/>
          </a:bodyPr>
          <a:lstStyle/>
          <a:p>
            <a:r>
              <a:rPr lang="en-US" dirty="0"/>
              <a:t>Revenue and Cost Estimates</a:t>
            </a:r>
            <a:br>
              <a:rPr lang="en-US" dirty="0"/>
            </a:br>
            <a:r>
              <a:rPr lang="en-US" dirty="0" err="1"/>
              <a:t>Homenet</a:t>
            </a:r>
            <a:r>
              <a:rPr lang="en-US" dirty="0"/>
              <a:t> Example 1 </a:t>
            </a:r>
            <a:r>
              <a:rPr lang="en-US" sz="2800" dirty="0"/>
              <a:t>(1 of 2)</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3"/>
          </p:nvPr>
        </p:nvSpPr>
        <p:spPr>
          <a:xfrm>
            <a:off x="440426" y="1974464"/>
            <a:ext cx="8280400" cy="2036899"/>
          </a:xfrm>
        </p:spPr>
        <p:txBody>
          <a:bodyPr wrap="square" lIns="0" tIns="18000" rIns="0" bIns="18000" anchor="ctr" anchorCtr="0">
            <a:spAutoFit/>
          </a:bodyPr>
          <a:lstStyle/>
          <a:p>
            <a:pPr marL="342900" indent="-342900">
              <a:spcBef>
                <a:spcPts val="600"/>
              </a:spcBef>
            </a:pPr>
            <a:r>
              <a:rPr lang="en-US" altLang="en-US" sz="2400" dirty="0">
                <a:solidFill>
                  <a:schemeClr val="tx1"/>
                </a:solidFill>
              </a:rPr>
              <a:t>Example</a:t>
            </a:r>
          </a:p>
          <a:p>
            <a:pPr marL="829818" lvl="1" indent="-342900"/>
            <a:r>
              <a:rPr lang="en-US" altLang="en-US" sz="2400" dirty="0">
                <a:solidFill>
                  <a:schemeClr val="tx1"/>
                </a:solidFill>
              </a:rPr>
              <a:t>Linksys has completed a $300,000 feasibility study to assess the attractiveness of a new product, HomeNet. The project has an estimated life of four years</a:t>
            </a:r>
          </a:p>
          <a:p>
            <a:pPr marL="829818" lvl="1" indent="-342900"/>
            <a:r>
              <a:rPr lang="en-US" altLang="en-US" sz="2400" dirty="0">
                <a:solidFill>
                  <a:schemeClr val="tx1"/>
                </a:solidFill>
              </a:rPr>
              <a:t>Revenue Estimates</a:t>
            </a:r>
          </a:p>
        </p:txBody>
      </p:sp>
      <p:sp>
        <p:nvSpPr>
          <p:cNvPr id="4" name="Content Placeholder 3">
            <a:extLst>
              <a:ext uri="{FF2B5EF4-FFF2-40B4-BE49-F238E27FC236}">
                <a16:creationId xmlns:a16="http://schemas.microsoft.com/office/drawing/2014/main" id="{5392CF35-7B79-0A7B-89A2-8DF10B985AA1}"/>
              </a:ext>
            </a:extLst>
          </p:cNvPr>
          <p:cNvSpPr>
            <a:spLocks noGrp="1"/>
          </p:cNvSpPr>
          <p:nvPr>
            <p:ph sz="quarter" idx="14"/>
          </p:nvPr>
        </p:nvSpPr>
        <p:spPr>
          <a:xfrm>
            <a:off x="441704" y="4137951"/>
            <a:ext cx="1119678" cy="405683"/>
          </a:xfrm>
        </p:spPr>
        <p:txBody>
          <a:bodyPr wrap="square" lIns="0" tIns="18000" rIns="0" bIns="18000" anchor="ctr" anchorCtr="0">
            <a:spAutoFit/>
          </a:bodyPr>
          <a:lstStyle/>
          <a:p>
            <a:pPr marL="886968" lvl="2" indent="0"/>
            <a:r>
              <a:rPr lang="en-US" sz="2400" dirty="0">
                <a:solidFill>
                  <a:schemeClr val="tx1"/>
                </a:solidFill>
              </a:rPr>
              <a:t> </a:t>
            </a:r>
            <a:r>
              <a:rPr lang="en-US" sz="100" dirty="0">
                <a:solidFill>
                  <a:schemeClr val="tx1"/>
                </a:solidFill>
              </a:rPr>
              <a:t> </a:t>
            </a:r>
          </a:p>
        </p:txBody>
      </p:sp>
      <p:graphicFrame>
        <p:nvGraphicFramePr>
          <p:cNvPr id="6" name="Object 5" descr="Sales equals 100,000 units per year.">
            <a:extLst>
              <a:ext uri="{FF2B5EF4-FFF2-40B4-BE49-F238E27FC236}">
                <a16:creationId xmlns:a16="http://schemas.microsoft.com/office/drawing/2014/main" id="{044038A4-0438-E476-9F33-1A649C82C80C}"/>
              </a:ext>
            </a:extLst>
          </p:cNvPr>
          <p:cNvGraphicFramePr>
            <a:graphicFrameLocks noChangeAspect="1"/>
          </p:cNvGraphicFramePr>
          <p:nvPr>
            <p:extLst>
              <p:ext uri="{D42A27DB-BD31-4B8C-83A1-F6EECF244321}">
                <p14:modId xmlns:p14="http://schemas.microsoft.com/office/powerpoint/2010/main" val="3387077088"/>
              </p:ext>
            </p:extLst>
          </p:nvPr>
        </p:nvGraphicFramePr>
        <p:xfrm>
          <a:off x="1664285" y="4181306"/>
          <a:ext cx="3524724" cy="353290"/>
        </p:xfrm>
        <a:graphic>
          <a:graphicData uri="http://schemas.openxmlformats.org/presentationml/2006/ole">
            <mc:AlternateContent xmlns:mc="http://schemas.openxmlformats.org/markup-compatibility/2006">
              <mc:Choice xmlns:v="urn:schemas-microsoft-com:vml" Requires="v">
                <p:oleObj name="Equation" r:id="rId2" imgW="3035160" imgH="304560" progId="Equation.DSMT4">
                  <p:embed/>
                </p:oleObj>
              </mc:Choice>
              <mc:Fallback>
                <p:oleObj name="Equation" r:id="rId2" imgW="3035160" imgH="304560" progId="Equation.DSMT4">
                  <p:embed/>
                  <p:pic>
                    <p:nvPicPr>
                      <p:cNvPr id="5" name="Object 4" descr="Sales = 100,000 units per year.">
                        <a:extLst>
                          <a:ext uri="{FF2B5EF4-FFF2-40B4-BE49-F238E27FC236}">
                            <a16:creationId xmlns:a16="http://schemas.microsoft.com/office/drawing/2014/main" id="{6AC4A04E-61BB-443D-817C-8B842023152C}"/>
                          </a:ext>
                        </a:extLst>
                      </p:cNvPr>
                      <p:cNvPicPr/>
                      <p:nvPr/>
                    </p:nvPicPr>
                    <p:blipFill>
                      <a:blip r:embed="rId3"/>
                      <a:stretch>
                        <a:fillRect/>
                      </a:stretch>
                    </p:blipFill>
                    <p:spPr>
                      <a:xfrm>
                        <a:off x="1664285" y="4181306"/>
                        <a:ext cx="3524724" cy="353290"/>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7AF9072D-DAAE-A1CC-6844-7FA6516E56CA}"/>
              </a:ext>
            </a:extLst>
          </p:cNvPr>
          <p:cNvSpPr>
            <a:spLocks noGrp="1"/>
          </p:cNvSpPr>
          <p:nvPr>
            <p:ph sz="quarter" idx="15"/>
          </p:nvPr>
        </p:nvSpPr>
        <p:spPr>
          <a:xfrm>
            <a:off x="441704" y="4652970"/>
            <a:ext cx="4190681" cy="405683"/>
          </a:xfrm>
        </p:spPr>
        <p:txBody>
          <a:bodyPr wrap="square" lIns="0" tIns="18000" rIns="0" bIns="18000" anchor="ctr" anchorCtr="0">
            <a:spAutoFit/>
          </a:bodyPr>
          <a:lstStyle/>
          <a:p>
            <a:pPr marL="1229868" lvl="2" indent="-342900"/>
            <a:r>
              <a:rPr lang="en-US" sz="2400" dirty="0">
                <a:solidFill>
                  <a:schemeClr val="tx1"/>
                </a:solidFill>
              </a:rPr>
              <a:t>Per Unit Price = $260</a:t>
            </a:r>
          </a:p>
        </p:txBody>
      </p:sp>
    </p:spTree>
    <p:extLst>
      <p:ext uri="{BB962C8B-B14F-4D97-AF65-F5344CB8AC3E}">
        <p14:creationId xmlns:p14="http://schemas.microsoft.com/office/powerpoint/2010/main" val="40655340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39948" y="218670"/>
            <a:ext cx="8272252" cy="590349"/>
          </a:xfrm>
        </p:spPr>
        <p:txBody>
          <a:bodyPr wrap="square" lIns="0" tIns="18000" rIns="0" bIns="18000" anchor="ctr" anchorCtr="0">
            <a:spAutoFit/>
          </a:bodyPr>
          <a:lstStyle/>
          <a:p>
            <a:r>
              <a:rPr lang="en-US" dirty="0"/>
              <a:t>Revenue and Cost Estimates </a:t>
            </a:r>
            <a:r>
              <a:rPr lang="en-US" sz="2800" dirty="0"/>
              <a:t>(2 of 2)</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3"/>
          </p:nvPr>
        </p:nvSpPr>
        <p:spPr>
          <a:xfrm>
            <a:off x="440426" y="1291505"/>
            <a:ext cx="8280400" cy="3529616"/>
          </a:xfrm>
        </p:spPr>
        <p:txBody>
          <a:bodyPr wrap="square" lIns="0" tIns="18000" rIns="0" bIns="18000" anchor="ctr" anchorCtr="0">
            <a:spAutoFit/>
          </a:bodyPr>
          <a:lstStyle/>
          <a:p>
            <a:pPr marL="342900" indent="-342900">
              <a:spcBef>
                <a:spcPts val="600"/>
              </a:spcBef>
            </a:pPr>
            <a:r>
              <a:rPr lang="en-US" altLang="en-US" sz="2400" dirty="0">
                <a:solidFill>
                  <a:schemeClr val="tx1"/>
                </a:solidFill>
              </a:rPr>
              <a:t>Example</a:t>
            </a:r>
          </a:p>
          <a:p>
            <a:pPr marL="829818" lvl="1" indent="-342900"/>
            <a:r>
              <a:rPr lang="en-US" altLang="en-US" sz="2400" dirty="0">
                <a:solidFill>
                  <a:schemeClr val="tx1"/>
                </a:solidFill>
              </a:rPr>
              <a:t>Cost Estimates</a:t>
            </a:r>
          </a:p>
          <a:p>
            <a:pPr marL="1229868" lvl="2" indent="-342900"/>
            <a:r>
              <a:rPr lang="en-US" altLang="en-US" sz="2400" dirty="0">
                <a:solidFill>
                  <a:schemeClr val="tx1"/>
                </a:solidFill>
              </a:rPr>
              <a:t>Up-Front R &amp; D = $15,000,000</a:t>
            </a:r>
          </a:p>
          <a:p>
            <a:pPr marL="1229868" lvl="2" indent="-342900"/>
            <a:r>
              <a:rPr lang="en-US" altLang="en-US" sz="2400" dirty="0">
                <a:solidFill>
                  <a:schemeClr val="tx1"/>
                </a:solidFill>
              </a:rPr>
              <a:t>Up-Front New Equipment = $7,500,000</a:t>
            </a:r>
          </a:p>
          <a:p>
            <a:pPr marL="1687068" lvl="3" indent="-342900"/>
            <a:r>
              <a:rPr lang="en-US" altLang="en-US" sz="2400" dirty="0">
                <a:solidFill>
                  <a:schemeClr val="tx1"/>
                </a:solidFill>
              </a:rPr>
              <a:t>Expected life of the new equipment is five years</a:t>
            </a:r>
          </a:p>
          <a:p>
            <a:pPr marL="1687068" lvl="3" indent="-342900"/>
            <a:r>
              <a:rPr lang="en-US" altLang="en-US" sz="2400" dirty="0">
                <a:solidFill>
                  <a:schemeClr val="tx1"/>
                </a:solidFill>
              </a:rPr>
              <a:t>Housed in existing lab</a:t>
            </a:r>
          </a:p>
          <a:p>
            <a:pPr marL="1229868" lvl="2" indent="-342900"/>
            <a:r>
              <a:rPr lang="en-US" altLang="en-US" sz="2400" dirty="0">
                <a:solidFill>
                  <a:schemeClr val="tx1"/>
                </a:solidFill>
              </a:rPr>
              <a:t>Annual Overhead = $2,800,000</a:t>
            </a:r>
          </a:p>
          <a:p>
            <a:pPr marL="1229868" lvl="2" indent="-342900"/>
            <a:r>
              <a:rPr lang="en-US" altLang="en-US" sz="2400" dirty="0">
                <a:solidFill>
                  <a:schemeClr val="tx1"/>
                </a:solidFill>
              </a:rPr>
              <a:t>Per Unit Cost = $110</a:t>
            </a:r>
          </a:p>
        </p:txBody>
      </p:sp>
    </p:spTree>
    <p:extLst>
      <p:ext uri="{BB962C8B-B14F-4D97-AF65-F5344CB8AC3E}">
        <p14:creationId xmlns:p14="http://schemas.microsoft.com/office/powerpoint/2010/main" val="27992998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39948" y="218670"/>
            <a:ext cx="8272252" cy="590349"/>
          </a:xfrm>
        </p:spPr>
        <p:txBody>
          <a:bodyPr wrap="square" lIns="0" tIns="18000" rIns="0" bIns="18000" anchor="ctr" anchorCtr="0">
            <a:spAutoFit/>
          </a:bodyPr>
          <a:lstStyle/>
          <a:p>
            <a:r>
              <a:rPr lang="en-US"/>
              <a:t>Incremental Earnings Forecast</a:t>
            </a:r>
            <a:endParaRPr lang="en-US" sz="2800"/>
          </a:p>
        </p:txBody>
      </p:sp>
      <p:graphicFrame>
        <p:nvGraphicFramePr>
          <p:cNvPr id="3" name="Table 8">
            <a:extLst>
              <a:ext uri="{FF2B5EF4-FFF2-40B4-BE49-F238E27FC236}">
                <a16:creationId xmlns:a16="http://schemas.microsoft.com/office/drawing/2014/main" id="{7099CF35-C68A-B515-41FA-C08EB19F4AE8}"/>
              </a:ext>
            </a:extLst>
          </p:cNvPr>
          <p:cNvGraphicFramePr>
            <a:graphicFrameLocks/>
          </p:cNvGraphicFramePr>
          <p:nvPr>
            <p:custDataLst>
              <p:tags r:id="rId1"/>
            </p:custDataLst>
            <p:extLst>
              <p:ext uri="{D42A27DB-BD31-4B8C-83A1-F6EECF244321}">
                <p14:modId xmlns:p14="http://schemas.microsoft.com/office/powerpoint/2010/main" val="1066465713"/>
              </p:ext>
            </p:extLst>
          </p:nvPr>
        </p:nvGraphicFramePr>
        <p:xfrm>
          <a:off x="560719" y="1657356"/>
          <a:ext cx="8031192" cy="4642690"/>
        </p:xfrm>
        <a:graphic>
          <a:graphicData uri="http://schemas.openxmlformats.org/drawingml/2006/table">
            <a:tbl>
              <a:tblPr firstRow="1" bandRow="1">
                <a:tableStyleId>{2D5ABB26-0587-4C30-8999-92F81FD0307C}</a:tableStyleId>
              </a:tblPr>
              <a:tblGrid>
                <a:gridCol w="2110508">
                  <a:extLst>
                    <a:ext uri="{9D8B030D-6E8A-4147-A177-3AD203B41FA5}">
                      <a16:colId xmlns:a16="http://schemas.microsoft.com/office/drawing/2014/main" val="1072788600"/>
                    </a:ext>
                  </a:extLst>
                </a:gridCol>
                <a:gridCol w="619752">
                  <a:extLst>
                    <a:ext uri="{9D8B030D-6E8A-4147-A177-3AD203B41FA5}">
                      <a16:colId xmlns:a16="http://schemas.microsoft.com/office/drawing/2014/main" val="206673024"/>
                    </a:ext>
                  </a:extLst>
                </a:gridCol>
                <a:gridCol w="849700">
                  <a:extLst>
                    <a:ext uri="{9D8B030D-6E8A-4147-A177-3AD203B41FA5}">
                      <a16:colId xmlns:a16="http://schemas.microsoft.com/office/drawing/2014/main" val="3472170879"/>
                    </a:ext>
                  </a:extLst>
                </a:gridCol>
                <a:gridCol w="888521">
                  <a:extLst>
                    <a:ext uri="{9D8B030D-6E8A-4147-A177-3AD203B41FA5}">
                      <a16:colId xmlns:a16="http://schemas.microsoft.com/office/drawing/2014/main" val="3138202961"/>
                    </a:ext>
                  </a:extLst>
                </a:gridCol>
                <a:gridCol w="845389">
                  <a:extLst>
                    <a:ext uri="{9D8B030D-6E8A-4147-A177-3AD203B41FA5}">
                      <a16:colId xmlns:a16="http://schemas.microsoft.com/office/drawing/2014/main" val="2803300867"/>
                    </a:ext>
                  </a:extLst>
                </a:gridCol>
                <a:gridCol w="862641">
                  <a:extLst>
                    <a:ext uri="{9D8B030D-6E8A-4147-A177-3AD203B41FA5}">
                      <a16:colId xmlns:a16="http://schemas.microsoft.com/office/drawing/2014/main" val="4017893901"/>
                    </a:ext>
                  </a:extLst>
                </a:gridCol>
                <a:gridCol w="983412">
                  <a:extLst>
                    <a:ext uri="{9D8B030D-6E8A-4147-A177-3AD203B41FA5}">
                      <a16:colId xmlns:a16="http://schemas.microsoft.com/office/drawing/2014/main" val="1149501218"/>
                    </a:ext>
                  </a:extLst>
                </a:gridCol>
                <a:gridCol w="871269">
                  <a:extLst>
                    <a:ext uri="{9D8B030D-6E8A-4147-A177-3AD203B41FA5}">
                      <a16:colId xmlns:a16="http://schemas.microsoft.com/office/drawing/2014/main" val="1655472148"/>
                    </a:ext>
                  </a:extLst>
                </a:gridCol>
              </a:tblGrid>
              <a:tr h="367150">
                <a:tc>
                  <a:txBody>
                    <a:bodyPr/>
                    <a:lstStyle/>
                    <a:p>
                      <a:pPr algn="ctr"/>
                      <a:r>
                        <a:rPr lang="en-US" sz="100" b="1" noProof="0">
                          <a:solidFill>
                            <a:schemeClr val="bg1"/>
                          </a:solidFill>
                          <a:latin typeface="Arial" panose="020B0604020202020204" pitchFamily="34" charset="0"/>
                          <a:cs typeface="Arial" panose="020B0604020202020204" pitchFamily="34" charset="0"/>
                        </a:rPr>
                        <a:t>Blank</a:t>
                      </a:r>
                    </a:p>
                  </a:txBody>
                  <a:tcP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1" noProof="0" dirty="0">
                          <a:solidFill>
                            <a:schemeClr val="bg1"/>
                          </a:solidFill>
                          <a:latin typeface="Arial" panose="020B0604020202020204" pitchFamily="34" charset="0"/>
                          <a:cs typeface="Arial" panose="020B0604020202020204" pitchFamily="34" charset="0"/>
                        </a:rPr>
                        <a:t>Year</a:t>
                      </a:r>
                    </a:p>
                  </a:txBody>
                  <a:tcP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400" b="1" noProof="0" dirty="0">
                          <a:solidFill>
                            <a:schemeClr val="bg1"/>
                          </a:solidFill>
                          <a:latin typeface="Arial" panose="020B0604020202020204" pitchFamily="34" charset="0"/>
                          <a:cs typeface="Arial" panose="020B0604020202020204" pitchFamily="34" charset="0"/>
                        </a:rPr>
                        <a:t>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400" b="1" noProof="0">
                          <a:solidFill>
                            <a:schemeClr val="bg1"/>
                          </a:solidFill>
                          <a:latin typeface="Arial" panose="020B0604020202020204" pitchFamily="34" charset="0"/>
                          <a:cs typeface="Arial" panose="020B0604020202020204" pitchFamily="34" charset="0"/>
                        </a:rPr>
                        <a:t>1</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400" b="1" noProof="0" dirty="0">
                          <a:solidFill>
                            <a:schemeClr val="bg1"/>
                          </a:solidFill>
                          <a:latin typeface="Arial" panose="020B0604020202020204" pitchFamily="34" charset="0"/>
                          <a:cs typeface="Arial" panose="020B0604020202020204" pitchFamily="34" charset="0"/>
                        </a:rPr>
                        <a:t>2</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400" b="1" noProof="0">
                          <a:solidFill>
                            <a:schemeClr val="bg1"/>
                          </a:solidFill>
                          <a:latin typeface="Arial" panose="020B0604020202020204" pitchFamily="34" charset="0"/>
                          <a:cs typeface="Arial" panose="020B0604020202020204" pitchFamily="34" charset="0"/>
                        </a:rPr>
                        <a:t>3</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400" b="1" noProof="0">
                          <a:solidFill>
                            <a:schemeClr val="bg1"/>
                          </a:solidFill>
                          <a:latin typeface="Arial" panose="020B0604020202020204" pitchFamily="34" charset="0"/>
                          <a:cs typeface="Arial" panose="020B0604020202020204" pitchFamily="34" charset="0"/>
                        </a:rPr>
                        <a:t>4</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400" b="1" noProof="0">
                          <a:solidFill>
                            <a:schemeClr val="bg1"/>
                          </a:solidFill>
                          <a:latin typeface="Arial" panose="020B0604020202020204" pitchFamily="34" charset="0"/>
                          <a:cs typeface="Arial" panose="020B0604020202020204" pitchFamily="34" charset="0"/>
                        </a:rPr>
                        <a:t>5</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490851856"/>
                  </a:ext>
                </a:extLst>
              </a:tr>
              <a:tr h="367150">
                <a:tc>
                  <a:txBody>
                    <a:bodyPr/>
                    <a:lstStyle/>
                    <a:p>
                      <a:r>
                        <a:rPr lang="en-US" sz="1400" b="1" noProof="0">
                          <a:latin typeface="Arial" panose="020B0604020202020204" pitchFamily="34" charset="0"/>
                          <a:cs typeface="Arial" panose="020B0604020202020204" pitchFamily="34" charset="0"/>
                        </a:rPr>
                        <a:t>Incremental Earnings Forecast ($000s)</a:t>
                      </a:r>
                    </a:p>
                  </a:txBody>
                  <a:tcP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tc>
                  <a:txBody>
                    <a:bodyPr/>
                    <a:lstStyle/>
                    <a:p>
                      <a:pPr algn="r"/>
                      <a:r>
                        <a:rPr lang="en-US" sz="100" noProof="0" dirty="0">
                          <a:latin typeface="Arial" panose="020B0604020202020204" pitchFamily="34" charset="0"/>
                          <a:cs typeface="Arial" panose="020B0604020202020204" pitchFamily="34" charset="0"/>
                        </a:rPr>
                        <a:t>Blank</a:t>
                      </a:r>
                    </a:p>
                  </a:txBody>
                  <a:tcP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tc>
                  <a:txBody>
                    <a:bodyPr/>
                    <a:lstStyle/>
                    <a:p>
                      <a:pPr algn="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321591484"/>
                  </a:ext>
                </a:extLst>
              </a:tr>
              <a:tr h="367150">
                <a:tc>
                  <a:txBody>
                    <a:bodyPr/>
                    <a:lstStyle/>
                    <a:p>
                      <a:r>
                        <a:rPr lang="en-US" sz="1400" noProof="0">
                          <a:latin typeface="Arial" panose="020B0604020202020204" pitchFamily="34" charset="0"/>
                          <a:cs typeface="Arial" panose="020B0604020202020204" pitchFamily="34" charset="0"/>
                        </a:rPr>
                        <a:t>1 Sales</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26,000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26,000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26,000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26,000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661540150"/>
                  </a:ext>
                </a:extLst>
              </a:tr>
              <a:tr h="367150">
                <a:tc>
                  <a:txBody>
                    <a:bodyPr/>
                    <a:lstStyle/>
                    <a:p>
                      <a:r>
                        <a:rPr lang="en-US" sz="1400" noProof="0">
                          <a:latin typeface="Arial" panose="020B0604020202020204" pitchFamily="34" charset="0"/>
                          <a:cs typeface="Arial" panose="020B0604020202020204" pitchFamily="34" charset="0"/>
                        </a:rPr>
                        <a:t>2 Cost of Goods Sold</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(11,000)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(11,000)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(11,000)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(11,000)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029354084"/>
                  </a:ext>
                </a:extLst>
              </a:tr>
              <a:tr h="367150">
                <a:tc>
                  <a:txBody>
                    <a:bodyPr/>
                    <a:lstStyle/>
                    <a:p>
                      <a:r>
                        <a:rPr lang="en-US" sz="1400" noProof="0" dirty="0">
                          <a:latin typeface="Arial" panose="020B0604020202020204" pitchFamily="34" charset="0"/>
                          <a:cs typeface="Arial" panose="020B0604020202020204" pitchFamily="34" charset="0"/>
                        </a:rPr>
                        <a:t>3 </a:t>
                      </a:r>
                      <a:r>
                        <a:rPr lang="en-US" sz="1400" b="1" noProof="0" dirty="0">
                          <a:latin typeface="Arial" panose="020B0604020202020204" pitchFamily="34" charset="0"/>
                          <a:cs typeface="Arial" panose="020B0604020202020204" pitchFamily="34" charset="0"/>
                        </a:rPr>
                        <a:t>Gross Profit</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dirty="0">
                          <a:latin typeface="Arial" panose="020B0604020202020204" pitchFamily="34" charset="0"/>
                          <a:cs typeface="Arial" panose="020B0604020202020204" pitchFamily="34" charset="0"/>
                        </a:rPr>
                        <a:t>Blank</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15,000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15,000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15,000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15,000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4085743459"/>
                  </a:ext>
                </a:extLst>
              </a:tr>
              <a:tr h="367150">
                <a:tc>
                  <a:txBody>
                    <a:bodyPr/>
                    <a:lstStyle/>
                    <a:p>
                      <a:r>
                        <a:rPr lang="en-US" sz="1400" noProof="0">
                          <a:latin typeface="Arial" panose="020B0604020202020204" pitchFamily="34" charset="0"/>
                          <a:cs typeface="Arial" panose="020B0604020202020204" pitchFamily="34" charset="0"/>
                        </a:rPr>
                        <a:t>4 Selling, General, and Administrative</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(2,800)</a:t>
                      </a:r>
                    </a:p>
                  </a:txBody>
                  <a:tcP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(2,800)</a:t>
                      </a:r>
                    </a:p>
                  </a:txBody>
                  <a:tcP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(2,800)</a:t>
                      </a:r>
                    </a:p>
                  </a:txBody>
                  <a:tcP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(2,800)</a:t>
                      </a:r>
                    </a:p>
                  </a:txBody>
                  <a:tcP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746575332"/>
                  </a:ext>
                </a:extLst>
              </a:tr>
              <a:tr h="367150">
                <a:tc>
                  <a:txBody>
                    <a:bodyPr/>
                    <a:lstStyle/>
                    <a:p>
                      <a:r>
                        <a:rPr lang="en-US" sz="1400" noProof="0">
                          <a:latin typeface="Arial" panose="020B0604020202020204" pitchFamily="34" charset="0"/>
                          <a:cs typeface="Arial" panose="020B0604020202020204" pitchFamily="34" charset="0"/>
                        </a:rPr>
                        <a:t>5 Research and Development</a:t>
                      </a:r>
                    </a:p>
                  </a:txBody>
                  <a:tcP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(15,000)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689869344"/>
                  </a:ext>
                </a:extLst>
              </a:tr>
              <a:tr h="367150">
                <a:tc>
                  <a:txBody>
                    <a:bodyPr/>
                    <a:lstStyle/>
                    <a:p>
                      <a:r>
                        <a:rPr lang="en-US" sz="1400" noProof="0">
                          <a:latin typeface="Arial" panose="020B0604020202020204" pitchFamily="34" charset="0"/>
                          <a:cs typeface="Arial" panose="020B0604020202020204" pitchFamily="34" charset="0"/>
                        </a:rPr>
                        <a:t>6 Depreciation</a:t>
                      </a:r>
                    </a:p>
                  </a:txBody>
                  <a:tcP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(1,500)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(1,500)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(1,500)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(1,500)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(1,500)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525459360"/>
                  </a:ext>
                </a:extLst>
              </a:tr>
              <a:tr h="367150">
                <a:tc>
                  <a:txBody>
                    <a:bodyPr/>
                    <a:lstStyle/>
                    <a:p>
                      <a:r>
                        <a:rPr lang="en-US" sz="1400" noProof="0" dirty="0">
                          <a:latin typeface="Arial" panose="020B0604020202020204" pitchFamily="34" charset="0"/>
                          <a:cs typeface="Arial" panose="020B0604020202020204" pitchFamily="34" charset="0"/>
                        </a:rPr>
                        <a:t>7 </a:t>
                      </a:r>
                      <a:r>
                        <a:rPr lang="en-US" sz="1400" b="1" spc="-200" baseline="0" noProof="0" dirty="0">
                          <a:latin typeface="Arial" panose="020B0604020202020204" pitchFamily="34" charset="0"/>
                          <a:cs typeface="Arial" panose="020B0604020202020204" pitchFamily="34" charset="0"/>
                        </a:rPr>
                        <a:t>E B I </a:t>
                      </a:r>
                      <a:r>
                        <a:rPr lang="en-US" sz="1400" b="1" noProof="0" dirty="0">
                          <a:latin typeface="Arial" panose="020B0604020202020204" pitchFamily="34" charset="0"/>
                          <a:cs typeface="Arial" panose="020B0604020202020204" pitchFamily="34" charset="0"/>
                        </a:rPr>
                        <a:t>T</a:t>
                      </a:r>
                    </a:p>
                  </a:txBody>
                  <a:tcP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(15,000)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10,700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10,700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10,700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10,700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(1,500)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437576983"/>
                  </a:ext>
                </a:extLst>
              </a:tr>
              <a:tr h="367150">
                <a:tc>
                  <a:txBody>
                    <a:bodyPr/>
                    <a:lstStyle/>
                    <a:p>
                      <a:r>
                        <a:rPr lang="en-US" sz="1400" noProof="0" dirty="0">
                          <a:latin typeface="Arial" panose="020B0604020202020204" pitchFamily="34" charset="0"/>
                          <a:cs typeface="Arial" panose="020B0604020202020204" pitchFamily="34" charset="0"/>
                        </a:rPr>
                        <a:t>8 Income Tax at 20%</a:t>
                      </a:r>
                    </a:p>
                  </a:txBody>
                  <a:tcP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3,000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(2,140)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(2,140)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(2,140)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(2,140)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300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445213511"/>
                  </a:ext>
                </a:extLst>
              </a:tr>
              <a:tr h="367150">
                <a:tc>
                  <a:txBody>
                    <a:bodyPr/>
                    <a:lstStyle/>
                    <a:p>
                      <a:r>
                        <a:rPr lang="en-US" sz="1400" noProof="0">
                          <a:latin typeface="Arial" panose="020B0604020202020204" pitchFamily="34" charset="0"/>
                          <a:cs typeface="Arial" panose="020B0604020202020204" pitchFamily="34" charset="0"/>
                        </a:rPr>
                        <a:t>9 </a:t>
                      </a:r>
                      <a:r>
                        <a:rPr lang="en-US" sz="1400" b="1" noProof="0">
                          <a:latin typeface="Arial" panose="020B0604020202020204" pitchFamily="34" charset="0"/>
                          <a:cs typeface="Arial" panose="020B0604020202020204" pitchFamily="34" charset="0"/>
                        </a:rPr>
                        <a:t>Unlevered Net Income</a:t>
                      </a:r>
                    </a:p>
                  </a:txBody>
                  <a:tcP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b="1" noProof="0">
                          <a:latin typeface="Arial" panose="020B0604020202020204" pitchFamily="34" charset="0"/>
                          <a:cs typeface="Arial" panose="020B0604020202020204" pitchFamily="34" charset="0"/>
                        </a:rPr>
                        <a:t>(12,000)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b="1" noProof="0">
                          <a:latin typeface="Arial" panose="020B0604020202020204" pitchFamily="34" charset="0"/>
                          <a:cs typeface="Arial" panose="020B0604020202020204" pitchFamily="34" charset="0"/>
                        </a:rPr>
                        <a:t>8,560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b="1" noProof="0">
                          <a:latin typeface="Arial" panose="020B0604020202020204" pitchFamily="34" charset="0"/>
                          <a:cs typeface="Arial" panose="020B0604020202020204" pitchFamily="34" charset="0"/>
                        </a:rPr>
                        <a:t>8,560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b="1" noProof="0">
                          <a:latin typeface="Arial" panose="020B0604020202020204" pitchFamily="34" charset="0"/>
                          <a:cs typeface="Arial" panose="020B0604020202020204" pitchFamily="34" charset="0"/>
                        </a:rPr>
                        <a:t>8,560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b="1" noProof="0">
                          <a:latin typeface="Arial" panose="020B0604020202020204" pitchFamily="34" charset="0"/>
                          <a:cs typeface="Arial" panose="020B0604020202020204" pitchFamily="34" charset="0"/>
                        </a:rPr>
                        <a:t>8,560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b="1" noProof="0" dirty="0">
                          <a:latin typeface="Arial" panose="020B0604020202020204" pitchFamily="34" charset="0"/>
                          <a:cs typeface="Arial" panose="020B0604020202020204" pitchFamily="34" charset="0"/>
                        </a:rPr>
                        <a:t>(1,200)</a:t>
                      </a:r>
                    </a:p>
                    <a:p>
                      <a:pPr algn="r"/>
                      <a:endParaRPr lang="en-US" sz="1400" noProof="0" dirty="0">
                        <a:latin typeface="Arial" panose="020B0604020202020204" pitchFamily="34" charset="0"/>
                        <a:cs typeface="Arial" panose="020B0604020202020204" pitchFamily="34" charset="0"/>
                      </a:endParaRP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719318823"/>
                  </a:ext>
                </a:extLst>
              </a:tr>
            </a:tbl>
          </a:graphicData>
        </a:graphic>
      </p:graphicFrame>
      <p:sp>
        <p:nvSpPr>
          <p:cNvPr id="4" name="ZoneTexte 3">
            <a:extLst>
              <a:ext uri="{FF2B5EF4-FFF2-40B4-BE49-F238E27FC236}">
                <a16:creationId xmlns:a16="http://schemas.microsoft.com/office/drawing/2014/main" id="{81E1B49E-B59C-BB7A-162E-F6E2AD253ADB}"/>
              </a:ext>
            </a:extLst>
          </p:cNvPr>
          <p:cNvSpPr txBox="1"/>
          <p:nvPr/>
        </p:nvSpPr>
        <p:spPr>
          <a:xfrm>
            <a:off x="560719" y="1127051"/>
            <a:ext cx="979755" cy="369332"/>
          </a:xfrm>
          <a:prstGeom prst="rect">
            <a:avLst/>
          </a:prstGeom>
          <a:noFill/>
        </p:spPr>
        <p:txBody>
          <a:bodyPr wrap="none" rtlCol="0">
            <a:spAutoFit/>
          </a:bodyPr>
          <a:lstStyle/>
          <a:p>
            <a:r>
              <a:rPr lang="fr-FR" sz="1800" b="1" dirty="0"/>
              <a:t>Table 1</a:t>
            </a:r>
          </a:p>
        </p:txBody>
      </p:sp>
    </p:spTree>
    <p:extLst>
      <p:ext uri="{BB962C8B-B14F-4D97-AF65-F5344CB8AC3E}">
        <p14:creationId xmlns:p14="http://schemas.microsoft.com/office/powerpoint/2010/main" val="2193559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39948" y="242684"/>
            <a:ext cx="8272252" cy="559572"/>
          </a:xfrm>
        </p:spPr>
        <p:txBody>
          <a:bodyPr wrap="square" lIns="0" tIns="18000" rIns="0" bIns="18000" anchor="ctr" anchorCtr="0">
            <a:spAutoFit/>
          </a:bodyPr>
          <a:lstStyle/>
          <a:p>
            <a:r>
              <a:rPr lang="en-US" sz="3400" dirty="0"/>
              <a:t>Capital Expenditures and Depreciation</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3"/>
          </p:nvPr>
        </p:nvSpPr>
        <p:spPr>
          <a:xfrm>
            <a:off x="440426" y="1022292"/>
            <a:ext cx="8280400" cy="3221839"/>
          </a:xfrm>
        </p:spPr>
        <p:txBody>
          <a:bodyPr wrap="square" lIns="0" tIns="18000" rIns="0" bIns="18000" anchor="ctr" anchorCtr="0">
            <a:spAutoFit/>
          </a:bodyPr>
          <a:lstStyle/>
          <a:p>
            <a:pPr marL="342900" indent="-342900">
              <a:spcBef>
                <a:spcPts val="600"/>
              </a:spcBef>
            </a:pPr>
            <a:r>
              <a:rPr lang="en-US" altLang="en-US" sz="2400" dirty="0">
                <a:solidFill>
                  <a:schemeClr val="tx1"/>
                </a:solidFill>
              </a:rPr>
              <a:t>The $7.5 million in new equipment is a cash expense, but it is not directly listed as an expense when calculating </a:t>
            </a:r>
            <a:r>
              <a:rPr lang="en-US" altLang="en-US" sz="2400" b="1" dirty="0">
                <a:solidFill>
                  <a:schemeClr val="tx1"/>
                </a:solidFill>
              </a:rPr>
              <a:t>earnings</a:t>
            </a:r>
          </a:p>
          <a:p>
            <a:pPr marL="829818" lvl="1" indent="-342900"/>
            <a:r>
              <a:rPr lang="en-US" altLang="en-US" sz="2400" dirty="0">
                <a:solidFill>
                  <a:schemeClr val="tx1"/>
                </a:solidFill>
              </a:rPr>
              <a:t>Instead, the firm deducts a fraction of the cost of these items each year as depreciation</a:t>
            </a:r>
          </a:p>
          <a:p>
            <a:pPr marL="342900" indent="-342900">
              <a:spcBef>
                <a:spcPts val="600"/>
              </a:spcBef>
            </a:pPr>
            <a:r>
              <a:rPr lang="en-US" altLang="en-US" sz="2400" dirty="0">
                <a:solidFill>
                  <a:schemeClr val="tx1"/>
                </a:solidFill>
              </a:rPr>
              <a:t>Straight Line Depreciation</a:t>
            </a:r>
          </a:p>
          <a:p>
            <a:pPr marL="829818" lvl="1" indent="-342900"/>
            <a:r>
              <a:rPr lang="en-US" altLang="en-US" sz="2400" dirty="0">
                <a:solidFill>
                  <a:schemeClr val="tx1"/>
                </a:solidFill>
              </a:rPr>
              <a:t>The asset’s cost is divided equally over its life. Annual Depreciation</a:t>
            </a:r>
          </a:p>
        </p:txBody>
      </p:sp>
      <p:graphicFrame>
        <p:nvGraphicFramePr>
          <p:cNvPr id="4" name="Object 3" descr="Equals 7.5 million dollars over 5 years equals 1.5 million dollars per year.">
            <a:extLst>
              <a:ext uri="{FF2B5EF4-FFF2-40B4-BE49-F238E27FC236}">
                <a16:creationId xmlns:a16="http://schemas.microsoft.com/office/drawing/2014/main" id="{4191B0F2-E32C-8FD8-1D9E-3F1D18926BB2}"/>
              </a:ext>
            </a:extLst>
          </p:cNvPr>
          <p:cNvGraphicFramePr>
            <a:graphicFrameLocks noChangeAspect="1"/>
          </p:cNvGraphicFramePr>
          <p:nvPr>
            <p:extLst>
              <p:ext uri="{D42A27DB-BD31-4B8C-83A1-F6EECF244321}">
                <p14:modId xmlns:p14="http://schemas.microsoft.com/office/powerpoint/2010/main" val="2128339415"/>
              </p:ext>
            </p:extLst>
          </p:nvPr>
        </p:nvGraphicFramePr>
        <p:xfrm>
          <a:off x="2466397" y="4499455"/>
          <a:ext cx="4211205" cy="772102"/>
        </p:xfrm>
        <a:graphic>
          <a:graphicData uri="http://schemas.openxmlformats.org/presentationml/2006/ole">
            <mc:AlternateContent xmlns:mc="http://schemas.openxmlformats.org/markup-compatibility/2006">
              <mc:Choice xmlns:v="urn:schemas-microsoft-com:vml" Requires="v">
                <p:oleObj name="Equation" r:id="rId2" imgW="2286000" imgH="419040" progId="Equation.DSMT4">
                  <p:embed/>
                </p:oleObj>
              </mc:Choice>
              <mc:Fallback>
                <p:oleObj name="Equation" r:id="rId2" imgW="2286000" imgH="419040" progId="Equation.DSMT4">
                  <p:embed/>
                  <p:pic>
                    <p:nvPicPr>
                      <p:cNvPr id="4" name="Object 3" descr="= Start fraction $7.5 million over 5 years end fraction = $1.5 million forward slash year."/>
                      <p:cNvPicPr/>
                      <p:nvPr/>
                    </p:nvPicPr>
                    <p:blipFill>
                      <a:blip r:embed="rId3"/>
                      <a:stretch>
                        <a:fillRect/>
                      </a:stretch>
                    </p:blipFill>
                    <p:spPr>
                      <a:xfrm>
                        <a:off x="2466397" y="4499455"/>
                        <a:ext cx="4211205" cy="772102"/>
                      </a:xfrm>
                      <a:prstGeom prst="rect">
                        <a:avLst/>
                      </a:prstGeom>
                    </p:spPr>
                  </p:pic>
                </p:oleObj>
              </mc:Fallback>
            </mc:AlternateContent>
          </a:graphicData>
        </a:graphic>
      </p:graphicFrame>
    </p:spTree>
    <p:extLst>
      <p:ext uri="{BB962C8B-B14F-4D97-AF65-F5344CB8AC3E}">
        <p14:creationId xmlns:p14="http://schemas.microsoft.com/office/powerpoint/2010/main" val="37075457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8867"/>
            <a:ext cx="8266346" cy="590349"/>
          </a:xfrm>
        </p:spPr>
        <p:txBody>
          <a:bodyPr/>
          <a:lstStyle/>
          <a:p>
            <a:r>
              <a:rPr lang="en-US" dirty="0"/>
              <a:t>Interest Expense</a:t>
            </a:r>
            <a:endParaRPr lang="en-US" sz="2800" dirty="0"/>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1023732"/>
            <a:ext cx="8266346" cy="1590623"/>
          </a:xfrm>
        </p:spPr>
        <p:txBody>
          <a:bodyPr wrap="square" lIns="0" tIns="18000" rIns="0" bIns="18000" anchor="ctr">
            <a:spAutoFit/>
          </a:bodyPr>
          <a:lstStyle/>
          <a:p>
            <a:pPr marL="342900" indent="-342900">
              <a:spcBef>
                <a:spcPts val="600"/>
              </a:spcBef>
            </a:pPr>
            <a:r>
              <a:rPr lang="en-US" altLang="en-US" sz="2400" dirty="0">
                <a:solidFill>
                  <a:schemeClr val="tx1"/>
                </a:solidFill>
              </a:rPr>
              <a:t>In capital budgeting decisions, interest expense is typically not included</a:t>
            </a:r>
          </a:p>
          <a:p>
            <a:pPr marL="342900" indent="-342900">
              <a:spcBef>
                <a:spcPts val="600"/>
              </a:spcBef>
            </a:pPr>
            <a:r>
              <a:rPr lang="en-US" altLang="en-US" sz="2400" dirty="0">
                <a:solidFill>
                  <a:schemeClr val="tx1"/>
                </a:solidFill>
              </a:rPr>
              <a:t>The rationale is that the project should be judged on its own, not on how it will be financed</a:t>
            </a:r>
          </a:p>
        </p:txBody>
      </p:sp>
    </p:spTree>
    <p:extLst>
      <p:ext uri="{BB962C8B-B14F-4D97-AF65-F5344CB8AC3E}">
        <p14:creationId xmlns:p14="http://schemas.microsoft.com/office/powerpoint/2010/main" val="42249669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8867"/>
            <a:ext cx="8266346" cy="590349"/>
          </a:xfrm>
        </p:spPr>
        <p:txBody>
          <a:bodyPr/>
          <a:lstStyle/>
          <a:p>
            <a:r>
              <a:rPr lang="en-US" dirty="0"/>
              <a:t>Taxes </a:t>
            </a:r>
            <a:r>
              <a:rPr lang="en-US" sz="2800" dirty="0"/>
              <a:t>(1 of 2)</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1029505"/>
            <a:ext cx="8266346" cy="1667567"/>
          </a:xfrm>
        </p:spPr>
        <p:txBody>
          <a:bodyPr wrap="square" lIns="0" tIns="18000" rIns="0" bIns="18000" anchor="ctr">
            <a:spAutoFit/>
          </a:bodyPr>
          <a:lstStyle/>
          <a:p>
            <a:pPr marL="342900" indent="-342900">
              <a:spcBef>
                <a:spcPts val="600"/>
              </a:spcBef>
            </a:pPr>
            <a:r>
              <a:rPr lang="en-US" altLang="en-US" sz="2400" dirty="0">
                <a:solidFill>
                  <a:schemeClr val="tx1"/>
                </a:solidFill>
              </a:rPr>
              <a:t>Marginal Corporate Tax Rate</a:t>
            </a:r>
          </a:p>
          <a:p>
            <a:pPr marL="829818" lvl="1" indent="-342900"/>
            <a:r>
              <a:rPr lang="en-US" altLang="en-US" sz="2400" dirty="0">
                <a:solidFill>
                  <a:schemeClr val="tx1"/>
                </a:solidFill>
              </a:rPr>
              <a:t>The tax rate on the marginal or </a:t>
            </a:r>
            <a:r>
              <a:rPr lang="en-US" altLang="en-US" sz="2400" b="1" dirty="0">
                <a:solidFill>
                  <a:schemeClr val="tx1"/>
                </a:solidFill>
              </a:rPr>
              <a:t>incremental</a:t>
            </a:r>
            <a:r>
              <a:rPr lang="en-US" altLang="en-US" sz="2400" dirty="0">
                <a:solidFill>
                  <a:schemeClr val="tx1"/>
                </a:solidFill>
              </a:rPr>
              <a:t> dollar of pre-tax income</a:t>
            </a:r>
          </a:p>
          <a:p>
            <a:pPr marL="1229868" lvl="2" indent="-342900"/>
            <a:r>
              <a:rPr lang="en-US" altLang="en-US" sz="2400" dirty="0">
                <a:solidFill>
                  <a:schemeClr val="tx1"/>
                </a:solidFill>
              </a:rPr>
              <a:t>Note: A negative tax is equal to a tax credit</a:t>
            </a:r>
          </a:p>
        </p:txBody>
      </p:sp>
      <p:graphicFrame>
        <p:nvGraphicFramePr>
          <p:cNvPr id="4" name="Object 4" descr="Income tax equals E B I T times tau subscript c baseline.">
            <a:extLst>
              <a:ext uri="{FF2B5EF4-FFF2-40B4-BE49-F238E27FC236}">
                <a16:creationId xmlns:a16="http://schemas.microsoft.com/office/drawing/2014/main" id="{0009FA04-EEB5-F497-766F-14AE5FC6C196}"/>
              </a:ext>
            </a:extLst>
          </p:cNvPr>
          <p:cNvGraphicFramePr>
            <a:graphicFrameLocks noChangeAspect="1"/>
          </p:cNvGraphicFramePr>
          <p:nvPr>
            <p:extLst>
              <p:ext uri="{D42A27DB-BD31-4B8C-83A1-F6EECF244321}">
                <p14:modId xmlns:p14="http://schemas.microsoft.com/office/powerpoint/2010/main" val="1613076089"/>
              </p:ext>
            </p:extLst>
          </p:nvPr>
        </p:nvGraphicFramePr>
        <p:xfrm>
          <a:off x="3001309" y="2836296"/>
          <a:ext cx="3138182" cy="440249"/>
        </p:xfrm>
        <a:graphic>
          <a:graphicData uri="http://schemas.openxmlformats.org/presentationml/2006/ole">
            <mc:AlternateContent xmlns:mc="http://schemas.openxmlformats.org/markup-compatibility/2006">
              <mc:Choice xmlns:v="urn:schemas-microsoft-com:vml" Requires="v">
                <p:oleObj name="Equation" r:id="rId2" imgW="1638000" imgH="228600" progId="Equation.DSMT4">
                  <p:embed/>
                </p:oleObj>
              </mc:Choice>
              <mc:Fallback>
                <p:oleObj name="Equation" r:id="rId2" imgW="1638000" imgH="228600" progId="Equation.DSMT4">
                  <p:embed/>
                  <p:pic>
                    <p:nvPicPr>
                      <p:cNvPr id="86018" name="Object 4" descr="Income Tax = E B I T times tau sub c."/>
                      <p:cNvPicPr>
                        <a:picLocks noChangeAspect="1" noChangeArrowheads="1"/>
                      </p:cNvPicPr>
                      <p:nvPr/>
                    </p:nvPicPr>
                    <p:blipFill>
                      <a:blip r:embed="rId3"/>
                      <a:srcRect/>
                      <a:stretch>
                        <a:fillRect/>
                      </a:stretch>
                    </p:blipFill>
                    <p:spPr bwMode="auto">
                      <a:xfrm>
                        <a:off x="3001309" y="2836296"/>
                        <a:ext cx="3138182" cy="4402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640038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8867"/>
            <a:ext cx="8266346" cy="590349"/>
          </a:xfrm>
        </p:spPr>
        <p:txBody>
          <a:bodyPr/>
          <a:lstStyle/>
          <a:p>
            <a:r>
              <a:rPr lang="en-US" dirty="0"/>
              <a:t>Taxes </a:t>
            </a:r>
            <a:r>
              <a:rPr lang="en-US" sz="2800" dirty="0"/>
              <a:t>(2 of 2)</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1030723"/>
            <a:ext cx="8266346" cy="405683"/>
          </a:xfrm>
        </p:spPr>
        <p:txBody>
          <a:bodyPr wrap="square" lIns="0" tIns="18000" rIns="0" bIns="18000" anchor="ctr">
            <a:spAutoFit/>
          </a:bodyPr>
          <a:lstStyle/>
          <a:p>
            <a:pPr marL="342900" indent="-342900">
              <a:spcBef>
                <a:spcPts val="600"/>
              </a:spcBef>
            </a:pPr>
            <a:r>
              <a:rPr lang="en-US" altLang="en-US" sz="2400" dirty="0">
                <a:solidFill>
                  <a:schemeClr val="tx1"/>
                </a:solidFill>
              </a:rPr>
              <a:t>Unlevered Net Income Calculation</a:t>
            </a:r>
          </a:p>
        </p:txBody>
      </p:sp>
      <p:graphicFrame>
        <p:nvGraphicFramePr>
          <p:cNvPr id="5" name="Object 5" descr="Unlevered net income equals E B I T times left parenthesis 1 minus tau subscript c baseline right parenthesis.">
            <a:extLst>
              <a:ext uri="{FF2B5EF4-FFF2-40B4-BE49-F238E27FC236}">
                <a16:creationId xmlns:a16="http://schemas.microsoft.com/office/drawing/2014/main" id="{5A4055C4-18F2-F30C-C48B-55478444EE2A}"/>
              </a:ext>
            </a:extLst>
          </p:cNvPr>
          <p:cNvGraphicFramePr>
            <a:graphicFrameLocks noChangeAspect="1"/>
          </p:cNvGraphicFramePr>
          <p:nvPr>
            <p:extLst>
              <p:ext uri="{D42A27DB-BD31-4B8C-83A1-F6EECF244321}">
                <p14:modId xmlns:p14="http://schemas.microsoft.com/office/powerpoint/2010/main" val="1249845393"/>
              </p:ext>
            </p:extLst>
          </p:nvPr>
        </p:nvGraphicFramePr>
        <p:xfrm>
          <a:off x="438899" y="1769586"/>
          <a:ext cx="4645025" cy="394653"/>
        </p:xfrm>
        <a:graphic>
          <a:graphicData uri="http://schemas.openxmlformats.org/presentationml/2006/ole">
            <mc:AlternateContent xmlns:mc="http://schemas.openxmlformats.org/markup-compatibility/2006">
              <mc:Choice xmlns:v="urn:schemas-microsoft-com:vml" Requires="v">
                <p:oleObj name="Equation" r:id="rId2" imgW="2692080" imgH="228600" progId="Equation.DSMT4">
                  <p:embed/>
                </p:oleObj>
              </mc:Choice>
              <mc:Fallback>
                <p:oleObj name="Equation" r:id="rId2" imgW="2692080" imgH="228600" progId="Equation.DSMT4">
                  <p:embed/>
                  <p:pic>
                    <p:nvPicPr>
                      <p:cNvPr id="97281" name="Object 5" descr="&quot;Unlevered Net Income = E B I T times left parenthesis 1 minus tau sub c right parenthesis &#10;= left parenthesis revenues minus costs minus depreciation right parenthesis times left parenthesis 1 minus tau sub c right parenthesis.&quot;"/>
                      <p:cNvPicPr>
                        <a:picLocks noChangeAspect="1" noChangeArrowheads="1"/>
                      </p:cNvPicPr>
                      <p:nvPr/>
                    </p:nvPicPr>
                    <p:blipFill>
                      <a:blip r:embed="rId3"/>
                      <a:srcRect/>
                      <a:stretch>
                        <a:fillRect/>
                      </a:stretch>
                    </p:blipFill>
                    <p:spPr bwMode="auto">
                      <a:xfrm>
                        <a:off x="438899" y="1769586"/>
                        <a:ext cx="4645025" cy="3946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6" name="Object 5" descr="Equals left parenthesis revenues minus costs minus depreciation right parenthesis times left parenthesis 1 minus tau subscript c baseline right parenthesis.">
            <a:extLst>
              <a:ext uri="{FF2B5EF4-FFF2-40B4-BE49-F238E27FC236}">
                <a16:creationId xmlns:a16="http://schemas.microsoft.com/office/drawing/2014/main" id="{E5F679A7-D00E-47D6-F58C-1F033FCE9CDC}"/>
              </a:ext>
            </a:extLst>
          </p:cNvPr>
          <p:cNvGraphicFramePr>
            <a:graphicFrameLocks noChangeAspect="1"/>
          </p:cNvGraphicFramePr>
          <p:nvPr>
            <p:extLst>
              <p:ext uri="{D42A27DB-BD31-4B8C-83A1-F6EECF244321}">
                <p14:modId xmlns:p14="http://schemas.microsoft.com/office/powerpoint/2010/main" val="604368"/>
              </p:ext>
            </p:extLst>
          </p:nvPr>
        </p:nvGraphicFramePr>
        <p:xfrm>
          <a:off x="3157335" y="2254947"/>
          <a:ext cx="5447582" cy="398765"/>
        </p:xfrm>
        <a:graphic>
          <a:graphicData uri="http://schemas.openxmlformats.org/presentationml/2006/ole">
            <mc:AlternateContent xmlns:mc="http://schemas.openxmlformats.org/markup-compatibility/2006">
              <mc:Choice xmlns:v="urn:schemas-microsoft-com:vml" Requires="v">
                <p:oleObj name="Equation" r:id="rId4" imgW="3124080" imgH="228600" progId="Equation.DSMT4">
                  <p:embed/>
                </p:oleObj>
              </mc:Choice>
              <mc:Fallback>
                <p:oleObj name="Equation" r:id="rId4" imgW="3124080" imgH="228600" progId="Equation.DSMT4">
                  <p:embed/>
                  <p:pic>
                    <p:nvPicPr>
                      <p:cNvPr id="5" name="Object 5" descr="&quot;Unlevered Net Income = E B I T times left parenthesis 1 minus tau sub c right parenthesis &#10;= left parenthesis revenues minus costs minus depreciation right parenthesis times left parenthesis 1 minus tau sub c right parenthesis.&quot;">
                        <a:extLst>
                          <a:ext uri="{FF2B5EF4-FFF2-40B4-BE49-F238E27FC236}">
                            <a16:creationId xmlns:a16="http://schemas.microsoft.com/office/drawing/2014/main" id="{5A4055C4-18F2-F30C-C48B-55478444EE2A}"/>
                          </a:ext>
                        </a:extLst>
                      </p:cNvPr>
                      <p:cNvPicPr>
                        <a:picLocks noChangeAspect="1" noChangeArrowheads="1"/>
                      </p:cNvPicPr>
                      <p:nvPr/>
                    </p:nvPicPr>
                    <p:blipFill>
                      <a:blip r:embed="rId5"/>
                      <a:srcRect/>
                      <a:stretch>
                        <a:fillRect/>
                      </a:stretch>
                    </p:blipFill>
                    <p:spPr bwMode="auto">
                      <a:xfrm>
                        <a:off x="3157335" y="2254947"/>
                        <a:ext cx="5447582" cy="3987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0975086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7353"/>
            <a:ext cx="8266346" cy="1144347"/>
          </a:xfrm>
        </p:spPr>
        <p:txBody>
          <a:bodyPr/>
          <a:lstStyle/>
          <a:p>
            <a:r>
              <a:rPr lang="en-US" dirty="0"/>
              <a:t>Indirect Effects on Incremental Earnings </a:t>
            </a:r>
            <a:r>
              <a:rPr lang="en-US" sz="2800" dirty="0"/>
              <a:t>(1 of 4)</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1698350"/>
            <a:ext cx="8266346" cy="3591171"/>
          </a:xfrm>
        </p:spPr>
        <p:txBody>
          <a:bodyPr wrap="square" lIns="0" tIns="18000" rIns="0" bIns="18000" anchor="ctr">
            <a:spAutoFit/>
          </a:bodyPr>
          <a:lstStyle/>
          <a:p>
            <a:pPr marL="342900" indent="-342900">
              <a:spcBef>
                <a:spcPts val="600"/>
              </a:spcBef>
            </a:pPr>
            <a:r>
              <a:rPr lang="en-US" altLang="en-US" sz="2400" dirty="0"/>
              <a:t>Opportunity Cost</a:t>
            </a:r>
          </a:p>
          <a:p>
            <a:pPr marL="829818" lvl="1" indent="-342900"/>
            <a:r>
              <a:rPr lang="en-US" altLang="en-US" sz="2400" dirty="0"/>
              <a:t>The value a resource could have provided in its best alternative use</a:t>
            </a:r>
          </a:p>
          <a:p>
            <a:pPr marL="829818" lvl="1" indent="-342900"/>
            <a:r>
              <a:rPr lang="en-US" altLang="en-US" sz="2400" dirty="0"/>
              <a:t>In the HomeNet project example, space will be required for the investment</a:t>
            </a:r>
          </a:p>
          <a:p>
            <a:pPr marL="829818" lvl="1" indent="-342900"/>
            <a:r>
              <a:rPr lang="en-US" altLang="en-US" sz="2400" dirty="0"/>
              <a:t>Even though the equipment will be housed in an existing lab, the opportunity cost of not using the space in an alternative way (e.g., renting it out) must be considered</a:t>
            </a:r>
          </a:p>
        </p:txBody>
      </p:sp>
    </p:spTree>
    <p:extLst>
      <p:ext uri="{BB962C8B-B14F-4D97-AF65-F5344CB8AC3E}">
        <p14:creationId xmlns:p14="http://schemas.microsoft.com/office/powerpoint/2010/main" val="491005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8867"/>
            <a:ext cx="8266346" cy="590349"/>
          </a:xfrm>
        </p:spPr>
        <p:txBody>
          <a:bodyPr/>
          <a:lstStyle/>
          <a:p>
            <a:r>
              <a:rPr lang="en-US" dirty="0" err="1"/>
              <a:t>Homenet</a:t>
            </a:r>
            <a:r>
              <a:rPr lang="en-US" dirty="0"/>
              <a:t> Example 2 </a:t>
            </a:r>
            <a:r>
              <a:rPr lang="en-US" sz="2800" dirty="0"/>
              <a:t>(1 of 2)</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1021908"/>
            <a:ext cx="8266346" cy="2406231"/>
          </a:xfrm>
        </p:spPr>
        <p:txBody>
          <a:bodyPr wrap="square" lIns="0" tIns="18000" rIns="0" bIns="18000" anchor="ctr">
            <a:spAutoFit/>
          </a:bodyPr>
          <a:lstStyle/>
          <a:p>
            <a:pPr marL="0" indent="0">
              <a:spcBef>
                <a:spcPts val="600"/>
              </a:spcBef>
              <a:buNone/>
            </a:pPr>
            <a:r>
              <a:rPr lang="en-US" altLang="en-US" sz="2400" b="1" dirty="0">
                <a:solidFill>
                  <a:schemeClr val="tx1"/>
                </a:solidFill>
              </a:rPr>
              <a:t>The Opportunity Cost of </a:t>
            </a:r>
            <a:r>
              <a:rPr lang="en-US" altLang="en-US" sz="2400" b="1" dirty="0" err="1">
                <a:solidFill>
                  <a:schemeClr val="tx1"/>
                </a:solidFill>
              </a:rPr>
              <a:t>HomeNet’s</a:t>
            </a:r>
            <a:r>
              <a:rPr lang="en-US" altLang="en-US" sz="2400" b="1" dirty="0">
                <a:solidFill>
                  <a:schemeClr val="tx1"/>
                </a:solidFill>
              </a:rPr>
              <a:t> Lab Space</a:t>
            </a:r>
          </a:p>
          <a:p>
            <a:pPr marL="0" indent="0">
              <a:spcBef>
                <a:spcPts val="600"/>
              </a:spcBef>
              <a:buNone/>
            </a:pPr>
            <a:r>
              <a:rPr lang="en-US" altLang="en-US" sz="2400" b="1" dirty="0">
                <a:solidFill>
                  <a:schemeClr val="tx1"/>
                </a:solidFill>
              </a:rPr>
              <a:t>Problem</a:t>
            </a:r>
          </a:p>
          <a:p>
            <a:pPr marL="0" indent="0">
              <a:spcBef>
                <a:spcPts val="600"/>
              </a:spcBef>
              <a:buNone/>
            </a:pPr>
            <a:r>
              <a:rPr lang="en-US" altLang="en-US" sz="2400" dirty="0">
                <a:solidFill>
                  <a:schemeClr val="tx1"/>
                </a:solidFill>
              </a:rPr>
              <a:t>Suppose </a:t>
            </a:r>
            <a:r>
              <a:rPr lang="en-US" altLang="en-US" sz="2400" dirty="0" err="1">
                <a:solidFill>
                  <a:schemeClr val="tx1"/>
                </a:solidFill>
              </a:rPr>
              <a:t>HomeNet’s</a:t>
            </a:r>
            <a:r>
              <a:rPr lang="en-US" altLang="en-US" sz="2400" dirty="0">
                <a:solidFill>
                  <a:schemeClr val="tx1"/>
                </a:solidFill>
              </a:rPr>
              <a:t> new lab will be housed in warehouse space that the company would have otherwise rented out for $200,000 per year during years 1 – 4. How does this opportunity cost affect </a:t>
            </a:r>
            <a:r>
              <a:rPr lang="en-US" altLang="en-US" sz="2400" dirty="0" err="1">
                <a:solidFill>
                  <a:schemeClr val="tx1"/>
                </a:solidFill>
              </a:rPr>
              <a:t>HomeNet’s</a:t>
            </a:r>
            <a:r>
              <a:rPr lang="en-US" altLang="en-US" sz="2400" dirty="0">
                <a:solidFill>
                  <a:schemeClr val="tx1"/>
                </a:solidFill>
              </a:rPr>
              <a:t> incremental earnings?</a:t>
            </a:r>
          </a:p>
        </p:txBody>
      </p:sp>
    </p:spTree>
    <p:extLst>
      <p:ext uri="{BB962C8B-B14F-4D97-AF65-F5344CB8AC3E}">
        <p14:creationId xmlns:p14="http://schemas.microsoft.com/office/powerpoint/2010/main" val="37843915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8867"/>
            <a:ext cx="8266346" cy="590349"/>
          </a:xfrm>
        </p:spPr>
        <p:txBody>
          <a:bodyPr/>
          <a:lstStyle/>
          <a:p>
            <a:r>
              <a:rPr lang="en-US" dirty="0" err="1"/>
              <a:t>Homenet</a:t>
            </a:r>
            <a:r>
              <a:rPr lang="en-US" dirty="0"/>
              <a:t> Example 2 </a:t>
            </a:r>
            <a:r>
              <a:rPr lang="en-US" sz="2800" dirty="0"/>
              <a:t>(2 of 2)</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45854" y="1026671"/>
            <a:ext cx="8266346" cy="1221291"/>
          </a:xfrm>
        </p:spPr>
        <p:txBody>
          <a:bodyPr wrap="square" lIns="0" tIns="18000" rIns="0" bIns="18000" anchor="ctr">
            <a:spAutoFit/>
          </a:bodyPr>
          <a:lstStyle/>
          <a:p>
            <a:pPr marL="0" indent="0">
              <a:spcBef>
                <a:spcPts val="600"/>
              </a:spcBef>
              <a:buNone/>
            </a:pPr>
            <a:r>
              <a:rPr lang="en-US" sz="2400" b="1" dirty="0"/>
              <a:t>Solution</a:t>
            </a:r>
          </a:p>
          <a:p>
            <a:pPr marL="0" indent="0">
              <a:spcBef>
                <a:spcPts val="600"/>
              </a:spcBef>
              <a:buNone/>
            </a:pPr>
            <a:r>
              <a:rPr lang="en-US" sz="2400" dirty="0"/>
              <a:t>In this case, the opportunity cost of the warehouse space is the forgone rent. This cost would reduce </a:t>
            </a:r>
            <a:r>
              <a:rPr lang="en-US" sz="2400" dirty="0" err="1"/>
              <a:t>HomeNet’s</a:t>
            </a:r>
            <a:endParaRPr lang="en-US" sz="2400" dirty="0"/>
          </a:p>
        </p:txBody>
      </p:sp>
      <p:sp>
        <p:nvSpPr>
          <p:cNvPr id="4" name="Content Placeholder 3">
            <a:extLst>
              <a:ext uri="{FF2B5EF4-FFF2-40B4-BE49-F238E27FC236}">
                <a16:creationId xmlns:a16="http://schemas.microsoft.com/office/drawing/2014/main" id="{0DD52A53-AA06-30A3-80A8-F6004494B0FE}"/>
              </a:ext>
            </a:extLst>
          </p:cNvPr>
          <p:cNvSpPr>
            <a:spLocks noGrp="1"/>
          </p:cNvSpPr>
          <p:nvPr>
            <p:ph sz="quarter" idx="13"/>
          </p:nvPr>
        </p:nvSpPr>
        <p:spPr>
          <a:xfrm>
            <a:off x="437228" y="2329114"/>
            <a:ext cx="5773791" cy="405683"/>
          </a:xfrm>
        </p:spPr>
        <p:txBody>
          <a:bodyPr wrap="square" lIns="0" tIns="18000" rIns="0" bIns="18000" anchor="ctr">
            <a:spAutoFit/>
          </a:bodyPr>
          <a:lstStyle/>
          <a:p>
            <a:pPr marL="0" indent="0">
              <a:buNone/>
            </a:pPr>
            <a:r>
              <a:rPr lang="en-US" sz="2400" dirty="0"/>
              <a:t>incremental earnings during years 1 – 4 by</a:t>
            </a:r>
          </a:p>
        </p:txBody>
      </p:sp>
      <p:graphicFrame>
        <p:nvGraphicFramePr>
          <p:cNvPr id="10" name="Object 9" descr="200,000 dollars times left parenthesis 1 minus 20 percent right parenthesis equals 160,000 dollars comma.">
            <a:extLst>
              <a:ext uri="{FF2B5EF4-FFF2-40B4-BE49-F238E27FC236}">
                <a16:creationId xmlns:a16="http://schemas.microsoft.com/office/drawing/2014/main" id="{F443FA98-46DA-B6E3-9796-E3B4713941AB}"/>
              </a:ext>
            </a:extLst>
          </p:cNvPr>
          <p:cNvGraphicFramePr>
            <a:graphicFrameLocks noChangeAspect="1"/>
          </p:cNvGraphicFramePr>
          <p:nvPr>
            <p:extLst>
              <p:ext uri="{D42A27DB-BD31-4B8C-83A1-F6EECF244321}">
                <p14:modId xmlns:p14="http://schemas.microsoft.com/office/powerpoint/2010/main" val="2935753205"/>
              </p:ext>
            </p:extLst>
          </p:nvPr>
        </p:nvGraphicFramePr>
        <p:xfrm>
          <a:off x="435229" y="2842495"/>
          <a:ext cx="3914744" cy="437960"/>
        </p:xfrm>
        <a:graphic>
          <a:graphicData uri="http://schemas.openxmlformats.org/presentationml/2006/ole">
            <mc:AlternateContent xmlns:mc="http://schemas.openxmlformats.org/markup-compatibility/2006">
              <mc:Choice xmlns:v="urn:schemas-microsoft-com:vml" Requires="v">
                <p:oleObj name="Equation" r:id="rId2" imgW="2260440" imgH="253800" progId="Equation.DSMT4">
                  <p:embed/>
                </p:oleObj>
              </mc:Choice>
              <mc:Fallback>
                <p:oleObj name="Equation" r:id="rId2" imgW="2260440" imgH="253800" progId="Equation.DSMT4">
                  <p:embed/>
                  <p:pic>
                    <p:nvPicPr>
                      <p:cNvPr id="8" name="Object 7" descr="$ 200,000 times left parenthesis 1 minus 20 % right parenthesis = $ 160,000, .">
                        <a:extLst>
                          <a:ext uri="{FF2B5EF4-FFF2-40B4-BE49-F238E27FC236}">
                            <a16:creationId xmlns:a16="http://schemas.microsoft.com/office/drawing/2014/main" id="{B90708F6-BCBB-49B3-AA50-80DBB109441B}"/>
                          </a:ext>
                        </a:extLst>
                      </p:cNvPr>
                      <p:cNvPicPr/>
                      <p:nvPr/>
                    </p:nvPicPr>
                    <p:blipFill>
                      <a:blip r:embed="rId3"/>
                      <a:stretch>
                        <a:fillRect/>
                      </a:stretch>
                    </p:blipFill>
                    <p:spPr>
                      <a:xfrm>
                        <a:off x="435229" y="2842495"/>
                        <a:ext cx="3914744" cy="437960"/>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B030C7B8-0389-DAFE-D0DE-7BB944A22220}"/>
              </a:ext>
            </a:extLst>
          </p:cNvPr>
          <p:cNvSpPr>
            <a:spLocks noGrp="1"/>
          </p:cNvSpPr>
          <p:nvPr>
            <p:ph sz="quarter" idx="14"/>
          </p:nvPr>
        </p:nvSpPr>
        <p:spPr>
          <a:xfrm>
            <a:off x="4431258" y="2833003"/>
            <a:ext cx="3996749" cy="405683"/>
          </a:xfrm>
        </p:spPr>
        <p:txBody>
          <a:bodyPr wrap="square" lIns="0" tIns="18000" rIns="0" bIns="18000" anchor="ctr">
            <a:spAutoFit/>
          </a:bodyPr>
          <a:lstStyle/>
          <a:p>
            <a:pPr marL="0" indent="0">
              <a:buNone/>
            </a:pPr>
            <a:r>
              <a:rPr lang="en-US" sz="2400" dirty="0"/>
              <a:t>the after-tax benefit of renting</a:t>
            </a:r>
          </a:p>
        </p:txBody>
      </p:sp>
      <p:sp>
        <p:nvSpPr>
          <p:cNvPr id="6" name="Content Placeholder 5">
            <a:extLst>
              <a:ext uri="{FF2B5EF4-FFF2-40B4-BE49-F238E27FC236}">
                <a16:creationId xmlns:a16="http://schemas.microsoft.com/office/drawing/2014/main" id="{C1C0ACDD-A35B-25D3-4C63-54D32CBC1EA0}"/>
              </a:ext>
            </a:extLst>
          </p:cNvPr>
          <p:cNvSpPr>
            <a:spLocks noGrp="1"/>
          </p:cNvSpPr>
          <p:nvPr>
            <p:ph sz="quarter" idx="15"/>
          </p:nvPr>
        </p:nvSpPr>
        <p:spPr>
          <a:xfrm>
            <a:off x="440427" y="3366207"/>
            <a:ext cx="3501845" cy="405683"/>
          </a:xfrm>
        </p:spPr>
        <p:txBody>
          <a:bodyPr wrap="square" lIns="0" tIns="18000" rIns="0" bIns="18000" anchor="ctr">
            <a:spAutoFit/>
          </a:bodyPr>
          <a:lstStyle/>
          <a:p>
            <a:pPr marL="0" indent="0">
              <a:buNone/>
            </a:pPr>
            <a:r>
              <a:rPr lang="en-US" sz="2400" dirty="0"/>
              <a:t>out the warehouse space.</a:t>
            </a:r>
          </a:p>
        </p:txBody>
      </p:sp>
    </p:spTree>
    <p:extLst>
      <p:ext uri="{BB962C8B-B14F-4D97-AF65-F5344CB8AC3E}">
        <p14:creationId xmlns:p14="http://schemas.microsoft.com/office/powerpoint/2010/main" val="28489602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7353"/>
            <a:ext cx="8266346" cy="1144347"/>
          </a:xfrm>
        </p:spPr>
        <p:txBody>
          <a:bodyPr/>
          <a:lstStyle/>
          <a:p>
            <a:r>
              <a:rPr lang="en-US" dirty="0"/>
              <a:t>Indirect Effects on Incremental Earnings </a:t>
            </a:r>
            <a:r>
              <a:rPr lang="en-US" sz="2800" dirty="0"/>
              <a:t>(2 of 4)</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1707736"/>
            <a:ext cx="8266346" cy="2036899"/>
          </a:xfrm>
        </p:spPr>
        <p:txBody>
          <a:bodyPr wrap="square" lIns="0" tIns="18000" rIns="0" bIns="18000" anchor="ctr">
            <a:spAutoFit/>
          </a:bodyPr>
          <a:lstStyle/>
          <a:p>
            <a:pPr marL="342900" indent="-342900">
              <a:spcBef>
                <a:spcPts val="600"/>
              </a:spcBef>
            </a:pPr>
            <a:r>
              <a:rPr lang="en-US" altLang="en-US" sz="2400" dirty="0"/>
              <a:t>Project Externalities</a:t>
            </a:r>
          </a:p>
          <a:p>
            <a:pPr marL="829818" lvl="1" indent="-342900"/>
            <a:r>
              <a:rPr lang="en-US" altLang="en-US" sz="2400" dirty="0"/>
              <a:t>Indirect effects of the project that may affect the profits of other business activities of the firm</a:t>
            </a:r>
          </a:p>
          <a:p>
            <a:pPr marL="829818" lvl="1" indent="-342900"/>
            <a:r>
              <a:rPr lang="en-US" altLang="en-US" sz="2400" b="1" dirty="0"/>
              <a:t>Cannibalization</a:t>
            </a:r>
            <a:r>
              <a:rPr lang="en-US" altLang="en-US" sz="2400" dirty="0"/>
              <a:t> is when sales of a new product displaces sales of an existing product</a:t>
            </a:r>
          </a:p>
        </p:txBody>
      </p:sp>
    </p:spTree>
    <p:extLst>
      <p:ext uri="{BB962C8B-B14F-4D97-AF65-F5344CB8AC3E}">
        <p14:creationId xmlns:p14="http://schemas.microsoft.com/office/powerpoint/2010/main" val="36607211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7353"/>
            <a:ext cx="8266346" cy="1144347"/>
          </a:xfrm>
        </p:spPr>
        <p:txBody>
          <a:bodyPr/>
          <a:lstStyle/>
          <a:p>
            <a:r>
              <a:rPr lang="en-US" dirty="0"/>
              <a:t>Indirect Effects on Incremental Earnings </a:t>
            </a:r>
            <a:r>
              <a:rPr lang="en-US" sz="2800" dirty="0"/>
              <a:t>(3 of 4)</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1742541"/>
            <a:ext cx="8266346" cy="3883559"/>
          </a:xfrm>
        </p:spPr>
        <p:txBody>
          <a:bodyPr wrap="square" lIns="0" tIns="18000" rIns="0" bIns="18000" anchor="ctr">
            <a:spAutoFit/>
          </a:bodyPr>
          <a:lstStyle/>
          <a:p>
            <a:pPr marL="342900" indent="-342900">
              <a:spcBef>
                <a:spcPts val="600"/>
              </a:spcBef>
            </a:pPr>
            <a:r>
              <a:rPr lang="en-US" altLang="en-US" sz="2400" dirty="0"/>
              <a:t>Project Externalities</a:t>
            </a:r>
          </a:p>
          <a:p>
            <a:pPr marL="829818" lvl="1" indent="-342900"/>
            <a:r>
              <a:rPr lang="en-US" altLang="en-US" sz="2400" dirty="0"/>
              <a:t>In the HomeNet project example, 25% of sales come from customers who would have purchased an existing Linksys (revenue loss for 25,000 units at 100 $) wireless router if HomeNet were not available </a:t>
            </a:r>
          </a:p>
          <a:p>
            <a:pPr marL="829818" lvl="1" indent="-342900"/>
            <a:r>
              <a:rPr lang="en-US" altLang="en-US" sz="2400" dirty="0"/>
              <a:t>Because this reduction in sales of the existing wireless router is a consequence of the decision to develop HomeNet, we must include it when calculating </a:t>
            </a:r>
            <a:r>
              <a:rPr lang="en-US" altLang="en-US" sz="2400" dirty="0" err="1"/>
              <a:t>HomeNet’s</a:t>
            </a:r>
            <a:r>
              <a:rPr lang="en-US" altLang="en-US" sz="2400" dirty="0"/>
              <a:t> incremental earnings (cost gain for 25 units at 60$)</a:t>
            </a:r>
          </a:p>
        </p:txBody>
      </p:sp>
    </p:spTree>
    <p:extLst>
      <p:ext uri="{BB962C8B-B14F-4D97-AF65-F5344CB8AC3E}">
        <p14:creationId xmlns:p14="http://schemas.microsoft.com/office/powerpoint/2010/main" val="22346762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7353"/>
            <a:ext cx="8266346" cy="1144347"/>
          </a:xfrm>
        </p:spPr>
        <p:txBody>
          <a:bodyPr/>
          <a:lstStyle/>
          <a:p>
            <a:r>
              <a:rPr lang="en-US"/>
              <a:t>Indirect Effects on Incremental Earnings </a:t>
            </a:r>
            <a:r>
              <a:rPr lang="en-US" sz="2800"/>
              <a:t>(4 of 4)</a:t>
            </a:r>
          </a:p>
        </p:txBody>
      </p:sp>
      <p:graphicFrame>
        <p:nvGraphicFramePr>
          <p:cNvPr id="3" name="Table 8">
            <a:extLst>
              <a:ext uri="{FF2B5EF4-FFF2-40B4-BE49-F238E27FC236}">
                <a16:creationId xmlns:a16="http://schemas.microsoft.com/office/drawing/2014/main" id="{68DE8343-926F-000F-62EB-B1E5FBB29396}"/>
              </a:ext>
            </a:extLst>
          </p:cNvPr>
          <p:cNvGraphicFramePr>
            <a:graphicFrameLocks/>
          </p:cNvGraphicFramePr>
          <p:nvPr>
            <p:custDataLst>
              <p:tags r:id="rId1"/>
            </p:custDataLst>
            <p:extLst>
              <p:ext uri="{D42A27DB-BD31-4B8C-83A1-F6EECF244321}">
                <p14:modId xmlns:p14="http://schemas.microsoft.com/office/powerpoint/2010/main" val="2597416247"/>
              </p:ext>
            </p:extLst>
          </p:nvPr>
        </p:nvGraphicFramePr>
        <p:xfrm>
          <a:off x="560719" y="1795376"/>
          <a:ext cx="8031192" cy="4642690"/>
        </p:xfrm>
        <a:graphic>
          <a:graphicData uri="http://schemas.openxmlformats.org/drawingml/2006/table">
            <a:tbl>
              <a:tblPr firstRow="1" bandRow="1">
                <a:tableStyleId>{2D5ABB26-0587-4C30-8999-92F81FD0307C}</a:tableStyleId>
              </a:tblPr>
              <a:tblGrid>
                <a:gridCol w="2110508">
                  <a:extLst>
                    <a:ext uri="{9D8B030D-6E8A-4147-A177-3AD203B41FA5}">
                      <a16:colId xmlns:a16="http://schemas.microsoft.com/office/drawing/2014/main" val="1072788600"/>
                    </a:ext>
                  </a:extLst>
                </a:gridCol>
                <a:gridCol w="619752">
                  <a:extLst>
                    <a:ext uri="{9D8B030D-6E8A-4147-A177-3AD203B41FA5}">
                      <a16:colId xmlns:a16="http://schemas.microsoft.com/office/drawing/2014/main" val="206673024"/>
                    </a:ext>
                  </a:extLst>
                </a:gridCol>
                <a:gridCol w="849700">
                  <a:extLst>
                    <a:ext uri="{9D8B030D-6E8A-4147-A177-3AD203B41FA5}">
                      <a16:colId xmlns:a16="http://schemas.microsoft.com/office/drawing/2014/main" val="3472170879"/>
                    </a:ext>
                  </a:extLst>
                </a:gridCol>
                <a:gridCol w="888521">
                  <a:extLst>
                    <a:ext uri="{9D8B030D-6E8A-4147-A177-3AD203B41FA5}">
                      <a16:colId xmlns:a16="http://schemas.microsoft.com/office/drawing/2014/main" val="3138202961"/>
                    </a:ext>
                  </a:extLst>
                </a:gridCol>
                <a:gridCol w="845389">
                  <a:extLst>
                    <a:ext uri="{9D8B030D-6E8A-4147-A177-3AD203B41FA5}">
                      <a16:colId xmlns:a16="http://schemas.microsoft.com/office/drawing/2014/main" val="2803300867"/>
                    </a:ext>
                  </a:extLst>
                </a:gridCol>
                <a:gridCol w="862641">
                  <a:extLst>
                    <a:ext uri="{9D8B030D-6E8A-4147-A177-3AD203B41FA5}">
                      <a16:colId xmlns:a16="http://schemas.microsoft.com/office/drawing/2014/main" val="4017893901"/>
                    </a:ext>
                  </a:extLst>
                </a:gridCol>
                <a:gridCol w="983412">
                  <a:extLst>
                    <a:ext uri="{9D8B030D-6E8A-4147-A177-3AD203B41FA5}">
                      <a16:colId xmlns:a16="http://schemas.microsoft.com/office/drawing/2014/main" val="1149501218"/>
                    </a:ext>
                  </a:extLst>
                </a:gridCol>
                <a:gridCol w="871269">
                  <a:extLst>
                    <a:ext uri="{9D8B030D-6E8A-4147-A177-3AD203B41FA5}">
                      <a16:colId xmlns:a16="http://schemas.microsoft.com/office/drawing/2014/main" val="1655472148"/>
                    </a:ext>
                  </a:extLst>
                </a:gridCol>
              </a:tblGrid>
              <a:tr h="367150">
                <a:tc>
                  <a:txBody>
                    <a:bodyPr/>
                    <a:lstStyle/>
                    <a:p>
                      <a:r>
                        <a:rPr lang="en-US" sz="100" b="1" noProof="0" dirty="0">
                          <a:solidFill>
                            <a:schemeClr val="bg1"/>
                          </a:solidFill>
                          <a:latin typeface="Arial" panose="020B0604020202020204" pitchFamily="34" charset="0"/>
                          <a:cs typeface="Arial" panose="020B0604020202020204" pitchFamily="34" charset="0"/>
                        </a:rPr>
                        <a:t>Blank</a:t>
                      </a:r>
                    </a:p>
                  </a:txBody>
                  <a:tcP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400" b="1" noProof="0" dirty="0">
                          <a:solidFill>
                            <a:schemeClr val="bg1"/>
                          </a:solidFill>
                          <a:latin typeface="Arial" panose="020B0604020202020204" pitchFamily="34" charset="0"/>
                          <a:cs typeface="Arial" panose="020B0604020202020204" pitchFamily="34" charset="0"/>
                        </a:rPr>
                        <a:t>Year</a:t>
                      </a:r>
                    </a:p>
                  </a:txBody>
                  <a:tcP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400" b="1" noProof="0">
                          <a:solidFill>
                            <a:schemeClr val="bg1"/>
                          </a:solidFill>
                          <a:latin typeface="Arial" panose="020B0604020202020204" pitchFamily="34" charset="0"/>
                          <a:cs typeface="Arial" panose="020B0604020202020204" pitchFamily="34" charset="0"/>
                        </a:rPr>
                        <a:t>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400" b="1" noProof="0">
                          <a:solidFill>
                            <a:schemeClr val="bg1"/>
                          </a:solidFill>
                          <a:latin typeface="Arial" panose="020B0604020202020204" pitchFamily="34" charset="0"/>
                          <a:cs typeface="Arial" panose="020B0604020202020204" pitchFamily="34" charset="0"/>
                        </a:rPr>
                        <a:t>1</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400" b="1" noProof="0">
                          <a:solidFill>
                            <a:schemeClr val="bg1"/>
                          </a:solidFill>
                          <a:latin typeface="Arial" panose="020B0604020202020204" pitchFamily="34" charset="0"/>
                          <a:cs typeface="Arial" panose="020B0604020202020204" pitchFamily="34" charset="0"/>
                        </a:rPr>
                        <a:t>2</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400" b="1" noProof="0">
                          <a:solidFill>
                            <a:schemeClr val="bg1"/>
                          </a:solidFill>
                          <a:latin typeface="Arial" panose="020B0604020202020204" pitchFamily="34" charset="0"/>
                          <a:cs typeface="Arial" panose="020B0604020202020204" pitchFamily="34" charset="0"/>
                        </a:rPr>
                        <a:t>3</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400" b="1" noProof="0">
                          <a:solidFill>
                            <a:schemeClr val="bg1"/>
                          </a:solidFill>
                          <a:latin typeface="Arial" panose="020B0604020202020204" pitchFamily="34" charset="0"/>
                          <a:cs typeface="Arial" panose="020B0604020202020204" pitchFamily="34" charset="0"/>
                        </a:rPr>
                        <a:t>4</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400" b="1" noProof="0">
                          <a:solidFill>
                            <a:schemeClr val="bg1"/>
                          </a:solidFill>
                          <a:latin typeface="Arial" panose="020B0604020202020204" pitchFamily="34" charset="0"/>
                          <a:cs typeface="Arial" panose="020B0604020202020204" pitchFamily="34" charset="0"/>
                        </a:rPr>
                        <a:t>5</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490851856"/>
                  </a:ext>
                </a:extLst>
              </a:tr>
              <a:tr h="367150">
                <a:tc>
                  <a:txBody>
                    <a:bodyPr/>
                    <a:lstStyle/>
                    <a:p>
                      <a:r>
                        <a:rPr lang="en-US" sz="1400" b="1" noProof="0">
                          <a:latin typeface="Arial" panose="020B0604020202020204" pitchFamily="34" charset="0"/>
                          <a:cs typeface="Arial" panose="020B0604020202020204" pitchFamily="34" charset="0"/>
                        </a:rPr>
                        <a:t>Incremental Earnings Forecast ($000s)</a:t>
                      </a:r>
                    </a:p>
                  </a:txBody>
                  <a:tcP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tc>
                  <a:txBody>
                    <a:bodyPr/>
                    <a:lstStyle/>
                    <a:p>
                      <a:pPr algn="r"/>
                      <a:r>
                        <a:rPr lang="en-US" sz="100" noProof="0">
                          <a:latin typeface="Arial" panose="020B0604020202020204" pitchFamily="34" charset="0"/>
                          <a:cs typeface="Arial" panose="020B0604020202020204" pitchFamily="34" charset="0"/>
                        </a:rPr>
                        <a:t>Blank</a:t>
                      </a:r>
                    </a:p>
                  </a:txBody>
                  <a:tcP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tc>
                  <a:txBody>
                    <a:bodyPr/>
                    <a:lstStyle/>
                    <a:p>
                      <a:pPr algn="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tc>
                  <a:txBody>
                    <a:bodyPr/>
                    <a:lstStyle/>
                    <a:p>
                      <a:pPr algn="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tc>
                  <a:txBody>
                    <a:bodyPr/>
                    <a:lstStyle/>
                    <a:p>
                      <a:pPr algn="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tc>
                  <a:txBody>
                    <a:bodyPr/>
                    <a:lstStyle/>
                    <a:p>
                      <a:pPr algn="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tc>
                  <a:txBody>
                    <a:bodyPr/>
                    <a:lstStyle/>
                    <a:p>
                      <a:pPr algn="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tc>
                  <a:txBody>
                    <a:bodyPr/>
                    <a:lstStyle/>
                    <a:p>
                      <a:pPr algn="r"/>
                      <a:r>
                        <a:rPr lang="en-US" sz="100" noProof="0" dirty="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321591484"/>
                  </a:ext>
                </a:extLst>
              </a:tr>
              <a:tr h="367150">
                <a:tc>
                  <a:txBody>
                    <a:bodyPr/>
                    <a:lstStyle/>
                    <a:p>
                      <a:r>
                        <a:rPr lang="en-US" sz="1400" noProof="0">
                          <a:latin typeface="Arial" panose="020B0604020202020204" pitchFamily="34" charset="0"/>
                          <a:cs typeface="Arial" panose="020B0604020202020204" pitchFamily="34" charset="0"/>
                        </a:rPr>
                        <a:t>1 Sales</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23,500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23,500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23,500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23,500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661540150"/>
                  </a:ext>
                </a:extLst>
              </a:tr>
              <a:tr h="367150">
                <a:tc>
                  <a:txBody>
                    <a:bodyPr/>
                    <a:lstStyle/>
                    <a:p>
                      <a:r>
                        <a:rPr lang="en-US" sz="1400" noProof="0">
                          <a:latin typeface="Arial" panose="020B0604020202020204" pitchFamily="34" charset="0"/>
                          <a:cs typeface="Arial" panose="020B0604020202020204" pitchFamily="34" charset="0"/>
                        </a:rPr>
                        <a:t>2 Cost of Goods Sold</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dirty="0">
                          <a:latin typeface="Arial" panose="020B0604020202020204" pitchFamily="34" charset="0"/>
                          <a:cs typeface="Arial" panose="020B0604020202020204" pitchFamily="34" charset="0"/>
                        </a:rPr>
                        <a:t>Blank</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(9,500)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(9,500)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(9,500)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(9,500)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029354084"/>
                  </a:ext>
                </a:extLst>
              </a:tr>
              <a:tr h="367150">
                <a:tc>
                  <a:txBody>
                    <a:bodyPr/>
                    <a:lstStyle/>
                    <a:p>
                      <a:r>
                        <a:rPr lang="en-US" sz="1400" noProof="0">
                          <a:latin typeface="Arial" panose="020B0604020202020204" pitchFamily="34" charset="0"/>
                          <a:cs typeface="Arial" panose="020B0604020202020204" pitchFamily="34" charset="0"/>
                        </a:rPr>
                        <a:t>3 </a:t>
                      </a:r>
                      <a:r>
                        <a:rPr lang="en-US" sz="1400" b="1" noProof="0">
                          <a:latin typeface="Arial" panose="020B0604020202020204" pitchFamily="34" charset="0"/>
                          <a:cs typeface="Arial" panose="020B0604020202020204" pitchFamily="34" charset="0"/>
                        </a:rPr>
                        <a:t>Gross Profit</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14,000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14,000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14,000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14,000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4085743459"/>
                  </a:ext>
                </a:extLst>
              </a:tr>
              <a:tr h="367150">
                <a:tc>
                  <a:txBody>
                    <a:bodyPr/>
                    <a:lstStyle/>
                    <a:p>
                      <a:r>
                        <a:rPr lang="en-US" sz="1400" noProof="0">
                          <a:latin typeface="Arial" panose="020B0604020202020204" pitchFamily="34" charset="0"/>
                          <a:cs typeface="Arial" panose="020B0604020202020204" pitchFamily="34" charset="0"/>
                        </a:rPr>
                        <a:t>4 Selling, General, and Administrative</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(3,000)</a:t>
                      </a:r>
                    </a:p>
                  </a:txBody>
                  <a:tcP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noProof="0">
                          <a:solidFill>
                            <a:schemeClr val="tx1"/>
                          </a:solidFill>
                          <a:latin typeface="Arial" panose="020B0604020202020204" pitchFamily="34" charset="0"/>
                          <a:cs typeface="Arial" panose="020B0604020202020204" pitchFamily="34" charset="0"/>
                        </a:rPr>
                        <a:t>(3,000)</a:t>
                      </a:r>
                    </a:p>
                    <a:p>
                      <a:pPr algn="r"/>
                      <a:endParaRPr lang="en-US" sz="1400" noProof="0">
                        <a:latin typeface="Arial" panose="020B0604020202020204" pitchFamily="34" charset="0"/>
                        <a:cs typeface="Arial" panose="020B0604020202020204" pitchFamily="34" charset="0"/>
                      </a:endParaRPr>
                    </a:p>
                  </a:txBody>
                  <a:tcP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(3,000)</a:t>
                      </a:r>
                    </a:p>
                  </a:txBody>
                  <a:tcP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(3,000)</a:t>
                      </a:r>
                    </a:p>
                  </a:txBody>
                  <a:tcP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746575332"/>
                  </a:ext>
                </a:extLst>
              </a:tr>
              <a:tr h="367150">
                <a:tc>
                  <a:txBody>
                    <a:bodyPr/>
                    <a:lstStyle/>
                    <a:p>
                      <a:r>
                        <a:rPr lang="en-US" sz="1400" noProof="0">
                          <a:latin typeface="Arial" panose="020B0604020202020204" pitchFamily="34" charset="0"/>
                          <a:cs typeface="Arial" panose="020B0604020202020204" pitchFamily="34" charset="0"/>
                        </a:rPr>
                        <a:t>5 Research and Development</a:t>
                      </a:r>
                    </a:p>
                  </a:txBody>
                  <a:tcP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(15,000)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689869344"/>
                  </a:ext>
                </a:extLst>
              </a:tr>
              <a:tr h="367150">
                <a:tc>
                  <a:txBody>
                    <a:bodyPr/>
                    <a:lstStyle/>
                    <a:p>
                      <a:r>
                        <a:rPr lang="en-US" sz="1400" noProof="0">
                          <a:latin typeface="Arial" panose="020B0604020202020204" pitchFamily="34" charset="0"/>
                          <a:cs typeface="Arial" panose="020B0604020202020204" pitchFamily="34" charset="0"/>
                        </a:rPr>
                        <a:t>6 Depreciation</a:t>
                      </a:r>
                    </a:p>
                  </a:txBody>
                  <a:tcP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(1,500)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(1,500)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(1,500)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(1,500)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(1,500)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525459360"/>
                  </a:ext>
                </a:extLst>
              </a:tr>
              <a:tr h="367150">
                <a:tc>
                  <a:txBody>
                    <a:bodyPr/>
                    <a:lstStyle/>
                    <a:p>
                      <a:r>
                        <a:rPr lang="en-US" sz="1400" noProof="0" dirty="0">
                          <a:latin typeface="Arial" panose="020B0604020202020204" pitchFamily="34" charset="0"/>
                          <a:cs typeface="Arial" panose="020B0604020202020204" pitchFamily="34" charset="0"/>
                        </a:rPr>
                        <a:t>7 </a:t>
                      </a:r>
                      <a:r>
                        <a:rPr lang="en-US" sz="1400" b="1" spc="-200" baseline="0" noProof="0" dirty="0">
                          <a:latin typeface="Arial" panose="020B0604020202020204" pitchFamily="34" charset="0"/>
                          <a:cs typeface="Arial" panose="020B0604020202020204" pitchFamily="34" charset="0"/>
                        </a:rPr>
                        <a:t>E B I </a:t>
                      </a:r>
                      <a:r>
                        <a:rPr lang="en-US" sz="1400" b="1" noProof="0" dirty="0">
                          <a:latin typeface="Arial" panose="020B0604020202020204" pitchFamily="34" charset="0"/>
                          <a:cs typeface="Arial" panose="020B0604020202020204" pitchFamily="34" charset="0"/>
                        </a:rPr>
                        <a:t>T</a:t>
                      </a:r>
                    </a:p>
                  </a:txBody>
                  <a:tcP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(15,000)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9,500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9,500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9,500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9,500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9,500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437576983"/>
                  </a:ext>
                </a:extLst>
              </a:tr>
              <a:tr h="367150">
                <a:tc>
                  <a:txBody>
                    <a:bodyPr/>
                    <a:lstStyle/>
                    <a:p>
                      <a:r>
                        <a:rPr lang="en-US" sz="1400" noProof="0">
                          <a:latin typeface="Arial" panose="020B0604020202020204" pitchFamily="34" charset="0"/>
                          <a:cs typeface="Arial" panose="020B0604020202020204" pitchFamily="34" charset="0"/>
                        </a:rPr>
                        <a:t>8 Income Tax at 20%</a:t>
                      </a:r>
                    </a:p>
                  </a:txBody>
                  <a:tcP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3,000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(1,900)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(1,900)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(1,900)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(1,900)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300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445213511"/>
                  </a:ext>
                </a:extLst>
              </a:tr>
              <a:tr h="367150">
                <a:tc>
                  <a:txBody>
                    <a:bodyPr/>
                    <a:lstStyle/>
                    <a:p>
                      <a:r>
                        <a:rPr lang="en-US" sz="1400" noProof="0" dirty="0">
                          <a:latin typeface="Arial" panose="020B0604020202020204" pitchFamily="34" charset="0"/>
                          <a:cs typeface="Arial" panose="020B0604020202020204" pitchFamily="34" charset="0"/>
                        </a:rPr>
                        <a:t>9 </a:t>
                      </a:r>
                      <a:r>
                        <a:rPr lang="en-US" sz="1400" b="1" noProof="0" dirty="0">
                          <a:latin typeface="Arial" panose="020B0604020202020204" pitchFamily="34" charset="0"/>
                          <a:cs typeface="Arial" panose="020B0604020202020204" pitchFamily="34" charset="0"/>
                        </a:rPr>
                        <a:t>Unlevered Net Income</a:t>
                      </a:r>
                    </a:p>
                  </a:txBody>
                  <a:tcP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b="1" noProof="0">
                          <a:latin typeface="Arial" panose="020B0604020202020204" pitchFamily="34" charset="0"/>
                          <a:cs typeface="Arial" panose="020B0604020202020204" pitchFamily="34" charset="0"/>
                        </a:rPr>
                        <a:t>(12,000)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b="1" noProof="0">
                          <a:latin typeface="Arial" panose="020B0604020202020204" pitchFamily="34" charset="0"/>
                          <a:cs typeface="Arial" panose="020B0604020202020204" pitchFamily="34" charset="0"/>
                        </a:rPr>
                        <a:t>7,600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b="1" noProof="0">
                          <a:latin typeface="Arial" panose="020B0604020202020204" pitchFamily="34" charset="0"/>
                          <a:cs typeface="Arial" panose="020B0604020202020204" pitchFamily="34" charset="0"/>
                        </a:rPr>
                        <a:t>7,600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b="1" noProof="0">
                          <a:latin typeface="Arial" panose="020B0604020202020204" pitchFamily="34" charset="0"/>
                          <a:cs typeface="Arial" panose="020B0604020202020204" pitchFamily="34" charset="0"/>
                        </a:rPr>
                        <a:t>7,600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b="1" noProof="0">
                          <a:latin typeface="Arial" panose="020B0604020202020204" pitchFamily="34" charset="0"/>
                          <a:cs typeface="Arial" panose="020B0604020202020204" pitchFamily="34" charset="0"/>
                        </a:rPr>
                        <a:t>7,600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b="1" noProof="0" dirty="0">
                          <a:latin typeface="Arial" panose="020B0604020202020204" pitchFamily="34" charset="0"/>
                          <a:cs typeface="Arial" panose="020B0604020202020204" pitchFamily="34" charset="0"/>
                        </a:rPr>
                        <a:t>(1,200)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719318823"/>
                  </a:ext>
                </a:extLst>
              </a:tr>
            </a:tbl>
          </a:graphicData>
        </a:graphic>
      </p:graphicFrame>
      <p:sp>
        <p:nvSpPr>
          <p:cNvPr id="4" name="ZoneTexte 3">
            <a:extLst>
              <a:ext uri="{FF2B5EF4-FFF2-40B4-BE49-F238E27FC236}">
                <a16:creationId xmlns:a16="http://schemas.microsoft.com/office/drawing/2014/main" id="{201FE4F0-80C5-FE2B-5D89-A59C657A5817}"/>
              </a:ext>
            </a:extLst>
          </p:cNvPr>
          <p:cNvSpPr txBox="1"/>
          <p:nvPr/>
        </p:nvSpPr>
        <p:spPr>
          <a:xfrm>
            <a:off x="560719" y="1361700"/>
            <a:ext cx="979755" cy="369332"/>
          </a:xfrm>
          <a:prstGeom prst="rect">
            <a:avLst/>
          </a:prstGeom>
          <a:noFill/>
        </p:spPr>
        <p:txBody>
          <a:bodyPr wrap="none" rtlCol="0">
            <a:spAutoFit/>
          </a:bodyPr>
          <a:lstStyle/>
          <a:p>
            <a:r>
              <a:rPr lang="fr-FR" sz="1800" b="1" dirty="0"/>
              <a:t>Table 2</a:t>
            </a:r>
          </a:p>
        </p:txBody>
      </p:sp>
    </p:spTree>
    <p:extLst>
      <p:ext uri="{BB962C8B-B14F-4D97-AF65-F5344CB8AC3E}">
        <p14:creationId xmlns:p14="http://schemas.microsoft.com/office/powerpoint/2010/main" val="2252734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8522"/>
            <a:ext cx="8266346" cy="1021237"/>
          </a:xfrm>
        </p:spPr>
        <p:txBody>
          <a:bodyPr/>
          <a:lstStyle/>
          <a:p>
            <a:r>
              <a:rPr lang="en-US" dirty="0"/>
              <a:t>Sunk Costs and Incremental Earnings </a:t>
            </a:r>
            <a:r>
              <a:rPr lang="en-US" sz="2800" dirty="0"/>
              <a:t>(1 of 4)</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1703075"/>
            <a:ext cx="8266346" cy="1959955"/>
          </a:xfrm>
        </p:spPr>
        <p:txBody>
          <a:bodyPr wrap="square" lIns="0" tIns="18000" rIns="0" bIns="18000" anchor="ctr">
            <a:spAutoFit/>
          </a:bodyPr>
          <a:lstStyle/>
          <a:p>
            <a:pPr marL="342900" indent="-342900">
              <a:spcBef>
                <a:spcPts val="600"/>
              </a:spcBef>
            </a:pPr>
            <a:r>
              <a:rPr lang="en-US" altLang="en-US" sz="2400" b="1" dirty="0"/>
              <a:t>Sunk costs </a:t>
            </a:r>
            <a:r>
              <a:rPr lang="en-US" altLang="en-US" sz="2400" dirty="0"/>
              <a:t>are costs that have been or will be paid regardless of the decision whether or not the investment is undertaken</a:t>
            </a:r>
          </a:p>
          <a:p>
            <a:pPr marL="829818" lvl="1" indent="-342900"/>
            <a:r>
              <a:rPr lang="en-US" altLang="en-US" sz="2400" dirty="0"/>
              <a:t>Sunk costs should not be included in the incremental earnings analysis</a:t>
            </a:r>
          </a:p>
        </p:txBody>
      </p:sp>
    </p:spTree>
    <p:extLst>
      <p:ext uri="{BB962C8B-B14F-4D97-AF65-F5344CB8AC3E}">
        <p14:creationId xmlns:p14="http://schemas.microsoft.com/office/powerpoint/2010/main" val="40418302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8522"/>
            <a:ext cx="8266346" cy="1021237"/>
          </a:xfrm>
        </p:spPr>
        <p:txBody>
          <a:bodyPr/>
          <a:lstStyle/>
          <a:p>
            <a:r>
              <a:rPr lang="en-US" dirty="0"/>
              <a:t>Sunk Costs and Incremental Earnings </a:t>
            </a:r>
            <a:r>
              <a:rPr lang="en-US" sz="2800" dirty="0"/>
              <a:t>(2 of 4)</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1706587"/>
            <a:ext cx="8274972" cy="1590623"/>
          </a:xfrm>
        </p:spPr>
        <p:txBody>
          <a:bodyPr wrap="square" lIns="0" tIns="18000" rIns="0" bIns="18000" anchor="ctr">
            <a:spAutoFit/>
          </a:bodyPr>
          <a:lstStyle/>
          <a:p>
            <a:pPr marL="342900" indent="-342900">
              <a:spcBef>
                <a:spcPts val="600"/>
              </a:spcBef>
            </a:pPr>
            <a:r>
              <a:rPr lang="en-US" altLang="en-US" sz="2400" dirty="0"/>
              <a:t>Fixed Overhead Expenses</a:t>
            </a:r>
          </a:p>
          <a:p>
            <a:pPr marL="829818" lvl="1" indent="-342900"/>
            <a:r>
              <a:rPr lang="en-US" altLang="en-US" sz="2400" dirty="0"/>
              <a:t>Typically overhead costs are fixed and not incremental to the project and should not be included in the calculation of incremental earnings</a:t>
            </a:r>
          </a:p>
        </p:txBody>
      </p:sp>
    </p:spTree>
    <p:extLst>
      <p:ext uri="{BB962C8B-B14F-4D97-AF65-F5344CB8AC3E}">
        <p14:creationId xmlns:p14="http://schemas.microsoft.com/office/powerpoint/2010/main" val="13810801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8522"/>
            <a:ext cx="8266346" cy="1021237"/>
          </a:xfrm>
        </p:spPr>
        <p:txBody>
          <a:bodyPr/>
          <a:lstStyle/>
          <a:p>
            <a:r>
              <a:rPr lang="en-US" dirty="0"/>
              <a:t>Sunk Costs and Incremental Earnings </a:t>
            </a:r>
            <a:r>
              <a:rPr lang="en-US" sz="2800" dirty="0"/>
              <a:t>(3 of 4)</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1704223"/>
            <a:ext cx="8274972" cy="2406231"/>
          </a:xfrm>
        </p:spPr>
        <p:txBody>
          <a:bodyPr wrap="square" lIns="0" tIns="18000" rIns="0" bIns="18000" anchor="ctr">
            <a:spAutoFit/>
          </a:bodyPr>
          <a:lstStyle/>
          <a:p>
            <a:pPr marL="342900" indent="-342900">
              <a:spcBef>
                <a:spcPts val="600"/>
              </a:spcBef>
            </a:pPr>
            <a:r>
              <a:rPr lang="en-US" altLang="en-US" sz="2400" dirty="0"/>
              <a:t>Past Research and Development Expenditures</a:t>
            </a:r>
          </a:p>
          <a:p>
            <a:pPr marL="829818" lvl="1" indent="-342900"/>
            <a:r>
              <a:rPr lang="en-US" altLang="en-US" sz="2400" dirty="0"/>
              <a:t>Money that has already been spent on R &amp; D is a </a:t>
            </a:r>
            <a:r>
              <a:rPr lang="en-US" altLang="en-US" sz="2400" b="1" dirty="0"/>
              <a:t>sunk</a:t>
            </a:r>
            <a:r>
              <a:rPr lang="en-US" altLang="en-US" sz="2400" dirty="0"/>
              <a:t> </a:t>
            </a:r>
            <a:r>
              <a:rPr lang="en-US" altLang="en-US" sz="2400" b="1" dirty="0"/>
              <a:t>cost</a:t>
            </a:r>
            <a:r>
              <a:rPr lang="en-US" altLang="en-US" sz="2400" dirty="0"/>
              <a:t> and therefore irrelevant</a:t>
            </a:r>
          </a:p>
          <a:p>
            <a:pPr marL="829818" lvl="1" indent="-342900"/>
            <a:r>
              <a:rPr lang="en-US" altLang="en-US" sz="2400" dirty="0"/>
              <a:t>The decision to continue or abandon a project should be based only on the incremental costs and benefits of the product going forward</a:t>
            </a:r>
          </a:p>
        </p:txBody>
      </p:sp>
    </p:spTree>
    <p:extLst>
      <p:ext uri="{BB962C8B-B14F-4D97-AF65-F5344CB8AC3E}">
        <p14:creationId xmlns:p14="http://schemas.microsoft.com/office/powerpoint/2010/main" val="38500719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8522"/>
            <a:ext cx="8266346" cy="1021237"/>
          </a:xfrm>
        </p:spPr>
        <p:txBody>
          <a:bodyPr/>
          <a:lstStyle/>
          <a:p>
            <a:r>
              <a:rPr lang="en-US" dirty="0"/>
              <a:t>Sunk Costs and Incremental Earnings </a:t>
            </a:r>
            <a:r>
              <a:rPr lang="en-US" sz="2800" dirty="0"/>
              <a:t>(4 of 4)</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1700709"/>
            <a:ext cx="8274972" cy="2775563"/>
          </a:xfrm>
        </p:spPr>
        <p:txBody>
          <a:bodyPr wrap="square" lIns="0" tIns="18000" rIns="0" bIns="18000" anchor="ctr">
            <a:spAutoFit/>
          </a:bodyPr>
          <a:lstStyle/>
          <a:p>
            <a:pPr marL="342900" indent="-342900">
              <a:spcBef>
                <a:spcPts val="600"/>
              </a:spcBef>
            </a:pPr>
            <a:r>
              <a:rPr lang="en-US" altLang="en-US" sz="2400" dirty="0"/>
              <a:t>Unavoidable Competitive Effects</a:t>
            </a:r>
          </a:p>
          <a:p>
            <a:pPr marL="829818" lvl="1" indent="-342900"/>
            <a:r>
              <a:rPr lang="en-US" altLang="en-US" sz="2400" dirty="0"/>
              <a:t>When developing a new product, firms may be concerned about the cannibalization of existing products</a:t>
            </a:r>
          </a:p>
          <a:p>
            <a:pPr marL="829818" lvl="1" indent="-342900"/>
            <a:r>
              <a:rPr lang="en-US" altLang="en-US" sz="2400" dirty="0"/>
              <a:t>However, if sales are likely to decline in any case as a result of new products introduced by competitors, then these lost sales should be considered a sunk cost</a:t>
            </a:r>
          </a:p>
        </p:txBody>
      </p:sp>
    </p:spTree>
    <p:extLst>
      <p:ext uri="{BB962C8B-B14F-4D97-AF65-F5344CB8AC3E}">
        <p14:creationId xmlns:p14="http://schemas.microsoft.com/office/powerpoint/2010/main" val="40661356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8867"/>
            <a:ext cx="8266346" cy="590349"/>
          </a:xfrm>
        </p:spPr>
        <p:txBody>
          <a:bodyPr/>
          <a:lstStyle/>
          <a:p>
            <a:r>
              <a:rPr lang="en-US" dirty="0"/>
              <a:t>Real-World Complexities</a:t>
            </a:r>
            <a:endParaRPr lang="en-US" sz="2800" dirty="0"/>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1029435"/>
            <a:ext cx="8266346" cy="1744511"/>
          </a:xfrm>
        </p:spPr>
        <p:txBody>
          <a:bodyPr wrap="square" lIns="0" tIns="18000" rIns="0" bIns="18000" anchor="ctr">
            <a:spAutoFit/>
          </a:bodyPr>
          <a:lstStyle/>
          <a:p>
            <a:pPr marL="342900" indent="-342900">
              <a:spcBef>
                <a:spcPts val="600"/>
              </a:spcBef>
            </a:pPr>
            <a:r>
              <a:rPr lang="en-US" altLang="en-US" sz="2400" dirty="0">
                <a:solidFill>
                  <a:schemeClr val="tx1"/>
                </a:solidFill>
              </a:rPr>
              <a:t>Typically,</a:t>
            </a:r>
          </a:p>
          <a:p>
            <a:pPr marL="829818" lvl="1" indent="-342900"/>
            <a:r>
              <a:rPr lang="en-US" altLang="en-US" sz="2400" dirty="0">
                <a:solidFill>
                  <a:schemeClr val="tx1"/>
                </a:solidFill>
              </a:rPr>
              <a:t>sales will change from year to year</a:t>
            </a:r>
          </a:p>
          <a:p>
            <a:pPr marL="829818" lvl="1" indent="-342900"/>
            <a:r>
              <a:rPr lang="en-US" altLang="en-US" sz="2400" dirty="0">
                <a:solidFill>
                  <a:schemeClr val="tx1"/>
                </a:solidFill>
              </a:rPr>
              <a:t>the average selling price will vary over time</a:t>
            </a:r>
          </a:p>
          <a:p>
            <a:pPr marL="829818" lvl="1" indent="-342900"/>
            <a:r>
              <a:rPr lang="en-US" altLang="en-US" sz="2400" dirty="0">
                <a:solidFill>
                  <a:schemeClr val="tx1"/>
                </a:solidFill>
              </a:rPr>
              <a:t>the average cost per unit will change over time</a:t>
            </a:r>
          </a:p>
        </p:txBody>
      </p:sp>
    </p:spTree>
    <p:extLst>
      <p:ext uri="{BB962C8B-B14F-4D97-AF65-F5344CB8AC3E}">
        <p14:creationId xmlns:p14="http://schemas.microsoft.com/office/powerpoint/2010/main" val="37746710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8867"/>
            <a:ext cx="8266346" cy="590349"/>
          </a:xfrm>
        </p:spPr>
        <p:txBody>
          <a:bodyPr/>
          <a:lstStyle/>
          <a:p>
            <a:r>
              <a:rPr lang="en-US" dirty="0" err="1"/>
              <a:t>Homenet</a:t>
            </a:r>
            <a:r>
              <a:rPr lang="en-US" dirty="0"/>
              <a:t> Example 3 </a:t>
            </a:r>
            <a:r>
              <a:rPr lang="en-US" sz="2800" dirty="0"/>
              <a:t>(1 of 3)</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1012973"/>
            <a:ext cx="8266346" cy="4252890"/>
          </a:xfrm>
        </p:spPr>
        <p:txBody>
          <a:bodyPr wrap="square" lIns="0" tIns="18000" rIns="0" bIns="18000" anchor="ctr">
            <a:spAutoFit/>
          </a:bodyPr>
          <a:lstStyle/>
          <a:p>
            <a:pPr marL="0" indent="0">
              <a:spcBef>
                <a:spcPts val="600"/>
              </a:spcBef>
              <a:buNone/>
            </a:pPr>
            <a:r>
              <a:rPr lang="en-US" altLang="en-US" sz="2400" b="1" dirty="0">
                <a:solidFill>
                  <a:schemeClr val="tx1"/>
                </a:solidFill>
              </a:rPr>
              <a:t>Product Adoption and Price Changes</a:t>
            </a:r>
          </a:p>
          <a:p>
            <a:pPr marL="0" indent="0">
              <a:spcBef>
                <a:spcPts val="600"/>
              </a:spcBef>
              <a:buNone/>
            </a:pPr>
            <a:r>
              <a:rPr lang="en-US" altLang="en-US" sz="2400" b="1" dirty="0">
                <a:solidFill>
                  <a:schemeClr val="tx1"/>
                </a:solidFill>
              </a:rPr>
              <a:t>Problem</a:t>
            </a:r>
          </a:p>
          <a:p>
            <a:pPr marL="0" indent="0">
              <a:spcBef>
                <a:spcPts val="600"/>
              </a:spcBef>
              <a:buNone/>
            </a:pPr>
            <a:r>
              <a:rPr lang="en-US" altLang="en-US" sz="2400" dirty="0">
                <a:solidFill>
                  <a:schemeClr val="tx1"/>
                </a:solidFill>
              </a:rPr>
              <a:t>Suppose sales of HomeNet were expected to be 100,000 units in year 1, 125,000 units in years 2 and 3, and 50,000 units in year 4. Suppose also that </a:t>
            </a:r>
            <a:r>
              <a:rPr lang="en-US" altLang="en-US" sz="2400" dirty="0" err="1">
                <a:solidFill>
                  <a:schemeClr val="tx1"/>
                </a:solidFill>
              </a:rPr>
              <a:t>HomeNet’s</a:t>
            </a:r>
            <a:r>
              <a:rPr lang="en-US" altLang="en-US" sz="2400" dirty="0">
                <a:solidFill>
                  <a:schemeClr val="tx1"/>
                </a:solidFill>
              </a:rPr>
              <a:t> sale price and manufacturing cost are expected to decline by 10% per year, as with other networking products. By contrast, selling, general, and administrative expenses are expected to rise with inflation by 4% per year. Update the incremental earnings forecast in the spreadsheet in Table 2 to account for these effects.</a:t>
            </a:r>
          </a:p>
        </p:txBody>
      </p:sp>
    </p:spTree>
    <p:extLst>
      <p:ext uri="{BB962C8B-B14F-4D97-AF65-F5344CB8AC3E}">
        <p14:creationId xmlns:p14="http://schemas.microsoft.com/office/powerpoint/2010/main" val="11056151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8867"/>
            <a:ext cx="8266346" cy="590349"/>
          </a:xfrm>
        </p:spPr>
        <p:txBody>
          <a:bodyPr/>
          <a:lstStyle/>
          <a:p>
            <a:r>
              <a:rPr lang="en-US" dirty="0" err="1"/>
              <a:t>Homenet</a:t>
            </a:r>
            <a:r>
              <a:rPr lang="en-US" dirty="0"/>
              <a:t> Example 3 </a:t>
            </a:r>
            <a:r>
              <a:rPr lang="en-US" sz="2800" dirty="0"/>
              <a:t>(2 of 3)</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560719" y="1027775"/>
            <a:ext cx="8266346" cy="1221291"/>
          </a:xfrm>
        </p:spPr>
        <p:txBody>
          <a:bodyPr wrap="square" lIns="0" tIns="18000" rIns="0" bIns="18000" anchor="ctr">
            <a:spAutoFit/>
          </a:bodyPr>
          <a:lstStyle/>
          <a:p>
            <a:pPr marL="0" indent="0">
              <a:spcBef>
                <a:spcPts val="600"/>
              </a:spcBef>
              <a:buNone/>
            </a:pPr>
            <a:r>
              <a:rPr lang="en-US" altLang="en-US" sz="2400" b="1" dirty="0">
                <a:solidFill>
                  <a:schemeClr val="tx1"/>
                </a:solidFill>
              </a:rPr>
              <a:t>Solution</a:t>
            </a:r>
          </a:p>
          <a:p>
            <a:pPr marL="0" indent="0">
              <a:spcBef>
                <a:spcPts val="600"/>
              </a:spcBef>
              <a:buNone/>
            </a:pPr>
            <a:r>
              <a:rPr lang="en-US" altLang="en-US" sz="2400" dirty="0">
                <a:solidFill>
                  <a:schemeClr val="tx1"/>
                </a:solidFill>
              </a:rPr>
              <a:t>Home Net’s incremental earnings with these new assumptions are shown in the spreadsheet below:</a:t>
            </a:r>
          </a:p>
        </p:txBody>
      </p:sp>
      <p:graphicFrame>
        <p:nvGraphicFramePr>
          <p:cNvPr id="4" name="Table 8">
            <a:extLst>
              <a:ext uri="{FF2B5EF4-FFF2-40B4-BE49-F238E27FC236}">
                <a16:creationId xmlns:a16="http://schemas.microsoft.com/office/drawing/2014/main" id="{45ABE663-12EB-8057-077C-082EB91311B8}"/>
              </a:ext>
            </a:extLst>
          </p:cNvPr>
          <p:cNvGraphicFramePr>
            <a:graphicFrameLocks/>
          </p:cNvGraphicFramePr>
          <p:nvPr>
            <p:custDataLst>
              <p:tags r:id="rId1"/>
            </p:custDataLst>
            <p:extLst>
              <p:ext uri="{D42A27DB-BD31-4B8C-83A1-F6EECF244321}">
                <p14:modId xmlns:p14="http://schemas.microsoft.com/office/powerpoint/2010/main" val="1821210025"/>
              </p:ext>
            </p:extLst>
          </p:nvPr>
        </p:nvGraphicFramePr>
        <p:xfrm>
          <a:off x="560719" y="2800248"/>
          <a:ext cx="7411440" cy="3839000"/>
        </p:xfrm>
        <a:graphic>
          <a:graphicData uri="http://schemas.openxmlformats.org/drawingml/2006/table">
            <a:tbl>
              <a:tblPr firstRow="1" firstCol="1" bandRow="1">
                <a:tableStyleId>{2D5ABB26-0587-4C30-8999-92F81FD0307C}</a:tableStyleId>
              </a:tblPr>
              <a:tblGrid>
                <a:gridCol w="2110508">
                  <a:extLst>
                    <a:ext uri="{9D8B030D-6E8A-4147-A177-3AD203B41FA5}">
                      <a16:colId xmlns:a16="http://schemas.microsoft.com/office/drawing/2014/main" val="1072788600"/>
                    </a:ext>
                  </a:extLst>
                </a:gridCol>
                <a:gridCol w="849700">
                  <a:extLst>
                    <a:ext uri="{9D8B030D-6E8A-4147-A177-3AD203B41FA5}">
                      <a16:colId xmlns:a16="http://schemas.microsoft.com/office/drawing/2014/main" val="3472170879"/>
                    </a:ext>
                  </a:extLst>
                </a:gridCol>
                <a:gridCol w="888521">
                  <a:extLst>
                    <a:ext uri="{9D8B030D-6E8A-4147-A177-3AD203B41FA5}">
                      <a16:colId xmlns:a16="http://schemas.microsoft.com/office/drawing/2014/main" val="3138202961"/>
                    </a:ext>
                  </a:extLst>
                </a:gridCol>
                <a:gridCol w="845389">
                  <a:extLst>
                    <a:ext uri="{9D8B030D-6E8A-4147-A177-3AD203B41FA5}">
                      <a16:colId xmlns:a16="http://schemas.microsoft.com/office/drawing/2014/main" val="2803300867"/>
                    </a:ext>
                  </a:extLst>
                </a:gridCol>
                <a:gridCol w="862641">
                  <a:extLst>
                    <a:ext uri="{9D8B030D-6E8A-4147-A177-3AD203B41FA5}">
                      <a16:colId xmlns:a16="http://schemas.microsoft.com/office/drawing/2014/main" val="4017893901"/>
                    </a:ext>
                  </a:extLst>
                </a:gridCol>
                <a:gridCol w="983412">
                  <a:extLst>
                    <a:ext uri="{9D8B030D-6E8A-4147-A177-3AD203B41FA5}">
                      <a16:colId xmlns:a16="http://schemas.microsoft.com/office/drawing/2014/main" val="1149501218"/>
                    </a:ext>
                  </a:extLst>
                </a:gridCol>
                <a:gridCol w="871269">
                  <a:extLst>
                    <a:ext uri="{9D8B030D-6E8A-4147-A177-3AD203B41FA5}">
                      <a16:colId xmlns:a16="http://schemas.microsoft.com/office/drawing/2014/main" val="1655472148"/>
                    </a:ext>
                  </a:extLst>
                </a:gridCol>
              </a:tblGrid>
              <a:tr h="308425">
                <a:tc>
                  <a:txBody>
                    <a:bodyPr/>
                    <a:lstStyle/>
                    <a:p>
                      <a:pPr algn="ctr"/>
                      <a:r>
                        <a:rPr lang="en-US" sz="1200" b="1" noProof="0" dirty="0">
                          <a:solidFill>
                            <a:schemeClr val="bg1"/>
                          </a:solidFill>
                          <a:latin typeface="Arial" panose="020B0604020202020204" pitchFamily="34" charset="0"/>
                          <a:cs typeface="Arial" panose="020B0604020202020204" pitchFamily="34" charset="0"/>
                        </a:rPr>
                        <a:t>Year</a:t>
                      </a:r>
                    </a:p>
                  </a:txBody>
                  <a:tcP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200" b="1" noProof="0" dirty="0">
                          <a:solidFill>
                            <a:schemeClr val="bg1"/>
                          </a:solidFill>
                          <a:latin typeface="Arial" panose="020B0604020202020204" pitchFamily="34" charset="0"/>
                          <a:cs typeface="Arial" panose="020B0604020202020204" pitchFamily="34" charset="0"/>
                        </a:rPr>
                        <a:t>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200" b="1" noProof="0" dirty="0">
                          <a:solidFill>
                            <a:schemeClr val="bg1"/>
                          </a:solidFill>
                          <a:latin typeface="Arial" panose="020B0604020202020204" pitchFamily="34" charset="0"/>
                          <a:cs typeface="Arial" panose="020B0604020202020204" pitchFamily="34" charset="0"/>
                        </a:rPr>
                        <a:t>1</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200" b="1" noProof="0" dirty="0">
                          <a:solidFill>
                            <a:schemeClr val="bg1"/>
                          </a:solidFill>
                          <a:latin typeface="Arial" panose="020B0604020202020204" pitchFamily="34" charset="0"/>
                          <a:cs typeface="Arial" panose="020B0604020202020204" pitchFamily="34" charset="0"/>
                        </a:rPr>
                        <a:t>2</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200" b="1" noProof="0" dirty="0">
                          <a:solidFill>
                            <a:schemeClr val="bg1"/>
                          </a:solidFill>
                          <a:latin typeface="Arial" panose="020B0604020202020204" pitchFamily="34" charset="0"/>
                          <a:cs typeface="Arial" panose="020B0604020202020204" pitchFamily="34" charset="0"/>
                        </a:rPr>
                        <a:t>3</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200" b="1" noProof="0" dirty="0">
                          <a:solidFill>
                            <a:schemeClr val="bg1"/>
                          </a:solidFill>
                          <a:latin typeface="Arial" panose="020B0604020202020204" pitchFamily="34" charset="0"/>
                          <a:cs typeface="Arial" panose="020B0604020202020204" pitchFamily="34" charset="0"/>
                        </a:rPr>
                        <a:t>4</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200" b="1" noProof="0" dirty="0">
                          <a:solidFill>
                            <a:schemeClr val="bg1"/>
                          </a:solidFill>
                          <a:latin typeface="Arial" panose="020B0604020202020204" pitchFamily="34" charset="0"/>
                          <a:cs typeface="Arial" panose="020B0604020202020204" pitchFamily="34" charset="0"/>
                        </a:rPr>
                        <a:t>5</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490851856"/>
                  </a:ext>
                </a:extLst>
              </a:tr>
              <a:tr h="384071">
                <a:tc>
                  <a:txBody>
                    <a:bodyPr/>
                    <a:lstStyle/>
                    <a:p>
                      <a:r>
                        <a:rPr lang="en-US" sz="1200" b="1" noProof="0" dirty="0">
                          <a:latin typeface="Arial" panose="020B0604020202020204" pitchFamily="34" charset="0"/>
                          <a:cs typeface="Arial" panose="020B0604020202020204" pitchFamily="34" charset="0"/>
                        </a:rPr>
                        <a:t>Incremental Earnings Forecast ($000s)</a:t>
                      </a:r>
                    </a:p>
                  </a:txBody>
                  <a:tcP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tc>
                  <a:txBody>
                    <a:bodyPr/>
                    <a:lstStyle/>
                    <a:p>
                      <a:pPr algn="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dirty="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dirty="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321591484"/>
                  </a:ext>
                </a:extLst>
              </a:tr>
              <a:tr h="308425">
                <a:tc>
                  <a:txBody>
                    <a:bodyPr/>
                    <a:lstStyle/>
                    <a:p>
                      <a:r>
                        <a:rPr lang="en-US" sz="1200" noProof="0" dirty="0">
                          <a:latin typeface="Arial" panose="020B0604020202020204" pitchFamily="34" charset="0"/>
                          <a:cs typeface="Arial" panose="020B0604020202020204" pitchFamily="34" charset="0"/>
                        </a:rPr>
                        <a:t>1 Sales</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200" noProof="0">
                          <a:latin typeface="Arial" panose="020B0604020202020204" pitchFamily="34" charset="0"/>
                          <a:cs typeface="Arial" panose="020B0604020202020204" pitchFamily="34" charset="0"/>
                        </a:rPr>
                        <a:t>23,500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200" noProof="0">
                          <a:latin typeface="Arial" panose="020B0604020202020204" pitchFamily="34" charset="0"/>
                          <a:cs typeface="Arial" panose="020B0604020202020204" pitchFamily="34" charset="0"/>
                        </a:rPr>
                        <a:t>26,438</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200" noProof="0">
                          <a:latin typeface="Arial" panose="020B0604020202020204" pitchFamily="34" charset="0"/>
                          <a:cs typeface="Arial" panose="020B0604020202020204" pitchFamily="34" charset="0"/>
                        </a:rPr>
                        <a:t>23,794</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200" noProof="0">
                          <a:latin typeface="Arial" panose="020B0604020202020204" pitchFamily="34" charset="0"/>
                          <a:cs typeface="Arial" panose="020B0604020202020204" pitchFamily="34" charset="0"/>
                        </a:rPr>
                        <a:t>8,566</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661540150"/>
                  </a:ext>
                </a:extLst>
              </a:tr>
              <a:tr h="308425">
                <a:tc>
                  <a:txBody>
                    <a:bodyPr/>
                    <a:lstStyle/>
                    <a:p>
                      <a:r>
                        <a:rPr lang="en-US" sz="1200" noProof="0">
                          <a:latin typeface="Arial" panose="020B0604020202020204" pitchFamily="34" charset="0"/>
                          <a:cs typeface="Arial" panose="020B0604020202020204" pitchFamily="34" charset="0"/>
                        </a:rPr>
                        <a:t>2 Cost of Goods Sold</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200" noProof="0">
                          <a:latin typeface="Arial" panose="020B0604020202020204" pitchFamily="34" charset="0"/>
                          <a:cs typeface="Arial" panose="020B0604020202020204" pitchFamily="34" charset="0"/>
                        </a:rPr>
                        <a:t>(9,500)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200" noProof="0">
                          <a:latin typeface="Arial" panose="020B0604020202020204" pitchFamily="34" charset="0"/>
                          <a:cs typeface="Arial" panose="020B0604020202020204" pitchFamily="34" charset="0"/>
                        </a:rPr>
                        <a:t>(10,688)</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200" noProof="0">
                          <a:latin typeface="Arial" panose="020B0604020202020204" pitchFamily="34" charset="0"/>
                          <a:cs typeface="Arial" panose="020B0604020202020204" pitchFamily="34" charset="0"/>
                        </a:rPr>
                        <a:t>(9,619)</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200" noProof="0">
                          <a:latin typeface="Arial" panose="020B0604020202020204" pitchFamily="34" charset="0"/>
                          <a:cs typeface="Arial" panose="020B0604020202020204" pitchFamily="34" charset="0"/>
                        </a:rPr>
                        <a:t>(3,463)</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029354084"/>
                  </a:ext>
                </a:extLst>
              </a:tr>
              <a:tr h="308425">
                <a:tc>
                  <a:txBody>
                    <a:bodyPr/>
                    <a:lstStyle/>
                    <a:p>
                      <a:r>
                        <a:rPr lang="en-US" sz="1200" noProof="0" dirty="0">
                          <a:latin typeface="Arial" panose="020B0604020202020204" pitchFamily="34" charset="0"/>
                          <a:cs typeface="Arial" panose="020B0604020202020204" pitchFamily="34" charset="0"/>
                        </a:rPr>
                        <a:t>3 </a:t>
                      </a:r>
                      <a:r>
                        <a:rPr lang="en-US" sz="1200" b="1" noProof="0" dirty="0">
                          <a:latin typeface="Arial" panose="020B0604020202020204" pitchFamily="34" charset="0"/>
                          <a:cs typeface="Arial" panose="020B0604020202020204" pitchFamily="34" charset="0"/>
                        </a:rPr>
                        <a:t>Gross Profit</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200" noProof="0">
                          <a:latin typeface="Arial" panose="020B0604020202020204" pitchFamily="34" charset="0"/>
                          <a:cs typeface="Arial" panose="020B0604020202020204" pitchFamily="34" charset="0"/>
                        </a:rPr>
                        <a:t>14,000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200" noProof="0">
                          <a:latin typeface="Arial" panose="020B0604020202020204" pitchFamily="34" charset="0"/>
                          <a:cs typeface="Arial" panose="020B0604020202020204" pitchFamily="34" charset="0"/>
                        </a:rPr>
                        <a:t>15,750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200" noProof="0">
                          <a:latin typeface="Arial" panose="020B0604020202020204" pitchFamily="34" charset="0"/>
                          <a:cs typeface="Arial" panose="020B0604020202020204" pitchFamily="34" charset="0"/>
                        </a:rPr>
                        <a:t>14,175</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200" noProof="0">
                          <a:latin typeface="Arial" panose="020B0604020202020204" pitchFamily="34" charset="0"/>
                          <a:cs typeface="Arial" panose="020B0604020202020204" pitchFamily="34" charset="0"/>
                        </a:rPr>
                        <a:t>5,103</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4085743459"/>
                  </a:ext>
                </a:extLst>
              </a:tr>
              <a:tr h="384071">
                <a:tc>
                  <a:txBody>
                    <a:bodyPr/>
                    <a:lstStyle/>
                    <a:p>
                      <a:r>
                        <a:rPr lang="en-US" sz="1200" noProof="0">
                          <a:latin typeface="Arial" panose="020B0604020202020204" pitchFamily="34" charset="0"/>
                          <a:cs typeface="Arial" panose="020B0604020202020204" pitchFamily="34" charset="0"/>
                        </a:rPr>
                        <a:t>4 Selling, General, and Administrative</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200" noProof="0">
                          <a:latin typeface="Arial" panose="020B0604020202020204" pitchFamily="34" charset="0"/>
                          <a:cs typeface="Arial" panose="020B0604020202020204" pitchFamily="34" charset="0"/>
                        </a:rPr>
                        <a:t>(3,000)</a:t>
                      </a:r>
                    </a:p>
                  </a:txBody>
                  <a:tcP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200" noProof="0">
                          <a:latin typeface="Arial" panose="020B0604020202020204" pitchFamily="34" charset="0"/>
                          <a:cs typeface="Arial" panose="020B0604020202020204" pitchFamily="34" charset="0"/>
                        </a:rPr>
                        <a:t>(3,120)</a:t>
                      </a:r>
                    </a:p>
                  </a:txBody>
                  <a:tcP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200" noProof="0">
                          <a:latin typeface="Arial" panose="020B0604020202020204" pitchFamily="34" charset="0"/>
                          <a:cs typeface="Arial" panose="020B0604020202020204" pitchFamily="34" charset="0"/>
                        </a:rPr>
                        <a:t>(3,245)</a:t>
                      </a:r>
                    </a:p>
                  </a:txBody>
                  <a:tcP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200" noProof="0">
                          <a:latin typeface="Arial" panose="020B0604020202020204" pitchFamily="34" charset="0"/>
                          <a:cs typeface="Arial" panose="020B0604020202020204" pitchFamily="34" charset="0"/>
                        </a:rPr>
                        <a:t>(3,375)</a:t>
                      </a:r>
                    </a:p>
                  </a:txBody>
                  <a:tcP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746575332"/>
                  </a:ext>
                </a:extLst>
              </a:tr>
              <a:tr h="384071">
                <a:tc>
                  <a:txBody>
                    <a:bodyPr/>
                    <a:lstStyle/>
                    <a:p>
                      <a:r>
                        <a:rPr lang="en-US" sz="1200" noProof="0">
                          <a:latin typeface="Arial" panose="020B0604020202020204" pitchFamily="34" charset="0"/>
                          <a:cs typeface="Arial" panose="020B0604020202020204" pitchFamily="34" charset="0"/>
                        </a:rPr>
                        <a:t>5 Research and Development</a:t>
                      </a:r>
                    </a:p>
                  </a:txBody>
                  <a:tcP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200" noProof="0" dirty="0">
                          <a:latin typeface="Arial" panose="020B0604020202020204" pitchFamily="34" charset="0"/>
                          <a:cs typeface="Arial" panose="020B0604020202020204" pitchFamily="34" charset="0"/>
                        </a:rPr>
                        <a:t>(15,000)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689869344"/>
                  </a:ext>
                </a:extLst>
              </a:tr>
              <a:tr h="308425">
                <a:tc>
                  <a:txBody>
                    <a:bodyPr/>
                    <a:lstStyle/>
                    <a:p>
                      <a:r>
                        <a:rPr lang="en-US" sz="1200" noProof="0" dirty="0">
                          <a:latin typeface="Arial" panose="020B0604020202020204" pitchFamily="34" charset="0"/>
                          <a:cs typeface="Arial" panose="020B0604020202020204" pitchFamily="34" charset="0"/>
                        </a:rPr>
                        <a:t>6 Depreciation</a:t>
                      </a:r>
                    </a:p>
                  </a:txBody>
                  <a:tcP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200" noProof="0">
                          <a:latin typeface="Arial" panose="020B0604020202020204" pitchFamily="34" charset="0"/>
                          <a:cs typeface="Arial" panose="020B0604020202020204" pitchFamily="34" charset="0"/>
                        </a:rPr>
                        <a:t>(1,500)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200" noProof="0">
                          <a:latin typeface="Arial" panose="020B0604020202020204" pitchFamily="34" charset="0"/>
                          <a:cs typeface="Arial" panose="020B0604020202020204" pitchFamily="34" charset="0"/>
                        </a:rPr>
                        <a:t>(1,500)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200" noProof="0">
                          <a:latin typeface="Arial" panose="020B0604020202020204" pitchFamily="34" charset="0"/>
                          <a:cs typeface="Arial" panose="020B0604020202020204" pitchFamily="34" charset="0"/>
                        </a:rPr>
                        <a:t>(1,500)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200" noProof="0">
                          <a:latin typeface="Arial" panose="020B0604020202020204" pitchFamily="34" charset="0"/>
                          <a:cs typeface="Arial" panose="020B0604020202020204" pitchFamily="34" charset="0"/>
                        </a:rPr>
                        <a:t>(1,500)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200" noProof="0">
                          <a:latin typeface="Arial" panose="020B0604020202020204" pitchFamily="34" charset="0"/>
                          <a:cs typeface="Arial" panose="020B0604020202020204" pitchFamily="34" charset="0"/>
                        </a:rPr>
                        <a:t>(1,500)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525459360"/>
                  </a:ext>
                </a:extLst>
              </a:tr>
              <a:tr h="308425">
                <a:tc>
                  <a:txBody>
                    <a:bodyPr/>
                    <a:lstStyle/>
                    <a:p>
                      <a:r>
                        <a:rPr lang="en-US" sz="1200" noProof="0" dirty="0">
                          <a:latin typeface="Arial" panose="020B0604020202020204" pitchFamily="34" charset="0"/>
                          <a:cs typeface="Arial" panose="020B0604020202020204" pitchFamily="34" charset="0"/>
                        </a:rPr>
                        <a:t>7 </a:t>
                      </a:r>
                      <a:r>
                        <a:rPr lang="en-US" sz="1200" b="1" noProof="0" dirty="0">
                          <a:latin typeface="Arial" panose="020B0604020202020204" pitchFamily="34" charset="0"/>
                          <a:cs typeface="Arial" panose="020B0604020202020204" pitchFamily="34" charset="0"/>
                        </a:rPr>
                        <a:t>EBIT</a:t>
                      </a:r>
                    </a:p>
                  </a:txBody>
                  <a:tcP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200" noProof="0">
                          <a:latin typeface="Arial" panose="020B0604020202020204" pitchFamily="34" charset="0"/>
                          <a:cs typeface="Arial" panose="020B0604020202020204" pitchFamily="34" charset="0"/>
                        </a:rPr>
                        <a:t>(15,000)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200" noProof="0">
                          <a:latin typeface="Arial" panose="020B0604020202020204" pitchFamily="34" charset="0"/>
                          <a:cs typeface="Arial" panose="020B0604020202020204" pitchFamily="34" charset="0"/>
                        </a:rPr>
                        <a:t>9,500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200" noProof="0">
                          <a:latin typeface="Arial" panose="020B0604020202020204" pitchFamily="34" charset="0"/>
                          <a:cs typeface="Arial" panose="020B0604020202020204" pitchFamily="34" charset="0"/>
                        </a:rPr>
                        <a:t>11,130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200" noProof="0">
                          <a:latin typeface="Arial" panose="020B0604020202020204" pitchFamily="34" charset="0"/>
                          <a:cs typeface="Arial" panose="020B0604020202020204" pitchFamily="34" charset="0"/>
                        </a:rPr>
                        <a:t>9,430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200" noProof="0">
                          <a:latin typeface="Arial" panose="020B0604020202020204" pitchFamily="34" charset="0"/>
                          <a:cs typeface="Arial" panose="020B0604020202020204" pitchFamily="34" charset="0"/>
                        </a:rPr>
                        <a:t>228</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200" noProof="0">
                          <a:latin typeface="Arial" panose="020B0604020202020204" pitchFamily="34" charset="0"/>
                          <a:cs typeface="Arial" panose="020B0604020202020204" pitchFamily="34" charset="0"/>
                        </a:rPr>
                        <a:t>(1,500)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437576983"/>
                  </a:ext>
                </a:extLst>
              </a:tr>
              <a:tr h="308425">
                <a:tc>
                  <a:txBody>
                    <a:bodyPr/>
                    <a:lstStyle/>
                    <a:p>
                      <a:r>
                        <a:rPr lang="en-US" sz="1200" noProof="0" dirty="0">
                          <a:latin typeface="Arial" panose="020B0604020202020204" pitchFamily="34" charset="0"/>
                          <a:cs typeface="Arial" panose="020B0604020202020204" pitchFamily="34" charset="0"/>
                        </a:rPr>
                        <a:t>8 Income Tax at 20%</a:t>
                      </a:r>
                    </a:p>
                  </a:txBody>
                  <a:tcP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200" noProof="0">
                          <a:latin typeface="Arial" panose="020B0604020202020204" pitchFamily="34" charset="0"/>
                          <a:cs typeface="Arial" panose="020B0604020202020204" pitchFamily="34" charset="0"/>
                        </a:rPr>
                        <a:t>3,000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200" noProof="0">
                          <a:latin typeface="Arial" panose="020B0604020202020204" pitchFamily="34" charset="0"/>
                          <a:cs typeface="Arial" panose="020B0604020202020204" pitchFamily="34" charset="0"/>
                        </a:rPr>
                        <a:t>(1,900)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200" noProof="0">
                          <a:latin typeface="Arial" panose="020B0604020202020204" pitchFamily="34" charset="0"/>
                          <a:cs typeface="Arial" panose="020B0604020202020204" pitchFamily="34" charset="0"/>
                        </a:rPr>
                        <a:t>(2,226)</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200" noProof="0">
                          <a:latin typeface="Arial" panose="020B0604020202020204" pitchFamily="34" charset="0"/>
                          <a:cs typeface="Arial" panose="020B0604020202020204" pitchFamily="34" charset="0"/>
                        </a:rPr>
                        <a:t>(1,886)</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200" noProof="0">
                          <a:latin typeface="Arial" panose="020B0604020202020204" pitchFamily="34" charset="0"/>
                          <a:cs typeface="Arial" panose="020B0604020202020204" pitchFamily="34" charset="0"/>
                        </a:rPr>
                        <a:t>(46)</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200" noProof="0">
                          <a:latin typeface="Arial" panose="020B0604020202020204" pitchFamily="34" charset="0"/>
                          <a:cs typeface="Arial" panose="020B0604020202020204" pitchFamily="34" charset="0"/>
                        </a:rPr>
                        <a:t>300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445213511"/>
                  </a:ext>
                </a:extLst>
              </a:tr>
              <a:tr h="308425">
                <a:tc>
                  <a:txBody>
                    <a:bodyPr/>
                    <a:lstStyle/>
                    <a:p>
                      <a:r>
                        <a:rPr lang="en-US" sz="1200" noProof="0">
                          <a:latin typeface="Arial" panose="020B0604020202020204" pitchFamily="34" charset="0"/>
                          <a:cs typeface="Arial" panose="020B0604020202020204" pitchFamily="34" charset="0"/>
                        </a:rPr>
                        <a:t>9 </a:t>
                      </a:r>
                      <a:r>
                        <a:rPr lang="en-US" sz="1200" b="1" noProof="0">
                          <a:latin typeface="Arial" panose="020B0604020202020204" pitchFamily="34" charset="0"/>
                          <a:cs typeface="Arial" panose="020B0604020202020204" pitchFamily="34" charset="0"/>
                        </a:rPr>
                        <a:t>Unlevered Net Income</a:t>
                      </a:r>
                    </a:p>
                  </a:txBody>
                  <a:tcP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200" b="1" noProof="0" dirty="0">
                          <a:latin typeface="Arial" panose="020B0604020202020204" pitchFamily="34" charset="0"/>
                          <a:cs typeface="Arial" panose="020B0604020202020204" pitchFamily="34" charset="0"/>
                        </a:rPr>
                        <a:t>(12,000)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200" b="1" noProof="0">
                          <a:latin typeface="Arial" panose="020B0604020202020204" pitchFamily="34" charset="0"/>
                          <a:cs typeface="Arial" panose="020B0604020202020204" pitchFamily="34" charset="0"/>
                        </a:rPr>
                        <a:t>7,600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200" b="1" noProof="0">
                          <a:latin typeface="Arial" panose="020B0604020202020204" pitchFamily="34" charset="0"/>
                          <a:cs typeface="Arial" panose="020B0604020202020204" pitchFamily="34" charset="0"/>
                        </a:rPr>
                        <a:t>8,904</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200" b="1" noProof="0">
                          <a:latin typeface="Arial" panose="020B0604020202020204" pitchFamily="34" charset="0"/>
                          <a:cs typeface="Arial" panose="020B0604020202020204" pitchFamily="34" charset="0"/>
                        </a:rPr>
                        <a:t>7,544</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200" b="1" noProof="0">
                          <a:latin typeface="Arial" panose="020B0604020202020204" pitchFamily="34" charset="0"/>
                          <a:cs typeface="Arial" panose="020B0604020202020204" pitchFamily="34" charset="0"/>
                        </a:rPr>
                        <a:t>183</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200" b="1" noProof="0" dirty="0">
                          <a:latin typeface="Arial" panose="020B0604020202020204" pitchFamily="34" charset="0"/>
                          <a:cs typeface="Arial" panose="020B0604020202020204" pitchFamily="34" charset="0"/>
                        </a:rPr>
                        <a:t>(1,200)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719318823"/>
                  </a:ext>
                </a:extLst>
              </a:tr>
            </a:tbl>
          </a:graphicData>
        </a:graphic>
      </p:graphicFrame>
      <p:sp>
        <p:nvSpPr>
          <p:cNvPr id="5" name="ZoneTexte 4">
            <a:extLst>
              <a:ext uri="{FF2B5EF4-FFF2-40B4-BE49-F238E27FC236}">
                <a16:creationId xmlns:a16="http://schemas.microsoft.com/office/drawing/2014/main" id="{4B5C90B5-2E12-D568-9C6A-969DB10D36AB}"/>
              </a:ext>
            </a:extLst>
          </p:cNvPr>
          <p:cNvSpPr txBox="1"/>
          <p:nvPr/>
        </p:nvSpPr>
        <p:spPr>
          <a:xfrm>
            <a:off x="445854" y="2339991"/>
            <a:ext cx="979755" cy="369332"/>
          </a:xfrm>
          <a:prstGeom prst="rect">
            <a:avLst/>
          </a:prstGeom>
          <a:noFill/>
        </p:spPr>
        <p:txBody>
          <a:bodyPr wrap="none" rtlCol="0">
            <a:spAutoFit/>
          </a:bodyPr>
          <a:lstStyle/>
          <a:p>
            <a:r>
              <a:rPr lang="fr-FR" sz="1800" b="1" dirty="0"/>
              <a:t>Table 3</a:t>
            </a:r>
          </a:p>
        </p:txBody>
      </p:sp>
    </p:spTree>
    <p:extLst>
      <p:ext uri="{BB962C8B-B14F-4D97-AF65-F5344CB8AC3E}">
        <p14:creationId xmlns:p14="http://schemas.microsoft.com/office/powerpoint/2010/main" val="8575496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8867"/>
            <a:ext cx="8266346" cy="590349"/>
          </a:xfrm>
        </p:spPr>
        <p:txBody>
          <a:bodyPr/>
          <a:lstStyle/>
          <a:p>
            <a:r>
              <a:rPr lang="en-US" dirty="0" err="1"/>
              <a:t>Homenet</a:t>
            </a:r>
            <a:r>
              <a:rPr lang="en-US" dirty="0"/>
              <a:t> Example 3 </a:t>
            </a:r>
            <a:r>
              <a:rPr lang="en-US" sz="2800" dirty="0"/>
              <a:t>(3 of 3)</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45853" y="1783950"/>
            <a:ext cx="5592638" cy="405683"/>
          </a:xfrm>
        </p:spPr>
        <p:txBody>
          <a:bodyPr wrap="square" lIns="0" tIns="18000" rIns="0" bIns="18000" anchor="ctr">
            <a:spAutoFit/>
          </a:bodyPr>
          <a:lstStyle/>
          <a:p>
            <a:pPr marL="0" indent="0">
              <a:spcBef>
                <a:spcPts val="600"/>
              </a:spcBef>
              <a:buNone/>
            </a:pPr>
            <a:r>
              <a:rPr lang="en-US" sz="2400" dirty="0"/>
              <a:t>For example, sale prices in year 2 will be</a:t>
            </a:r>
          </a:p>
        </p:txBody>
      </p:sp>
      <p:graphicFrame>
        <p:nvGraphicFramePr>
          <p:cNvPr id="12" name="Object 11" descr="260 dollars times 0.90 equals 234 dollars.">
            <a:extLst>
              <a:ext uri="{FF2B5EF4-FFF2-40B4-BE49-F238E27FC236}">
                <a16:creationId xmlns:a16="http://schemas.microsoft.com/office/drawing/2014/main" id="{9E549234-AA8D-EF95-FCAC-13FDE6B80FA0}"/>
              </a:ext>
            </a:extLst>
          </p:cNvPr>
          <p:cNvGraphicFramePr>
            <a:graphicFrameLocks noChangeAspect="1"/>
          </p:cNvGraphicFramePr>
          <p:nvPr>
            <p:extLst>
              <p:ext uri="{D42A27DB-BD31-4B8C-83A1-F6EECF244321}">
                <p14:modId xmlns:p14="http://schemas.microsoft.com/office/powerpoint/2010/main" val="1603990425"/>
              </p:ext>
            </p:extLst>
          </p:nvPr>
        </p:nvGraphicFramePr>
        <p:xfrm>
          <a:off x="6116125" y="1854231"/>
          <a:ext cx="2249920" cy="329045"/>
        </p:xfrm>
        <a:graphic>
          <a:graphicData uri="http://schemas.openxmlformats.org/presentationml/2006/ole">
            <mc:AlternateContent xmlns:mc="http://schemas.openxmlformats.org/markup-compatibility/2006">
              <mc:Choice xmlns:v="urn:schemas-microsoft-com:vml" Requires="v">
                <p:oleObj name="Equation" r:id="rId2" imgW="1307880" imgH="190440" progId="Equation.DSMT4">
                  <p:embed/>
                </p:oleObj>
              </mc:Choice>
              <mc:Fallback>
                <p:oleObj name="Equation" r:id="rId2" imgW="1307880" imgH="190440" progId="Equation.DSMT4">
                  <p:embed/>
                  <p:pic>
                    <p:nvPicPr>
                      <p:cNvPr id="9" name="Object 8" descr="$ 260 times 0.90 = $ 234.">
                        <a:extLst>
                          <a:ext uri="{FF2B5EF4-FFF2-40B4-BE49-F238E27FC236}">
                            <a16:creationId xmlns:a16="http://schemas.microsoft.com/office/drawing/2014/main" id="{334A12BA-36ED-4110-8550-74C956CF7B5E}"/>
                          </a:ext>
                        </a:extLst>
                      </p:cNvPr>
                      <p:cNvPicPr/>
                      <p:nvPr/>
                    </p:nvPicPr>
                    <p:blipFill>
                      <a:blip r:embed="rId3"/>
                      <a:stretch>
                        <a:fillRect/>
                      </a:stretch>
                    </p:blipFill>
                    <p:spPr>
                      <a:xfrm>
                        <a:off x="6116125" y="1854231"/>
                        <a:ext cx="2249920" cy="329045"/>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0DD52A53-AA06-30A3-80A8-F6004494B0FE}"/>
              </a:ext>
            </a:extLst>
          </p:cNvPr>
          <p:cNvSpPr>
            <a:spLocks noGrp="1"/>
          </p:cNvSpPr>
          <p:nvPr>
            <p:ph sz="quarter" idx="13"/>
          </p:nvPr>
        </p:nvSpPr>
        <p:spPr>
          <a:xfrm>
            <a:off x="445854" y="2273136"/>
            <a:ext cx="3634440" cy="405683"/>
          </a:xfrm>
        </p:spPr>
        <p:txBody>
          <a:bodyPr wrap="square" lIns="0" tIns="18000" rIns="0" bIns="18000" anchor="ctr">
            <a:spAutoFit/>
          </a:bodyPr>
          <a:lstStyle/>
          <a:p>
            <a:pPr marL="0" indent="0">
              <a:spcBef>
                <a:spcPts val="600"/>
              </a:spcBef>
              <a:buNone/>
            </a:pPr>
            <a:r>
              <a:rPr lang="en-US" sz="2400" dirty="0"/>
              <a:t>per unit for Home Net, and</a:t>
            </a:r>
          </a:p>
        </p:txBody>
      </p:sp>
      <p:graphicFrame>
        <p:nvGraphicFramePr>
          <p:cNvPr id="13" name="Object 12" descr="100 dollars times 0.90 equals 90 dollars per unit.">
            <a:extLst>
              <a:ext uri="{FF2B5EF4-FFF2-40B4-BE49-F238E27FC236}">
                <a16:creationId xmlns:a16="http://schemas.microsoft.com/office/drawing/2014/main" id="{5B9C6AB2-686F-4E8E-66F8-1F8B9375F352}"/>
              </a:ext>
            </a:extLst>
          </p:cNvPr>
          <p:cNvGraphicFramePr>
            <a:graphicFrameLocks noChangeAspect="1"/>
          </p:cNvGraphicFramePr>
          <p:nvPr>
            <p:extLst>
              <p:ext uri="{D42A27DB-BD31-4B8C-83A1-F6EECF244321}">
                <p14:modId xmlns:p14="http://schemas.microsoft.com/office/powerpoint/2010/main" val="1002733309"/>
              </p:ext>
            </p:extLst>
          </p:nvPr>
        </p:nvGraphicFramePr>
        <p:xfrm>
          <a:off x="4159789" y="2330720"/>
          <a:ext cx="3113366" cy="358485"/>
        </p:xfrm>
        <a:graphic>
          <a:graphicData uri="http://schemas.openxmlformats.org/presentationml/2006/ole">
            <mc:AlternateContent xmlns:mc="http://schemas.openxmlformats.org/markup-compatibility/2006">
              <mc:Choice xmlns:v="urn:schemas-microsoft-com:vml" Requires="v">
                <p:oleObj name="Equation" r:id="rId4" imgW="1765080" imgH="203040" progId="Equation.DSMT4">
                  <p:embed/>
                </p:oleObj>
              </mc:Choice>
              <mc:Fallback>
                <p:oleObj name="Equation" r:id="rId4" imgW="1765080" imgH="203040" progId="Equation.DSMT4">
                  <p:embed/>
                  <p:pic>
                    <p:nvPicPr>
                      <p:cNvPr id="10" name="Object 9" descr="$ 100 times 0.90 = $ 90 per unit.">
                        <a:extLst>
                          <a:ext uri="{FF2B5EF4-FFF2-40B4-BE49-F238E27FC236}">
                            <a16:creationId xmlns:a16="http://schemas.microsoft.com/office/drawing/2014/main" id="{682027A4-EED5-4417-9105-CED23C280886}"/>
                          </a:ext>
                        </a:extLst>
                      </p:cNvPr>
                      <p:cNvPicPr/>
                      <p:nvPr/>
                    </p:nvPicPr>
                    <p:blipFill>
                      <a:blip r:embed="rId5"/>
                      <a:stretch>
                        <a:fillRect/>
                      </a:stretch>
                    </p:blipFill>
                    <p:spPr>
                      <a:xfrm>
                        <a:off x="4159789" y="2330720"/>
                        <a:ext cx="3113366" cy="358485"/>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B030C7B8-0389-DAFE-D0DE-7BB944A22220}"/>
              </a:ext>
            </a:extLst>
          </p:cNvPr>
          <p:cNvSpPr>
            <a:spLocks noGrp="1"/>
          </p:cNvSpPr>
          <p:nvPr>
            <p:ph sz="quarter" idx="14"/>
          </p:nvPr>
        </p:nvSpPr>
        <p:spPr>
          <a:xfrm>
            <a:off x="7352650" y="2275781"/>
            <a:ext cx="897147" cy="405683"/>
          </a:xfrm>
        </p:spPr>
        <p:txBody>
          <a:bodyPr wrap="square" lIns="0" tIns="18000" rIns="0" bIns="18000" anchor="ctr">
            <a:spAutoFit/>
          </a:bodyPr>
          <a:lstStyle/>
          <a:p>
            <a:pPr marL="0" indent="0">
              <a:spcBef>
                <a:spcPts val="600"/>
              </a:spcBef>
              <a:buNone/>
            </a:pPr>
            <a:r>
              <a:rPr lang="en-US" sz="2400" dirty="0"/>
              <a:t>for the</a:t>
            </a:r>
          </a:p>
        </p:txBody>
      </p:sp>
      <p:sp>
        <p:nvSpPr>
          <p:cNvPr id="6" name="Content Placeholder 5">
            <a:extLst>
              <a:ext uri="{FF2B5EF4-FFF2-40B4-BE49-F238E27FC236}">
                <a16:creationId xmlns:a16="http://schemas.microsoft.com/office/drawing/2014/main" id="{C1C0ACDD-A35B-25D3-4C63-54D32CBC1EA0}"/>
              </a:ext>
            </a:extLst>
          </p:cNvPr>
          <p:cNvSpPr>
            <a:spLocks noGrp="1"/>
          </p:cNvSpPr>
          <p:nvPr>
            <p:ph sz="quarter" idx="15"/>
          </p:nvPr>
        </p:nvSpPr>
        <p:spPr>
          <a:xfrm>
            <a:off x="445854" y="2779069"/>
            <a:ext cx="7973532" cy="405683"/>
          </a:xfrm>
        </p:spPr>
        <p:txBody>
          <a:bodyPr wrap="square" lIns="0" tIns="18000" rIns="0" bIns="18000" anchor="ctr">
            <a:spAutoFit/>
          </a:bodyPr>
          <a:lstStyle/>
          <a:p>
            <a:pPr marL="0" indent="0">
              <a:spcBef>
                <a:spcPts val="600"/>
              </a:spcBef>
              <a:buNone/>
            </a:pPr>
            <a:r>
              <a:rPr lang="en-US" sz="2400" dirty="0"/>
              <a:t>cannibalized product. Thus, incremental sales in year 2 are</a:t>
            </a:r>
          </a:p>
        </p:txBody>
      </p:sp>
      <p:sp>
        <p:nvSpPr>
          <p:cNvPr id="7" name="Content Placeholder 6">
            <a:extLst>
              <a:ext uri="{FF2B5EF4-FFF2-40B4-BE49-F238E27FC236}">
                <a16:creationId xmlns:a16="http://schemas.microsoft.com/office/drawing/2014/main" id="{08C3A91A-079C-20AC-07FB-018BA09FEBE5}"/>
              </a:ext>
            </a:extLst>
          </p:cNvPr>
          <p:cNvSpPr>
            <a:spLocks noGrp="1"/>
          </p:cNvSpPr>
          <p:nvPr>
            <p:ph sz="quarter" idx="16"/>
          </p:nvPr>
        </p:nvSpPr>
        <p:spPr>
          <a:xfrm>
            <a:off x="445854" y="3285013"/>
            <a:ext cx="1155939" cy="405683"/>
          </a:xfrm>
        </p:spPr>
        <p:txBody>
          <a:bodyPr wrap="square" lIns="0" tIns="18000" rIns="0" bIns="18000" anchor="ctr">
            <a:spAutoFit/>
          </a:bodyPr>
          <a:lstStyle/>
          <a:p>
            <a:pPr marL="0" indent="0">
              <a:spcBef>
                <a:spcPts val="600"/>
              </a:spcBef>
              <a:buNone/>
            </a:pPr>
            <a:r>
              <a:rPr lang="en-US" sz="2400" dirty="0"/>
              <a:t>equal to</a:t>
            </a:r>
          </a:p>
        </p:txBody>
      </p:sp>
      <p:graphicFrame>
        <p:nvGraphicFramePr>
          <p:cNvPr id="18" name="Object 17" descr="125,000 units times left parenthesis 234 dollars per unit right parenthesis minus 31,250.">
            <a:extLst>
              <a:ext uri="{FF2B5EF4-FFF2-40B4-BE49-F238E27FC236}">
                <a16:creationId xmlns:a16="http://schemas.microsoft.com/office/drawing/2014/main" id="{095A14B5-0277-4069-E3A4-CC39D0AB07CB}"/>
              </a:ext>
            </a:extLst>
          </p:cNvPr>
          <p:cNvGraphicFramePr>
            <a:graphicFrameLocks noChangeAspect="1"/>
          </p:cNvGraphicFramePr>
          <p:nvPr>
            <p:extLst>
              <p:ext uri="{D42A27DB-BD31-4B8C-83A1-F6EECF244321}">
                <p14:modId xmlns:p14="http://schemas.microsoft.com/office/powerpoint/2010/main" val="1132841705"/>
              </p:ext>
            </p:extLst>
          </p:nvPr>
        </p:nvGraphicFramePr>
        <p:xfrm>
          <a:off x="1677683" y="3274458"/>
          <a:ext cx="4789033" cy="450490"/>
        </p:xfrm>
        <a:graphic>
          <a:graphicData uri="http://schemas.openxmlformats.org/presentationml/2006/ole">
            <mc:AlternateContent xmlns:mc="http://schemas.openxmlformats.org/markup-compatibility/2006">
              <mc:Choice xmlns:v="urn:schemas-microsoft-com:vml" Requires="v">
                <p:oleObj name="Equation" r:id="rId6" imgW="2705040" imgH="253800" progId="Equation.DSMT4">
                  <p:embed/>
                </p:oleObj>
              </mc:Choice>
              <mc:Fallback>
                <p:oleObj name="Equation" r:id="rId6" imgW="2705040" imgH="253800" progId="Equation.DSMT4">
                  <p:embed/>
                  <p:pic>
                    <p:nvPicPr>
                      <p:cNvPr id="11" name="Object 10" descr="125,000 units times left parenthesis $ 234 per unit right parenthesis minus 31,250.">
                        <a:extLst>
                          <a:ext uri="{FF2B5EF4-FFF2-40B4-BE49-F238E27FC236}">
                            <a16:creationId xmlns:a16="http://schemas.microsoft.com/office/drawing/2014/main" id="{6538F945-6989-4F3F-9C86-E9ED5546AA56}"/>
                          </a:ext>
                        </a:extLst>
                      </p:cNvPr>
                      <p:cNvPicPr/>
                      <p:nvPr/>
                    </p:nvPicPr>
                    <p:blipFill>
                      <a:blip r:embed="rId7"/>
                      <a:stretch>
                        <a:fillRect/>
                      </a:stretch>
                    </p:blipFill>
                    <p:spPr>
                      <a:xfrm>
                        <a:off x="1677683" y="3274458"/>
                        <a:ext cx="4789033" cy="450490"/>
                      </a:xfrm>
                      <a:prstGeom prst="rect">
                        <a:avLst/>
                      </a:prstGeom>
                    </p:spPr>
                  </p:pic>
                </p:oleObj>
              </mc:Fallback>
            </mc:AlternateContent>
          </a:graphicData>
        </a:graphic>
      </p:graphicFrame>
      <p:graphicFrame>
        <p:nvGraphicFramePr>
          <p:cNvPr id="27" name="Object 26" descr="Cannibalized units times left parenthesis 90 dollars per unit right parenthesis equals 26.438 million dollars.">
            <a:extLst>
              <a:ext uri="{FF2B5EF4-FFF2-40B4-BE49-F238E27FC236}">
                <a16:creationId xmlns:a16="http://schemas.microsoft.com/office/drawing/2014/main" id="{DE85F165-CC2B-D52D-D310-284C458CD0A4}"/>
              </a:ext>
            </a:extLst>
          </p:cNvPr>
          <p:cNvGraphicFramePr>
            <a:graphicFrameLocks noChangeAspect="1"/>
          </p:cNvGraphicFramePr>
          <p:nvPr>
            <p:extLst>
              <p:ext uri="{D42A27DB-BD31-4B8C-83A1-F6EECF244321}">
                <p14:modId xmlns:p14="http://schemas.microsoft.com/office/powerpoint/2010/main" val="3743788050"/>
              </p:ext>
            </p:extLst>
          </p:nvPr>
        </p:nvGraphicFramePr>
        <p:xfrm>
          <a:off x="433623" y="3803276"/>
          <a:ext cx="6168159" cy="441614"/>
        </p:xfrm>
        <a:graphic>
          <a:graphicData uri="http://schemas.openxmlformats.org/presentationml/2006/ole">
            <mc:AlternateContent xmlns:mc="http://schemas.openxmlformats.org/markup-compatibility/2006">
              <mc:Choice xmlns:v="urn:schemas-microsoft-com:vml" Requires="v">
                <p:oleObj name="Equation" r:id="rId8" imgW="3555720" imgH="253800" progId="Equation.DSMT4">
                  <p:embed/>
                </p:oleObj>
              </mc:Choice>
              <mc:Fallback>
                <p:oleObj name="Equation" r:id="rId8" imgW="3555720" imgH="253800" progId="Equation.DSMT4">
                  <p:embed/>
                  <p:pic>
                    <p:nvPicPr>
                      <p:cNvPr id="12" name="Object 11" descr="cannibalized units times left parenthesis $ 90 per unit right parenthesis = $ 26.438 million.">
                        <a:extLst>
                          <a:ext uri="{FF2B5EF4-FFF2-40B4-BE49-F238E27FC236}">
                            <a16:creationId xmlns:a16="http://schemas.microsoft.com/office/drawing/2014/main" id="{F52323AE-92E8-41BF-97BA-64D0C6BC2F1C}"/>
                          </a:ext>
                        </a:extLst>
                      </p:cNvPr>
                      <p:cNvPicPr/>
                      <p:nvPr/>
                    </p:nvPicPr>
                    <p:blipFill>
                      <a:blip r:embed="rId9"/>
                      <a:stretch>
                        <a:fillRect/>
                      </a:stretch>
                    </p:blipFill>
                    <p:spPr>
                      <a:xfrm>
                        <a:off x="433623" y="3803276"/>
                        <a:ext cx="6168159" cy="441614"/>
                      </a:xfrm>
                      <a:prstGeom prst="rect">
                        <a:avLst/>
                      </a:prstGeom>
                    </p:spPr>
                  </p:pic>
                </p:oleObj>
              </mc:Fallback>
            </mc:AlternateContent>
          </a:graphicData>
        </a:graphic>
      </p:graphicFrame>
    </p:spTree>
    <p:extLst>
      <p:ext uri="{BB962C8B-B14F-4D97-AF65-F5344CB8AC3E}">
        <p14:creationId xmlns:p14="http://schemas.microsoft.com/office/powerpoint/2010/main" val="18621516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211933" y="142920"/>
            <a:ext cx="8698146" cy="1144347"/>
          </a:xfrm>
        </p:spPr>
        <p:txBody>
          <a:bodyPr/>
          <a:lstStyle/>
          <a:p>
            <a:r>
              <a:rPr lang="en-US" dirty="0"/>
              <a:t>2. Determining Free Cash Flow and </a:t>
            </a:r>
            <a:r>
              <a:rPr lang="en-US" spc="-500" dirty="0"/>
              <a:t>N P </a:t>
            </a:r>
            <a:r>
              <a:rPr lang="en-US" dirty="0"/>
              <a:t>V</a:t>
            </a:r>
            <a:endParaRPr lang="en-US" sz="2800" dirty="0"/>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1708956"/>
            <a:ext cx="8266346" cy="775015"/>
          </a:xfrm>
        </p:spPr>
        <p:txBody>
          <a:bodyPr wrap="square" lIns="0" tIns="18000" rIns="0" bIns="18000" anchor="ctr">
            <a:spAutoFit/>
          </a:bodyPr>
          <a:lstStyle/>
          <a:p>
            <a:pPr marL="0" indent="0">
              <a:buNone/>
            </a:pPr>
            <a:r>
              <a:rPr lang="en-US" altLang="en-US" sz="2400" dirty="0"/>
              <a:t>The incremental effect of a project on a firm’s available cash is its </a:t>
            </a:r>
            <a:r>
              <a:rPr lang="en-US" altLang="en-US" sz="2400" b="1" dirty="0"/>
              <a:t>free cash flow</a:t>
            </a:r>
          </a:p>
        </p:txBody>
      </p:sp>
    </p:spTree>
    <p:extLst>
      <p:ext uri="{BB962C8B-B14F-4D97-AF65-F5344CB8AC3E}">
        <p14:creationId xmlns:p14="http://schemas.microsoft.com/office/powerpoint/2010/main" val="40782948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7351"/>
            <a:ext cx="8257720" cy="1144347"/>
          </a:xfrm>
        </p:spPr>
        <p:txBody>
          <a:bodyPr/>
          <a:lstStyle/>
          <a:p>
            <a:r>
              <a:rPr lang="en-US" dirty="0"/>
              <a:t>Calculating the Free Cash Flow from Earnings </a:t>
            </a:r>
            <a:r>
              <a:rPr lang="en-US" sz="2800" dirty="0"/>
              <a:t>(1 of 4)</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1697898"/>
            <a:ext cx="8266346" cy="3298783"/>
          </a:xfrm>
        </p:spPr>
        <p:txBody>
          <a:bodyPr wrap="square" lIns="0" tIns="18000" rIns="0" bIns="18000" anchor="ctr">
            <a:spAutoFit/>
          </a:bodyPr>
          <a:lstStyle/>
          <a:p>
            <a:pPr marL="342900" indent="-342900">
              <a:spcBef>
                <a:spcPts val="600"/>
              </a:spcBef>
            </a:pPr>
            <a:r>
              <a:rPr lang="en-US" altLang="en-US" sz="2400" dirty="0"/>
              <a:t>Capital Expenditures and Depreciation</a:t>
            </a:r>
          </a:p>
          <a:p>
            <a:pPr marL="829818" lvl="1" indent="-342900"/>
            <a:r>
              <a:rPr lang="en-US" altLang="en-US" sz="2400" dirty="0"/>
              <a:t>Capital Expenditures are the actual cash outflows when an asset is purchased</a:t>
            </a:r>
          </a:p>
          <a:p>
            <a:pPr marL="1229868" lvl="2" indent="-342900"/>
            <a:r>
              <a:rPr lang="en-US" altLang="en-US" sz="2400" dirty="0"/>
              <a:t>These cash outflows are included in calculating free cash flow</a:t>
            </a:r>
          </a:p>
          <a:p>
            <a:pPr marL="829818" lvl="1" indent="-342900"/>
            <a:r>
              <a:rPr lang="en-US" altLang="en-US" sz="2400" dirty="0"/>
              <a:t>Depreciation is a non-cash expense</a:t>
            </a:r>
          </a:p>
          <a:p>
            <a:pPr marL="1229868" lvl="2" indent="-342900"/>
            <a:r>
              <a:rPr lang="en-US" altLang="en-US" sz="2400" dirty="0"/>
              <a:t>The free cash flow estimate is adjusted for this non-cash expense</a:t>
            </a:r>
          </a:p>
        </p:txBody>
      </p:sp>
    </p:spTree>
    <p:extLst>
      <p:ext uri="{BB962C8B-B14F-4D97-AF65-F5344CB8AC3E}">
        <p14:creationId xmlns:p14="http://schemas.microsoft.com/office/powerpoint/2010/main" val="8978280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7351"/>
            <a:ext cx="8266346" cy="1144347"/>
          </a:xfrm>
        </p:spPr>
        <p:txBody>
          <a:bodyPr/>
          <a:lstStyle/>
          <a:p>
            <a:r>
              <a:rPr lang="en-US" dirty="0"/>
              <a:t>Calculating the Free Cash Flow from Earnings </a:t>
            </a:r>
            <a:r>
              <a:rPr lang="en-US" sz="2800" dirty="0"/>
              <a:t>(3 of 4)</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45854" y="1738425"/>
            <a:ext cx="8266346" cy="374906"/>
          </a:xfrm>
        </p:spPr>
        <p:txBody>
          <a:bodyPr wrap="square" lIns="0" tIns="18000" rIns="0" bIns="18000" anchor="ctr">
            <a:spAutoFit/>
          </a:bodyPr>
          <a:lstStyle/>
          <a:p>
            <a:pPr marL="342900" indent="-342900">
              <a:spcBef>
                <a:spcPts val="600"/>
              </a:spcBef>
            </a:pPr>
            <a:r>
              <a:rPr lang="en-US" altLang="en-US" sz="2200" dirty="0"/>
              <a:t>Net Working Capital (</a:t>
            </a:r>
            <a:r>
              <a:rPr lang="en-US" altLang="en-US" sz="2200" spc="-300" dirty="0"/>
              <a:t>N W </a:t>
            </a:r>
            <a:r>
              <a:rPr lang="en-US" altLang="en-US" sz="2200" dirty="0"/>
              <a:t>C)</a:t>
            </a:r>
          </a:p>
        </p:txBody>
      </p:sp>
      <p:graphicFrame>
        <p:nvGraphicFramePr>
          <p:cNvPr id="4" name="Object 0" descr="Net working capital equals current assets minus current liabilities.">
            <a:extLst>
              <a:ext uri="{FF2B5EF4-FFF2-40B4-BE49-F238E27FC236}">
                <a16:creationId xmlns:a16="http://schemas.microsoft.com/office/drawing/2014/main" id="{A8A64C08-2008-66A8-2D46-FBD9CDB26079}"/>
              </a:ext>
            </a:extLst>
          </p:cNvPr>
          <p:cNvGraphicFramePr>
            <a:graphicFrameLocks noChangeAspect="1"/>
          </p:cNvGraphicFramePr>
          <p:nvPr>
            <p:extLst>
              <p:ext uri="{D42A27DB-BD31-4B8C-83A1-F6EECF244321}">
                <p14:modId xmlns:p14="http://schemas.microsoft.com/office/powerpoint/2010/main" val="3412536899"/>
              </p:ext>
            </p:extLst>
          </p:nvPr>
        </p:nvGraphicFramePr>
        <p:xfrm>
          <a:off x="787400" y="2259289"/>
          <a:ext cx="6669088" cy="355600"/>
        </p:xfrm>
        <a:graphic>
          <a:graphicData uri="http://schemas.openxmlformats.org/presentationml/2006/ole">
            <mc:AlternateContent xmlns:mc="http://schemas.openxmlformats.org/markup-compatibility/2006">
              <mc:Choice xmlns:v="urn:schemas-microsoft-com:vml" Requires="v">
                <p:oleObj name="Equation" r:id="rId2" imgW="3936960" imgH="203040" progId="Equation.DSMT4">
                  <p:embed/>
                </p:oleObj>
              </mc:Choice>
              <mc:Fallback>
                <p:oleObj name="Equation" r:id="rId2" imgW="3936960" imgH="203040" progId="Equation.DSMT4">
                  <p:embed/>
                  <p:pic>
                    <p:nvPicPr>
                      <p:cNvPr id="4" name="Object 0" descr="&quot;Net Working Capital = Current Assets minus Current Liabilities&#10;= Cash + Inventory + Receivables minus Payables"/>
                      <p:cNvPicPr>
                        <a:picLocks noChangeAspect="1" noChangeArrowheads="1"/>
                      </p:cNvPicPr>
                      <p:nvPr/>
                    </p:nvPicPr>
                    <p:blipFill>
                      <a:blip r:embed="rId3"/>
                      <a:srcRect/>
                      <a:stretch>
                        <a:fillRect/>
                      </a:stretch>
                    </p:blipFill>
                    <p:spPr bwMode="auto">
                      <a:xfrm>
                        <a:off x="787400" y="2259289"/>
                        <a:ext cx="6669088" cy="355600"/>
                      </a:xfrm>
                      <a:prstGeom prst="rect">
                        <a:avLst/>
                      </a:prstGeom>
                      <a:noFill/>
                      <a:ln>
                        <a:noFill/>
                      </a:ln>
                    </p:spPr>
                  </p:pic>
                </p:oleObj>
              </mc:Fallback>
            </mc:AlternateContent>
          </a:graphicData>
        </a:graphic>
      </p:graphicFrame>
      <p:graphicFrame>
        <p:nvGraphicFramePr>
          <p:cNvPr id="7" name="Object 0" descr="Equals cash plus inventory plus receivables minus payables.">
            <a:extLst>
              <a:ext uri="{FF2B5EF4-FFF2-40B4-BE49-F238E27FC236}">
                <a16:creationId xmlns:a16="http://schemas.microsoft.com/office/drawing/2014/main" id="{F3BE9E03-2AA9-6D06-1F5E-C62D7C012E40}"/>
              </a:ext>
            </a:extLst>
          </p:cNvPr>
          <p:cNvGraphicFramePr>
            <a:graphicFrameLocks noChangeAspect="1"/>
          </p:cNvGraphicFramePr>
          <p:nvPr>
            <p:extLst>
              <p:ext uri="{D42A27DB-BD31-4B8C-83A1-F6EECF244321}">
                <p14:modId xmlns:p14="http://schemas.microsoft.com/office/powerpoint/2010/main" val="3522512778"/>
              </p:ext>
            </p:extLst>
          </p:nvPr>
        </p:nvGraphicFramePr>
        <p:xfrm>
          <a:off x="3184788" y="2702454"/>
          <a:ext cx="5248275" cy="355600"/>
        </p:xfrm>
        <a:graphic>
          <a:graphicData uri="http://schemas.openxmlformats.org/presentationml/2006/ole">
            <mc:AlternateContent xmlns:mc="http://schemas.openxmlformats.org/markup-compatibility/2006">
              <mc:Choice xmlns:v="urn:schemas-microsoft-com:vml" Requires="v">
                <p:oleObj name="Equation" r:id="rId4" imgW="3098520" imgH="203040" progId="Equation.DSMT4">
                  <p:embed/>
                </p:oleObj>
              </mc:Choice>
              <mc:Fallback>
                <p:oleObj name="Equation" r:id="rId4" imgW="3098520" imgH="203040" progId="Equation.DSMT4">
                  <p:embed/>
                  <p:pic>
                    <p:nvPicPr>
                      <p:cNvPr id="4" name="Object 0">
                        <a:extLst>
                          <a:ext uri="{FF2B5EF4-FFF2-40B4-BE49-F238E27FC236}">
                            <a16:creationId xmlns:a16="http://schemas.microsoft.com/office/drawing/2014/main" id="{A8A64C08-2008-66A8-2D46-FBD9CDB26079}"/>
                          </a:ext>
                        </a:extLst>
                      </p:cNvPr>
                      <p:cNvPicPr>
                        <a:picLocks noChangeAspect="1" noChangeArrowheads="1"/>
                      </p:cNvPicPr>
                      <p:nvPr/>
                    </p:nvPicPr>
                    <p:blipFill>
                      <a:blip r:embed="rId5"/>
                      <a:srcRect/>
                      <a:stretch>
                        <a:fillRect/>
                      </a:stretch>
                    </p:blipFill>
                    <p:spPr bwMode="auto">
                      <a:xfrm>
                        <a:off x="3184788" y="2702454"/>
                        <a:ext cx="5248275" cy="355600"/>
                      </a:xfrm>
                      <a:prstGeom prst="rect">
                        <a:avLst/>
                      </a:prstGeom>
                      <a:noFill/>
                      <a:ln>
                        <a:noFill/>
                      </a:ln>
                    </p:spPr>
                  </p:pic>
                </p:oleObj>
              </mc:Fallback>
            </mc:AlternateContent>
          </a:graphicData>
        </a:graphic>
      </p:graphicFrame>
      <p:sp>
        <p:nvSpPr>
          <p:cNvPr id="5" name="Content Placeholder 4">
            <a:extLst>
              <a:ext uri="{FF2B5EF4-FFF2-40B4-BE49-F238E27FC236}">
                <a16:creationId xmlns:a16="http://schemas.microsoft.com/office/drawing/2014/main" id="{B030C7B8-0389-DAFE-D0DE-7BB944A22220}"/>
              </a:ext>
            </a:extLst>
          </p:cNvPr>
          <p:cNvSpPr>
            <a:spLocks noGrp="1"/>
          </p:cNvSpPr>
          <p:nvPr>
            <p:ph sz="quarter" idx="14"/>
          </p:nvPr>
        </p:nvSpPr>
        <p:spPr>
          <a:xfrm>
            <a:off x="445855" y="3150951"/>
            <a:ext cx="8266345" cy="2036899"/>
          </a:xfrm>
        </p:spPr>
        <p:txBody>
          <a:bodyPr wrap="square" lIns="0" tIns="18000" rIns="0" bIns="18000" anchor="ctr">
            <a:spAutoFit/>
          </a:bodyPr>
          <a:lstStyle/>
          <a:p>
            <a:pPr marL="829818" lvl="1" indent="-342900"/>
            <a:r>
              <a:rPr lang="en-US" altLang="en-US" sz="2400" dirty="0"/>
              <a:t>Most projects will require an investment in net working capital</a:t>
            </a:r>
          </a:p>
          <a:p>
            <a:pPr marL="1229868" lvl="2" indent="-342900"/>
            <a:r>
              <a:rPr lang="en-US" altLang="en-US" sz="2400" b="1" dirty="0"/>
              <a:t>Trade credit</a:t>
            </a:r>
            <a:r>
              <a:rPr lang="en-US" altLang="en-US" sz="2400" dirty="0"/>
              <a:t> is the difference between receivables </a:t>
            </a:r>
            <a:br>
              <a:rPr lang="en-US" altLang="en-US" sz="2400" dirty="0"/>
            </a:br>
            <a:r>
              <a:rPr lang="en-US" altLang="en-US" sz="2400" dirty="0"/>
              <a:t>and payables</a:t>
            </a:r>
          </a:p>
          <a:p>
            <a:pPr marL="829818" lvl="1" indent="-342900"/>
            <a:r>
              <a:rPr lang="en-US" altLang="en-US" sz="2400" dirty="0"/>
              <a:t>The increase in net working capital is defined as</a:t>
            </a:r>
          </a:p>
        </p:txBody>
      </p:sp>
      <p:graphicFrame>
        <p:nvGraphicFramePr>
          <p:cNvPr id="6" name="Object 1" descr="Delta N W C subscript t baseline equals N W C subscript t baseline minus N W C subscript t minus 1 baseline.">
            <a:extLst>
              <a:ext uri="{FF2B5EF4-FFF2-40B4-BE49-F238E27FC236}">
                <a16:creationId xmlns:a16="http://schemas.microsoft.com/office/drawing/2014/main" id="{12356AF1-7B5B-F540-9DFA-B45F9D4ADFCE}"/>
              </a:ext>
            </a:extLst>
          </p:cNvPr>
          <p:cNvGraphicFramePr>
            <a:graphicFrameLocks noChangeAspect="1"/>
          </p:cNvGraphicFramePr>
          <p:nvPr>
            <p:extLst>
              <p:ext uri="{D42A27DB-BD31-4B8C-83A1-F6EECF244321}">
                <p14:modId xmlns:p14="http://schemas.microsoft.com/office/powerpoint/2010/main" val="3773251807"/>
              </p:ext>
            </p:extLst>
          </p:nvPr>
        </p:nvGraphicFramePr>
        <p:xfrm>
          <a:off x="3207121" y="5378867"/>
          <a:ext cx="2715025" cy="345969"/>
        </p:xfrm>
        <a:graphic>
          <a:graphicData uri="http://schemas.openxmlformats.org/presentationml/2006/ole">
            <mc:AlternateContent xmlns:mc="http://schemas.openxmlformats.org/markup-compatibility/2006">
              <mc:Choice xmlns:v="urn:schemas-microsoft-com:vml" Requires="v">
                <p:oleObj name="Equation" r:id="rId6" imgW="1803240" imgH="228600" progId="Equation.DSMT4">
                  <p:embed/>
                </p:oleObj>
              </mc:Choice>
              <mc:Fallback>
                <p:oleObj name="Equation" r:id="rId6" imgW="1803240" imgH="228600" progId="Equation.DSMT4">
                  <p:embed/>
                  <p:pic>
                    <p:nvPicPr>
                      <p:cNvPr id="5" name="Object 1" descr="Delta N W C sub t = N W C sub t minus N W C sub t minus 1."/>
                      <p:cNvPicPr>
                        <a:picLocks noChangeAspect="1" noChangeArrowheads="1"/>
                      </p:cNvPicPr>
                      <p:nvPr/>
                    </p:nvPicPr>
                    <p:blipFill>
                      <a:blip r:embed="rId7"/>
                      <a:srcRect/>
                      <a:stretch>
                        <a:fillRect/>
                      </a:stretch>
                    </p:blipFill>
                    <p:spPr bwMode="auto">
                      <a:xfrm>
                        <a:off x="3207121" y="5378867"/>
                        <a:ext cx="2715025" cy="3459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0799744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7351"/>
            <a:ext cx="8257720" cy="1144347"/>
          </a:xfrm>
        </p:spPr>
        <p:txBody>
          <a:bodyPr/>
          <a:lstStyle/>
          <a:p>
            <a:r>
              <a:rPr lang="en-US" dirty="0"/>
              <a:t>Calculating the Free Cash Flow from Earnings </a:t>
            </a:r>
            <a:r>
              <a:rPr lang="en-US" sz="2800" dirty="0"/>
              <a:t>(4 of 4)</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560719" y="1929152"/>
            <a:ext cx="8266346" cy="313350"/>
          </a:xfrm>
        </p:spPr>
        <p:txBody>
          <a:bodyPr wrap="square" lIns="0" tIns="18000" rIns="0" bIns="18000" anchor="ctr">
            <a:spAutoFit/>
          </a:bodyPr>
          <a:lstStyle/>
          <a:p>
            <a:pPr marL="0" indent="0">
              <a:spcBef>
                <a:spcPts val="600"/>
              </a:spcBef>
              <a:buNone/>
            </a:pPr>
            <a:r>
              <a:rPr lang="en-US" altLang="en-US" sz="1800" b="1" dirty="0"/>
              <a:t>Table 4 : </a:t>
            </a:r>
            <a:r>
              <a:rPr lang="en-US" altLang="en-US" sz="1800" dirty="0" err="1"/>
              <a:t>HomeNet’s</a:t>
            </a:r>
            <a:r>
              <a:rPr lang="en-US" altLang="en-US" sz="1800" dirty="0"/>
              <a:t> Net Working Capital Requirements</a:t>
            </a:r>
          </a:p>
        </p:txBody>
      </p:sp>
      <p:graphicFrame>
        <p:nvGraphicFramePr>
          <p:cNvPr id="6" name="Table 8">
            <a:extLst>
              <a:ext uri="{FF2B5EF4-FFF2-40B4-BE49-F238E27FC236}">
                <a16:creationId xmlns:a16="http://schemas.microsoft.com/office/drawing/2014/main" id="{9C6A3D78-6FE6-DCA4-F5A3-F9198F2AFFBE}"/>
              </a:ext>
            </a:extLst>
          </p:cNvPr>
          <p:cNvGraphicFramePr>
            <a:graphicFrameLocks/>
          </p:cNvGraphicFramePr>
          <p:nvPr>
            <p:custDataLst>
              <p:tags r:id="rId1"/>
            </p:custDataLst>
            <p:extLst>
              <p:ext uri="{D42A27DB-BD31-4B8C-83A1-F6EECF244321}">
                <p14:modId xmlns:p14="http://schemas.microsoft.com/office/powerpoint/2010/main" val="298214247"/>
              </p:ext>
            </p:extLst>
          </p:nvPr>
        </p:nvGraphicFramePr>
        <p:xfrm>
          <a:off x="560719" y="2707159"/>
          <a:ext cx="7849635" cy="3417196"/>
        </p:xfrm>
        <a:graphic>
          <a:graphicData uri="http://schemas.openxmlformats.org/drawingml/2006/table">
            <a:tbl>
              <a:tblPr firstRow="1" firstCol="1" bandRow="1">
                <a:tableStyleId>{2D5ABB26-0587-4C30-8999-92F81FD0307C}</a:tableStyleId>
              </a:tblPr>
              <a:tblGrid>
                <a:gridCol w="2235290">
                  <a:extLst>
                    <a:ext uri="{9D8B030D-6E8A-4147-A177-3AD203B41FA5}">
                      <a16:colId xmlns:a16="http://schemas.microsoft.com/office/drawing/2014/main" val="1072788600"/>
                    </a:ext>
                  </a:extLst>
                </a:gridCol>
                <a:gridCol w="899938">
                  <a:extLst>
                    <a:ext uri="{9D8B030D-6E8A-4147-A177-3AD203B41FA5}">
                      <a16:colId xmlns:a16="http://schemas.microsoft.com/office/drawing/2014/main" val="3472170879"/>
                    </a:ext>
                  </a:extLst>
                </a:gridCol>
                <a:gridCol w="941054">
                  <a:extLst>
                    <a:ext uri="{9D8B030D-6E8A-4147-A177-3AD203B41FA5}">
                      <a16:colId xmlns:a16="http://schemas.microsoft.com/office/drawing/2014/main" val="3138202961"/>
                    </a:ext>
                  </a:extLst>
                </a:gridCol>
                <a:gridCol w="895372">
                  <a:extLst>
                    <a:ext uri="{9D8B030D-6E8A-4147-A177-3AD203B41FA5}">
                      <a16:colId xmlns:a16="http://schemas.microsoft.com/office/drawing/2014/main" val="2803300867"/>
                    </a:ext>
                  </a:extLst>
                </a:gridCol>
                <a:gridCol w="913644">
                  <a:extLst>
                    <a:ext uri="{9D8B030D-6E8A-4147-A177-3AD203B41FA5}">
                      <a16:colId xmlns:a16="http://schemas.microsoft.com/office/drawing/2014/main" val="4017893901"/>
                    </a:ext>
                  </a:extLst>
                </a:gridCol>
                <a:gridCol w="1041555">
                  <a:extLst>
                    <a:ext uri="{9D8B030D-6E8A-4147-A177-3AD203B41FA5}">
                      <a16:colId xmlns:a16="http://schemas.microsoft.com/office/drawing/2014/main" val="1149501218"/>
                    </a:ext>
                  </a:extLst>
                </a:gridCol>
                <a:gridCol w="922782">
                  <a:extLst>
                    <a:ext uri="{9D8B030D-6E8A-4147-A177-3AD203B41FA5}">
                      <a16:colId xmlns:a16="http://schemas.microsoft.com/office/drawing/2014/main" val="1655472148"/>
                    </a:ext>
                  </a:extLst>
                </a:gridCol>
              </a:tblGrid>
              <a:tr h="415015">
                <a:tc>
                  <a:txBody>
                    <a:bodyPr/>
                    <a:lstStyle/>
                    <a:p>
                      <a:pPr algn="ctr"/>
                      <a:r>
                        <a:rPr lang="en-US" sz="1400" b="1" noProof="0" dirty="0">
                          <a:solidFill>
                            <a:schemeClr val="bg1"/>
                          </a:solidFill>
                          <a:latin typeface="Arial" panose="020B0604020202020204" pitchFamily="34" charset="0"/>
                          <a:cs typeface="Arial" panose="020B0604020202020204" pitchFamily="34" charset="0"/>
                        </a:rPr>
                        <a:t>Year</a:t>
                      </a:r>
                    </a:p>
                  </a:txBody>
                  <a:tcP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400" b="1" noProof="0" dirty="0">
                          <a:solidFill>
                            <a:schemeClr val="bg1"/>
                          </a:solidFill>
                          <a:latin typeface="Arial" panose="020B0604020202020204" pitchFamily="34" charset="0"/>
                          <a:cs typeface="Arial" panose="020B0604020202020204" pitchFamily="34" charset="0"/>
                        </a:rPr>
                        <a:t>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400" b="1" noProof="0" dirty="0">
                          <a:solidFill>
                            <a:schemeClr val="bg1"/>
                          </a:solidFill>
                          <a:latin typeface="Arial" panose="020B0604020202020204" pitchFamily="34" charset="0"/>
                          <a:cs typeface="Arial" panose="020B0604020202020204" pitchFamily="34" charset="0"/>
                        </a:rPr>
                        <a:t>1</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400" b="1" noProof="0" dirty="0">
                          <a:solidFill>
                            <a:schemeClr val="bg1"/>
                          </a:solidFill>
                          <a:latin typeface="Arial" panose="020B0604020202020204" pitchFamily="34" charset="0"/>
                          <a:cs typeface="Arial" panose="020B0604020202020204" pitchFamily="34" charset="0"/>
                        </a:rPr>
                        <a:t>2</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400" b="1" noProof="0" dirty="0">
                          <a:solidFill>
                            <a:schemeClr val="bg1"/>
                          </a:solidFill>
                          <a:latin typeface="Arial" panose="020B0604020202020204" pitchFamily="34" charset="0"/>
                          <a:cs typeface="Arial" panose="020B0604020202020204" pitchFamily="34" charset="0"/>
                        </a:rPr>
                        <a:t>3</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400" b="1" noProof="0" dirty="0">
                          <a:solidFill>
                            <a:schemeClr val="bg1"/>
                          </a:solidFill>
                          <a:latin typeface="Arial" panose="020B0604020202020204" pitchFamily="34" charset="0"/>
                          <a:cs typeface="Arial" panose="020B0604020202020204" pitchFamily="34" charset="0"/>
                        </a:rPr>
                        <a:t>4</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400" b="1" noProof="0" dirty="0">
                          <a:solidFill>
                            <a:schemeClr val="bg1"/>
                          </a:solidFill>
                          <a:latin typeface="Arial" panose="020B0604020202020204" pitchFamily="34" charset="0"/>
                          <a:cs typeface="Arial" panose="020B0604020202020204" pitchFamily="34" charset="0"/>
                        </a:rPr>
                        <a:t>5</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490851856"/>
                  </a:ext>
                </a:extLst>
              </a:tr>
              <a:tr h="585712">
                <a:tc>
                  <a:txBody>
                    <a:bodyPr/>
                    <a:lstStyle/>
                    <a:p>
                      <a:r>
                        <a:rPr lang="en-US" sz="1400" b="1" noProof="0" dirty="0">
                          <a:latin typeface="Arial" panose="020B0604020202020204" pitchFamily="34" charset="0"/>
                          <a:cs typeface="Arial" panose="020B0604020202020204" pitchFamily="34" charset="0"/>
                        </a:rPr>
                        <a:t>Net Working Capital Forecast ($000s)</a:t>
                      </a:r>
                    </a:p>
                  </a:txBody>
                  <a:tcP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321591484"/>
                  </a:ext>
                </a:extLst>
              </a:tr>
              <a:tr h="415015">
                <a:tc>
                  <a:txBody>
                    <a:bodyPr/>
                    <a:lstStyle/>
                    <a:p>
                      <a:r>
                        <a:rPr lang="en-US" sz="1400" noProof="0">
                          <a:latin typeface="Arial" panose="020B0604020202020204" pitchFamily="34" charset="0"/>
                          <a:cs typeface="Arial" panose="020B0604020202020204" pitchFamily="34" charset="0"/>
                        </a:rPr>
                        <a:t>1 Cash Requirements</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dirty="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661540150"/>
                  </a:ext>
                </a:extLst>
              </a:tr>
              <a:tr h="415015">
                <a:tc>
                  <a:txBody>
                    <a:bodyPr/>
                    <a:lstStyle/>
                    <a:p>
                      <a:r>
                        <a:rPr lang="en-US" sz="1400" noProof="0">
                          <a:latin typeface="Arial" panose="020B0604020202020204" pitchFamily="34" charset="0"/>
                          <a:cs typeface="Arial" panose="020B0604020202020204" pitchFamily="34" charset="0"/>
                        </a:rPr>
                        <a:t>2 Inventory</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dirty="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029354084"/>
                  </a:ext>
                </a:extLst>
              </a:tr>
              <a:tr h="585712">
                <a:tc>
                  <a:txBody>
                    <a:bodyPr/>
                    <a:lstStyle/>
                    <a:p>
                      <a:r>
                        <a:rPr lang="en-US" sz="1400" noProof="0">
                          <a:latin typeface="Arial" panose="020B0604020202020204" pitchFamily="34" charset="0"/>
                          <a:cs typeface="Arial" panose="020B0604020202020204" pitchFamily="34" charset="0"/>
                        </a:rPr>
                        <a:t>3 Receivables (15% of Sales)</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3,525</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3,525</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3,525</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3,525</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4085743459"/>
                  </a:ext>
                </a:extLst>
              </a:tr>
              <a:tr h="585712">
                <a:tc>
                  <a:txBody>
                    <a:bodyPr/>
                    <a:lstStyle/>
                    <a:p>
                      <a:r>
                        <a:rPr lang="en-US" sz="1400" noProof="0">
                          <a:latin typeface="Arial" panose="020B0604020202020204" pitchFamily="34" charset="0"/>
                          <a:cs typeface="Arial" panose="020B0604020202020204" pitchFamily="34" charset="0"/>
                        </a:rPr>
                        <a:t>4 Payables (15% of COGS)</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(1,425)</a:t>
                      </a:r>
                    </a:p>
                  </a:txBody>
                  <a:tcP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(1,425)</a:t>
                      </a:r>
                    </a:p>
                  </a:txBody>
                  <a:tcP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(1,425)</a:t>
                      </a:r>
                    </a:p>
                  </a:txBody>
                  <a:tcP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noProof="0">
                          <a:latin typeface="Arial" panose="020B0604020202020204" pitchFamily="34" charset="0"/>
                          <a:cs typeface="Arial" panose="020B0604020202020204" pitchFamily="34" charset="0"/>
                        </a:rPr>
                        <a:t>(1,425)</a:t>
                      </a:r>
                    </a:p>
                  </a:txBody>
                  <a:tcP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746575332"/>
                  </a:ext>
                </a:extLst>
              </a:tr>
              <a:tr h="415015">
                <a:tc>
                  <a:txBody>
                    <a:bodyPr/>
                    <a:lstStyle/>
                    <a:p>
                      <a:r>
                        <a:rPr lang="en-US" sz="1400" noProof="0" dirty="0">
                          <a:latin typeface="Arial" panose="020B0604020202020204" pitchFamily="34" charset="0"/>
                          <a:cs typeface="Arial" panose="020B0604020202020204" pitchFamily="34" charset="0"/>
                        </a:rPr>
                        <a:t>5 </a:t>
                      </a:r>
                      <a:r>
                        <a:rPr lang="en-US" sz="1400" b="1" noProof="0" dirty="0">
                          <a:latin typeface="Arial" panose="020B0604020202020204" pitchFamily="34" charset="0"/>
                          <a:cs typeface="Arial" panose="020B0604020202020204" pitchFamily="34" charset="0"/>
                        </a:rPr>
                        <a:t>Net Working Capital</a:t>
                      </a:r>
                    </a:p>
                  </a:txBody>
                  <a:tcP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dirty="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b="1" noProof="0">
                          <a:latin typeface="Arial" panose="020B0604020202020204" pitchFamily="34" charset="0"/>
                          <a:cs typeface="Arial" panose="020B0604020202020204" pitchFamily="34" charset="0"/>
                        </a:rPr>
                        <a:t>2,100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b="1" noProof="0">
                          <a:latin typeface="Arial" panose="020B0604020202020204" pitchFamily="34" charset="0"/>
                          <a:cs typeface="Arial" panose="020B0604020202020204" pitchFamily="34" charset="0"/>
                        </a:rPr>
                        <a:t>2,100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b="1" noProof="0">
                          <a:latin typeface="Arial" panose="020B0604020202020204" pitchFamily="34" charset="0"/>
                          <a:cs typeface="Arial" panose="020B0604020202020204" pitchFamily="34" charset="0"/>
                        </a:rPr>
                        <a:t>2,100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400" b="1" noProof="0">
                          <a:latin typeface="Arial" panose="020B0604020202020204" pitchFamily="34" charset="0"/>
                          <a:cs typeface="Arial" panose="020B0604020202020204" pitchFamily="34" charset="0"/>
                        </a:rPr>
                        <a:t>2,100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dirty="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689869344"/>
                  </a:ext>
                </a:extLst>
              </a:tr>
            </a:tbl>
          </a:graphicData>
        </a:graphic>
      </p:graphicFrame>
    </p:spTree>
    <p:extLst>
      <p:ext uri="{BB962C8B-B14F-4D97-AF65-F5344CB8AC3E}">
        <p14:creationId xmlns:p14="http://schemas.microsoft.com/office/powerpoint/2010/main" val="19422815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7351"/>
            <a:ext cx="8257720" cy="1144347"/>
          </a:xfrm>
        </p:spPr>
        <p:txBody>
          <a:bodyPr/>
          <a:lstStyle/>
          <a:p>
            <a:r>
              <a:rPr lang="en-US"/>
              <a:t>Calculating the Free Cash Flow from Earnings </a:t>
            </a:r>
            <a:r>
              <a:rPr lang="en-US" sz="2800"/>
              <a:t>(2 of 4)</a:t>
            </a:r>
          </a:p>
        </p:txBody>
      </p:sp>
      <p:pic>
        <p:nvPicPr>
          <p:cNvPr id="8" name="Picture 7" descr="A table shows calculation of HomeNet’s free cash flow left parenthesis including cannibalization and lost rent right parenthesis.&#10;Long description is available in notes, Press F6.">
            <a:extLst>
              <a:ext uri="{FF2B5EF4-FFF2-40B4-BE49-F238E27FC236}">
                <a16:creationId xmlns:a16="http://schemas.microsoft.com/office/drawing/2014/main" id="{DF85B017-81AD-29DE-F731-431AF0DA096F}"/>
              </a:ext>
            </a:extLst>
          </p:cNvPr>
          <p:cNvPicPr>
            <a:picLocks noChangeAspect="1"/>
          </p:cNvPicPr>
          <p:nvPr/>
        </p:nvPicPr>
        <p:blipFill>
          <a:blip r:embed="rId3"/>
          <a:stretch>
            <a:fillRect/>
          </a:stretch>
        </p:blipFill>
        <p:spPr>
          <a:xfrm>
            <a:off x="585973" y="2201890"/>
            <a:ext cx="7759395" cy="3628611"/>
          </a:xfrm>
          <a:prstGeom prst="rect">
            <a:avLst/>
          </a:prstGeom>
        </p:spPr>
      </p:pic>
      <p:sp>
        <p:nvSpPr>
          <p:cNvPr id="3" name="ZoneTexte 2">
            <a:extLst>
              <a:ext uri="{FF2B5EF4-FFF2-40B4-BE49-F238E27FC236}">
                <a16:creationId xmlns:a16="http://schemas.microsoft.com/office/drawing/2014/main" id="{002F12F0-5253-9D55-201B-7CE385D0CD85}"/>
              </a:ext>
            </a:extLst>
          </p:cNvPr>
          <p:cNvSpPr txBox="1"/>
          <p:nvPr/>
        </p:nvSpPr>
        <p:spPr>
          <a:xfrm>
            <a:off x="585973" y="1730037"/>
            <a:ext cx="979755" cy="369332"/>
          </a:xfrm>
          <a:prstGeom prst="rect">
            <a:avLst/>
          </a:prstGeom>
          <a:noFill/>
        </p:spPr>
        <p:txBody>
          <a:bodyPr wrap="none" rtlCol="0">
            <a:spAutoFit/>
          </a:bodyPr>
          <a:lstStyle/>
          <a:p>
            <a:r>
              <a:rPr lang="fr-FR" sz="1800" b="1" dirty="0"/>
              <a:t>Table 5</a:t>
            </a:r>
          </a:p>
        </p:txBody>
      </p:sp>
      <p:sp>
        <p:nvSpPr>
          <p:cNvPr id="4" name="ZoneTexte 3">
            <a:extLst>
              <a:ext uri="{FF2B5EF4-FFF2-40B4-BE49-F238E27FC236}">
                <a16:creationId xmlns:a16="http://schemas.microsoft.com/office/drawing/2014/main" id="{0ED5F36C-A933-A88E-1AD0-A6ECB412C120}"/>
              </a:ext>
            </a:extLst>
          </p:cNvPr>
          <p:cNvSpPr txBox="1"/>
          <p:nvPr/>
        </p:nvSpPr>
        <p:spPr>
          <a:xfrm>
            <a:off x="585973" y="6092933"/>
            <a:ext cx="6801862" cy="369332"/>
          </a:xfrm>
          <a:prstGeom prst="rect">
            <a:avLst/>
          </a:prstGeom>
          <a:noFill/>
        </p:spPr>
        <p:txBody>
          <a:bodyPr wrap="none" rtlCol="0">
            <a:spAutoFit/>
          </a:bodyPr>
          <a:lstStyle/>
          <a:p>
            <a:r>
              <a:rPr lang="fr-FR" sz="1800" b="1" dirty="0">
                <a:solidFill>
                  <a:srgbClr val="FF0000"/>
                </a:solidFill>
              </a:rPr>
              <a:t>Table 5 </a:t>
            </a:r>
            <a:r>
              <a:rPr lang="fr-FR" sz="1800" b="1" dirty="0" err="1">
                <a:solidFill>
                  <a:srgbClr val="FF0000"/>
                </a:solidFill>
              </a:rPr>
              <a:t>is</a:t>
            </a:r>
            <a:r>
              <a:rPr lang="fr-FR" sz="1800" b="1" dirty="0">
                <a:solidFill>
                  <a:srgbClr val="FF0000"/>
                </a:solidFill>
              </a:rPr>
              <a:t> </a:t>
            </a:r>
            <a:r>
              <a:rPr lang="fr-FR" sz="1800" b="1" dirty="0" err="1">
                <a:solidFill>
                  <a:srgbClr val="FF0000"/>
                </a:solidFill>
              </a:rPr>
              <a:t>our</a:t>
            </a:r>
            <a:r>
              <a:rPr lang="fr-FR" sz="1800" b="1" dirty="0">
                <a:solidFill>
                  <a:srgbClr val="FF0000"/>
                </a:solidFill>
              </a:rPr>
              <a:t> </a:t>
            </a:r>
            <a:r>
              <a:rPr lang="fr-FR" sz="1800" b="1" dirty="0" err="1">
                <a:solidFill>
                  <a:srgbClr val="FF0000"/>
                </a:solidFill>
              </a:rPr>
              <a:t>anchor</a:t>
            </a:r>
            <a:r>
              <a:rPr lang="fr-FR" sz="1800" b="1" dirty="0">
                <a:solidFill>
                  <a:srgbClr val="FF0000"/>
                </a:solidFill>
              </a:rPr>
              <a:t> table to continue the </a:t>
            </a:r>
            <a:r>
              <a:rPr lang="fr-FR" sz="1800" b="1" dirty="0" err="1">
                <a:solidFill>
                  <a:srgbClr val="FF0000"/>
                </a:solidFill>
              </a:rPr>
              <a:t>Homenet</a:t>
            </a:r>
            <a:r>
              <a:rPr lang="fr-FR" sz="1800" b="1" dirty="0">
                <a:solidFill>
                  <a:srgbClr val="FF0000"/>
                </a:solidFill>
              </a:rPr>
              <a:t> </a:t>
            </a:r>
            <a:r>
              <a:rPr lang="fr-FR" sz="1800" b="1" dirty="0" err="1">
                <a:solidFill>
                  <a:srgbClr val="FF0000"/>
                </a:solidFill>
              </a:rPr>
              <a:t>example</a:t>
            </a:r>
            <a:endParaRPr lang="fr-FR" sz="1800" b="1" dirty="0">
              <a:solidFill>
                <a:srgbClr val="FF0000"/>
              </a:solidFill>
            </a:endParaRPr>
          </a:p>
        </p:txBody>
      </p:sp>
    </p:spTree>
    <p:extLst>
      <p:ext uri="{BB962C8B-B14F-4D97-AF65-F5344CB8AC3E}">
        <p14:creationId xmlns:p14="http://schemas.microsoft.com/office/powerpoint/2010/main" val="29334227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39948" y="219393"/>
            <a:ext cx="8272252" cy="590349"/>
          </a:xfrm>
        </p:spPr>
        <p:txBody>
          <a:bodyPr wrap="square" tIns="18000" bIns="18000" anchor="ctr" anchorCtr="0">
            <a:spAutoFit/>
          </a:bodyPr>
          <a:lstStyle/>
          <a:p>
            <a:r>
              <a:rPr lang="en-US" dirty="0"/>
              <a:t>Calculating Free Cash Flow Directly</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40426" y="1466471"/>
            <a:ext cx="2544314" cy="405683"/>
          </a:xfrm>
        </p:spPr>
        <p:txBody>
          <a:bodyPr wrap="square" lIns="0" tIns="18000" rIns="0" bIns="18000" anchor="ctr" anchorCtr="0">
            <a:spAutoFit/>
          </a:bodyPr>
          <a:lstStyle/>
          <a:p>
            <a:pPr marL="342900" indent="-342900">
              <a:spcBef>
                <a:spcPts val="600"/>
              </a:spcBef>
            </a:pPr>
            <a:r>
              <a:rPr lang="en-US" sz="2400" dirty="0"/>
              <a:t>Free Cash Flow</a:t>
            </a:r>
          </a:p>
        </p:txBody>
      </p:sp>
      <p:graphicFrame>
        <p:nvGraphicFramePr>
          <p:cNvPr id="18" name="Object 4" descr="A formula of free cash flow.&#10;Long description is available in notes, Press F6.">
            <a:extLst>
              <a:ext uri="{FF2B5EF4-FFF2-40B4-BE49-F238E27FC236}">
                <a16:creationId xmlns:a16="http://schemas.microsoft.com/office/drawing/2014/main" id="{18DBBDD2-85A6-1869-2D4E-159A68CDE7F6}"/>
              </a:ext>
            </a:extLst>
          </p:cNvPr>
          <p:cNvGraphicFramePr>
            <a:graphicFrameLocks noChangeAspect="1"/>
          </p:cNvGraphicFramePr>
          <p:nvPr>
            <p:extLst>
              <p:ext uri="{D42A27DB-BD31-4B8C-83A1-F6EECF244321}">
                <p14:modId xmlns:p14="http://schemas.microsoft.com/office/powerpoint/2010/main" val="3808965986"/>
              </p:ext>
            </p:extLst>
          </p:nvPr>
        </p:nvGraphicFramePr>
        <p:xfrm>
          <a:off x="825500" y="1984799"/>
          <a:ext cx="7493000" cy="1095375"/>
        </p:xfrm>
        <a:graphic>
          <a:graphicData uri="http://schemas.openxmlformats.org/presentationml/2006/ole">
            <mc:AlternateContent xmlns:mc="http://schemas.openxmlformats.org/markup-compatibility/2006">
              <mc:Choice xmlns:v="urn:schemas-microsoft-com:vml" Requires="v">
                <p:oleObj name="Equation" r:id="rId3" imgW="4165560" imgH="609480" progId="Equation.DSMT4">
                  <p:embed/>
                </p:oleObj>
              </mc:Choice>
              <mc:Fallback>
                <p:oleObj name="Equation" r:id="rId3" imgW="4165560" imgH="609480" progId="Equation.DSMT4">
                  <p:embed/>
                  <p:pic>
                    <p:nvPicPr>
                      <p:cNvPr id="4" name="Object 4" descr="Free Cash Flow = left parenthesis Revenues minus Costs minus Depreciation right parenthesis times left parenthesis 1 minus tau sub c right parenthesis + Depreciation minus CapEx minus delta N W C. The expression left parenthesis Revenues minus Cost minus Depreciation right parenthesis times left parenthesis 1 minus tau sub c right parenthesis is labeled with curly brace reads, Unlevered Net Income."/>
                      <p:cNvPicPr>
                        <a:picLocks noChangeAspect="1" noChangeArrowheads="1"/>
                      </p:cNvPicPr>
                      <p:nvPr/>
                    </p:nvPicPr>
                    <p:blipFill>
                      <a:blip r:embed="rId4"/>
                      <a:srcRect/>
                      <a:stretch>
                        <a:fillRect/>
                      </a:stretch>
                    </p:blipFill>
                    <p:spPr bwMode="auto">
                      <a:xfrm>
                        <a:off x="825500" y="1984799"/>
                        <a:ext cx="7493000" cy="1095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43" name="Object 5" descr="Free cash flow equals left parenthesis revenues minus costs right parenthesis times left parenthesis 1 minus tau subscript c baseline right parenthesis minus CapEx minus delta N W C plus tau subscript c baseline times depreciation.">
            <a:extLst>
              <a:ext uri="{FF2B5EF4-FFF2-40B4-BE49-F238E27FC236}">
                <a16:creationId xmlns:a16="http://schemas.microsoft.com/office/drawing/2014/main" id="{6C465408-8570-EDD9-9859-F1781172E409}"/>
              </a:ext>
            </a:extLst>
          </p:cNvPr>
          <p:cNvGraphicFramePr>
            <a:graphicFrameLocks noChangeAspect="1"/>
          </p:cNvGraphicFramePr>
          <p:nvPr>
            <p:extLst>
              <p:ext uri="{D42A27DB-BD31-4B8C-83A1-F6EECF244321}">
                <p14:modId xmlns:p14="http://schemas.microsoft.com/office/powerpoint/2010/main" val="580559214"/>
              </p:ext>
            </p:extLst>
          </p:nvPr>
        </p:nvGraphicFramePr>
        <p:xfrm>
          <a:off x="863153" y="3210071"/>
          <a:ext cx="7426325" cy="752475"/>
        </p:xfrm>
        <a:graphic>
          <a:graphicData uri="http://schemas.openxmlformats.org/presentationml/2006/ole">
            <mc:AlternateContent xmlns:mc="http://schemas.openxmlformats.org/markup-compatibility/2006">
              <mc:Choice xmlns:v="urn:schemas-microsoft-com:vml" Requires="v">
                <p:oleObj name="Equation" r:id="rId5" imgW="4495680" imgH="457200" progId="Equation.DSMT4">
                  <p:embed/>
                </p:oleObj>
              </mc:Choice>
              <mc:Fallback>
                <p:oleObj name="Equation" r:id="rId5" imgW="4495680" imgH="457200" progId="Equation.DSMT4">
                  <p:embed/>
                  <p:pic>
                    <p:nvPicPr>
                      <p:cNvPr id="5" name="Object 5" descr="Free Cash Flow = left parenthesis Revenues minus costs right parenthesis times left parenthesis 1 minus tau sub c right parenthesis minus CapEx minus delta N W C + tau sub c times Depreciation."/>
                      <p:cNvPicPr>
                        <a:picLocks noChangeAspect="1" noChangeArrowheads="1"/>
                      </p:cNvPicPr>
                      <p:nvPr/>
                    </p:nvPicPr>
                    <p:blipFill>
                      <a:blip r:embed="rId6"/>
                      <a:srcRect/>
                      <a:stretch>
                        <a:fillRect/>
                      </a:stretch>
                    </p:blipFill>
                    <p:spPr bwMode="auto">
                      <a:xfrm>
                        <a:off x="863153" y="3210071"/>
                        <a:ext cx="7426325" cy="752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5" name="Content Placeholder 4">
            <a:extLst>
              <a:ext uri="{FF2B5EF4-FFF2-40B4-BE49-F238E27FC236}">
                <a16:creationId xmlns:a16="http://schemas.microsoft.com/office/drawing/2014/main" id="{B030C7B8-0389-DAFE-D0DE-7BB944A22220}"/>
              </a:ext>
            </a:extLst>
          </p:cNvPr>
          <p:cNvSpPr>
            <a:spLocks noGrp="1"/>
          </p:cNvSpPr>
          <p:nvPr>
            <p:ph sz="quarter" idx="14"/>
          </p:nvPr>
        </p:nvSpPr>
        <p:spPr>
          <a:xfrm>
            <a:off x="439948" y="4121492"/>
            <a:ext cx="2053087" cy="405683"/>
          </a:xfrm>
        </p:spPr>
        <p:txBody>
          <a:bodyPr wrap="square" lIns="0" tIns="18000" rIns="0" bIns="18000" anchor="ctr" anchorCtr="0">
            <a:spAutoFit/>
          </a:bodyPr>
          <a:lstStyle/>
          <a:p>
            <a:pPr marL="829818" lvl="1" indent="-342900"/>
            <a:r>
              <a:rPr lang="en-US" sz="2400" dirty="0"/>
              <a:t>The term</a:t>
            </a:r>
          </a:p>
        </p:txBody>
      </p:sp>
      <p:graphicFrame>
        <p:nvGraphicFramePr>
          <p:cNvPr id="44" name="Object 43" descr="tau subscript c baseline times depreciation.">
            <a:extLst>
              <a:ext uri="{FF2B5EF4-FFF2-40B4-BE49-F238E27FC236}">
                <a16:creationId xmlns:a16="http://schemas.microsoft.com/office/drawing/2014/main" id="{527E2B41-9BE7-7BCB-6342-ED6F0EE7D46D}"/>
              </a:ext>
            </a:extLst>
          </p:cNvPr>
          <p:cNvGraphicFramePr>
            <a:graphicFrameLocks noChangeAspect="1"/>
          </p:cNvGraphicFramePr>
          <p:nvPr>
            <p:extLst>
              <p:ext uri="{D42A27DB-BD31-4B8C-83A1-F6EECF244321}">
                <p14:modId xmlns:p14="http://schemas.microsoft.com/office/powerpoint/2010/main" val="2483801200"/>
              </p:ext>
            </p:extLst>
          </p:nvPr>
        </p:nvGraphicFramePr>
        <p:xfrm>
          <a:off x="2587625" y="4126963"/>
          <a:ext cx="2236788" cy="427038"/>
        </p:xfrm>
        <a:graphic>
          <a:graphicData uri="http://schemas.openxmlformats.org/presentationml/2006/ole">
            <mc:AlternateContent xmlns:mc="http://schemas.openxmlformats.org/markup-compatibility/2006">
              <mc:Choice xmlns:v="urn:schemas-microsoft-com:vml" Requires="v">
                <p:oleObj name="Equation" r:id="rId7" imgW="1193760" imgH="228600" progId="Equation.DSMT4">
                  <p:embed/>
                </p:oleObj>
              </mc:Choice>
              <mc:Fallback>
                <p:oleObj name="Equation" r:id="rId7" imgW="1193760" imgH="228600" progId="Equation.DSMT4">
                  <p:embed/>
                  <p:pic>
                    <p:nvPicPr>
                      <p:cNvPr id="9" name="Object 8" descr="tau sub c times Depreciation.&quot;"/>
                      <p:cNvPicPr/>
                      <p:nvPr/>
                    </p:nvPicPr>
                    <p:blipFill>
                      <a:blip r:embed="rId8"/>
                      <a:stretch>
                        <a:fillRect/>
                      </a:stretch>
                    </p:blipFill>
                    <p:spPr>
                      <a:xfrm>
                        <a:off x="2587625" y="4126963"/>
                        <a:ext cx="2236788" cy="427038"/>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C1C0ACDD-A35B-25D3-4C63-54D32CBC1EA0}"/>
              </a:ext>
            </a:extLst>
          </p:cNvPr>
          <p:cNvSpPr>
            <a:spLocks noGrp="1"/>
          </p:cNvSpPr>
          <p:nvPr>
            <p:ph sz="quarter" idx="15"/>
          </p:nvPr>
        </p:nvSpPr>
        <p:spPr>
          <a:xfrm>
            <a:off x="4925204" y="4121491"/>
            <a:ext cx="3393296" cy="405683"/>
          </a:xfrm>
        </p:spPr>
        <p:txBody>
          <a:bodyPr wrap="square" lIns="0" tIns="18000" rIns="0" bIns="18000" anchor="ctr" anchorCtr="0">
            <a:spAutoFit/>
          </a:bodyPr>
          <a:lstStyle/>
          <a:p>
            <a:pPr marL="0" lvl="1" indent="0">
              <a:buNone/>
            </a:pPr>
            <a:r>
              <a:rPr lang="en-US" sz="2400" dirty="0"/>
              <a:t>is called the depreciation</a:t>
            </a:r>
          </a:p>
        </p:txBody>
      </p:sp>
      <p:sp>
        <p:nvSpPr>
          <p:cNvPr id="22" name="Content Placeholder 21">
            <a:extLst>
              <a:ext uri="{FF2B5EF4-FFF2-40B4-BE49-F238E27FC236}">
                <a16:creationId xmlns:a16="http://schemas.microsoft.com/office/drawing/2014/main" id="{9C4BFDCF-9304-DADE-44F9-72A49351E8E0}"/>
              </a:ext>
            </a:extLst>
          </p:cNvPr>
          <p:cNvSpPr>
            <a:spLocks noGrp="1"/>
          </p:cNvSpPr>
          <p:nvPr>
            <p:ph sz="quarter" idx="16"/>
          </p:nvPr>
        </p:nvSpPr>
        <p:spPr>
          <a:xfrm>
            <a:off x="1319840" y="4686121"/>
            <a:ext cx="1380226" cy="405683"/>
          </a:xfrm>
        </p:spPr>
        <p:txBody>
          <a:bodyPr wrap="square" lIns="0" tIns="18000" rIns="0" bIns="18000" anchor="ctr" anchorCtr="0">
            <a:spAutoFit/>
          </a:bodyPr>
          <a:lstStyle/>
          <a:p>
            <a:pPr marL="486918" lvl="1" indent="-486918">
              <a:buNone/>
            </a:pPr>
            <a:r>
              <a:rPr lang="en-US" sz="2400" dirty="0"/>
              <a:t>tax shield</a:t>
            </a:r>
          </a:p>
        </p:txBody>
      </p:sp>
    </p:spTree>
    <p:extLst>
      <p:ext uri="{BB962C8B-B14F-4D97-AF65-F5344CB8AC3E}">
        <p14:creationId xmlns:p14="http://schemas.microsoft.com/office/powerpoint/2010/main" val="38786969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8867"/>
            <a:ext cx="8266346" cy="590349"/>
          </a:xfrm>
        </p:spPr>
        <p:txBody>
          <a:bodyPr/>
          <a:lstStyle/>
          <a:p>
            <a:r>
              <a:rPr lang="en-US" dirty="0"/>
              <a:t>Calculating the </a:t>
            </a:r>
            <a:r>
              <a:rPr lang="en-US" spc="-500" dirty="0"/>
              <a:t>N P </a:t>
            </a:r>
            <a:r>
              <a:rPr lang="en-US" dirty="0"/>
              <a:t>V </a:t>
            </a:r>
            <a:r>
              <a:rPr lang="en-US" sz="2800" dirty="0"/>
              <a:t>(1 of 2)</a:t>
            </a:r>
          </a:p>
        </p:txBody>
      </p:sp>
      <p:graphicFrame>
        <p:nvGraphicFramePr>
          <p:cNvPr id="4" name="Object 4" descr="An expression shows calculation of N P V.&#10;Long description 1 is available in notes, Press F6.">
            <a:extLst>
              <a:ext uri="{FF2B5EF4-FFF2-40B4-BE49-F238E27FC236}">
                <a16:creationId xmlns:a16="http://schemas.microsoft.com/office/drawing/2014/main" id="{D3B3BA58-88A5-E789-2AF5-F93CA8AC3335}"/>
              </a:ext>
            </a:extLst>
          </p:cNvPr>
          <p:cNvGraphicFramePr>
            <a:graphicFrameLocks noChangeAspect="1"/>
          </p:cNvGraphicFramePr>
          <p:nvPr>
            <p:extLst>
              <p:ext uri="{D42A27DB-BD31-4B8C-83A1-F6EECF244321}">
                <p14:modId xmlns:p14="http://schemas.microsoft.com/office/powerpoint/2010/main" val="18619630"/>
              </p:ext>
            </p:extLst>
          </p:nvPr>
        </p:nvGraphicFramePr>
        <p:xfrm>
          <a:off x="1722561" y="1397397"/>
          <a:ext cx="5698877" cy="1198289"/>
        </p:xfrm>
        <a:graphic>
          <a:graphicData uri="http://schemas.openxmlformats.org/presentationml/2006/ole">
            <mc:AlternateContent xmlns:mc="http://schemas.openxmlformats.org/markup-compatibility/2006">
              <mc:Choice xmlns:v="urn:schemas-microsoft-com:vml" Requires="v">
                <p:oleObj name="Equation" r:id="rId3" imgW="2908080" imgH="609480" progId="Equation.DSMT4">
                  <p:embed/>
                </p:oleObj>
              </mc:Choice>
              <mc:Fallback>
                <p:oleObj name="Equation" r:id="rId3" imgW="2908080" imgH="609480" progId="Equation.DSMT4">
                  <p:embed/>
                  <p:pic>
                    <p:nvPicPr>
                      <p:cNvPr id="4221" name="Object 4" descr="P V of start expression  F C F sub t end expression = start fraction F C F sub t over left parenthesis 1 + r right parenthesis to the power t end fraction = F C F sub t times start fraction 1 over left parenthesis 1 + r right parenthesis to the power t end fraction. A text below the expression,  left parenthesis 1 + r right parenthesis to the power t reads, t = year discount factor.&#10;"/>
                      <p:cNvPicPr>
                        <a:picLocks noChangeAspect="1" noChangeArrowheads="1"/>
                      </p:cNvPicPr>
                      <p:nvPr/>
                    </p:nvPicPr>
                    <p:blipFill>
                      <a:blip r:embed="rId4"/>
                      <a:srcRect/>
                      <a:stretch>
                        <a:fillRect/>
                      </a:stretch>
                    </p:blipFill>
                    <p:spPr bwMode="auto">
                      <a:xfrm>
                        <a:off x="1722561" y="1397397"/>
                        <a:ext cx="5698877" cy="11982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37228" y="2934895"/>
            <a:ext cx="8266346" cy="405683"/>
          </a:xfrm>
        </p:spPr>
        <p:txBody>
          <a:bodyPr wrap="square" lIns="0" tIns="18000" rIns="0" bIns="18000" anchor="ctr">
            <a:spAutoFit/>
          </a:bodyPr>
          <a:lstStyle/>
          <a:p>
            <a:pPr marL="342900" indent="-342900">
              <a:spcBef>
                <a:spcPts val="600"/>
              </a:spcBef>
            </a:pPr>
            <a:r>
              <a:rPr lang="en-US" sz="2400" dirty="0"/>
              <a:t>HomeNet </a:t>
            </a:r>
            <a:r>
              <a:rPr lang="en-US" sz="2400" spc="-300" dirty="0"/>
              <a:t>N P </a:t>
            </a:r>
            <a:r>
              <a:rPr lang="en-US" sz="2400" dirty="0"/>
              <a:t>V (</a:t>
            </a:r>
            <a:r>
              <a:rPr lang="en-US" sz="2400" spc="-300" dirty="0"/>
              <a:t>W A C </a:t>
            </a:r>
            <a:r>
              <a:rPr lang="en-US" sz="2400" dirty="0" err="1"/>
              <a:t>C</a:t>
            </a:r>
            <a:r>
              <a:rPr lang="en-US" sz="2400" dirty="0"/>
              <a:t> = 12%)</a:t>
            </a:r>
          </a:p>
        </p:txBody>
      </p:sp>
      <p:graphicFrame>
        <p:nvGraphicFramePr>
          <p:cNvPr id="5" name="Object 5" descr="An expression shows calculation of HomeNet NPV.&#10;Long description 2 is available in notes, Press F6.">
            <a:extLst>
              <a:ext uri="{FF2B5EF4-FFF2-40B4-BE49-F238E27FC236}">
                <a16:creationId xmlns:a16="http://schemas.microsoft.com/office/drawing/2014/main" id="{060444F4-6EDF-7E6F-95E6-3BD1464BA10E}"/>
              </a:ext>
            </a:extLst>
          </p:cNvPr>
          <p:cNvGraphicFramePr>
            <a:graphicFrameLocks noChangeAspect="1"/>
          </p:cNvGraphicFramePr>
          <p:nvPr>
            <p:extLst>
              <p:ext uri="{D42A27DB-BD31-4B8C-83A1-F6EECF244321}">
                <p14:modId xmlns:p14="http://schemas.microsoft.com/office/powerpoint/2010/main" val="2852702076"/>
              </p:ext>
            </p:extLst>
          </p:nvPr>
        </p:nvGraphicFramePr>
        <p:xfrm>
          <a:off x="930952" y="3679787"/>
          <a:ext cx="7296150" cy="758825"/>
        </p:xfrm>
        <a:graphic>
          <a:graphicData uri="http://schemas.openxmlformats.org/presentationml/2006/ole">
            <mc:AlternateContent xmlns:mc="http://schemas.openxmlformats.org/markup-compatibility/2006">
              <mc:Choice xmlns:v="urn:schemas-microsoft-com:vml" Requires="v">
                <p:oleObj name="Equation" r:id="rId5" imgW="3784320" imgH="393480" progId="Equation.DSMT4">
                  <p:embed/>
                </p:oleObj>
              </mc:Choice>
              <mc:Fallback>
                <p:oleObj name="Equation" r:id="rId5" imgW="3784320" imgH="393480" progId="Equation.DSMT4">
                  <p:embed/>
                  <p:pic>
                    <p:nvPicPr>
                      <p:cNvPr id="4213" name="Object 5" descr="N P V =  negative 19,500 + start fraction 7000 over 1.12 end fraction + start fraction 9100 over 1.12 squared end fraction + start fraction 9100 over 1.12 cubed end fraction + start fraction 9100 over 1.12 to the power 4 end fraction + start fraction 2400 over 1.12 to the power 5 end fraction&#10;= $7627.&quot;"/>
                      <p:cNvPicPr>
                        <a:picLocks noChangeAspect="1" noChangeArrowheads="1"/>
                      </p:cNvPicPr>
                      <p:nvPr/>
                    </p:nvPicPr>
                    <p:blipFill>
                      <a:blip r:embed="rId6"/>
                      <a:srcRect/>
                      <a:stretch>
                        <a:fillRect/>
                      </a:stretch>
                    </p:blipFill>
                    <p:spPr bwMode="auto">
                      <a:xfrm>
                        <a:off x="930952" y="3679787"/>
                        <a:ext cx="7296150" cy="758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6" name="Object 5" descr="Equals 7627 dollars.">
            <a:extLst>
              <a:ext uri="{FF2B5EF4-FFF2-40B4-BE49-F238E27FC236}">
                <a16:creationId xmlns:a16="http://schemas.microsoft.com/office/drawing/2014/main" id="{42C6D640-FAD7-F2B3-66C1-5B1B06A74C20}"/>
              </a:ext>
            </a:extLst>
          </p:cNvPr>
          <p:cNvGraphicFramePr>
            <a:graphicFrameLocks noChangeAspect="1"/>
          </p:cNvGraphicFramePr>
          <p:nvPr>
            <p:extLst>
              <p:ext uri="{D42A27DB-BD31-4B8C-83A1-F6EECF244321}">
                <p14:modId xmlns:p14="http://schemas.microsoft.com/office/powerpoint/2010/main" val="216397885"/>
              </p:ext>
            </p:extLst>
          </p:nvPr>
        </p:nvGraphicFramePr>
        <p:xfrm>
          <a:off x="1655850" y="4695504"/>
          <a:ext cx="1247775" cy="366713"/>
        </p:xfrm>
        <a:graphic>
          <a:graphicData uri="http://schemas.openxmlformats.org/presentationml/2006/ole">
            <mc:AlternateContent xmlns:mc="http://schemas.openxmlformats.org/markup-compatibility/2006">
              <mc:Choice xmlns:v="urn:schemas-microsoft-com:vml" Requires="v">
                <p:oleObj name="Equation" r:id="rId7" imgW="647640" imgH="190440" progId="Equation.DSMT4">
                  <p:embed/>
                </p:oleObj>
              </mc:Choice>
              <mc:Fallback>
                <p:oleObj name="Equation" r:id="rId7" imgW="647640" imgH="190440" progId="Equation.DSMT4">
                  <p:embed/>
                  <p:pic>
                    <p:nvPicPr>
                      <p:cNvPr id="5" name="Object 5" descr="N P V =  negative 19,500 + start fraction 7000 over 1.12 end fraction + start fraction 9100 over 1.12 squared end fraction + start fraction 9100 over 1.12 cubed end fraction + start fraction 9100 over 1.12 to the power 4 end fraction + start fraction 2400 over 1.12 to the power 5 end fraction&#10;= $7627.&quot;">
                        <a:extLst>
                          <a:ext uri="{FF2B5EF4-FFF2-40B4-BE49-F238E27FC236}">
                            <a16:creationId xmlns:a16="http://schemas.microsoft.com/office/drawing/2014/main" id="{060444F4-6EDF-7E6F-95E6-3BD1464BA10E}"/>
                          </a:ext>
                        </a:extLst>
                      </p:cNvPr>
                      <p:cNvPicPr>
                        <a:picLocks noChangeAspect="1" noChangeArrowheads="1"/>
                      </p:cNvPicPr>
                      <p:nvPr/>
                    </p:nvPicPr>
                    <p:blipFill>
                      <a:blip r:embed="rId8"/>
                      <a:srcRect/>
                      <a:stretch>
                        <a:fillRect/>
                      </a:stretch>
                    </p:blipFill>
                    <p:spPr bwMode="auto">
                      <a:xfrm>
                        <a:off x="1655850" y="4695504"/>
                        <a:ext cx="1247775" cy="366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4902947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8867"/>
            <a:ext cx="8266346" cy="590349"/>
          </a:xfrm>
        </p:spPr>
        <p:txBody>
          <a:bodyPr/>
          <a:lstStyle/>
          <a:p>
            <a:r>
              <a:rPr lang="en-US" dirty="0"/>
              <a:t>Calculating the </a:t>
            </a:r>
            <a:r>
              <a:rPr lang="en-US" spc="-500" dirty="0"/>
              <a:t>N P </a:t>
            </a:r>
            <a:r>
              <a:rPr lang="en-US" dirty="0"/>
              <a:t>V </a:t>
            </a:r>
            <a:r>
              <a:rPr lang="en-US" sz="2800" dirty="0"/>
              <a:t>(2 of 2)</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560719" y="1142509"/>
            <a:ext cx="8266346" cy="313350"/>
          </a:xfrm>
        </p:spPr>
        <p:txBody>
          <a:bodyPr wrap="square" lIns="0" tIns="18000" rIns="0" bIns="18000" anchor="ctr">
            <a:spAutoFit/>
          </a:bodyPr>
          <a:lstStyle/>
          <a:p>
            <a:pPr marL="0" indent="0">
              <a:spcBef>
                <a:spcPts val="600"/>
              </a:spcBef>
              <a:buNone/>
            </a:pPr>
            <a:r>
              <a:rPr lang="en-US" sz="1800" b="1" dirty="0"/>
              <a:t>Table 6 : </a:t>
            </a:r>
            <a:r>
              <a:rPr lang="en-US" sz="1800" dirty="0"/>
              <a:t>Spreadsheet Computing </a:t>
            </a:r>
            <a:r>
              <a:rPr lang="en-US" sz="1800" dirty="0" err="1"/>
              <a:t>HomeNet’s</a:t>
            </a:r>
            <a:r>
              <a:rPr lang="en-US" sz="1800" dirty="0"/>
              <a:t> </a:t>
            </a:r>
            <a:r>
              <a:rPr lang="en-US" sz="1800" spc="-300" dirty="0"/>
              <a:t>N P </a:t>
            </a:r>
            <a:r>
              <a:rPr lang="en-US" sz="1800" dirty="0"/>
              <a:t>V</a:t>
            </a:r>
          </a:p>
        </p:txBody>
      </p:sp>
      <p:graphicFrame>
        <p:nvGraphicFramePr>
          <p:cNvPr id="4" name="Table 8">
            <a:extLst>
              <a:ext uri="{FF2B5EF4-FFF2-40B4-BE49-F238E27FC236}">
                <a16:creationId xmlns:a16="http://schemas.microsoft.com/office/drawing/2014/main" id="{6C1D13EA-B151-B080-7F44-7F34B2822325}"/>
              </a:ext>
              <a:ext uri="{C183D7F6-B498-43B3-948B-1728B52AA6E4}">
                <adec:decorative xmlns:adec="http://schemas.microsoft.com/office/drawing/2017/decorative" val="0"/>
              </a:ext>
            </a:extLst>
          </p:cNvPr>
          <p:cNvGraphicFramePr>
            <a:graphicFrameLocks/>
          </p:cNvGraphicFramePr>
          <p:nvPr>
            <p:custDataLst>
              <p:tags r:id="rId1"/>
            </p:custDataLst>
            <p:extLst>
              <p:ext uri="{D42A27DB-BD31-4B8C-83A1-F6EECF244321}">
                <p14:modId xmlns:p14="http://schemas.microsoft.com/office/powerpoint/2010/main" val="3182412266"/>
              </p:ext>
            </p:extLst>
          </p:nvPr>
        </p:nvGraphicFramePr>
        <p:xfrm>
          <a:off x="560719" y="1789153"/>
          <a:ext cx="8013936" cy="3997050"/>
        </p:xfrm>
        <a:graphic>
          <a:graphicData uri="http://schemas.openxmlformats.org/drawingml/2006/table">
            <a:tbl>
              <a:tblPr firstRow="1" bandRow="1">
                <a:tableStyleId>{2D5ABB26-0587-4C30-8999-92F81FD0307C}</a:tableStyleId>
              </a:tblPr>
              <a:tblGrid>
                <a:gridCol w="1544126">
                  <a:extLst>
                    <a:ext uri="{9D8B030D-6E8A-4147-A177-3AD203B41FA5}">
                      <a16:colId xmlns:a16="http://schemas.microsoft.com/office/drawing/2014/main" val="1072788600"/>
                    </a:ext>
                  </a:extLst>
                </a:gridCol>
                <a:gridCol w="1069676">
                  <a:extLst>
                    <a:ext uri="{9D8B030D-6E8A-4147-A177-3AD203B41FA5}">
                      <a16:colId xmlns:a16="http://schemas.microsoft.com/office/drawing/2014/main" val="206673024"/>
                    </a:ext>
                  </a:extLst>
                </a:gridCol>
                <a:gridCol w="1078302">
                  <a:extLst>
                    <a:ext uri="{9D8B030D-6E8A-4147-A177-3AD203B41FA5}">
                      <a16:colId xmlns:a16="http://schemas.microsoft.com/office/drawing/2014/main" val="3472170879"/>
                    </a:ext>
                  </a:extLst>
                </a:gridCol>
                <a:gridCol w="759124">
                  <a:extLst>
                    <a:ext uri="{9D8B030D-6E8A-4147-A177-3AD203B41FA5}">
                      <a16:colId xmlns:a16="http://schemas.microsoft.com/office/drawing/2014/main" val="3138202961"/>
                    </a:ext>
                  </a:extLst>
                </a:gridCol>
                <a:gridCol w="940279">
                  <a:extLst>
                    <a:ext uri="{9D8B030D-6E8A-4147-A177-3AD203B41FA5}">
                      <a16:colId xmlns:a16="http://schemas.microsoft.com/office/drawing/2014/main" val="2803300867"/>
                    </a:ext>
                  </a:extLst>
                </a:gridCol>
                <a:gridCol w="862642">
                  <a:extLst>
                    <a:ext uri="{9D8B030D-6E8A-4147-A177-3AD203B41FA5}">
                      <a16:colId xmlns:a16="http://schemas.microsoft.com/office/drawing/2014/main" val="2104182226"/>
                    </a:ext>
                  </a:extLst>
                </a:gridCol>
                <a:gridCol w="923026">
                  <a:extLst>
                    <a:ext uri="{9D8B030D-6E8A-4147-A177-3AD203B41FA5}">
                      <a16:colId xmlns:a16="http://schemas.microsoft.com/office/drawing/2014/main" val="3140904471"/>
                    </a:ext>
                  </a:extLst>
                </a:gridCol>
                <a:gridCol w="836761">
                  <a:extLst>
                    <a:ext uri="{9D8B030D-6E8A-4147-A177-3AD203B41FA5}">
                      <a16:colId xmlns:a16="http://schemas.microsoft.com/office/drawing/2014/main" val="689653204"/>
                    </a:ext>
                  </a:extLst>
                </a:gridCol>
              </a:tblGrid>
              <a:tr h="367150">
                <a:tc>
                  <a:txBody>
                    <a:bodyPr/>
                    <a:lstStyle/>
                    <a:p>
                      <a:r>
                        <a:rPr lang="en-US" sz="100" b="1" noProof="0">
                          <a:solidFill>
                            <a:schemeClr val="bg1"/>
                          </a:solidFill>
                          <a:latin typeface="Arial" panose="020B0604020202020204" pitchFamily="34" charset="0"/>
                          <a:cs typeface="Arial" panose="020B0604020202020204" pitchFamily="34" charset="0"/>
                        </a:rPr>
                        <a:t>Blank</a:t>
                      </a:r>
                    </a:p>
                  </a:txBody>
                  <a:tcP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bg1"/>
                          </a:solidFill>
                          <a:latin typeface="Arial" panose="020B0604020202020204" pitchFamily="34" charset="0"/>
                          <a:cs typeface="Arial" panose="020B0604020202020204" pitchFamily="34" charset="0"/>
                        </a:rPr>
                        <a:t>Year</a:t>
                      </a:r>
                    </a:p>
                  </a:txBody>
                  <a:tcP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600" b="1" noProof="0" dirty="0">
                          <a:solidFill>
                            <a:schemeClr val="bg1"/>
                          </a:solidFill>
                          <a:latin typeface="Arial" panose="020B0604020202020204" pitchFamily="34" charset="0"/>
                          <a:cs typeface="Arial" panose="020B0604020202020204" pitchFamily="34" charset="0"/>
                        </a:rPr>
                        <a:t>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600" b="1" noProof="0" dirty="0">
                          <a:solidFill>
                            <a:schemeClr val="bg1"/>
                          </a:solidFill>
                          <a:latin typeface="Arial" panose="020B0604020202020204" pitchFamily="34" charset="0"/>
                          <a:cs typeface="Arial" panose="020B0604020202020204" pitchFamily="34" charset="0"/>
                        </a:rPr>
                        <a:t>1</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600" b="1" noProof="0" dirty="0">
                          <a:solidFill>
                            <a:schemeClr val="bg1"/>
                          </a:solidFill>
                          <a:latin typeface="Arial" panose="020B0604020202020204" pitchFamily="34" charset="0"/>
                          <a:cs typeface="Arial" panose="020B0604020202020204" pitchFamily="34" charset="0"/>
                        </a:rPr>
                        <a:t>2</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600" b="1" noProof="0" dirty="0">
                          <a:solidFill>
                            <a:schemeClr val="bg1"/>
                          </a:solidFill>
                          <a:latin typeface="Arial" panose="020B0604020202020204" pitchFamily="34" charset="0"/>
                          <a:cs typeface="Arial" panose="020B0604020202020204" pitchFamily="34" charset="0"/>
                        </a:rPr>
                        <a:t>3</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600" b="1" noProof="0" dirty="0">
                          <a:solidFill>
                            <a:schemeClr val="bg1"/>
                          </a:solidFill>
                          <a:latin typeface="Arial" panose="020B0604020202020204" pitchFamily="34" charset="0"/>
                          <a:cs typeface="Arial" panose="020B0604020202020204" pitchFamily="34" charset="0"/>
                        </a:rPr>
                        <a:t>4</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600" b="1" noProof="0" dirty="0">
                          <a:solidFill>
                            <a:schemeClr val="bg1"/>
                          </a:solidFill>
                          <a:latin typeface="Arial" panose="020B0604020202020204" pitchFamily="34" charset="0"/>
                          <a:cs typeface="Arial" panose="020B0604020202020204" pitchFamily="34" charset="0"/>
                        </a:rPr>
                        <a:t>5</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490851856"/>
                  </a:ext>
                </a:extLst>
              </a:tr>
              <a:tr h="367150">
                <a:tc>
                  <a:txBody>
                    <a:bodyPr/>
                    <a:lstStyle/>
                    <a:p>
                      <a:r>
                        <a:rPr lang="en-US" sz="1600" b="1" noProof="0" dirty="0">
                          <a:latin typeface="Arial" panose="020B0604020202020204" pitchFamily="34" charset="0"/>
                          <a:cs typeface="Arial" panose="020B0604020202020204" pitchFamily="34" charset="0"/>
                        </a:rPr>
                        <a:t>Net Present Value ($000s)</a:t>
                      </a:r>
                    </a:p>
                  </a:txBody>
                  <a:tcP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tc>
                  <a:txBody>
                    <a:bodyPr/>
                    <a:lstStyle/>
                    <a:p>
                      <a:pPr algn="r"/>
                      <a:r>
                        <a:rPr lang="en-US" sz="100" noProof="0">
                          <a:latin typeface="Arial" panose="020B0604020202020204" pitchFamily="34" charset="0"/>
                          <a:cs typeface="Arial" panose="020B0604020202020204" pitchFamily="34" charset="0"/>
                        </a:rPr>
                        <a:t>Blank</a:t>
                      </a:r>
                    </a:p>
                  </a:txBody>
                  <a:tcP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tc>
                  <a:txBody>
                    <a:bodyPr/>
                    <a:lstStyle/>
                    <a:p>
                      <a:pPr algn="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321591484"/>
                  </a:ext>
                </a:extLst>
              </a:tr>
              <a:tr h="367150">
                <a:tc>
                  <a:txBody>
                    <a:bodyPr/>
                    <a:lstStyle/>
                    <a:p>
                      <a:r>
                        <a:rPr lang="en-US" sz="1600" noProof="0" dirty="0">
                          <a:latin typeface="Arial" panose="020B0604020202020204" pitchFamily="34" charset="0"/>
                          <a:cs typeface="Arial" panose="020B0604020202020204" pitchFamily="34" charset="0"/>
                        </a:rPr>
                        <a:t>1 </a:t>
                      </a:r>
                      <a:r>
                        <a:rPr lang="en-US" sz="1600" b="1" noProof="0" dirty="0">
                          <a:latin typeface="Arial" panose="020B0604020202020204" pitchFamily="34" charset="0"/>
                          <a:cs typeface="Arial" panose="020B0604020202020204" pitchFamily="34" charset="0"/>
                        </a:rPr>
                        <a:t>Free Cash Flow</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algn="r"/>
                      <a:endParaRPr lang="en-US" sz="1600" noProof="0" dirty="0">
                        <a:latin typeface="Arial" panose="020B0604020202020204" pitchFamily="34" charset="0"/>
                        <a:cs typeface="Arial" panose="020B0604020202020204" pitchFamily="34" charset="0"/>
                      </a:endParaRP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600" noProof="0">
                          <a:latin typeface="Arial" panose="020B0604020202020204" pitchFamily="34" charset="0"/>
                          <a:cs typeface="Arial" panose="020B0604020202020204" pitchFamily="34" charset="0"/>
                        </a:rPr>
                        <a:t>(19,500)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600" noProof="0">
                          <a:latin typeface="Arial" panose="020B0604020202020204" pitchFamily="34" charset="0"/>
                          <a:cs typeface="Arial" panose="020B0604020202020204" pitchFamily="34" charset="0"/>
                        </a:rPr>
                        <a:t>7,000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600" noProof="0">
                          <a:latin typeface="Arial" panose="020B0604020202020204" pitchFamily="34" charset="0"/>
                          <a:cs typeface="Arial" panose="020B0604020202020204" pitchFamily="34" charset="0"/>
                        </a:rPr>
                        <a:t>9,100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600" noProof="0">
                          <a:latin typeface="Arial" panose="020B0604020202020204" pitchFamily="34" charset="0"/>
                          <a:cs typeface="Arial" panose="020B0604020202020204" pitchFamily="34" charset="0"/>
                        </a:rPr>
                        <a:t>9,100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600" noProof="0">
                          <a:latin typeface="Arial" panose="020B0604020202020204" pitchFamily="34" charset="0"/>
                          <a:cs typeface="Arial" panose="020B0604020202020204" pitchFamily="34" charset="0"/>
                        </a:rPr>
                        <a:t>9,100</a:t>
                      </a:r>
                    </a:p>
                    <a:p>
                      <a:pPr algn="r"/>
                      <a:endParaRPr lang="en-US" sz="1600" noProof="0">
                        <a:latin typeface="Arial" panose="020B0604020202020204" pitchFamily="34" charset="0"/>
                        <a:cs typeface="Arial" panose="020B0604020202020204" pitchFamily="34" charset="0"/>
                      </a:endParaRP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noProof="0">
                          <a:latin typeface="Arial" panose="020B0604020202020204" pitchFamily="34" charset="0"/>
                          <a:cs typeface="Arial" panose="020B0604020202020204" pitchFamily="34" charset="0"/>
                        </a:rPr>
                        <a:t>2,400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661540150"/>
                  </a:ext>
                </a:extLst>
              </a:tr>
              <a:tr h="367150">
                <a:tc>
                  <a:txBody>
                    <a:bodyPr/>
                    <a:lstStyle/>
                    <a:p>
                      <a:r>
                        <a:rPr lang="en-US" sz="1600" noProof="0" dirty="0">
                          <a:latin typeface="Arial" panose="020B0604020202020204" pitchFamily="34" charset="0"/>
                          <a:cs typeface="Arial" panose="020B0604020202020204" pitchFamily="34" charset="0"/>
                        </a:rPr>
                        <a:t>2 Project Cost of Capital</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600" noProof="0" dirty="0">
                          <a:latin typeface="Arial" panose="020B0604020202020204" pitchFamily="34" charset="0"/>
                          <a:cs typeface="Arial" panose="020B0604020202020204" pitchFamily="34" charset="0"/>
                        </a:rPr>
                        <a:t>12%</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00" noProof="0" dirty="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dirty="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029354084"/>
                  </a:ext>
                </a:extLst>
              </a:tr>
              <a:tr h="367150">
                <a:tc>
                  <a:txBody>
                    <a:bodyPr/>
                    <a:lstStyle/>
                    <a:p>
                      <a:r>
                        <a:rPr lang="en-US" sz="1600" noProof="0" dirty="0">
                          <a:latin typeface="Arial" panose="020B0604020202020204" pitchFamily="34" charset="0"/>
                          <a:cs typeface="Arial" panose="020B0604020202020204" pitchFamily="34" charset="0"/>
                        </a:rPr>
                        <a:t>3 Discount Factor</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00" noProof="0" dirty="0">
                          <a:latin typeface="Arial" panose="020B0604020202020204" pitchFamily="34" charset="0"/>
                          <a:cs typeface="Arial" panose="020B0604020202020204" pitchFamily="34" charset="0"/>
                        </a:rPr>
                        <a:t>Blank</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00" noProof="0" dirty="0">
                          <a:latin typeface="Arial" panose="020B0604020202020204" pitchFamily="34" charset="0"/>
                          <a:cs typeface="Arial" panose="020B0604020202020204" pitchFamily="34" charset="0"/>
                        </a:rPr>
                        <a:t>1 point 0 0 0</a:t>
                      </a: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00" noProof="0" dirty="0">
                          <a:latin typeface="Arial" panose="020B0604020202020204" pitchFamily="34" charset="0"/>
                          <a:cs typeface="Arial" panose="020B0604020202020204" pitchFamily="34" charset="0"/>
                        </a:rPr>
                        <a:t>0 point 8 9 3</a:t>
                      </a: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00" noProof="0" dirty="0">
                          <a:latin typeface="Arial" panose="020B0604020202020204" pitchFamily="34" charset="0"/>
                          <a:cs typeface="Arial" panose="020B0604020202020204" pitchFamily="34" charset="0"/>
                        </a:rPr>
                        <a:t>0 point 7 9 7</a:t>
                      </a: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00" noProof="0" dirty="0">
                          <a:latin typeface="Arial" panose="020B0604020202020204" pitchFamily="34" charset="0"/>
                          <a:cs typeface="Arial" panose="020B0604020202020204" pitchFamily="34" charset="0"/>
                        </a:rPr>
                        <a:t>0 Point 7 1 2</a:t>
                      </a: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00" noProof="0" dirty="0">
                          <a:latin typeface="Arial" panose="020B0604020202020204" pitchFamily="34" charset="0"/>
                          <a:cs typeface="Arial" panose="020B0604020202020204" pitchFamily="34" charset="0"/>
                        </a:rPr>
                        <a:t>0 point 6 3 6</a:t>
                      </a: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00" noProof="0" dirty="0">
                          <a:latin typeface="Arial" panose="020B0604020202020204" pitchFamily="34" charset="0"/>
                          <a:cs typeface="Arial" panose="020B0604020202020204" pitchFamily="34" charset="0"/>
                        </a:rPr>
                        <a:t>0 point 5 6 7</a:t>
                      </a: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4085743459"/>
                  </a:ext>
                </a:extLst>
              </a:tr>
              <a:tr h="367150">
                <a:tc>
                  <a:txBody>
                    <a:bodyPr/>
                    <a:lstStyle/>
                    <a:p>
                      <a:r>
                        <a:rPr lang="en-US" sz="1600" noProof="0" dirty="0">
                          <a:latin typeface="Arial" panose="020B0604020202020204" pitchFamily="34" charset="0"/>
                          <a:cs typeface="Arial" panose="020B0604020202020204" pitchFamily="34" charset="0"/>
                        </a:rPr>
                        <a:t>4 </a:t>
                      </a:r>
                      <a:r>
                        <a:rPr lang="en-US" sz="1600" b="1" spc="-200" baseline="0" noProof="0" dirty="0">
                          <a:latin typeface="Arial" panose="020B0604020202020204" pitchFamily="34" charset="0"/>
                          <a:cs typeface="Arial" panose="020B0604020202020204" pitchFamily="34" charset="0"/>
                        </a:rPr>
                        <a:t>P </a:t>
                      </a:r>
                      <a:r>
                        <a:rPr lang="en-US" sz="1600" b="1" noProof="0" dirty="0">
                          <a:latin typeface="Arial" panose="020B0604020202020204" pitchFamily="34" charset="0"/>
                          <a:cs typeface="Arial" panose="020B0604020202020204" pitchFamily="34" charset="0"/>
                        </a:rPr>
                        <a:t>V of Free Cash Flow</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00" noProof="0">
                          <a:latin typeface="Arial" panose="020B0604020202020204" pitchFamily="34" charset="0"/>
                          <a:cs typeface="Arial" panose="020B0604020202020204" pitchFamily="34" charset="0"/>
                        </a:rPr>
                        <a:t>Blank</a:t>
                      </a:r>
                    </a:p>
                  </a:txBody>
                  <a:tcP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600" noProof="0" dirty="0">
                          <a:latin typeface="Arial" panose="020B0604020202020204" pitchFamily="34" charset="0"/>
                          <a:cs typeface="Arial" panose="020B0604020202020204" pitchFamily="34" charset="0"/>
                        </a:rPr>
                        <a:t>(19,500)</a:t>
                      </a:r>
                    </a:p>
                  </a:txBody>
                  <a:tcP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600" noProof="0" dirty="0">
                          <a:latin typeface="Arial" panose="020B0604020202020204" pitchFamily="34" charset="0"/>
                          <a:cs typeface="Arial" panose="020B0604020202020204" pitchFamily="34" charset="0"/>
                        </a:rPr>
                        <a:t>6,250</a:t>
                      </a:r>
                    </a:p>
                  </a:txBody>
                  <a:tcP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600" noProof="0" dirty="0">
                          <a:latin typeface="Arial" panose="020B0604020202020204" pitchFamily="34" charset="0"/>
                          <a:cs typeface="Arial" panose="020B0604020202020204" pitchFamily="34" charset="0"/>
                        </a:rPr>
                        <a:t>7,254</a:t>
                      </a:r>
                    </a:p>
                  </a:txBody>
                  <a:tcP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600" noProof="0" dirty="0">
                          <a:latin typeface="Arial" panose="020B0604020202020204" pitchFamily="34" charset="0"/>
                          <a:cs typeface="Arial" panose="020B0604020202020204" pitchFamily="34" charset="0"/>
                        </a:rPr>
                        <a:t>6,477</a:t>
                      </a:r>
                    </a:p>
                  </a:txBody>
                  <a:tcP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600" noProof="0">
                          <a:latin typeface="Arial" panose="020B0604020202020204" pitchFamily="34" charset="0"/>
                          <a:cs typeface="Arial" panose="020B0604020202020204" pitchFamily="34" charset="0"/>
                        </a:rPr>
                        <a:t>5,783</a:t>
                      </a:r>
                    </a:p>
                  </a:txBody>
                  <a:tcP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600" noProof="0">
                          <a:latin typeface="Arial" panose="020B0604020202020204" pitchFamily="34" charset="0"/>
                          <a:cs typeface="Arial" panose="020B0604020202020204" pitchFamily="34" charset="0"/>
                        </a:rPr>
                        <a:t>1,362</a:t>
                      </a:r>
                    </a:p>
                  </a:txBody>
                  <a:tcP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746575332"/>
                  </a:ext>
                </a:extLst>
              </a:tr>
              <a:tr h="367150">
                <a:tc>
                  <a:txBody>
                    <a:bodyPr/>
                    <a:lstStyle/>
                    <a:p>
                      <a:r>
                        <a:rPr lang="en-US" sz="1600" noProof="0" dirty="0">
                          <a:latin typeface="Arial" panose="020B0604020202020204" pitchFamily="34" charset="0"/>
                          <a:cs typeface="Arial" panose="020B0604020202020204" pitchFamily="34" charset="0"/>
                        </a:rPr>
                        <a:t>5 </a:t>
                      </a:r>
                      <a:r>
                        <a:rPr lang="en-US" sz="1600" b="1" spc="-200" baseline="0" noProof="0" dirty="0">
                          <a:latin typeface="Arial" panose="020B0604020202020204" pitchFamily="34" charset="0"/>
                          <a:cs typeface="Arial" panose="020B0604020202020204" pitchFamily="34" charset="0"/>
                        </a:rPr>
                        <a:t>N P </a:t>
                      </a:r>
                      <a:r>
                        <a:rPr lang="en-US" sz="1600" b="1" noProof="0" dirty="0">
                          <a:latin typeface="Arial" panose="020B0604020202020204" pitchFamily="34" charset="0"/>
                          <a:cs typeface="Arial" panose="020B0604020202020204" pitchFamily="34" charset="0"/>
                        </a:rPr>
                        <a:t>V</a:t>
                      </a:r>
                    </a:p>
                  </a:txBody>
                  <a:tcP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00" noProof="0">
                          <a:latin typeface="Arial" panose="020B0604020202020204" pitchFamily="34" charset="0"/>
                          <a:cs typeface="Arial" panose="020B0604020202020204" pitchFamily="34" charset="0"/>
                        </a:rPr>
                        <a:t>Blank</a:t>
                      </a:r>
                    </a:p>
                  </a:txBody>
                  <a:tcP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noProof="0">
                          <a:latin typeface="Arial" panose="020B0604020202020204" pitchFamily="34" charset="0"/>
                          <a:cs typeface="Arial" panose="020B0604020202020204" pitchFamily="34" charset="0"/>
                        </a:rPr>
                        <a:t>7,627</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00" b="0" noProof="0" dirty="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b="0" noProof="0" dirty="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b="0" noProof="0" dirty="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b="0" noProof="0" dirty="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b="0" noProof="0" dirty="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689869344"/>
                  </a:ext>
                </a:extLst>
              </a:tr>
              <a:tr h="367150">
                <a:tc>
                  <a:txBody>
                    <a:bodyPr/>
                    <a:lstStyle/>
                    <a:p>
                      <a:r>
                        <a:rPr lang="en-US" sz="1600" noProof="0" dirty="0">
                          <a:latin typeface="Arial" panose="020B0604020202020204" pitchFamily="34" charset="0"/>
                          <a:cs typeface="Arial" panose="020B0604020202020204" pitchFamily="34" charset="0"/>
                        </a:rPr>
                        <a:t>6 </a:t>
                      </a:r>
                      <a:r>
                        <a:rPr lang="en-US" sz="1600" b="1" spc="-200" baseline="0" noProof="0" dirty="0">
                          <a:latin typeface="Arial" panose="020B0604020202020204" pitchFamily="34" charset="0"/>
                          <a:cs typeface="Arial" panose="020B0604020202020204" pitchFamily="34" charset="0"/>
                        </a:rPr>
                        <a:t>I R </a:t>
                      </a:r>
                      <a:r>
                        <a:rPr lang="en-US" sz="1600" b="1" noProof="0" dirty="0" err="1">
                          <a:latin typeface="Arial" panose="020B0604020202020204" pitchFamily="34" charset="0"/>
                          <a:cs typeface="Arial" panose="020B0604020202020204" pitchFamily="34" charset="0"/>
                        </a:rPr>
                        <a:t>R</a:t>
                      </a:r>
                      <a:endParaRPr lang="en-US" sz="1600" b="1" noProof="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00" noProof="0">
                          <a:latin typeface="Arial" panose="020B0604020202020204" pitchFamily="34" charset="0"/>
                          <a:cs typeface="Arial" panose="020B0604020202020204" pitchFamily="34" charset="0"/>
                        </a:rPr>
                        <a:t>Blank</a:t>
                      </a:r>
                    </a:p>
                  </a:txBody>
                  <a:tcP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600" noProof="0">
                          <a:latin typeface="Arial" panose="020B0604020202020204" pitchFamily="34" charset="0"/>
                          <a:cs typeface="Arial" panose="020B0604020202020204" pitchFamily="34" charset="0"/>
                        </a:rPr>
                        <a:t>27.9%</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b="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b="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b="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b="0" noProof="0" dirty="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b="0" noProof="0" dirty="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957531135"/>
                  </a:ext>
                </a:extLst>
              </a:tr>
            </a:tbl>
          </a:graphicData>
        </a:graphic>
      </p:graphicFrame>
      <p:graphicFrame>
        <p:nvGraphicFramePr>
          <p:cNvPr id="5" name="Object 5">
            <a:extLst>
              <a:ext uri="{FF2B5EF4-FFF2-40B4-BE49-F238E27FC236}">
                <a16:creationId xmlns:a16="http://schemas.microsoft.com/office/drawing/2014/main" id="{C54B9CE3-6859-F710-FEF2-FBEC88A4A767}"/>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71734181"/>
              </p:ext>
            </p:extLst>
          </p:nvPr>
        </p:nvGraphicFramePr>
        <p:xfrm>
          <a:off x="4388995" y="3951880"/>
          <a:ext cx="568325" cy="234115"/>
        </p:xfrm>
        <a:graphic>
          <a:graphicData uri="http://schemas.openxmlformats.org/presentationml/2006/ole">
            <mc:AlternateContent xmlns:mc="http://schemas.openxmlformats.org/markup-compatibility/2006">
              <mc:Choice xmlns:v="urn:schemas-microsoft-com:vml" Requires="v">
                <p:oleObj name="Equation" r:id="rId3" imgW="431640" imgH="177480" progId="Equation.DSMT4">
                  <p:embed/>
                </p:oleObj>
              </mc:Choice>
              <mc:Fallback>
                <p:oleObj name="Equation" r:id="rId3" imgW="431640" imgH="177480" progId="Equation.DSMT4">
                  <p:embed/>
                  <p:pic>
                    <p:nvPicPr>
                      <p:cNvPr id="5" name="Object 5" descr="= $7627.&quot;">
                        <a:extLst>
                          <a:ext uri="{FF2B5EF4-FFF2-40B4-BE49-F238E27FC236}">
                            <a16:creationId xmlns:a16="http://schemas.microsoft.com/office/drawing/2014/main" id="{060444F4-6EDF-7E6F-95E6-3BD1464BA10E}"/>
                          </a:ext>
                        </a:extLst>
                      </p:cNvPr>
                      <p:cNvPicPr>
                        <a:picLocks noChangeAspect="1" noChangeArrowheads="1"/>
                      </p:cNvPicPr>
                      <p:nvPr/>
                    </p:nvPicPr>
                    <p:blipFill>
                      <a:blip r:embed="rId4"/>
                      <a:srcRect/>
                      <a:stretch>
                        <a:fillRect/>
                      </a:stretch>
                    </p:blipFill>
                    <p:spPr bwMode="auto">
                      <a:xfrm>
                        <a:off x="4388995" y="3951880"/>
                        <a:ext cx="568325" cy="234115"/>
                      </a:xfrm>
                      <a:prstGeom prst="rect">
                        <a:avLst/>
                      </a:prstGeom>
                      <a:solidFill>
                        <a:srgbClr val="D4EAE4"/>
                      </a:solidFill>
                      <a:ln>
                        <a:noFill/>
                      </a:ln>
                    </p:spPr>
                  </p:pic>
                </p:oleObj>
              </mc:Fallback>
            </mc:AlternateContent>
          </a:graphicData>
        </a:graphic>
      </p:graphicFrame>
      <p:graphicFrame>
        <p:nvGraphicFramePr>
          <p:cNvPr id="6" name="Object 5">
            <a:extLst>
              <a:ext uri="{FF2B5EF4-FFF2-40B4-BE49-F238E27FC236}">
                <a16:creationId xmlns:a16="http://schemas.microsoft.com/office/drawing/2014/main" id="{D6A6FB14-6D8D-3611-36B3-D9C75818E010}"/>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511737905"/>
              </p:ext>
            </p:extLst>
          </p:nvPr>
        </p:nvGraphicFramePr>
        <p:xfrm>
          <a:off x="5309309" y="3951880"/>
          <a:ext cx="568165" cy="234205"/>
        </p:xfrm>
        <a:graphic>
          <a:graphicData uri="http://schemas.openxmlformats.org/presentationml/2006/ole">
            <mc:AlternateContent xmlns:mc="http://schemas.openxmlformats.org/markup-compatibility/2006">
              <mc:Choice xmlns:v="urn:schemas-microsoft-com:vml" Requires="v">
                <p:oleObj name="Equation" r:id="rId5" imgW="431640" imgH="177480" progId="Equation.DSMT4">
                  <p:embed/>
                </p:oleObj>
              </mc:Choice>
              <mc:Fallback>
                <p:oleObj name="Equation" r:id="rId5" imgW="431640" imgH="177480" progId="Equation.DSMT4">
                  <p:embed/>
                  <p:pic>
                    <p:nvPicPr>
                      <p:cNvPr id="5" name="Object 5" descr="= $7627.&quot;">
                        <a:extLst>
                          <a:ext uri="{FF2B5EF4-FFF2-40B4-BE49-F238E27FC236}">
                            <a16:creationId xmlns:a16="http://schemas.microsoft.com/office/drawing/2014/main" id="{C54B9CE3-6859-F710-FEF2-FBEC88A4A767}"/>
                          </a:ext>
                        </a:extLst>
                      </p:cNvPr>
                      <p:cNvPicPr>
                        <a:picLocks noChangeAspect="1" noChangeArrowheads="1"/>
                      </p:cNvPicPr>
                      <p:nvPr/>
                    </p:nvPicPr>
                    <p:blipFill>
                      <a:blip r:embed="rId6"/>
                      <a:srcRect/>
                      <a:stretch>
                        <a:fillRect/>
                      </a:stretch>
                    </p:blipFill>
                    <p:spPr bwMode="auto">
                      <a:xfrm>
                        <a:off x="5309309" y="3951880"/>
                        <a:ext cx="568165" cy="234205"/>
                      </a:xfrm>
                      <a:prstGeom prst="rect">
                        <a:avLst/>
                      </a:prstGeom>
                      <a:solidFill>
                        <a:srgbClr val="D4EAE4"/>
                      </a:solidFill>
                      <a:ln>
                        <a:noFill/>
                      </a:ln>
                    </p:spPr>
                  </p:pic>
                </p:oleObj>
              </mc:Fallback>
            </mc:AlternateContent>
          </a:graphicData>
        </a:graphic>
      </p:graphicFrame>
      <p:graphicFrame>
        <p:nvGraphicFramePr>
          <p:cNvPr id="7" name="Object 6">
            <a:extLst>
              <a:ext uri="{FF2B5EF4-FFF2-40B4-BE49-F238E27FC236}">
                <a16:creationId xmlns:a16="http://schemas.microsoft.com/office/drawing/2014/main" id="{5EAE87FE-8C52-3742-ECDC-9382E632E5DC}"/>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690741817"/>
              </p:ext>
            </p:extLst>
          </p:nvPr>
        </p:nvGraphicFramePr>
        <p:xfrm>
          <a:off x="6095491" y="3951880"/>
          <a:ext cx="568165" cy="234205"/>
        </p:xfrm>
        <a:graphic>
          <a:graphicData uri="http://schemas.openxmlformats.org/presentationml/2006/ole">
            <mc:AlternateContent xmlns:mc="http://schemas.openxmlformats.org/markup-compatibility/2006">
              <mc:Choice xmlns:v="urn:schemas-microsoft-com:vml" Requires="v">
                <p:oleObj name="Equation" r:id="rId7" imgW="431640" imgH="177480" progId="Equation.DSMT4">
                  <p:embed/>
                </p:oleObj>
              </mc:Choice>
              <mc:Fallback>
                <p:oleObj name="Equation" r:id="rId7" imgW="431640" imgH="177480" progId="Equation.DSMT4">
                  <p:embed/>
                  <p:pic>
                    <p:nvPicPr>
                      <p:cNvPr id="6" name="Object 5" descr="= $7627.&quot;">
                        <a:extLst>
                          <a:ext uri="{FF2B5EF4-FFF2-40B4-BE49-F238E27FC236}">
                            <a16:creationId xmlns:a16="http://schemas.microsoft.com/office/drawing/2014/main" id="{D6A6FB14-6D8D-3611-36B3-D9C75818E010}"/>
                          </a:ext>
                        </a:extLst>
                      </p:cNvPr>
                      <p:cNvPicPr>
                        <a:picLocks noChangeAspect="1" noChangeArrowheads="1"/>
                      </p:cNvPicPr>
                      <p:nvPr/>
                    </p:nvPicPr>
                    <p:blipFill>
                      <a:blip r:embed="rId8"/>
                      <a:srcRect/>
                      <a:stretch>
                        <a:fillRect/>
                      </a:stretch>
                    </p:blipFill>
                    <p:spPr bwMode="auto">
                      <a:xfrm>
                        <a:off x="6095491" y="3951880"/>
                        <a:ext cx="568165" cy="234205"/>
                      </a:xfrm>
                      <a:prstGeom prst="rect">
                        <a:avLst/>
                      </a:prstGeom>
                      <a:solidFill>
                        <a:srgbClr val="D4EAE4"/>
                      </a:solidFill>
                      <a:ln>
                        <a:noFill/>
                      </a:ln>
                    </p:spPr>
                  </p:pic>
                </p:oleObj>
              </mc:Fallback>
            </mc:AlternateContent>
          </a:graphicData>
        </a:graphic>
      </p:graphicFrame>
      <p:graphicFrame>
        <p:nvGraphicFramePr>
          <p:cNvPr id="8" name="Object 7">
            <a:extLst>
              <a:ext uri="{FF2B5EF4-FFF2-40B4-BE49-F238E27FC236}">
                <a16:creationId xmlns:a16="http://schemas.microsoft.com/office/drawing/2014/main" id="{0D249BF8-3827-AC3D-C55D-1FE4C1681EF3}"/>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327933418"/>
              </p:ext>
            </p:extLst>
          </p:nvPr>
        </p:nvGraphicFramePr>
        <p:xfrm>
          <a:off x="7050990" y="3951880"/>
          <a:ext cx="568165" cy="234205"/>
        </p:xfrm>
        <a:graphic>
          <a:graphicData uri="http://schemas.openxmlformats.org/presentationml/2006/ole">
            <mc:AlternateContent xmlns:mc="http://schemas.openxmlformats.org/markup-compatibility/2006">
              <mc:Choice xmlns:v="urn:schemas-microsoft-com:vml" Requires="v">
                <p:oleObj name="Equation" r:id="rId9" imgW="431640" imgH="177480" progId="Equation.DSMT4">
                  <p:embed/>
                </p:oleObj>
              </mc:Choice>
              <mc:Fallback>
                <p:oleObj name="Equation" r:id="rId9" imgW="431640" imgH="177480" progId="Equation.DSMT4">
                  <p:embed/>
                  <p:pic>
                    <p:nvPicPr>
                      <p:cNvPr id="7" name="Object 6" descr="= $7627.&quot;">
                        <a:extLst>
                          <a:ext uri="{FF2B5EF4-FFF2-40B4-BE49-F238E27FC236}">
                            <a16:creationId xmlns:a16="http://schemas.microsoft.com/office/drawing/2014/main" id="{5EAE87FE-8C52-3742-ECDC-9382E632E5DC}"/>
                          </a:ext>
                        </a:extLst>
                      </p:cNvPr>
                      <p:cNvPicPr>
                        <a:picLocks noChangeAspect="1" noChangeArrowheads="1"/>
                      </p:cNvPicPr>
                      <p:nvPr/>
                    </p:nvPicPr>
                    <p:blipFill>
                      <a:blip r:embed="rId10"/>
                      <a:srcRect/>
                      <a:stretch>
                        <a:fillRect/>
                      </a:stretch>
                    </p:blipFill>
                    <p:spPr bwMode="auto">
                      <a:xfrm>
                        <a:off x="7050990" y="3951880"/>
                        <a:ext cx="568165" cy="234205"/>
                      </a:xfrm>
                      <a:prstGeom prst="rect">
                        <a:avLst/>
                      </a:prstGeom>
                      <a:solidFill>
                        <a:srgbClr val="D4EAE4"/>
                      </a:solidFill>
                      <a:ln>
                        <a:noFill/>
                      </a:ln>
                    </p:spPr>
                  </p:pic>
                </p:oleObj>
              </mc:Fallback>
            </mc:AlternateContent>
          </a:graphicData>
        </a:graphic>
      </p:graphicFrame>
      <p:graphicFrame>
        <p:nvGraphicFramePr>
          <p:cNvPr id="9" name="Object 8">
            <a:extLst>
              <a:ext uri="{FF2B5EF4-FFF2-40B4-BE49-F238E27FC236}">
                <a16:creationId xmlns:a16="http://schemas.microsoft.com/office/drawing/2014/main" id="{4CB6BC1B-E77D-D417-81FF-21E9EDF3BC49}"/>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223086997"/>
              </p:ext>
            </p:extLst>
          </p:nvPr>
        </p:nvGraphicFramePr>
        <p:xfrm>
          <a:off x="7903237" y="3951790"/>
          <a:ext cx="568165" cy="234205"/>
        </p:xfrm>
        <a:graphic>
          <a:graphicData uri="http://schemas.openxmlformats.org/presentationml/2006/ole">
            <mc:AlternateContent xmlns:mc="http://schemas.openxmlformats.org/markup-compatibility/2006">
              <mc:Choice xmlns:v="urn:schemas-microsoft-com:vml" Requires="v">
                <p:oleObj name="Equation" r:id="rId11" imgW="431640" imgH="177480" progId="Equation.DSMT4">
                  <p:embed/>
                </p:oleObj>
              </mc:Choice>
              <mc:Fallback>
                <p:oleObj name="Equation" r:id="rId11" imgW="431640" imgH="177480" progId="Equation.DSMT4">
                  <p:embed/>
                  <p:pic>
                    <p:nvPicPr>
                      <p:cNvPr id="8" name="Object 7" descr="= $7627.&quot;">
                        <a:extLst>
                          <a:ext uri="{FF2B5EF4-FFF2-40B4-BE49-F238E27FC236}">
                            <a16:creationId xmlns:a16="http://schemas.microsoft.com/office/drawing/2014/main" id="{0D249BF8-3827-AC3D-C55D-1FE4C1681EF3}"/>
                          </a:ext>
                        </a:extLst>
                      </p:cNvPr>
                      <p:cNvPicPr>
                        <a:picLocks noChangeAspect="1" noChangeArrowheads="1"/>
                      </p:cNvPicPr>
                      <p:nvPr/>
                    </p:nvPicPr>
                    <p:blipFill>
                      <a:blip r:embed="rId12"/>
                      <a:srcRect/>
                      <a:stretch>
                        <a:fillRect/>
                      </a:stretch>
                    </p:blipFill>
                    <p:spPr bwMode="auto">
                      <a:xfrm>
                        <a:off x="7903237" y="3951790"/>
                        <a:ext cx="568165" cy="234205"/>
                      </a:xfrm>
                      <a:prstGeom prst="rect">
                        <a:avLst/>
                      </a:prstGeom>
                      <a:solidFill>
                        <a:srgbClr val="D4EAE4"/>
                      </a:solidFill>
                      <a:ln>
                        <a:noFill/>
                      </a:ln>
                    </p:spPr>
                  </p:pic>
                </p:oleObj>
              </mc:Fallback>
            </mc:AlternateContent>
          </a:graphicData>
        </a:graphic>
      </p:graphicFrame>
      <p:graphicFrame>
        <p:nvGraphicFramePr>
          <p:cNvPr id="11" name="Object 5">
            <a:extLst>
              <a:ext uri="{FF2B5EF4-FFF2-40B4-BE49-F238E27FC236}">
                <a16:creationId xmlns:a16="http://schemas.microsoft.com/office/drawing/2014/main" id="{8CF71E55-E5D2-8860-5743-385BE03E21A2}"/>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960718017"/>
              </p:ext>
            </p:extLst>
          </p:nvPr>
        </p:nvGraphicFramePr>
        <p:xfrm>
          <a:off x="3486143" y="3986213"/>
          <a:ext cx="550863" cy="234950"/>
        </p:xfrm>
        <a:graphic>
          <a:graphicData uri="http://schemas.openxmlformats.org/presentationml/2006/ole">
            <mc:AlternateContent xmlns:mc="http://schemas.openxmlformats.org/markup-compatibility/2006">
              <mc:Choice xmlns:v="urn:schemas-microsoft-com:vml" Requires="v">
                <p:oleObj name="Equation" r:id="rId13" imgW="419040" imgH="177480" progId="Equation.DSMT4">
                  <p:embed/>
                </p:oleObj>
              </mc:Choice>
              <mc:Fallback>
                <p:oleObj name="Equation" r:id="rId13" imgW="419040" imgH="177480" progId="Equation.DSMT4">
                  <p:embed/>
                  <p:pic>
                    <p:nvPicPr>
                      <p:cNvPr id="5" name="Object 5">
                        <a:extLst>
                          <a:ext uri="{FF2B5EF4-FFF2-40B4-BE49-F238E27FC236}">
                            <a16:creationId xmlns:a16="http://schemas.microsoft.com/office/drawing/2014/main" id="{C54B9CE3-6859-F710-FEF2-FBEC88A4A767}"/>
                          </a:ext>
                          <a:ext uri="{C183D7F6-B498-43B3-948B-1728B52AA6E4}">
                            <adec:decorative xmlns:adec="http://schemas.microsoft.com/office/drawing/2017/decorative" val="1"/>
                          </a:ext>
                        </a:extLst>
                      </p:cNvPr>
                      <p:cNvPicPr>
                        <a:picLocks noChangeAspect="1" noChangeArrowheads="1"/>
                      </p:cNvPicPr>
                      <p:nvPr/>
                    </p:nvPicPr>
                    <p:blipFill>
                      <a:blip r:embed="rId14"/>
                      <a:srcRect/>
                      <a:stretch>
                        <a:fillRect/>
                      </a:stretch>
                    </p:blipFill>
                    <p:spPr bwMode="auto">
                      <a:xfrm>
                        <a:off x="3486143" y="3986213"/>
                        <a:ext cx="550863" cy="234950"/>
                      </a:xfrm>
                      <a:prstGeom prst="rect">
                        <a:avLst/>
                      </a:prstGeom>
                      <a:solidFill>
                        <a:srgbClr val="D4EAE4"/>
                      </a:solidFill>
                      <a:ln>
                        <a:noFill/>
                      </a:ln>
                    </p:spPr>
                  </p:pic>
                </p:oleObj>
              </mc:Fallback>
            </mc:AlternateContent>
          </a:graphicData>
        </a:graphic>
      </p:graphicFrame>
    </p:spTree>
    <p:extLst>
      <p:ext uri="{BB962C8B-B14F-4D97-AF65-F5344CB8AC3E}">
        <p14:creationId xmlns:p14="http://schemas.microsoft.com/office/powerpoint/2010/main" val="30183739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42881"/>
            <a:ext cx="8266346" cy="559572"/>
          </a:xfrm>
        </p:spPr>
        <p:txBody>
          <a:bodyPr/>
          <a:lstStyle/>
          <a:p>
            <a:r>
              <a:rPr lang="en-US" sz="3400" dirty="0"/>
              <a:t>3. Choosing Among Alternatives </a:t>
            </a:r>
            <a:r>
              <a:rPr lang="en-US" sz="2600" dirty="0"/>
              <a:t>(1 of 6)</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45854" y="1335811"/>
            <a:ext cx="8266346" cy="775015"/>
          </a:xfrm>
        </p:spPr>
        <p:txBody>
          <a:bodyPr wrap="square" lIns="0" tIns="18000" rIns="0" bIns="18000" anchor="ctr">
            <a:spAutoFit/>
          </a:bodyPr>
          <a:lstStyle/>
          <a:p>
            <a:pPr marL="342900" indent="-342900">
              <a:spcBef>
                <a:spcPts val="600"/>
              </a:spcBef>
            </a:pPr>
            <a:r>
              <a:rPr lang="en-US" sz="2400" dirty="0"/>
              <a:t>Launching the HomeNet project produces a positive </a:t>
            </a:r>
            <a:r>
              <a:rPr lang="en-US" sz="2400" spc="-300" dirty="0"/>
              <a:t>N P </a:t>
            </a:r>
            <a:r>
              <a:rPr lang="en-US" sz="2400" dirty="0"/>
              <a:t>V, while not launching the project produces a 0 </a:t>
            </a:r>
            <a:r>
              <a:rPr lang="en-US" sz="2400" spc="-300" dirty="0"/>
              <a:t>N P </a:t>
            </a:r>
            <a:r>
              <a:rPr lang="en-US" sz="2400" dirty="0"/>
              <a:t>V</a:t>
            </a:r>
          </a:p>
        </p:txBody>
      </p:sp>
    </p:spTree>
    <p:extLst>
      <p:ext uri="{BB962C8B-B14F-4D97-AF65-F5344CB8AC3E}">
        <p14:creationId xmlns:p14="http://schemas.microsoft.com/office/powerpoint/2010/main" val="29248136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42881"/>
            <a:ext cx="8266346" cy="559572"/>
          </a:xfrm>
        </p:spPr>
        <p:txBody>
          <a:bodyPr/>
          <a:lstStyle/>
          <a:p>
            <a:r>
              <a:rPr lang="en-US" sz="3400" dirty="0"/>
              <a:t>3. Choosing Among Alternatives </a:t>
            </a:r>
            <a:r>
              <a:rPr lang="en-US" sz="2600" dirty="0"/>
              <a:t>(2 of 6)</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45854" y="1281529"/>
            <a:ext cx="8266346" cy="3144895"/>
          </a:xfrm>
        </p:spPr>
        <p:txBody>
          <a:bodyPr wrap="square" lIns="0" tIns="18000" rIns="0" bIns="18000" anchor="ctr">
            <a:spAutoFit/>
          </a:bodyPr>
          <a:lstStyle/>
          <a:p>
            <a:pPr marL="342900" indent="-342900">
              <a:spcBef>
                <a:spcPts val="600"/>
              </a:spcBef>
            </a:pPr>
            <a:r>
              <a:rPr lang="en-US" sz="2400" dirty="0"/>
              <a:t>Evaluating Manufacturing Alternatives</a:t>
            </a:r>
          </a:p>
          <a:p>
            <a:pPr marL="829818" lvl="1" indent="-342900"/>
            <a:r>
              <a:rPr lang="en-US" sz="2400" dirty="0"/>
              <a:t>In the HomeNet example, assume the company could produce each unit in-house for $95 if it spends $5 million upfront to change the assembly facility (versus $110 per unit if outsourced)</a:t>
            </a:r>
          </a:p>
          <a:p>
            <a:pPr marL="829818" lvl="1" indent="-342900"/>
            <a:r>
              <a:rPr lang="en-US" sz="2400" dirty="0"/>
              <a:t>The in-house manufacturing method would also require an additional investment in inventory equal to one month’s worth of production</a:t>
            </a:r>
          </a:p>
        </p:txBody>
      </p:sp>
    </p:spTree>
    <p:extLst>
      <p:ext uri="{BB962C8B-B14F-4D97-AF65-F5344CB8AC3E}">
        <p14:creationId xmlns:p14="http://schemas.microsoft.com/office/powerpoint/2010/main" val="6908901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42881"/>
            <a:ext cx="8266346" cy="559572"/>
          </a:xfrm>
        </p:spPr>
        <p:txBody>
          <a:bodyPr/>
          <a:lstStyle/>
          <a:p>
            <a:r>
              <a:rPr lang="en-US" sz="3400" dirty="0"/>
              <a:t>3. Choosing Among Alternatives </a:t>
            </a:r>
            <a:r>
              <a:rPr lang="en-US" sz="2600" dirty="0"/>
              <a:t>(3 of 6)</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45854" y="1030184"/>
            <a:ext cx="8266346" cy="851959"/>
          </a:xfrm>
        </p:spPr>
        <p:txBody>
          <a:bodyPr wrap="square" lIns="0" tIns="18000" rIns="0" bIns="18000" anchor="ctr">
            <a:spAutoFit/>
          </a:bodyPr>
          <a:lstStyle/>
          <a:p>
            <a:pPr marL="342900" indent="-342900">
              <a:spcBef>
                <a:spcPts val="600"/>
              </a:spcBef>
            </a:pPr>
            <a:r>
              <a:rPr lang="en-US" sz="2400" dirty="0"/>
              <a:t>Evaluating Manufacturing Alternatives</a:t>
            </a:r>
          </a:p>
          <a:p>
            <a:pPr marL="829818" lvl="1" indent="-342900"/>
            <a:r>
              <a:rPr lang="en-US" sz="2400" dirty="0"/>
              <a:t>Outsource</a:t>
            </a:r>
          </a:p>
        </p:txBody>
      </p:sp>
      <p:sp>
        <p:nvSpPr>
          <p:cNvPr id="4" name="Content Placeholder 3">
            <a:extLst>
              <a:ext uri="{FF2B5EF4-FFF2-40B4-BE49-F238E27FC236}">
                <a16:creationId xmlns:a16="http://schemas.microsoft.com/office/drawing/2014/main" id="{0DD52A53-AA06-30A3-80A8-F6004494B0FE}"/>
              </a:ext>
            </a:extLst>
          </p:cNvPr>
          <p:cNvSpPr>
            <a:spLocks noGrp="1"/>
          </p:cNvSpPr>
          <p:nvPr>
            <p:ph sz="quarter" idx="13"/>
          </p:nvPr>
        </p:nvSpPr>
        <p:spPr>
          <a:xfrm>
            <a:off x="437228" y="1958168"/>
            <a:ext cx="1141406" cy="405683"/>
          </a:xfrm>
        </p:spPr>
        <p:txBody>
          <a:bodyPr wrap="square" lIns="0" tIns="18000" rIns="0" bIns="18000" anchor="ctr">
            <a:spAutoFit/>
          </a:bodyPr>
          <a:lstStyle/>
          <a:p>
            <a:pPr marL="982663" lvl="2" indent="-96838"/>
            <a:r>
              <a:rPr lang="en-US" sz="2400" dirty="0"/>
              <a:t> </a:t>
            </a:r>
          </a:p>
        </p:txBody>
      </p:sp>
      <p:graphicFrame>
        <p:nvGraphicFramePr>
          <p:cNvPr id="14" name="Object 13" descr="Cost per unit equals 110 dollars.">
            <a:extLst>
              <a:ext uri="{FF2B5EF4-FFF2-40B4-BE49-F238E27FC236}">
                <a16:creationId xmlns:a16="http://schemas.microsoft.com/office/drawing/2014/main" id="{7E03F123-8B60-D5D4-1CF7-69748A328830}"/>
              </a:ext>
            </a:extLst>
          </p:cNvPr>
          <p:cNvGraphicFramePr>
            <a:graphicFrameLocks noChangeAspect="1"/>
          </p:cNvGraphicFramePr>
          <p:nvPr>
            <p:extLst>
              <p:ext uri="{D42A27DB-BD31-4B8C-83A1-F6EECF244321}">
                <p14:modId xmlns:p14="http://schemas.microsoft.com/office/powerpoint/2010/main" val="1619624340"/>
              </p:ext>
            </p:extLst>
          </p:nvPr>
        </p:nvGraphicFramePr>
        <p:xfrm>
          <a:off x="1662113" y="2029622"/>
          <a:ext cx="2418467" cy="317175"/>
        </p:xfrm>
        <a:graphic>
          <a:graphicData uri="http://schemas.openxmlformats.org/presentationml/2006/ole">
            <mc:AlternateContent xmlns:mc="http://schemas.openxmlformats.org/markup-compatibility/2006">
              <mc:Choice xmlns:v="urn:schemas-microsoft-com:vml" Requires="v">
                <p:oleObj name="Equation" r:id="rId2" imgW="2323800" imgH="304560" progId="Equation.DSMT4">
                  <p:embed/>
                </p:oleObj>
              </mc:Choice>
              <mc:Fallback>
                <p:oleObj name="Equation" r:id="rId2" imgW="2323800" imgH="304560" progId="Equation.DSMT4">
                  <p:embed/>
                  <p:pic>
                    <p:nvPicPr>
                      <p:cNvPr id="17" name="Object 16" descr="Cost pet unit = $110.">
                        <a:extLst>
                          <a:ext uri="{FF2B5EF4-FFF2-40B4-BE49-F238E27FC236}">
                            <a16:creationId xmlns:a16="http://schemas.microsoft.com/office/drawing/2014/main" id="{2C08403E-1784-4E65-B197-36D62281127E}"/>
                          </a:ext>
                        </a:extLst>
                      </p:cNvPr>
                      <p:cNvPicPr/>
                      <p:nvPr/>
                    </p:nvPicPr>
                    <p:blipFill>
                      <a:blip r:embed="rId3"/>
                      <a:stretch>
                        <a:fillRect/>
                      </a:stretch>
                    </p:blipFill>
                    <p:spPr>
                      <a:xfrm>
                        <a:off x="1662113" y="2029622"/>
                        <a:ext cx="2418467" cy="317175"/>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B030C7B8-0389-DAFE-D0DE-7BB944A22220}"/>
              </a:ext>
            </a:extLst>
          </p:cNvPr>
          <p:cNvSpPr>
            <a:spLocks noGrp="1"/>
          </p:cNvSpPr>
          <p:nvPr>
            <p:ph sz="quarter" idx="14"/>
          </p:nvPr>
        </p:nvSpPr>
        <p:spPr>
          <a:xfrm>
            <a:off x="445854" y="2426668"/>
            <a:ext cx="1132780" cy="405683"/>
          </a:xfrm>
        </p:spPr>
        <p:txBody>
          <a:bodyPr wrap="square" lIns="0" tIns="18000" rIns="0" bIns="18000" anchor="ctr">
            <a:spAutoFit/>
          </a:bodyPr>
          <a:lstStyle/>
          <a:p>
            <a:pPr marL="896938" lvl="2" indent="-11113"/>
            <a:r>
              <a:rPr lang="en-US" sz="2400" dirty="0"/>
              <a:t> </a:t>
            </a:r>
          </a:p>
        </p:txBody>
      </p:sp>
      <p:graphicFrame>
        <p:nvGraphicFramePr>
          <p:cNvPr id="15" name="Object 14" descr="Investment in A over P equals 15 percent of C O G S.">
            <a:extLst>
              <a:ext uri="{FF2B5EF4-FFF2-40B4-BE49-F238E27FC236}">
                <a16:creationId xmlns:a16="http://schemas.microsoft.com/office/drawing/2014/main" id="{EDA22FF7-2E01-6498-C15B-36542C0AD531}"/>
              </a:ext>
            </a:extLst>
          </p:cNvPr>
          <p:cNvGraphicFramePr>
            <a:graphicFrameLocks noChangeAspect="1"/>
          </p:cNvGraphicFramePr>
          <p:nvPr>
            <p:extLst>
              <p:ext uri="{D42A27DB-BD31-4B8C-83A1-F6EECF244321}">
                <p14:modId xmlns:p14="http://schemas.microsoft.com/office/powerpoint/2010/main" val="529551085"/>
              </p:ext>
            </p:extLst>
          </p:nvPr>
        </p:nvGraphicFramePr>
        <p:xfrm>
          <a:off x="1655763" y="2490788"/>
          <a:ext cx="4089400" cy="304800"/>
        </p:xfrm>
        <a:graphic>
          <a:graphicData uri="http://schemas.openxmlformats.org/presentationml/2006/ole">
            <mc:AlternateContent xmlns:mc="http://schemas.openxmlformats.org/markup-compatibility/2006">
              <mc:Choice xmlns:v="urn:schemas-microsoft-com:vml" Requires="v">
                <p:oleObj name="Equation" r:id="rId4" imgW="4089240" imgH="304560" progId="Equation.DSMT4">
                  <p:embed/>
                </p:oleObj>
              </mc:Choice>
              <mc:Fallback>
                <p:oleObj name="Equation" r:id="rId4" imgW="4089240" imgH="304560" progId="Equation.DSMT4">
                  <p:embed/>
                  <p:pic>
                    <p:nvPicPr>
                      <p:cNvPr id="16" name="Object 15" descr="Investment in A over P = 15 % of C O G S.">
                        <a:extLst>
                          <a:ext uri="{FF2B5EF4-FFF2-40B4-BE49-F238E27FC236}">
                            <a16:creationId xmlns:a16="http://schemas.microsoft.com/office/drawing/2014/main" id="{6968D782-D24E-4753-ADA4-6DF80BE7A35C}"/>
                          </a:ext>
                        </a:extLst>
                      </p:cNvPr>
                      <p:cNvPicPr/>
                      <p:nvPr/>
                    </p:nvPicPr>
                    <p:blipFill>
                      <a:blip r:embed="rId5"/>
                      <a:stretch>
                        <a:fillRect/>
                      </a:stretch>
                    </p:blipFill>
                    <p:spPr>
                      <a:xfrm>
                        <a:off x="1655763" y="2490788"/>
                        <a:ext cx="4089400" cy="304800"/>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C1C0ACDD-A35B-25D3-4C63-54D32CBC1EA0}"/>
              </a:ext>
            </a:extLst>
          </p:cNvPr>
          <p:cNvSpPr>
            <a:spLocks noGrp="1"/>
          </p:cNvSpPr>
          <p:nvPr>
            <p:ph sz="quarter" idx="15"/>
          </p:nvPr>
        </p:nvSpPr>
        <p:spPr>
          <a:xfrm>
            <a:off x="440427" y="2902079"/>
            <a:ext cx="1785188" cy="405683"/>
          </a:xfrm>
        </p:spPr>
        <p:txBody>
          <a:bodyPr wrap="square" lIns="0" tIns="18000" rIns="0" bIns="18000" anchor="ctr">
            <a:spAutoFit/>
          </a:bodyPr>
          <a:lstStyle/>
          <a:p>
            <a:pPr marL="1346200" lvl="3" indent="-3175"/>
            <a:r>
              <a:rPr lang="en-US" sz="2400" dirty="0"/>
              <a:t> </a:t>
            </a:r>
          </a:p>
        </p:txBody>
      </p:sp>
      <p:graphicFrame>
        <p:nvGraphicFramePr>
          <p:cNvPr id="16" name="Object 15" descr="C O G S equals 100000 units times 110 dollars equals 11 million dollars.">
            <a:extLst>
              <a:ext uri="{FF2B5EF4-FFF2-40B4-BE49-F238E27FC236}">
                <a16:creationId xmlns:a16="http://schemas.microsoft.com/office/drawing/2014/main" id="{08F9A20E-F708-4E80-2E3A-5879651DEEBF}"/>
              </a:ext>
            </a:extLst>
          </p:cNvPr>
          <p:cNvGraphicFramePr>
            <a:graphicFrameLocks noChangeAspect="1"/>
          </p:cNvGraphicFramePr>
          <p:nvPr>
            <p:extLst>
              <p:ext uri="{D42A27DB-BD31-4B8C-83A1-F6EECF244321}">
                <p14:modId xmlns:p14="http://schemas.microsoft.com/office/powerpoint/2010/main" val="1842579157"/>
              </p:ext>
            </p:extLst>
          </p:nvPr>
        </p:nvGraphicFramePr>
        <p:xfrm>
          <a:off x="2298202" y="2983516"/>
          <a:ext cx="4887087" cy="282194"/>
        </p:xfrm>
        <a:graphic>
          <a:graphicData uri="http://schemas.openxmlformats.org/presentationml/2006/ole">
            <mc:AlternateContent xmlns:mc="http://schemas.openxmlformats.org/markup-compatibility/2006">
              <mc:Choice xmlns:v="urn:schemas-microsoft-com:vml" Requires="v">
                <p:oleObj name="Equation" r:id="rId6" imgW="4838400" imgH="279360" progId="Equation.DSMT4">
                  <p:embed/>
                </p:oleObj>
              </mc:Choice>
              <mc:Fallback>
                <p:oleObj name="Equation" r:id="rId6" imgW="4838400" imgH="279360" progId="Equation.DSMT4">
                  <p:embed/>
                  <p:pic>
                    <p:nvPicPr>
                      <p:cNvPr id="4" name="Object 3" descr="C O G S = 100,000 units times $ 110 = $ 11 million. ">
                        <a:extLst>
                          <a:ext uri="{FF2B5EF4-FFF2-40B4-BE49-F238E27FC236}">
                            <a16:creationId xmlns:a16="http://schemas.microsoft.com/office/drawing/2014/main" id="{4D194680-89F4-4B8F-9B4D-D31B6F64F278}"/>
                          </a:ext>
                        </a:extLst>
                      </p:cNvPr>
                      <p:cNvPicPr/>
                      <p:nvPr/>
                    </p:nvPicPr>
                    <p:blipFill>
                      <a:blip r:embed="rId7"/>
                      <a:stretch>
                        <a:fillRect/>
                      </a:stretch>
                    </p:blipFill>
                    <p:spPr>
                      <a:xfrm>
                        <a:off x="2298202" y="2983516"/>
                        <a:ext cx="4887087" cy="282194"/>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08C3A91A-079C-20AC-07FB-018BA09FEBE5}"/>
              </a:ext>
            </a:extLst>
          </p:cNvPr>
          <p:cNvSpPr>
            <a:spLocks noGrp="1"/>
          </p:cNvSpPr>
          <p:nvPr>
            <p:ph sz="quarter" idx="16"/>
          </p:nvPr>
        </p:nvSpPr>
        <p:spPr>
          <a:xfrm>
            <a:off x="440428" y="3400779"/>
            <a:ext cx="3570856" cy="405683"/>
          </a:xfrm>
        </p:spPr>
        <p:txBody>
          <a:bodyPr wrap="square" lIns="0" tIns="18000" rIns="0" bIns="18000" anchor="ctr">
            <a:spAutoFit/>
          </a:bodyPr>
          <a:lstStyle/>
          <a:p>
            <a:pPr marL="1687068" lvl="3" indent="-342900"/>
            <a:r>
              <a:rPr lang="en-US" sz="2400" dirty="0"/>
              <a:t>Investment in</a:t>
            </a:r>
          </a:p>
        </p:txBody>
      </p:sp>
      <p:graphicFrame>
        <p:nvGraphicFramePr>
          <p:cNvPr id="12" name="Object 11" descr="A over P equals 15 percent times 11 million dollars equals 1.65 million dollars.">
            <a:extLst>
              <a:ext uri="{FF2B5EF4-FFF2-40B4-BE49-F238E27FC236}">
                <a16:creationId xmlns:a16="http://schemas.microsoft.com/office/drawing/2014/main" id="{B8DE9258-BA8C-496F-8AEB-E4709B68E159}"/>
              </a:ext>
            </a:extLst>
          </p:cNvPr>
          <p:cNvGraphicFramePr>
            <a:graphicFrameLocks noChangeAspect="1"/>
          </p:cNvGraphicFramePr>
          <p:nvPr>
            <p:extLst>
              <p:ext uri="{D42A27DB-BD31-4B8C-83A1-F6EECF244321}">
                <p14:modId xmlns:p14="http://schemas.microsoft.com/office/powerpoint/2010/main" val="2627918792"/>
              </p:ext>
            </p:extLst>
          </p:nvPr>
        </p:nvGraphicFramePr>
        <p:xfrm>
          <a:off x="4087998" y="3499318"/>
          <a:ext cx="4413250" cy="309562"/>
        </p:xfrm>
        <a:graphic>
          <a:graphicData uri="http://schemas.openxmlformats.org/presentationml/2006/ole">
            <mc:AlternateContent xmlns:mc="http://schemas.openxmlformats.org/markup-compatibility/2006">
              <mc:Choice xmlns:v="urn:schemas-microsoft-com:vml" Requires="v">
                <p:oleObj name="Equation" r:id="rId8" imgW="4343400" imgH="304560" progId="Equation.DSMT4">
                  <p:embed/>
                </p:oleObj>
              </mc:Choice>
              <mc:Fallback>
                <p:oleObj name="Equation" r:id="rId8" imgW="4343400" imgH="304560" progId="Equation.DSMT4">
                  <p:embed/>
                  <p:pic>
                    <p:nvPicPr>
                      <p:cNvPr id="5" name="Object 4" descr="A over P = 15 % times $ 11 million = $ 1.65 miilion.">
                        <a:extLst>
                          <a:ext uri="{FF2B5EF4-FFF2-40B4-BE49-F238E27FC236}">
                            <a16:creationId xmlns:a16="http://schemas.microsoft.com/office/drawing/2014/main" id="{1AFA9331-24D4-4070-96FA-BF97F942864B}"/>
                          </a:ext>
                        </a:extLst>
                      </p:cNvPr>
                      <p:cNvPicPr/>
                      <p:nvPr/>
                    </p:nvPicPr>
                    <p:blipFill>
                      <a:blip r:embed="rId9"/>
                      <a:stretch>
                        <a:fillRect/>
                      </a:stretch>
                    </p:blipFill>
                    <p:spPr>
                      <a:xfrm>
                        <a:off x="4087998" y="3499318"/>
                        <a:ext cx="4413250" cy="309562"/>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96B42F65-93C6-54B7-C45E-C0D993CD1103}"/>
              </a:ext>
            </a:extLst>
          </p:cNvPr>
          <p:cNvSpPr>
            <a:spLocks noGrp="1"/>
          </p:cNvSpPr>
          <p:nvPr>
            <p:ph sz="quarter" idx="17"/>
          </p:nvPr>
        </p:nvSpPr>
        <p:spPr>
          <a:xfrm>
            <a:off x="431801" y="3971163"/>
            <a:ext cx="2182003" cy="405683"/>
          </a:xfrm>
        </p:spPr>
        <p:txBody>
          <a:bodyPr wrap="square" lIns="0" tIns="18000" rIns="0" bIns="18000" anchor="ctr">
            <a:spAutoFit/>
          </a:bodyPr>
          <a:lstStyle/>
          <a:p>
            <a:pPr marL="1881188" lvl="4" indent="-80963"/>
            <a:r>
              <a:rPr lang="en-US" sz="2400" dirty="0"/>
              <a:t> </a:t>
            </a:r>
          </a:p>
        </p:txBody>
      </p:sp>
      <p:graphicFrame>
        <p:nvGraphicFramePr>
          <p:cNvPr id="13" name="Object 12" descr="Delta N W C equals negative 1.65 dollars.">
            <a:extLst>
              <a:ext uri="{FF2B5EF4-FFF2-40B4-BE49-F238E27FC236}">
                <a16:creationId xmlns:a16="http://schemas.microsoft.com/office/drawing/2014/main" id="{7E71F097-E2BE-8F06-E7C7-4E2855353540}"/>
              </a:ext>
            </a:extLst>
          </p:cNvPr>
          <p:cNvGraphicFramePr>
            <a:graphicFrameLocks noChangeAspect="1"/>
          </p:cNvGraphicFramePr>
          <p:nvPr>
            <p:extLst>
              <p:ext uri="{D42A27DB-BD31-4B8C-83A1-F6EECF244321}">
                <p14:modId xmlns:p14="http://schemas.microsoft.com/office/powerpoint/2010/main" val="69276748"/>
              </p:ext>
            </p:extLst>
          </p:nvPr>
        </p:nvGraphicFramePr>
        <p:xfrm>
          <a:off x="2705909" y="4036830"/>
          <a:ext cx="1995488" cy="292100"/>
        </p:xfrm>
        <a:graphic>
          <a:graphicData uri="http://schemas.openxmlformats.org/presentationml/2006/ole">
            <mc:AlternateContent xmlns:mc="http://schemas.openxmlformats.org/markup-compatibility/2006">
              <mc:Choice xmlns:v="urn:schemas-microsoft-com:vml" Requires="v">
                <p:oleObj name="Equation" r:id="rId10" imgW="1917360" imgH="279360" progId="Equation.DSMT4">
                  <p:embed/>
                </p:oleObj>
              </mc:Choice>
              <mc:Fallback>
                <p:oleObj name="Equation" r:id="rId10" imgW="1917360" imgH="279360" progId="Equation.DSMT4">
                  <p:embed/>
                  <p:pic>
                    <p:nvPicPr>
                      <p:cNvPr id="6" name="Object 5" descr="Delta N W C = negative $ 1.65.">
                        <a:extLst>
                          <a:ext uri="{FF2B5EF4-FFF2-40B4-BE49-F238E27FC236}">
                            <a16:creationId xmlns:a16="http://schemas.microsoft.com/office/drawing/2014/main" id="{C2900D21-05B6-4E1F-B5A2-3D890EF88F7F}"/>
                          </a:ext>
                        </a:extLst>
                      </p:cNvPr>
                      <p:cNvPicPr/>
                      <p:nvPr/>
                    </p:nvPicPr>
                    <p:blipFill>
                      <a:blip r:embed="rId11"/>
                      <a:stretch>
                        <a:fillRect/>
                      </a:stretch>
                    </p:blipFill>
                    <p:spPr>
                      <a:xfrm>
                        <a:off x="2705909" y="4036830"/>
                        <a:ext cx="1995488" cy="292100"/>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B47779A3-F958-7565-C6CB-A7F65FAE18BC}"/>
              </a:ext>
            </a:extLst>
          </p:cNvPr>
          <p:cNvSpPr>
            <a:spLocks noGrp="1"/>
          </p:cNvSpPr>
          <p:nvPr>
            <p:ph sz="quarter" idx="18"/>
          </p:nvPr>
        </p:nvSpPr>
        <p:spPr>
          <a:xfrm>
            <a:off x="4793502" y="3951922"/>
            <a:ext cx="3332582" cy="405683"/>
          </a:xfrm>
        </p:spPr>
        <p:txBody>
          <a:bodyPr wrap="square" lIns="0" tIns="18000" rIns="0" bIns="18000" anchor="ctr">
            <a:spAutoFit/>
          </a:bodyPr>
          <a:lstStyle/>
          <a:p>
            <a:pPr marL="0" lvl="4" indent="0">
              <a:buNone/>
            </a:pPr>
            <a:r>
              <a:rPr lang="en-US" sz="2400" dirty="0"/>
              <a:t>million in Year 1 and will</a:t>
            </a:r>
          </a:p>
        </p:txBody>
      </p:sp>
      <p:sp>
        <p:nvSpPr>
          <p:cNvPr id="10" name="Content Placeholder 9">
            <a:extLst>
              <a:ext uri="{FF2B5EF4-FFF2-40B4-BE49-F238E27FC236}">
                <a16:creationId xmlns:a16="http://schemas.microsoft.com/office/drawing/2014/main" id="{78AA0A67-8013-C11A-5E5B-E0A2B1054832}"/>
              </a:ext>
            </a:extLst>
          </p:cNvPr>
          <p:cNvSpPr>
            <a:spLocks noGrp="1"/>
          </p:cNvSpPr>
          <p:nvPr>
            <p:ph sz="quarter" idx="19"/>
          </p:nvPr>
        </p:nvSpPr>
        <p:spPr>
          <a:xfrm>
            <a:off x="2727862" y="4454370"/>
            <a:ext cx="4682231" cy="405683"/>
          </a:xfrm>
        </p:spPr>
        <p:txBody>
          <a:bodyPr wrap="square" lIns="0" tIns="18000" rIns="0" bIns="18000" anchor="ctr">
            <a:spAutoFit/>
          </a:bodyPr>
          <a:lstStyle/>
          <a:p>
            <a:pPr marL="0" lvl="4" indent="0">
              <a:buNone/>
            </a:pPr>
            <a:r>
              <a:rPr lang="en-US" sz="2400" dirty="0"/>
              <a:t>increase by $1.65 million in Year 5</a:t>
            </a:r>
          </a:p>
        </p:txBody>
      </p:sp>
      <p:sp>
        <p:nvSpPr>
          <p:cNvPr id="11" name="Content Placeholder 10">
            <a:extLst>
              <a:ext uri="{FF2B5EF4-FFF2-40B4-BE49-F238E27FC236}">
                <a16:creationId xmlns:a16="http://schemas.microsoft.com/office/drawing/2014/main" id="{C5DF8A97-A8A6-D76D-B9F6-3C2A71CC0AC2}"/>
              </a:ext>
            </a:extLst>
          </p:cNvPr>
          <p:cNvSpPr>
            <a:spLocks noGrp="1"/>
          </p:cNvSpPr>
          <p:nvPr>
            <p:ph sz="quarter" idx="20"/>
          </p:nvPr>
        </p:nvSpPr>
        <p:spPr>
          <a:xfrm>
            <a:off x="445854" y="4992960"/>
            <a:ext cx="8266346" cy="775015"/>
          </a:xfrm>
        </p:spPr>
        <p:txBody>
          <a:bodyPr wrap="square" lIns="0" tIns="18000" rIns="0" bIns="18000" anchor="ctr">
            <a:spAutoFit/>
          </a:bodyPr>
          <a:lstStyle/>
          <a:p>
            <a:pPr marL="2144268" lvl="4" indent="-342900"/>
            <a:r>
              <a:rPr lang="en-US" sz="2400" spc="-300" dirty="0"/>
              <a:t>N W </a:t>
            </a:r>
            <a:r>
              <a:rPr lang="en-US" sz="2400" dirty="0"/>
              <a:t>C falls since this A/P is financed by suppliers</a:t>
            </a:r>
          </a:p>
        </p:txBody>
      </p:sp>
    </p:spTree>
    <p:extLst>
      <p:ext uri="{BB962C8B-B14F-4D97-AF65-F5344CB8AC3E}">
        <p14:creationId xmlns:p14="http://schemas.microsoft.com/office/powerpoint/2010/main" val="12696121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42881"/>
            <a:ext cx="8266346" cy="559572"/>
          </a:xfrm>
        </p:spPr>
        <p:txBody>
          <a:bodyPr/>
          <a:lstStyle/>
          <a:p>
            <a:r>
              <a:rPr lang="en-US" sz="3400" dirty="0"/>
              <a:t>3. Choosing Among Alternatives </a:t>
            </a:r>
            <a:r>
              <a:rPr lang="en-US" sz="2600" dirty="0"/>
              <a:t>(4 of 6)</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45854" y="1062346"/>
            <a:ext cx="8266346" cy="1883011"/>
          </a:xfrm>
        </p:spPr>
        <p:txBody>
          <a:bodyPr wrap="square" lIns="0" tIns="18000" rIns="0" bIns="18000" anchor="ctr">
            <a:spAutoFit/>
          </a:bodyPr>
          <a:lstStyle/>
          <a:p>
            <a:pPr marL="342900" indent="-342900">
              <a:spcBef>
                <a:spcPts val="600"/>
              </a:spcBef>
            </a:pPr>
            <a:r>
              <a:rPr lang="en-US" sz="2000" dirty="0"/>
              <a:t>Evaluating Manufacturing Alternatives</a:t>
            </a:r>
          </a:p>
          <a:p>
            <a:pPr marL="829818" lvl="1" indent="-342900"/>
            <a:r>
              <a:rPr lang="en-US" sz="2000" dirty="0"/>
              <a:t>In-House</a:t>
            </a:r>
          </a:p>
          <a:p>
            <a:pPr marL="1229868" lvl="2" indent="-342900"/>
            <a:r>
              <a:rPr lang="en-US" sz="2000" dirty="0"/>
              <a:t>Cost per unit = $95</a:t>
            </a:r>
          </a:p>
          <a:p>
            <a:pPr marL="1229868" lvl="2" indent="-342900"/>
            <a:r>
              <a:rPr lang="en-US" sz="2000" dirty="0"/>
              <a:t>Up-front cost of $5,000,000</a:t>
            </a:r>
          </a:p>
          <a:p>
            <a:pPr marL="1229868" lvl="2" indent="-342900"/>
            <a:r>
              <a:rPr lang="en-US" sz="2000" dirty="0"/>
              <a:t>Investment in A/P = 15% of </a:t>
            </a:r>
            <a:r>
              <a:rPr lang="en-US" sz="2000" spc="-300" dirty="0"/>
              <a:t>C O G </a:t>
            </a:r>
            <a:r>
              <a:rPr lang="en-US" sz="2000" dirty="0"/>
              <a:t>S</a:t>
            </a:r>
          </a:p>
        </p:txBody>
      </p:sp>
      <p:sp>
        <p:nvSpPr>
          <p:cNvPr id="4" name="Content Placeholder 3">
            <a:extLst>
              <a:ext uri="{FF2B5EF4-FFF2-40B4-BE49-F238E27FC236}">
                <a16:creationId xmlns:a16="http://schemas.microsoft.com/office/drawing/2014/main" id="{0DD52A53-AA06-30A3-80A8-F6004494B0FE}"/>
              </a:ext>
            </a:extLst>
          </p:cNvPr>
          <p:cNvSpPr>
            <a:spLocks noGrp="1"/>
          </p:cNvSpPr>
          <p:nvPr>
            <p:ph sz="quarter" idx="13"/>
          </p:nvPr>
        </p:nvSpPr>
        <p:spPr>
          <a:xfrm>
            <a:off x="437228" y="3070802"/>
            <a:ext cx="1785188" cy="405683"/>
          </a:xfrm>
        </p:spPr>
        <p:txBody>
          <a:bodyPr wrap="square" lIns="0" tIns="18000" rIns="0" bIns="18000" anchor="ctr">
            <a:spAutoFit/>
          </a:bodyPr>
          <a:lstStyle/>
          <a:p>
            <a:pPr marL="1439863" lvl="3" indent="-96838"/>
            <a:r>
              <a:rPr lang="en-US" sz="2400" dirty="0"/>
              <a:t> </a:t>
            </a:r>
          </a:p>
        </p:txBody>
      </p:sp>
      <p:graphicFrame>
        <p:nvGraphicFramePr>
          <p:cNvPr id="14" name="Object 13" descr="C O G S equals 100000 units times 95 dollars equals 9.5 million dollars.">
            <a:extLst>
              <a:ext uri="{FF2B5EF4-FFF2-40B4-BE49-F238E27FC236}">
                <a16:creationId xmlns:a16="http://schemas.microsoft.com/office/drawing/2014/main" id="{EC4B11CC-BA52-A4F4-3E8A-EC20A8B17CE7}"/>
              </a:ext>
            </a:extLst>
          </p:cNvPr>
          <p:cNvGraphicFramePr>
            <a:graphicFrameLocks noChangeAspect="1"/>
          </p:cNvGraphicFramePr>
          <p:nvPr>
            <p:extLst>
              <p:ext uri="{D42A27DB-BD31-4B8C-83A1-F6EECF244321}">
                <p14:modId xmlns:p14="http://schemas.microsoft.com/office/powerpoint/2010/main" val="3380479857"/>
              </p:ext>
            </p:extLst>
          </p:nvPr>
        </p:nvGraphicFramePr>
        <p:xfrm>
          <a:off x="2289509" y="3147291"/>
          <a:ext cx="4875530" cy="307340"/>
        </p:xfrm>
        <a:graphic>
          <a:graphicData uri="http://schemas.openxmlformats.org/presentationml/2006/ole">
            <mc:AlternateContent xmlns:mc="http://schemas.openxmlformats.org/markup-compatibility/2006">
              <mc:Choice xmlns:v="urn:schemas-microsoft-com:vml" Requires="v">
                <p:oleObj name="Equation" r:id="rId2" imgW="4431960" imgH="279360" progId="Equation.DSMT4">
                  <p:embed/>
                </p:oleObj>
              </mc:Choice>
              <mc:Fallback>
                <p:oleObj name="Equation" r:id="rId2" imgW="4431960" imgH="279360" progId="Equation.DSMT4">
                  <p:embed/>
                  <p:pic>
                    <p:nvPicPr>
                      <p:cNvPr id="7" name="Object 6" descr="C O G S = 100,000 units times $ 95 = $ 9.5 miilion.">
                        <a:extLst>
                          <a:ext uri="{FF2B5EF4-FFF2-40B4-BE49-F238E27FC236}">
                            <a16:creationId xmlns:a16="http://schemas.microsoft.com/office/drawing/2014/main" id="{7D313148-9168-4CF7-AB44-FEE2E2466159}"/>
                          </a:ext>
                        </a:extLst>
                      </p:cNvPr>
                      <p:cNvPicPr/>
                      <p:nvPr/>
                    </p:nvPicPr>
                    <p:blipFill>
                      <a:blip r:embed="rId3"/>
                      <a:stretch>
                        <a:fillRect/>
                      </a:stretch>
                    </p:blipFill>
                    <p:spPr>
                      <a:xfrm>
                        <a:off x="2289509" y="3147291"/>
                        <a:ext cx="4875530" cy="307340"/>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B030C7B8-0389-DAFE-D0DE-7BB944A22220}"/>
              </a:ext>
            </a:extLst>
          </p:cNvPr>
          <p:cNvSpPr>
            <a:spLocks noGrp="1"/>
          </p:cNvSpPr>
          <p:nvPr>
            <p:ph sz="quarter" idx="14"/>
          </p:nvPr>
        </p:nvSpPr>
        <p:spPr>
          <a:xfrm>
            <a:off x="445854" y="3575155"/>
            <a:ext cx="1785188" cy="405683"/>
          </a:xfrm>
        </p:spPr>
        <p:txBody>
          <a:bodyPr wrap="square" lIns="0" tIns="18000" rIns="0" bIns="18000" anchor="ctr">
            <a:spAutoFit/>
          </a:bodyPr>
          <a:lstStyle/>
          <a:p>
            <a:pPr marL="1439863" lvl="3" indent="-96838"/>
            <a:r>
              <a:rPr lang="en-US" sz="2400" dirty="0"/>
              <a:t> </a:t>
            </a:r>
          </a:p>
        </p:txBody>
      </p:sp>
      <p:graphicFrame>
        <p:nvGraphicFramePr>
          <p:cNvPr id="15" name="Object 14" descr="Investment in A over P equals 15 percent times 9.5 million dollars equals 1.425 million dollars.">
            <a:extLst>
              <a:ext uri="{FF2B5EF4-FFF2-40B4-BE49-F238E27FC236}">
                <a16:creationId xmlns:a16="http://schemas.microsoft.com/office/drawing/2014/main" id="{FF60C7F9-0487-14F9-2CC5-B899147D35CA}"/>
              </a:ext>
            </a:extLst>
          </p:cNvPr>
          <p:cNvGraphicFramePr>
            <a:graphicFrameLocks noChangeAspect="1"/>
          </p:cNvGraphicFramePr>
          <p:nvPr>
            <p:extLst>
              <p:ext uri="{D42A27DB-BD31-4B8C-83A1-F6EECF244321}">
                <p14:modId xmlns:p14="http://schemas.microsoft.com/office/powerpoint/2010/main" val="3558213314"/>
              </p:ext>
            </p:extLst>
          </p:nvPr>
        </p:nvGraphicFramePr>
        <p:xfrm>
          <a:off x="2302551" y="3675171"/>
          <a:ext cx="5938793" cy="300656"/>
        </p:xfrm>
        <a:graphic>
          <a:graphicData uri="http://schemas.openxmlformats.org/presentationml/2006/ole">
            <mc:AlternateContent xmlns:mc="http://schemas.openxmlformats.org/markup-compatibility/2006">
              <mc:Choice xmlns:v="urn:schemas-microsoft-com:vml" Requires="v">
                <p:oleObj name="Equation" r:id="rId4" imgW="5486400" imgH="279360" progId="Equation.DSMT4">
                  <p:embed/>
                </p:oleObj>
              </mc:Choice>
              <mc:Fallback>
                <p:oleObj name="Equation" r:id="rId4" imgW="5486400" imgH="279360" progId="Equation.DSMT4">
                  <p:embed/>
                  <p:pic>
                    <p:nvPicPr>
                      <p:cNvPr id="6" name="Object 5" descr="Investment in A over P = 15 % times $ 9.5 million = $ 1.425 million.">
                        <a:extLst>
                          <a:ext uri="{FF2B5EF4-FFF2-40B4-BE49-F238E27FC236}">
                            <a16:creationId xmlns:a16="http://schemas.microsoft.com/office/drawing/2014/main" id="{90F6EB26-6D36-40BE-A630-A19F8A43331D}"/>
                          </a:ext>
                        </a:extLst>
                      </p:cNvPr>
                      <p:cNvPicPr/>
                      <p:nvPr/>
                    </p:nvPicPr>
                    <p:blipFill>
                      <a:blip r:embed="rId5"/>
                      <a:stretch>
                        <a:fillRect/>
                      </a:stretch>
                    </p:blipFill>
                    <p:spPr>
                      <a:xfrm>
                        <a:off x="2302551" y="3675171"/>
                        <a:ext cx="5938793" cy="300656"/>
                      </a:xfrm>
                      <a:prstGeom prst="rect">
                        <a:avLst/>
                      </a:prstGeom>
                    </p:spPr>
                  </p:pic>
                </p:oleObj>
              </mc:Fallback>
            </mc:AlternateContent>
          </a:graphicData>
        </a:graphic>
      </p:graphicFrame>
      <p:graphicFrame>
        <p:nvGraphicFramePr>
          <p:cNvPr id="25" name="Object 24" descr="Investment in inventory equals 9.5 million dollars over 12 equals 0.792 million dollars.">
            <a:extLst>
              <a:ext uri="{FF2B5EF4-FFF2-40B4-BE49-F238E27FC236}">
                <a16:creationId xmlns:a16="http://schemas.microsoft.com/office/drawing/2014/main" id="{D564CABD-186F-CA0F-9856-6A7CC6D27D62}"/>
              </a:ext>
            </a:extLst>
          </p:cNvPr>
          <p:cNvGraphicFramePr>
            <a:graphicFrameLocks noChangeAspect="1"/>
          </p:cNvGraphicFramePr>
          <p:nvPr>
            <p:extLst>
              <p:ext uri="{D42A27DB-BD31-4B8C-83A1-F6EECF244321}">
                <p14:modId xmlns:p14="http://schemas.microsoft.com/office/powerpoint/2010/main" val="3287956601"/>
              </p:ext>
            </p:extLst>
          </p:nvPr>
        </p:nvGraphicFramePr>
        <p:xfrm>
          <a:off x="1356876" y="4126684"/>
          <a:ext cx="5917068" cy="612839"/>
        </p:xfrm>
        <a:graphic>
          <a:graphicData uri="http://schemas.openxmlformats.org/presentationml/2006/ole">
            <mc:AlternateContent xmlns:mc="http://schemas.openxmlformats.org/markup-compatibility/2006">
              <mc:Choice xmlns:v="urn:schemas-microsoft-com:vml" Requires="v">
                <p:oleObj name="Equation" r:id="rId6" imgW="5524200" imgH="571320" progId="Equation.DSMT4">
                  <p:embed/>
                </p:oleObj>
              </mc:Choice>
              <mc:Fallback>
                <p:oleObj name="Equation" r:id="rId6" imgW="5524200" imgH="571320" progId="Equation.DSMT4">
                  <p:embed/>
                  <p:pic>
                    <p:nvPicPr>
                      <p:cNvPr id="3" name="Object 2" descr="Investment in Inventory = start fraction $9.5 million over 12 end fraction = $0.792 million."/>
                      <p:cNvPicPr/>
                      <p:nvPr/>
                    </p:nvPicPr>
                    <p:blipFill>
                      <a:blip r:embed="rId7"/>
                      <a:stretch>
                        <a:fillRect/>
                      </a:stretch>
                    </p:blipFill>
                    <p:spPr>
                      <a:xfrm>
                        <a:off x="1356876" y="4126684"/>
                        <a:ext cx="5917068" cy="612839"/>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C1C0ACDD-A35B-25D3-4C63-54D32CBC1EA0}"/>
              </a:ext>
            </a:extLst>
          </p:cNvPr>
          <p:cNvSpPr>
            <a:spLocks noGrp="1"/>
          </p:cNvSpPr>
          <p:nvPr>
            <p:ph sz="quarter" idx="15"/>
          </p:nvPr>
        </p:nvSpPr>
        <p:spPr>
          <a:xfrm>
            <a:off x="440427" y="4771804"/>
            <a:ext cx="1639385" cy="405683"/>
          </a:xfrm>
        </p:spPr>
        <p:txBody>
          <a:bodyPr wrap="square" lIns="0" tIns="18000" rIns="0" bIns="18000" anchor="ctr">
            <a:spAutoFit/>
          </a:bodyPr>
          <a:lstStyle/>
          <a:p>
            <a:pPr marL="1346200" lvl="3" indent="-3175"/>
            <a:r>
              <a:rPr lang="en-US" sz="2400" dirty="0"/>
              <a:t> </a:t>
            </a:r>
          </a:p>
        </p:txBody>
      </p:sp>
      <p:graphicFrame>
        <p:nvGraphicFramePr>
          <p:cNvPr id="24" name="Object 23" descr="Delta N W C in year 1 equals 0.792 million dollars minus 1.425 million dollars equals negative 0.633 million dollars.">
            <a:extLst>
              <a:ext uri="{FF2B5EF4-FFF2-40B4-BE49-F238E27FC236}">
                <a16:creationId xmlns:a16="http://schemas.microsoft.com/office/drawing/2014/main" id="{F9056E1F-9CD1-26EA-DF27-207392029D15}"/>
              </a:ext>
            </a:extLst>
          </p:cNvPr>
          <p:cNvGraphicFramePr>
            <a:graphicFrameLocks noChangeAspect="1"/>
          </p:cNvGraphicFramePr>
          <p:nvPr>
            <p:extLst>
              <p:ext uri="{D42A27DB-BD31-4B8C-83A1-F6EECF244321}">
                <p14:modId xmlns:p14="http://schemas.microsoft.com/office/powerpoint/2010/main" val="4080586565"/>
              </p:ext>
            </p:extLst>
          </p:nvPr>
        </p:nvGraphicFramePr>
        <p:xfrm>
          <a:off x="2151465" y="4858313"/>
          <a:ext cx="6570021" cy="246531"/>
        </p:xfrm>
        <a:graphic>
          <a:graphicData uri="http://schemas.openxmlformats.org/presentationml/2006/ole">
            <mc:AlternateContent xmlns:mc="http://schemas.openxmlformats.org/markup-compatibility/2006">
              <mc:Choice xmlns:v="urn:schemas-microsoft-com:vml" Requires="v">
                <p:oleObj name="Equation" r:id="rId8" imgW="6769080" imgH="253800" progId="Equation.DSMT4">
                  <p:embed/>
                </p:oleObj>
              </mc:Choice>
              <mc:Fallback>
                <p:oleObj name="Equation" r:id="rId8" imgW="6769080" imgH="253800" progId="Equation.DSMT4">
                  <p:embed/>
                  <p:pic>
                    <p:nvPicPr>
                      <p:cNvPr id="11" name="Object 10" descr="Delta N W C in Year 1 = $ 0.792 million minus $ 1.425 million = negative $ 0.633 million.">
                        <a:extLst>
                          <a:ext uri="{FF2B5EF4-FFF2-40B4-BE49-F238E27FC236}">
                            <a16:creationId xmlns:a16="http://schemas.microsoft.com/office/drawing/2014/main" id="{552498F8-587D-4148-83CF-2A5F3CCD44D0}"/>
                          </a:ext>
                        </a:extLst>
                      </p:cNvPr>
                      <p:cNvPicPr/>
                      <p:nvPr/>
                    </p:nvPicPr>
                    <p:blipFill>
                      <a:blip r:embed="rId9"/>
                      <a:stretch>
                        <a:fillRect/>
                      </a:stretch>
                    </p:blipFill>
                    <p:spPr>
                      <a:xfrm>
                        <a:off x="2151465" y="4858313"/>
                        <a:ext cx="6570021" cy="246531"/>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08C3A91A-079C-20AC-07FB-018BA09FEBE5}"/>
              </a:ext>
            </a:extLst>
          </p:cNvPr>
          <p:cNvSpPr>
            <a:spLocks noGrp="1"/>
          </p:cNvSpPr>
          <p:nvPr>
            <p:ph sz="quarter" idx="16"/>
          </p:nvPr>
        </p:nvSpPr>
        <p:spPr>
          <a:xfrm>
            <a:off x="440428" y="5335820"/>
            <a:ext cx="8266344" cy="651905"/>
          </a:xfrm>
        </p:spPr>
        <p:txBody>
          <a:bodyPr wrap="square" lIns="0" tIns="18000" rIns="0" bIns="18000" anchor="ctr">
            <a:spAutoFit/>
          </a:bodyPr>
          <a:lstStyle/>
          <a:p>
            <a:pPr marL="2144268" lvl="4" indent="-342900"/>
            <a:r>
              <a:rPr lang="en-US" sz="2000" spc="-300" dirty="0"/>
              <a:t>N W </a:t>
            </a:r>
            <a:r>
              <a:rPr lang="en-US" sz="2000" dirty="0"/>
              <a:t>C will fall by $0.633 million in Year 1 and increase by $0.633 million in Year 5</a:t>
            </a:r>
          </a:p>
        </p:txBody>
      </p:sp>
    </p:spTree>
    <p:extLst>
      <p:ext uri="{BB962C8B-B14F-4D97-AF65-F5344CB8AC3E}">
        <p14:creationId xmlns:p14="http://schemas.microsoft.com/office/powerpoint/2010/main" val="17019161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42881"/>
            <a:ext cx="8266346" cy="559572"/>
          </a:xfrm>
        </p:spPr>
        <p:txBody>
          <a:bodyPr/>
          <a:lstStyle/>
          <a:p>
            <a:r>
              <a:rPr lang="en-US" sz="3400" dirty="0"/>
              <a:t>3. Choosing Among Alternatives </a:t>
            </a:r>
            <a:r>
              <a:rPr lang="en-US" sz="2600" dirty="0"/>
              <a:t>(5 of 6)</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45854" y="1029034"/>
            <a:ext cx="8266346" cy="405683"/>
          </a:xfrm>
        </p:spPr>
        <p:txBody>
          <a:bodyPr wrap="square" lIns="0" tIns="18000" rIns="0" bIns="18000" anchor="ctr">
            <a:spAutoFit/>
          </a:bodyPr>
          <a:lstStyle/>
          <a:p>
            <a:pPr marL="342900" indent="-342900">
              <a:spcBef>
                <a:spcPts val="600"/>
              </a:spcBef>
            </a:pPr>
            <a:r>
              <a:rPr lang="en-US" sz="2400" dirty="0"/>
              <a:t>Evaluating Manufacturing Alternatives</a:t>
            </a:r>
          </a:p>
        </p:txBody>
      </p:sp>
      <p:sp>
        <p:nvSpPr>
          <p:cNvPr id="4" name="Content Placeholder 3">
            <a:extLst>
              <a:ext uri="{FF2B5EF4-FFF2-40B4-BE49-F238E27FC236}">
                <a16:creationId xmlns:a16="http://schemas.microsoft.com/office/drawing/2014/main" id="{0DD52A53-AA06-30A3-80A8-F6004494B0FE}"/>
              </a:ext>
            </a:extLst>
          </p:cNvPr>
          <p:cNvSpPr>
            <a:spLocks noGrp="1"/>
          </p:cNvSpPr>
          <p:nvPr>
            <p:ph sz="quarter" idx="13"/>
          </p:nvPr>
        </p:nvSpPr>
        <p:spPr>
          <a:xfrm>
            <a:off x="445854" y="1806397"/>
            <a:ext cx="8266346" cy="590349"/>
          </a:xfrm>
        </p:spPr>
        <p:txBody>
          <a:bodyPr wrap="square" lIns="0" tIns="18000" rIns="0" bIns="18000" anchor="ctr">
            <a:spAutoFit/>
          </a:bodyPr>
          <a:lstStyle/>
          <a:p>
            <a:pPr marL="0" indent="0">
              <a:buNone/>
            </a:pPr>
            <a:r>
              <a:rPr lang="en-US" sz="1800" b="1" dirty="0"/>
              <a:t>Table 7 : </a:t>
            </a:r>
            <a:r>
              <a:rPr lang="en-US" sz="1800" dirty="0"/>
              <a:t>Spreadsheet </a:t>
            </a:r>
            <a:r>
              <a:rPr lang="en-US" sz="1800" spc="-300" dirty="0"/>
              <a:t>N P </a:t>
            </a:r>
            <a:r>
              <a:rPr lang="en-US" sz="1800" dirty="0"/>
              <a:t>V Cost of Outsourced Versus In-House Assembly of HomeNet</a:t>
            </a:r>
          </a:p>
        </p:txBody>
      </p:sp>
      <p:pic>
        <p:nvPicPr>
          <p:cNvPr id="8" name="Picture 7" descr="Two tables show the outsourced and in-house assembly of HomeNet.&#10;Long description is available in notes, Press F6.">
            <a:extLst>
              <a:ext uri="{FF2B5EF4-FFF2-40B4-BE49-F238E27FC236}">
                <a16:creationId xmlns:a16="http://schemas.microsoft.com/office/drawing/2014/main" id="{DCA9C871-45F6-8900-4A39-D6DAC2942803}"/>
              </a:ext>
            </a:extLst>
          </p:cNvPr>
          <p:cNvPicPr>
            <a:picLocks noChangeAspect="1"/>
          </p:cNvPicPr>
          <p:nvPr/>
        </p:nvPicPr>
        <p:blipFill>
          <a:blip r:embed="rId3"/>
          <a:stretch>
            <a:fillRect/>
          </a:stretch>
        </p:blipFill>
        <p:spPr>
          <a:xfrm>
            <a:off x="1324560" y="2711953"/>
            <a:ext cx="6494880" cy="3556184"/>
          </a:xfrm>
          <a:prstGeom prst="rect">
            <a:avLst/>
          </a:prstGeom>
        </p:spPr>
      </p:pic>
    </p:spTree>
    <p:extLst>
      <p:ext uri="{BB962C8B-B14F-4D97-AF65-F5344CB8AC3E}">
        <p14:creationId xmlns:p14="http://schemas.microsoft.com/office/powerpoint/2010/main" val="33215173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42881"/>
            <a:ext cx="8266346" cy="559572"/>
          </a:xfrm>
        </p:spPr>
        <p:txBody>
          <a:bodyPr/>
          <a:lstStyle/>
          <a:p>
            <a:r>
              <a:rPr lang="en-US" sz="3400" dirty="0"/>
              <a:t>3. Choosing Among Alternatives </a:t>
            </a:r>
            <a:r>
              <a:rPr lang="en-US" sz="2600" dirty="0"/>
              <a:t>(6 of 6)</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45854" y="1436158"/>
            <a:ext cx="8266346" cy="851959"/>
          </a:xfrm>
        </p:spPr>
        <p:txBody>
          <a:bodyPr wrap="square" lIns="0" tIns="18000" rIns="0" bIns="18000" anchor="ctr">
            <a:spAutoFit/>
          </a:bodyPr>
          <a:lstStyle/>
          <a:p>
            <a:pPr marL="342900" indent="-342900">
              <a:spcBef>
                <a:spcPts val="600"/>
              </a:spcBef>
            </a:pPr>
            <a:r>
              <a:rPr lang="en-US" sz="2400" dirty="0"/>
              <a:t>Comparing Free Cash Flows Cisco’s Alternatives</a:t>
            </a:r>
          </a:p>
          <a:p>
            <a:pPr marL="829818" lvl="1" indent="-342900"/>
            <a:r>
              <a:rPr lang="en-US" sz="2400" dirty="0"/>
              <a:t>Outsourcing is the less expensive alternative</a:t>
            </a:r>
          </a:p>
        </p:txBody>
      </p:sp>
    </p:spTree>
    <p:extLst>
      <p:ext uri="{BB962C8B-B14F-4D97-AF65-F5344CB8AC3E}">
        <p14:creationId xmlns:p14="http://schemas.microsoft.com/office/powerpoint/2010/main" val="24060995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532364"/>
            <a:ext cx="8266346" cy="528794"/>
          </a:xfrm>
        </p:spPr>
        <p:txBody>
          <a:bodyPr/>
          <a:lstStyle/>
          <a:p>
            <a:r>
              <a:rPr lang="en-US" sz="3200" dirty="0"/>
              <a:t>4. Further Adjustments to Free Cash Flow</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45854" y="1731425"/>
            <a:ext cx="8266346" cy="2790952"/>
          </a:xfrm>
        </p:spPr>
        <p:txBody>
          <a:bodyPr wrap="square" lIns="0" tIns="18000" rIns="0" bIns="18000" anchor="ctr">
            <a:spAutoFit/>
          </a:bodyPr>
          <a:lstStyle/>
          <a:p>
            <a:pPr marL="342900" indent="-342900">
              <a:spcBef>
                <a:spcPts val="600"/>
              </a:spcBef>
            </a:pPr>
            <a:r>
              <a:rPr lang="en-US" sz="2200" dirty="0"/>
              <a:t>Other Non-cash Items</a:t>
            </a:r>
          </a:p>
          <a:p>
            <a:pPr marL="829818" lvl="1" indent="-342900"/>
            <a:r>
              <a:rPr lang="en-US" sz="2200" dirty="0"/>
              <a:t>Amortization</a:t>
            </a:r>
          </a:p>
          <a:p>
            <a:pPr marL="342900" indent="-342900">
              <a:spcBef>
                <a:spcPts val="600"/>
              </a:spcBef>
            </a:pPr>
            <a:r>
              <a:rPr lang="en-US" sz="2200" dirty="0"/>
              <a:t>Timing of Cash Flows</a:t>
            </a:r>
          </a:p>
          <a:p>
            <a:pPr marL="829818" lvl="1" indent="-342900"/>
            <a:r>
              <a:rPr lang="en-US" sz="2200" dirty="0"/>
              <a:t>Cash flows are often spread throughout the year</a:t>
            </a:r>
          </a:p>
          <a:p>
            <a:pPr marL="342900" indent="-342900">
              <a:spcBef>
                <a:spcPts val="600"/>
              </a:spcBef>
            </a:pPr>
            <a:r>
              <a:rPr lang="en-US" sz="2200" dirty="0"/>
              <a:t>Accelerated Depreciation</a:t>
            </a:r>
          </a:p>
          <a:p>
            <a:pPr marL="829818" lvl="1" indent="-342900"/>
            <a:r>
              <a:rPr lang="en-US" sz="2200" dirty="0"/>
              <a:t>Modified Accelerated Cost Recovery System (</a:t>
            </a:r>
            <a:r>
              <a:rPr lang="en-US" sz="2200" spc="-300" dirty="0"/>
              <a:t>M A C R </a:t>
            </a:r>
            <a:r>
              <a:rPr lang="en-US" sz="2200" dirty="0"/>
              <a:t>S) depreciation </a:t>
            </a:r>
          </a:p>
        </p:txBody>
      </p:sp>
    </p:spTree>
    <p:extLst>
      <p:ext uri="{BB962C8B-B14F-4D97-AF65-F5344CB8AC3E}">
        <p14:creationId xmlns:p14="http://schemas.microsoft.com/office/powerpoint/2010/main" val="31591788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8865"/>
            <a:ext cx="8266346" cy="590349"/>
          </a:xfrm>
        </p:spPr>
        <p:txBody>
          <a:bodyPr/>
          <a:lstStyle/>
          <a:p>
            <a:r>
              <a:rPr lang="en-US" dirty="0" err="1"/>
              <a:t>Homenet</a:t>
            </a:r>
            <a:r>
              <a:rPr lang="en-US" dirty="0"/>
              <a:t> Example 4 </a:t>
            </a:r>
            <a:r>
              <a:rPr lang="en-US" sz="2800" dirty="0"/>
              <a:t>(1 of 3)</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45854" y="1649938"/>
            <a:ext cx="8266346" cy="2852507"/>
          </a:xfrm>
        </p:spPr>
        <p:txBody>
          <a:bodyPr wrap="square" lIns="0" tIns="18000" rIns="0" bIns="18000" anchor="ctr">
            <a:spAutoFit/>
          </a:bodyPr>
          <a:lstStyle/>
          <a:p>
            <a:pPr marL="0" indent="0">
              <a:spcBef>
                <a:spcPts val="600"/>
              </a:spcBef>
              <a:buNone/>
            </a:pPr>
            <a:r>
              <a:rPr lang="en-US" sz="2400" b="1" dirty="0"/>
              <a:t>Computing Accelerated Depreciation</a:t>
            </a:r>
          </a:p>
          <a:p>
            <a:pPr marL="0" indent="0">
              <a:spcBef>
                <a:spcPts val="600"/>
              </a:spcBef>
              <a:buNone/>
            </a:pPr>
            <a:endParaRPr lang="en-US" sz="2400" b="1" dirty="0"/>
          </a:p>
          <a:p>
            <a:pPr marL="0" indent="0">
              <a:spcBef>
                <a:spcPts val="600"/>
              </a:spcBef>
              <a:buNone/>
            </a:pPr>
            <a:r>
              <a:rPr lang="en-US" sz="2400" b="1" dirty="0"/>
              <a:t>Problem</a:t>
            </a:r>
          </a:p>
          <a:p>
            <a:pPr marL="0" indent="0">
              <a:spcBef>
                <a:spcPts val="600"/>
              </a:spcBef>
              <a:buNone/>
            </a:pPr>
            <a:r>
              <a:rPr lang="en-US" sz="2400" dirty="0"/>
              <a:t>What depreciation deduction would be allowed for </a:t>
            </a:r>
            <a:r>
              <a:rPr lang="en-US" sz="2400" dirty="0" err="1"/>
              <a:t>HomeNet’s</a:t>
            </a:r>
            <a:r>
              <a:rPr lang="en-US" sz="2400" dirty="0"/>
              <a:t> equipment using the </a:t>
            </a:r>
            <a:r>
              <a:rPr lang="en-US" sz="2400" spc="-300" dirty="0"/>
              <a:t>M A C R </a:t>
            </a:r>
            <a:r>
              <a:rPr lang="en-US" sz="2400" dirty="0"/>
              <a:t>S method, assuming the equipment is put into use by the end of year 0 and designated to have a five-year recovery period?</a:t>
            </a:r>
          </a:p>
        </p:txBody>
      </p:sp>
    </p:spTree>
    <p:extLst>
      <p:ext uri="{BB962C8B-B14F-4D97-AF65-F5344CB8AC3E}">
        <p14:creationId xmlns:p14="http://schemas.microsoft.com/office/powerpoint/2010/main" val="14856423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8865"/>
            <a:ext cx="8266346" cy="590349"/>
          </a:xfrm>
        </p:spPr>
        <p:txBody>
          <a:bodyPr/>
          <a:lstStyle/>
          <a:p>
            <a:r>
              <a:rPr lang="en-US" dirty="0" err="1"/>
              <a:t>Homenet</a:t>
            </a:r>
            <a:r>
              <a:rPr lang="en-US" dirty="0"/>
              <a:t> Example 4 </a:t>
            </a:r>
            <a:r>
              <a:rPr lang="en-US" sz="2800" dirty="0"/>
              <a:t>(2 of 3)</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45854" y="1127797"/>
            <a:ext cx="8266346" cy="2406231"/>
          </a:xfrm>
        </p:spPr>
        <p:txBody>
          <a:bodyPr wrap="square" lIns="0" tIns="18000" rIns="0" bIns="18000" anchor="ctr">
            <a:spAutoFit/>
          </a:bodyPr>
          <a:lstStyle/>
          <a:p>
            <a:pPr marL="0" indent="0">
              <a:spcBef>
                <a:spcPts val="600"/>
              </a:spcBef>
              <a:buNone/>
            </a:pPr>
            <a:r>
              <a:rPr lang="en-US" sz="2400" b="1" dirty="0"/>
              <a:t>Solution</a:t>
            </a:r>
          </a:p>
          <a:p>
            <a:pPr marL="0" indent="0">
              <a:spcBef>
                <a:spcPts val="600"/>
              </a:spcBef>
              <a:buNone/>
            </a:pPr>
            <a:endParaRPr lang="en-US" sz="2400" dirty="0"/>
          </a:p>
          <a:p>
            <a:pPr marL="0" indent="0">
              <a:spcBef>
                <a:spcPts val="600"/>
              </a:spcBef>
              <a:buNone/>
            </a:pPr>
            <a:r>
              <a:rPr lang="en-US" sz="2400" dirty="0"/>
              <a:t>Table A1 in the appendix provides the percentage of the cost that can be depreciated each year. Based on the table, the allowable depreciation expense for the lab equipment is shown below (in thousands of dollars):</a:t>
            </a:r>
          </a:p>
        </p:txBody>
      </p:sp>
      <p:pic>
        <p:nvPicPr>
          <p:cNvPr id="5" name="Picture 4" descr="A table shows MACRS depreciation. &#10;Long description is available in notes, Press F6.">
            <a:extLst>
              <a:ext uri="{FF2B5EF4-FFF2-40B4-BE49-F238E27FC236}">
                <a16:creationId xmlns:a16="http://schemas.microsoft.com/office/drawing/2014/main" id="{208E3706-CD90-C923-3B14-1C44DD7CBBA9}"/>
              </a:ext>
            </a:extLst>
          </p:cNvPr>
          <p:cNvPicPr>
            <a:picLocks noChangeAspect="1"/>
          </p:cNvPicPr>
          <p:nvPr/>
        </p:nvPicPr>
        <p:blipFill>
          <a:blip r:embed="rId3"/>
          <a:stretch>
            <a:fillRect/>
          </a:stretch>
        </p:blipFill>
        <p:spPr>
          <a:xfrm>
            <a:off x="542849" y="4159788"/>
            <a:ext cx="7994513" cy="1251751"/>
          </a:xfrm>
          <a:prstGeom prst="rect">
            <a:avLst/>
          </a:prstGeom>
        </p:spPr>
      </p:pic>
      <p:sp>
        <p:nvSpPr>
          <p:cNvPr id="4" name="ZoneTexte 3">
            <a:extLst>
              <a:ext uri="{FF2B5EF4-FFF2-40B4-BE49-F238E27FC236}">
                <a16:creationId xmlns:a16="http://schemas.microsoft.com/office/drawing/2014/main" id="{5F81C803-F33B-ABA3-3BED-F2538A31B604}"/>
              </a:ext>
            </a:extLst>
          </p:cNvPr>
          <p:cNvSpPr txBox="1"/>
          <p:nvPr/>
        </p:nvSpPr>
        <p:spPr>
          <a:xfrm>
            <a:off x="445854" y="3790456"/>
            <a:ext cx="954107" cy="369332"/>
          </a:xfrm>
          <a:prstGeom prst="rect">
            <a:avLst/>
          </a:prstGeom>
          <a:noFill/>
        </p:spPr>
        <p:txBody>
          <a:bodyPr wrap="none" rtlCol="0">
            <a:spAutoFit/>
          </a:bodyPr>
          <a:lstStyle/>
          <a:p>
            <a:r>
              <a:rPr lang="fr-FR" sz="1800" dirty="0"/>
              <a:t>Table 8</a:t>
            </a:r>
          </a:p>
        </p:txBody>
      </p:sp>
    </p:spTree>
    <p:extLst>
      <p:ext uri="{BB962C8B-B14F-4D97-AF65-F5344CB8AC3E}">
        <p14:creationId xmlns:p14="http://schemas.microsoft.com/office/powerpoint/2010/main" val="25368061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8865"/>
            <a:ext cx="8266346" cy="590349"/>
          </a:xfrm>
        </p:spPr>
        <p:txBody>
          <a:bodyPr/>
          <a:lstStyle/>
          <a:p>
            <a:r>
              <a:rPr lang="en-US" dirty="0" err="1"/>
              <a:t>Homent</a:t>
            </a:r>
            <a:r>
              <a:rPr lang="en-US" dirty="0"/>
              <a:t> Example 4 </a:t>
            </a:r>
            <a:r>
              <a:rPr lang="en-US" sz="2800" dirty="0"/>
              <a:t>(3 of 3)</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45854" y="1552198"/>
            <a:ext cx="8266346" cy="4252890"/>
          </a:xfrm>
        </p:spPr>
        <p:txBody>
          <a:bodyPr wrap="square" lIns="0" tIns="18000" rIns="0" bIns="18000" anchor="ctr">
            <a:spAutoFit/>
          </a:bodyPr>
          <a:lstStyle/>
          <a:p>
            <a:pPr marL="0" indent="0">
              <a:spcBef>
                <a:spcPts val="600"/>
              </a:spcBef>
              <a:buNone/>
            </a:pPr>
            <a:r>
              <a:rPr lang="en-US" sz="2400" dirty="0"/>
              <a:t>As long as the equipment is put into use by the end of year 0, the tax code allows us to take our first depreciation expense in the same year. Compared with straight-line depreciation, the </a:t>
            </a:r>
            <a:r>
              <a:rPr lang="en-US" sz="2400" spc="-300" dirty="0"/>
              <a:t>M A C R </a:t>
            </a:r>
            <a:r>
              <a:rPr lang="en-US" sz="2400" dirty="0"/>
              <a:t>S method allows for larger depreciation deductions earlier in the asset’s life, which increases the present value of the depreciation tax shield and so will raise the project’s </a:t>
            </a:r>
            <a:r>
              <a:rPr lang="en-US" sz="2400" spc="-300" dirty="0"/>
              <a:t>N P </a:t>
            </a:r>
            <a:r>
              <a:rPr lang="en-US" sz="2400" dirty="0"/>
              <a:t>V.</a:t>
            </a:r>
          </a:p>
          <a:p>
            <a:pPr marL="0" indent="0">
              <a:spcBef>
                <a:spcPts val="600"/>
              </a:spcBef>
              <a:buNone/>
            </a:pPr>
            <a:endParaRPr lang="en-US" sz="2400" dirty="0"/>
          </a:p>
          <a:p>
            <a:pPr marL="0" indent="0">
              <a:spcBef>
                <a:spcPts val="600"/>
              </a:spcBef>
              <a:buNone/>
            </a:pPr>
            <a:r>
              <a:rPr lang="en-US" sz="2400" dirty="0"/>
              <a:t>Bonus depreciation would allow us to deduct the </a:t>
            </a:r>
            <a:r>
              <a:rPr lang="en-US" sz="2400" b="1" dirty="0"/>
              <a:t>full</a:t>
            </a:r>
            <a:r>
              <a:rPr lang="en-US" sz="2400" dirty="0"/>
              <a:t> $7.5 million cost of the equipment in year 0, accelerating the tax shield and increasing </a:t>
            </a:r>
            <a:r>
              <a:rPr lang="en-US" sz="2400" spc="-300" dirty="0"/>
              <a:t>N P </a:t>
            </a:r>
            <a:r>
              <a:rPr lang="en-US" sz="2400" dirty="0"/>
              <a:t>V even further.</a:t>
            </a:r>
          </a:p>
        </p:txBody>
      </p:sp>
    </p:spTree>
    <p:extLst>
      <p:ext uri="{BB962C8B-B14F-4D97-AF65-F5344CB8AC3E}">
        <p14:creationId xmlns:p14="http://schemas.microsoft.com/office/powerpoint/2010/main" val="39784963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24588"/>
            <a:ext cx="8266346" cy="1144347"/>
          </a:xfrm>
        </p:spPr>
        <p:txBody>
          <a:bodyPr/>
          <a:lstStyle/>
          <a:p>
            <a:r>
              <a:rPr lang="en-US" dirty="0"/>
              <a:t>Further Adjustments to Free Cash Flow </a:t>
            </a:r>
            <a:r>
              <a:rPr lang="en-US" sz="2800" dirty="0"/>
              <a:t>(1 of 3)</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45854" y="1716364"/>
            <a:ext cx="8266346" cy="405683"/>
          </a:xfrm>
        </p:spPr>
        <p:txBody>
          <a:bodyPr wrap="square" lIns="0" tIns="18000" rIns="0" bIns="18000" anchor="ctr">
            <a:spAutoFit/>
          </a:bodyPr>
          <a:lstStyle/>
          <a:p>
            <a:pPr marL="342900" indent="-342900">
              <a:spcBef>
                <a:spcPts val="600"/>
              </a:spcBef>
            </a:pPr>
            <a:r>
              <a:rPr lang="en-US" sz="2400" dirty="0"/>
              <a:t>Liquidation or Salvage Value</a:t>
            </a:r>
          </a:p>
        </p:txBody>
      </p:sp>
      <p:graphicFrame>
        <p:nvGraphicFramePr>
          <p:cNvPr id="4" name="Object 1" descr="Capital gain equals sale price minus book value.">
            <a:extLst>
              <a:ext uri="{FF2B5EF4-FFF2-40B4-BE49-F238E27FC236}">
                <a16:creationId xmlns:a16="http://schemas.microsoft.com/office/drawing/2014/main" id="{D47C841E-2932-1E66-2FB5-FBFEEF770E27}"/>
              </a:ext>
            </a:extLst>
          </p:cNvPr>
          <p:cNvGraphicFramePr>
            <a:graphicFrameLocks noChangeAspect="1"/>
          </p:cNvGraphicFramePr>
          <p:nvPr>
            <p:extLst>
              <p:ext uri="{D42A27DB-BD31-4B8C-83A1-F6EECF244321}">
                <p14:modId xmlns:p14="http://schemas.microsoft.com/office/powerpoint/2010/main" val="477411961"/>
              </p:ext>
            </p:extLst>
          </p:nvPr>
        </p:nvGraphicFramePr>
        <p:xfrm>
          <a:off x="647700" y="2343150"/>
          <a:ext cx="5343525" cy="333375"/>
        </p:xfrm>
        <a:graphic>
          <a:graphicData uri="http://schemas.openxmlformats.org/presentationml/2006/ole">
            <mc:AlternateContent xmlns:mc="http://schemas.openxmlformats.org/markup-compatibility/2006">
              <mc:Choice xmlns:v="urn:schemas-microsoft-com:vml" Requires="v">
                <p:oleObj name="Equation" r:id="rId2" imgW="5346360" imgH="342720" progId="Equation.DSMT4">
                  <p:embed/>
                </p:oleObj>
              </mc:Choice>
              <mc:Fallback>
                <p:oleObj name="Equation" r:id="rId2" imgW="5346360" imgH="342720" progId="Equation.DSMT4">
                  <p:embed/>
                  <p:pic>
                    <p:nvPicPr>
                      <p:cNvPr id="5" name="Object 1" descr="Capital Gain = Sale Price minus Book value."/>
                      <p:cNvPicPr>
                        <a:picLocks noChangeAspect="1" noChangeArrowheads="1"/>
                      </p:cNvPicPr>
                      <p:nvPr/>
                    </p:nvPicPr>
                    <p:blipFill>
                      <a:blip r:embed="rId3"/>
                      <a:srcRect/>
                      <a:stretch>
                        <a:fillRect/>
                      </a:stretch>
                    </p:blipFill>
                    <p:spPr bwMode="auto">
                      <a:xfrm>
                        <a:off x="647700" y="2343150"/>
                        <a:ext cx="5343525" cy="333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5" name="Object 2" descr="Book value equals purchase price minus accumulated depreciation.">
            <a:extLst>
              <a:ext uri="{FF2B5EF4-FFF2-40B4-BE49-F238E27FC236}">
                <a16:creationId xmlns:a16="http://schemas.microsoft.com/office/drawing/2014/main" id="{31C50F4E-469D-5800-72B4-1FE331DF08D4}"/>
              </a:ext>
            </a:extLst>
          </p:cNvPr>
          <p:cNvGraphicFramePr>
            <a:graphicFrameLocks noChangeAspect="1"/>
          </p:cNvGraphicFramePr>
          <p:nvPr>
            <p:extLst>
              <p:ext uri="{D42A27DB-BD31-4B8C-83A1-F6EECF244321}">
                <p14:modId xmlns:p14="http://schemas.microsoft.com/office/powerpoint/2010/main" val="2762860419"/>
              </p:ext>
            </p:extLst>
          </p:nvPr>
        </p:nvGraphicFramePr>
        <p:xfrm>
          <a:off x="647700" y="2880215"/>
          <a:ext cx="6915150" cy="352425"/>
        </p:xfrm>
        <a:graphic>
          <a:graphicData uri="http://schemas.openxmlformats.org/presentationml/2006/ole">
            <mc:AlternateContent xmlns:mc="http://schemas.openxmlformats.org/markup-compatibility/2006">
              <mc:Choice xmlns:v="urn:schemas-microsoft-com:vml" Requires="v">
                <p:oleObj name="Equation" r:id="rId4" imgW="4000320" imgH="203040" progId="Equation.DSMT4">
                  <p:embed/>
                </p:oleObj>
              </mc:Choice>
              <mc:Fallback>
                <p:oleObj name="Equation" r:id="rId4" imgW="4000320" imgH="203040" progId="Equation.DSMT4">
                  <p:embed/>
                  <p:pic>
                    <p:nvPicPr>
                      <p:cNvPr id="6" name="Object 2" descr="Book Value = Purchase Price minus Accumulated Depreciation.&#10;"/>
                      <p:cNvPicPr>
                        <a:picLocks noChangeAspect="1" noChangeArrowheads="1"/>
                      </p:cNvPicPr>
                      <p:nvPr/>
                    </p:nvPicPr>
                    <p:blipFill>
                      <a:blip r:embed="rId5"/>
                      <a:srcRect/>
                      <a:stretch>
                        <a:fillRect/>
                      </a:stretch>
                    </p:blipFill>
                    <p:spPr bwMode="auto">
                      <a:xfrm>
                        <a:off x="647700" y="2880215"/>
                        <a:ext cx="6915150" cy="352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6" name="Object 3" descr="After-tax cash flow from asset sale equals sale price minus left parenthesis tau subscript c baseline times capital gain right parenthesis.">
            <a:extLst>
              <a:ext uri="{FF2B5EF4-FFF2-40B4-BE49-F238E27FC236}">
                <a16:creationId xmlns:a16="http://schemas.microsoft.com/office/drawing/2014/main" id="{192DC1EF-AE78-A14E-9CC9-692DE27383AE}"/>
              </a:ext>
            </a:extLst>
          </p:cNvPr>
          <p:cNvGraphicFramePr>
            <a:graphicFrameLocks noChangeAspect="1"/>
          </p:cNvGraphicFramePr>
          <p:nvPr>
            <p:extLst>
              <p:ext uri="{D42A27DB-BD31-4B8C-83A1-F6EECF244321}">
                <p14:modId xmlns:p14="http://schemas.microsoft.com/office/powerpoint/2010/main" val="684590264"/>
              </p:ext>
            </p:extLst>
          </p:nvPr>
        </p:nvGraphicFramePr>
        <p:xfrm>
          <a:off x="460989" y="3436331"/>
          <a:ext cx="8283341" cy="396780"/>
        </p:xfrm>
        <a:graphic>
          <a:graphicData uri="http://schemas.openxmlformats.org/presentationml/2006/ole">
            <mc:AlternateContent xmlns:mc="http://schemas.openxmlformats.org/markup-compatibility/2006">
              <mc:Choice xmlns:v="urn:schemas-microsoft-com:vml" Requires="v">
                <p:oleObj name="Equation" r:id="rId6" imgW="4825800" imgH="228600" progId="Equation.DSMT4">
                  <p:embed/>
                </p:oleObj>
              </mc:Choice>
              <mc:Fallback>
                <p:oleObj name="Equation" r:id="rId6" imgW="4825800" imgH="228600" progId="Equation.DSMT4">
                  <p:embed/>
                  <p:pic>
                    <p:nvPicPr>
                      <p:cNvPr id="7" name="Object 3" descr="After- Tax Cash Flow From Asset Sale = Sale Price minus left parenthesis tau sub c times Capital Gain right parenthesis."/>
                      <p:cNvPicPr>
                        <a:picLocks noChangeAspect="1" noChangeArrowheads="1"/>
                      </p:cNvPicPr>
                      <p:nvPr/>
                    </p:nvPicPr>
                    <p:blipFill>
                      <a:blip r:embed="rId7"/>
                      <a:srcRect/>
                      <a:stretch>
                        <a:fillRect/>
                      </a:stretch>
                    </p:blipFill>
                    <p:spPr bwMode="auto">
                      <a:xfrm>
                        <a:off x="460989" y="3436331"/>
                        <a:ext cx="8283341" cy="39678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5351806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8865"/>
            <a:ext cx="8266346" cy="590349"/>
          </a:xfrm>
        </p:spPr>
        <p:txBody>
          <a:bodyPr/>
          <a:lstStyle/>
          <a:p>
            <a:r>
              <a:rPr lang="en-US" dirty="0" err="1"/>
              <a:t>Homent</a:t>
            </a:r>
            <a:r>
              <a:rPr lang="en-US" dirty="0"/>
              <a:t> Example 5 </a:t>
            </a:r>
            <a:r>
              <a:rPr lang="en-US" sz="2800" dirty="0"/>
              <a:t>(1 of 3)</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45854" y="1173178"/>
            <a:ext cx="8266346" cy="4699166"/>
          </a:xfrm>
        </p:spPr>
        <p:txBody>
          <a:bodyPr wrap="square" lIns="0" tIns="18000" rIns="0" bIns="18000" anchor="ctr">
            <a:spAutoFit/>
          </a:bodyPr>
          <a:lstStyle/>
          <a:p>
            <a:pPr marL="0" indent="0">
              <a:spcBef>
                <a:spcPts val="600"/>
              </a:spcBef>
              <a:buNone/>
            </a:pPr>
            <a:r>
              <a:rPr lang="en-US" sz="2400" b="1" dirty="0"/>
              <a:t>Adding Salvage Value to Free Cash Flow</a:t>
            </a:r>
          </a:p>
          <a:p>
            <a:pPr marL="0" indent="0">
              <a:spcBef>
                <a:spcPts val="600"/>
              </a:spcBef>
              <a:buNone/>
            </a:pPr>
            <a:endParaRPr lang="en-US" sz="2400" b="1" dirty="0"/>
          </a:p>
          <a:p>
            <a:pPr marL="0" indent="0">
              <a:spcBef>
                <a:spcPts val="600"/>
              </a:spcBef>
              <a:buNone/>
            </a:pPr>
            <a:r>
              <a:rPr lang="en-US" sz="2400" b="1" dirty="0"/>
              <a:t>Problem</a:t>
            </a:r>
          </a:p>
          <a:p>
            <a:pPr marL="0" indent="0">
              <a:spcBef>
                <a:spcPts val="600"/>
              </a:spcBef>
              <a:buNone/>
            </a:pPr>
            <a:r>
              <a:rPr lang="en-US" sz="2400" dirty="0"/>
              <a:t>Suppose that in addition to the $7.5 million in new equipment required for HomeNet, some equipment will be transferred to the lab from another Cisco facility. This equipment has a resale value of $2 million and a book value of $1 million. If the equipment is kept rather than sold, its remaining book value can be depreciated next year. When the lab is shut down in year 5, the equipment will have a salvage value of $800,000. What adjustments must we make to </a:t>
            </a:r>
            <a:r>
              <a:rPr lang="en-US" sz="2400" dirty="0" err="1"/>
              <a:t>HomeNet’s</a:t>
            </a:r>
            <a:r>
              <a:rPr lang="en-US" sz="2400" dirty="0"/>
              <a:t> free cash flow in this case?</a:t>
            </a:r>
          </a:p>
        </p:txBody>
      </p:sp>
    </p:spTree>
    <p:extLst>
      <p:ext uri="{BB962C8B-B14F-4D97-AF65-F5344CB8AC3E}">
        <p14:creationId xmlns:p14="http://schemas.microsoft.com/office/powerpoint/2010/main" val="1013546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8867"/>
            <a:ext cx="8266346" cy="590349"/>
          </a:xfrm>
        </p:spPr>
        <p:txBody>
          <a:bodyPr/>
          <a:lstStyle/>
          <a:p>
            <a:r>
              <a:rPr lang="en-US" dirty="0" err="1"/>
              <a:t>Homenet</a:t>
            </a:r>
            <a:r>
              <a:rPr lang="en-US" dirty="0"/>
              <a:t> Example 5 </a:t>
            </a:r>
            <a:r>
              <a:rPr lang="en-US" sz="2800" dirty="0"/>
              <a:t>(2 of 3)</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45854" y="1093078"/>
            <a:ext cx="8266346" cy="1498290"/>
          </a:xfrm>
        </p:spPr>
        <p:txBody>
          <a:bodyPr wrap="square" lIns="0" tIns="18000" rIns="0" bIns="18000" anchor="ctr">
            <a:spAutoFit/>
          </a:bodyPr>
          <a:lstStyle/>
          <a:p>
            <a:pPr marL="0" indent="0">
              <a:spcBef>
                <a:spcPts val="600"/>
              </a:spcBef>
              <a:buNone/>
            </a:pPr>
            <a:r>
              <a:rPr lang="en-US" sz="1800" b="1" dirty="0"/>
              <a:t>Solution</a:t>
            </a:r>
          </a:p>
          <a:p>
            <a:pPr marL="0" indent="0">
              <a:spcBef>
                <a:spcPts val="600"/>
              </a:spcBef>
              <a:buNone/>
            </a:pPr>
            <a:r>
              <a:rPr lang="en-US" sz="1800" dirty="0"/>
              <a:t>The existing equipment could have been sold for $2 million. The after-tax proceeds from this sale are an opportunity cost of using the equipment in the HomeNet lab. Thus, we must reduce </a:t>
            </a:r>
            <a:r>
              <a:rPr lang="en-US" sz="1800" dirty="0" err="1"/>
              <a:t>HomeNet’s</a:t>
            </a:r>
            <a:r>
              <a:rPr lang="en-US" sz="1800" dirty="0"/>
              <a:t> free cash flow in year 0 by the sale price less any taxes that would have been owed had the sale occurred:</a:t>
            </a:r>
          </a:p>
        </p:txBody>
      </p:sp>
      <p:graphicFrame>
        <p:nvGraphicFramePr>
          <p:cNvPr id="12" name="Object 11" descr="2 million dollars minus 20 percent times left parenthesis 2 million dollars minus 1 million dollars right parenthesis equals 1.8 million dollars.">
            <a:extLst>
              <a:ext uri="{FF2B5EF4-FFF2-40B4-BE49-F238E27FC236}">
                <a16:creationId xmlns:a16="http://schemas.microsoft.com/office/drawing/2014/main" id="{2E697889-FF1E-9668-C9E5-354B670FEECB}"/>
              </a:ext>
            </a:extLst>
          </p:cNvPr>
          <p:cNvGraphicFramePr>
            <a:graphicFrameLocks noChangeAspect="1"/>
          </p:cNvGraphicFramePr>
          <p:nvPr>
            <p:extLst>
              <p:ext uri="{D42A27DB-BD31-4B8C-83A1-F6EECF244321}">
                <p14:modId xmlns:p14="http://schemas.microsoft.com/office/powerpoint/2010/main" val="262740470"/>
              </p:ext>
            </p:extLst>
          </p:nvPr>
        </p:nvGraphicFramePr>
        <p:xfrm>
          <a:off x="1429815" y="2681573"/>
          <a:ext cx="5090495" cy="308316"/>
        </p:xfrm>
        <a:graphic>
          <a:graphicData uri="http://schemas.openxmlformats.org/presentationml/2006/ole">
            <mc:AlternateContent xmlns:mc="http://schemas.openxmlformats.org/markup-compatibility/2006">
              <mc:Choice xmlns:v="urn:schemas-microsoft-com:vml" Requires="v">
                <p:oleObj name="Equation" r:id="rId2" imgW="6286320" imgH="380880" progId="Equation.DSMT4">
                  <p:embed/>
                </p:oleObj>
              </mc:Choice>
              <mc:Fallback>
                <p:oleObj name="Equation" r:id="rId2" imgW="6286320" imgH="380880" progId="Equation.DSMT4">
                  <p:embed/>
                  <p:pic>
                    <p:nvPicPr>
                      <p:cNvPr id="10" name="Object 9" descr="$ 2 million minus 20 % times left parenthesis $ 2 million minus $ 1 million right parenthesis = $ 1.8 million.">
                        <a:extLst>
                          <a:ext uri="{FF2B5EF4-FFF2-40B4-BE49-F238E27FC236}">
                            <a16:creationId xmlns:a16="http://schemas.microsoft.com/office/drawing/2014/main" id="{0A621A3C-5A30-4A2B-974B-8852F7F65F4D}"/>
                          </a:ext>
                        </a:extLst>
                      </p:cNvPr>
                      <p:cNvPicPr/>
                      <p:nvPr/>
                    </p:nvPicPr>
                    <p:blipFill>
                      <a:blip r:embed="rId3"/>
                      <a:stretch>
                        <a:fillRect/>
                      </a:stretch>
                    </p:blipFill>
                    <p:spPr>
                      <a:xfrm>
                        <a:off x="1429815" y="2681573"/>
                        <a:ext cx="5090495" cy="308316"/>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0DD52A53-AA06-30A3-80A8-F6004494B0FE}"/>
              </a:ext>
            </a:extLst>
          </p:cNvPr>
          <p:cNvSpPr>
            <a:spLocks noGrp="1"/>
          </p:cNvSpPr>
          <p:nvPr>
            <p:ph sz="quarter" idx="13"/>
          </p:nvPr>
        </p:nvSpPr>
        <p:spPr>
          <a:xfrm>
            <a:off x="445853" y="3108518"/>
            <a:ext cx="7136765" cy="313350"/>
          </a:xfrm>
        </p:spPr>
        <p:txBody>
          <a:bodyPr wrap="square" lIns="0" tIns="18000" rIns="0" bIns="18000" anchor="ctr">
            <a:spAutoFit/>
          </a:bodyPr>
          <a:lstStyle/>
          <a:p>
            <a:pPr marL="0" indent="0">
              <a:spcBef>
                <a:spcPts val="600"/>
              </a:spcBef>
              <a:buNone/>
            </a:pPr>
            <a:r>
              <a:rPr lang="en-US" sz="1800" dirty="0"/>
              <a:t>In year 1, the remaining $1 million book value of the equipment can be</a:t>
            </a:r>
          </a:p>
        </p:txBody>
      </p:sp>
      <p:sp>
        <p:nvSpPr>
          <p:cNvPr id="5" name="Content Placeholder 4">
            <a:extLst>
              <a:ext uri="{FF2B5EF4-FFF2-40B4-BE49-F238E27FC236}">
                <a16:creationId xmlns:a16="http://schemas.microsoft.com/office/drawing/2014/main" id="{B030C7B8-0389-DAFE-D0DE-7BB944A22220}"/>
              </a:ext>
            </a:extLst>
          </p:cNvPr>
          <p:cNvSpPr>
            <a:spLocks noGrp="1"/>
          </p:cNvSpPr>
          <p:nvPr>
            <p:ph sz="quarter" idx="14"/>
          </p:nvPr>
        </p:nvSpPr>
        <p:spPr>
          <a:xfrm>
            <a:off x="445854" y="3525254"/>
            <a:ext cx="4960074" cy="313350"/>
          </a:xfrm>
        </p:spPr>
        <p:txBody>
          <a:bodyPr wrap="square" lIns="0" tIns="18000" rIns="0" bIns="18000" anchor="ctr">
            <a:spAutoFit/>
          </a:bodyPr>
          <a:lstStyle/>
          <a:p>
            <a:pPr marL="0" indent="0">
              <a:spcBef>
                <a:spcPts val="600"/>
              </a:spcBef>
              <a:buNone/>
            </a:pPr>
            <a:r>
              <a:rPr lang="en-US" sz="1800" dirty="0"/>
              <a:t>depreciated, creating a depreciation tax shield of</a:t>
            </a:r>
          </a:p>
        </p:txBody>
      </p:sp>
      <p:graphicFrame>
        <p:nvGraphicFramePr>
          <p:cNvPr id="13" name="Object 12" descr="20 percent times 1 million dollars equals 200,000 dollars.">
            <a:extLst>
              <a:ext uri="{FF2B5EF4-FFF2-40B4-BE49-F238E27FC236}">
                <a16:creationId xmlns:a16="http://schemas.microsoft.com/office/drawing/2014/main" id="{75F7489B-24D1-1D3D-630A-A2D70F9DDC7E}"/>
              </a:ext>
            </a:extLst>
          </p:cNvPr>
          <p:cNvGraphicFramePr>
            <a:graphicFrameLocks noChangeAspect="1"/>
          </p:cNvGraphicFramePr>
          <p:nvPr>
            <p:extLst>
              <p:ext uri="{D42A27DB-BD31-4B8C-83A1-F6EECF244321}">
                <p14:modId xmlns:p14="http://schemas.microsoft.com/office/powerpoint/2010/main" val="4196981718"/>
              </p:ext>
            </p:extLst>
          </p:nvPr>
        </p:nvGraphicFramePr>
        <p:xfrm>
          <a:off x="5506096" y="3581444"/>
          <a:ext cx="2623967" cy="225661"/>
        </p:xfrm>
        <a:graphic>
          <a:graphicData uri="http://schemas.openxmlformats.org/presentationml/2006/ole">
            <mc:AlternateContent xmlns:mc="http://schemas.openxmlformats.org/markup-compatibility/2006">
              <mc:Choice xmlns:v="urn:schemas-microsoft-com:vml" Requires="v">
                <p:oleObj name="Equation" r:id="rId4" imgW="3238200" imgH="279360" progId="Equation.DSMT4">
                  <p:embed/>
                </p:oleObj>
              </mc:Choice>
              <mc:Fallback>
                <p:oleObj name="Equation" r:id="rId4" imgW="3238200" imgH="279360" progId="Equation.DSMT4">
                  <p:embed/>
                  <p:pic>
                    <p:nvPicPr>
                      <p:cNvPr id="8" name="Object 7" descr="20 % times $ 1 million = $ 200,000.">
                        <a:extLst>
                          <a:ext uri="{FF2B5EF4-FFF2-40B4-BE49-F238E27FC236}">
                            <a16:creationId xmlns:a16="http://schemas.microsoft.com/office/drawing/2014/main" id="{079F1E22-D52C-445C-9542-4BC8930BDE8F}"/>
                          </a:ext>
                        </a:extLst>
                      </p:cNvPr>
                      <p:cNvPicPr/>
                      <p:nvPr/>
                    </p:nvPicPr>
                    <p:blipFill>
                      <a:blip r:embed="rId5"/>
                      <a:stretch>
                        <a:fillRect/>
                      </a:stretch>
                    </p:blipFill>
                    <p:spPr>
                      <a:xfrm>
                        <a:off x="5506096" y="3581444"/>
                        <a:ext cx="2623967" cy="225661"/>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C1C0ACDD-A35B-25D3-4C63-54D32CBC1EA0}"/>
              </a:ext>
            </a:extLst>
          </p:cNvPr>
          <p:cNvSpPr>
            <a:spLocks noGrp="1"/>
          </p:cNvSpPr>
          <p:nvPr>
            <p:ph sz="quarter" idx="15"/>
          </p:nvPr>
        </p:nvSpPr>
        <p:spPr>
          <a:xfrm>
            <a:off x="440426" y="3982460"/>
            <a:ext cx="8271774" cy="867348"/>
          </a:xfrm>
        </p:spPr>
        <p:txBody>
          <a:bodyPr wrap="square" lIns="0" tIns="18000" rIns="0" bIns="18000" anchor="ctr">
            <a:spAutoFit/>
          </a:bodyPr>
          <a:lstStyle/>
          <a:p>
            <a:pPr marL="0" indent="0">
              <a:spcBef>
                <a:spcPts val="600"/>
              </a:spcBef>
              <a:buNone/>
            </a:pPr>
            <a:r>
              <a:rPr lang="en-US" sz="1800" dirty="0"/>
              <a:t>In year 5, the firm will sell the equipment for a salvage value of $800,000. Because the equipment will be fully depreciated at that time, the entire amount will be taxable as a capital gain, so the after-tax cash flow from the sale is</a:t>
            </a:r>
          </a:p>
        </p:txBody>
      </p:sp>
      <p:graphicFrame>
        <p:nvGraphicFramePr>
          <p:cNvPr id="18" name="Object 17" descr="800,000 dollars times left parenthesis 1 minus 20 percent right parenthesis equals 640,000 dollars.">
            <a:extLst>
              <a:ext uri="{FF2B5EF4-FFF2-40B4-BE49-F238E27FC236}">
                <a16:creationId xmlns:a16="http://schemas.microsoft.com/office/drawing/2014/main" id="{C316644F-9915-EA74-2D9E-CFD60CAEAA11}"/>
              </a:ext>
            </a:extLst>
          </p:cNvPr>
          <p:cNvGraphicFramePr>
            <a:graphicFrameLocks noChangeAspect="1"/>
          </p:cNvGraphicFramePr>
          <p:nvPr>
            <p:extLst>
              <p:ext uri="{D42A27DB-BD31-4B8C-83A1-F6EECF244321}">
                <p14:modId xmlns:p14="http://schemas.microsoft.com/office/powerpoint/2010/main" val="2450621074"/>
              </p:ext>
            </p:extLst>
          </p:nvPr>
        </p:nvGraphicFramePr>
        <p:xfrm>
          <a:off x="435640" y="4942862"/>
          <a:ext cx="3106777" cy="314876"/>
        </p:xfrm>
        <a:graphic>
          <a:graphicData uri="http://schemas.openxmlformats.org/presentationml/2006/ole">
            <mc:AlternateContent xmlns:mc="http://schemas.openxmlformats.org/markup-compatibility/2006">
              <mc:Choice xmlns:v="urn:schemas-microsoft-com:vml" Requires="v">
                <p:oleObj name="Equation" r:id="rId6" imgW="3759120" imgH="380880" progId="Equation.DSMT4">
                  <p:embed/>
                </p:oleObj>
              </mc:Choice>
              <mc:Fallback>
                <p:oleObj name="Equation" r:id="rId6" imgW="3759120" imgH="380880" progId="Equation.DSMT4">
                  <p:embed/>
                  <p:pic>
                    <p:nvPicPr>
                      <p:cNvPr id="9" name="Object 8" descr="$ 800,000 times left parenthesis 1 minus 20 % right parenthesis = $ 640,000.">
                        <a:extLst>
                          <a:ext uri="{FF2B5EF4-FFF2-40B4-BE49-F238E27FC236}">
                            <a16:creationId xmlns:a16="http://schemas.microsoft.com/office/drawing/2014/main" id="{C2D4F6E5-F423-490B-A264-D79AC93964E0}"/>
                          </a:ext>
                        </a:extLst>
                      </p:cNvPr>
                      <p:cNvPicPr/>
                      <p:nvPr/>
                    </p:nvPicPr>
                    <p:blipFill>
                      <a:blip r:embed="rId7"/>
                      <a:stretch>
                        <a:fillRect/>
                      </a:stretch>
                    </p:blipFill>
                    <p:spPr>
                      <a:xfrm>
                        <a:off x="435640" y="4942862"/>
                        <a:ext cx="3106777" cy="314876"/>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08C3A91A-079C-20AC-07FB-018BA09FEBE5}"/>
              </a:ext>
            </a:extLst>
          </p:cNvPr>
          <p:cNvSpPr>
            <a:spLocks noGrp="1"/>
          </p:cNvSpPr>
          <p:nvPr>
            <p:ph sz="quarter" idx="16"/>
          </p:nvPr>
        </p:nvSpPr>
        <p:spPr>
          <a:xfrm>
            <a:off x="431800" y="5373534"/>
            <a:ext cx="8280400" cy="867348"/>
          </a:xfrm>
        </p:spPr>
        <p:txBody>
          <a:bodyPr wrap="square" lIns="0" tIns="18000" rIns="0" bIns="18000" anchor="ctr">
            <a:spAutoFit/>
          </a:bodyPr>
          <a:lstStyle/>
          <a:p>
            <a:pPr marL="0" indent="0">
              <a:spcBef>
                <a:spcPts val="600"/>
              </a:spcBef>
              <a:buNone/>
            </a:pPr>
            <a:r>
              <a:rPr lang="en-US" sz="1800" dirty="0"/>
              <a:t>The spreadsheet below shows these adjustments to the free cash flow from the spreadsheet in Table 5 (</a:t>
            </a:r>
            <a:r>
              <a:rPr lang="en-US" sz="1800" b="1" dirty="0">
                <a:solidFill>
                  <a:srgbClr val="FF0000"/>
                </a:solidFill>
              </a:rPr>
              <a:t>anchor table</a:t>
            </a:r>
            <a:r>
              <a:rPr lang="en-US" sz="1800" dirty="0"/>
              <a:t>) and recalculates </a:t>
            </a:r>
            <a:r>
              <a:rPr lang="en-US" sz="1800" dirty="0" err="1"/>
              <a:t>HomeNet’s</a:t>
            </a:r>
            <a:r>
              <a:rPr lang="en-US" sz="1800" dirty="0"/>
              <a:t> free cash flow and </a:t>
            </a:r>
            <a:r>
              <a:rPr lang="en-US" sz="1800" spc="-250" dirty="0"/>
              <a:t>N P </a:t>
            </a:r>
            <a:r>
              <a:rPr lang="en-US" sz="1800" dirty="0"/>
              <a:t>V in this case.</a:t>
            </a:r>
          </a:p>
        </p:txBody>
      </p:sp>
    </p:spTree>
    <p:extLst>
      <p:ext uri="{BB962C8B-B14F-4D97-AF65-F5344CB8AC3E}">
        <p14:creationId xmlns:p14="http://schemas.microsoft.com/office/powerpoint/2010/main" val="252212139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8865"/>
            <a:ext cx="8266346" cy="590349"/>
          </a:xfrm>
        </p:spPr>
        <p:txBody>
          <a:bodyPr/>
          <a:lstStyle/>
          <a:p>
            <a:r>
              <a:rPr lang="en-US" dirty="0" err="1"/>
              <a:t>Homenet</a:t>
            </a:r>
            <a:r>
              <a:rPr lang="en-US" dirty="0"/>
              <a:t> Example 5 </a:t>
            </a:r>
            <a:r>
              <a:rPr lang="en-US" sz="2800" dirty="0"/>
              <a:t>(3 of 3)</a:t>
            </a:r>
          </a:p>
        </p:txBody>
      </p:sp>
      <p:graphicFrame>
        <p:nvGraphicFramePr>
          <p:cNvPr id="3" name="Table 8">
            <a:extLst>
              <a:ext uri="{FF2B5EF4-FFF2-40B4-BE49-F238E27FC236}">
                <a16:creationId xmlns:a16="http://schemas.microsoft.com/office/drawing/2014/main" id="{87F8355D-76A4-84B6-06C1-86EACFE64485}"/>
              </a:ext>
            </a:extLst>
          </p:cNvPr>
          <p:cNvGraphicFramePr>
            <a:graphicFrameLocks/>
          </p:cNvGraphicFramePr>
          <p:nvPr>
            <p:custDataLst>
              <p:tags r:id="rId1"/>
            </p:custDataLst>
            <p:extLst>
              <p:ext uri="{D42A27DB-BD31-4B8C-83A1-F6EECF244321}">
                <p14:modId xmlns:p14="http://schemas.microsoft.com/office/powerpoint/2010/main" val="3383119920"/>
              </p:ext>
            </p:extLst>
          </p:nvPr>
        </p:nvGraphicFramePr>
        <p:xfrm>
          <a:off x="500337" y="2187322"/>
          <a:ext cx="8151479" cy="3417930"/>
        </p:xfrm>
        <a:graphic>
          <a:graphicData uri="http://schemas.openxmlformats.org/drawingml/2006/table">
            <a:tbl>
              <a:tblPr firstRow="1" firstCol="1" bandRow="1">
                <a:tableStyleId>{2D5ABB26-0587-4C30-8999-92F81FD0307C}</a:tableStyleId>
              </a:tblPr>
              <a:tblGrid>
                <a:gridCol w="2915723">
                  <a:extLst>
                    <a:ext uri="{9D8B030D-6E8A-4147-A177-3AD203B41FA5}">
                      <a16:colId xmlns:a16="http://schemas.microsoft.com/office/drawing/2014/main" val="1072788600"/>
                    </a:ext>
                  </a:extLst>
                </a:gridCol>
                <a:gridCol w="646982">
                  <a:extLst>
                    <a:ext uri="{9D8B030D-6E8A-4147-A177-3AD203B41FA5}">
                      <a16:colId xmlns:a16="http://schemas.microsoft.com/office/drawing/2014/main" val="206673024"/>
                    </a:ext>
                  </a:extLst>
                </a:gridCol>
                <a:gridCol w="966158">
                  <a:extLst>
                    <a:ext uri="{9D8B030D-6E8A-4147-A177-3AD203B41FA5}">
                      <a16:colId xmlns:a16="http://schemas.microsoft.com/office/drawing/2014/main" val="3472170879"/>
                    </a:ext>
                  </a:extLst>
                </a:gridCol>
                <a:gridCol w="754004">
                  <a:extLst>
                    <a:ext uri="{9D8B030D-6E8A-4147-A177-3AD203B41FA5}">
                      <a16:colId xmlns:a16="http://schemas.microsoft.com/office/drawing/2014/main" val="3138202961"/>
                    </a:ext>
                  </a:extLst>
                </a:gridCol>
                <a:gridCol w="717153">
                  <a:extLst>
                    <a:ext uri="{9D8B030D-6E8A-4147-A177-3AD203B41FA5}">
                      <a16:colId xmlns:a16="http://schemas.microsoft.com/office/drawing/2014/main" val="2803300867"/>
                    </a:ext>
                  </a:extLst>
                </a:gridCol>
                <a:gridCol w="717153">
                  <a:extLst>
                    <a:ext uri="{9D8B030D-6E8A-4147-A177-3AD203B41FA5}">
                      <a16:colId xmlns:a16="http://schemas.microsoft.com/office/drawing/2014/main" val="1159316143"/>
                    </a:ext>
                  </a:extLst>
                </a:gridCol>
                <a:gridCol w="717153">
                  <a:extLst>
                    <a:ext uri="{9D8B030D-6E8A-4147-A177-3AD203B41FA5}">
                      <a16:colId xmlns:a16="http://schemas.microsoft.com/office/drawing/2014/main" val="281296616"/>
                    </a:ext>
                  </a:extLst>
                </a:gridCol>
                <a:gridCol w="717153">
                  <a:extLst>
                    <a:ext uri="{9D8B030D-6E8A-4147-A177-3AD203B41FA5}">
                      <a16:colId xmlns:a16="http://schemas.microsoft.com/office/drawing/2014/main" val="188891664"/>
                    </a:ext>
                  </a:extLst>
                </a:gridCol>
              </a:tblGrid>
              <a:tr h="0">
                <a:tc>
                  <a:txBody>
                    <a:bodyPr/>
                    <a:lstStyle/>
                    <a:p>
                      <a:r>
                        <a:rPr lang="en-US" sz="100" b="1" noProof="0">
                          <a:solidFill>
                            <a:schemeClr val="bg1"/>
                          </a:solidFill>
                          <a:latin typeface="Arial" panose="020B0604020202020204" pitchFamily="34" charset="0"/>
                          <a:cs typeface="Arial" panose="020B0604020202020204" pitchFamily="34" charset="0"/>
                        </a:rPr>
                        <a:t>Blank</a:t>
                      </a:r>
                    </a:p>
                  </a:txBody>
                  <a:tcP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b="1" noProof="0">
                          <a:solidFill>
                            <a:schemeClr val="bg1"/>
                          </a:solidFill>
                          <a:latin typeface="Arial" panose="020B0604020202020204" pitchFamily="34" charset="0"/>
                          <a:cs typeface="Arial" panose="020B0604020202020204" pitchFamily="34" charset="0"/>
                        </a:rPr>
                        <a:t>Year</a:t>
                      </a:r>
                    </a:p>
                  </a:txBody>
                  <a:tcP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bg1"/>
                          </a:solidFill>
                          <a:latin typeface="Arial" panose="020B0604020202020204" pitchFamily="34" charset="0"/>
                          <a:cs typeface="Arial" panose="020B0604020202020204" pitchFamily="34" charset="0"/>
                        </a:rPr>
                        <a:t>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noProof="0">
                          <a:solidFill>
                            <a:schemeClr val="bg1"/>
                          </a:solidFill>
                          <a:latin typeface="Arial" panose="020B0604020202020204" pitchFamily="34" charset="0"/>
                          <a:cs typeface="Arial" panose="020B0604020202020204" pitchFamily="34" charset="0"/>
                        </a:rPr>
                        <a:t>1</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noProof="0">
                          <a:solidFill>
                            <a:schemeClr val="bg1"/>
                          </a:solidFill>
                          <a:latin typeface="Arial" panose="020B0604020202020204" pitchFamily="34" charset="0"/>
                          <a:cs typeface="Arial" panose="020B0604020202020204" pitchFamily="34" charset="0"/>
                        </a:rPr>
                        <a:t>2</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noProof="0">
                          <a:solidFill>
                            <a:schemeClr val="bg1"/>
                          </a:solidFill>
                          <a:latin typeface="Arial" panose="020B0604020202020204" pitchFamily="34" charset="0"/>
                          <a:cs typeface="Arial" panose="020B0604020202020204" pitchFamily="34" charset="0"/>
                        </a:rPr>
                        <a:t>3</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noProof="0">
                          <a:solidFill>
                            <a:schemeClr val="bg1"/>
                          </a:solidFill>
                          <a:latin typeface="Arial" panose="020B0604020202020204" pitchFamily="34" charset="0"/>
                          <a:cs typeface="Arial" panose="020B0604020202020204" pitchFamily="34" charset="0"/>
                        </a:rPr>
                        <a:t>4</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noProof="0">
                          <a:solidFill>
                            <a:schemeClr val="bg1"/>
                          </a:solidFill>
                          <a:latin typeface="Arial" panose="020B0604020202020204" pitchFamily="34" charset="0"/>
                          <a:cs typeface="Arial" panose="020B0604020202020204" pitchFamily="34" charset="0"/>
                        </a:rPr>
                        <a:t>5</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490851856"/>
                  </a:ext>
                </a:extLst>
              </a:tr>
              <a:tr h="367150">
                <a:tc>
                  <a:txBody>
                    <a:bodyPr/>
                    <a:lstStyle/>
                    <a:p>
                      <a:r>
                        <a:rPr lang="en-US" sz="1600" b="1" noProof="0">
                          <a:latin typeface="Arial" panose="020B0604020202020204" pitchFamily="34" charset="0"/>
                          <a:cs typeface="Arial" panose="020B0604020202020204" pitchFamily="34" charset="0"/>
                        </a:rPr>
                        <a:t>Free Cash Flow and </a:t>
                      </a:r>
                      <a:r>
                        <a:rPr lang="en-US" sz="1600" b="1" spc="-250" baseline="0" noProof="0">
                          <a:latin typeface="Arial" panose="020B0604020202020204" pitchFamily="34" charset="0"/>
                          <a:cs typeface="Arial" panose="020B0604020202020204" pitchFamily="34" charset="0"/>
                        </a:rPr>
                        <a:t>N P </a:t>
                      </a:r>
                      <a:r>
                        <a:rPr lang="en-US" sz="1600" b="1" noProof="0">
                          <a:latin typeface="Arial" panose="020B0604020202020204" pitchFamily="34" charset="0"/>
                          <a:cs typeface="Arial" panose="020B0604020202020204" pitchFamily="34" charset="0"/>
                        </a:rPr>
                        <a:t>V ($000s)</a:t>
                      </a:r>
                    </a:p>
                  </a:txBody>
                  <a:tcP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tc>
                  <a:txBody>
                    <a:bodyPr/>
                    <a:lstStyle/>
                    <a:p>
                      <a:pPr algn="ctr"/>
                      <a:r>
                        <a:rPr lang="en-US" sz="100" noProof="0">
                          <a:latin typeface="Arial" panose="020B0604020202020204" pitchFamily="34" charset="0"/>
                          <a:cs typeface="Arial" panose="020B0604020202020204" pitchFamily="34" charset="0"/>
                        </a:rPr>
                        <a:t>Blank</a:t>
                      </a:r>
                    </a:p>
                  </a:txBody>
                  <a:tcP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tc>
                  <a:txBody>
                    <a:bodyPr/>
                    <a:lstStyle/>
                    <a:p>
                      <a:pPr algn="ct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 noProof="0" dirty="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321591484"/>
                  </a:ext>
                </a:extLst>
              </a:tr>
              <a:tr h="367150">
                <a:tc>
                  <a:txBody>
                    <a:bodyPr/>
                    <a:lstStyle/>
                    <a:p>
                      <a:r>
                        <a:rPr lang="en-US" sz="1600" b="0" noProof="0" dirty="0">
                          <a:latin typeface="Arial" panose="020B0604020202020204" pitchFamily="34" charset="0"/>
                          <a:cs typeface="Arial" panose="020B0604020202020204" pitchFamily="34" charset="0"/>
                        </a:rPr>
                        <a:t>1 Free Cash Flow w/o equipment Adjustments for use of existing equipment</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00" noProof="0">
                          <a:latin typeface="Arial" panose="020B0604020202020204" pitchFamily="34" charset="0"/>
                          <a:cs typeface="Arial" panose="020B0604020202020204" pitchFamily="34" charset="0"/>
                        </a:rPr>
                        <a:t>Blank</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600" noProof="0" dirty="0">
                          <a:latin typeface="Arial" panose="020B0604020202020204" pitchFamily="34" charset="0"/>
                          <a:cs typeface="Arial" panose="020B0604020202020204" pitchFamily="34" charset="0"/>
                        </a:rPr>
                        <a:t>(19,500)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600" noProof="0" dirty="0">
                          <a:latin typeface="Arial" panose="020B0604020202020204" pitchFamily="34" charset="0"/>
                          <a:cs typeface="Arial" panose="020B0604020202020204" pitchFamily="34" charset="0"/>
                        </a:rPr>
                        <a:t>7,000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600" noProof="0">
                          <a:latin typeface="Arial" panose="020B0604020202020204" pitchFamily="34" charset="0"/>
                          <a:cs typeface="Arial" panose="020B0604020202020204" pitchFamily="34" charset="0"/>
                        </a:rPr>
                        <a:t>9,100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600" noProof="0">
                          <a:latin typeface="Arial" panose="020B0604020202020204" pitchFamily="34" charset="0"/>
                          <a:cs typeface="Arial" panose="020B0604020202020204" pitchFamily="34" charset="0"/>
                        </a:rPr>
                        <a:t>9,100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600" noProof="0">
                          <a:latin typeface="Arial" panose="020B0604020202020204" pitchFamily="34" charset="0"/>
                          <a:cs typeface="Arial" panose="020B0604020202020204" pitchFamily="34" charset="0"/>
                        </a:rPr>
                        <a:t>9,100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600" noProof="0">
                          <a:latin typeface="Arial" panose="020B0604020202020204" pitchFamily="34" charset="0"/>
                          <a:cs typeface="Arial" panose="020B0604020202020204" pitchFamily="34" charset="0"/>
                        </a:rPr>
                        <a:t>2,400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661540150"/>
                  </a:ext>
                </a:extLst>
              </a:tr>
              <a:tr h="367150">
                <a:tc>
                  <a:txBody>
                    <a:bodyPr/>
                    <a:lstStyle/>
                    <a:p>
                      <a:r>
                        <a:rPr lang="en-US" sz="1600" b="0" noProof="0">
                          <a:latin typeface="Arial" panose="020B0604020202020204" pitchFamily="34" charset="0"/>
                          <a:cs typeface="Arial" panose="020B0604020202020204" pitchFamily="34" charset="0"/>
                        </a:rPr>
                        <a:t>2 After-Tax Salvage Value</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00" noProof="0" dirty="0">
                          <a:latin typeface="Arial" panose="020B0604020202020204" pitchFamily="34" charset="0"/>
                          <a:cs typeface="Arial" panose="020B0604020202020204" pitchFamily="34" charset="0"/>
                        </a:rPr>
                        <a:t>Blank</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600" noProof="0">
                          <a:latin typeface="Arial" panose="020B0604020202020204" pitchFamily="34" charset="0"/>
                          <a:cs typeface="Arial" panose="020B0604020202020204" pitchFamily="34" charset="0"/>
                        </a:rPr>
                        <a:t>(1,800)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dirty="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600" noProof="0">
                          <a:latin typeface="Arial" panose="020B0604020202020204" pitchFamily="34" charset="0"/>
                          <a:cs typeface="Arial" panose="020B0604020202020204" pitchFamily="34" charset="0"/>
                        </a:rPr>
                        <a:t>640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029354084"/>
                  </a:ext>
                </a:extLst>
              </a:tr>
              <a:tr h="367150">
                <a:tc>
                  <a:txBody>
                    <a:bodyPr/>
                    <a:lstStyle/>
                    <a:p>
                      <a:r>
                        <a:rPr lang="en-US" sz="1600" b="0" noProof="0">
                          <a:latin typeface="Arial" panose="020B0604020202020204" pitchFamily="34" charset="0"/>
                          <a:cs typeface="Arial" panose="020B0604020202020204" pitchFamily="34" charset="0"/>
                        </a:rPr>
                        <a:t>3 Depreciation Tax Shield</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00" noProof="0">
                          <a:latin typeface="Arial" panose="020B0604020202020204" pitchFamily="34" charset="0"/>
                          <a:cs typeface="Arial" panose="020B0604020202020204" pitchFamily="34" charset="0"/>
                        </a:rPr>
                        <a:t>Blank</a:t>
                      </a:r>
                      <a:endParaRPr lang="en-US" sz="100" b="1" noProof="0">
                        <a:latin typeface="Arial" panose="020B0604020202020204" pitchFamily="34" charset="0"/>
                        <a:cs typeface="Arial" panose="020B0604020202020204" pitchFamily="34" charset="0"/>
                      </a:endParaRP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00" noProof="0">
                          <a:latin typeface="Arial" panose="020B0604020202020204" pitchFamily="34" charset="0"/>
                          <a:cs typeface="Arial" panose="020B0604020202020204" pitchFamily="34" charset="0"/>
                        </a:rPr>
                        <a:t>Blank</a:t>
                      </a:r>
                      <a:endParaRPr lang="en-US" sz="100" b="1" noProof="0">
                        <a:latin typeface="Arial" panose="020B0604020202020204" pitchFamily="34" charset="0"/>
                        <a:cs typeface="Arial" panose="020B0604020202020204" pitchFamily="34" charset="0"/>
                      </a:endParaRP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600" b="0" noProof="0" dirty="0">
                          <a:latin typeface="Arial" panose="020B0604020202020204" pitchFamily="34" charset="0"/>
                          <a:cs typeface="Arial" panose="020B0604020202020204" pitchFamily="34" charset="0"/>
                        </a:rPr>
                        <a:t>200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endParaRPr lang="en-US" sz="100" b="1" noProof="0">
                        <a:latin typeface="Arial" panose="020B0604020202020204" pitchFamily="34" charset="0"/>
                        <a:cs typeface="Arial" panose="020B0604020202020204" pitchFamily="34" charset="0"/>
                      </a:endParaRP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endParaRPr lang="en-US" sz="100" b="1" noProof="0">
                        <a:latin typeface="Arial" panose="020B0604020202020204" pitchFamily="34" charset="0"/>
                        <a:cs typeface="Arial" panose="020B0604020202020204" pitchFamily="34" charset="0"/>
                      </a:endParaRP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endParaRPr lang="en-US" sz="100" b="1" noProof="0">
                        <a:latin typeface="Arial" panose="020B0604020202020204" pitchFamily="34" charset="0"/>
                        <a:cs typeface="Arial" panose="020B0604020202020204" pitchFamily="34" charset="0"/>
                      </a:endParaRP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endParaRPr lang="en-US" sz="100" b="1" noProof="0">
                        <a:latin typeface="Arial" panose="020B0604020202020204" pitchFamily="34" charset="0"/>
                        <a:cs typeface="Arial" panose="020B0604020202020204" pitchFamily="34" charset="0"/>
                      </a:endParaRP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4085743459"/>
                  </a:ext>
                </a:extLst>
              </a:tr>
              <a:tr h="367150">
                <a:tc>
                  <a:txBody>
                    <a:bodyPr/>
                    <a:lstStyle/>
                    <a:p>
                      <a:r>
                        <a:rPr lang="en-US" sz="1600" b="0" noProof="0" dirty="0">
                          <a:latin typeface="Arial" panose="020B0604020202020204" pitchFamily="34" charset="0"/>
                          <a:cs typeface="Arial" panose="020B0604020202020204" pitchFamily="34" charset="0"/>
                        </a:rPr>
                        <a:t>4 </a:t>
                      </a:r>
                      <a:r>
                        <a:rPr lang="en-US" sz="1600" b="1" noProof="0" dirty="0">
                          <a:latin typeface="Arial" panose="020B0604020202020204" pitchFamily="34" charset="0"/>
                          <a:cs typeface="Arial" panose="020B0604020202020204" pitchFamily="34" charset="0"/>
                        </a:rPr>
                        <a:t>Free Cash Flow with equipment</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00" noProof="0">
                          <a:latin typeface="Arial" panose="020B0604020202020204" pitchFamily="34" charset="0"/>
                          <a:cs typeface="Arial" panose="020B0604020202020204" pitchFamily="34" charset="0"/>
                        </a:rPr>
                        <a:t>Blank</a:t>
                      </a:r>
                      <a:endParaRPr lang="en-US" sz="100" b="1" noProof="0">
                        <a:latin typeface="Arial" panose="020B0604020202020204" pitchFamily="34" charset="0"/>
                        <a:cs typeface="Arial" panose="020B0604020202020204" pitchFamily="34" charset="0"/>
                      </a:endParaRP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600" b="1" noProof="0">
                          <a:latin typeface="Arial" panose="020B0604020202020204" pitchFamily="34" charset="0"/>
                          <a:cs typeface="Arial" panose="020B0604020202020204" pitchFamily="34" charset="0"/>
                        </a:rPr>
                        <a:t>(21,300)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600" b="1" noProof="0">
                          <a:latin typeface="Arial" panose="020B0604020202020204" pitchFamily="34" charset="0"/>
                          <a:cs typeface="Arial" panose="020B0604020202020204" pitchFamily="34" charset="0"/>
                        </a:rPr>
                        <a:t>7,200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600" b="1" noProof="0">
                          <a:latin typeface="Arial" panose="020B0604020202020204" pitchFamily="34" charset="0"/>
                          <a:cs typeface="Arial" panose="020B0604020202020204" pitchFamily="34" charset="0"/>
                        </a:rPr>
                        <a:t>9,100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600" b="1" noProof="0">
                          <a:latin typeface="Arial" panose="020B0604020202020204" pitchFamily="34" charset="0"/>
                          <a:cs typeface="Arial" panose="020B0604020202020204" pitchFamily="34" charset="0"/>
                        </a:rPr>
                        <a:t>9,100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600" b="1" noProof="0">
                          <a:latin typeface="Arial" panose="020B0604020202020204" pitchFamily="34" charset="0"/>
                          <a:cs typeface="Arial" panose="020B0604020202020204" pitchFamily="34" charset="0"/>
                        </a:rPr>
                        <a:t>9,100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600" b="1" noProof="0">
                          <a:latin typeface="Arial" panose="020B0604020202020204" pitchFamily="34" charset="0"/>
                          <a:cs typeface="Arial" panose="020B0604020202020204" pitchFamily="34" charset="0"/>
                        </a:rPr>
                        <a:t>3,040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752953877"/>
                  </a:ext>
                </a:extLst>
              </a:tr>
              <a:tr h="367150">
                <a:tc>
                  <a:txBody>
                    <a:bodyPr/>
                    <a:lstStyle/>
                    <a:p>
                      <a:r>
                        <a:rPr lang="en-US" sz="1600" b="0" noProof="0" dirty="0">
                          <a:latin typeface="Arial" panose="020B0604020202020204" pitchFamily="34" charset="0"/>
                          <a:cs typeface="Arial" panose="020B0604020202020204" pitchFamily="34" charset="0"/>
                        </a:rPr>
                        <a:t>5 </a:t>
                      </a:r>
                      <a:r>
                        <a:rPr lang="en-US" sz="1600" b="1" spc="-200" baseline="0" noProof="0" dirty="0">
                          <a:latin typeface="Arial" panose="020B0604020202020204" pitchFamily="34" charset="0"/>
                          <a:cs typeface="Arial" panose="020B0604020202020204" pitchFamily="34" charset="0"/>
                        </a:rPr>
                        <a:t>N P </a:t>
                      </a:r>
                      <a:r>
                        <a:rPr lang="en-US" sz="1600" b="1" noProof="0" dirty="0">
                          <a:latin typeface="Arial" panose="020B0604020202020204" pitchFamily="34" charset="0"/>
                          <a:cs typeface="Arial" panose="020B0604020202020204" pitchFamily="34" charset="0"/>
                        </a:rPr>
                        <a:t>V at 12%</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00" noProof="0">
                          <a:latin typeface="Arial" panose="020B0604020202020204" pitchFamily="34" charset="0"/>
                          <a:cs typeface="Arial" panose="020B0604020202020204" pitchFamily="34" charset="0"/>
                        </a:rPr>
                        <a:t>Blank</a:t>
                      </a:r>
                      <a:endParaRPr lang="en-US" sz="100" b="1" noProof="0">
                        <a:latin typeface="Arial" panose="020B0604020202020204" pitchFamily="34" charset="0"/>
                        <a:cs typeface="Arial" panose="020B0604020202020204" pitchFamily="34" charset="0"/>
                      </a:endParaRP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600" b="1" noProof="0">
                          <a:latin typeface="Arial" panose="020B0604020202020204" pitchFamily="34" charset="0"/>
                          <a:cs typeface="Arial" panose="020B0604020202020204" pitchFamily="34" charset="0"/>
                        </a:rPr>
                        <a:t>6,368</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00" b="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b="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b="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b="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b="0" noProof="0" dirty="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523320898"/>
                  </a:ext>
                </a:extLst>
              </a:tr>
            </a:tbl>
          </a:graphicData>
        </a:graphic>
      </p:graphicFrame>
      <p:sp>
        <p:nvSpPr>
          <p:cNvPr id="4" name="ZoneTexte 3">
            <a:extLst>
              <a:ext uri="{FF2B5EF4-FFF2-40B4-BE49-F238E27FC236}">
                <a16:creationId xmlns:a16="http://schemas.microsoft.com/office/drawing/2014/main" id="{40257A7C-3619-6981-EBA5-C0AC9B051535}"/>
              </a:ext>
            </a:extLst>
          </p:cNvPr>
          <p:cNvSpPr txBox="1"/>
          <p:nvPr/>
        </p:nvSpPr>
        <p:spPr>
          <a:xfrm>
            <a:off x="500337" y="1313602"/>
            <a:ext cx="954107" cy="369332"/>
          </a:xfrm>
          <a:prstGeom prst="rect">
            <a:avLst/>
          </a:prstGeom>
          <a:noFill/>
        </p:spPr>
        <p:txBody>
          <a:bodyPr wrap="none" rtlCol="0">
            <a:spAutoFit/>
          </a:bodyPr>
          <a:lstStyle/>
          <a:p>
            <a:r>
              <a:rPr lang="fr-FR" sz="1800" dirty="0"/>
              <a:t>Table 9</a:t>
            </a:r>
          </a:p>
        </p:txBody>
      </p:sp>
    </p:spTree>
    <p:extLst>
      <p:ext uri="{BB962C8B-B14F-4D97-AF65-F5344CB8AC3E}">
        <p14:creationId xmlns:p14="http://schemas.microsoft.com/office/powerpoint/2010/main" val="6615193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24588"/>
            <a:ext cx="8266346" cy="1144347"/>
          </a:xfrm>
        </p:spPr>
        <p:txBody>
          <a:bodyPr/>
          <a:lstStyle/>
          <a:p>
            <a:r>
              <a:rPr lang="en-US" dirty="0"/>
              <a:t>Further Adjustments to Free Cash Flow </a:t>
            </a:r>
            <a:r>
              <a:rPr lang="en-US" sz="2800" dirty="0"/>
              <a:t>(2 of 3)</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45854" y="1714000"/>
            <a:ext cx="8266346" cy="1221291"/>
          </a:xfrm>
        </p:spPr>
        <p:txBody>
          <a:bodyPr wrap="square" lIns="0" tIns="18000" rIns="0" bIns="18000" anchor="ctr">
            <a:spAutoFit/>
          </a:bodyPr>
          <a:lstStyle/>
          <a:p>
            <a:pPr marL="342900" indent="-342900">
              <a:spcBef>
                <a:spcPts val="600"/>
              </a:spcBef>
            </a:pPr>
            <a:r>
              <a:rPr lang="en-US" sz="2400" dirty="0"/>
              <a:t>Terminal or Continuation Value</a:t>
            </a:r>
          </a:p>
          <a:p>
            <a:pPr marL="829818" lvl="1" indent="-342900"/>
            <a:r>
              <a:rPr lang="en-US" sz="2400" dirty="0"/>
              <a:t>This amount represents the market value of the free cash flow from the project at all future dates</a:t>
            </a:r>
          </a:p>
        </p:txBody>
      </p:sp>
    </p:spTree>
    <p:extLst>
      <p:ext uri="{BB962C8B-B14F-4D97-AF65-F5344CB8AC3E}">
        <p14:creationId xmlns:p14="http://schemas.microsoft.com/office/powerpoint/2010/main" val="36940379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8867"/>
            <a:ext cx="8266346" cy="590349"/>
          </a:xfrm>
        </p:spPr>
        <p:txBody>
          <a:bodyPr/>
          <a:lstStyle/>
          <a:p>
            <a:r>
              <a:rPr lang="en-US" dirty="0"/>
              <a:t>Base Hardware Example </a:t>
            </a:r>
            <a:r>
              <a:rPr lang="en-US" sz="2800" dirty="0"/>
              <a:t>(1 of 3)</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45854" y="1050205"/>
            <a:ext cx="8266346" cy="1467513"/>
          </a:xfrm>
        </p:spPr>
        <p:txBody>
          <a:bodyPr wrap="square" lIns="0" tIns="18000" rIns="0" bIns="18000" anchor="ctr">
            <a:spAutoFit/>
          </a:bodyPr>
          <a:lstStyle/>
          <a:p>
            <a:pPr marL="0" indent="0">
              <a:spcBef>
                <a:spcPts val="600"/>
              </a:spcBef>
              <a:buNone/>
            </a:pPr>
            <a:r>
              <a:rPr lang="en-US" sz="2200" b="1" dirty="0"/>
              <a:t>Problem</a:t>
            </a:r>
          </a:p>
          <a:p>
            <a:pPr marL="0" indent="0">
              <a:spcBef>
                <a:spcPts val="600"/>
              </a:spcBef>
              <a:buNone/>
            </a:pPr>
            <a:r>
              <a:rPr lang="en-US" sz="2200" dirty="0"/>
              <a:t>Base Hardware is considering opening a set of new retail stores. The free cash flow projections for the new stores are shown below (in millions of dollars):</a:t>
            </a:r>
          </a:p>
        </p:txBody>
      </p:sp>
      <p:pic>
        <p:nvPicPr>
          <p:cNvPr id="8" name="Picture 7" descr="A number line shows the free cash flow projections.&#10;Long description is available in notes, Press F6.">
            <a:extLst>
              <a:ext uri="{FF2B5EF4-FFF2-40B4-BE49-F238E27FC236}">
                <a16:creationId xmlns:a16="http://schemas.microsoft.com/office/drawing/2014/main" id="{ECFC78ED-763D-30B3-E3B3-8D6A18DE7A1E}"/>
              </a:ext>
            </a:extLst>
          </p:cNvPr>
          <p:cNvPicPr>
            <a:picLocks noChangeAspect="1"/>
          </p:cNvPicPr>
          <p:nvPr/>
        </p:nvPicPr>
        <p:blipFill>
          <a:blip r:embed="rId3"/>
          <a:stretch>
            <a:fillRect/>
          </a:stretch>
        </p:blipFill>
        <p:spPr>
          <a:xfrm>
            <a:off x="550830" y="2983523"/>
            <a:ext cx="8042340" cy="890954"/>
          </a:xfrm>
          <a:prstGeom prst="rect">
            <a:avLst/>
          </a:prstGeom>
        </p:spPr>
      </p:pic>
      <p:sp>
        <p:nvSpPr>
          <p:cNvPr id="4" name="Content Placeholder 3">
            <a:extLst>
              <a:ext uri="{FF2B5EF4-FFF2-40B4-BE49-F238E27FC236}">
                <a16:creationId xmlns:a16="http://schemas.microsoft.com/office/drawing/2014/main" id="{0DD52A53-AA06-30A3-80A8-F6004494B0FE}"/>
              </a:ext>
            </a:extLst>
          </p:cNvPr>
          <p:cNvSpPr>
            <a:spLocks noGrp="1"/>
          </p:cNvSpPr>
          <p:nvPr>
            <p:ph sz="quarter" idx="13"/>
          </p:nvPr>
        </p:nvSpPr>
        <p:spPr>
          <a:xfrm>
            <a:off x="431800" y="4374225"/>
            <a:ext cx="8280400" cy="1729123"/>
          </a:xfrm>
        </p:spPr>
        <p:txBody>
          <a:bodyPr wrap="square" lIns="0" tIns="18000" rIns="0" bIns="18000" anchor="ctr">
            <a:spAutoFit/>
          </a:bodyPr>
          <a:lstStyle/>
          <a:p>
            <a:pPr marL="0" indent="0">
              <a:spcBef>
                <a:spcPts val="600"/>
              </a:spcBef>
              <a:buNone/>
            </a:pPr>
            <a:r>
              <a:rPr lang="en-US" sz="2200" dirty="0"/>
              <a:t>After year 4, Base Hardware expects free cash flow from the stores to increase at a rate of 5% per year. If the appropriate cost of capital for this investment is 10%, what continuation value in year 4 captures the value of future free cash flows in year 5 and beyond? What is the </a:t>
            </a:r>
            <a:r>
              <a:rPr lang="en-US" sz="2200" spc="-300" dirty="0"/>
              <a:t>N P </a:t>
            </a:r>
            <a:r>
              <a:rPr lang="en-US" sz="2200" dirty="0"/>
              <a:t>V of the new stores?</a:t>
            </a:r>
          </a:p>
        </p:txBody>
      </p:sp>
    </p:spTree>
    <p:extLst>
      <p:ext uri="{BB962C8B-B14F-4D97-AF65-F5344CB8AC3E}">
        <p14:creationId xmlns:p14="http://schemas.microsoft.com/office/powerpoint/2010/main" val="29723232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8867"/>
            <a:ext cx="8266346" cy="590349"/>
          </a:xfrm>
        </p:spPr>
        <p:txBody>
          <a:bodyPr/>
          <a:lstStyle/>
          <a:p>
            <a:r>
              <a:rPr lang="en-US" dirty="0"/>
              <a:t>Base Hardware Example </a:t>
            </a:r>
            <a:r>
              <a:rPr lang="en-US" sz="2800" dirty="0"/>
              <a:t>(2 of 3)</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45854" y="1028266"/>
            <a:ext cx="8266346" cy="1959955"/>
          </a:xfrm>
        </p:spPr>
        <p:txBody>
          <a:bodyPr wrap="square" lIns="0" tIns="18000" rIns="0" bIns="18000" anchor="ctr">
            <a:spAutoFit/>
          </a:bodyPr>
          <a:lstStyle/>
          <a:p>
            <a:pPr marL="0" indent="0">
              <a:spcBef>
                <a:spcPts val="600"/>
              </a:spcBef>
              <a:buNone/>
            </a:pPr>
            <a:r>
              <a:rPr lang="en-US" sz="2400" b="1" dirty="0"/>
              <a:t>Solution</a:t>
            </a:r>
          </a:p>
          <a:p>
            <a:pPr marL="0" indent="0">
              <a:spcBef>
                <a:spcPts val="600"/>
              </a:spcBef>
              <a:buNone/>
            </a:pPr>
            <a:r>
              <a:rPr lang="en-US" sz="2400" dirty="0"/>
              <a:t>Because the future free cash flow beyond year 4 is expected to grow at 5% per year, the continuation value in year 4 of the free cash flow in year 5 and beyond can be calculated as a constant growth perpetuity:</a:t>
            </a:r>
          </a:p>
        </p:txBody>
      </p:sp>
      <p:graphicFrame>
        <p:nvGraphicFramePr>
          <p:cNvPr id="7" name="Object 6" descr="Continuation value in year 4 equals P V left parenthesis F C F in year 5 and beyond right parenthesis.">
            <a:extLst>
              <a:ext uri="{FF2B5EF4-FFF2-40B4-BE49-F238E27FC236}">
                <a16:creationId xmlns:a16="http://schemas.microsoft.com/office/drawing/2014/main" id="{07012CB9-73F0-4BDA-CD1B-DB7B3283E1E8}"/>
              </a:ext>
            </a:extLst>
          </p:cNvPr>
          <p:cNvGraphicFramePr>
            <a:graphicFrameLocks noChangeAspect="1"/>
          </p:cNvGraphicFramePr>
          <p:nvPr>
            <p:extLst>
              <p:ext uri="{D42A27DB-BD31-4B8C-83A1-F6EECF244321}">
                <p14:modId xmlns:p14="http://schemas.microsoft.com/office/powerpoint/2010/main" val="1374811785"/>
              </p:ext>
            </p:extLst>
          </p:nvPr>
        </p:nvGraphicFramePr>
        <p:xfrm>
          <a:off x="485775" y="3241675"/>
          <a:ext cx="7899400" cy="342900"/>
        </p:xfrm>
        <a:graphic>
          <a:graphicData uri="http://schemas.openxmlformats.org/presentationml/2006/ole">
            <mc:AlternateContent xmlns:mc="http://schemas.openxmlformats.org/markup-compatibility/2006">
              <mc:Choice xmlns:v="urn:schemas-microsoft-com:vml" Requires="v">
                <p:oleObj name="Equation" r:id="rId2" imgW="7149960" imgH="304560" progId="Equation.DSMT4">
                  <p:embed/>
                </p:oleObj>
              </mc:Choice>
              <mc:Fallback>
                <p:oleObj name="Equation" r:id="rId2" imgW="7149960" imgH="304560" progId="Equation.DSMT4">
                  <p:embed/>
                  <p:pic>
                    <p:nvPicPr>
                      <p:cNvPr id="14" name="Object 13" descr="&quot;Continuation Value in year 4 = P V of start expression F C F in year 5 and beyond end expression.&#10;= start fraction F C F sub 4 times left parenthesis 1 + g right parenthesis over r minus g end fraction = $1.30 million times start fraction 1.05 over 0.10 minus 0.05 end fraction.&#10;= $1.30 million times 21 = $27.3 million.&quot;"/>
                      <p:cNvPicPr>
                        <a:picLocks noChangeAspect="1" noChangeArrowheads="1"/>
                      </p:cNvPicPr>
                      <p:nvPr/>
                    </p:nvPicPr>
                    <p:blipFill>
                      <a:blip r:embed="rId3"/>
                      <a:srcRect/>
                      <a:stretch>
                        <a:fillRect/>
                      </a:stretch>
                    </p:blipFill>
                    <p:spPr bwMode="auto">
                      <a:xfrm>
                        <a:off x="485775" y="3241675"/>
                        <a:ext cx="7899400" cy="342900"/>
                      </a:xfrm>
                      <a:prstGeom prst="rect">
                        <a:avLst/>
                      </a:prstGeom>
                      <a:noFill/>
                    </p:spPr>
                  </p:pic>
                </p:oleObj>
              </mc:Fallback>
            </mc:AlternateContent>
          </a:graphicData>
        </a:graphic>
      </p:graphicFrame>
      <p:graphicFrame>
        <p:nvGraphicFramePr>
          <p:cNvPr id="9" name="Object 8" descr="Equals start fraction F C F subscript 4 baseline times left parenthesis 1 plus g right parenthesis over r minus g end fraction equals 1.30 million dollars times start fraction 1.05 over 0.10 minus 0.05 end fraction.">
            <a:extLst>
              <a:ext uri="{FF2B5EF4-FFF2-40B4-BE49-F238E27FC236}">
                <a16:creationId xmlns:a16="http://schemas.microsoft.com/office/drawing/2014/main" id="{5860CD8A-C4B8-9313-BF48-27CB6DE286DF}"/>
              </a:ext>
            </a:extLst>
          </p:cNvPr>
          <p:cNvGraphicFramePr>
            <a:graphicFrameLocks noChangeAspect="1"/>
          </p:cNvGraphicFramePr>
          <p:nvPr>
            <p:extLst>
              <p:ext uri="{D42A27DB-BD31-4B8C-83A1-F6EECF244321}">
                <p14:modId xmlns:p14="http://schemas.microsoft.com/office/powerpoint/2010/main" val="3623140030"/>
              </p:ext>
            </p:extLst>
          </p:nvPr>
        </p:nvGraphicFramePr>
        <p:xfrm>
          <a:off x="3250984" y="3733757"/>
          <a:ext cx="5474494" cy="752983"/>
        </p:xfrm>
        <a:graphic>
          <a:graphicData uri="http://schemas.openxmlformats.org/presentationml/2006/ole">
            <mc:AlternateContent xmlns:mc="http://schemas.openxmlformats.org/markup-compatibility/2006">
              <mc:Choice xmlns:v="urn:schemas-microsoft-com:vml" Requires="v">
                <p:oleObj name="Equation" r:id="rId4" imgW="4952880" imgH="672840" progId="Equation.DSMT4">
                  <p:embed/>
                </p:oleObj>
              </mc:Choice>
              <mc:Fallback>
                <p:oleObj name="Equation" r:id="rId4" imgW="4952880" imgH="672840" progId="Equation.DSMT4">
                  <p:embed/>
                  <p:pic>
                    <p:nvPicPr>
                      <p:cNvPr id="14" name="Object 13" descr="&quot;Continuation Value in year 4 = P V of start expression F C F in year 5 and beyond end expression.&#10;= start fraction F C F sub 4 times left parenthesis 1 + g right parenthesis over r minus g end fraction = $1.30 million times start fraction 1.05 over 0.10 minus 0.05 end fraction.&#10;= $1.30 million times 21 = $27.3 million.&quot;"/>
                      <p:cNvPicPr>
                        <a:picLocks noChangeAspect="1" noChangeArrowheads="1"/>
                      </p:cNvPicPr>
                      <p:nvPr/>
                    </p:nvPicPr>
                    <p:blipFill>
                      <a:blip r:embed="rId5"/>
                      <a:srcRect/>
                      <a:stretch>
                        <a:fillRect/>
                      </a:stretch>
                    </p:blipFill>
                    <p:spPr bwMode="auto">
                      <a:xfrm>
                        <a:off x="3250984" y="3733757"/>
                        <a:ext cx="5474494" cy="752983"/>
                      </a:xfrm>
                      <a:prstGeom prst="rect">
                        <a:avLst/>
                      </a:prstGeom>
                      <a:noFill/>
                    </p:spPr>
                  </p:pic>
                </p:oleObj>
              </mc:Fallback>
            </mc:AlternateContent>
          </a:graphicData>
        </a:graphic>
      </p:graphicFrame>
      <p:graphicFrame>
        <p:nvGraphicFramePr>
          <p:cNvPr id="10" name="Object 9" descr="Equals 1.30 million dollars times 21 equals 27.3 million dollars.">
            <a:extLst>
              <a:ext uri="{FF2B5EF4-FFF2-40B4-BE49-F238E27FC236}">
                <a16:creationId xmlns:a16="http://schemas.microsoft.com/office/drawing/2014/main" id="{FF6F1CF0-6994-0D4A-5F73-A361590E1644}"/>
              </a:ext>
            </a:extLst>
          </p:cNvPr>
          <p:cNvGraphicFramePr>
            <a:graphicFrameLocks noChangeAspect="1"/>
          </p:cNvGraphicFramePr>
          <p:nvPr>
            <p:extLst>
              <p:ext uri="{D42A27DB-BD31-4B8C-83A1-F6EECF244321}">
                <p14:modId xmlns:p14="http://schemas.microsoft.com/office/powerpoint/2010/main" val="652814899"/>
              </p:ext>
            </p:extLst>
          </p:nvPr>
        </p:nvGraphicFramePr>
        <p:xfrm>
          <a:off x="3254081" y="4627903"/>
          <a:ext cx="4139486" cy="341916"/>
        </p:xfrm>
        <a:graphic>
          <a:graphicData uri="http://schemas.openxmlformats.org/presentationml/2006/ole">
            <mc:AlternateContent xmlns:mc="http://schemas.openxmlformats.org/markup-compatibility/2006">
              <mc:Choice xmlns:v="urn:schemas-microsoft-com:vml" Requires="v">
                <p:oleObj name="Equation" r:id="rId6" imgW="3746160" imgH="304560" progId="Equation.DSMT4">
                  <p:embed/>
                </p:oleObj>
              </mc:Choice>
              <mc:Fallback>
                <p:oleObj name="Equation" r:id="rId6" imgW="3746160" imgH="304560" progId="Equation.DSMT4">
                  <p:embed/>
                  <p:pic>
                    <p:nvPicPr>
                      <p:cNvPr id="14" name="Object 13" descr="&quot;Continuation Value in year 4 = P V of start expression F C F in year 5 and beyond end expression.&#10;= start fraction F C F sub 4 times left parenthesis 1 + g right parenthesis over r minus g end fraction = $1.30 million times start fraction 1.05 over 0.10 minus 0.05 end fraction.&#10;= $1.30 million times 21 = $27.3 million.&quot;"/>
                      <p:cNvPicPr>
                        <a:picLocks noChangeAspect="1" noChangeArrowheads="1"/>
                      </p:cNvPicPr>
                      <p:nvPr/>
                    </p:nvPicPr>
                    <p:blipFill>
                      <a:blip r:embed="rId7"/>
                      <a:srcRect/>
                      <a:stretch>
                        <a:fillRect/>
                      </a:stretch>
                    </p:blipFill>
                    <p:spPr bwMode="auto">
                      <a:xfrm>
                        <a:off x="3254081" y="4627903"/>
                        <a:ext cx="4139486" cy="341916"/>
                      </a:xfrm>
                      <a:prstGeom prst="rect">
                        <a:avLst/>
                      </a:prstGeom>
                      <a:noFill/>
                    </p:spPr>
                  </p:pic>
                </p:oleObj>
              </mc:Fallback>
            </mc:AlternateContent>
          </a:graphicData>
        </a:graphic>
      </p:graphicFrame>
      <p:sp>
        <p:nvSpPr>
          <p:cNvPr id="4" name="Content Placeholder 3">
            <a:extLst>
              <a:ext uri="{FF2B5EF4-FFF2-40B4-BE49-F238E27FC236}">
                <a16:creationId xmlns:a16="http://schemas.microsoft.com/office/drawing/2014/main" id="{0DD52A53-AA06-30A3-80A8-F6004494B0FE}"/>
              </a:ext>
            </a:extLst>
          </p:cNvPr>
          <p:cNvSpPr>
            <a:spLocks noGrp="1"/>
          </p:cNvSpPr>
          <p:nvPr>
            <p:ph sz="quarter" idx="13"/>
          </p:nvPr>
        </p:nvSpPr>
        <p:spPr>
          <a:xfrm>
            <a:off x="431800" y="5097927"/>
            <a:ext cx="8280400" cy="1144347"/>
          </a:xfrm>
        </p:spPr>
        <p:txBody>
          <a:bodyPr wrap="square" lIns="0" tIns="18000" rIns="0" bIns="18000" anchor="ctr">
            <a:spAutoFit/>
          </a:bodyPr>
          <a:lstStyle/>
          <a:p>
            <a:pPr marL="0" indent="0">
              <a:spcBef>
                <a:spcPts val="600"/>
              </a:spcBef>
              <a:buNone/>
            </a:pPr>
            <a:r>
              <a:rPr lang="en-US" sz="2400" dirty="0"/>
              <a:t>Notice that under the assumption of constant growth, we can compute the continuation value as a multiple of the project’s final free cash flow.</a:t>
            </a:r>
          </a:p>
        </p:txBody>
      </p:sp>
    </p:spTree>
    <p:extLst>
      <p:ext uri="{BB962C8B-B14F-4D97-AF65-F5344CB8AC3E}">
        <p14:creationId xmlns:p14="http://schemas.microsoft.com/office/powerpoint/2010/main" val="300214114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8867"/>
            <a:ext cx="8266346" cy="590349"/>
          </a:xfrm>
        </p:spPr>
        <p:txBody>
          <a:bodyPr/>
          <a:lstStyle/>
          <a:p>
            <a:r>
              <a:rPr lang="en-US" dirty="0"/>
              <a:t>Base Hardware Example </a:t>
            </a:r>
            <a:r>
              <a:rPr lang="en-US" sz="2800" dirty="0"/>
              <a:t>(3 of 3)</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45854" y="1034145"/>
            <a:ext cx="8266346" cy="775015"/>
          </a:xfrm>
        </p:spPr>
        <p:txBody>
          <a:bodyPr wrap="square" lIns="0" tIns="18000" rIns="0" bIns="18000" anchor="ctr">
            <a:spAutoFit/>
          </a:bodyPr>
          <a:lstStyle/>
          <a:p>
            <a:pPr marL="0" indent="0">
              <a:spcBef>
                <a:spcPts val="600"/>
              </a:spcBef>
              <a:buNone/>
            </a:pPr>
            <a:r>
              <a:rPr lang="en-US" sz="2400" dirty="0"/>
              <a:t>We can restate the free cash flows of the investment as follows (in thousands of dollars):</a:t>
            </a:r>
          </a:p>
        </p:txBody>
      </p:sp>
      <p:graphicFrame>
        <p:nvGraphicFramePr>
          <p:cNvPr id="6" name="Table 8">
            <a:extLst>
              <a:ext uri="{FF2B5EF4-FFF2-40B4-BE49-F238E27FC236}">
                <a16:creationId xmlns:a16="http://schemas.microsoft.com/office/drawing/2014/main" id="{BF8DE9D4-BC2E-F35D-39F1-21482DB82253}"/>
              </a:ext>
            </a:extLst>
          </p:cNvPr>
          <p:cNvGraphicFramePr>
            <a:graphicFrameLocks/>
          </p:cNvGraphicFramePr>
          <p:nvPr>
            <p:custDataLst>
              <p:tags r:id="rId1"/>
            </p:custDataLst>
            <p:extLst>
              <p:ext uri="{D42A27DB-BD31-4B8C-83A1-F6EECF244321}">
                <p14:modId xmlns:p14="http://schemas.microsoft.com/office/powerpoint/2010/main" val="2037187627"/>
              </p:ext>
            </p:extLst>
          </p:nvPr>
        </p:nvGraphicFramePr>
        <p:xfrm>
          <a:off x="500334" y="2469940"/>
          <a:ext cx="8161709" cy="1465820"/>
        </p:xfrm>
        <a:graphic>
          <a:graphicData uri="http://schemas.openxmlformats.org/drawingml/2006/table">
            <a:tbl>
              <a:tblPr firstRow="1" bandRow="1">
                <a:tableStyleId>{2D5ABB26-0587-4C30-8999-92F81FD0307C}</a:tableStyleId>
              </a:tblPr>
              <a:tblGrid>
                <a:gridCol w="2862138">
                  <a:extLst>
                    <a:ext uri="{9D8B030D-6E8A-4147-A177-3AD203B41FA5}">
                      <a16:colId xmlns:a16="http://schemas.microsoft.com/office/drawing/2014/main" val="1072788600"/>
                    </a:ext>
                  </a:extLst>
                </a:gridCol>
                <a:gridCol w="1181786">
                  <a:extLst>
                    <a:ext uri="{9D8B030D-6E8A-4147-A177-3AD203B41FA5}">
                      <a16:colId xmlns:a16="http://schemas.microsoft.com/office/drawing/2014/main" val="206673024"/>
                    </a:ext>
                  </a:extLst>
                </a:gridCol>
                <a:gridCol w="1098692">
                  <a:extLst>
                    <a:ext uri="{9D8B030D-6E8A-4147-A177-3AD203B41FA5}">
                      <a16:colId xmlns:a16="http://schemas.microsoft.com/office/drawing/2014/main" val="3472170879"/>
                    </a:ext>
                  </a:extLst>
                </a:gridCol>
                <a:gridCol w="1033897">
                  <a:extLst>
                    <a:ext uri="{9D8B030D-6E8A-4147-A177-3AD203B41FA5}">
                      <a16:colId xmlns:a16="http://schemas.microsoft.com/office/drawing/2014/main" val="3138202961"/>
                    </a:ext>
                  </a:extLst>
                </a:gridCol>
                <a:gridCol w="879895">
                  <a:extLst>
                    <a:ext uri="{9D8B030D-6E8A-4147-A177-3AD203B41FA5}">
                      <a16:colId xmlns:a16="http://schemas.microsoft.com/office/drawing/2014/main" val="2803300867"/>
                    </a:ext>
                  </a:extLst>
                </a:gridCol>
                <a:gridCol w="1105301">
                  <a:extLst>
                    <a:ext uri="{9D8B030D-6E8A-4147-A177-3AD203B41FA5}">
                      <a16:colId xmlns:a16="http://schemas.microsoft.com/office/drawing/2014/main" val="1159316143"/>
                    </a:ext>
                  </a:extLst>
                </a:gridCol>
              </a:tblGrid>
              <a:tr h="0">
                <a:tc>
                  <a:txBody>
                    <a:bodyPr/>
                    <a:lstStyle/>
                    <a:p>
                      <a:r>
                        <a:rPr lang="en-US" sz="1800" b="1" noProof="0" dirty="0">
                          <a:solidFill>
                            <a:schemeClr val="bg1"/>
                          </a:solidFill>
                          <a:latin typeface="Arial" panose="020B0604020202020204" pitchFamily="34" charset="0"/>
                          <a:cs typeface="Arial" panose="020B0604020202020204" pitchFamily="34" charset="0"/>
                        </a:rPr>
                        <a:t>Year</a:t>
                      </a:r>
                    </a:p>
                  </a:txBody>
                  <a:tcP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noProof="0">
                          <a:solidFill>
                            <a:schemeClr val="bg1"/>
                          </a:solidFill>
                          <a:latin typeface="Arial" panose="020B0604020202020204" pitchFamily="34" charset="0"/>
                          <a:cs typeface="Arial" panose="020B0604020202020204" pitchFamily="34" charset="0"/>
                        </a:rPr>
                        <a:t>0</a:t>
                      </a:r>
                    </a:p>
                  </a:txBody>
                  <a:tcP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noProof="0">
                          <a:solidFill>
                            <a:schemeClr val="bg1"/>
                          </a:solidFill>
                          <a:latin typeface="Arial" panose="020B0604020202020204" pitchFamily="34" charset="0"/>
                          <a:cs typeface="Arial" panose="020B0604020202020204" pitchFamily="34" charset="0"/>
                        </a:rPr>
                        <a:t>1</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noProof="0">
                          <a:solidFill>
                            <a:schemeClr val="bg1"/>
                          </a:solidFill>
                          <a:latin typeface="Arial" panose="020B0604020202020204" pitchFamily="34" charset="0"/>
                          <a:cs typeface="Arial" panose="020B0604020202020204" pitchFamily="34" charset="0"/>
                        </a:rPr>
                        <a:t>2</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noProof="0">
                          <a:solidFill>
                            <a:schemeClr val="bg1"/>
                          </a:solidFill>
                          <a:latin typeface="Arial" panose="020B0604020202020204" pitchFamily="34" charset="0"/>
                          <a:cs typeface="Arial" panose="020B0604020202020204" pitchFamily="34" charset="0"/>
                        </a:rPr>
                        <a:t>3</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noProof="0">
                          <a:solidFill>
                            <a:schemeClr val="bg1"/>
                          </a:solidFill>
                          <a:latin typeface="Arial" panose="020B0604020202020204" pitchFamily="34" charset="0"/>
                          <a:cs typeface="Arial" panose="020B0604020202020204" pitchFamily="34" charset="0"/>
                        </a:rPr>
                        <a:t>4</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490851856"/>
                  </a:ext>
                </a:extLst>
              </a:tr>
              <a:tr h="217216">
                <a:tc>
                  <a:txBody>
                    <a:bodyPr/>
                    <a:lstStyle/>
                    <a:p>
                      <a:r>
                        <a:rPr lang="en-US" sz="1800" b="0" noProof="0">
                          <a:latin typeface="Arial" panose="020B0604020202020204" pitchFamily="34" charset="0"/>
                          <a:cs typeface="Arial" panose="020B0604020202020204" pitchFamily="34" charset="0"/>
                        </a:rPr>
                        <a:t>Free cash Flow (years0-4)</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800" noProof="0">
                          <a:latin typeface="Arial" panose="020B0604020202020204" pitchFamily="34" charset="0"/>
                          <a:cs typeface="Arial" panose="020B0604020202020204" pitchFamily="34" charset="0"/>
                        </a:rPr>
                        <a:t>(10,500)</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800" noProof="0">
                          <a:latin typeface="Arial" panose="020B0604020202020204" pitchFamily="34" charset="0"/>
                          <a:cs typeface="Arial" panose="020B0604020202020204" pitchFamily="34" charset="0"/>
                        </a:rPr>
                        <a:t>(5,500)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noProof="0">
                          <a:latin typeface="Arial" panose="020B0604020202020204" pitchFamily="34" charset="0"/>
                          <a:cs typeface="Arial" panose="020B0604020202020204" pitchFamily="34" charset="0"/>
                        </a:rPr>
                        <a:t>800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800" noProof="0">
                          <a:latin typeface="Arial" panose="020B0604020202020204" pitchFamily="34" charset="0"/>
                          <a:cs typeface="Arial" panose="020B0604020202020204" pitchFamily="34" charset="0"/>
                        </a:rPr>
                        <a:t>1,200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noProof="0">
                          <a:latin typeface="Arial" panose="020B0604020202020204" pitchFamily="34" charset="0"/>
                          <a:cs typeface="Arial" panose="020B0604020202020204" pitchFamily="34" charset="0"/>
                        </a:rPr>
                        <a:t>1,300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661540150"/>
                  </a:ext>
                </a:extLst>
              </a:tr>
              <a:tr h="367150">
                <a:tc>
                  <a:txBody>
                    <a:bodyPr/>
                    <a:lstStyle/>
                    <a:p>
                      <a:r>
                        <a:rPr lang="en-US" sz="1800" b="0" noProof="0" dirty="0">
                          <a:latin typeface="Arial" panose="020B0604020202020204" pitchFamily="34" charset="0"/>
                          <a:cs typeface="Arial" panose="020B0604020202020204" pitchFamily="34" charset="0"/>
                        </a:rPr>
                        <a:t>Continuation value</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00" noProof="0" dirty="0">
                          <a:latin typeface="Arial" panose="020B0604020202020204" pitchFamily="34" charset="0"/>
                          <a:cs typeface="Arial" panose="020B0604020202020204" pitchFamily="34" charset="0"/>
                        </a:rPr>
                        <a:t>Blank</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noProof="0">
                          <a:latin typeface="Arial" panose="020B0604020202020204" pitchFamily="34" charset="0"/>
                          <a:cs typeface="Arial" panose="020B0604020202020204" pitchFamily="34" charset="0"/>
                        </a:rPr>
                        <a:t>27,300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029354084"/>
                  </a:ext>
                </a:extLst>
              </a:tr>
              <a:tr h="367150">
                <a:tc>
                  <a:txBody>
                    <a:bodyPr/>
                    <a:lstStyle/>
                    <a:p>
                      <a:r>
                        <a:rPr lang="en-US" sz="1800" b="0" noProof="0" dirty="0">
                          <a:latin typeface="Arial" panose="020B0604020202020204" pitchFamily="34" charset="0"/>
                          <a:cs typeface="Arial" panose="020B0604020202020204" pitchFamily="34" charset="0"/>
                        </a:rPr>
                        <a:t>Free cash flow</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800" b="0" noProof="0">
                          <a:latin typeface="Arial" panose="020B0604020202020204" pitchFamily="34" charset="0"/>
                          <a:cs typeface="Arial" panose="020B0604020202020204" pitchFamily="34" charset="0"/>
                        </a:rPr>
                        <a:t>(10,500)</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800" b="0" noProof="0">
                          <a:latin typeface="Arial" panose="020B0604020202020204" pitchFamily="34" charset="0"/>
                          <a:cs typeface="Arial" panose="020B0604020202020204" pitchFamily="34" charset="0"/>
                        </a:rPr>
                        <a:t>(5,500)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b="0" noProof="0">
                          <a:latin typeface="Arial" panose="020B0604020202020204" pitchFamily="34" charset="0"/>
                          <a:cs typeface="Arial" panose="020B0604020202020204" pitchFamily="34" charset="0"/>
                        </a:rPr>
                        <a:t>800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r"/>
                      <a:r>
                        <a:rPr lang="en-US" sz="1800" b="0" noProof="0">
                          <a:latin typeface="Arial" panose="020B0604020202020204" pitchFamily="34" charset="0"/>
                          <a:cs typeface="Arial" panose="020B0604020202020204" pitchFamily="34" charset="0"/>
                        </a:rPr>
                        <a:t>1,200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b="0" noProof="0" dirty="0">
                          <a:latin typeface="Arial" panose="020B0604020202020204" pitchFamily="34" charset="0"/>
                          <a:cs typeface="Arial" panose="020B0604020202020204" pitchFamily="34" charset="0"/>
                        </a:rPr>
                        <a:t>28,600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4085743459"/>
                  </a:ext>
                </a:extLst>
              </a:tr>
            </a:tbl>
          </a:graphicData>
        </a:graphic>
      </p:graphicFrame>
      <p:sp>
        <p:nvSpPr>
          <p:cNvPr id="4" name="Content Placeholder 3">
            <a:extLst>
              <a:ext uri="{FF2B5EF4-FFF2-40B4-BE49-F238E27FC236}">
                <a16:creationId xmlns:a16="http://schemas.microsoft.com/office/drawing/2014/main" id="{0DD52A53-AA06-30A3-80A8-F6004494B0FE}"/>
              </a:ext>
            </a:extLst>
          </p:cNvPr>
          <p:cNvSpPr>
            <a:spLocks noGrp="1"/>
          </p:cNvSpPr>
          <p:nvPr>
            <p:ph sz="quarter" idx="13"/>
          </p:nvPr>
        </p:nvSpPr>
        <p:spPr>
          <a:xfrm>
            <a:off x="438827" y="4272221"/>
            <a:ext cx="8266346" cy="405683"/>
          </a:xfrm>
        </p:spPr>
        <p:txBody>
          <a:bodyPr wrap="square" lIns="0" tIns="18000" rIns="0" bIns="18000" anchor="ctr">
            <a:spAutoFit/>
          </a:bodyPr>
          <a:lstStyle/>
          <a:p>
            <a:pPr marL="0" indent="0">
              <a:spcBef>
                <a:spcPts val="600"/>
              </a:spcBef>
              <a:buNone/>
            </a:pPr>
            <a:r>
              <a:rPr lang="en-US" sz="2400" dirty="0"/>
              <a:t>The </a:t>
            </a:r>
            <a:r>
              <a:rPr lang="en-US" sz="2400" spc="-300" dirty="0"/>
              <a:t>N P </a:t>
            </a:r>
            <a:r>
              <a:rPr lang="en-US" sz="2400" dirty="0"/>
              <a:t>V of the investment in the new stores is</a:t>
            </a:r>
          </a:p>
        </p:txBody>
      </p:sp>
      <p:graphicFrame>
        <p:nvGraphicFramePr>
          <p:cNvPr id="16" name="Object 15" descr="An expression shows the calculation of N P V in the new stores.&#10;Long description is available in notes, Press F6.">
            <a:extLst>
              <a:ext uri="{FF2B5EF4-FFF2-40B4-BE49-F238E27FC236}">
                <a16:creationId xmlns:a16="http://schemas.microsoft.com/office/drawing/2014/main" id="{156EA52B-C114-9D43-1D9E-8C35707956E0}"/>
              </a:ext>
            </a:extLst>
          </p:cNvPr>
          <p:cNvGraphicFramePr>
            <a:graphicFrameLocks noChangeAspect="1"/>
          </p:cNvGraphicFramePr>
          <p:nvPr>
            <p:extLst>
              <p:ext uri="{D42A27DB-BD31-4B8C-83A1-F6EECF244321}">
                <p14:modId xmlns:p14="http://schemas.microsoft.com/office/powerpoint/2010/main" val="2324683891"/>
              </p:ext>
            </p:extLst>
          </p:nvPr>
        </p:nvGraphicFramePr>
        <p:xfrm>
          <a:off x="1150230" y="4844265"/>
          <a:ext cx="6843540" cy="660149"/>
        </p:xfrm>
        <a:graphic>
          <a:graphicData uri="http://schemas.openxmlformats.org/presentationml/2006/ole">
            <mc:AlternateContent xmlns:mc="http://schemas.openxmlformats.org/markup-compatibility/2006">
              <mc:Choice xmlns:v="urn:schemas-microsoft-com:vml" Requires="v">
                <p:oleObj name="Equation" r:id="rId4" imgW="6451560" imgH="622080" progId="Equation.DSMT4">
                  <p:embed/>
                </p:oleObj>
              </mc:Choice>
              <mc:Fallback>
                <p:oleObj name="Equation" r:id="rId4" imgW="6451560" imgH="622080" progId="Equation.DSMT4">
                  <p:embed/>
                  <p:pic>
                    <p:nvPicPr>
                      <p:cNvPr id="7" name="Object 6" descr="N P V =  negative 10,500 minus start fraction 5500 over 1.10 end fraction + start fraction 800 over 1.10 squared end fraction + start fraction 1200 over 1.10 cubed end fraction + start fraction 28,600 over 1.10 to the power 4 end fraction = $5597."/>
                      <p:cNvPicPr>
                        <a:picLocks noChangeAspect="1" noChangeArrowheads="1"/>
                      </p:cNvPicPr>
                      <p:nvPr/>
                    </p:nvPicPr>
                    <p:blipFill>
                      <a:blip r:embed="rId5"/>
                      <a:srcRect/>
                      <a:stretch>
                        <a:fillRect/>
                      </a:stretch>
                    </p:blipFill>
                    <p:spPr bwMode="auto">
                      <a:xfrm>
                        <a:off x="1150230" y="4844265"/>
                        <a:ext cx="6843540" cy="660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Content Placeholder 4">
            <a:extLst>
              <a:ext uri="{FF2B5EF4-FFF2-40B4-BE49-F238E27FC236}">
                <a16:creationId xmlns:a16="http://schemas.microsoft.com/office/drawing/2014/main" id="{B030C7B8-0389-DAFE-D0DE-7BB944A22220}"/>
              </a:ext>
            </a:extLst>
          </p:cNvPr>
          <p:cNvSpPr>
            <a:spLocks noGrp="1"/>
          </p:cNvSpPr>
          <p:nvPr>
            <p:ph sz="quarter" idx="14"/>
          </p:nvPr>
        </p:nvSpPr>
        <p:spPr>
          <a:xfrm>
            <a:off x="445854" y="5797527"/>
            <a:ext cx="2349104" cy="405683"/>
          </a:xfrm>
        </p:spPr>
        <p:txBody>
          <a:bodyPr wrap="square" lIns="0" tIns="18000" rIns="0" bIns="18000" anchor="ctr">
            <a:spAutoFit/>
          </a:bodyPr>
          <a:lstStyle/>
          <a:p>
            <a:pPr marL="0" indent="-486918">
              <a:buNone/>
            </a:pPr>
            <a:r>
              <a:rPr lang="en-US" sz="2400" dirty="0"/>
              <a:t>or $5.597 million</a:t>
            </a:r>
          </a:p>
        </p:txBody>
      </p:sp>
      <p:sp>
        <p:nvSpPr>
          <p:cNvPr id="7" name="ZoneTexte 6">
            <a:extLst>
              <a:ext uri="{FF2B5EF4-FFF2-40B4-BE49-F238E27FC236}">
                <a16:creationId xmlns:a16="http://schemas.microsoft.com/office/drawing/2014/main" id="{1EA04108-3B13-39A0-436C-2771F48DE8D8}"/>
              </a:ext>
            </a:extLst>
          </p:cNvPr>
          <p:cNvSpPr txBox="1"/>
          <p:nvPr/>
        </p:nvSpPr>
        <p:spPr>
          <a:xfrm>
            <a:off x="447768" y="1948813"/>
            <a:ext cx="1082348" cy="369332"/>
          </a:xfrm>
          <a:prstGeom prst="rect">
            <a:avLst/>
          </a:prstGeom>
          <a:noFill/>
        </p:spPr>
        <p:txBody>
          <a:bodyPr wrap="none" rtlCol="0">
            <a:spAutoFit/>
          </a:bodyPr>
          <a:lstStyle/>
          <a:p>
            <a:r>
              <a:rPr lang="fr-FR" sz="1800" dirty="0"/>
              <a:t>Table 10</a:t>
            </a:r>
          </a:p>
        </p:txBody>
      </p:sp>
    </p:spTree>
    <p:extLst>
      <p:ext uri="{BB962C8B-B14F-4D97-AF65-F5344CB8AC3E}">
        <p14:creationId xmlns:p14="http://schemas.microsoft.com/office/powerpoint/2010/main" val="20023524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24588"/>
            <a:ext cx="8266346" cy="1144347"/>
          </a:xfrm>
        </p:spPr>
        <p:txBody>
          <a:bodyPr/>
          <a:lstStyle/>
          <a:p>
            <a:r>
              <a:rPr lang="en-US" dirty="0"/>
              <a:t>Further Adjustments to Free Cash Flow </a:t>
            </a:r>
            <a:r>
              <a:rPr lang="en-US" sz="2800" dirty="0"/>
              <a:t>(3 of 3)</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45854" y="1710485"/>
            <a:ext cx="8266346" cy="1590623"/>
          </a:xfrm>
        </p:spPr>
        <p:txBody>
          <a:bodyPr wrap="square" lIns="0" tIns="18000" rIns="0" bIns="18000" anchor="ctr">
            <a:spAutoFit/>
          </a:bodyPr>
          <a:lstStyle/>
          <a:p>
            <a:pPr marL="342900" indent="-342900">
              <a:spcBef>
                <a:spcPts val="600"/>
              </a:spcBef>
            </a:pPr>
            <a:r>
              <a:rPr lang="en-US" sz="2400" dirty="0"/>
              <a:t>Tax Carryforwards</a:t>
            </a:r>
          </a:p>
          <a:p>
            <a:pPr marL="829818" lvl="1" indent="-342900"/>
            <a:r>
              <a:rPr lang="en-US" sz="2400" dirty="0"/>
              <a:t>Tax loss carryforwards and carrybacks allow corporations to take losses during its current year and offset them against gains in nearby years</a:t>
            </a:r>
          </a:p>
        </p:txBody>
      </p:sp>
    </p:spTree>
    <p:extLst>
      <p:ext uri="{BB962C8B-B14F-4D97-AF65-F5344CB8AC3E}">
        <p14:creationId xmlns:p14="http://schemas.microsoft.com/office/powerpoint/2010/main" val="175954175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8865"/>
            <a:ext cx="8266346" cy="590349"/>
          </a:xfrm>
        </p:spPr>
        <p:txBody>
          <a:bodyPr/>
          <a:lstStyle/>
          <a:p>
            <a:r>
              <a:rPr lang="en-US" dirty="0"/>
              <a:t>Verian Industries Example </a:t>
            </a:r>
            <a:r>
              <a:rPr lang="en-US" sz="2800" dirty="0"/>
              <a:t>(1 of 3)</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45854" y="1412508"/>
            <a:ext cx="8266346" cy="3221839"/>
          </a:xfrm>
        </p:spPr>
        <p:txBody>
          <a:bodyPr wrap="square" lIns="0" tIns="18000" rIns="0" bIns="18000" anchor="ctr">
            <a:spAutoFit/>
          </a:bodyPr>
          <a:lstStyle/>
          <a:p>
            <a:pPr marL="0" indent="0">
              <a:spcBef>
                <a:spcPts val="600"/>
              </a:spcBef>
              <a:buNone/>
            </a:pPr>
            <a:r>
              <a:rPr lang="en-US" sz="2400" b="1" dirty="0"/>
              <a:t>Tax Loss Carry forwards</a:t>
            </a:r>
          </a:p>
          <a:p>
            <a:pPr marL="0" indent="0">
              <a:spcBef>
                <a:spcPts val="600"/>
              </a:spcBef>
              <a:buNone/>
            </a:pPr>
            <a:endParaRPr lang="en-US" sz="2400" b="1" dirty="0"/>
          </a:p>
          <a:p>
            <a:pPr marL="0" indent="0">
              <a:spcBef>
                <a:spcPts val="600"/>
              </a:spcBef>
              <a:buNone/>
            </a:pPr>
            <a:r>
              <a:rPr lang="en-US" sz="2400" b="1" dirty="0"/>
              <a:t>Problem</a:t>
            </a:r>
          </a:p>
          <a:p>
            <a:pPr marL="0" indent="0">
              <a:spcBef>
                <a:spcPts val="600"/>
              </a:spcBef>
              <a:buNone/>
            </a:pPr>
            <a:r>
              <a:rPr lang="en-US" sz="2400" dirty="0" err="1"/>
              <a:t>Verian</a:t>
            </a:r>
            <a:r>
              <a:rPr lang="en-US" sz="2400" dirty="0"/>
              <a:t> Industries has a net operating loss of $140 million this year. If </a:t>
            </a:r>
            <a:r>
              <a:rPr lang="en-US" sz="2400" dirty="0" err="1"/>
              <a:t>Verian</a:t>
            </a:r>
            <a:r>
              <a:rPr lang="en-US" sz="2400" dirty="0"/>
              <a:t> earns $50 million per year in pre-tax income from now on, what will its taxable income be over the next 4 years? If </a:t>
            </a:r>
            <a:r>
              <a:rPr lang="en-US" sz="2400" dirty="0" err="1"/>
              <a:t>Verian</a:t>
            </a:r>
            <a:r>
              <a:rPr lang="en-US" sz="2400" dirty="0"/>
              <a:t> earns an extra $10 million in the coming year, in which years will its taxable income increase?</a:t>
            </a:r>
          </a:p>
        </p:txBody>
      </p:sp>
    </p:spTree>
    <p:extLst>
      <p:ext uri="{BB962C8B-B14F-4D97-AF65-F5344CB8AC3E}">
        <p14:creationId xmlns:p14="http://schemas.microsoft.com/office/powerpoint/2010/main" val="37958960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8867"/>
            <a:ext cx="8266346" cy="590349"/>
          </a:xfrm>
        </p:spPr>
        <p:txBody>
          <a:bodyPr/>
          <a:lstStyle/>
          <a:p>
            <a:r>
              <a:rPr lang="en-US" dirty="0"/>
              <a:t>Verian Industries Example</a:t>
            </a:r>
            <a:r>
              <a:rPr lang="en-US" sz="2800" dirty="0"/>
              <a:t>(2 of 3)</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45854" y="1409437"/>
            <a:ext cx="8266346" cy="1221291"/>
          </a:xfrm>
        </p:spPr>
        <p:txBody>
          <a:bodyPr wrap="square" lIns="0" tIns="18000" rIns="0" bIns="18000" anchor="ctr">
            <a:spAutoFit/>
          </a:bodyPr>
          <a:lstStyle/>
          <a:p>
            <a:pPr marL="0" indent="0">
              <a:spcBef>
                <a:spcPts val="600"/>
              </a:spcBef>
              <a:buNone/>
            </a:pPr>
            <a:r>
              <a:rPr lang="en-US" sz="2400" b="1" dirty="0"/>
              <a:t>Solution</a:t>
            </a:r>
          </a:p>
          <a:p>
            <a:pPr marL="0" indent="0">
              <a:spcBef>
                <a:spcPts val="600"/>
              </a:spcBef>
              <a:buNone/>
            </a:pPr>
            <a:r>
              <a:rPr lang="en-US" sz="2400" dirty="0"/>
              <a:t>With pre-tax income of $50 million per year, </a:t>
            </a:r>
            <a:r>
              <a:rPr lang="en-US" sz="2400" dirty="0" err="1"/>
              <a:t>Verian</a:t>
            </a:r>
            <a:r>
              <a:rPr lang="en-US" sz="2400" dirty="0"/>
              <a:t> will be able to use its tax loss carryforwards to reduce its taxable</a:t>
            </a:r>
          </a:p>
        </p:txBody>
      </p:sp>
      <p:sp>
        <p:nvSpPr>
          <p:cNvPr id="4" name="Content Placeholder 3">
            <a:extLst>
              <a:ext uri="{FF2B5EF4-FFF2-40B4-BE49-F238E27FC236}">
                <a16:creationId xmlns:a16="http://schemas.microsoft.com/office/drawing/2014/main" id="{0DD52A53-AA06-30A3-80A8-F6004494B0FE}"/>
              </a:ext>
            </a:extLst>
          </p:cNvPr>
          <p:cNvSpPr>
            <a:spLocks noGrp="1"/>
          </p:cNvSpPr>
          <p:nvPr>
            <p:ph sz="quarter" idx="13"/>
          </p:nvPr>
        </p:nvSpPr>
        <p:spPr>
          <a:xfrm>
            <a:off x="445854" y="2749689"/>
            <a:ext cx="1417452" cy="405683"/>
          </a:xfrm>
        </p:spPr>
        <p:txBody>
          <a:bodyPr wrap="square" lIns="0" tIns="18000" rIns="0" bIns="18000" anchor="ctr">
            <a:spAutoFit/>
          </a:bodyPr>
          <a:lstStyle/>
          <a:p>
            <a:pPr marL="0" indent="0">
              <a:spcBef>
                <a:spcPts val="600"/>
              </a:spcBef>
              <a:buNone/>
            </a:pPr>
            <a:r>
              <a:rPr lang="en-US" sz="2400" dirty="0"/>
              <a:t>income by</a:t>
            </a:r>
          </a:p>
        </p:txBody>
      </p:sp>
      <p:graphicFrame>
        <p:nvGraphicFramePr>
          <p:cNvPr id="6" name="Object 5" descr="80 percent times 50 equals 40 dollars.">
            <a:extLst>
              <a:ext uri="{FF2B5EF4-FFF2-40B4-BE49-F238E27FC236}">
                <a16:creationId xmlns:a16="http://schemas.microsoft.com/office/drawing/2014/main" id="{8B3BD701-4531-263B-567B-D83710CBEDA8}"/>
              </a:ext>
            </a:extLst>
          </p:cNvPr>
          <p:cNvGraphicFramePr>
            <a:graphicFrameLocks noChangeAspect="1"/>
          </p:cNvGraphicFramePr>
          <p:nvPr>
            <p:extLst>
              <p:ext uri="{D42A27DB-BD31-4B8C-83A1-F6EECF244321}">
                <p14:modId xmlns:p14="http://schemas.microsoft.com/office/powerpoint/2010/main" val="1636484328"/>
              </p:ext>
            </p:extLst>
          </p:nvPr>
        </p:nvGraphicFramePr>
        <p:xfrm>
          <a:off x="1939344" y="2821410"/>
          <a:ext cx="2024062" cy="328613"/>
        </p:xfrm>
        <a:graphic>
          <a:graphicData uri="http://schemas.openxmlformats.org/presentationml/2006/ole">
            <mc:AlternateContent xmlns:mc="http://schemas.openxmlformats.org/markup-compatibility/2006">
              <mc:Choice xmlns:v="urn:schemas-microsoft-com:vml" Requires="v">
                <p:oleObj name="Equation" r:id="rId3" imgW="1726920" imgH="279360" progId="Equation.DSMT4">
                  <p:embed/>
                </p:oleObj>
              </mc:Choice>
              <mc:Fallback>
                <p:oleObj name="Equation" r:id="rId3" imgW="1726920" imgH="279360" progId="Equation.DSMT4">
                  <p:embed/>
                  <p:pic>
                    <p:nvPicPr>
                      <p:cNvPr id="9" name="Object 8" descr="80 % times 50 = $ 40.">
                        <a:extLst>
                          <a:ext uri="{FF2B5EF4-FFF2-40B4-BE49-F238E27FC236}">
                            <a16:creationId xmlns:a16="http://schemas.microsoft.com/office/drawing/2014/main" id="{5C3AA735-2C75-4910-B1E9-DEB32593C225}"/>
                          </a:ext>
                        </a:extLst>
                      </p:cNvPr>
                      <p:cNvPicPr/>
                      <p:nvPr/>
                    </p:nvPicPr>
                    <p:blipFill>
                      <a:blip r:embed="rId4"/>
                      <a:stretch>
                        <a:fillRect/>
                      </a:stretch>
                    </p:blipFill>
                    <p:spPr>
                      <a:xfrm>
                        <a:off x="1939344" y="2821410"/>
                        <a:ext cx="2024062" cy="328613"/>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B030C7B8-0389-DAFE-D0DE-7BB944A22220}"/>
              </a:ext>
            </a:extLst>
          </p:cNvPr>
          <p:cNvSpPr>
            <a:spLocks noGrp="1"/>
          </p:cNvSpPr>
          <p:nvPr>
            <p:ph sz="quarter" idx="14"/>
          </p:nvPr>
        </p:nvSpPr>
        <p:spPr>
          <a:xfrm>
            <a:off x="4039444" y="2749689"/>
            <a:ext cx="2443995" cy="405683"/>
          </a:xfrm>
        </p:spPr>
        <p:txBody>
          <a:bodyPr wrap="square" lIns="0" tIns="18000" rIns="0" bIns="18000" anchor="ctr">
            <a:spAutoFit/>
          </a:bodyPr>
          <a:lstStyle/>
          <a:p>
            <a:pPr marL="0" indent="-486918">
              <a:buNone/>
            </a:pPr>
            <a:r>
              <a:rPr lang="en-US" sz="2400" dirty="0"/>
              <a:t>million each year:</a:t>
            </a:r>
          </a:p>
        </p:txBody>
      </p:sp>
      <p:graphicFrame>
        <p:nvGraphicFramePr>
          <p:cNvPr id="7" name="Table 8">
            <a:extLst>
              <a:ext uri="{FF2B5EF4-FFF2-40B4-BE49-F238E27FC236}">
                <a16:creationId xmlns:a16="http://schemas.microsoft.com/office/drawing/2014/main" id="{735DB35C-B157-E2BF-44E3-18D146479207}"/>
              </a:ext>
            </a:extLst>
          </p:cNvPr>
          <p:cNvGraphicFramePr>
            <a:graphicFrameLocks/>
          </p:cNvGraphicFramePr>
          <p:nvPr>
            <p:custDataLst>
              <p:tags r:id="rId1"/>
            </p:custDataLst>
            <p:extLst>
              <p:ext uri="{D42A27DB-BD31-4B8C-83A1-F6EECF244321}">
                <p14:modId xmlns:p14="http://schemas.microsoft.com/office/powerpoint/2010/main" val="3336852867"/>
              </p:ext>
            </p:extLst>
          </p:nvPr>
        </p:nvGraphicFramePr>
        <p:xfrm>
          <a:off x="445854" y="3944757"/>
          <a:ext cx="8266348" cy="1465820"/>
        </p:xfrm>
        <a:graphic>
          <a:graphicData uri="http://schemas.openxmlformats.org/drawingml/2006/table">
            <a:tbl>
              <a:tblPr firstRow="1" bandRow="1">
                <a:tableStyleId>{2D5ABB26-0587-4C30-8999-92F81FD0307C}</a:tableStyleId>
              </a:tblPr>
              <a:tblGrid>
                <a:gridCol w="2552844">
                  <a:extLst>
                    <a:ext uri="{9D8B030D-6E8A-4147-A177-3AD203B41FA5}">
                      <a16:colId xmlns:a16="http://schemas.microsoft.com/office/drawing/2014/main" val="1072788600"/>
                    </a:ext>
                  </a:extLst>
                </a:gridCol>
                <a:gridCol w="822248">
                  <a:extLst>
                    <a:ext uri="{9D8B030D-6E8A-4147-A177-3AD203B41FA5}">
                      <a16:colId xmlns:a16="http://schemas.microsoft.com/office/drawing/2014/main" val="206673024"/>
                    </a:ext>
                  </a:extLst>
                </a:gridCol>
                <a:gridCol w="916977">
                  <a:extLst>
                    <a:ext uri="{9D8B030D-6E8A-4147-A177-3AD203B41FA5}">
                      <a16:colId xmlns:a16="http://schemas.microsoft.com/office/drawing/2014/main" val="3472170879"/>
                    </a:ext>
                  </a:extLst>
                </a:gridCol>
                <a:gridCol w="1065243">
                  <a:extLst>
                    <a:ext uri="{9D8B030D-6E8A-4147-A177-3AD203B41FA5}">
                      <a16:colId xmlns:a16="http://schemas.microsoft.com/office/drawing/2014/main" val="3138202961"/>
                    </a:ext>
                  </a:extLst>
                </a:gridCol>
                <a:gridCol w="727259">
                  <a:extLst>
                    <a:ext uri="{9D8B030D-6E8A-4147-A177-3AD203B41FA5}">
                      <a16:colId xmlns:a16="http://schemas.microsoft.com/office/drawing/2014/main" val="2803300867"/>
                    </a:ext>
                  </a:extLst>
                </a:gridCol>
                <a:gridCol w="727259">
                  <a:extLst>
                    <a:ext uri="{9D8B030D-6E8A-4147-A177-3AD203B41FA5}">
                      <a16:colId xmlns:a16="http://schemas.microsoft.com/office/drawing/2014/main" val="124999522"/>
                    </a:ext>
                  </a:extLst>
                </a:gridCol>
                <a:gridCol w="727259">
                  <a:extLst>
                    <a:ext uri="{9D8B030D-6E8A-4147-A177-3AD203B41FA5}">
                      <a16:colId xmlns:a16="http://schemas.microsoft.com/office/drawing/2014/main" val="2878844615"/>
                    </a:ext>
                  </a:extLst>
                </a:gridCol>
                <a:gridCol w="727259">
                  <a:extLst>
                    <a:ext uri="{9D8B030D-6E8A-4147-A177-3AD203B41FA5}">
                      <a16:colId xmlns:a16="http://schemas.microsoft.com/office/drawing/2014/main" val="1159316143"/>
                    </a:ext>
                  </a:extLst>
                </a:gridCol>
              </a:tblGrid>
              <a:tr h="0">
                <a:tc>
                  <a:txBody>
                    <a:bodyPr/>
                    <a:lstStyle/>
                    <a:p>
                      <a:r>
                        <a:rPr lang="en-US" sz="100" b="1" noProof="0">
                          <a:solidFill>
                            <a:schemeClr val="bg1"/>
                          </a:solidFill>
                          <a:latin typeface="Arial" panose="020B0604020202020204" pitchFamily="34" charset="0"/>
                          <a:cs typeface="Arial" panose="020B0604020202020204" pitchFamily="34" charset="0"/>
                        </a:rPr>
                        <a:t>Blank</a:t>
                      </a:r>
                    </a:p>
                  </a:txBody>
                  <a:tcP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noProof="0">
                          <a:solidFill>
                            <a:schemeClr val="bg1"/>
                          </a:solidFill>
                          <a:latin typeface="Arial" panose="020B0604020202020204" pitchFamily="34" charset="0"/>
                          <a:cs typeface="Arial" panose="020B0604020202020204" pitchFamily="34" charset="0"/>
                        </a:rPr>
                        <a:t>Year</a:t>
                      </a:r>
                    </a:p>
                  </a:txBody>
                  <a:tcP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noProof="0">
                          <a:solidFill>
                            <a:schemeClr val="bg1"/>
                          </a:solidFill>
                          <a:latin typeface="Arial" panose="020B0604020202020204" pitchFamily="34" charset="0"/>
                          <a:cs typeface="Arial" panose="020B0604020202020204" pitchFamily="34" charset="0"/>
                        </a:rPr>
                        <a:t>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noProof="0">
                          <a:solidFill>
                            <a:schemeClr val="bg1"/>
                          </a:solidFill>
                          <a:latin typeface="Arial" panose="020B0604020202020204" pitchFamily="34" charset="0"/>
                          <a:cs typeface="Arial" panose="020B0604020202020204" pitchFamily="34" charset="0"/>
                        </a:rPr>
                        <a:t>1</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noProof="0">
                          <a:solidFill>
                            <a:schemeClr val="bg1"/>
                          </a:solidFill>
                          <a:latin typeface="Arial" panose="020B0604020202020204" pitchFamily="34" charset="0"/>
                          <a:cs typeface="Arial" panose="020B0604020202020204" pitchFamily="34" charset="0"/>
                        </a:rPr>
                        <a:t>2</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noProof="0">
                          <a:solidFill>
                            <a:schemeClr val="bg1"/>
                          </a:solidFill>
                          <a:latin typeface="Arial" panose="020B0604020202020204" pitchFamily="34" charset="0"/>
                          <a:cs typeface="Arial" panose="020B0604020202020204" pitchFamily="34" charset="0"/>
                        </a:rPr>
                        <a:t>3</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noProof="0">
                          <a:solidFill>
                            <a:schemeClr val="bg1"/>
                          </a:solidFill>
                          <a:latin typeface="Arial" panose="020B0604020202020204" pitchFamily="34" charset="0"/>
                          <a:cs typeface="Arial" panose="020B0604020202020204" pitchFamily="34" charset="0"/>
                        </a:rPr>
                        <a:t>4</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noProof="0">
                          <a:solidFill>
                            <a:schemeClr val="bg1"/>
                          </a:solidFill>
                          <a:latin typeface="Arial" panose="020B0604020202020204" pitchFamily="34" charset="0"/>
                          <a:cs typeface="Arial" panose="020B0604020202020204" pitchFamily="34" charset="0"/>
                        </a:rPr>
                        <a:t>5</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490851856"/>
                  </a:ext>
                </a:extLst>
              </a:tr>
              <a:tr h="250740">
                <a:tc>
                  <a:txBody>
                    <a:bodyPr/>
                    <a:lstStyle/>
                    <a:p>
                      <a:r>
                        <a:rPr lang="en-US" sz="1800" b="0" noProof="0">
                          <a:latin typeface="Arial" panose="020B0604020202020204" pitchFamily="34" charset="0"/>
                          <a:cs typeface="Arial" panose="020B0604020202020204" pitchFamily="34" charset="0"/>
                        </a:rPr>
                        <a:t>Pre-tax Income</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00" noProof="0">
                          <a:latin typeface="Arial" panose="020B0604020202020204" pitchFamily="34" charset="0"/>
                          <a:cs typeface="Arial" panose="020B0604020202020204" pitchFamily="34" charset="0"/>
                        </a:rPr>
                        <a:t>Blank</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noProof="0">
                          <a:latin typeface="Arial" panose="020B0604020202020204" pitchFamily="34" charset="0"/>
                          <a:cs typeface="Arial" panose="020B0604020202020204" pitchFamily="34" charset="0"/>
                        </a:rPr>
                        <a:t>(140)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noProof="0">
                          <a:latin typeface="Arial" panose="020B0604020202020204" pitchFamily="34" charset="0"/>
                          <a:cs typeface="Arial" panose="020B0604020202020204" pitchFamily="34" charset="0"/>
                        </a:rPr>
                        <a:t>50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noProof="0">
                          <a:latin typeface="Arial" panose="020B0604020202020204" pitchFamily="34" charset="0"/>
                          <a:cs typeface="Arial" panose="020B0604020202020204" pitchFamily="34" charset="0"/>
                        </a:rPr>
                        <a:t>50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noProof="0">
                          <a:latin typeface="Arial" panose="020B0604020202020204" pitchFamily="34" charset="0"/>
                          <a:cs typeface="Arial" panose="020B0604020202020204" pitchFamily="34" charset="0"/>
                        </a:rPr>
                        <a:t>50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noProof="0">
                          <a:solidFill>
                            <a:schemeClr val="tx1"/>
                          </a:solidFill>
                          <a:latin typeface="Arial" panose="020B0604020202020204" pitchFamily="34" charset="0"/>
                          <a:cs typeface="Arial" panose="020B0604020202020204" pitchFamily="34" charset="0"/>
                        </a:rPr>
                        <a:t>50</a:t>
                      </a:r>
                      <a:endParaRPr lang="en-US" sz="1800" noProof="0">
                        <a:latin typeface="Arial" panose="020B0604020202020204" pitchFamily="34" charset="0"/>
                        <a:cs typeface="Arial" panose="020B0604020202020204" pitchFamily="34" charset="0"/>
                      </a:endParaRP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noProof="0">
                          <a:solidFill>
                            <a:schemeClr val="tx1"/>
                          </a:solidFill>
                          <a:latin typeface="Arial" panose="020B0604020202020204" pitchFamily="34" charset="0"/>
                          <a:cs typeface="Arial" panose="020B0604020202020204" pitchFamily="34" charset="0"/>
                        </a:rPr>
                        <a:t>50</a:t>
                      </a:r>
                      <a:endParaRPr lang="en-US" sz="1800" noProof="0">
                        <a:latin typeface="Arial" panose="020B0604020202020204" pitchFamily="34" charset="0"/>
                        <a:cs typeface="Arial" panose="020B0604020202020204" pitchFamily="34" charset="0"/>
                      </a:endParaRP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661540150"/>
                  </a:ext>
                </a:extLst>
              </a:tr>
              <a:tr h="367150">
                <a:tc>
                  <a:txBody>
                    <a:bodyPr/>
                    <a:lstStyle/>
                    <a:p>
                      <a:r>
                        <a:rPr lang="en-US" sz="1800" b="0" noProof="0">
                          <a:latin typeface="Arial" panose="020B0604020202020204" pitchFamily="34" charset="0"/>
                          <a:cs typeface="Arial" panose="020B0604020202020204" pitchFamily="34" charset="0"/>
                        </a:rPr>
                        <a:t>Tax Loss Carryforward</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 noProof="0" dirty="0">
                          <a:latin typeface="Arial" panose="020B0604020202020204" pitchFamily="34" charset="0"/>
                          <a:cs typeface="Arial" panose="020B0604020202020204" pitchFamily="34" charset="0"/>
                        </a:rPr>
                        <a:t>Blank</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noProof="0">
                          <a:latin typeface="Arial" panose="020B0604020202020204" pitchFamily="34" charset="0"/>
                          <a:cs typeface="Arial" panose="020B0604020202020204" pitchFamily="34" charset="0"/>
                        </a:rPr>
                        <a:t>(40)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noProof="0">
                          <a:latin typeface="Arial" panose="020B0604020202020204" pitchFamily="34" charset="0"/>
                          <a:cs typeface="Arial" panose="020B0604020202020204" pitchFamily="34" charset="0"/>
                        </a:rPr>
                        <a:t>(40)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noProof="0">
                          <a:latin typeface="Arial" panose="020B0604020202020204" pitchFamily="34" charset="0"/>
                          <a:cs typeface="Arial" panose="020B0604020202020204" pitchFamily="34" charset="0"/>
                        </a:rPr>
                        <a:t>(40)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noProof="0">
                          <a:latin typeface="Arial" panose="020B0604020202020204" pitchFamily="34" charset="0"/>
                          <a:cs typeface="Arial" panose="020B0604020202020204" pitchFamily="34" charset="0"/>
                        </a:rPr>
                        <a:t>(20)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029354084"/>
                  </a:ext>
                </a:extLst>
              </a:tr>
              <a:tr h="367150">
                <a:tc>
                  <a:txBody>
                    <a:bodyPr/>
                    <a:lstStyle/>
                    <a:p>
                      <a:r>
                        <a:rPr lang="en-US" sz="1800" b="0" noProof="0">
                          <a:latin typeface="Arial" panose="020B0604020202020204" pitchFamily="34" charset="0"/>
                          <a:cs typeface="Arial" panose="020B0604020202020204" pitchFamily="34" charset="0"/>
                        </a:rPr>
                        <a:t>Taxable Income</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b="0" noProof="0">
                          <a:latin typeface="Arial" panose="020B0604020202020204" pitchFamily="34" charset="0"/>
                          <a:cs typeface="Arial" panose="020B0604020202020204" pitchFamily="34" charset="0"/>
                        </a:rPr>
                        <a:t>10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b="0" noProof="0">
                          <a:latin typeface="Arial" panose="020B0604020202020204" pitchFamily="34" charset="0"/>
                          <a:cs typeface="Arial" panose="020B0604020202020204" pitchFamily="34" charset="0"/>
                        </a:rPr>
                        <a:t>10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b="0" noProof="0">
                          <a:latin typeface="Arial" panose="020B0604020202020204" pitchFamily="34" charset="0"/>
                          <a:cs typeface="Arial" panose="020B0604020202020204" pitchFamily="34" charset="0"/>
                        </a:rPr>
                        <a:t>10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b="0" noProof="0">
                          <a:latin typeface="Arial" panose="020B0604020202020204" pitchFamily="34" charset="0"/>
                          <a:cs typeface="Arial" panose="020B0604020202020204" pitchFamily="34" charset="0"/>
                        </a:rPr>
                        <a:t>30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b="0" noProof="0" dirty="0">
                          <a:latin typeface="Arial" panose="020B0604020202020204" pitchFamily="34" charset="0"/>
                          <a:cs typeface="Arial" panose="020B0604020202020204" pitchFamily="34" charset="0"/>
                        </a:rPr>
                        <a:t>50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4085743459"/>
                  </a:ext>
                </a:extLst>
              </a:tr>
            </a:tbl>
          </a:graphicData>
        </a:graphic>
      </p:graphicFrame>
      <p:sp>
        <p:nvSpPr>
          <p:cNvPr id="8" name="ZoneTexte 7">
            <a:extLst>
              <a:ext uri="{FF2B5EF4-FFF2-40B4-BE49-F238E27FC236}">
                <a16:creationId xmlns:a16="http://schemas.microsoft.com/office/drawing/2014/main" id="{01179695-A9F0-9367-4531-53768C4FBB30}"/>
              </a:ext>
            </a:extLst>
          </p:cNvPr>
          <p:cNvSpPr txBox="1"/>
          <p:nvPr/>
        </p:nvSpPr>
        <p:spPr>
          <a:xfrm>
            <a:off x="362708" y="3333297"/>
            <a:ext cx="1082348" cy="369332"/>
          </a:xfrm>
          <a:prstGeom prst="rect">
            <a:avLst/>
          </a:prstGeom>
          <a:noFill/>
        </p:spPr>
        <p:txBody>
          <a:bodyPr wrap="none" rtlCol="0">
            <a:spAutoFit/>
          </a:bodyPr>
          <a:lstStyle/>
          <a:p>
            <a:r>
              <a:rPr lang="fr-FR" sz="1800" dirty="0"/>
              <a:t>Table 11</a:t>
            </a:r>
          </a:p>
        </p:txBody>
      </p:sp>
      <p:sp>
        <p:nvSpPr>
          <p:cNvPr id="9" name="ZoneTexte 8">
            <a:extLst>
              <a:ext uri="{FF2B5EF4-FFF2-40B4-BE49-F238E27FC236}">
                <a16:creationId xmlns:a16="http://schemas.microsoft.com/office/drawing/2014/main" id="{2713C073-F375-3AB7-5322-9444EE647324}"/>
              </a:ext>
            </a:extLst>
          </p:cNvPr>
          <p:cNvSpPr txBox="1"/>
          <p:nvPr/>
        </p:nvSpPr>
        <p:spPr>
          <a:xfrm>
            <a:off x="6985590" y="3103076"/>
            <a:ext cx="1338828" cy="400110"/>
          </a:xfrm>
          <a:prstGeom prst="rect">
            <a:avLst/>
          </a:prstGeom>
          <a:noFill/>
        </p:spPr>
        <p:txBody>
          <a:bodyPr wrap="none" rtlCol="0">
            <a:spAutoFit/>
          </a:bodyPr>
          <a:lstStyle/>
          <a:p>
            <a:r>
              <a:rPr lang="fr-FR" sz="2000" b="1" dirty="0">
                <a:solidFill>
                  <a:srgbClr val="FF0000"/>
                </a:solidFill>
              </a:rPr>
              <a:t>A US </a:t>
            </a:r>
            <a:r>
              <a:rPr lang="fr-FR" sz="2000" b="1" dirty="0" err="1">
                <a:solidFill>
                  <a:srgbClr val="FF0000"/>
                </a:solidFill>
              </a:rPr>
              <a:t>rule</a:t>
            </a:r>
            <a:endParaRPr lang="fr-FR" sz="2000" b="1" dirty="0">
              <a:solidFill>
                <a:srgbClr val="FF0000"/>
              </a:solidFill>
            </a:endParaRPr>
          </a:p>
        </p:txBody>
      </p:sp>
    </p:spTree>
    <p:extLst>
      <p:ext uri="{BB962C8B-B14F-4D97-AF65-F5344CB8AC3E}">
        <p14:creationId xmlns:p14="http://schemas.microsoft.com/office/powerpoint/2010/main" val="13120936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8867"/>
            <a:ext cx="8266346" cy="590349"/>
          </a:xfrm>
        </p:spPr>
        <p:txBody>
          <a:bodyPr/>
          <a:lstStyle/>
          <a:p>
            <a:r>
              <a:rPr lang="en-US" dirty="0"/>
              <a:t>Verian Industries Example </a:t>
            </a:r>
            <a:r>
              <a:rPr lang="en-US" sz="2800" dirty="0"/>
              <a:t>(3 of 3)</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45854" y="1230685"/>
            <a:ext cx="8347272" cy="744238"/>
          </a:xfrm>
        </p:spPr>
        <p:txBody>
          <a:bodyPr wrap="square" lIns="0" tIns="18000" rIns="0" bIns="18000" anchor="ctr">
            <a:spAutoFit/>
          </a:bodyPr>
          <a:lstStyle/>
          <a:p>
            <a:pPr marL="0" indent="0">
              <a:spcBef>
                <a:spcPts val="600"/>
              </a:spcBef>
              <a:buNone/>
            </a:pPr>
            <a:r>
              <a:rPr lang="en-US" sz="2300" dirty="0"/>
              <a:t>If </a:t>
            </a:r>
            <a:r>
              <a:rPr lang="en-US" sz="2300" dirty="0" err="1"/>
              <a:t>Verian</a:t>
            </a:r>
            <a:r>
              <a:rPr lang="en-US" sz="2300" dirty="0"/>
              <a:t> earns an additional $10 million the first year, it will owe taxes on an extra $2 million next year and $8 million in year 4:</a:t>
            </a:r>
          </a:p>
        </p:txBody>
      </p:sp>
      <p:graphicFrame>
        <p:nvGraphicFramePr>
          <p:cNvPr id="5" name="Table 8">
            <a:extLst>
              <a:ext uri="{FF2B5EF4-FFF2-40B4-BE49-F238E27FC236}">
                <a16:creationId xmlns:a16="http://schemas.microsoft.com/office/drawing/2014/main" id="{3D0B4F1D-888A-B67A-3CAD-8DD9DECE6A39}"/>
              </a:ext>
            </a:extLst>
          </p:cNvPr>
          <p:cNvGraphicFramePr>
            <a:graphicFrameLocks/>
          </p:cNvGraphicFramePr>
          <p:nvPr>
            <p:custDataLst>
              <p:tags r:id="rId1"/>
            </p:custDataLst>
            <p:extLst>
              <p:ext uri="{D42A27DB-BD31-4B8C-83A1-F6EECF244321}">
                <p14:modId xmlns:p14="http://schemas.microsoft.com/office/powerpoint/2010/main" val="1885417708"/>
              </p:ext>
            </p:extLst>
          </p:nvPr>
        </p:nvGraphicFramePr>
        <p:xfrm>
          <a:off x="445854" y="2727834"/>
          <a:ext cx="8266348" cy="1465820"/>
        </p:xfrm>
        <a:graphic>
          <a:graphicData uri="http://schemas.openxmlformats.org/drawingml/2006/table">
            <a:tbl>
              <a:tblPr firstRow="1" bandRow="1">
                <a:tableStyleId>{2D5ABB26-0587-4C30-8999-92F81FD0307C}</a:tableStyleId>
              </a:tblPr>
              <a:tblGrid>
                <a:gridCol w="2552844">
                  <a:extLst>
                    <a:ext uri="{9D8B030D-6E8A-4147-A177-3AD203B41FA5}">
                      <a16:colId xmlns:a16="http://schemas.microsoft.com/office/drawing/2014/main" val="1072788600"/>
                    </a:ext>
                  </a:extLst>
                </a:gridCol>
                <a:gridCol w="822248">
                  <a:extLst>
                    <a:ext uri="{9D8B030D-6E8A-4147-A177-3AD203B41FA5}">
                      <a16:colId xmlns:a16="http://schemas.microsoft.com/office/drawing/2014/main" val="206673024"/>
                    </a:ext>
                  </a:extLst>
                </a:gridCol>
                <a:gridCol w="916977">
                  <a:extLst>
                    <a:ext uri="{9D8B030D-6E8A-4147-A177-3AD203B41FA5}">
                      <a16:colId xmlns:a16="http://schemas.microsoft.com/office/drawing/2014/main" val="3472170879"/>
                    </a:ext>
                  </a:extLst>
                </a:gridCol>
                <a:gridCol w="1065243">
                  <a:extLst>
                    <a:ext uri="{9D8B030D-6E8A-4147-A177-3AD203B41FA5}">
                      <a16:colId xmlns:a16="http://schemas.microsoft.com/office/drawing/2014/main" val="3138202961"/>
                    </a:ext>
                  </a:extLst>
                </a:gridCol>
                <a:gridCol w="727259">
                  <a:extLst>
                    <a:ext uri="{9D8B030D-6E8A-4147-A177-3AD203B41FA5}">
                      <a16:colId xmlns:a16="http://schemas.microsoft.com/office/drawing/2014/main" val="2803300867"/>
                    </a:ext>
                  </a:extLst>
                </a:gridCol>
                <a:gridCol w="727259">
                  <a:extLst>
                    <a:ext uri="{9D8B030D-6E8A-4147-A177-3AD203B41FA5}">
                      <a16:colId xmlns:a16="http://schemas.microsoft.com/office/drawing/2014/main" val="124999522"/>
                    </a:ext>
                  </a:extLst>
                </a:gridCol>
                <a:gridCol w="727259">
                  <a:extLst>
                    <a:ext uri="{9D8B030D-6E8A-4147-A177-3AD203B41FA5}">
                      <a16:colId xmlns:a16="http://schemas.microsoft.com/office/drawing/2014/main" val="2878844615"/>
                    </a:ext>
                  </a:extLst>
                </a:gridCol>
                <a:gridCol w="727259">
                  <a:extLst>
                    <a:ext uri="{9D8B030D-6E8A-4147-A177-3AD203B41FA5}">
                      <a16:colId xmlns:a16="http://schemas.microsoft.com/office/drawing/2014/main" val="1159316143"/>
                    </a:ext>
                  </a:extLst>
                </a:gridCol>
              </a:tblGrid>
              <a:tr h="0">
                <a:tc>
                  <a:txBody>
                    <a:bodyPr/>
                    <a:lstStyle/>
                    <a:p>
                      <a:r>
                        <a:rPr lang="en-US" sz="100" b="1" noProof="0" dirty="0">
                          <a:solidFill>
                            <a:schemeClr val="bg1"/>
                          </a:solidFill>
                          <a:latin typeface="Arial" panose="020B0604020202020204" pitchFamily="34" charset="0"/>
                          <a:cs typeface="Arial" panose="020B0604020202020204" pitchFamily="34" charset="0"/>
                        </a:rPr>
                        <a:t>Blank</a:t>
                      </a:r>
                    </a:p>
                  </a:txBody>
                  <a:tcP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noProof="0">
                          <a:solidFill>
                            <a:schemeClr val="bg1"/>
                          </a:solidFill>
                          <a:latin typeface="Arial" panose="020B0604020202020204" pitchFamily="34" charset="0"/>
                          <a:cs typeface="Arial" panose="020B0604020202020204" pitchFamily="34" charset="0"/>
                        </a:rPr>
                        <a:t>Year</a:t>
                      </a:r>
                    </a:p>
                  </a:txBody>
                  <a:tcP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noProof="0">
                          <a:solidFill>
                            <a:schemeClr val="bg1"/>
                          </a:solidFill>
                          <a:latin typeface="Arial" panose="020B0604020202020204" pitchFamily="34" charset="0"/>
                          <a:cs typeface="Arial" panose="020B0604020202020204" pitchFamily="34" charset="0"/>
                        </a:rPr>
                        <a:t>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noProof="0">
                          <a:solidFill>
                            <a:schemeClr val="bg1"/>
                          </a:solidFill>
                          <a:latin typeface="Arial" panose="020B0604020202020204" pitchFamily="34" charset="0"/>
                          <a:cs typeface="Arial" panose="020B0604020202020204" pitchFamily="34" charset="0"/>
                        </a:rPr>
                        <a:t>1</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noProof="0">
                          <a:solidFill>
                            <a:schemeClr val="bg1"/>
                          </a:solidFill>
                          <a:latin typeface="Arial" panose="020B0604020202020204" pitchFamily="34" charset="0"/>
                          <a:cs typeface="Arial" panose="020B0604020202020204" pitchFamily="34" charset="0"/>
                        </a:rPr>
                        <a:t>2</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noProof="0">
                          <a:solidFill>
                            <a:schemeClr val="bg1"/>
                          </a:solidFill>
                          <a:latin typeface="Arial" panose="020B0604020202020204" pitchFamily="34" charset="0"/>
                          <a:cs typeface="Arial" panose="020B0604020202020204" pitchFamily="34" charset="0"/>
                        </a:rPr>
                        <a:t>3</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noProof="0">
                          <a:solidFill>
                            <a:schemeClr val="bg1"/>
                          </a:solidFill>
                          <a:latin typeface="Arial" panose="020B0604020202020204" pitchFamily="34" charset="0"/>
                          <a:cs typeface="Arial" panose="020B0604020202020204" pitchFamily="34" charset="0"/>
                        </a:rPr>
                        <a:t>4</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noProof="0">
                          <a:solidFill>
                            <a:schemeClr val="bg1"/>
                          </a:solidFill>
                          <a:latin typeface="Arial" panose="020B0604020202020204" pitchFamily="34" charset="0"/>
                          <a:cs typeface="Arial" panose="020B0604020202020204" pitchFamily="34" charset="0"/>
                        </a:rPr>
                        <a:t>5</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490851856"/>
                  </a:ext>
                </a:extLst>
              </a:tr>
              <a:tr h="250740">
                <a:tc>
                  <a:txBody>
                    <a:bodyPr/>
                    <a:lstStyle/>
                    <a:p>
                      <a:r>
                        <a:rPr lang="en-US" sz="1800" b="0" noProof="0">
                          <a:latin typeface="Arial" panose="020B0604020202020204" pitchFamily="34" charset="0"/>
                          <a:cs typeface="Arial" panose="020B0604020202020204" pitchFamily="34" charset="0"/>
                        </a:rPr>
                        <a:t>Pre-tax Income</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00" noProof="0">
                          <a:latin typeface="Arial" panose="020B0604020202020204" pitchFamily="34" charset="0"/>
                          <a:cs typeface="Arial" panose="020B0604020202020204" pitchFamily="34" charset="0"/>
                        </a:rPr>
                        <a:t>Blank</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noProof="0">
                          <a:latin typeface="Arial" panose="020B0604020202020204" pitchFamily="34" charset="0"/>
                          <a:cs typeface="Arial" panose="020B0604020202020204" pitchFamily="34" charset="0"/>
                        </a:rPr>
                        <a:t>(140)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noProof="0">
                          <a:latin typeface="Arial" panose="020B0604020202020204" pitchFamily="34" charset="0"/>
                          <a:cs typeface="Arial" panose="020B0604020202020204" pitchFamily="34" charset="0"/>
                        </a:rPr>
                        <a:t>60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noProof="0">
                          <a:latin typeface="Arial" panose="020B0604020202020204" pitchFamily="34" charset="0"/>
                          <a:cs typeface="Arial" panose="020B0604020202020204" pitchFamily="34" charset="0"/>
                        </a:rPr>
                        <a:t>50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noProof="0">
                          <a:latin typeface="Arial" panose="020B0604020202020204" pitchFamily="34" charset="0"/>
                          <a:cs typeface="Arial" panose="020B0604020202020204" pitchFamily="34" charset="0"/>
                        </a:rPr>
                        <a:t>50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noProof="0">
                          <a:solidFill>
                            <a:schemeClr val="tx1"/>
                          </a:solidFill>
                          <a:latin typeface="Arial" panose="020B0604020202020204" pitchFamily="34" charset="0"/>
                          <a:cs typeface="Arial" panose="020B0604020202020204" pitchFamily="34" charset="0"/>
                        </a:rPr>
                        <a:t>50</a:t>
                      </a:r>
                      <a:endParaRPr lang="en-US" sz="1800" noProof="0">
                        <a:latin typeface="Arial" panose="020B0604020202020204" pitchFamily="34" charset="0"/>
                        <a:cs typeface="Arial" panose="020B0604020202020204" pitchFamily="34" charset="0"/>
                      </a:endParaRP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noProof="0">
                          <a:solidFill>
                            <a:schemeClr val="tx1"/>
                          </a:solidFill>
                          <a:latin typeface="Arial" panose="020B0604020202020204" pitchFamily="34" charset="0"/>
                          <a:cs typeface="Arial" panose="020B0604020202020204" pitchFamily="34" charset="0"/>
                        </a:rPr>
                        <a:t>50</a:t>
                      </a:r>
                      <a:endParaRPr lang="en-US" sz="1800" noProof="0">
                        <a:latin typeface="Arial" panose="020B0604020202020204" pitchFamily="34" charset="0"/>
                        <a:cs typeface="Arial" panose="020B0604020202020204" pitchFamily="34" charset="0"/>
                      </a:endParaRP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661540150"/>
                  </a:ext>
                </a:extLst>
              </a:tr>
              <a:tr h="367150">
                <a:tc>
                  <a:txBody>
                    <a:bodyPr/>
                    <a:lstStyle/>
                    <a:p>
                      <a:r>
                        <a:rPr lang="en-US" sz="1800" b="0" noProof="0">
                          <a:latin typeface="Arial" panose="020B0604020202020204" pitchFamily="34" charset="0"/>
                          <a:cs typeface="Arial" panose="020B0604020202020204" pitchFamily="34" charset="0"/>
                        </a:rPr>
                        <a:t>Tax Loss Carryforward</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noProof="0">
                          <a:latin typeface="Arial" panose="020B0604020202020204" pitchFamily="34" charset="0"/>
                          <a:cs typeface="Arial" panose="020B0604020202020204" pitchFamily="34" charset="0"/>
                        </a:rPr>
                        <a:t>(48)</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noProof="0">
                          <a:latin typeface="Arial" panose="020B0604020202020204" pitchFamily="34" charset="0"/>
                          <a:cs typeface="Arial" panose="020B0604020202020204" pitchFamily="34" charset="0"/>
                        </a:rPr>
                        <a:t>(40)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noProof="0">
                          <a:latin typeface="Arial" panose="020B0604020202020204" pitchFamily="34" charset="0"/>
                          <a:cs typeface="Arial" panose="020B0604020202020204" pitchFamily="34" charset="0"/>
                        </a:rPr>
                        <a:t>(40)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noProof="0">
                          <a:latin typeface="Arial" panose="020B0604020202020204" pitchFamily="34" charset="0"/>
                          <a:cs typeface="Arial" panose="020B0604020202020204" pitchFamily="34" charset="0"/>
                        </a:rPr>
                        <a:t>(12)</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029354084"/>
                  </a:ext>
                </a:extLst>
              </a:tr>
              <a:tr h="367150">
                <a:tc>
                  <a:txBody>
                    <a:bodyPr/>
                    <a:lstStyle/>
                    <a:p>
                      <a:r>
                        <a:rPr lang="en-US" sz="1800" b="0" noProof="0">
                          <a:latin typeface="Arial" panose="020B0604020202020204" pitchFamily="34" charset="0"/>
                          <a:cs typeface="Arial" panose="020B0604020202020204" pitchFamily="34" charset="0"/>
                        </a:rPr>
                        <a:t>Taxable Income</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b="0" noProof="0">
                          <a:latin typeface="Arial" panose="020B0604020202020204" pitchFamily="34" charset="0"/>
                          <a:cs typeface="Arial" panose="020B0604020202020204" pitchFamily="34" charset="0"/>
                        </a:rPr>
                        <a:t>12</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b="0" noProof="0">
                          <a:latin typeface="Arial" panose="020B0604020202020204" pitchFamily="34" charset="0"/>
                          <a:cs typeface="Arial" panose="020B0604020202020204" pitchFamily="34" charset="0"/>
                        </a:rPr>
                        <a:t>10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b="0" noProof="0">
                          <a:latin typeface="Arial" panose="020B0604020202020204" pitchFamily="34" charset="0"/>
                          <a:cs typeface="Arial" panose="020B0604020202020204" pitchFamily="34" charset="0"/>
                        </a:rPr>
                        <a:t>10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b="0" noProof="0">
                          <a:latin typeface="Arial" panose="020B0604020202020204" pitchFamily="34" charset="0"/>
                          <a:cs typeface="Arial" panose="020B0604020202020204" pitchFamily="34" charset="0"/>
                        </a:rPr>
                        <a:t>38</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b="0" noProof="0" dirty="0">
                          <a:latin typeface="Arial" panose="020B0604020202020204" pitchFamily="34" charset="0"/>
                          <a:cs typeface="Arial" panose="020B0604020202020204" pitchFamily="34" charset="0"/>
                        </a:rPr>
                        <a:t>50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4085743459"/>
                  </a:ext>
                </a:extLst>
              </a:tr>
            </a:tbl>
          </a:graphicData>
        </a:graphic>
      </p:graphicFrame>
      <p:sp>
        <p:nvSpPr>
          <p:cNvPr id="4" name="Content Placeholder 3">
            <a:extLst>
              <a:ext uri="{FF2B5EF4-FFF2-40B4-BE49-F238E27FC236}">
                <a16:creationId xmlns:a16="http://schemas.microsoft.com/office/drawing/2014/main" id="{0DD52A53-AA06-30A3-80A8-F6004494B0FE}"/>
              </a:ext>
            </a:extLst>
          </p:cNvPr>
          <p:cNvSpPr>
            <a:spLocks noGrp="1"/>
          </p:cNvSpPr>
          <p:nvPr>
            <p:ph sz="quarter" idx="13"/>
          </p:nvPr>
        </p:nvSpPr>
        <p:spPr>
          <a:xfrm>
            <a:off x="440426" y="4447235"/>
            <a:ext cx="8352700" cy="1806067"/>
          </a:xfrm>
        </p:spPr>
        <p:txBody>
          <a:bodyPr wrap="square" lIns="0" tIns="18000" rIns="0" bIns="18000" anchor="ctr">
            <a:spAutoFit/>
          </a:bodyPr>
          <a:lstStyle/>
          <a:p>
            <a:pPr marL="0" indent="0">
              <a:spcBef>
                <a:spcPts val="600"/>
              </a:spcBef>
              <a:buNone/>
            </a:pPr>
            <a:r>
              <a:rPr lang="en-US" sz="2300" dirty="0"/>
              <a:t>Thus, when a firm has tax loss carryforwards, the tax impact of a portion of current earnings will be delayed until the carryforwards are exhausted. This delay reduces the present value of the tax impact, and firms sometimes approximate the effect of tax loss carryforwards by using a lower marginal tax rate.</a:t>
            </a:r>
          </a:p>
        </p:txBody>
      </p:sp>
      <p:sp>
        <p:nvSpPr>
          <p:cNvPr id="6" name="ZoneTexte 5">
            <a:extLst>
              <a:ext uri="{FF2B5EF4-FFF2-40B4-BE49-F238E27FC236}">
                <a16:creationId xmlns:a16="http://schemas.microsoft.com/office/drawing/2014/main" id="{DF576C80-8569-0C80-264E-EB08A6934EB9}"/>
              </a:ext>
            </a:extLst>
          </p:cNvPr>
          <p:cNvSpPr txBox="1"/>
          <p:nvPr/>
        </p:nvSpPr>
        <p:spPr>
          <a:xfrm>
            <a:off x="440426" y="2166712"/>
            <a:ext cx="1082348" cy="369332"/>
          </a:xfrm>
          <a:prstGeom prst="rect">
            <a:avLst/>
          </a:prstGeom>
          <a:noFill/>
        </p:spPr>
        <p:txBody>
          <a:bodyPr wrap="none" rtlCol="0">
            <a:spAutoFit/>
          </a:bodyPr>
          <a:lstStyle/>
          <a:p>
            <a:r>
              <a:rPr lang="fr-FR" sz="1800" dirty="0"/>
              <a:t>Table 12</a:t>
            </a:r>
          </a:p>
        </p:txBody>
      </p:sp>
    </p:spTree>
    <p:extLst>
      <p:ext uri="{BB962C8B-B14F-4D97-AF65-F5344CB8AC3E}">
        <p14:creationId xmlns:p14="http://schemas.microsoft.com/office/powerpoint/2010/main" val="262353394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8867"/>
            <a:ext cx="8266346" cy="590349"/>
          </a:xfrm>
        </p:spPr>
        <p:txBody>
          <a:bodyPr/>
          <a:lstStyle/>
          <a:p>
            <a:r>
              <a:rPr lang="en-US" dirty="0"/>
              <a:t>5. Analyzing the Project </a:t>
            </a:r>
            <a:r>
              <a:rPr lang="en-US" sz="2800" dirty="0"/>
              <a:t>(1 of 2)</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45854" y="1027810"/>
            <a:ext cx="8266346" cy="1667567"/>
          </a:xfrm>
        </p:spPr>
        <p:txBody>
          <a:bodyPr wrap="square" lIns="0" tIns="18000" rIns="0" bIns="18000" anchor="ctr">
            <a:spAutoFit/>
          </a:bodyPr>
          <a:lstStyle/>
          <a:p>
            <a:pPr marL="342900" indent="-342900">
              <a:spcBef>
                <a:spcPts val="600"/>
              </a:spcBef>
            </a:pPr>
            <a:r>
              <a:rPr lang="en-US" sz="2400" dirty="0"/>
              <a:t>Break-Even Analysis</a:t>
            </a:r>
          </a:p>
          <a:p>
            <a:pPr marL="829818" lvl="1" indent="-342900"/>
            <a:r>
              <a:rPr lang="en-US" sz="2400" dirty="0"/>
              <a:t>The </a:t>
            </a:r>
            <a:r>
              <a:rPr lang="en-US" sz="2400" b="1" dirty="0"/>
              <a:t>break-even</a:t>
            </a:r>
            <a:r>
              <a:rPr lang="en-US" sz="2400" dirty="0"/>
              <a:t> level of an input is the level that causes the </a:t>
            </a:r>
            <a:r>
              <a:rPr lang="en-US" sz="2400" spc="-300" dirty="0"/>
              <a:t>N P </a:t>
            </a:r>
            <a:r>
              <a:rPr lang="en-US" sz="2400" dirty="0"/>
              <a:t>V of the investment to equal zero</a:t>
            </a:r>
          </a:p>
          <a:p>
            <a:pPr marL="829818" lvl="1" indent="-342900"/>
            <a:r>
              <a:rPr lang="en-US" sz="2400" dirty="0"/>
              <a:t>HomeNet </a:t>
            </a:r>
            <a:r>
              <a:rPr lang="en-US" sz="2400" spc="-300" dirty="0"/>
              <a:t>I R </a:t>
            </a:r>
            <a:r>
              <a:rPr lang="en-US" sz="2400" dirty="0" err="1"/>
              <a:t>R</a:t>
            </a:r>
            <a:r>
              <a:rPr lang="en-US" sz="2400" dirty="0"/>
              <a:t> Calculation</a:t>
            </a:r>
          </a:p>
        </p:txBody>
      </p:sp>
      <p:sp>
        <p:nvSpPr>
          <p:cNvPr id="4" name="Content Placeholder 3">
            <a:extLst>
              <a:ext uri="{FF2B5EF4-FFF2-40B4-BE49-F238E27FC236}">
                <a16:creationId xmlns:a16="http://schemas.microsoft.com/office/drawing/2014/main" id="{0DD52A53-AA06-30A3-80A8-F6004494B0FE}"/>
              </a:ext>
            </a:extLst>
          </p:cNvPr>
          <p:cNvSpPr>
            <a:spLocks noGrp="1"/>
          </p:cNvSpPr>
          <p:nvPr>
            <p:ph sz="quarter" idx="13"/>
          </p:nvPr>
        </p:nvSpPr>
        <p:spPr>
          <a:xfrm>
            <a:off x="431800" y="2913971"/>
            <a:ext cx="3665748" cy="405683"/>
          </a:xfrm>
        </p:spPr>
        <p:txBody>
          <a:bodyPr wrap="square" lIns="0" tIns="18000" rIns="0" bIns="18000" anchor="ctr">
            <a:spAutoFit/>
          </a:bodyPr>
          <a:lstStyle/>
          <a:p>
            <a:pPr marL="0" indent="0">
              <a:spcBef>
                <a:spcPts val="600"/>
              </a:spcBef>
              <a:buNone/>
            </a:pPr>
            <a:r>
              <a:rPr lang="en-US" sz="2400" dirty="0"/>
              <a:t>HomeNet </a:t>
            </a:r>
            <a:r>
              <a:rPr lang="en-US" sz="2400" spc="-300" dirty="0"/>
              <a:t>I R </a:t>
            </a:r>
            <a:r>
              <a:rPr lang="en-US" sz="2400" dirty="0" err="1"/>
              <a:t>R</a:t>
            </a:r>
            <a:r>
              <a:rPr lang="en-US" sz="2400" dirty="0"/>
              <a:t> Calculation</a:t>
            </a:r>
          </a:p>
        </p:txBody>
      </p:sp>
      <p:graphicFrame>
        <p:nvGraphicFramePr>
          <p:cNvPr id="5" name="Table 8">
            <a:extLst>
              <a:ext uri="{FF2B5EF4-FFF2-40B4-BE49-F238E27FC236}">
                <a16:creationId xmlns:a16="http://schemas.microsoft.com/office/drawing/2014/main" id="{EF2D0B98-5667-A7E4-7D88-7D234EEEF223}"/>
              </a:ext>
            </a:extLst>
          </p:cNvPr>
          <p:cNvGraphicFramePr>
            <a:graphicFrameLocks/>
          </p:cNvGraphicFramePr>
          <p:nvPr>
            <p:custDataLst>
              <p:tags r:id="rId1"/>
            </p:custDataLst>
            <p:extLst>
              <p:ext uri="{D42A27DB-BD31-4B8C-83A1-F6EECF244321}">
                <p14:modId xmlns:p14="http://schemas.microsoft.com/office/powerpoint/2010/main" val="3331979792"/>
              </p:ext>
            </p:extLst>
          </p:nvPr>
        </p:nvGraphicFramePr>
        <p:xfrm>
          <a:off x="445854" y="4093008"/>
          <a:ext cx="7547061" cy="2015850"/>
        </p:xfrm>
        <a:graphic>
          <a:graphicData uri="http://schemas.openxmlformats.org/drawingml/2006/table">
            <a:tbl>
              <a:tblPr firstRow="1" firstCol="1" bandRow="1">
                <a:tableStyleId>{2D5ABB26-0587-4C30-8999-92F81FD0307C}</a:tableStyleId>
              </a:tblPr>
              <a:tblGrid>
                <a:gridCol w="2552844">
                  <a:extLst>
                    <a:ext uri="{9D8B030D-6E8A-4147-A177-3AD203B41FA5}">
                      <a16:colId xmlns:a16="http://schemas.microsoft.com/office/drawing/2014/main" val="1072788600"/>
                    </a:ext>
                  </a:extLst>
                </a:gridCol>
                <a:gridCol w="1086928">
                  <a:extLst>
                    <a:ext uri="{9D8B030D-6E8A-4147-A177-3AD203B41FA5}">
                      <a16:colId xmlns:a16="http://schemas.microsoft.com/office/drawing/2014/main" val="3472170879"/>
                    </a:ext>
                  </a:extLst>
                </a:gridCol>
                <a:gridCol w="897147">
                  <a:extLst>
                    <a:ext uri="{9D8B030D-6E8A-4147-A177-3AD203B41FA5}">
                      <a16:colId xmlns:a16="http://schemas.microsoft.com/office/drawing/2014/main" val="3138202961"/>
                    </a:ext>
                  </a:extLst>
                </a:gridCol>
                <a:gridCol w="759125">
                  <a:extLst>
                    <a:ext uri="{9D8B030D-6E8A-4147-A177-3AD203B41FA5}">
                      <a16:colId xmlns:a16="http://schemas.microsoft.com/office/drawing/2014/main" val="2803300867"/>
                    </a:ext>
                  </a:extLst>
                </a:gridCol>
                <a:gridCol w="733245">
                  <a:extLst>
                    <a:ext uri="{9D8B030D-6E8A-4147-A177-3AD203B41FA5}">
                      <a16:colId xmlns:a16="http://schemas.microsoft.com/office/drawing/2014/main" val="124999522"/>
                    </a:ext>
                  </a:extLst>
                </a:gridCol>
                <a:gridCol w="790513">
                  <a:extLst>
                    <a:ext uri="{9D8B030D-6E8A-4147-A177-3AD203B41FA5}">
                      <a16:colId xmlns:a16="http://schemas.microsoft.com/office/drawing/2014/main" val="2878844615"/>
                    </a:ext>
                  </a:extLst>
                </a:gridCol>
                <a:gridCol w="727259">
                  <a:extLst>
                    <a:ext uri="{9D8B030D-6E8A-4147-A177-3AD203B41FA5}">
                      <a16:colId xmlns:a16="http://schemas.microsoft.com/office/drawing/2014/main" val="1159316143"/>
                    </a:ext>
                  </a:extLst>
                </a:gridCol>
              </a:tblGrid>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bg1"/>
                          </a:solidFill>
                          <a:latin typeface="Arial" panose="020B0604020202020204" pitchFamily="34" charset="0"/>
                          <a:cs typeface="Arial" panose="020B0604020202020204" pitchFamily="34" charset="0"/>
                        </a:rPr>
                        <a:t>Year</a:t>
                      </a:r>
                    </a:p>
                    <a:p>
                      <a:pPr algn="ctr"/>
                      <a:endParaRPr lang="en-US" sz="1600" b="1" noProof="0" dirty="0">
                        <a:solidFill>
                          <a:schemeClr val="bg1"/>
                        </a:solidFill>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bg1"/>
                          </a:solidFill>
                          <a:latin typeface="Arial" panose="020B0604020202020204" pitchFamily="34" charset="0"/>
                          <a:cs typeface="Arial" panose="020B0604020202020204" pitchFamily="34" charset="0"/>
                        </a:rPr>
                        <a:t>0</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noProof="0">
                          <a:solidFill>
                            <a:schemeClr val="bg1"/>
                          </a:solidFill>
                          <a:latin typeface="Arial" panose="020B0604020202020204" pitchFamily="34" charset="0"/>
                          <a:cs typeface="Arial" panose="020B0604020202020204" pitchFamily="34" charset="0"/>
                        </a:rPr>
                        <a:t>1</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bg1"/>
                          </a:solidFill>
                          <a:latin typeface="Arial" panose="020B0604020202020204" pitchFamily="34" charset="0"/>
                          <a:cs typeface="Arial" panose="020B0604020202020204" pitchFamily="34" charset="0"/>
                        </a:rPr>
                        <a:t>2</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noProof="0">
                          <a:solidFill>
                            <a:schemeClr val="bg1"/>
                          </a:solidFill>
                          <a:latin typeface="Arial" panose="020B0604020202020204" pitchFamily="34" charset="0"/>
                          <a:cs typeface="Arial" panose="020B0604020202020204" pitchFamily="34" charset="0"/>
                        </a:rPr>
                        <a:t>3</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noProof="0">
                          <a:solidFill>
                            <a:schemeClr val="bg1"/>
                          </a:solidFill>
                          <a:latin typeface="Arial" panose="020B0604020202020204" pitchFamily="34" charset="0"/>
                          <a:cs typeface="Arial" panose="020B0604020202020204" pitchFamily="34" charset="0"/>
                        </a:rPr>
                        <a:t>4</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noProof="0">
                          <a:solidFill>
                            <a:schemeClr val="bg1"/>
                          </a:solidFill>
                          <a:latin typeface="Arial" panose="020B0604020202020204" pitchFamily="34" charset="0"/>
                          <a:cs typeface="Arial" panose="020B0604020202020204" pitchFamily="34" charset="0"/>
                        </a:rPr>
                        <a:t>5</a:t>
                      </a: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490851856"/>
                  </a:ext>
                </a:extLst>
              </a:tr>
              <a:tr h="250740">
                <a:tc>
                  <a:txBody>
                    <a:bodyPr/>
                    <a:lstStyle/>
                    <a:p>
                      <a:r>
                        <a:rPr lang="en-US" sz="1600" b="1" spc="-250" baseline="0" noProof="0">
                          <a:latin typeface="Arial" panose="020B0604020202020204" pitchFamily="34" charset="0"/>
                          <a:cs typeface="Arial" panose="020B0604020202020204" pitchFamily="34" charset="0"/>
                        </a:rPr>
                        <a:t>N P </a:t>
                      </a:r>
                      <a:r>
                        <a:rPr lang="en-US" sz="1600" b="1" noProof="0">
                          <a:latin typeface="Arial" panose="020B0604020202020204" pitchFamily="34" charset="0"/>
                          <a:cs typeface="Arial" panose="020B0604020202020204" pitchFamily="34" charset="0"/>
                        </a:rPr>
                        <a:t>V ($000s) and IRR</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661540150"/>
                  </a:ext>
                </a:extLst>
              </a:tr>
              <a:tr h="367150">
                <a:tc>
                  <a:txBody>
                    <a:bodyPr/>
                    <a:lstStyle/>
                    <a:p>
                      <a:r>
                        <a:rPr lang="en-US" sz="1600" b="0" noProof="0" dirty="0">
                          <a:latin typeface="Arial" panose="020B0604020202020204" pitchFamily="34" charset="0"/>
                          <a:cs typeface="Arial" panose="020B0604020202020204" pitchFamily="34" charset="0"/>
                        </a:rPr>
                        <a:t>1 </a:t>
                      </a:r>
                      <a:r>
                        <a:rPr lang="en-US" sz="1600" b="1" noProof="0" dirty="0">
                          <a:latin typeface="Arial" panose="020B0604020202020204" pitchFamily="34" charset="0"/>
                          <a:cs typeface="Arial" panose="020B0604020202020204" pitchFamily="34" charset="0"/>
                        </a:rPr>
                        <a:t>Free cash flow</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600" noProof="0">
                          <a:latin typeface="Arial" panose="020B0604020202020204" pitchFamily="34" charset="0"/>
                          <a:cs typeface="Arial" panose="020B0604020202020204" pitchFamily="34" charset="0"/>
                        </a:rPr>
                        <a:t>(19,500)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600" noProof="0">
                          <a:latin typeface="Arial" panose="020B0604020202020204" pitchFamily="34" charset="0"/>
                          <a:cs typeface="Arial" panose="020B0604020202020204" pitchFamily="34" charset="0"/>
                        </a:rPr>
                        <a:t>7,000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600" noProof="0">
                          <a:latin typeface="Arial" panose="020B0604020202020204" pitchFamily="34" charset="0"/>
                          <a:cs typeface="Arial" panose="020B0604020202020204" pitchFamily="34" charset="0"/>
                        </a:rPr>
                        <a:t>9,100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600" noProof="0">
                          <a:latin typeface="Arial" panose="020B0604020202020204" pitchFamily="34" charset="0"/>
                          <a:cs typeface="Arial" panose="020B0604020202020204" pitchFamily="34" charset="0"/>
                        </a:rPr>
                        <a:t>9,100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600" noProof="0">
                          <a:latin typeface="Arial" panose="020B0604020202020204" pitchFamily="34" charset="0"/>
                          <a:cs typeface="Arial" panose="020B0604020202020204" pitchFamily="34" charset="0"/>
                        </a:rPr>
                        <a:t>9,100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600" noProof="0">
                          <a:latin typeface="Arial" panose="020B0604020202020204" pitchFamily="34" charset="0"/>
                          <a:cs typeface="Arial" panose="020B0604020202020204" pitchFamily="34" charset="0"/>
                        </a:rPr>
                        <a:t>2,400</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029354084"/>
                  </a:ext>
                </a:extLst>
              </a:tr>
              <a:tr h="367150">
                <a:tc>
                  <a:txBody>
                    <a:bodyPr/>
                    <a:lstStyle/>
                    <a:p>
                      <a:r>
                        <a:rPr lang="en-US" sz="1600" b="0" noProof="0" dirty="0">
                          <a:latin typeface="Arial" panose="020B0604020202020204" pitchFamily="34" charset="0"/>
                          <a:cs typeface="Arial" panose="020B0604020202020204" pitchFamily="34" charset="0"/>
                        </a:rPr>
                        <a:t>2 </a:t>
                      </a:r>
                      <a:r>
                        <a:rPr lang="en-US" sz="1600" b="1" spc="-250" baseline="0" noProof="0" dirty="0">
                          <a:latin typeface="Arial" panose="020B0604020202020204" pitchFamily="34" charset="0"/>
                          <a:cs typeface="Arial" panose="020B0604020202020204" pitchFamily="34" charset="0"/>
                        </a:rPr>
                        <a:t>N P </a:t>
                      </a:r>
                      <a:r>
                        <a:rPr lang="en-US" sz="1600" b="1" noProof="0" dirty="0">
                          <a:latin typeface="Arial" panose="020B0604020202020204" pitchFamily="34" charset="0"/>
                          <a:cs typeface="Arial" panose="020B0604020202020204" pitchFamily="34" charset="0"/>
                        </a:rPr>
                        <a:t>V at 12%</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600" b="0" noProof="0">
                          <a:latin typeface="Arial" panose="020B0604020202020204" pitchFamily="34" charset="0"/>
                          <a:cs typeface="Arial" panose="020B0604020202020204" pitchFamily="34" charset="0"/>
                        </a:rPr>
                        <a:t>7,627</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00" b="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 b="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 b="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 b="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 b="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4085743459"/>
                  </a:ext>
                </a:extLst>
              </a:tr>
              <a:tr h="367150">
                <a:tc>
                  <a:txBody>
                    <a:bodyPr/>
                    <a:lstStyle/>
                    <a:p>
                      <a:r>
                        <a:rPr lang="en-US" sz="1600" b="0" noProof="0" dirty="0">
                          <a:latin typeface="Arial" panose="020B0604020202020204" pitchFamily="34" charset="0"/>
                          <a:cs typeface="Arial" panose="020B0604020202020204" pitchFamily="34" charset="0"/>
                        </a:rPr>
                        <a:t>3 </a:t>
                      </a:r>
                      <a:r>
                        <a:rPr lang="en-US" sz="1600" b="1" spc="-250" baseline="0" noProof="0" dirty="0">
                          <a:latin typeface="Arial" panose="020B0604020202020204" pitchFamily="34" charset="0"/>
                          <a:cs typeface="Arial" panose="020B0604020202020204" pitchFamily="34" charset="0"/>
                        </a:rPr>
                        <a:t>I R </a:t>
                      </a:r>
                      <a:r>
                        <a:rPr lang="en-US" sz="1600" b="1" noProof="0" dirty="0">
                          <a:latin typeface="Arial" panose="020B0604020202020204" pitchFamily="34" charset="0"/>
                          <a:cs typeface="Arial" panose="020B0604020202020204" pitchFamily="34" charset="0"/>
                        </a:rPr>
                        <a:t>R</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600" b="1" noProof="0">
                          <a:latin typeface="Arial" panose="020B0604020202020204" pitchFamily="34" charset="0"/>
                          <a:cs typeface="Arial" panose="020B0604020202020204" pitchFamily="34" charset="0"/>
                        </a:rPr>
                        <a:t>27.9%</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00" b="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 b="0" noProof="0" dirty="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 b="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 b="0" noProof="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 b="0" noProof="0" dirty="0">
                          <a:latin typeface="Arial" panose="020B0604020202020204" pitchFamily="34" charset="0"/>
                          <a:cs typeface="Arial" panose="020B0604020202020204" pitchFamily="34" charset="0"/>
                        </a:rPr>
                        <a:t>Blank</a:t>
                      </a:r>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567362141"/>
                  </a:ext>
                </a:extLst>
              </a:tr>
            </a:tbl>
          </a:graphicData>
        </a:graphic>
      </p:graphicFrame>
      <p:sp>
        <p:nvSpPr>
          <p:cNvPr id="6" name="ZoneTexte 5">
            <a:extLst>
              <a:ext uri="{FF2B5EF4-FFF2-40B4-BE49-F238E27FC236}">
                <a16:creationId xmlns:a16="http://schemas.microsoft.com/office/drawing/2014/main" id="{BCBB5D3F-DB90-4D48-0AAD-5EA4515D36F7}"/>
              </a:ext>
            </a:extLst>
          </p:cNvPr>
          <p:cNvSpPr txBox="1"/>
          <p:nvPr/>
        </p:nvSpPr>
        <p:spPr>
          <a:xfrm>
            <a:off x="431800" y="3468731"/>
            <a:ext cx="1107996" cy="369332"/>
          </a:xfrm>
          <a:prstGeom prst="rect">
            <a:avLst/>
          </a:prstGeom>
          <a:noFill/>
        </p:spPr>
        <p:txBody>
          <a:bodyPr wrap="none" rtlCol="0">
            <a:spAutoFit/>
          </a:bodyPr>
          <a:lstStyle/>
          <a:p>
            <a:r>
              <a:rPr lang="fr-FR" sz="1800" b="1" dirty="0"/>
              <a:t>Table 13</a:t>
            </a:r>
          </a:p>
        </p:txBody>
      </p:sp>
    </p:spTree>
    <p:extLst>
      <p:ext uri="{BB962C8B-B14F-4D97-AF65-F5344CB8AC3E}">
        <p14:creationId xmlns:p14="http://schemas.microsoft.com/office/powerpoint/2010/main" val="308897410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8867"/>
            <a:ext cx="8266346" cy="590349"/>
          </a:xfrm>
        </p:spPr>
        <p:txBody>
          <a:bodyPr/>
          <a:lstStyle/>
          <a:p>
            <a:r>
              <a:rPr lang="en-US" dirty="0"/>
              <a:t>5. Analyzing the Project </a:t>
            </a:r>
            <a:r>
              <a:rPr lang="en-US" sz="2800" dirty="0"/>
              <a:t>(2 of 2)</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45854" y="1104606"/>
            <a:ext cx="8266346" cy="851959"/>
          </a:xfrm>
        </p:spPr>
        <p:txBody>
          <a:bodyPr wrap="square" lIns="0" tIns="18000" rIns="0" bIns="18000" anchor="ctr">
            <a:spAutoFit/>
          </a:bodyPr>
          <a:lstStyle/>
          <a:p>
            <a:pPr marL="342900" indent="-342900">
              <a:spcBef>
                <a:spcPts val="600"/>
              </a:spcBef>
            </a:pPr>
            <a:r>
              <a:rPr lang="en-US" sz="2400" dirty="0"/>
              <a:t>Break-Even Analysis</a:t>
            </a:r>
          </a:p>
          <a:p>
            <a:pPr marL="829818" lvl="1" indent="-342900"/>
            <a:r>
              <a:rPr lang="en-US" sz="2400" dirty="0"/>
              <a:t>Break-Even Levels for HomeNet </a:t>
            </a:r>
          </a:p>
        </p:txBody>
      </p:sp>
      <p:sp>
        <p:nvSpPr>
          <p:cNvPr id="4" name="Content Placeholder 3">
            <a:extLst>
              <a:ext uri="{FF2B5EF4-FFF2-40B4-BE49-F238E27FC236}">
                <a16:creationId xmlns:a16="http://schemas.microsoft.com/office/drawing/2014/main" id="{0DD52A53-AA06-30A3-80A8-F6004494B0FE}"/>
              </a:ext>
            </a:extLst>
          </p:cNvPr>
          <p:cNvSpPr>
            <a:spLocks noGrp="1"/>
          </p:cNvSpPr>
          <p:nvPr>
            <p:ph sz="quarter" idx="13"/>
          </p:nvPr>
        </p:nvSpPr>
        <p:spPr>
          <a:xfrm>
            <a:off x="679771" y="2326380"/>
            <a:ext cx="8266346" cy="313350"/>
          </a:xfrm>
        </p:spPr>
        <p:txBody>
          <a:bodyPr wrap="square" lIns="0" tIns="18000" rIns="0" bIns="18000" anchor="ctr">
            <a:spAutoFit/>
          </a:bodyPr>
          <a:lstStyle/>
          <a:p>
            <a:pPr marL="0" indent="0">
              <a:spcBef>
                <a:spcPts val="600"/>
              </a:spcBef>
              <a:buNone/>
            </a:pPr>
            <a:r>
              <a:rPr lang="en-US" sz="1800" b="1" dirty="0"/>
              <a:t>Table 14 : </a:t>
            </a:r>
            <a:r>
              <a:rPr lang="en-US" sz="1800" dirty="0"/>
              <a:t>Break-Even Levels for HomeNet</a:t>
            </a:r>
          </a:p>
        </p:txBody>
      </p:sp>
      <p:graphicFrame>
        <p:nvGraphicFramePr>
          <p:cNvPr id="8" name="Table 8">
            <a:extLst>
              <a:ext uri="{FF2B5EF4-FFF2-40B4-BE49-F238E27FC236}">
                <a16:creationId xmlns:a16="http://schemas.microsoft.com/office/drawing/2014/main" id="{FB5B404D-0424-977C-3270-FDC62733A9F9}"/>
              </a:ext>
            </a:extLst>
          </p:cNvPr>
          <p:cNvGraphicFramePr>
            <a:graphicFrameLocks/>
          </p:cNvGraphicFramePr>
          <p:nvPr>
            <p:custDataLst>
              <p:tags r:id="rId1"/>
            </p:custDataLst>
            <p:extLst>
              <p:ext uri="{D42A27DB-BD31-4B8C-83A1-F6EECF244321}">
                <p14:modId xmlns:p14="http://schemas.microsoft.com/office/powerpoint/2010/main" val="1493469647"/>
              </p:ext>
            </p:extLst>
          </p:nvPr>
        </p:nvGraphicFramePr>
        <p:xfrm>
          <a:off x="1483744" y="2866257"/>
          <a:ext cx="6185140" cy="1981200"/>
        </p:xfrm>
        <a:graphic>
          <a:graphicData uri="http://schemas.openxmlformats.org/drawingml/2006/table">
            <a:tbl>
              <a:tblPr firstRow="1" bandRow="1">
                <a:tableStyleId>{2D5ABB26-0587-4C30-8999-92F81FD0307C}</a:tableStyleId>
              </a:tblPr>
              <a:tblGrid>
                <a:gridCol w="2355011">
                  <a:extLst>
                    <a:ext uri="{9D8B030D-6E8A-4147-A177-3AD203B41FA5}">
                      <a16:colId xmlns:a16="http://schemas.microsoft.com/office/drawing/2014/main" val="1072788600"/>
                    </a:ext>
                  </a:extLst>
                </a:gridCol>
                <a:gridCol w="3830129">
                  <a:extLst>
                    <a:ext uri="{9D8B030D-6E8A-4147-A177-3AD203B41FA5}">
                      <a16:colId xmlns:a16="http://schemas.microsoft.com/office/drawing/2014/main" val="206673024"/>
                    </a:ext>
                  </a:extLst>
                </a:gridCol>
              </a:tblGrid>
              <a:tr h="0">
                <a:tc>
                  <a:txBody>
                    <a:bodyPr/>
                    <a:lstStyle/>
                    <a:p>
                      <a:r>
                        <a:rPr lang="en-US" sz="2000" b="1" noProof="0">
                          <a:solidFill>
                            <a:schemeClr val="bg1"/>
                          </a:solidFill>
                          <a:latin typeface="Arial" panose="020B0604020202020204" pitchFamily="34" charset="0"/>
                          <a:cs typeface="Arial" panose="020B0604020202020204" pitchFamily="34" charset="0"/>
                        </a:rPr>
                        <a:t>Parameter</a:t>
                      </a:r>
                    </a:p>
                  </a:txBody>
                  <a:tcP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1" noProof="0">
                          <a:solidFill>
                            <a:schemeClr val="bg1"/>
                          </a:solidFill>
                          <a:latin typeface="Arial" panose="020B0604020202020204" pitchFamily="34" charset="0"/>
                          <a:cs typeface="Arial" panose="020B0604020202020204" pitchFamily="34" charset="0"/>
                        </a:rPr>
                        <a:t>Year</a:t>
                      </a:r>
                    </a:p>
                  </a:txBody>
                  <a:tcP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490851856"/>
                  </a:ext>
                </a:extLst>
              </a:tr>
              <a:tr h="250740">
                <a:tc>
                  <a:txBody>
                    <a:bodyPr/>
                    <a:lstStyle/>
                    <a:p>
                      <a:r>
                        <a:rPr lang="en-US" sz="2000" b="0" noProof="0">
                          <a:latin typeface="Arial" panose="020B0604020202020204" pitchFamily="34" charset="0"/>
                          <a:cs typeface="Arial" panose="020B0604020202020204" pitchFamily="34" charset="0"/>
                        </a:rPr>
                        <a:t>Units sold</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algn="l"/>
                      <a:r>
                        <a:rPr lang="en-US" sz="2000" noProof="0">
                          <a:latin typeface="Arial" panose="020B0604020202020204" pitchFamily="34" charset="0"/>
                          <a:cs typeface="Arial" panose="020B0604020202020204" pitchFamily="34" charset="0"/>
                        </a:rPr>
                        <a:t>77,121 units per year</a:t>
                      </a: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661540150"/>
                  </a:ext>
                </a:extLst>
              </a:tr>
              <a:tr h="367150">
                <a:tc>
                  <a:txBody>
                    <a:bodyPr/>
                    <a:lstStyle/>
                    <a:p>
                      <a:r>
                        <a:rPr lang="en-US" sz="2000" b="0" noProof="0">
                          <a:latin typeface="Arial" panose="020B0604020202020204" pitchFamily="34" charset="0"/>
                          <a:cs typeface="Arial" panose="020B0604020202020204" pitchFamily="34" charset="0"/>
                        </a:rPr>
                        <a:t>Wholesale price</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algn="l"/>
                      <a:r>
                        <a:rPr lang="en-US" sz="2000" noProof="0" dirty="0">
                          <a:latin typeface="Arial" panose="020B0604020202020204" pitchFamily="34" charset="0"/>
                          <a:cs typeface="Arial" panose="020B0604020202020204" pitchFamily="34" charset="0"/>
                        </a:rPr>
                        <a:t>$228 per unit</a:t>
                      </a: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029354084"/>
                  </a:ext>
                </a:extLst>
              </a:tr>
              <a:tr h="367150">
                <a:tc>
                  <a:txBody>
                    <a:bodyPr/>
                    <a:lstStyle/>
                    <a:p>
                      <a:r>
                        <a:rPr lang="en-US" sz="2000" b="0" noProof="0" dirty="0">
                          <a:latin typeface="Arial" panose="020B0604020202020204" pitchFamily="34" charset="0"/>
                          <a:cs typeface="Arial" panose="020B0604020202020204" pitchFamily="34" charset="0"/>
                        </a:rPr>
                        <a:t>Cost of goods</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algn="l"/>
                      <a:r>
                        <a:rPr lang="en-US" sz="2000" b="0" noProof="0" dirty="0">
                          <a:latin typeface="Arial" panose="020B0604020202020204" pitchFamily="34" charset="0"/>
                          <a:cs typeface="Arial" panose="020B0604020202020204" pitchFamily="34" charset="0"/>
                        </a:rPr>
                        <a:t>$142 per unit</a:t>
                      </a: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4085743459"/>
                  </a:ext>
                </a:extLst>
              </a:tr>
              <a:tr h="367150">
                <a:tc>
                  <a:txBody>
                    <a:bodyPr/>
                    <a:lstStyle/>
                    <a:p>
                      <a:r>
                        <a:rPr lang="en-US" sz="2000" b="0" noProof="0">
                          <a:latin typeface="Arial" panose="020B0604020202020204" pitchFamily="34" charset="0"/>
                          <a:cs typeface="Arial" panose="020B0604020202020204" pitchFamily="34" charset="0"/>
                        </a:rPr>
                        <a:t>Cost of capital</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algn="l"/>
                      <a:r>
                        <a:rPr lang="en-US" sz="2000" b="0" noProof="0" dirty="0">
                          <a:latin typeface="Arial" panose="020B0604020202020204" pitchFamily="34" charset="0"/>
                          <a:cs typeface="Arial" panose="020B0604020202020204" pitchFamily="34" charset="0"/>
                        </a:rPr>
                        <a:t>27.9%</a:t>
                      </a: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567362141"/>
                  </a:ext>
                </a:extLst>
              </a:tr>
            </a:tbl>
          </a:graphicData>
        </a:graphic>
      </p:graphicFrame>
      <p:sp>
        <p:nvSpPr>
          <p:cNvPr id="5" name="Content Placeholder 4">
            <a:extLst>
              <a:ext uri="{FF2B5EF4-FFF2-40B4-BE49-F238E27FC236}">
                <a16:creationId xmlns:a16="http://schemas.microsoft.com/office/drawing/2014/main" id="{B030C7B8-0389-DAFE-D0DE-7BB944A22220}"/>
              </a:ext>
            </a:extLst>
          </p:cNvPr>
          <p:cNvSpPr>
            <a:spLocks noGrp="1"/>
          </p:cNvSpPr>
          <p:nvPr>
            <p:ph sz="quarter" idx="14"/>
          </p:nvPr>
        </p:nvSpPr>
        <p:spPr>
          <a:xfrm>
            <a:off x="445853" y="5320702"/>
            <a:ext cx="8266345" cy="851959"/>
          </a:xfrm>
        </p:spPr>
        <p:txBody>
          <a:bodyPr wrap="square" lIns="0" tIns="18000" rIns="0" bIns="18000" anchor="ctr">
            <a:spAutoFit/>
          </a:bodyPr>
          <a:lstStyle/>
          <a:p>
            <a:pPr marL="829818" lvl="1" indent="-342900"/>
            <a:r>
              <a:rPr lang="en-US" sz="2400" b="1" spc="-300" dirty="0"/>
              <a:t>E B I </a:t>
            </a:r>
            <a:r>
              <a:rPr lang="en-US" sz="2400" b="1" dirty="0"/>
              <a:t>T Break-Even of Sales</a:t>
            </a:r>
          </a:p>
          <a:p>
            <a:pPr marL="1229868" lvl="2" indent="-342900"/>
            <a:r>
              <a:rPr lang="en-US" sz="2400" dirty="0"/>
              <a:t>Level of sales where </a:t>
            </a:r>
            <a:r>
              <a:rPr lang="en-US" sz="2400" spc="-300" dirty="0"/>
              <a:t>E B I </a:t>
            </a:r>
            <a:r>
              <a:rPr lang="en-US" sz="2400" dirty="0"/>
              <a:t>T equals zero</a:t>
            </a:r>
          </a:p>
        </p:txBody>
      </p:sp>
    </p:spTree>
    <p:extLst>
      <p:ext uri="{BB962C8B-B14F-4D97-AF65-F5344CB8AC3E}">
        <p14:creationId xmlns:p14="http://schemas.microsoft.com/office/powerpoint/2010/main" val="123838517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8865"/>
            <a:ext cx="8266346" cy="590349"/>
          </a:xfrm>
        </p:spPr>
        <p:txBody>
          <a:bodyPr/>
          <a:lstStyle/>
          <a:p>
            <a:r>
              <a:rPr lang="en-US" dirty="0"/>
              <a:t>Sensitivity Analysis </a:t>
            </a:r>
            <a:r>
              <a:rPr lang="en-US" sz="2800" dirty="0"/>
              <a:t>(1 of 2)</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45854" y="1032309"/>
            <a:ext cx="8266346" cy="1144347"/>
          </a:xfrm>
        </p:spPr>
        <p:txBody>
          <a:bodyPr wrap="square" lIns="0" tIns="18000" rIns="0" bIns="18000" anchor="ctr">
            <a:spAutoFit/>
          </a:bodyPr>
          <a:lstStyle/>
          <a:p>
            <a:pPr marL="342900" indent="-342900">
              <a:spcBef>
                <a:spcPts val="600"/>
              </a:spcBef>
            </a:pPr>
            <a:r>
              <a:rPr lang="en-US" sz="2400" dirty="0"/>
              <a:t>Sensitivity Analysis shows how the </a:t>
            </a:r>
            <a:r>
              <a:rPr lang="en-US" sz="2400" spc="-300" dirty="0"/>
              <a:t>N P </a:t>
            </a:r>
            <a:r>
              <a:rPr lang="en-US" sz="2400" dirty="0"/>
              <a:t>V varies with a change in one of the assumptions, holding the other assumptions constant</a:t>
            </a:r>
          </a:p>
        </p:txBody>
      </p:sp>
    </p:spTree>
    <p:extLst>
      <p:ext uri="{BB962C8B-B14F-4D97-AF65-F5344CB8AC3E}">
        <p14:creationId xmlns:p14="http://schemas.microsoft.com/office/powerpoint/2010/main" val="211532501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8865"/>
            <a:ext cx="8266346" cy="590349"/>
          </a:xfrm>
        </p:spPr>
        <p:txBody>
          <a:bodyPr/>
          <a:lstStyle/>
          <a:p>
            <a:r>
              <a:rPr lang="en-US" dirty="0"/>
              <a:t>Sensitivity Analysis </a:t>
            </a:r>
            <a:r>
              <a:rPr lang="en-US" sz="2800" dirty="0"/>
              <a:t>(2 of 2)</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45854" y="1417518"/>
            <a:ext cx="8266346" cy="313350"/>
          </a:xfrm>
        </p:spPr>
        <p:txBody>
          <a:bodyPr wrap="square" lIns="0" tIns="18000" rIns="0" bIns="18000" anchor="ctr">
            <a:spAutoFit/>
          </a:bodyPr>
          <a:lstStyle/>
          <a:p>
            <a:pPr marL="0" indent="0">
              <a:spcBef>
                <a:spcPts val="600"/>
              </a:spcBef>
              <a:buNone/>
            </a:pPr>
            <a:r>
              <a:rPr lang="en-US" sz="1800" b="1" dirty="0"/>
              <a:t>Table 15 : </a:t>
            </a:r>
            <a:r>
              <a:rPr lang="en-US" sz="1800" dirty="0"/>
              <a:t> Best-and Worst-Case Parameter Assumptions for HomeNet</a:t>
            </a:r>
          </a:p>
        </p:txBody>
      </p:sp>
      <p:graphicFrame>
        <p:nvGraphicFramePr>
          <p:cNvPr id="4" name="Table 8">
            <a:extLst>
              <a:ext uri="{FF2B5EF4-FFF2-40B4-BE49-F238E27FC236}">
                <a16:creationId xmlns:a16="http://schemas.microsoft.com/office/drawing/2014/main" id="{3582F1FD-5E9F-489D-B961-02C7C3B30151}"/>
              </a:ext>
            </a:extLst>
          </p:cNvPr>
          <p:cNvGraphicFramePr>
            <a:graphicFrameLocks/>
          </p:cNvGraphicFramePr>
          <p:nvPr>
            <p:custDataLst>
              <p:tags r:id="rId1"/>
            </p:custDataLst>
            <p:extLst>
              <p:ext uri="{D42A27DB-BD31-4B8C-83A1-F6EECF244321}">
                <p14:modId xmlns:p14="http://schemas.microsoft.com/office/powerpoint/2010/main" val="3920863348"/>
              </p:ext>
            </p:extLst>
          </p:nvPr>
        </p:nvGraphicFramePr>
        <p:xfrm>
          <a:off x="638358" y="2259265"/>
          <a:ext cx="7858663" cy="2567270"/>
        </p:xfrm>
        <a:graphic>
          <a:graphicData uri="http://schemas.openxmlformats.org/drawingml/2006/table">
            <a:tbl>
              <a:tblPr firstRow="1" bandRow="1">
                <a:tableStyleId>{2D5ABB26-0587-4C30-8999-92F81FD0307C}</a:tableStyleId>
              </a:tblPr>
              <a:tblGrid>
                <a:gridCol w="2605178">
                  <a:extLst>
                    <a:ext uri="{9D8B030D-6E8A-4147-A177-3AD203B41FA5}">
                      <a16:colId xmlns:a16="http://schemas.microsoft.com/office/drawing/2014/main" val="1072788600"/>
                    </a:ext>
                  </a:extLst>
                </a:gridCol>
                <a:gridCol w="2199735">
                  <a:extLst>
                    <a:ext uri="{9D8B030D-6E8A-4147-A177-3AD203B41FA5}">
                      <a16:colId xmlns:a16="http://schemas.microsoft.com/office/drawing/2014/main" val="206673024"/>
                    </a:ext>
                  </a:extLst>
                </a:gridCol>
                <a:gridCol w="1544129">
                  <a:extLst>
                    <a:ext uri="{9D8B030D-6E8A-4147-A177-3AD203B41FA5}">
                      <a16:colId xmlns:a16="http://schemas.microsoft.com/office/drawing/2014/main" val="1622304731"/>
                    </a:ext>
                  </a:extLst>
                </a:gridCol>
                <a:gridCol w="1509621">
                  <a:extLst>
                    <a:ext uri="{9D8B030D-6E8A-4147-A177-3AD203B41FA5}">
                      <a16:colId xmlns:a16="http://schemas.microsoft.com/office/drawing/2014/main" val="1453895703"/>
                    </a:ext>
                  </a:extLst>
                </a:gridCol>
              </a:tblGrid>
              <a:tr h="0">
                <a:tc>
                  <a:txBody>
                    <a:bodyPr/>
                    <a:lstStyle/>
                    <a:p>
                      <a:r>
                        <a:rPr lang="en-US" sz="1800" b="1" noProof="0">
                          <a:solidFill>
                            <a:schemeClr val="bg1"/>
                          </a:solidFill>
                          <a:latin typeface="Arial" panose="020B0604020202020204" pitchFamily="34" charset="0"/>
                          <a:cs typeface="Arial" panose="020B0604020202020204" pitchFamily="34" charset="0"/>
                        </a:rPr>
                        <a:t>Parameter</a:t>
                      </a:r>
                    </a:p>
                  </a:txBody>
                  <a:tcP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noProof="0">
                          <a:solidFill>
                            <a:schemeClr val="bg1"/>
                          </a:solidFill>
                          <a:latin typeface="Arial" panose="020B0604020202020204" pitchFamily="34" charset="0"/>
                          <a:cs typeface="Arial" panose="020B0604020202020204" pitchFamily="34" charset="0"/>
                        </a:rPr>
                        <a:t>Initial Assumption</a:t>
                      </a:r>
                    </a:p>
                  </a:txBody>
                  <a:tcP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noProof="0">
                          <a:solidFill>
                            <a:schemeClr val="bg1"/>
                          </a:solidFill>
                          <a:latin typeface="Arial" panose="020B0604020202020204" pitchFamily="34" charset="0"/>
                          <a:cs typeface="Arial" panose="020B0604020202020204" pitchFamily="34" charset="0"/>
                        </a:rPr>
                        <a:t>Worst Case</a:t>
                      </a:r>
                    </a:p>
                  </a:txBody>
                  <a:tcP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noProof="0">
                          <a:solidFill>
                            <a:schemeClr val="bg1"/>
                          </a:solidFill>
                          <a:latin typeface="Arial" panose="020B0604020202020204" pitchFamily="34" charset="0"/>
                          <a:cs typeface="Arial" panose="020B0604020202020204" pitchFamily="34" charset="0"/>
                        </a:rPr>
                        <a:t>Best Case</a:t>
                      </a:r>
                    </a:p>
                  </a:txBody>
                  <a:tcP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490851856"/>
                  </a:ext>
                </a:extLst>
              </a:tr>
              <a:tr h="250740">
                <a:tc>
                  <a:txBody>
                    <a:bodyPr/>
                    <a:lstStyle/>
                    <a:p>
                      <a:r>
                        <a:rPr lang="en-US" sz="1800" b="0" noProof="0">
                          <a:latin typeface="Arial" panose="020B0604020202020204" pitchFamily="34" charset="0"/>
                          <a:cs typeface="Arial" panose="020B0604020202020204" pitchFamily="34" charset="0"/>
                        </a:rPr>
                        <a:t>Units sold (thousands)</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noProof="0">
                          <a:latin typeface="Arial" panose="020B0604020202020204" pitchFamily="34" charset="0"/>
                          <a:cs typeface="Arial" panose="020B0604020202020204" pitchFamily="34" charset="0"/>
                        </a:rPr>
                        <a:t>100</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noProof="0">
                          <a:latin typeface="Arial" panose="020B0604020202020204" pitchFamily="34" charset="0"/>
                          <a:cs typeface="Arial" panose="020B0604020202020204" pitchFamily="34" charset="0"/>
                        </a:rPr>
                        <a:t>70</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noProof="0">
                          <a:latin typeface="Arial" panose="020B0604020202020204" pitchFamily="34" charset="0"/>
                          <a:cs typeface="Arial" panose="020B0604020202020204" pitchFamily="34" charset="0"/>
                        </a:rPr>
                        <a:t>130</a:t>
                      </a: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661540150"/>
                  </a:ext>
                </a:extLst>
              </a:tr>
              <a:tr h="367150">
                <a:tc>
                  <a:txBody>
                    <a:bodyPr/>
                    <a:lstStyle/>
                    <a:p>
                      <a:r>
                        <a:rPr lang="en-US" sz="1800" b="0" noProof="0">
                          <a:latin typeface="Arial" panose="020B0604020202020204" pitchFamily="34" charset="0"/>
                          <a:cs typeface="Arial" panose="020B0604020202020204" pitchFamily="34" charset="0"/>
                        </a:rPr>
                        <a:t>Sale price($/unit)</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noProof="0">
                          <a:latin typeface="Arial" panose="020B0604020202020204" pitchFamily="34" charset="0"/>
                          <a:cs typeface="Arial" panose="020B0604020202020204" pitchFamily="34" charset="0"/>
                        </a:rPr>
                        <a:t>260</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noProof="0">
                          <a:latin typeface="Arial" panose="020B0604020202020204" pitchFamily="34" charset="0"/>
                          <a:cs typeface="Arial" panose="020B0604020202020204" pitchFamily="34" charset="0"/>
                        </a:rPr>
                        <a:t>240</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noProof="0">
                          <a:latin typeface="Arial" panose="020B0604020202020204" pitchFamily="34" charset="0"/>
                          <a:cs typeface="Arial" panose="020B0604020202020204" pitchFamily="34" charset="0"/>
                        </a:rPr>
                        <a:t>280</a:t>
                      </a: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029354084"/>
                  </a:ext>
                </a:extLst>
              </a:tr>
              <a:tr h="367150">
                <a:tc>
                  <a:txBody>
                    <a:bodyPr/>
                    <a:lstStyle/>
                    <a:p>
                      <a:r>
                        <a:rPr lang="en-US" sz="1800" b="0" noProof="0" dirty="0">
                          <a:latin typeface="Arial" panose="020B0604020202020204" pitchFamily="34" charset="0"/>
                          <a:cs typeface="Arial" panose="020B0604020202020204" pitchFamily="34" charset="0"/>
                        </a:rPr>
                        <a:t>Cost of goods($/unit)</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b="0" noProof="0">
                          <a:latin typeface="Arial" panose="020B0604020202020204" pitchFamily="34" charset="0"/>
                          <a:cs typeface="Arial" panose="020B0604020202020204" pitchFamily="34" charset="0"/>
                        </a:rPr>
                        <a:t>110</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b="0" noProof="0">
                          <a:latin typeface="Arial" panose="020B0604020202020204" pitchFamily="34" charset="0"/>
                          <a:cs typeface="Arial" panose="020B0604020202020204" pitchFamily="34" charset="0"/>
                        </a:rPr>
                        <a:t>120</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b="0" noProof="0">
                          <a:latin typeface="Arial" panose="020B0604020202020204" pitchFamily="34" charset="0"/>
                          <a:cs typeface="Arial" panose="020B0604020202020204" pitchFamily="34" charset="0"/>
                        </a:rPr>
                        <a:t>100</a:t>
                      </a: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4085743459"/>
                  </a:ext>
                </a:extLst>
              </a:tr>
              <a:tr h="367150">
                <a:tc>
                  <a:txBody>
                    <a:bodyPr/>
                    <a:lstStyle/>
                    <a:p>
                      <a:r>
                        <a:rPr lang="en-US" sz="1800" b="0" noProof="0" dirty="0">
                          <a:latin typeface="Arial" panose="020B0604020202020204" pitchFamily="34" charset="0"/>
                          <a:cs typeface="Arial" panose="020B0604020202020204" pitchFamily="34" charset="0"/>
                        </a:rPr>
                        <a:t>NWC($ thousands)</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b="0" noProof="0">
                          <a:latin typeface="Arial" panose="020B0604020202020204" pitchFamily="34" charset="0"/>
                          <a:cs typeface="Arial" panose="020B0604020202020204" pitchFamily="34" charset="0"/>
                        </a:rPr>
                        <a:t>2100</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b="0" noProof="0">
                          <a:latin typeface="Arial" panose="020B0604020202020204" pitchFamily="34" charset="0"/>
                          <a:cs typeface="Arial" panose="020B0604020202020204" pitchFamily="34" charset="0"/>
                        </a:rPr>
                        <a:t>3000</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b="0" noProof="0">
                          <a:latin typeface="Arial" panose="020B0604020202020204" pitchFamily="34" charset="0"/>
                          <a:cs typeface="Arial" panose="020B0604020202020204" pitchFamily="34" charset="0"/>
                        </a:rPr>
                        <a:t>1600</a:t>
                      </a: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567362141"/>
                  </a:ext>
                </a:extLst>
              </a:tr>
              <a:tr h="367150">
                <a:tc>
                  <a:txBody>
                    <a:bodyPr/>
                    <a:lstStyle/>
                    <a:p>
                      <a:r>
                        <a:rPr lang="en-US" sz="1800" b="0" noProof="0">
                          <a:latin typeface="Arial" panose="020B0604020202020204" pitchFamily="34" charset="0"/>
                          <a:cs typeface="Arial" panose="020B0604020202020204" pitchFamily="34" charset="0"/>
                        </a:rPr>
                        <a:t>Cannibalization</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b="0" noProof="0">
                          <a:latin typeface="Arial" panose="020B0604020202020204" pitchFamily="34" charset="0"/>
                          <a:cs typeface="Arial" panose="020B0604020202020204" pitchFamily="34" charset="0"/>
                        </a:rPr>
                        <a:t>25%</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b="0" noProof="0">
                          <a:latin typeface="Arial" panose="020B0604020202020204" pitchFamily="34" charset="0"/>
                          <a:cs typeface="Arial" panose="020B0604020202020204" pitchFamily="34" charset="0"/>
                        </a:rPr>
                        <a:t>40%</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b="0" noProof="0">
                          <a:latin typeface="Arial" panose="020B0604020202020204" pitchFamily="34" charset="0"/>
                          <a:cs typeface="Arial" panose="020B0604020202020204" pitchFamily="34" charset="0"/>
                        </a:rPr>
                        <a:t>10%</a:t>
                      </a: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032582965"/>
                  </a:ext>
                </a:extLst>
              </a:tr>
              <a:tr h="367150">
                <a:tc>
                  <a:txBody>
                    <a:bodyPr/>
                    <a:lstStyle/>
                    <a:p>
                      <a:r>
                        <a:rPr lang="en-US" sz="1800" b="0" noProof="0" dirty="0">
                          <a:latin typeface="Arial" panose="020B0604020202020204" pitchFamily="34" charset="0"/>
                          <a:cs typeface="Arial" panose="020B0604020202020204" pitchFamily="34" charset="0"/>
                        </a:rPr>
                        <a:t>Cost of capital</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b="0" noProof="0">
                          <a:latin typeface="Arial" panose="020B0604020202020204" pitchFamily="34" charset="0"/>
                          <a:cs typeface="Arial" panose="020B0604020202020204" pitchFamily="34" charset="0"/>
                        </a:rPr>
                        <a:t>12%</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b="0" noProof="0">
                          <a:latin typeface="Arial" panose="020B0604020202020204" pitchFamily="34" charset="0"/>
                          <a:cs typeface="Arial" panose="020B0604020202020204" pitchFamily="34" charset="0"/>
                        </a:rPr>
                        <a:t>15%</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b="0" noProof="0" dirty="0">
                          <a:latin typeface="Arial" panose="020B0604020202020204" pitchFamily="34" charset="0"/>
                          <a:cs typeface="Arial" panose="020B0604020202020204" pitchFamily="34" charset="0"/>
                        </a:rPr>
                        <a:t>10%</a:t>
                      </a: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724358192"/>
                  </a:ext>
                </a:extLst>
              </a:tr>
            </a:tbl>
          </a:graphicData>
        </a:graphic>
      </p:graphicFrame>
    </p:spTree>
    <p:extLst>
      <p:ext uri="{BB962C8B-B14F-4D97-AF65-F5344CB8AC3E}">
        <p14:creationId xmlns:p14="http://schemas.microsoft.com/office/powerpoint/2010/main" val="23838218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38827" y="296101"/>
            <a:ext cx="8266346" cy="1329013"/>
          </a:xfrm>
        </p:spPr>
        <p:txBody>
          <a:bodyPr/>
          <a:lstStyle/>
          <a:p>
            <a:r>
              <a:rPr lang="en-US" sz="2800" dirty="0"/>
              <a:t>Figure 1 : </a:t>
            </a:r>
            <a:r>
              <a:rPr lang="en-US" sz="2800" dirty="0" err="1"/>
              <a:t>HomeNet’s</a:t>
            </a:r>
            <a:r>
              <a:rPr lang="en-US" sz="2800" dirty="0"/>
              <a:t> </a:t>
            </a:r>
            <a:r>
              <a:rPr lang="en-US" sz="2800" spc="-300" dirty="0"/>
              <a:t>N P </a:t>
            </a:r>
            <a:r>
              <a:rPr lang="en-US" sz="2800" dirty="0"/>
              <a:t>V Under Best-and Worst-Case Parameter Assumptions</a:t>
            </a:r>
            <a:br>
              <a:rPr lang="en-US" sz="2800" dirty="0"/>
            </a:br>
            <a:endParaRPr lang="en-US" sz="2800" dirty="0"/>
          </a:p>
        </p:txBody>
      </p:sp>
      <p:pic>
        <p:nvPicPr>
          <p:cNvPr id="5" name="Picture 4" descr="A bar graph shows the NPV for best-and worst-case parameter.&#10;Long description is available in notes, Press F6.">
            <a:extLst>
              <a:ext uri="{FF2B5EF4-FFF2-40B4-BE49-F238E27FC236}">
                <a16:creationId xmlns:a16="http://schemas.microsoft.com/office/drawing/2014/main" id="{AA9BFF27-D044-1673-1030-DB4CA6A678EB}"/>
              </a:ext>
            </a:extLst>
          </p:cNvPr>
          <p:cNvPicPr>
            <a:picLocks noChangeAspect="1"/>
          </p:cNvPicPr>
          <p:nvPr/>
        </p:nvPicPr>
        <p:blipFill>
          <a:blip r:embed="rId3"/>
          <a:stretch>
            <a:fillRect/>
          </a:stretch>
        </p:blipFill>
        <p:spPr>
          <a:xfrm>
            <a:off x="733327" y="1618181"/>
            <a:ext cx="7358049" cy="4764388"/>
          </a:xfrm>
          <a:prstGeom prst="rect">
            <a:avLst/>
          </a:prstGeom>
        </p:spPr>
      </p:pic>
    </p:spTree>
    <p:extLst>
      <p:ext uri="{BB962C8B-B14F-4D97-AF65-F5344CB8AC3E}">
        <p14:creationId xmlns:p14="http://schemas.microsoft.com/office/powerpoint/2010/main" val="141830419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8865"/>
            <a:ext cx="8266346" cy="590349"/>
          </a:xfrm>
        </p:spPr>
        <p:txBody>
          <a:bodyPr/>
          <a:lstStyle/>
          <a:p>
            <a:r>
              <a:rPr lang="en-US" dirty="0" err="1"/>
              <a:t>Homenet</a:t>
            </a:r>
            <a:r>
              <a:rPr lang="en-US" dirty="0"/>
              <a:t> Example 6 </a:t>
            </a:r>
            <a:r>
              <a:rPr lang="en-US" sz="2800" dirty="0"/>
              <a:t>(1 of 2)</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45854" y="1586140"/>
            <a:ext cx="8266346" cy="2852507"/>
          </a:xfrm>
        </p:spPr>
        <p:txBody>
          <a:bodyPr wrap="square" lIns="0" tIns="18000" rIns="0" bIns="18000" anchor="ctr">
            <a:spAutoFit/>
          </a:bodyPr>
          <a:lstStyle/>
          <a:p>
            <a:pPr marL="0" indent="0">
              <a:spcBef>
                <a:spcPts val="600"/>
              </a:spcBef>
              <a:buNone/>
            </a:pPr>
            <a:r>
              <a:rPr lang="en-US" sz="2400" b="1" dirty="0"/>
              <a:t>Sensitivity to Marketing and Support Costs</a:t>
            </a:r>
          </a:p>
          <a:p>
            <a:pPr marL="0" indent="0">
              <a:spcBef>
                <a:spcPts val="600"/>
              </a:spcBef>
              <a:buNone/>
            </a:pPr>
            <a:endParaRPr lang="en-US" sz="2400" b="1" dirty="0"/>
          </a:p>
          <a:p>
            <a:pPr marL="0" indent="0">
              <a:spcBef>
                <a:spcPts val="600"/>
              </a:spcBef>
              <a:buNone/>
            </a:pPr>
            <a:r>
              <a:rPr lang="en-US" sz="2400" b="1" dirty="0"/>
              <a:t>Problem</a:t>
            </a:r>
          </a:p>
          <a:p>
            <a:pPr marL="0" indent="0">
              <a:spcBef>
                <a:spcPts val="600"/>
              </a:spcBef>
              <a:buNone/>
            </a:pPr>
            <a:r>
              <a:rPr lang="en-US" sz="2400" dirty="0"/>
              <a:t>The current forecast for </a:t>
            </a:r>
            <a:r>
              <a:rPr lang="en-US" sz="2400" dirty="0" err="1"/>
              <a:t>HomeNet’s</a:t>
            </a:r>
            <a:r>
              <a:rPr lang="en-US" sz="2400" dirty="0"/>
              <a:t> marketing and support costs is $2.8 million per year during years 1–4. Suppose the marketing and support costs may be as high as $3.8 million per year. What is </a:t>
            </a:r>
            <a:r>
              <a:rPr lang="en-US" sz="2400" dirty="0" err="1"/>
              <a:t>HomeNet’s</a:t>
            </a:r>
            <a:r>
              <a:rPr lang="en-US" sz="2400" dirty="0"/>
              <a:t> </a:t>
            </a:r>
            <a:r>
              <a:rPr lang="en-US" sz="2400" spc="-300" dirty="0"/>
              <a:t>N P </a:t>
            </a:r>
            <a:r>
              <a:rPr lang="en-US" sz="2400" dirty="0"/>
              <a:t>V in this case?</a:t>
            </a:r>
          </a:p>
        </p:txBody>
      </p:sp>
    </p:spTree>
    <p:extLst>
      <p:ext uri="{BB962C8B-B14F-4D97-AF65-F5344CB8AC3E}">
        <p14:creationId xmlns:p14="http://schemas.microsoft.com/office/powerpoint/2010/main" val="423586685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8867"/>
            <a:ext cx="8266346" cy="590349"/>
          </a:xfrm>
        </p:spPr>
        <p:txBody>
          <a:bodyPr/>
          <a:lstStyle/>
          <a:p>
            <a:r>
              <a:rPr lang="en-US" dirty="0" err="1"/>
              <a:t>Homenet</a:t>
            </a:r>
            <a:r>
              <a:rPr lang="en-US" dirty="0"/>
              <a:t> Example 6 </a:t>
            </a:r>
            <a:r>
              <a:rPr lang="en-US" sz="2800" dirty="0"/>
              <a:t>(2 of 2)</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45854" y="1056134"/>
            <a:ext cx="1219044" cy="385992"/>
          </a:xfrm>
        </p:spPr>
        <p:txBody>
          <a:bodyPr wrap="square" lIns="0" tIns="18000" rIns="0" bIns="18000" anchor="ctr">
            <a:spAutoFit/>
          </a:bodyPr>
          <a:lstStyle/>
          <a:p>
            <a:pPr marL="0" indent="0">
              <a:spcBef>
                <a:spcPts val="600"/>
              </a:spcBef>
              <a:buNone/>
            </a:pPr>
            <a:r>
              <a:rPr lang="en-US" sz="2200" b="1" dirty="0"/>
              <a:t>Solution</a:t>
            </a:r>
          </a:p>
        </p:txBody>
      </p:sp>
      <p:sp>
        <p:nvSpPr>
          <p:cNvPr id="4" name="Content Placeholder 3">
            <a:extLst>
              <a:ext uri="{FF2B5EF4-FFF2-40B4-BE49-F238E27FC236}">
                <a16:creationId xmlns:a16="http://schemas.microsoft.com/office/drawing/2014/main" id="{0DD52A53-AA06-30A3-80A8-F6004494B0FE}"/>
              </a:ext>
            </a:extLst>
          </p:cNvPr>
          <p:cNvSpPr>
            <a:spLocks noGrp="1"/>
          </p:cNvSpPr>
          <p:nvPr>
            <p:ph sz="quarter" idx="13"/>
          </p:nvPr>
        </p:nvSpPr>
        <p:spPr>
          <a:xfrm>
            <a:off x="445854" y="1353993"/>
            <a:ext cx="8266346" cy="2821729"/>
          </a:xfrm>
        </p:spPr>
        <p:txBody>
          <a:bodyPr wrap="square" lIns="0" tIns="18000" rIns="0" bIns="18000" anchor="ctr">
            <a:spAutoFit/>
          </a:bodyPr>
          <a:lstStyle/>
          <a:p>
            <a:pPr marL="0" indent="0">
              <a:spcBef>
                <a:spcPts val="600"/>
              </a:spcBef>
              <a:buNone/>
            </a:pPr>
            <a:r>
              <a:rPr lang="en-US" sz="2200" dirty="0"/>
              <a:t>We can answer this question by increasing the selling, general, and administrative expense by $1 million in the spreadsheet in Table 5 (</a:t>
            </a:r>
            <a:r>
              <a:rPr lang="en-US" sz="2200" b="1" dirty="0">
                <a:solidFill>
                  <a:srgbClr val="FF0000"/>
                </a:solidFill>
              </a:rPr>
              <a:t>anchor table</a:t>
            </a:r>
            <a:r>
              <a:rPr lang="en-US" sz="2200" dirty="0"/>
              <a:t>) and computing the </a:t>
            </a:r>
            <a:r>
              <a:rPr lang="en-US" sz="2200" spc="-300" dirty="0"/>
              <a:t>N P </a:t>
            </a:r>
            <a:r>
              <a:rPr lang="en-US" sz="2200" dirty="0"/>
              <a:t>V of the resulting free cash flow. We can also calculate the impact of this change as follows: A $1 million increase in marketing and support costs will reduce </a:t>
            </a:r>
            <a:r>
              <a:rPr lang="en-US" sz="2200" spc="-300" dirty="0"/>
              <a:t>E B I </a:t>
            </a:r>
            <a:r>
              <a:rPr lang="en-US" sz="2200" dirty="0"/>
              <a:t>T by $1 million and will, therefore, decrease </a:t>
            </a:r>
            <a:r>
              <a:rPr lang="en-US" sz="2200" dirty="0" err="1"/>
              <a:t>HomeNet’s</a:t>
            </a:r>
            <a:r>
              <a:rPr lang="en-US" sz="2200" dirty="0"/>
              <a:t> free cash flow by an after-tax amount of : </a:t>
            </a:r>
          </a:p>
          <a:p>
            <a:pPr marL="0" indent="0">
              <a:spcBef>
                <a:spcPts val="600"/>
              </a:spcBef>
              <a:buNone/>
            </a:pPr>
            <a:endParaRPr lang="en-US" sz="2200" dirty="0"/>
          </a:p>
        </p:txBody>
      </p:sp>
      <p:graphicFrame>
        <p:nvGraphicFramePr>
          <p:cNvPr id="18" name="Object 17" descr="1 million dollars times left parenthesis 1 minus 20 percent right parenthesis equals 0.8 million dollars.">
            <a:extLst>
              <a:ext uri="{FF2B5EF4-FFF2-40B4-BE49-F238E27FC236}">
                <a16:creationId xmlns:a16="http://schemas.microsoft.com/office/drawing/2014/main" id="{64C8E940-A47A-6B99-A3A7-8AE27E437248}"/>
              </a:ext>
            </a:extLst>
          </p:cNvPr>
          <p:cNvGraphicFramePr>
            <a:graphicFrameLocks noChangeAspect="1"/>
          </p:cNvGraphicFramePr>
          <p:nvPr>
            <p:extLst>
              <p:ext uri="{D42A27DB-BD31-4B8C-83A1-F6EECF244321}">
                <p14:modId xmlns:p14="http://schemas.microsoft.com/office/powerpoint/2010/main" val="3385660311"/>
              </p:ext>
            </p:extLst>
          </p:nvPr>
        </p:nvGraphicFramePr>
        <p:xfrm>
          <a:off x="440426" y="3880245"/>
          <a:ext cx="3898900" cy="381000"/>
        </p:xfrm>
        <a:graphic>
          <a:graphicData uri="http://schemas.openxmlformats.org/presentationml/2006/ole">
            <mc:AlternateContent xmlns:mc="http://schemas.openxmlformats.org/markup-compatibility/2006">
              <mc:Choice xmlns:v="urn:schemas-microsoft-com:vml" Requires="v">
                <p:oleObj name="Equation" r:id="rId3" imgW="3898800" imgH="380880" progId="Equation.DSMT4">
                  <p:embed/>
                </p:oleObj>
              </mc:Choice>
              <mc:Fallback>
                <p:oleObj name="Equation" r:id="rId3" imgW="3898800" imgH="380880" progId="Equation.DSMT4">
                  <p:embed/>
                  <p:pic>
                    <p:nvPicPr>
                      <p:cNvPr id="16" name="Object 15" descr="$ 1 million times left parenthesis 1 minus 20 % right parenthesis = $ 0.8 million.">
                        <a:extLst>
                          <a:ext uri="{FF2B5EF4-FFF2-40B4-BE49-F238E27FC236}">
                            <a16:creationId xmlns:a16="http://schemas.microsoft.com/office/drawing/2014/main" id="{20C0C288-32B1-45B6-B386-98CE7E118ADC}"/>
                          </a:ext>
                        </a:extLst>
                      </p:cNvPr>
                      <p:cNvPicPr/>
                      <p:nvPr/>
                    </p:nvPicPr>
                    <p:blipFill>
                      <a:blip r:embed="rId4"/>
                      <a:stretch>
                        <a:fillRect/>
                      </a:stretch>
                    </p:blipFill>
                    <p:spPr>
                      <a:xfrm>
                        <a:off x="440426" y="3880245"/>
                        <a:ext cx="3898900" cy="381000"/>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C1C0ACDD-A35B-25D3-4C63-54D32CBC1EA0}"/>
              </a:ext>
            </a:extLst>
          </p:cNvPr>
          <p:cNvSpPr>
            <a:spLocks noGrp="1"/>
          </p:cNvSpPr>
          <p:nvPr>
            <p:ph sz="quarter" idx="15"/>
          </p:nvPr>
        </p:nvSpPr>
        <p:spPr>
          <a:xfrm>
            <a:off x="440426" y="4409835"/>
            <a:ext cx="5763269" cy="374906"/>
          </a:xfrm>
        </p:spPr>
        <p:txBody>
          <a:bodyPr wrap="square" lIns="0" tIns="18000" rIns="0" bIns="18000" anchor="ctr">
            <a:spAutoFit/>
          </a:bodyPr>
          <a:lstStyle/>
          <a:p>
            <a:pPr marL="0" indent="0">
              <a:spcBef>
                <a:spcPts val="600"/>
              </a:spcBef>
              <a:buNone/>
            </a:pPr>
            <a:r>
              <a:rPr lang="en-US" sz="2200" dirty="0"/>
              <a:t>The present value of this decrease is</a:t>
            </a:r>
          </a:p>
        </p:txBody>
      </p:sp>
      <p:graphicFrame>
        <p:nvGraphicFramePr>
          <p:cNvPr id="27" name="Object 26" descr="An expression shows solution of HomeNet’s N P V in marketing and support costs. &#10;Long description is available in notes, Press F6.">
            <a:extLst>
              <a:ext uri="{FF2B5EF4-FFF2-40B4-BE49-F238E27FC236}">
                <a16:creationId xmlns:a16="http://schemas.microsoft.com/office/drawing/2014/main" id="{8CBC85C0-9E54-38F8-81D8-EB7D11BEACD8}"/>
              </a:ext>
            </a:extLst>
          </p:cNvPr>
          <p:cNvGraphicFramePr>
            <a:graphicFrameLocks noChangeAspect="1"/>
          </p:cNvGraphicFramePr>
          <p:nvPr>
            <p:extLst>
              <p:ext uri="{D42A27DB-BD31-4B8C-83A1-F6EECF244321}">
                <p14:modId xmlns:p14="http://schemas.microsoft.com/office/powerpoint/2010/main" val="230260633"/>
              </p:ext>
            </p:extLst>
          </p:nvPr>
        </p:nvGraphicFramePr>
        <p:xfrm>
          <a:off x="1838500" y="4918508"/>
          <a:ext cx="5493989" cy="618258"/>
        </p:xfrm>
        <a:graphic>
          <a:graphicData uri="http://schemas.openxmlformats.org/presentationml/2006/ole">
            <mc:AlternateContent xmlns:mc="http://schemas.openxmlformats.org/markup-compatibility/2006">
              <mc:Choice xmlns:v="urn:schemas-microsoft-com:vml" Requires="v">
                <p:oleObj name="Equation" r:id="rId5" imgW="5524200" imgH="622080" progId="Equation.DSMT4">
                  <p:embed/>
                </p:oleObj>
              </mc:Choice>
              <mc:Fallback>
                <p:oleObj name="Equation" r:id="rId5" imgW="5524200" imgH="622080" progId="Equation.DSMT4">
                  <p:embed/>
                  <p:pic>
                    <p:nvPicPr>
                      <p:cNvPr id="9" name="Object 8" descr="P V = start fraction negative 0.8 over 1.12 end fraction + start fraction negative 0.8 over 1.12 squared end fraction + start fraction negative 0.8 over 1.12 cubed end fraction + start fraction negative 0.8 over 1.12 to the power 4 end fraction = negative $2.4 million."/>
                      <p:cNvPicPr>
                        <a:picLocks noChangeAspect="1" noChangeArrowheads="1"/>
                      </p:cNvPicPr>
                      <p:nvPr/>
                    </p:nvPicPr>
                    <p:blipFill>
                      <a:blip r:embed="rId6"/>
                      <a:srcRect/>
                      <a:stretch>
                        <a:fillRect/>
                      </a:stretch>
                    </p:blipFill>
                    <p:spPr bwMode="auto">
                      <a:xfrm>
                        <a:off x="1838500" y="4918508"/>
                        <a:ext cx="5493989" cy="6182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Content Placeholder 6">
            <a:extLst>
              <a:ext uri="{FF2B5EF4-FFF2-40B4-BE49-F238E27FC236}">
                <a16:creationId xmlns:a16="http://schemas.microsoft.com/office/drawing/2014/main" id="{08C3A91A-079C-20AC-07FB-018BA09FEBE5}"/>
              </a:ext>
            </a:extLst>
          </p:cNvPr>
          <p:cNvSpPr>
            <a:spLocks noGrp="1"/>
          </p:cNvSpPr>
          <p:nvPr>
            <p:ph sz="quarter" idx="16"/>
          </p:nvPr>
        </p:nvSpPr>
        <p:spPr>
          <a:xfrm>
            <a:off x="445855" y="5801866"/>
            <a:ext cx="3720704" cy="374906"/>
          </a:xfrm>
        </p:spPr>
        <p:txBody>
          <a:bodyPr wrap="square" lIns="0" tIns="18000" rIns="0" bIns="18000" anchor="ctr">
            <a:spAutoFit/>
          </a:bodyPr>
          <a:lstStyle/>
          <a:p>
            <a:pPr marL="0" indent="0">
              <a:spcBef>
                <a:spcPts val="600"/>
              </a:spcBef>
              <a:buNone/>
            </a:pPr>
            <a:r>
              <a:rPr lang="en-US" sz="2200" dirty="0"/>
              <a:t>Home Net’s </a:t>
            </a:r>
            <a:r>
              <a:rPr lang="en-US" sz="2200" spc="-300" dirty="0"/>
              <a:t>N P </a:t>
            </a:r>
            <a:r>
              <a:rPr lang="en-US" sz="2200" dirty="0"/>
              <a:t>V would fall to</a:t>
            </a:r>
          </a:p>
        </p:txBody>
      </p:sp>
      <p:graphicFrame>
        <p:nvGraphicFramePr>
          <p:cNvPr id="28" name="Object 27" descr="7.6 million dollars minus 2.4 million dollars equals 5.2 million dollars.">
            <a:extLst>
              <a:ext uri="{FF2B5EF4-FFF2-40B4-BE49-F238E27FC236}">
                <a16:creationId xmlns:a16="http://schemas.microsoft.com/office/drawing/2014/main" id="{5F56A8A7-BA8C-5479-8E8F-73F408F34E3D}"/>
              </a:ext>
            </a:extLst>
          </p:cNvPr>
          <p:cNvGraphicFramePr>
            <a:graphicFrameLocks noChangeAspect="1"/>
          </p:cNvGraphicFramePr>
          <p:nvPr>
            <p:extLst>
              <p:ext uri="{D42A27DB-BD31-4B8C-83A1-F6EECF244321}">
                <p14:modId xmlns:p14="http://schemas.microsoft.com/office/powerpoint/2010/main" val="247900082"/>
              </p:ext>
            </p:extLst>
          </p:nvPr>
        </p:nvGraphicFramePr>
        <p:xfrm>
          <a:off x="4266028" y="5871248"/>
          <a:ext cx="4412153" cy="275300"/>
        </p:xfrm>
        <a:graphic>
          <a:graphicData uri="http://schemas.openxmlformats.org/presentationml/2006/ole">
            <mc:AlternateContent xmlns:mc="http://schemas.openxmlformats.org/markup-compatibility/2006">
              <mc:Choice xmlns:v="urn:schemas-microsoft-com:vml" Requires="v">
                <p:oleObj name="Equation" r:id="rId7" imgW="4483080" imgH="279360" progId="Equation.DSMT4">
                  <p:embed/>
                </p:oleObj>
              </mc:Choice>
              <mc:Fallback>
                <p:oleObj name="Equation" r:id="rId7" imgW="4483080" imgH="279360" progId="Equation.DSMT4">
                  <p:embed/>
                  <p:pic>
                    <p:nvPicPr>
                      <p:cNvPr id="10" name="Object 9" descr="$ 7.6 million minus $ 2.4 million = $ 5.2 million."/>
                      <p:cNvPicPr>
                        <a:picLocks noChangeAspect="1" noChangeArrowheads="1"/>
                      </p:cNvPicPr>
                      <p:nvPr/>
                    </p:nvPicPr>
                    <p:blipFill>
                      <a:blip r:embed="rId8"/>
                      <a:srcRect/>
                      <a:stretch>
                        <a:fillRect/>
                      </a:stretch>
                    </p:blipFill>
                    <p:spPr bwMode="auto">
                      <a:xfrm>
                        <a:off x="4266028" y="5871248"/>
                        <a:ext cx="4412153" cy="27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ZoneTexte 8">
            <a:extLst>
              <a:ext uri="{FF2B5EF4-FFF2-40B4-BE49-F238E27FC236}">
                <a16:creationId xmlns:a16="http://schemas.microsoft.com/office/drawing/2014/main" id="{255A1D75-26FA-D647-D649-C6AE463E032A}"/>
              </a:ext>
            </a:extLst>
          </p:cNvPr>
          <p:cNvSpPr txBox="1"/>
          <p:nvPr/>
        </p:nvSpPr>
        <p:spPr>
          <a:xfrm>
            <a:off x="4270051" y="3839417"/>
            <a:ext cx="4572000" cy="400110"/>
          </a:xfrm>
          <a:prstGeom prst="rect">
            <a:avLst/>
          </a:prstGeom>
          <a:noFill/>
        </p:spPr>
        <p:txBody>
          <a:bodyPr wrap="square">
            <a:spAutoFit/>
          </a:bodyPr>
          <a:lstStyle/>
          <a:p>
            <a:r>
              <a:rPr lang="en-US" sz="2000" dirty="0"/>
              <a:t>per year. </a:t>
            </a:r>
            <a:endParaRPr lang="fr-FR" sz="2000" dirty="0"/>
          </a:p>
        </p:txBody>
      </p:sp>
    </p:spTree>
    <p:extLst>
      <p:ext uri="{BB962C8B-B14F-4D97-AF65-F5344CB8AC3E}">
        <p14:creationId xmlns:p14="http://schemas.microsoft.com/office/powerpoint/2010/main" val="396094624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8867"/>
            <a:ext cx="8266346" cy="590349"/>
          </a:xfrm>
        </p:spPr>
        <p:txBody>
          <a:bodyPr/>
          <a:lstStyle/>
          <a:p>
            <a:r>
              <a:rPr lang="en-US" dirty="0"/>
              <a:t>Scenario Analysis </a:t>
            </a:r>
            <a:r>
              <a:rPr lang="en-US" sz="2800" dirty="0"/>
              <a:t>(1 of 2)</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45854" y="1353129"/>
            <a:ext cx="8266346" cy="775015"/>
          </a:xfrm>
        </p:spPr>
        <p:txBody>
          <a:bodyPr wrap="square" lIns="0" tIns="18000" rIns="0" bIns="18000" anchor="ctr">
            <a:spAutoFit/>
          </a:bodyPr>
          <a:lstStyle/>
          <a:p>
            <a:pPr marL="342900" indent="-342900">
              <a:spcBef>
                <a:spcPts val="600"/>
              </a:spcBef>
            </a:pPr>
            <a:r>
              <a:rPr lang="en-US" sz="2400" dirty="0"/>
              <a:t>Scenario Analysis considers the effect on the </a:t>
            </a:r>
            <a:r>
              <a:rPr lang="en-US" sz="2400" spc="-300" dirty="0"/>
              <a:t>N P </a:t>
            </a:r>
            <a:r>
              <a:rPr lang="en-US" sz="2400" dirty="0"/>
              <a:t>V of simultaneously changing multiple assumptions</a:t>
            </a:r>
          </a:p>
        </p:txBody>
      </p:sp>
      <p:sp>
        <p:nvSpPr>
          <p:cNvPr id="4" name="Content Placeholder 3">
            <a:extLst>
              <a:ext uri="{FF2B5EF4-FFF2-40B4-BE49-F238E27FC236}">
                <a16:creationId xmlns:a16="http://schemas.microsoft.com/office/drawing/2014/main" id="{0DD52A53-AA06-30A3-80A8-F6004494B0FE}"/>
              </a:ext>
            </a:extLst>
          </p:cNvPr>
          <p:cNvSpPr>
            <a:spLocks noGrp="1"/>
          </p:cNvSpPr>
          <p:nvPr>
            <p:ph sz="quarter" idx="13"/>
          </p:nvPr>
        </p:nvSpPr>
        <p:spPr>
          <a:xfrm>
            <a:off x="596718" y="2697747"/>
            <a:ext cx="8266346" cy="313350"/>
          </a:xfrm>
        </p:spPr>
        <p:txBody>
          <a:bodyPr wrap="square" lIns="0" tIns="18000" rIns="0" bIns="18000" anchor="ctr">
            <a:spAutoFit/>
          </a:bodyPr>
          <a:lstStyle/>
          <a:p>
            <a:pPr marL="0" indent="0">
              <a:buNone/>
            </a:pPr>
            <a:r>
              <a:rPr lang="en-US" sz="1800" b="1" dirty="0"/>
              <a:t>Table 16 :</a:t>
            </a:r>
            <a:r>
              <a:rPr lang="en-US" sz="1800" dirty="0"/>
              <a:t> Scenario Analysis of Alternative Pricing Strategies</a:t>
            </a:r>
          </a:p>
        </p:txBody>
      </p:sp>
      <p:graphicFrame>
        <p:nvGraphicFramePr>
          <p:cNvPr id="12" name="Table 8">
            <a:extLst>
              <a:ext uri="{FF2B5EF4-FFF2-40B4-BE49-F238E27FC236}">
                <a16:creationId xmlns:a16="http://schemas.microsoft.com/office/drawing/2014/main" id="{DBA5A4A4-3A3D-E28B-FCCA-6CA971C40FFC}"/>
              </a:ext>
            </a:extLst>
          </p:cNvPr>
          <p:cNvGraphicFramePr>
            <a:graphicFrameLocks/>
          </p:cNvGraphicFramePr>
          <p:nvPr>
            <p:custDataLst>
              <p:tags r:id="rId1"/>
            </p:custDataLst>
            <p:extLst>
              <p:ext uri="{D42A27DB-BD31-4B8C-83A1-F6EECF244321}">
                <p14:modId xmlns:p14="http://schemas.microsoft.com/office/powerpoint/2010/main" val="2857073637"/>
              </p:ext>
            </p:extLst>
          </p:nvPr>
        </p:nvGraphicFramePr>
        <p:xfrm>
          <a:off x="914402" y="3304258"/>
          <a:ext cx="7289317" cy="1740140"/>
        </p:xfrm>
        <a:graphic>
          <a:graphicData uri="http://schemas.openxmlformats.org/drawingml/2006/table">
            <a:tbl>
              <a:tblPr firstRow="1" bandRow="1">
                <a:tableStyleId>{2D5ABB26-0587-4C30-8999-92F81FD0307C}</a:tableStyleId>
              </a:tblPr>
              <a:tblGrid>
                <a:gridCol w="1906436">
                  <a:extLst>
                    <a:ext uri="{9D8B030D-6E8A-4147-A177-3AD203B41FA5}">
                      <a16:colId xmlns:a16="http://schemas.microsoft.com/office/drawing/2014/main" val="1072788600"/>
                    </a:ext>
                  </a:extLst>
                </a:gridCol>
                <a:gridCol w="1483742">
                  <a:extLst>
                    <a:ext uri="{9D8B030D-6E8A-4147-A177-3AD203B41FA5}">
                      <a16:colId xmlns:a16="http://schemas.microsoft.com/office/drawing/2014/main" val="206673024"/>
                    </a:ext>
                  </a:extLst>
                </a:gridCol>
                <a:gridCol w="2165230">
                  <a:extLst>
                    <a:ext uri="{9D8B030D-6E8A-4147-A177-3AD203B41FA5}">
                      <a16:colId xmlns:a16="http://schemas.microsoft.com/office/drawing/2014/main" val="1622304731"/>
                    </a:ext>
                  </a:extLst>
                </a:gridCol>
                <a:gridCol w="1733909">
                  <a:extLst>
                    <a:ext uri="{9D8B030D-6E8A-4147-A177-3AD203B41FA5}">
                      <a16:colId xmlns:a16="http://schemas.microsoft.com/office/drawing/2014/main" val="1453895703"/>
                    </a:ext>
                  </a:extLst>
                </a:gridCol>
              </a:tblGrid>
              <a:tr h="0">
                <a:tc>
                  <a:txBody>
                    <a:bodyPr/>
                    <a:lstStyle/>
                    <a:p>
                      <a:r>
                        <a:rPr lang="en-US" sz="1800" b="1" noProof="0">
                          <a:solidFill>
                            <a:schemeClr val="bg1"/>
                          </a:solidFill>
                          <a:latin typeface="Arial" panose="020B0604020202020204" pitchFamily="34" charset="0"/>
                          <a:cs typeface="Arial" panose="020B0604020202020204" pitchFamily="34" charset="0"/>
                        </a:rPr>
                        <a:t>Strategy</a:t>
                      </a:r>
                    </a:p>
                  </a:txBody>
                  <a:tcPr anchor="b">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noProof="0">
                          <a:solidFill>
                            <a:schemeClr val="bg1"/>
                          </a:solidFill>
                          <a:latin typeface="Arial" panose="020B0604020202020204" pitchFamily="34" charset="0"/>
                          <a:cs typeface="Arial" panose="020B0604020202020204" pitchFamily="34" charset="0"/>
                        </a:rPr>
                        <a:t>Sale Price</a:t>
                      </a:r>
                    </a:p>
                    <a:p>
                      <a:pPr marL="0" marR="0" indent="0" algn="ctr" defTabSz="914400" rtl="0" eaLnBrk="1" fontAlgn="auto" latinLnBrk="0" hangingPunct="1">
                        <a:lnSpc>
                          <a:spcPct val="100000"/>
                        </a:lnSpc>
                        <a:spcBef>
                          <a:spcPts val="0"/>
                        </a:spcBef>
                        <a:spcAft>
                          <a:spcPts val="0"/>
                        </a:spcAft>
                        <a:buClrTx/>
                        <a:buSzTx/>
                        <a:buFontTx/>
                        <a:buNone/>
                        <a:tabLst/>
                        <a:defRPr/>
                      </a:pPr>
                      <a:r>
                        <a:rPr lang="en-US" sz="1800" b="1" noProof="0">
                          <a:solidFill>
                            <a:schemeClr val="bg1"/>
                          </a:solidFill>
                          <a:latin typeface="Arial" panose="020B0604020202020204" pitchFamily="34" charset="0"/>
                          <a:cs typeface="Arial" panose="020B0604020202020204" pitchFamily="34" charset="0"/>
                        </a:rPr>
                        <a:t>($/unit)</a:t>
                      </a:r>
                    </a:p>
                  </a:txBody>
                  <a:tcP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noProof="0">
                          <a:solidFill>
                            <a:schemeClr val="bg1"/>
                          </a:solidFill>
                          <a:latin typeface="Arial" panose="020B0604020202020204" pitchFamily="34" charset="0"/>
                          <a:cs typeface="Arial" panose="020B0604020202020204" pitchFamily="34" charset="0"/>
                        </a:rPr>
                        <a:t>Expected Units Sold(thousands)</a:t>
                      </a:r>
                    </a:p>
                  </a:txBody>
                  <a:tcP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noProof="0">
                          <a:solidFill>
                            <a:schemeClr val="bg1"/>
                          </a:solidFill>
                          <a:latin typeface="Arial" panose="020B0604020202020204" pitchFamily="34" charset="0"/>
                          <a:cs typeface="Arial" panose="020B0604020202020204" pitchFamily="34" charset="0"/>
                        </a:rPr>
                        <a:t>NPV</a:t>
                      </a:r>
                    </a:p>
                    <a:p>
                      <a:pPr marL="0" marR="0" indent="0" algn="ctr" defTabSz="914400" rtl="0" eaLnBrk="1" fontAlgn="auto" latinLnBrk="0" hangingPunct="1">
                        <a:lnSpc>
                          <a:spcPct val="100000"/>
                        </a:lnSpc>
                        <a:spcBef>
                          <a:spcPts val="0"/>
                        </a:spcBef>
                        <a:spcAft>
                          <a:spcPts val="0"/>
                        </a:spcAft>
                        <a:buClrTx/>
                        <a:buSzTx/>
                        <a:buFontTx/>
                        <a:buNone/>
                        <a:tabLst/>
                        <a:defRPr/>
                      </a:pPr>
                      <a:r>
                        <a:rPr lang="en-US" sz="1800" b="1" noProof="0">
                          <a:solidFill>
                            <a:schemeClr val="bg1"/>
                          </a:solidFill>
                          <a:latin typeface="Arial" panose="020B0604020202020204" pitchFamily="34" charset="0"/>
                          <a:cs typeface="Arial" panose="020B0604020202020204" pitchFamily="34" charset="0"/>
                        </a:rPr>
                        <a:t>($thousands)</a:t>
                      </a:r>
                    </a:p>
                  </a:txBody>
                  <a:tcP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490851856"/>
                  </a:ext>
                </a:extLst>
              </a:tr>
              <a:tr h="250740">
                <a:tc>
                  <a:txBody>
                    <a:bodyPr/>
                    <a:lstStyle/>
                    <a:p>
                      <a:r>
                        <a:rPr lang="en-US" sz="1800" b="0" noProof="0">
                          <a:latin typeface="Arial" panose="020B0604020202020204" pitchFamily="34" charset="0"/>
                          <a:cs typeface="Arial" panose="020B0604020202020204" pitchFamily="34" charset="0"/>
                        </a:rPr>
                        <a:t>Current strategy</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noProof="0">
                          <a:latin typeface="Arial" panose="020B0604020202020204" pitchFamily="34" charset="0"/>
                          <a:cs typeface="Arial" panose="020B0604020202020204" pitchFamily="34" charset="0"/>
                        </a:rPr>
                        <a:t>260</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noProof="0">
                          <a:latin typeface="Arial" panose="020B0604020202020204" pitchFamily="34" charset="0"/>
                          <a:cs typeface="Arial" panose="020B0604020202020204" pitchFamily="34" charset="0"/>
                        </a:rPr>
                        <a:t>100</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noProof="0">
                          <a:latin typeface="Arial" panose="020B0604020202020204" pitchFamily="34" charset="0"/>
                          <a:cs typeface="Arial" panose="020B0604020202020204" pitchFamily="34" charset="0"/>
                        </a:rPr>
                        <a:t>$7627</a:t>
                      </a: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661540150"/>
                  </a:ext>
                </a:extLst>
              </a:tr>
              <a:tr h="367150">
                <a:tc>
                  <a:txBody>
                    <a:bodyPr/>
                    <a:lstStyle/>
                    <a:p>
                      <a:r>
                        <a:rPr lang="en-US" sz="1800" b="0" noProof="0">
                          <a:latin typeface="Arial" panose="020B0604020202020204" pitchFamily="34" charset="0"/>
                          <a:cs typeface="Arial" panose="020B0604020202020204" pitchFamily="34" charset="0"/>
                        </a:rPr>
                        <a:t>Price reduction</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noProof="0">
                          <a:latin typeface="Arial" panose="020B0604020202020204" pitchFamily="34" charset="0"/>
                          <a:cs typeface="Arial" panose="020B0604020202020204" pitchFamily="34" charset="0"/>
                        </a:rPr>
                        <a:t>245</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noProof="0">
                          <a:latin typeface="Arial" panose="020B0604020202020204" pitchFamily="34" charset="0"/>
                          <a:cs typeface="Arial" panose="020B0604020202020204" pitchFamily="34" charset="0"/>
                        </a:rPr>
                        <a:t>110</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noProof="0">
                          <a:latin typeface="Arial" panose="020B0604020202020204" pitchFamily="34" charset="0"/>
                          <a:cs typeface="Arial" panose="020B0604020202020204" pitchFamily="34" charset="0"/>
                        </a:rPr>
                        <a:t>$7032</a:t>
                      </a: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029354084"/>
                  </a:ext>
                </a:extLst>
              </a:tr>
              <a:tr h="367150">
                <a:tc>
                  <a:txBody>
                    <a:bodyPr/>
                    <a:lstStyle/>
                    <a:p>
                      <a:r>
                        <a:rPr lang="en-US" sz="1800" b="0" noProof="0" dirty="0">
                          <a:latin typeface="Arial" panose="020B0604020202020204" pitchFamily="34" charset="0"/>
                          <a:cs typeface="Arial" panose="020B0604020202020204" pitchFamily="34" charset="0"/>
                        </a:rPr>
                        <a:t>Price increase</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b="0" noProof="0" dirty="0">
                          <a:latin typeface="Arial" panose="020B0604020202020204" pitchFamily="34" charset="0"/>
                          <a:cs typeface="Arial" panose="020B0604020202020204" pitchFamily="34" charset="0"/>
                        </a:rPr>
                        <a:t>275</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800" b="0" noProof="0">
                          <a:latin typeface="Arial" panose="020B0604020202020204" pitchFamily="34" charset="0"/>
                          <a:cs typeface="Arial" panose="020B0604020202020204" pitchFamily="34" charset="0"/>
                        </a:rPr>
                        <a:t>90</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noProof="0" dirty="0">
                          <a:latin typeface="Arial" panose="020B0604020202020204" pitchFamily="34" charset="0"/>
                          <a:cs typeface="Arial" panose="020B0604020202020204" pitchFamily="34" charset="0"/>
                        </a:rPr>
                        <a:t>$7509</a:t>
                      </a: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4085743459"/>
                  </a:ext>
                </a:extLst>
              </a:tr>
            </a:tbl>
          </a:graphicData>
        </a:graphic>
      </p:graphicFrame>
    </p:spTree>
    <p:extLst>
      <p:ext uri="{BB962C8B-B14F-4D97-AF65-F5344CB8AC3E}">
        <p14:creationId xmlns:p14="http://schemas.microsoft.com/office/powerpoint/2010/main" val="6896135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8867"/>
            <a:ext cx="8266346" cy="590349"/>
          </a:xfrm>
        </p:spPr>
        <p:txBody>
          <a:bodyPr/>
          <a:lstStyle/>
          <a:p>
            <a:r>
              <a:rPr lang="en-US" dirty="0"/>
              <a:t>Scenario Analysis </a:t>
            </a:r>
            <a:r>
              <a:rPr lang="en-US" sz="2800" dirty="0"/>
              <a:t>(2 of 2)</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45854" y="1574144"/>
            <a:ext cx="8266346" cy="2698619"/>
          </a:xfrm>
        </p:spPr>
        <p:txBody>
          <a:bodyPr wrap="square" lIns="0" tIns="18000" rIns="0" bIns="18000" anchor="ctr">
            <a:spAutoFit/>
          </a:bodyPr>
          <a:lstStyle/>
          <a:p>
            <a:pPr marL="342900" indent="-342900">
              <a:spcBef>
                <a:spcPts val="600"/>
              </a:spcBef>
            </a:pPr>
            <a:r>
              <a:rPr lang="en-US" sz="2400" dirty="0"/>
              <a:t>When there are many such cases, and managers have estimates of the likelihood of different outcomes, we can compute an expected </a:t>
            </a:r>
            <a:r>
              <a:rPr lang="en-US" sz="2400" spc="-300" dirty="0"/>
              <a:t>N P </a:t>
            </a:r>
            <a:r>
              <a:rPr lang="en-US" sz="2400" dirty="0"/>
              <a:t>V by weighting the </a:t>
            </a:r>
            <a:r>
              <a:rPr lang="en-US" sz="2400" spc="-300" dirty="0"/>
              <a:t>N P </a:t>
            </a:r>
            <a:r>
              <a:rPr lang="en-US" sz="2400" dirty="0"/>
              <a:t>V for each scenario by its probability</a:t>
            </a:r>
          </a:p>
          <a:p>
            <a:pPr marL="342900" indent="-342900">
              <a:spcBef>
                <a:spcPts val="600"/>
              </a:spcBef>
            </a:pPr>
            <a:r>
              <a:rPr lang="en-US" sz="2400" dirty="0"/>
              <a:t>This expected </a:t>
            </a:r>
            <a:r>
              <a:rPr lang="en-US" sz="2400" spc="-300" dirty="0"/>
              <a:t>N P </a:t>
            </a:r>
            <a:r>
              <a:rPr lang="en-US" sz="2400" dirty="0"/>
              <a:t>V summarizes the expected value created by the decision after taking into account the key uncertainties</a:t>
            </a:r>
          </a:p>
        </p:txBody>
      </p:sp>
    </p:spTree>
    <p:extLst>
      <p:ext uri="{BB962C8B-B14F-4D97-AF65-F5344CB8AC3E}">
        <p14:creationId xmlns:p14="http://schemas.microsoft.com/office/powerpoint/2010/main" val="383029423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500921"/>
            <a:ext cx="8266346" cy="898126"/>
          </a:xfrm>
        </p:spPr>
        <p:txBody>
          <a:bodyPr/>
          <a:lstStyle/>
          <a:p>
            <a:r>
              <a:rPr lang="en-US" sz="2800" dirty="0"/>
              <a:t>Figure 2 : Price and Volume Combinations for </a:t>
            </a:r>
            <a:r>
              <a:rPr lang="en-US" sz="2800" dirty="0" err="1"/>
              <a:t>HomeNet</a:t>
            </a:r>
            <a:r>
              <a:rPr lang="en-US" sz="2800" dirty="0"/>
              <a:t> with Equivalent </a:t>
            </a:r>
            <a:r>
              <a:rPr lang="en-US" sz="2800" spc="-300" dirty="0"/>
              <a:t>N P </a:t>
            </a:r>
            <a:r>
              <a:rPr lang="en-US" sz="2800" dirty="0"/>
              <a:t>V</a:t>
            </a:r>
          </a:p>
        </p:txBody>
      </p:sp>
      <p:pic>
        <p:nvPicPr>
          <p:cNvPr id="5" name="Picture 4" descr="A graph shows the price per unit and annual volume combinations that lead to an NPV of 7.6 million dollars.&#10;Long description is available in notes, Press F6.">
            <a:extLst>
              <a:ext uri="{FF2B5EF4-FFF2-40B4-BE49-F238E27FC236}">
                <a16:creationId xmlns:a16="http://schemas.microsoft.com/office/drawing/2014/main" id="{A1E75B9D-0456-6A86-FF23-02A9A4DBDF47}"/>
              </a:ext>
            </a:extLst>
          </p:cNvPr>
          <p:cNvPicPr>
            <a:picLocks noChangeAspect="1"/>
          </p:cNvPicPr>
          <p:nvPr/>
        </p:nvPicPr>
        <p:blipFill>
          <a:blip r:embed="rId3"/>
          <a:stretch>
            <a:fillRect/>
          </a:stretch>
        </p:blipFill>
        <p:spPr>
          <a:xfrm>
            <a:off x="605343" y="1784642"/>
            <a:ext cx="7741216" cy="4407275"/>
          </a:xfrm>
          <a:prstGeom prst="rect">
            <a:avLst/>
          </a:prstGeom>
        </p:spPr>
      </p:pic>
    </p:spTree>
    <p:extLst>
      <p:ext uri="{BB962C8B-B14F-4D97-AF65-F5344CB8AC3E}">
        <p14:creationId xmlns:p14="http://schemas.microsoft.com/office/powerpoint/2010/main" val="339020866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8867"/>
            <a:ext cx="8266346" cy="590349"/>
          </a:xfrm>
        </p:spPr>
        <p:txBody>
          <a:bodyPr/>
          <a:lstStyle/>
          <a:p>
            <a:r>
              <a:rPr lang="en-US" dirty="0"/>
              <a:t>Chapter Quiz </a:t>
            </a:r>
            <a:r>
              <a:rPr lang="en-US" sz="2800" dirty="0"/>
              <a:t>(1 of 2)</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45854" y="1020790"/>
            <a:ext cx="8266346" cy="2406231"/>
          </a:xfrm>
        </p:spPr>
        <p:txBody>
          <a:bodyPr wrap="square" lIns="0" tIns="18000" rIns="0" bIns="18000" anchor="ctr">
            <a:spAutoFit/>
          </a:bodyPr>
          <a:lstStyle/>
          <a:p>
            <a:pPr marL="457200" indent="-457200">
              <a:spcBef>
                <a:spcPts val="600"/>
              </a:spcBef>
              <a:buFont typeface="+mj-lt"/>
              <a:buAutoNum type="arabicPeriod"/>
            </a:pPr>
            <a:r>
              <a:rPr lang="en-US" sz="2400" dirty="0"/>
              <a:t>Should you include sunk costs in the cash flow forecasts of a project? Why or why not?</a:t>
            </a:r>
          </a:p>
          <a:p>
            <a:pPr marL="457200" indent="-457200">
              <a:spcBef>
                <a:spcPts val="600"/>
              </a:spcBef>
              <a:buFont typeface="+mj-lt"/>
              <a:buAutoNum type="arabicPeriod"/>
            </a:pPr>
            <a:r>
              <a:rPr lang="en-US" sz="2400" dirty="0"/>
              <a:t>Should you include opportunity costs in the cash flow forecasts of a project? Why or why not?</a:t>
            </a:r>
          </a:p>
          <a:p>
            <a:pPr marL="457200" indent="-457200">
              <a:spcBef>
                <a:spcPts val="600"/>
              </a:spcBef>
              <a:buFont typeface="+mj-lt"/>
              <a:buAutoNum type="arabicPeriod"/>
            </a:pPr>
            <a:r>
              <a:rPr lang="en-US" sz="2400" dirty="0"/>
              <a:t>What adjustments must be made to a project’s unlevered net income to determine its free cash flows?</a:t>
            </a:r>
          </a:p>
        </p:txBody>
      </p:sp>
    </p:spTree>
    <p:extLst>
      <p:ext uri="{BB962C8B-B14F-4D97-AF65-F5344CB8AC3E}">
        <p14:creationId xmlns:p14="http://schemas.microsoft.com/office/powerpoint/2010/main" val="167290854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8867"/>
            <a:ext cx="8266346" cy="590349"/>
          </a:xfrm>
        </p:spPr>
        <p:txBody>
          <a:bodyPr/>
          <a:lstStyle/>
          <a:p>
            <a:r>
              <a:rPr lang="en-US" dirty="0"/>
              <a:t>Chapter Quiz </a:t>
            </a:r>
            <a:r>
              <a:rPr lang="en-US" sz="2800" dirty="0"/>
              <a:t>(2 of 2)</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45854" y="1018428"/>
            <a:ext cx="8266346" cy="3221839"/>
          </a:xfrm>
        </p:spPr>
        <p:txBody>
          <a:bodyPr wrap="square" lIns="0" tIns="18000" rIns="0" bIns="18000" anchor="ctr">
            <a:spAutoFit/>
          </a:bodyPr>
          <a:lstStyle/>
          <a:p>
            <a:pPr marL="457200" indent="-457200">
              <a:spcBef>
                <a:spcPts val="600"/>
              </a:spcBef>
              <a:buFont typeface="+mj-lt"/>
              <a:buAutoNum type="arabicPeriod" startAt="4"/>
            </a:pPr>
            <a:r>
              <a:rPr lang="en-US" sz="2400" dirty="0"/>
              <a:t>How do you choose between mutually exclusive capital budgeting decisions?</a:t>
            </a:r>
          </a:p>
          <a:p>
            <a:pPr marL="457200" indent="-457200">
              <a:spcBef>
                <a:spcPts val="600"/>
              </a:spcBef>
              <a:buFont typeface="+mj-lt"/>
              <a:buAutoNum type="arabicPeriod" startAt="4"/>
            </a:pPr>
            <a:r>
              <a:rPr lang="en-US" sz="2400" dirty="0"/>
              <a:t>Why is it advantageous for a firm to use the most accelerated depreciation schedule possible for tax purposes?</a:t>
            </a:r>
          </a:p>
          <a:p>
            <a:pPr marL="457200" indent="-457200">
              <a:spcBef>
                <a:spcPts val="600"/>
              </a:spcBef>
              <a:buFont typeface="+mj-lt"/>
              <a:buAutoNum type="arabicPeriod" startAt="4"/>
            </a:pPr>
            <a:r>
              <a:rPr lang="en-US" sz="2400" dirty="0"/>
              <a:t>What is the terminal value of a project?</a:t>
            </a:r>
          </a:p>
          <a:p>
            <a:pPr marL="457200" indent="-457200">
              <a:spcBef>
                <a:spcPts val="600"/>
              </a:spcBef>
              <a:buFont typeface="+mj-lt"/>
              <a:buAutoNum type="arabicPeriod" startAt="4"/>
            </a:pPr>
            <a:r>
              <a:rPr lang="en-US" sz="2400" dirty="0"/>
              <a:t>How does scenario analysis differ from sensitivity analysis?</a:t>
            </a:r>
          </a:p>
        </p:txBody>
      </p:sp>
    </p:spTree>
    <p:extLst>
      <p:ext uri="{BB962C8B-B14F-4D97-AF65-F5344CB8AC3E}">
        <p14:creationId xmlns:p14="http://schemas.microsoft.com/office/powerpoint/2010/main" val="295262914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6A174-5354-E2E3-ED88-C78DA60541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C2E30B-3584-7524-AF24-2BA2B12E44FF}"/>
              </a:ext>
            </a:extLst>
          </p:cNvPr>
          <p:cNvSpPr>
            <a:spLocks noGrp="1"/>
          </p:cNvSpPr>
          <p:nvPr>
            <p:ph type="title"/>
          </p:nvPr>
        </p:nvSpPr>
        <p:spPr>
          <a:xfrm>
            <a:off x="448593" y="386495"/>
            <a:ext cx="8263966" cy="528794"/>
          </a:xfrm>
        </p:spPr>
        <p:txBody>
          <a:bodyPr wrap="square" lIns="0" tIns="18000" rIns="0" bIns="18000" anchor="ctr">
            <a:spAutoFit/>
          </a:bodyPr>
          <a:lstStyle/>
          <a:p>
            <a:r>
              <a:rPr lang="en-US" sz="3200" dirty="0"/>
              <a:t>Capital Budgeting</a:t>
            </a:r>
          </a:p>
        </p:txBody>
      </p:sp>
      <p:sp>
        <p:nvSpPr>
          <p:cNvPr id="3" name="Content Placeholder 2">
            <a:extLst>
              <a:ext uri="{FF2B5EF4-FFF2-40B4-BE49-F238E27FC236}">
                <a16:creationId xmlns:a16="http://schemas.microsoft.com/office/drawing/2014/main" id="{C6B4B3DE-38BC-1C2A-1A36-01DAFAB32ECB}"/>
              </a:ext>
            </a:extLst>
          </p:cNvPr>
          <p:cNvSpPr>
            <a:spLocks noGrp="1"/>
          </p:cNvSpPr>
          <p:nvPr>
            <p:ph type="body" idx="1"/>
          </p:nvPr>
        </p:nvSpPr>
        <p:spPr>
          <a:xfrm>
            <a:off x="448952" y="1946257"/>
            <a:ext cx="8263607" cy="4583750"/>
          </a:xfrm>
        </p:spPr>
        <p:txBody>
          <a:bodyPr wrap="square" lIns="0" tIns="18000" rIns="0" bIns="18000" anchor="ctr">
            <a:spAutoFit/>
          </a:bodyPr>
          <a:lstStyle/>
          <a:p>
            <a:pPr>
              <a:spcAft>
                <a:spcPts val="300"/>
              </a:spcAft>
            </a:pPr>
            <a:r>
              <a:rPr lang="en-US" sz="2800" dirty="0" err="1">
                <a:solidFill>
                  <a:schemeClr val="tx1"/>
                </a:solidFill>
              </a:rPr>
              <a:t>Msc</a:t>
            </a:r>
            <a:r>
              <a:rPr lang="en-US" sz="2800" dirty="0">
                <a:solidFill>
                  <a:schemeClr val="tx1"/>
                </a:solidFill>
              </a:rPr>
              <a:t> Corporate Financial Management</a:t>
            </a:r>
          </a:p>
          <a:p>
            <a:pPr>
              <a:spcAft>
                <a:spcPts val="300"/>
              </a:spcAft>
            </a:pPr>
            <a:r>
              <a:rPr lang="en-US" sz="2800" dirty="0">
                <a:solidFill>
                  <a:schemeClr val="tx1"/>
                </a:solidFill>
              </a:rPr>
              <a:t>Lille Campus - 18 hours</a:t>
            </a:r>
          </a:p>
          <a:p>
            <a:pPr>
              <a:spcAft>
                <a:spcPts val="300"/>
              </a:spcAft>
            </a:pPr>
            <a:r>
              <a:rPr lang="en-US" sz="2800" dirty="0">
                <a:solidFill>
                  <a:schemeClr val="tx1"/>
                </a:solidFill>
              </a:rPr>
              <a:t>Skema Business School </a:t>
            </a:r>
          </a:p>
          <a:p>
            <a:pPr>
              <a:spcAft>
                <a:spcPts val="300"/>
              </a:spcAft>
            </a:pPr>
            <a:endParaRPr lang="fr-FR" dirty="0">
              <a:solidFill>
                <a:schemeClr val="tx1"/>
              </a:solidFill>
            </a:endParaRPr>
          </a:p>
          <a:p>
            <a:pPr>
              <a:spcAft>
                <a:spcPts val="300"/>
              </a:spcAft>
            </a:pPr>
            <a:r>
              <a:rPr lang="fr-FR" sz="2400" dirty="0">
                <a:solidFill>
                  <a:schemeClr val="tx1"/>
                </a:solidFill>
              </a:rPr>
              <a:t>Appendix</a:t>
            </a:r>
          </a:p>
          <a:p>
            <a:pPr>
              <a:spcAft>
                <a:spcPts val="300"/>
              </a:spcAft>
            </a:pPr>
            <a:endParaRPr lang="en-US" dirty="0">
              <a:solidFill>
                <a:schemeClr val="tx1"/>
              </a:solidFill>
            </a:endParaRPr>
          </a:p>
          <a:p>
            <a:pPr>
              <a:spcAft>
                <a:spcPts val="300"/>
              </a:spcAft>
            </a:pPr>
            <a:r>
              <a:rPr lang="en-US" dirty="0">
                <a:solidFill>
                  <a:schemeClr val="tx1"/>
                </a:solidFill>
              </a:rPr>
              <a:t>Pr. Sébastien DEREEPER</a:t>
            </a:r>
          </a:p>
          <a:p>
            <a:pPr>
              <a:spcAft>
                <a:spcPts val="300"/>
              </a:spcAft>
            </a:pPr>
            <a:r>
              <a:rPr lang="en-US" dirty="0">
                <a:hlinkClick r:id="rId3">
                  <a:extLst>
                    <a:ext uri="{A12FA001-AC4F-418D-AE19-62706E023703}">
                      <ahyp:hlinkClr xmlns:ahyp="http://schemas.microsoft.com/office/drawing/2018/hyperlinkcolor" val="tx"/>
                    </a:ext>
                  </a:extLst>
                </a:hlinkClick>
              </a:rPr>
              <a:t>Sebastien.Dereeper@skema.edu</a:t>
            </a:r>
            <a:endParaRPr lang="fr-FR" dirty="0"/>
          </a:p>
          <a:p>
            <a:pPr>
              <a:spcAft>
                <a:spcPts val="300"/>
              </a:spcAft>
            </a:pPr>
            <a:endParaRPr lang="fr-FR" dirty="0">
              <a:solidFill>
                <a:schemeClr val="tx2">
                  <a:lumMod val="60000"/>
                  <a:lumOff val="40000"/>
                </a:schemeClr>
              </a:solidFill>
            </a:endParaRPr>
          </a:p>
          <a:p>
            <a:pPr>
              <a:spcAft>
                <a:spcPts val="300"/>
              </a:spcAft>
            </a:pPr>
            <a:r>
              <a:rPr lang="fr-FR" dirty="0">
                <a:solidFill>
                  <a:schemeClr val="tx1"/>
                </a:solidFill>
              </a:rPr>
              <a:t>Course Based on : </a:t>
            </a:r>
          </a:p>
          <a:p>
            <a:pPr>
              <a:spcAft>
                <a:spcPts val="300"/>
              </a:spcAft>
            </a:pPr>
            <a:r>
              <a:rPr lang="fr-FR" dirty="0">
                <a:solidFill>
                  <a:schemeClr val="tx1"/>
                </a:solidFill>
              </a:rPr>
              <a:t>J. Berk &amp; P. De Marzo - </a:t>
            </a:r>
            <a:r>
              <a:rPr lang="fr-FR" dirty="0" err="1">
                <a:solidFill>
                  <a:schemeClr val="tx1"/>
                </a:solidFill>
              </a:rPr>
              <a:t>Corporate</a:t>
            </a:r>
            <a:r>
              <a:rPr lang="fr-FR" dirty="0">
                <a:solidFill>
                  <a:schemeClr val="tx1"/>
                </a:solidFill>
              </a:rPr>
              <a:t> Finance - Pearson, 2024</a:t>
            </a:r>
          </a:p>
          <a:p>
            <a:pPr>
              <a:spcAft>
                <a:spcPts val="300"/>
              </a:spcAft>
            </a:pPr>
            <a:endParaRPr lang="en-US" dirty="0">
              <a:solidFill>
                <a:schemeClr val="tx1"/>
              </a:solidFill>
            </a:endParaRPr>
          </a:p>
        </p:txBody>
      </p:sp>
      <p:pic>
        <p:nvPicPr>
          <p:cNvPr id="14" name="Image 13">
            <a:extLst>
              <a:ext uri="{FF2B5EF4-FFF2-40B4-BE49-F238E27FC236}">
                <a16:creationId xmlns:a16="http://schemas.microsoft.com/office/drawing/2014/main" id="{F7E7743C-1B35-76B8-9918-1ACE0F07CA5E}"/>
              </a:ext>
            </a:extLst>
          </p:cNvPr>
          <p:cNvPicPr>
            <a:picLocks noChangeAspect="1"/>
          </p:cNvPicPr>
          <p:nvPr/>
        </p:nvPicPr>
        <p:blipFill>
          <a:blip r:embed="rId4"/>
          <a:stretch>
            <a:fillRect/>
          </a:stretch>
        </p:blipFill>
        <p:spPr>
          <a:xfrm>
            <a:off x="6543453" y="180830"/>
            <a:ext cx="1815265" cy="1213736"/>
          </a:xfrm>
          <a:prstGeom prst="rect">
            <a:avLst/>
          </a:prstGeom>
        </p:spPr>
      </p:pic>
    </p:spTree>
    <p:extLst>
      <p:ext uri="{BB962C8B-B14F-4D97-AF65-F5344CB8AC3E}">
        <p14:creationId xmlns:p14="http://schemas.microsoft.com/office/powerpoint/2010/main" val="371152950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8867"/>
            <a:ext cx="8266346" cy="590349"/>
          </a:xfrm>
        </p:spPr>
        <p:txBody>
          <a:bodyPr/>
          <a:lstStyle/>
          <a:p>
            <a:r>
              <a:rPr lang="en-US" dirty="0"/>
              <a:t>Table A1 </a:t>
            </a:r>
            <a:r>
              <a:rPr lang="en-US" sz="2800" dirty="0"/>
              <a:t>(1 of 2)</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45854" y="1030637"/>
            <a:ext cx="8266346" cy="1144347"/>
          </a:xfrm>
        </p:spPr>
        <p:txBody>
          <a:bodyPr wrap="square" lIns="0" tIns="18000" rIns="0" bIns="18000" anchor="ctr">
            <a:spAutoFit/>
          </a:bodyPr>
          <a:lstStyle/>
          <a:p>
            <a:pPr marL="0" indent="0">
              <a:spcBef>
                <a:spcPts val="600"/>
              </a:spcBef>
              <a:buNone/>
            </a:pPr>
            <a:r>
              <a:rPr lang="en-US" sz="2400" spc="-300" dirty="0"/>
              <a:t>M A C R </a:t>
            </a:r>
            <a:r>
              <a:rPr lang="en-US" sz="2400" dirty="0"/>
              <a:t>S Depreciation Table Showing the Percentage of the Asset’s Cost That May Be Depreciated Each Year Based on Its Recovery Period</a:t>
            </a:r>
          </a:p>
        </p:txBody>
      </p:sp>
      <p:pic>
        <p:nvPicPr>
          <p:cNvPr id="7" name="Picture 6" descr="A table listing the percent of the asset’s cost in M A C R S depreciation during recovery period.&#10;Long description is available in notes, press F6.">
            <a:extLst>
              <a:ext uri="{FF2B5EF4-FFF2-40B4-BE49-F238E27FC236}">
                <a16:creationId xmlns:a16="http://schemas.microsoft.com/office/drawing/2014/main" id="{468BFC5F-CF83-2C1D-078B-E57930E43A1E}"/>
              </a:ext>
            </a:extLst>
          </p:cNvPr>
          <p:cNvPicPr>
            <a:picLocks noChangeAspect="1"/>
          </p:cNvPicPr>
          <p:nvPr/>
        </p:nvPicPr>
        <p:blipFill>
          <a:blip r:embed="rId3"/>
          <a:stretch>
            <a:fillRect/>
          </a:stretch>
        </p:blipFill>
        <p:spPr>
          <a:xfrm>
            <a:off x="620688" y="2400906"/>
            <a:ext cx="7902625" cy="3626186"/>
          </a:xfrm>
          <a:prstGeom prst="rect">
            <a:avLst/>
          </a:prstGeom>
        </p:spPr>
      </p:pic>
    </p:spTree>
    <p:extLst>
      <p:ext uri="{BB962C8B-B14F-4D97-AF65-F5344CB8AC3E}">
        <p14:creationId xmlns:p14="http://schemas.microsoft.com/office/powerpoint/2010/main" val="217808393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7EA-79E5-6448-FA0F-7CC9DE4C78B2}"/>
              </a:ext>
            </a:extLst>
          </p:cNvPr>
          <p:cNvSpPr>
            <a:spLocks noGrp="1"/>
          </p:cNvSpPr>
          <p:nvPr>
            <p:ph type="title"/>
          </p:nvPr>
        </p:nvSpPr>
        <p:spPr>
          <a:xfrm>
            <a:off x="445854" y="218867"/>
            <a:ext cx="8266346" cy="590349"/>
          </a:xfrm>
        </p:spPr>
        <p:txBody>
          <a:bodyPr/>
          <a:lstStyle/>
          <a:p>
            <a:r>
              <a:rPr lang="en-US" dirty="0"/>
              <a:t>Table A1 </a:t>
            </a:r>
            <a:r>
              <a:rPr lang="en-US" sz="2800" dirty="0"/>
              <a:t>(2 of 2)</a:t>
            </a:r>
          </a:p>
        </p:txBody>
      </p:sp>
      <p:sp>
        <p:nvSpPr>
          <p:cNvPr id="3" name="Content Placeholder 2">
            <a:extLst>
              <a:ext uri="{FF2B5EF4-FFF2-40B4-BE49-F238E27FC236}">
                <a16:creationId xmlns:a16="http://schemas.microsoft.com/office/drawing/2014/main" id="{8A9EED4C-D5F1-CF93-41F6-26D3B619B80F}"/>
              </a:ext>
            </a:extLst>
          </p:cNvPr>
          <p:cNvSpPr>
            <a:spLocks noGrp="1"/>
          </p:cNvSpPr>
          <p:nvPr>
            <p:ph sz="quarter" idx="12"/>
          </p:nvPr>
        </p:nvSpPr>
        <p:spPr>
          <a:xfrm>
            <a:off x="445854" y="1030637"/>
            <a:ext cx="8266346" cy="1144347"/>
          </a:xfrm>
        </p:spPr>
        <p:txBody>
          <a:bodyPr wrap="square" lIns="0" tIns="18000" rIns="0" bIns="18000" anchor="ctr">
            <a:spAutoFit/>
          </a:bodyPr>
          <a:lstStyle/>
          <a:p>
            <a:pPr marL="0" indent="0">
              <a:spcBef>
                <a:spcPts val="600"/>
              </a:spcBef>
              <a:buNone/>
            </a:pPr>
            <a:r>
              <a:rPr lang="en-US" sz="2400" spc="-300" dirty="0"/>
              <a:t>M A C R </a:t>
            </a:r>
            <a:r>
              <a:rPr lang="en-US" sz="2400" dirty="0"/>
              <a:t>S Depreciation Table Showing the Percentage of the Asset’s Cost That May Be Depreciated Each Year Based on Its Recovery Period</a:t>
            </a:r>
          </a:p>
        </p:txBody>
      </p:sp>
      <p:pic>
        <p:nvPicPr>
          <p:cNvPr id="5" name="Picture 4" descr="A table listing the continued part of the percent of the asset’s cost in M A C R S depreciation during recovery period.&#10;Long description is available in notes, press F6.">
            <a:extLst>
              <a:ext uri="{FF2B5EF4-FFF2-40B4-BE49-F238E27FC236}">
                <a16:creationId xmlns:a16="http://schemas.microsoft.com/office/drawing/2014/main" id="{F2E63CBD-AD8C-D0B0-223F-6738A5F12D94}"/>
              </a:ext>
            </a:extLst>
          </p:cNvPr>
          <p:cNvPicPr>
            <a:picLocks noChangeAspect="1"/>
          </p:cNvPicPr>
          <p:nvPr/>
        </p:nvPicPr>
        <p:blipFill>
          <a:blip r:embed="rId3"/>
          <a:stretch>
            <a:fillRect/>
          </a:stretch>
        </p:blipFill>
        <p:spPr>
          <a:xfrm>
            <a:off x="547242" y="2414969"/>
            <a:ext cx="8049517" cy="3460038"/>
          </a:xfrm>
          <a:prstGeom prst="rect">
            <a:avLst/>
          </a:prstGeom>
        </p:spPr>
      </p:pic>
    </p:spTree>
    <p:extLst>
      <p:ext uri="{BB962C8B-B14F-4D97-AF65-F5344CB8AC3E}">
        <p14:creationId xmlns:p14="http://schemas.microsoft.com/office/powerpoint/2010/main" val="395681412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FSPANMODE" val="span"/>
</p:tagLst>
</file>

<file path=ppt/tags/tag2.xml><?xml version="1.0" encoding="utf-8"?>
<p:tagLst xmlns:a="http://schemas.openxmlformats.org/drawingml/2006/main" xmlns:r="http://schemas.openxmlformats.org/officeDocument/2006/relationships" xmlns:p="http://schemas.openxmlformats.org/presentationml/2006/main">
  <p:tag name="AFSPANMODE" val="span"/>
</p:tagLst>
</file>

<file path=ppt/tags/tag3.xml><?xml version="1.0" encoding="utf-8"?>
<p:tagLst xmlns:a="http://schemas.openxmlformats.org/drawingml/2006/main" xmlns:r="http://schemas.openxmlformats.org/officeDocument/2006/relationships" xmlns:p="http://schemas.openxmlformats.org/presentationml/2006/main">
  <p:tag name="AFSPANMODE" val="span"/>
</p:tagLst>
</file>

<file path=ppt/tags/tag4.xml><?xml version="1.0" encoding="utf-8"?>
<p:tagLst xmlns:a="http://schemas.openxmlformats.org/drawingml/2006/main" xmlns:r="http://schemas.openxmlformats.org/officeDocument/2006/relationships" xmlns:p="http://schemas.openxmlformats.org/presentationml/2006/main">
  <p:tag name="AFSPANMODE" val="span"/>
</p:tagLst>
</file>

<file path=ppt/tags/tag5.xml><?xml version="1.0" encoding="utf-8"?>
<p:tagLst xmlns:a="http://schemas.openxmlformats.org/drawingml/2006/main" xmlns:r="http://schemas.openxmlformats.org/officeDocument/2006/relationships" xmlns:p="http://schemas.openxmlformats.org/presentationml/2006/main">
  <p:tag name="AFSPANMODE" val="span"/>
</p:tagLst>
</file>

<file path=ppt/tags/tag6.xml><?xml version="1.0" encoding="utf-8"?>
<p:tagLst xmlns:a="http://schemas.openxmlformats.org/drawingml/2006/main" xmlns:r="http://schemas.openxmlformats.org/officeDocument/2006/relationships" xmlns:p="http://schemas.openxmlformats.org/presentationml/2006/main">
  <p:tag name="AFSPANMODE" val="span"/>
</p:tagLst>
</file>

<file path=ppt/tags/tag7.xml><?xml version="1.0" encoding="utf-8"?>
<p:tagLst xmlns:a="http://schemas.openxmlformats.org/drawingml/2006/main" xmlns:r="http://schemas.openxmlformats.org/officeDocument/2006/relationships" xmlns:p="http://schemas.openxmlformats.org/presentationml/2006/main">
  <p:tag name="AFSPANMODE" val="span"/>
</p:tagLst>
</file>

<file path=ppt/tags/tag8.xml><?xml version="1.0" encoding="utf-8"?>
<p:tagLst xmlns:a="http://schemas.openxmlformats.org/drawingml/2006/main" xmlns:r="http://schemas.openxmlformats.org/officeDocument/2006/relationships" xmlns:p="http://schemas.openxmlformats.org/presentationml/2006/main">
  <p:tag name="AFSPANMODE" val="span"/>
</p:tagLst>
</file>

<file path=ppt/tags/tag9.xml><?xml version="1.0" encoding="utf-8"?>
<p:tagLst xmlns:a="http://schemas.openxmlformats.org/drawingml/2006/main" xmlns:r="http://schemas.openxmlformats.org/officeDocument/2006/relationships" xmlns:p="http://schemas.openxmlformats.org/presentationml/2006/main">
  <p:tag name="AFSPANMODE" val="span"/>
</p:tagLst>
</file>

<file path=ppt/tags/tag10.xml><?xml version="1.0" encoding="utf-8"?>
<p:tagLst xmlns:a="http://schemas.openxmlformats.org/drawingml/2006/main" xmlns:r="http://schemas.openxmlformats.org/officeDocument/2006/relationships" xmlns:p="http://schemas.openxmlformats.org/presentationml/2006/main">
  <p:tag name="AFSPANMODE" val="span"/>
</p:tagLst>
</file>

<file path=ppt/tags/tag11.xml><?xml version="1.0" encoding="utf-8"?>
<p:tagLst xmlns:a="http://schemas.openxmlformats.org/drawingml/2006/main" xmlns:r="http://schemas.openxmlformats.org/officeDocument/2006/relationships" xmlns:p="http://schemas.openxmlformats.org/presentationml/2006/main">
  <p:tag name="AFSPANMODE" val="span"/>
</p:tagLst>
</file>

<file path=ppt/tags/tag12.xml><?xml version="1.0" encoding="utf-8"?>
<p:tagLst xmlns:a="http://schemas.openxmlformats.org/drawingml/2006/main" xmlns:r="http://schemas.openxmlformats.org/officeDocument/2006/relationships" xmlns:p="http://schemas.openxmlformats.org/presentationml/2006/main">
  <p:tag name="AFSPANMODE" val="span"/>
</p:tagLst>
</file>

<file path=ppt/tags/tag13.xml><?xml version="1.0" encoding="utf-8"?>
<p:tagLst xmlns:a="http://schemas.openxmlformats.org/drawingml/2006/main" xmlns:r="http://schemas.openxmlformats.org/officeDocument/2006/relationships" xmlns:p="http://schemas.openxmlformats.org/presentationml/2006/main">
  <p:tag name="AFSPANMODE" val="span"/>
</p:tagLst>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5142</TotalTime>
  <Words>7225</Words>
  <Application>Microsoft Macintosh PowerPoint</Application>
  <PresentationFormat>Affichage à l'écran (4:3)</PresentationFormat>
  <Paragraphs>969</Paragraphs>
  <Slides>71</Slides>
  <Notes>14</Notes>
  <HiddenSlides>0</HiddenSlides>
  <MMClips>0</MMClips>
  <ScaleCrop>false</ScaleCrop>
  <HeadingPairs>
    <vt:vector size="8" baseType="variant">
      <vt:variant>
        <vt:lpstr>Polices utilisées</vt:lpstr>
      </vt:variant>
      <vt:variant>
        <vt:i4>2</vt:i4>
      </vt:variant>
      <vt:variant>
        <vt:lpstr>Thème</vt:lpstr>
      </vt:variant>
      <vt:variant>
        <vt:i4>2</vt:i4>
      </vt:variant>
      <vt:variant>
        <vt:lpstr>Serveurs OLE incorporés</vt:lpstr>
      </vt:variant>
      <vt:variant>
        <vt:i4>1</vt:i4>
      </vt:variant>
      <vt:variant>
        <vt:lpstr>Titres des diapositives</vt:lpstr>
      </vt:variant>
      <vt:variant>
        <vt:i4>71</vt:i4>
      </vt:variant>
    </vt:vector>
  </HeadingPairs>
  <TitlesOfParts>
    <vt:vector size="76" baseType="lpstr">
      <vt:lpstr>Times New Roman</vt:lpstr>
      <vt:lpstr>Arial</vt:lpstr>
      <vt:lpstr>USHE</vt:lpstr>
      <vt:lpstr>USHE_slide options</vt:lpstr>
      <vt:lpstr>Equation</vt:lpstr>
      <vt:lpstr>Capital Budgeting</vt:lpstr>
      <vt:lpstr>Outline</vt:lpstr>
      <vt:lpstr>Learning Objectives (1 of 2)</vt:lpstr>
      <vt:lpstr>Learning Objectives (2 of 2)</vt:lpstr>
      <vt:lpstr>1. Forecasting Earnings</vt:lpstr>
      <vt:lpstr>Revenue and Cost Estimates Homenet Example 1 (1 of 2)</vt:lpstr>
      <vt:lpstr>Revenue and Cost Estimates (2 of 2)</vt:lpstr>
      <vt:lpstr>Incremental Earnings Forecast</vt:lpstr>
      <vt:lpstr>Capital Expenditures and Depreciation</vt:lpstr>
      <vt:lpstr>Interest Expense</vt:lpstr>
      <vt:lpstr>Taxes (1 of 2)</vt:lpstr>
      <vt:lpstr>Taxes (2 of 2)</vt:lpstr>
      <vt:lpstr>Indirect Effects on Incremental Earnings (1 of 4)</vt:lpstr>
      <vt:lpstr>Homenet Example 2 (1 of 2)</vt:lpstr>
      <vt:lpstr>Homenet Example 2 (2 of 2)</vt:lpstr>
      <vt:lpstr>Indirect Effects on Incremental Earnings (2 of 4)</vt:lpstr>
      <vt:lpstr>Indirect Effects on Incremental Earnings (3 of 4)</vt:lpstr>
      <vt:lpstr>Indirect Effects on Incremental Earnings (4 of 4)</vt:lpstr>
      <vt:lpstr>Sunk Costs and Incremental Earnings (1 of 4)</vt:lpstr>
      <vt:lpstr>Sunk Costs and Incremental Earnings (2 of 4)</vt:lpstr>
      <vt:lpstr>Sunk Costs and Incremental Earnings (3 of 4)</vt:lpstr>
      <vt:lpstr>Sunk Costs and Incremental Earnings (4 of 4)</vt:lpstr>
      <vt:lpstr>Real-World Complexities</vt:lpstr>
      <vt:lpstr>Homenet Example 3 (1 of 3)</vt:lpstr>
      <vt:lpstr>Homenet Example 3 (2 of 3)</vt:lpstr>
      <vt:lpstr>Homenet Example 3 (3 of 3)</vt:lpstr>
      <vt:lpstr>2. Determining Free Cash Flow and N P V</vt:lpstr>
      <vt:lpstr>Calculating the Free Cash Flow from Earnings (1 of 4)</vt:lpstr>
      <vt:lpstr>Calculating the Free Cash Flow from Earnings (3 of 4)</vt:lpstr>
      <vt:lpstr>Calculating the Free Cash Flow from Earnings (4 of 4)</vt:lpstr>
      <vt:lpstr>Calculating the Free Cash Flow from Earnings (2 of 4)</vt:lpstr>
      <vt:lpstr>Calculating Free Cash Flow Directly</vt:lpstr>
      <vt:lpstr>Calculating the N P V (1 of 2)</vt:lpstr>
      <vt:lpstr>Calculating the N P V (2 of 2)</vt:lpstr>
      <vt:lpstr>3. Choosing Among Alternatives (1 of 6)</vt:lpstr>
      <vt:lpstr>3. Choosing Among Alternatives (2 of 6)</vt:lpstr>
      <vt:lpstr>3. Choosing Among Alternatives (3 of 6)</vt:lpstr>
      <vt:lpstr>3. Choosing Among Alternatives (4 of 6)</vt:lpstr>
      <vt:lpstr>3. Choosing Among Alternatives (5 of 6)</vt:lpstr>
      <vt:lpstr>3. Choosing Among Alternatives (6 of 6)</vt:lpstr>
      <vt:lpstr>4. Further Adjustments to Free Cash Flow</vt:lpstr>
      <vt:lpstr>Homenet Example 4 (1 of 3)</vt:lpstr>
      <vt:lpstr>Homenet Example 4 (2 of 3)</vt:lpstr>
      <vt:lpstr>Homent Example 4 (3 of 3)</vt:lpstr>
      <vt:lpstr>Further Adjustments to Free Cash Flow (1 of 3)</vt:lpstr>
      <vt:lpstr>Homent Example 5 (1 of 3)</vt:lpstr>
      <vt:lpstr>Homenet Example 5 (2 of 3)</vt:lpstr>
      <vt:lpstr>Homenet Example 5 (3 of 3)</vt:lpstr>
      <vt:lpstr>Further Adjustments to Free Cash Flow (2 of 3)</vt:lpstr>
      <vt:lpstr>Base Hardware Example (1 of 3)</vt:lpstr>
      <vt:lpstr>Base Hardware Example (2 of 3)</vt:lpstr>
      <vt:lpstr>Base Hardware Example (3 of 3)</vt:lpstr>
      <vt:lpstr>Further Adjustments to Free Cash Flow (3 of 3)</vt:lpstr>
      <vt:lpstr>Verian Industries Example (1 of 3)</vt:lpstr>
      <vt:lpstr>Verian Industries Example(2 of 3)</vt:lpstr>
      <vt:lpstr>Verian Industries Example (3 of 3)</vt:lpstr>
      <vt:lpstr>5. Analyzing the Project (1 of 2)</vt:lpstr>
      <vt:lpstr>5. Analyzing the Project (2 of 2)</vt:lpstr>
      <vt:lpstr>Sensitivity Analysis (1 of 2)</vt:lpstr>
      <vt:lpstr>Sensitivity Analysis (2 of 2)</vt:lpstr>
      <vt:lpstr>Figure 1 : HomeNet’s N P V Under Best-and Worst-Case Parameter Assumptions </vt:lpstr>
      <vt:lpstr>Homenet Example 6 (1 of 2)</vt:lpstr>
      <vt:lpstr>Homenet Example 6 (2 of 2)</vt:lpstr>
      <vt:lpstr>Scenario Analysis (1 of 2)</vt:lpstr>
      <vt:lpstr>Scenario Analysis (2 of 2)</vt:lpstr>
      <vt:lpstr>Figure 2 : Price and Volume Combinations for HomeNet with Equivalent N P V</vt:lpstr>
      <vt:lpstr>Chapter Quiz (1 of 2)</vt:lpstr>
      <vt:lpstr>Chapter Quiz (2 of 2)</vt:lpstr>
      <vt:lpstr>Capital Budgeting</vt:lpstr>
      <vt:lpstr>Table A1 (1 of 2)</vt:lpstr>
      <vt:lpstr>Table A1 (2 of 2)</vt:lpstr>
    </vt:vector>
  </TitlesOfParts>
  <Manager/>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Corporate Finance, Sixth Edition, Chapter 8</dc:title>
  <dc:subject>Business</dc:subject>
  <dc:creator>Berk and DeMarzo</dc:creator>
  <cp:keywords>Corporate Finance</cp:keywords>
  <dc:description>Alt text for images/ equations within table cells have been placed behind the object intentionally to provide a better screen reader user experience._x000d_
</dc:description>
  <cp:lastModifiedBy>S�bastien DEREEPER</cp:lastModifiedBy>
  <cp:revision>798</cp:revision>
  <dcterms:modified xsi:type="dcterms:W3CDTF">2026-09-28T08:23:11Z</dcterms:modified>
</cp:coreProperties>
</file>